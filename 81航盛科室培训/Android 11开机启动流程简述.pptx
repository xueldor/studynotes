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handoutMasterIdLst>
    <p:handoutMasterId r:id="rId48"/>
  </p:handoutMasterIdLst>
  <p:sldIdLst>
    <p:sldId id="566" r:id="rId2"/>
    <p:sldId id="994" r:id="rId3"/>
    <p:sldId id="995" r:id="rId4"/>
    <p:sldId id="996" r:id="rId5"/>
    <p:sldId id="997" r:id="rId6"/>
    <p:sldId id="998" r:id="rId7"/>
    <p:sldId id="999" r:id="rId8"/>
    <p:sldId id="1000" r:id="rId9"/>
    <p:sldId id="1003" r:id="rId10"/>
    <p:sldId id="1001" r:id="rId11"/>
    <p:sldId id="1004" r:id="rId12"/>
    <p:sldId id="1002" r:id="rId13"/>
    <p:sldId id="1006" r:id="rId14"/>
    <p:sldId id="1005" r:id="rId15"/>
    <p:sldId id="1007" r:id="rId16"/>
    <p:sldId id="1008" r:id="rId17"/>
    <p:sldId id="1009" r:id="rId18"/>
    <p:sldId id="1010" r:id="rId19"/>
    <p:sldId id="1012" r:id="rId20"/>
    <p:sldId id="1011" r:id="rId21"/>
    <p:sldId id="1013" r:id="rId22"/>
    <p:sldId id="1015" r:id="rId23"/>
    <p:sldId id="1016" r:id="rId24"/>
    <p:sldId id="1014" r:id="rId25"/>
    <p:sldId id="1018" r:id="rId26"/>
    <p:sldId id="1017" r:id="rId27"/>
    <p:sldId id="1019" r:id="rId28"/>
    <p:sldId id="1020" r:id="rId29"/>
    <p:sldId id="1021" r:id="rId30"/>
    <p:sldId id="1022" r:id="rId31"/>
    <p:sldId id="1023" r:id="rId32"/>
    <p:sldId id="1024" r:id="rId33"/>
    <p:sldId id="1025" r:id="rId34"/>
    <p:sldId id="1026" r:id="rId35"/>
    <p:sldId id="1027" r:id="rId36"/>
    <p:sldId id="1028" r:id="rId37"/>
    <p:sldId id="1029" r:id="rId38"/>
    <p:sldId id="1030" r:id="rId39"/>
    <p:sldId id="1031" r:id="rId40"/>
    <p:sldId id="1032" r:id="rId41"/>
    <p:sldId id="1033" r:id="rId42"/>
    <p:sldId id="1034" r:id="rId43"/>
    <p:sldId id="1035" r:id="rId44"/>
    <p:sldId id="1036" r:id="rId45"/>
    <p:sldId id="969" r:id="rId46"/>
  </p:sldIdLst>
  <p:sldSz cx="9144000" cy="6858000" type="screen4x3"/>
  <p:notesSz cx="6858000" cy="9144000"/>
  <p:defaultTextStyle>
    <a:defPPr>
      <a:defRPr lang="zh-CN"/>
    </a:defPPr>
    <a:lvl1pPr algn="ctr" rtl="0" fontAlgn="base">
      <a:spcBef>
        <a:spcPct val="0"/>
      </a:spcBef>
      <a:spcAft>
        <a:spcPct val="0"/>
      </a:spcAft>
      <a:defRPr sz="2800" b="1" kern="1200">
        <a:solidFill>
          <a:schemeClr val="tx2"/>
        </a:solidFill>
        <a:latin typeface="仿宋_GB2312" pitchFamily="49" charset="-122"/>
        <a:ea typeface="仿宋_GB2312" pitchFamily="49" charset="-122"/>
        <a:cs typeface="+mn-cs"/>
      </a:defRPr>
    </a:lvl1pPr>
    <a:lvl2pPr marL="457200" algn="ctr" rtl="0" fontAlgn="base">
      <a:spcBef>
        <a:spcPct val="0"/>
      </a:spcBef>
      <a:spcAft>
        <a:spcPct val="0"/>
      </a:spcAft>
      <a:defRPr sz="2800" b="1" kern="1200">
        <a:solidFill>
          <a:schemeClr val="tx2"/>
        </a:solidFill>
        <a:latin typeface="仿宋_GB2312" pitchFamily="49" charset="-122"/>
        <a:ea typeface="仿宋_GB2312" pitchFamily="49" charset="-122"/>
        <a:cs typeface="+mn-cs"/>
      </a:defRPr>
    </a:lvl2pPr>
    <a:lvl3pPr marL="914400" algn="ctr" rtl="0" fontAlgn="base">
      <a:spcBef>
        <a:spcPct val="0"/>
      </a:spcBef>
      <a:spcAft>
        <a:spcPct val="0"/>
      </a:spcAft>
      <a:defRPr sz="2800" b="1" kern="1200">
        <a:solidFill>
          <a:schemeClr val="tx2"/>
        </a:solidFill>
        <a:latin typeface="仿宋_GB2312" pitchFamily="49" charset="-122"/>
        <a:ea typeface="仿宋_GB2312" pitchFamily="49" charset="-122"/>
        <a:cs typeface="+mn-cs"/>
      </a:defRPr>
    </a:lvl3pPr>
    <a:lvl4pPr marL="1371600" algn="ctr" rtl="0" fontAlgn="base">
      <a:spcBef>
        <a:spcPct val="0"/>
      </a:spcBef>
      <a:spcAft>
        <a:spcPct val="0"/>
      </a:spcAft>
      <a:defRPr sz="2800" b="1" kern="1200">
        <a:solidFill>
          <a:schemeClr val="tx2"/>
        </a:solidFill>
        <a:latin typeface="仿宋_GB2312" pitchFamily="49" charset="-122"/>
        <a:ea typeface="仿宋_GB2312" pitchFamily="49" charset="-122"/>
        <a:cs typeface="+mn-cs"/>
      </a:defRPr>
    </a:lvl4pPr>
    <a:lvl5pPr marL="1828800" algn="ctr" rtl="0" fontAlgn="base">
      <a:spcBef>
        <a:spcPct val="0"/>
      </a:spcBef>
      <a:spcAft>
        <a:spcPct val="0"/>
      </a:spcAft>
      <a:defRPr sz="2800" b="1" kern="1200">
        <a:solidFill>
          <a:schemeClr val="tx2"/>
        </a:solidFill>
        <a:latin typeface="仿宋_GB2312" pitchFamily="49" charset="-122"/>
        <a:ea typeface="仿宋_GB2312" pitchFamily="49" charset="-122"/>
        <a:cs typeface="+mn-cs"/>
      </a:defRPr>
    </a:lvl5pPr>
    <a:lvl6pPr marL="2286000" algn="l" defTabSz="914400" rtl="0" eaLnBrk="1" latinLnBrk="0" hangingPunct="1">
      <a:defRPr sz="2800" b="1" kern="1200">
        <a:solidFill>
          <a:schemeClr val="tx2"/>
        </a:solidFill>
        <a:latin typeface="仿宋_GB2312" pitchFamily="49" charset="-122"/>
        <a:ea typeface="仿宋_GB2312" pitchFamily="49" charset="-122"/>
        <a:cs typeface="+mn-cs"/>
      </a:defRPr>
    </a:lvl6pPr>
    <a:lvl7pPr marL="2743200" algn="l" defTabSz="914400" rtl="0" eaLnBrk="1" latinLnBrk="0" hangingPunct="1">
      <a:defRPr sz="2800" b="1" kern="1200">
        <a:solidFill>
          <a:schemeClr val="tx2"/>
        </a:solidFill>
        <a:latin typeface="仿宋_GB2312" pitchFamily="49" charset="-122"/>
        <a:ea typeface="仿宋_GB2312" pitchFamily="49" charset="-122"/>
        <a:cs typeface="+mn-cs"/>
      </a:defRPr>
    </a:lvl7pPr>
    <a:lvl8pPr marL="3200400" algn="l" defTabSz="914400" rtl="0" eaLnBrk="1" latinLnBrk="0" hangingPunct="1">
      <a:defRPr sz="2800" b="1" kern="1200">
        <a:solidFill>
          <a:schemeClr val="tx2"/>
        </a:solidFill>
        <a:latin typeface="仿宋_GB2312" pitchFamily="49" charset="-122"/>
        <a:ea typeface="仿宋_GB2312" pitchFamily="49" charset="-122"/>
        <a:cs typeface="+mn-cs"/>
      </a:defRPr>
    </a:lvl8pPr>
    <a:lvl9pPr marL="3657600" algn="l" defTabSz="914400" rtl="0" eaLnBrk="1" latinLnBrk="0" hangingPunct="1">
      <a:defRPr sz="2800" b="1" kern="1200">
        <a:solidFill>
          <a:schemeClr val="tx2"/>
        </a:solidFill>
        <a:latin typeface="仿宋_GB2312" pitchFamily="49" charset="-122"/>
        <a:ea typeface="仿宋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9E"/>
    <a:srgbClr val="EE0000"/>
    <a:srgbClr val="D60000"/>
    <a:srgbClr val="DEC92A"/>
    <a:srgbClr val="C09200"/>
    <a:srgbClr val="85C8CD"/>
    <a:srgbClr val="77C78A"/>
    <a:srgbClr val="DAEDEF"/>
    <a:srgbClr val="98E0AB"/>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8942" autoAdjust="0"/>
  </p:normalViewPr>
  <p:slideViewPr>
    <p:cSldViewPr>
      <p:cViewPr varScale="1">
        <p:scale>
          <a:sx n="57" d="100"/>
          <a:sy n="57" d="100"/>
        </p:scale>
        <p:origin x="47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82"/>
    </p:cViewPr>
  </p:sorterViewPr>
  <p:notesViewPr>
    <p:cSldViewPr>
      <p:cViewPr varScale="1">
        <p:scale>
          <a:sx n="57" d="100"/>
          <a:sy n="57" d="100"/>
        </p:scale>
        <p:origin x="-260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51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endParaRPr lang="en-US" altLang="zh-CN"/>
          </a:p>
        </p:txBody>
      </p:sp>
      <p:sp>
        <p:nvSpPr>
          <p:cNvPr id="51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51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fld id="{5900E12B-3E03-4C16-A562-2C038B3EB465}" type="slidenum">
              <a:rPr lang="en-US" altLang="zh-CN"/>
              <a:pPr>
                <a:defRPr/>
              </a:pPr>
              <a:t>‹#›</a:t>
            </a:fld>
            <a:endParaRPr lang="en-US" altLang="zh-CN"/>
          </a:p>
        </p:txBody>
      </p:sp>
    </p:spTree>
    <p:extLst>
      <p:ext uri="{BB962C8B-B14F-4D97-AF65-F5344CB8AC3E}">
        <p14:creationId xmlns:p14="http://schemas.microsoft.com/office/powerpoint/2010/main" val="507315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4198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endParaRPr lang="en-US" altLang="zh-CN"/>
          </a:p>
        </p:txBody>
      </p:sp>
      <p:sp>
        <p:nvSpPr>
          <p:cNvPr id="553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98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99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solidFill>
                  <a:schemeClr val="tx1"/>
                </a:solidFill>
                <a:latin typeface="Arial" charset="0"/>
                <a:ea typeface="宋体" pitchFamily="2" charset="-122"/>
              </a:defRPr>
            </a:lvl1pPr>
          </a:lstStyle>
          <a:p>
            <a:pPr>
              <a:defRPr/>
            </a:pPr>
            <a:endParaRPr lang="en-US" altLang="zh-CN"/>
          </a:p>
        </p:txBody>
      </p:sp>
      <p:sp>
        <p:nvSpPr>
          <p:cNvPr id="4199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chemeClr val="tx1"/>
                </a:solidFill>
                <a:latin typeface="Arial" charset="0"/>
                <a:ea typeface="宋体" pitchFamily="2" charset="-122"/>
              </a:defRPr>
            </a:lvl1pPr>
          </a:lstStyle>
          <a:p>
            <a:pPr>
              <a:defRPr/>
            </a:pPr>
            <a:fld id="{C1FAF5E0-AD62-43B9-9D20-DCBCFD5FE5A6}" type="slidenum">
              <a:rPr lang="en-US" altLang="zh-CN"/>
              <a:pPr>
                <a:defRPr/>
              </a:pPr>
              <a:t>‹#›</a:t>
            </a:fld>
            <a:endParaRPr lang="en-US" altLang="zh-CN"/>
          </a:p>
        </p:txBody>
      </p:sp>
    </p:spTree>
    <p:extLst>
      <p:ext uri="{BB962C8B-B14F-4D97-AF65-F5344CB8AC3E}">
        <p14:creationId xmlns:p14="http://schemas.microsoft.com/office/powerpoint/2010/main" val="21697400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C1FAF5E0-AD62-43B9-9D20-DCBCFD5FE5A6}" type="slidenum">
              <a:rPr lang="en-US" altLang="zh-CN" smtClean="0"/>
              <a:pPr>
                <a:defRPr/>
              </a:pPr>
              <a:t>1</a:t>
            </a:fld>
            <a:endParaRPr lang="en-US" altLang="zh-CN"/>
          </a:p>
        </p:txBody>
      </p:sp>
    </p:spTree>
    <p:extLst>
      <p:ext uri="{BB962C8B-B14F-4D97-AF65-F5344CB8AC3E}">
        <p14:creationId xmlns:p14="http://schemas.microsoft.com/office/powerpoint/2010/main" val="1060956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p:nvPr>
        </p:nvSpPr>
        <p:spPr>
          <a:xfrm>
            <a:off x="4648200" y="1600200"/>
            <a:ext cx="4038600" cy="4525963"/>
          </a:xfrm>
          <a:prstGeom prst="rect">
            <a:avLst/>
          </a:prstGeom>
        </p:spPr>
        <p:txBody>
          <a:bodyPr/>
          <a:lstStyle/>
          <a:p>
            <a:pPr lvl="0"/>
            <a:endParaRPr lang="zh-CN" alt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4648200" y="1600200"/>
            <a:ext cx="4038600" cy="4525963"/>
          </a:xfrm>
          <a:prstGeom prst="rect">
            <a:avLst/>
          </a:prstGeom>
        </p:spPr>
        <p:txBody>
          <a:bodyPr/>
          <a:lstStyle/>
          <a:p>
            <a:pPr lvl="0"/>
            <a:endParaRPr lang="zh-CN" alt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cstate="print"/>
          <a:srcRect/>
          <a:stretch>
            <a:fillRect/>
          </a:stretch>
        </a:blipFill>
        <a:effectLst/>
      </p:bgPr>
    </p:bg>
    <p:spTree>
      <p:nvGrpSpPr>
        <p:cNvPr id="1" name=""/>
        <p:cNvGrpSpPr/>
        <p:nvPr/>
      </p:nvGrpSpPr>
      <p:grpSpPr>
        <a:xfrm>
          <a:off x="0" y="0"/>
          <a:ext cx="0" cy="0"/>
          <a:chOff x="0" y="0"/>
          <a:chExt cx="0" cy="0"/>
        </a:xfrm>
      </p:grpSpPr>
      <p:pic>
        <p:nvPicPr>
          <p:cNvPr id="2050" name="Picture 8" descr="页眉二"/>
          <p:cNvPicPr>
            <a:picLocks noChangeAspect="1" noChangeArrowheads="1"/>
          </p:cNvPicPr>
          <p:nvPr/>
        </p:nvPicPr>
        <p:blipFill>
          <a:blip r:embed="rId17" cstate="print"/>
          <a:srcRect/>
          <a:stretch>
            <a:fillRect/>
          </a:stretch>
        </p:blipFill>
        <p:spPr bwMode="auto">
          <a:xfrm>
            <a:off x="0" y="0"/>
            <a:ext cx="9144000" cy="765175"/>
          </a:xfrm>
          <a:prstGeom prst="rect">
            <a:avLst/>
          </a:prstGeom>
          <a:noFill/>
          <a:ln w="9525">
            <a:noFill/>
            <a:miter lim="800000"/>
            <a:headEnd/>
            <a:tailEnd/>
          </a:ln>
        </p:spPr>
      </p:pic>
      <p:pic>
        <p:nvPicPr>
          <p:cNvPr id="2051" name="Picture 9" descr="公司logo"/>
          <p:cNvPicPr>
            <a:picLocks noChangeAspect="1" noChangeArrowheads="1"/>
          </p:cNvPicPr>
          <p:nvPr/>
        </p:nvPicPr>
        <p:blipFill>
          <a:blip r:embed="rId18" cstate="print"/>
          <a:srcRect/>
          <a:stretch>
            <a:fillRect/>
          </a:stretch>
        </p:blipFill>
        <p:spPr bwMode="auto">
          <a:xfrm>
            <a:off x="6659563" y="19050"/>
            <a:ext cx="2255837" cy="54768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sz="2800" b="1">
          <a:solidFill>
            <a:schemeClr val="tx2"/>
          </a:solidFill>
          <a:latin typeface="+mj-lt"/>
          <a:ea typeface="+mj-ea"/>
          <a:cs typeface="+mj-cs"/>
        </a:defRPr>
      </a:lvl1pPr>
      <a:lvl2pPr algn="ctr" rtl="0" eaLnBrk="0" fontAlgn="base" hangingPunct="0">
        <a:spcBef>
          <a:spcPct val="0"/>
        </a:spcBef>
        <a:spcAft>
          <a:spcPct val="0"/>
        </a:spcAft>
        <a:defRPr sz="2800" b="1">
          <a:solidFill>
            <a:schemeClr val="tx2"/>
          </a:solidFill>
          <a:latin typeface="仿宋_GB2312" pitchFamily="49" charset="-122"/>
          <a:ea typeface="仿宋_GB2312" pitchFamily="49" charset="-122"/>
        </a:defRPr>
      </a:lvl2pPr>
      <a:lvl3pPr algn="ctr" rtl="0" eaLnBrk="0" fontAlgn="base" hangingPunct="0">
        <a:spcBef>
          <a:spcPct val="0"/>
        </a:spcBef>
        <a:spcAft>
          <a:spcPct val="0"/>
        </a:spcAft>
        <a:defRPr sz="2800" b="1">
          <a:solidFill>
            <a:schemeClr val="tx2"/>
          </a:solidFill>
          <a:latin typeface="仿宋_GB2312" pitchFamily="49" charset="-122"/>
          <a:ea typeface="仿宋_GB2312" pitchFamily="49" charset="-122"/>
        </a:defRPr>
      </a:lvl3pPr>
      <a:lvl4pPr algn="ctr" rtl="0" eaLnBrk="0" fontAlgn="base" hangingPunct="0">
        <a:spcBef>
          <a:spcPct val="0"/>
        </a:spcBef>
        <a:spcAft>
          <a:spcPct val="0"/>
        </a:spcAft>
        <a:defRPr sz="2800" b="1">
          <a:solidFill>
            <a:schemeClr val="tx2"/>
          </a:solidFill>
          <a:latin typeface="仿宋_GB2312" pitchFamily="49" charset="-122"/>
          <a:ea typeface="仿宋_GB2312" pitchFamily="49" charset="-122"/>
        </a:defRPr>
      </a:lvl4pPr>
      <a:lvl5pPr algn="ctr" rtl="0" eaLnBrk="0" fontAlgn="base" hangingPunct="0">
        <a:spcBef>
          <a:spcPct val="0"/>
        </a:spcBef>
        <a:spcAft>
          <a:spcPct val="0"/>
        </a:spcAft>
        <a:defRPr sz="2800" b="1">
          <a:solidFill>
            <a:schemeClr val="tx2"/>
          </a:solidFill>
          <a:latin typeface="仿宋_GB2312" pitchFamily="49" charset="-122"/>
          <a:ea typeface="仿宋_GB2312" pitchFamily="49" charset="-122"/>
        </a:defRPr>
      </a:lvl5pPr>
      <a:lvl6pPr marL="457200" algn="ctr" rtl="0" fontAlgn="base">
        <a:spcBef>
          <a:spcPct val="0"/>
        </a:spcBef>
        <a:spcAft>
          <a:spcPct val="0"/>
        </a:spcAft>
        <a:defRPr sz="2800" b="1">
          <a:solidFill>
            <a:schemeClr val="tx2"/>
          </a:solidFill>
          <a:latin typeface="仿宋_GB2312" pitchFamily="49" charset="-122"/>
          <a:ea typeface="仿宋_GB2312" pitchFamily="49" charset="-122"/>
        </a:defRPr>
      </a:lvl6pPr>
      <a:lvl7pPr marL="914400" algn="ctr" rtl="0" fontAlgn="base">
        <a:spcBef>
          <a:spcPct val="0"/>
        </a:spcBef>
        <a:spcAft>
          <a:spcPct val="0"/>
        </a:spcAft>
        <a:defRPr sz="2800" b="1">
          <a:solidFill>
            <a:schemeClr val="tx2"/>
          </a:solidFill>
          <a:latin typeface="仿宋_GB2312" pitchFamily="49" charset="-122"/>
          <a:ea typeface="仿宋_GB2312" pitchFamily="49" charset="-122"/>
        </a:defRPr>
      </a:lvl7pPr>
      <a:lvl8pPr marL="1371600" algn="ctr" rtl="0" fontAlgn="base">
        <a:spcBef>
          <a:spcPct val="0"/>
        </a:spcBef>
        <a:spcAft>
          <a:spcPct val="0"/>
        </a:spcAft>
        <a:defRPr sz="2800" b="1">
          <a:solidFill>
            <a:schemeClr val="tx2"/>
          </a:solidFill>
          <a:latin typeface="仿宋_GB2312" pitchFamily="49" charset="-122"/>
          <a:ea typeface="仿宋_GB2312" pitchFamily="49" charset="-122"/>
        </a:defRPr>
      </a:lvl8pPr>
      <a:lvl9pPr marL="1828800" algn="ctr" rtl="0" fontAlgn="base">
        <a:spcBef>
          <a:spcPct val="0"/>
        </a:spcBef>
        <a:spcAft>
          <a:spcPct val="0"/>
        </a:spcAft>
        <a:defRPr sz="2800" b="1">
          <a:solidFill>
            <a:schemeClr val="tx2"/>
          </a:solidFill>
          <a:latin typeface="仿宋_GB2312" pitchFamily="49" charset="-122"/>
          <a:ea typeface="仿宋_GB2312" pitchFamily="49" charset="-122"/>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宋体"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1.xml"/><Relationship Id="rId7" Type="http://schemas.openxmlformats.org/officeDocument/2006/relationships/image" Target="../media/image4.e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6.png"/><Relationship Id="rId4" Type="http://schemas.openxmlformats.org/officeDocument/2006/relationships/image" Target="../media/image5.jpe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32" y="0"/>
            <a:ext cx="9144032" cy="6858000"/>
            <a:chOff x="0" y="0"/>
            <a:chExt cx="9286940" cy="6858000"/>
          </a:xfrm>
        </p:grpSpPr>
        <p:pic>
          <p:nvPicPr>
            <p:cNvPr id="14" name="Picture 2" descr="大楼背景3"/>
            <p:cNvPicPr>
              <a:picLocks noChangeAspect="1" noChangeArrowheads="1"/>
            </p:cNvPicPr>
            <p:nvPr/>
          </p:nvPicPr>
          <p:blipFill>
            <a:blip r:embed="rId4" cstate="print"/>
            <a:srcRect/>
            <a:stretch>
              <a:fillRect/>
            </a:stretch>
          </p:blipFill>
          <p:spPr bwMode="auto">
            <a:xfrm>
              <a:off x="0" y="0"/>
              <a:ext cx="9144000" cy="4524375"/>
            </a:xfrm>
            <a:prstGeom prst="rect">
              <a:avLst/>
            </a:prstGeom>
            <a:noFill/>
            <a:ln w="9525">
              <a:noFill/>
              <a:miter lim="800000"/>
              <a:headEnd/>
              <a:tailEnd/>
            </a:ln>
          </p:spPr>
        </p:pic>
        <p:pic>
          <p:nvPicPr>
            <p:cNvPr id="15" name="Picture 3" descr="1"/>
            <p:cNvPicPr>
              <a:picLocks noChangeAspect="1" noChangeArrowheads="1"/>
            </p:cNvPicPr>
            <p:nvPr/>
          </p:nvPicPr>
          <p:blipFill>
            <a:blip r:embed="rId5" cstate="print"/>
            <a:srcRect/>
            <a:stretch>
              <a:fillRect/>
            </a:stretch>
          </p:blipFill>
          <p:spPr bwMode="auto">
            <a:xfrm>
              <a:off x="142940" y="3573463"/>
              <a:ext cx="9144000" cy="3284537"/>
            </a:xfrm>
            <a:prstGeom prst="rect">
              <a:avLst/>
            </a:prstGeom>
            <a:noFill/>
            <a:ln w="9525">
              <a:noFill/>
              <a:miter lim="800000"/>
              <a:headEnd/>
              <a:tailEnd/>
            </a:ln>
          </p:spPr>
        </p:pic>
      </p:grpSp>
      <p:graphicFrame>
        <p:nvGraphicFramePr>
          <p:cNvPr id="1026" name="Object 129"/>
          <p:cNvGraphicFramePr>
            <a:graphicFrameLocks noChangeAspect="1"/>
          </p:cNvGraphicFramePr>
          <p:nvPr/>
        </p:nvGraphicFramePr>
        <p:xfrm>
          <a:off x="5678488" y="5935663"/>
          <a:ext cx="2854325" cy="588962"/>
        </p:xfrm>
        <a:graphic>
          <a:graphicData uri="http://schemas.openxmlformats.org/presentationml/2006/ole">
            <mc:AlternateContent xmlns:mc="http://schemas.openxmlformats.org/markup-compatibility/2006">
              <mc:Choice xmlns:v="urn:schemas-microsoft-com:vml" Requires="v">
                <p:oleObj spid="_x0000_s3022" r:id="rId6" imgW="2767320" imgH="602280" progId="">
                  <p:embed/>
                </p:oleObj>
              </mc:Choice>
              <mc:Fallback>
                <p:oleObj r:id="rId6" imgW="2767320" imgH="602280" progId="">
                  <p:embed/>
                  <p:pic>
                    <p:nvPicPr>
                      <p:cNvPr id="0" name="Object 1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78488" y="5935663"/>
                        <a:ext cx="2854325" cy="588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30" name="Picture 6" descr="5"/>
          <p:cNvPicPr>
            <a:picLocks noChangeAspect="1" noChangeArrowheads="1"/>
          </p:cNvPicPr>
          <p:nvPr/>
        </p:nvPicPr>
        <p:blipFill>
          <a:blip r:embed="rId8" cstate="print"/>
          <a:srcRect/>
          <a:stretch>
            <a:fillRect/>
          </a:stretch>
        </p:blipFill>
        <p:spPr bwMode="auto">
          <a:xfrm>
            <a:off x="395288" y="6165850"/>
            <a:ext cx="2520950" cy="357188"/>
          </a:xfrm>
          <a:prstGeom prst="rect">
            <a:avLst/>
          </a:prstGeom>
          <a:noFill/>
          <a:ln w="9525">
            <a:noFill/>
            <a:miter lim="800000"/>
            <a:headEnd/>
            <a:tailEnd/>
          </a:ln>
        </p:spPr>
      </p:pic>
      <p:pic>
        <p:nvPicPr>
          <p:cNvPr id="1031" name="Picture 7" descr="条"/>
          <p:cNvPicPr>
            <a:picLocks noChangeAspect="1" noChangeArrowheads="1"/>
          </p:cNvPicPr>
          <p:nvPr/>
        </p:nvPicPr>
        <p:blipFill>
          <a:blip r:embed="rId9" cstate="print"/>
          <a:srcRect/>
          <a:stretch>
            <a:fillRect/>
          </a:stretch>
        </p:blipFill>
        <p:spPr bwMode="auto">
          <a:xfrm>
            <a:off x="0" y="4365625"/>
            <a:ext cx="3708400" cy="457200"/>
          </a:xfrm>
          <a:prstGeom prst="rect">
            <a:avLst/>
          </a:prstGeom>
          <a:noFill/>
          <a:ln w="9525">
            <a:noFill/>
            <a:miter lim="800000"/>
            <a:headEnd/>
            <a:tailEnd/>
          </a:ln>
        </p:spPr>
      </p:pic>
      <p:sp>
        <p:nvSpPr>
          <p:cNvPr id="9" name="Text Box 130"/>
          <p:cNvSpPr txBox="1">
            <a:spLocks noChangeArrowheads="1"/>
          </p:cNvSpPr>
          <p:nvPr/>
        </p:nvSpPr>
        <p:spPr bwMode="auto">
          <a:xfrm>
            <a:off x="3347864" y="621303"/>
            <a:ext cx="6049963" cy="3847207"/>
          </a:xfrm>
          <a:prstGeom prst="rect">
            <a:avLst/>
          </a:prstGeom>
          <a:noFill/>
          <a:ln w="9525" algn="ctr">
            <a:noFill/>
            <a:miter lim="800000"/>
            <a:headEnd/>
            <a:tailEnd/>
          </a:ln>
        </p:spPr>
        <p:txBody>
          <a:bodyPr>
            <a:spAutoFit/>
          </a:bodyPr>
          <a:lstStyle/>
          <a:p>
            <a:pPr>
              <a:spcBef>
                <a:spcPct val="50000"/>
              </a:spcBef>
            </a:pPr>
            <a:endParaRPr lang="en-US" altLang="zh-CN" b="0" dirty="0" smtClean="0">
              <a:solidFill>
                <a:schemeClr val="tx1"/>
              </a:solidFill>
              <a:latin typeface="微软雅黑" pitchFamily="34" charset="-122"/>
              <a:ea typeface="微软雅黑" pitchFamily="34" charset="-122"/>
            </a:endParaRPr>
          </a:p>
          <a:p>
            <a:pPr>
              <a:spcBef>
                <a:spcPct val="50000"/>
              </a:spcBef>
            </a:pPr>
            <a:r>
              <a:rPr lang="en-US" altLang="zh-CN" sz="3600" dirty="0">
                <a:solidFill>
                  <a:schemeClr val="tx1"/>
                </a:solidFill>
                <a:latin typeface="微软雅黑" pitchFamily="34" charset="-122"/>
                <a:ea typeface="微软雅黑" pitchFamily="34" charset="-122"/>
              </a:rPr>
              <a:t>Android </a:t>
            </a:r>
            <a:r>
              <a:rPr lang="en-US" altLang="zh-CN" sz="3600" dirty="0" smtClean="0">
                <a:solidFill>
                  <a:schemeClr val="tx1"/>
                </a:solidFill>
                <a:latin typeface="微软雅黑" pitchFamily="34" charset="-122"/>
                <a:ea typeface="微软雅黑" pitchFamily="34" charset="-122"/>
              </a:rPr>
              <a:t>11</a:t>
            </a:r>
          </a:p>
          <a:p>
            <a:pPr>
              <a:spcBef>
                <a:spcPct val="50000"/>
              </a:spcBef>
            </a:pPr>
            <a:r>
              <a:rPr lang="zh-CN" altLang="en-US" sz="3600" dirty="0" smtClean="0">
                <a:solidFill>
                  <a:schemeClr val="tx1"/>
                </a:solidFill>
                <a:latin typeface="微软雅黑" pitchFamily="34" charset="-122"/>
                <a:ea typeface="微软雅黑" pitchFamily="34" charset="-122"/>
              </a:rPr>
              <a:t>开机</a:t>
            </a:r>
            <a:r>
              <a:rPr lang="zh-CN" altLang="en-US" sz="3600" dirty="0">
                <a:solidFill>
                  <a:schemeClr val="tx1"/>
                </a:solidFill>
                <a:latin typeface="微软雅黑" pitchFamily="34" charset="-122"/>
                <a:ea typeface="微软雅黑" pitchFamily="34" charset="-122"/>
              </a:rPr>
              <a:t>启动流程简述</a:t>
            </a:r>
            <a:endParaRPr lang="en-US" altLang="zh-CN" sz="3600" dirty="0" smtClean="0">
              <a:solidFill>
                <a:schemeClr val="tx1"/>
              </a:solidFill>
              <a:latin typeface="微软雅黑" pitchFamily="34" charset="-122"/>
              <a:ea typeface="微软雅黑" pitchFamily="34" charset="-122"/>
            </a:endParaRPr>
          </a:p>
          <a:p>
            <a:pPr>
              <a:spcBef>
                <a:spcPct val="50000"/>
              </a:spcBef>
            </a:pPr>
            <a:endParaRPr lang="en-US" altLang="zh-CN" sz="2400" b="0" dirty="0" smtClean="0">
              <a:solidFill>
                <a:schemeClr val="tx1"/>
              </a:solidFill>
              <a:latin typeface="微软雅黑" pitchFamily="34" charset="-122"/>
              <a:ea typeface="微软雅黑" pitchFamily="34" charset="-122"/>
            </a:endParaRPr>
          </a:p>
          <a:p>
            <a:pPr>
              <a:spcBef>
                <a:spcPct val="50000"/>
              </a:spcBef>
            </a:pPr>
            <a:r>
              <a:rPr lang="en-US" altLang="zh-CN" sz="2400" b="0" dirty="0" smtClean="0">
                <a:solidFill>
                  <a:schemeClr val="tx1"/>
                </a:solidFill>
                <a:latin typeface="微软雅黑" pitchFamily="34" charset="-122"/>
                <a:ea typeface="微软雅黑" pitchFamily="34" charset="-122"/>
              </a:rPr>
              <a:t>Android</a:t>
            </a:r>
            <a:r>
              <a:rPr lang="zh-CN" altLang="en-US" sz="2400" b="0" dirty="0" smtClean="0">
                <a:solidFill>
                  <a:schemeClr val="tx1"/>
                </a:solidFill>
                <a:latin typeface="微软雅黑" pitchFamily="34" charset="-122"/>
                <a:ea typeface="微软雅黑" pitchFamily="34" charset="-122"/>
              </a:rPr>
              <a:t>系统服务</a:t>
            </a:r>
            <a:r>
              <a:rPr lang="en-US" altLang="zh-CN" sz="2400" b="0" dirty="0" smtClean="0">
                <a:solidFill>
                  <a:schemeClr val="tx1"/>
                </a:solidFill>
                <a:latin typeface="微软雅黑" pitchFamily="34" charset="-122"/>
                <a:ea typeface="微软雅黑" pitchFamily="34" charset="-122"/>
              </a:rPr>
              <a:t> </a:t>
            </a:r>
            <a:r>
              <a:rPr lang="zh-CN" altLang="en-US" sz="2400" b="0" dirty="0">
                <a:solidFill>
                  <a:schemeClr val="tx1"/>
                </a:solidFill>
                <a:latin typeface="微软雅黑" pitchFamily="34" charset="-122"/>
                <a:ea typeface="微软雅黑" pitchFamily="34" charset="-122"/>
              </a:rPr>
              <a:t>姚鑫</a:t>
            </a:r>
            <a:endParaRPr lang="en-US" altLang="zh-CN" sz="2400" b="0" dirty="0" smtClean="0">
              <a:solidFill>
                <a:schemeClr val="tx1"/>
              </a:solidFill>
              <a:latin typeface="微软雅黑" pitchFamily="34" charset="-122"/>
              <a:ea typeface="微软雅黑" pitchFamily="34" charset="-122"/>
            </a:endParaRPr>
          </a:p>
          <a:p>
            <a:pPr>
              <a:spcBef>
                <a:spcPct val="50000"/>
              </a:spcBef>
            </a:pPr>
            <a:r>
              <a:rPr lang="en-US" altLang="zh-CN" sz="2400" b="0" dirty="0" smtClean="0">
                <a:solidFill>
                  <a:schemeClr val="tx1"/>
                </a:solidFill>
                <a:latin typeface="微软雅黑" pitchFamily="34" charset="-122"/>
                <a:ea typeface="微软雅黑" pitchFamily="34" charset="-122"/>
              </a:rPr>
              <a:t>2024-7-3</a:t>
            </a:r>
            <a:endParaRPr lang="en-US" altLang="zh-CN" sz="2400" b="0" dirty="0">
              <a:solidFill>
                <a:schemeClr val="tx1"/>
              </a:solidFill>
              <a:latin typeface="微软雅黑" pitchFamily="34" charset="-122"/>
              <a:ea typeface="微软雅黑" pitchFamily="34" charset="-122"/>
            </a:endParaRPr>
          </a:p>
        </p:txBody>
      </p:sp>
      <p:sp>
        <p:nvSpPr>
          <p:cNvPr id="10" name="Text Box 9"/>
          <p:cNvSpPr txBox="1">
            <a:spLocks noChangeArrowheads="1"/>
          </p:cNvSpPr>
          <p:nvPr/>
        </p:nvSpPr>
        <p:spPr bwMode="auto">
          <a:xfrm>
            <a:off x="357158" y="4786322"/>
            <a:ext cx="3960440" cy="400110"/>
          </a:xfrm>
          <a:prstGeom prst="rect">
            <a:avLst/>
          </a:prstGeom>
          <a:noFill/>
          <a:ln w="9525" algn="ctr">
            <a:noFill/>
            <a:miter lim="800000"/>
            <a:headEnd/>
            <a:tailEnd/>
          </a:ln>
          <a:effectLst>
            <a:prstShdw prst="shdw17" dist="17961" dir="2700000">
              <a:srgbClr val="999999"/>
            </a:prstShdw>
          </a:effectLst>
        </p:spPr>
        <p:txBody>
          <a:bodyPr wrap="square">
            <a:spAutoFit/>
          </a:bodyPr>
          <a:lstStyle/>
          <a:p>
            <a:pPr algn="just"/>
            <a:r>
              <a:rPr lang="zh-CN" altLang="en-US" sz="2000">
                <a:solidFill>
                  <a:schemeClr val="tx1"/>
                </a:solidFill>
                <a:latin typeface="仿宋" pitchFamily="49" charset="-122"/>
                <a:ea typeface="仿宋" pitchFamily="49" charset="-122"/>
              </a:rPr>
              <a:t>航盛</a:t>
            </a:r>
            <a:r>
              <a:rPr lang="zh-CN" altLang="en-US" sz="2000" smtClean="0">
                <a:solidFill>
                  <a:schemeClr val="tx1"/>
                </a:solidFill>
                <a:latin typeface="仿宋" pitchFamily="49" charset="-122"/>
                <a:ea typeface="仿宋" pitchFamily="49" charset="-122"/>
              </a:rPr>
              <a:t>电子武汉技术</a:t>
            </a:r>
            <a:r>
              <a:rPr lang="zh-CN" altLang="en-US" sz="2000">
                <a:solidFill>
                  <a:schemeClr val="tx1"/>
                </a:solidFill>
                <a:latin typeface="仿宋" pitchFamily="49" charset="-122"/>
                <a:ea typeface="仿宋" pitchFamily="49" charset="-122"/>
              </a:rPr>
              <a:t>中心</a:t>
            </a:r>
            <a:endParaRPr lang="en-US" altLang="zh-CN" sz="2000">
              <a:solidFill>
                <a:schemeClr val="tx1"/>
              </a:solidFill>
              <a:latin typeface="仿宋" pitchFamily="49" charset="-122"/>
              <a:ea typeface="仿宋" pitchFamily="49" charset="-122"/>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zh-CN" altLang="en-US" sz="3600" kern="0">
                <a:latin typeface="微软雅黑" pitchFamily="34" charset="-122"/>
                <a:ea typeface="微软雅黑" pitchFamily="34" charset="-122"/>
                <a:cs typeface="+mj-cs"/>
              </a:rPr>
              <a:t>目录</a:t>
            </a:r>
            <a:endParaRPr kumimoji="0" lang="en-US" altLang="zh-CN" sz="3600" b="1" i="0" u="none" strike="noStrike" kern="0" cap="none" spc="0" normalizeH="0" baseline="0" noProof="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397808" y="1124744"/>
            <a:ext cx="8319868" cy="3416320"/>
          </a:xfrm>
          <a:prstGeom prst="rect">
            <a:avLst/>
          </a:prstGeom>
          <a:noFill/>
        </p:spPr>
        <p:txBody>
          <a:bodyPr wrap="square" rtlCol="0">
            <a:spAutoFit/>
          </a:bodyPr>
          <a:lstStyle/>
          <a:p>
            <a:pPr marL="457200" indent="-457200" algn="l">
              <a:buAutoNum type="arabicPeriod"/>
            </a:pPr>
            <a:r>
              <a:rPr lang="en-US" altLang="zh-CN" sz="2400" b="0" dirty="0" smtClean="0">
                <a:latin typeface="微软雅黑" panose="020B0503020204020204" pitchFamily="34" charset="-122"/>
                <a:ea typeface="微软雅黑" panose="020B0503020204020204" pitchFamily="34" charset="-122"/>
              </a:rPr>
              <a:t>Android 11</a:t>
            </a:r>
            <a:r>
              <a:rPr lang="zh-CN" altLang="en-US" sz="2400" b="0" dirty="0" smtClean="0">
                <a:latin typeface="微软雅黑" panose="020B0503020204020204" pitchFamily="34" charset="-122"/>
                <a:ea typeface="微软雅黑" panose="020B0503020204020204" pitchFamily="34" charset="-122"/>
              </a:rPr>
              <a:t>开机启动流程概述</a:t>
            </a:r>
            <a:endParaRPr lang="en-US" altLang="zh-CN" sz="2400" b="0" dirty="0" smtClean="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smtClean="0">
                <a:latin typeface="微软雅黑" panose="020B0503020204020204" pitchFamily="34" charset="-122"/>
                <a:ea typeface="微软雅黑" panose="020B0503020204020204" pitchFamily="34" charset="-122"/>
              </a:rPr>
              <a:t>Boot Rom</a:t>
            </a:r>
            <a:r>
              <a:rPr lang="zh-CN" altLang="en-US" sz="2400" b="0" dirty="0" smtClean="0">
                <a:latin typeface="微软雅黑" panose="020B0503020204020204" pitchFamily="34" charset="-122"/>
                <a:ea typeface="微软雅黑" panose="020B0503020204020204" pitchFamily="34" charset="-122"/>
              </a:rPr>
              <a:t>、</a:t>
            </a:r>
            <a:r>
              <a:rPr lang="en-US" altLang="zh-CN" sz="2400" b="0" dirty="0" smtClean="0">
                <a:latin typeface="微软雅黑" panose="020B0503020204020204" pitchFamily="34" charset="-122"/>
                <a:ea typeface="微软雅黑" panose="020B0503020204020204" pitchFamily="34" charset="-122"/>
              </a:rPr>
              <a:t>bootloader</a:t>
            </a:r>
            <a:r>
              <a:rPr lang="zh-CN" altLang="en-US" sz="2400" b="0" dirty="0" smtClean="0">
                <a:latin typeface="微软雅黑" panose="020B0503020204020204" pitchFamily="34" charset="-122"/>
                <a:ea typeface="微软雅黑" panose="020B0503020204020204" pitchFamily="34" charset="-122"/>
              </a:rPr>
              <a:t>、</a:t>
            </a:r>
            <a:r>
              <a:rPr lang="en-US" altLang="zh-CN" sz="2400" b="0" dirty="0" err="1" smtClean="0">
                <a:latin typeface="微软雅黑" panose="020B0503020204020204" pitchFamily="34" charset="-122"/>
                <a:ea typeface="微软雅黑" panose="020B0503020204020204" pitchFamily="34" charset="-122"/>
              </a:rPr>
              <a:t>uboot</a:t>
            </a:r>
            <a:r>
              <a:rPr lang="zh-CN" altLang="en-US" sz="2400" b="0" dirty="0" smtClean="0">
                <a:latin typeface="微软雅黑" panose="020B0503020204020204" pitchFamily="34" charset="-122"/>
                <a:ea typeface="微软雅黑" panose="020B0503020204020204" pitchFamily="34" charset="-122"/>
              </a:rPr>
              <a:t>简介</a:t>
            </a:r>
            <a:endParaRPr lang="en-US" altLang="zh-CN" sz="2400" b="0" dirty="0" smtClean="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a:latin typeface="微软雅黑" panose="020B0503020204020204" pitchFamily="34" charset="-122"/>
                <a:ea typeface="微软雅黑" panose="020B0503020204020204" pitchFamily="34" charset="-122"/>
              </a:rPr>
              <a:t>k</a:t>
            </a:r>
            <a:r>
              <a:rPr lang="en-US" altLang="zh-CN" sz="2400" b="0" dirty="0" smtClean="0">
                <a:latin typeface="微软雅黑" panose="020B0503020204020204" pitchFamily="34" charset="-122"/>
                <a:ea typeface="微软雅黑" panose="020B0503020204020204" pitchFamily="34" charset="-122"/>
              </a:rPr>
              <a:t>ernel</a:t>
            </a:r>
            <a:r>
              <a:rPr lang="zh-CN" altLang="en-US" sz="2400" b="0" dirty="0" smtClean="0">
                <a:latin typeface="微软雅黑" panose="020B0503020204020204" pitchFamily="34" charset="-122"/>
                <a:ea typeface="微软雅黑" panose="020B0503020204020204" pitchFamily="34" charset="-122"/>
              </a:rPr>
              <a:t>启动简介</a:t>
            </a:r>
            <a:endParaRPr lang="en-US" altLang="zh-CN" sz="2400" b="0" dirty="0" smtClean="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err="1" smtClean="0">
                <a:latin typeface="微软雅黑" panose="020B0503020204020204" pitchFamily="34" charset="-122"/>
                <a:ea typeface="微软雅黑" panose="020B0503020204020204" pitchFamily="34" charset="-122"/>
              </a:rPr>
              <a:t>init</a:t>
            </a:r>
            <a:r>
              <a:rPr lang="zh-CN" altLang="en-US" sz="2400" b="0" dirty="0" smtClean="0">
                <a:latin typeface="微软雅黑" panose="020B0503020204020204" pitchFamily="34" charset="-122"/>
                <a:ea typeface="微软雅黑" panose="020B0503020204020204" pitchFamily="34" charset="-122"/>
              </a:rPr>
              <a:t>启动流程</a:t>
            </a:r>
            <a:endParaRPr lang="en-US" altLang="zh-CN" sz="2400" dirty="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a:latin typeface="微软雅黑" panose="020B0503020204020204" pitchFamily="34" charset="-122"/>
                <a:ea typeface="微软雅黑" panose="020B0503020204020204" pitchFamily="34" charset="-122"/>
              </a:rPr>
              <a:t>z</a:t>
            </a:r>
            <a:r>
              <a:rPr lang="en-US" altLang="zh-CN" sz="2400" b="0" dirty="0" smtClean="0">
                <a:latin typeface="微软雅黑" panose="020B0503020204020204" pitchFamily="34" charset="-122"/>
                <a:ea typeface="微软雅黑" panose="020B0503020204020204" pitchFamily="34" charset="-122"/>
              </a:rPr>
              <a:t>ygote</a:t>
            </a:r>
            <a:r>
              <a:rPr lang="zh-CN" altLang="en-US" sz="2400" b="0" dirty="0" smtClean="0">
                <a:latin typeface="微软雅黑" panose="020B0503020204020204" pitchFamily="34" charset="-122"/>
                <a:ea typeface="微软雅黑" panose="020B0503020204020204" pitchFamily="34" charset="-122"/>
              </a:rPr>
              <a:t>启动流程</a:t>
            </a:r>
            <a:endParaRPr lang="en-US" altLang="zh-CN" sz="2400" b="0" dirty="0" smtClean="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err="1" smtClean="0">
                <a:latin typeface="微软雅黑" panose="020B0503020204020204" pitchFamily="34" charset="-122"/>
                <a:ea typeface="微软雅黑" panose="020B0503020204020204" pitchFamily="34" charset="-122"/>
              </a:rPr>
              <a:t>SystemServer</a:t>
            </a:r>
            <a:r>
              <a:rPr lang="zh-CN" altLang="en-US" sz="2400" b="0" dirty="0" smtClean="0">
                <a:latin typeface="微软雅黑" panose="020B0503020204020204" pitchFamily="34" charset="-122"/>
                <a:ea typeface="微软雅黑" panose="020B0503020204020204" pitchFamily="34" charset="-122"/>
              </a:rPr>
              <a:t>启动流程</a:t>
            </a:r>
            <a:endParaRPr lang="en-US" altLang="zh-CN" sz="2400" b="0" dirty="0" smtClean="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smtClean="0">
                <a:latin typeface="微软雅黑" panose="020B0503020204020204" pitchFamily="34" charset="-122"/>
                <a:ea typeface="微软雅黑" panose="020B0503020204020204" pitchFamily="34" charset="-122"/>
              </a:rPr>
              <a:t>AMS</a:t>
            </a:r>
            <a:r>
              <a:rPr lang="zh-CN" altLang="en-US" sz="2400" b="0" dirty="0" smtClean="0">
                <a:latin typeface="微软雅黑" panose="020B0503020204020204" pitchFamily="34" charset="-122"/>
                <a:ea typeface="微软雅黑" panose="020B0503020204020204" pitchFamily="34" charset="-122"/>
              </a:rPr>
              <a:t>、</a:t>
            </a:r>
            <a:r>
              <a:rPr lang="en-US" altLang="zh-CN" sz="2400" b="0" dirty="0" smtClean="0">
                <a:latin typeface="微软雅黑" panose="020B0503020204020204" pitchFamily="34" charset="-122"/>
                <a:ea typeface="微软雅黑" panose="020B0503020204020204" pitchFamily="34" charset="-122"/>
              </a:rPr>
              <a:t>Launcher</a:t>
            </a:r>
            <a:r>
              <a:rPr lang="zh-CN" altLang="en-US" sz="2400" b="0" dirty="0">
                <a:latin typeface="微软雅黑" panose="020B0503020204020204" pitchFamily="34" charset="-122"/>
                <a:ea typeface="微软雅黑" panose="020B0503020204020204" pitchFamily="34" charset="-122"/>
              </a:rPr>
              <a:t>启动流程</a:t>
            </a:r>
            <a:endParaRPr lang="en-US" altLang="zh-CN" sz="2400" b="0" dirty="0">
              <a:latin typeface="微软雅黑" panose="020B0503020204020204" pitchFamily="34" charset="-122"/>
              <a:ea typeface="微软雅黑" panose="020B0503020204020204" pitchFamily="34" charset="-122"/>
            </a:endParaRPr>
          </a:p>
          <a:p>
            <a:pPr marL="457200" indent="-457200" algn="l">
              <a:buAutoNum type="arabicPeriod"/>
            </a:pPr>
            <a:r>
              <a:rPr lang="en-US" altLang="zh-CN" sz="2400" b="0" dirty="0" err="1" smtClean="0">
                <a:latin typeface="微软雅黑" panose="020B0503020204020204" pitchFamily="34" charset="-122"/>
                <a:ea typeface="微软雅黑" panose="020B0503020204020204" pitchFamily="34" charset="-122"/>
              </a:rPr>
              <a:t>BootChart</a:t>
            </a:r>
            <a:r>
              <a:rPr lang="zh-CN" altLang="en-US" sz="2400" b="0" dirty="0" smtClean="0">
                <a:latin typeface="微软雅黑" panose="020B0503020204020204" pitchFamily="34" charset="-122"/>
                <a:ea typeface="微软雅黑" panose="020B0503020204020204" pitchFamily="34" charset="-122"/>
              </a:rPr>
              <a:t>工具使用方法</a:t>
            </a:r>
          </a:p>
          <a:p>
            <a:pPr marL="457200" indent="-457200" algn="l">
              <a:buAutoNum type="arabicPeriod"/>
            </a:pPr>
            <a:endParaRPr lang="en-US" altLang="zh-CN" sz="24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493004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Android </a:t>
            </a:r>
            <a:r>
              <a:rPr lang="en-US" altLang="zh-CN" sz="2400" b="0" dirty="0" smtClean="0">
                <a:latin typeface="微软雅黑" panose="020B0503020204020204" pitchFamily="34" charset="-122"/>
                <a:ea typeface="微软雅黑" panose="020B0503020204020204" pitchFamily="34" charset="-122"/>
              </a:rPr>
              <a:t>11</a:t>
            </a:r>
            <a:r>
              <a:rPr lang="zh-CN" altLang="en-US" sz="2400" b="0" dirty="0" smtClean="0">
                <a:latin typeface="微软雅黑" panose="020B0503020204020204" pitchFamily="34" charset="-122"/>
                <a:ea typeface="微软雅黑" panose="020B0503020204020204" pitchFamily="34" charset="-122"/>
              </a:rPr>
              <a:t>开机启动</a:t>
            </a:r>
            <a:r>
              <a:rPr lang="zh-CN" altLang="en-US" sz="2400" b="0" dirty="0">
                <a:latin typeface="微软雅黑" panose="020B0503020204020204" pitchFamily="34" charset="-122"/>
                <a:ea typeface="微软雅黑" panose="020B0503020204020204" pitchFamily="34" charset="-122"/>
              </a:rPr>
              <a:t>流程概述</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4062651"/>
          </a:xfrm>
          <a:prstGeom prst="rect">
            <a:avLst/>
          </a:prstGeom>
          <a:noFill/>
        </p:spPr>
        <p:txBody>
          <a:bodyPr wrap="square" rtlCol="0">
            <a:spAutoFit/>
          </a:bodyPr>
          <a:lstStyle/>
          <a:p>
            <a:pPr algn="l"/>
            <a:r>
              <a:rPr lang="en-US" altLang="zh-CN" sz="1800" b="0" dirty="0" smtClean="0">
                <a:latin typeface="微软雅黑" panose="020B0503020204020204" pitchFamily="34" charset="-122"/>
                <a:ea typeface="微软雅黑" panose="020B0503020204020204" pitchFamily="34" charset="-122"/>
              </a:rPr>
              <a:t>Android </a:t>
            </a:r>
            <a:r>
              <a:rPr lang="zh-CN" altLang="en-US" sz="1800" b="0" dirty="0" smtClean="0">
                <a:latin typeface="微软雅黑" panose="020B0503020204020204" pitchFamily="34" charset="-122"/>
                <a:ea typeface="微软雅黑" panose="020B0503020204020204" pitchFamily="34" charset="-122"/>
              </a:rPr>
              <a:t>总体</a:t>
            </a:r>
            <a:r>
              <a:rPr lang="zh-CN" altLang="en-US" sz="1800" b="0" dirty="0">
                <a:latin typeface="微软雅黑" panose="020B0503020204020204" pitchFamily="34" charset="-122"/>
                <a:ea typeface="微软雅黑" panose="020B0503020204020204" pitchFamily="34" charset="-122"/>
              </a:rPr>
              <a:t>框架图如下：</a:t>
            </a:r>
            <a:endParaRPr lang="en-US" altLang="zh-CN" sz="1800" b="0" dirty="0">
              <a:latin typeface="微软雅黑" panose="020B0503020204020204" pitchFamily="34" charset="-122"/>
              <a:ea typeface="微软雅黑" panose="020B0503020204020204" pitchFamily="34" charset="-122"/>
            </a:endParaRPr>
          </a:p>
          <a:p>
            <a:pPr algn="l"/>
            <a:endParaRPr lang="en-US" altLang="zh-CN" sz="2400" b="0" dirty="0" smtClean="0">
              <a:latin typeface="微软雅黑" panose="020B0503020204020204" pitchFamily="34" charset="-122"/>
              <a:ea typeface="微软雅黑" panose="020B0503020204020204" pitchFamily="34" charset="-122"/>
            </a:endParaRPr>
          </a:p>
          <a:p>
            <a:pPr algn="l"/>
            <a:endParaRPr lang="en-US" altLang="zh-CN" sz="2400" b="0" dirty="0">
              <a:latin typeface="微软雅黑" panose="020B0503020204020204" pitchFamily="34" charset="-122"/>
              <a:ea typeface="微软雅黑" panose="020B0503020204020204" pitchFamily="34" charset="-122"/>
            </a:endParaRPr>
          </a:p>
          <a:p>
            <a:pPr algn="l"/>
            <a:endParaRPr lang="en-US" altLang="zh-CN" sz="2400" b="0" dirty="0" smtClean="0">
              <a:latin typeface="微软雅黑" panose="020B0503020204020204" pitchFamily="34" charset="-122"/>
              <a:ea typeface="微软雅黑" panose="020B0503020204020204" pitchFamily="34" charset="-122"/>
            </a:endParaRPr>
          </a:p>
          <a:p>
            <a:pPr algn="l"/>
            <a:endParaRPr lang="en-US" altLang="zh-CN" sz="2400" b="0" dirty="0">
              <a:latin typeface="微软雅黑" panose="020B0503020204020204" pitchFamily="34" charset="-122"/>
              <a:ea typeface="微软雅黑" panose="020B0503020204020204" pitchFamily="34" charset="-122"/>
            </a:endParaRPr>
          </a:p>
          <a:p>
            <a:pPr algn="l"/>
            <a:endParaRPr lang="en-US" altLang="zh-CN" sz="2400" b="0" dirty="0">
              <a:latin typeface="微软雅黑" panose="020B0503020204020204" pitchFamily="34" charset="-122"/>
              <a:ea typeface="微软雅黑" panose="020B0503020204020204" pitchFamily="34" charset="-122"/>
            </a:endParaRPr>
          </a:p>
          <a:p>
            <a:pPr algn="l"/>
            <a:endParaRPr lang="en-US" altLang="zh-CN" sz="2400" b="0" dirty="0" smtClean="0">
              <a:latin typeface="微软雅黑" panose="020B0503020204020204" pitchFamily="34" charset="-122"/>
              <a:ea typeface="微软雅黑" panose="020B0503020204020204" pitchFamily="34" charset="-122"/>
            </a:endParaRPr>
          </a:p>
          <a:p>
            <a:pPr algn="l"/>
            <a:endParaRPr lang="en-US" altLang="zh-CN" sz="2400" b="0" dirty="0">
              <a:latin typeface="微软雅黑" panose="020B0503020204020204" pitchFamily="34" charset="-122"/>
              <a:ea typeface="微软雅黑" panose="020B0503020204020204" pitchFamily="34" charset="-122"/>
            </a:endParaRPr>
          </a:p>
          <a:p>
            <a:pPr algn="l"/>
            <a:endParaRPr lang="en-US" altLang="zh-CN" sz="2400" b="0" dirty="0" smtClean="0">
              <a:latin typeface="微软雅黑" panose="020B0503020204020204" pitchFamily="34" charset="-122"/>
              <a:ea typeface="微软雅黑" panose="020B0503020204020204" pitchFamily="34" charset="-122"/>
            </a:endParaRPr>
          </a:p>
          <a:p>
            <a:pPr algn="l"/>
            <a:endParaRPr lang="en-US" altLang="zh-CN" sz="2400" b="0" dirty="0" smtClean="0">
              <a:latin typeface="微软雅黑" panose="020B0503020204020204" pitchFamily="34" charset="-122"/>
              <a:ea typeface="微软雅黑" panose="020B0503020204020204" pitchFamily="34" charset="-122"/>
            </a:endParaRPr>
          </a:p>
          <a:p>
            <a:pPr algn="l"/>
            <a:endParaRPr lang="en-US" altLang="zh-CN" sz="2400" b="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1475656" y="1231299"/>
            <a:ext cx="5874791" cy="5626701"/>
          </a:xfrm>
          <a:prstGeom prst="rect">
            <a:avLst/>
          </a:prstGeom>
        </p:spPr>
      </p:pic>
    </p:spTree>
    <p:extLst>
      <p:ext uri="{BB962C8B-B14F-4D97-AF65-F5344CB8AC3E}">
        <p14:creationId xmlns:p14="http://schemas.microsoft.com/office/powerpoint/2010/main" val="8756772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Android 11</a:t>
            </a:r>
            <a:r>
              <a:rPr lang="zh-CN" altLang="en-US" sz="2400" b="0" dirty="0">
                <a:latin typeface="微软雅黑" panose="020B0503020204020204" pitchFamily="34" charset="-122"/>
                <a:ea typeface="微软雅黑" panose="020B0503020204020204" pitchFamily="34" charset="-122"/>
              </a:rPr>
              <a:t>系统启动流程概述</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4062651"/>
          </a:xfrm>
          <a:prstGeom prst="rect">
            <a:avLst/>
          </a:prstGeom>
          <a:noFill/>
        </p:spPr>
        <p:txBody>
          <a:bodyPr wrap="square" rtlCol="0">
            <a:spAutoFit/>
          </a:bodyPr>
          <a:lstStyle/>
          <a:p>
            <a:pPr algn="l"/>
            <a:r>
              <a:rPr lang="zh-CN" altLang="en-US" sz="1800" b="0" dirty="0" smtClean="0">
                <a:latin typeface="微软雅黑" panose="020B0503020204020204" pitchFamily="34" charset="-122"/>
                <a:ea typeface="微软雅黑" panose="020B0503020204020204" pitchFamily="34" charset="-122"/>
              </a:rPr>
              <a:t>具体流程大致如下</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342900" indent="-342900" algn="l">
              <a:buFont typeface="+mj-lt"/>
              <a:buAutoNum type="arabicPeriod"/>
            </a:pPr>
            <a:r>
              <a:rPr lang="en-US" altLang="zh-CN" sz="1600" b="0" dirty="0" smtClean="0">
                <a:latin typeface="微软雅黑" panose="020B0503020204020204" pitchFamily="34" charset="-122"/>
                <a:ea typeface="微软雅黑" panose="020B0503020204020204" pitchFamily="34" charset="-122"/>
              </a:rPr>
              <a:t>Boot </a:t>
            </a:r>
            <a:r>
              <a:rPr lang="en-US" altLang="zh-CN" sz="1600" b="0" dirty="0">
                <a:latin typeface="微软雅黑" panose="020B0503020204020204" pitchFamily="34" charset="-122"/>
                <a:ea typeface="微软雅黑" panose="020B0503020204020204" pitchFamily="34" charset="-122"/>
              </a:rPr>
              <a:t>Rom</a:t>
            </a:r>
            <a:r>
              <a:rPr lang="zh-CN" altLang="en-US" sz="1600" b="0" dirty="0">
                <a:latin typeface="微软雅黑" panose="020B0503020204020204" pitchFamily="34" charset="-122"/>
                <a:ea typeface="微软雅黑" panose="020B0503020204020204" pitchFamily="34" charset="-122"/>
              </a:rPr>
              <a:t>：当长按电源键开机的时候，引导芯片从固化在 </a:t>
            </a:r>
            <a:r>
              <a:rPr lang="en-US" altLang="zh-CN" sz="1600" b="0" dirty="0">
                <a:latin typeface="微软雅黑" panose="020B0503020204020204" pitchFamily="34" charset="-122"/>
                <a:ea typeface="微软雅黑" panose="020B0503020204020204" pitchFamily="34" charset="-122"/>
              </a:rPr>
              <a:t>ROM </a:t>
            </a:r>
            <a:r>
              <a:rPr lang="zh-CN" altLang="en-US" sz="1600" b="0" dirty="0">
                <a:latin typeface="微软雅黑" panose="020B0503020204020204" pitchFamily="34" charset="-122"/>
                <a:ea typeface="微软雅黑" panose="020B0503020204020204" pitchFamily="34" charset="-122"/>
              </a:rPr>
              <a:t>的预设代码开始执行，</a:t>
            </a:r>
            <a:r>
              <a:rPr lang="zh-CN" altLang="en-US" sz="1600" b="0" dirty="0" smtClean="0">
                <a:latin typeface="微软雅黑" panose="020B0503020204020204" pitchFamily="34" charset="-122"/>
                <a:ea typeface="微软雅黑" panose="020B0503020204020204" pitchFamily="34" charset="-122"/>
              </a:rPr>
              <a:t>加载</a:t>
            </a:r>
            <a:r>
              <a:rPr lang="en-US" altLang="zh-CN" sz="1600" b="0" dirty="0" smtClean="0">
                <a:latin typeface="微软雅黑" panose="020B0503020204020204" pitchFamily="34" charset="-122"/>
                <a:ea typeface="微软雅黑" panose="020B0503020204020204" pitchFamily="34" charset="-122"/>
              </a:rPr>
              <a:t>Bootloader</a:t>
            </a:r>
            <a:r>
              <a:rPr lang="zh-CN" altLang="en-US" sz="1600" b="0" dirty="0" smtClean="0">
                <a:latin typeface="微软雅黑" panose="020B0503020204020204" pitchFamily="34" charset="-122"/>
                <a:ea typeface="微软雅黑" panose="020B0503020204020204" pitchFamily="34" charset="-122"/>
              </a:rPr>
              <a:t>到 </a:t>
            </a:r>
            <a:r>
              <a:rPr lang="en-US" altLang="zh-CN" sz="1600" b="0" dirty="0">
                <a:latin typeface="微软雅黑" panose="020B0503020204020204" pitchFamily="34" charset="-122"/>
                <a:ea typeface="微软雅黑" panose="020B0503020204020204" pitchFamily="34" charset="-122"/>
              </a:rPr>
              <a:t>RAM </a:t>
            </a:r>
            <a:r>
              <a:rPr lang="zh-CN" altLang="en-US" sz="1600" b="0" dirty="0" smtClean="0">
                <a:latin typeface="微软雅黑" panose="020B0503020204020204" pitchFamily="34" charset="-122"/>
                <a:ea typeface="微软雅黑" panose="020B0503020204020204" pitchFamily="34" charset="-122"/>
              </a:rPr>
              <a:t>中运行。 </a:t>
            </a:r>
            <a:endParaRPr lang="en-US" altLang="zh-CN" sz="1600" b="0" dirty="0" smtClean="0">
              <a:latin typeface="微软雅黑" panose="020B0503020204020204" pitchFamily="34" charset="-122"/>
              <a:ea typeface="微软雅黑" panose="020B0503020204020204" pitchFamily="34" charset="-122"/>
            </a:endParaRPr>
          </a:p>
          <a:p>
            <a:pPr marL="342900" indent="-342900" algn="l">
              <a:buFont typeface="+mj-lt"/>
              <a:buAutoNum type="arabicPeriod"/>
            </a:pPr>
            <a:r>
              <a:rPr lang="en-US" altLang="zh-CN" sz="1600" b="0" dirty="0">
                <a:latin typeface="微软雅黑" panose="020B0503020204020204" pitchFamily="34" charset="-122"/>
                <a:ea typeface="微软雅黑" panose="020B0503020204020204" pitchFamily="34" charset="-122"/>
              </a:rPr>
              <a:t>Bootloader</a:t>
            </a:r>
            <a:r>
              <a:rPr lang="zh-CN" altLang="en-US" sz="1600" b="0" dirty="0">
                <a:latin typeface="微软雅黑" panose="020B0503020204020204" pitchFamily="34" charset="-122"/>
                <a:ea typeface="微软雅黑" panose="020B0503020204020204" pitchFamily="34" charset="-122"/>
              </a:rPr>
              <a:t>：即引导程序，主要作用是初始化 </a:t>
            </a:r>
            <a:r>
              <a:rPr lang="en-US" altLang="zh-CN" sz="1600" b="0" dirty="0">
                <a:latin typeface="微软雅黑" panose="020B0503020204020204" pitchFamily="34" charset="-122"/>
                <a:ea typeface="微软雅黑" panose="020B0503020204020204" pitchFamily="34" charset="-122"/>
              </a:rPr>
              <a:t>flash</a:t>
            </a:r>
            <a:r>
              <a:rPr lang="zh-CN" altLang="en-US" sz="1600" b="0" dirty="0">
                <a:latin typeface="微软雅黑" panose="020B0503020204020204" pitchFamily="34" charset="-122"/>
                <a:ea typeface="微软雅黑" panose="020B0503020204020204" pitchFamily="34" charset="-122"/>
              </a:rPr>
              <a:t>、将内核 </a:t>
            </a:r>
            <a:r>
              <a:rPr lang="en-US" altLang="zh-CN" sz="1600" b="0" dirty="0">
                <a:latin typeface="微软雅黑" panose="020B0503020204020204" pitchFamily="34" charset="-122"/>
                <a:ea typeface="微软雅黑" panose="020B0503020204020204" pitchFamily="34" charset="-122"/>
              </a:rPr>
              <a:t>kernel </a:t>
            </a:r>
            <a:r>
              <a:rPr lang="zh-CN" altLang="en-US" sz="1600" b="0" dirty="0">
                <a:latin typeface="微软雅黑" panose="020B0503020204020204" pitchFamily="34" charset="-122"/>
                <a:ea typeface="微软雅黑" panose="020B0503020204020204" pitchFamily="34" charset="-122"/>
              </a:rPr>
              <a:t>拷贝到内存中、启动内核</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marL="342900" indent="-342900" algn="l">
              <a:buFont typeface="+mj-lt"/>
              <a:buAutoNum type="arabicPeriod"/>
            </a:pPr>
            <a:r>
              <a:rPr lang="zh-CN" altLang="en-US" sz="1600" b="0" dirty="0">
                <a:latin typeface="微软雅黑" panose="020B0503020204020204" pitchFamily="34" charset="-122"/>
                <a:ea typeface="微软雅黑" panose="020B0503020204020204" pitchFamily="34" charset="-122"/>
              </a:rPr>
              <a:t>启动 </a:t>
            </a:r>
            <a:r>
              <a:rPr lang="en-US" altLang="zh-CN" sz="1600" b="0" dirty="0">
                <a:latin typeface="微软雅黑" panose="020B0503020204020204" pitchFamily="34" charset="-122"/>
                <a:ea typeface="微软雅黑" panose="020B0503020204020204" pitchFamily="34" charset="-122"/>
              </a:rPr>
              <a:t>Kernel</a:t>
            </a:r>
            <a:r>
              <a:rPr lang="zh-CN" altLang="en-US" sz="1600" b="0" dirty="0">
                <a:latin typeface="微软雅黑" panose="020B0503020204020204" pitchFamily="34" charset="-122"/>
                <a:ea typeface="微软雅黑" panose="020B0503020204020204" pitchFamily="34" charset="-122"/>
              </a:rPr>
              <a:t>：主要是启动内核线程 </a:t>
            </a:r>
            <a:r>
              <a:rPr lang="en-US" altLang="zh-CN" sz="1600" b="0" dirty="0" err="1">
                <a:latin typeface="微软雅黑" panose="020B0503020204020204" pitchFamily="34" charset="-122"/>
                <a:ea typeface="微软雅黑" panose="020B0503020204020204" pitchFamily="34" charset="-122"/>
              </a:rPr>
              <a:t>kernel_init</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kernel_init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函数完成设备驱动程序的初始化，并调用 </a:t>
            </a:r>
            <a:r>
              <a:rPr lang="en-US" altLang="zh-CN" sz="1600" b="0" dirty="0" err="1">
                <a:latin typeface="微软雅黑" panose="020B0503020204020204" pitchFamily="34" charset="-122"/>
                <a:ea typeface="微软雅黑" panose="020B0503020204020204" pitchFamily="34" charset="-122"/>
              </a:rPr>
              <a:t>init_post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启动用户空间的 </a:t>
            </a:r>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进程。</a:t>
            </a:r>
          </a:p>
          <a:p>
            <a:pPr marL="342900" indent="-342900" algn="l">
              <a:buFont typeface="+mj-lt"/>
              <a:buAutoNum type="arabicPeriod"/>
            </a:pPr>
            <a:r>
              <a:rPr lang="zh-CN" altLang="en-US" sz="1600" b="0" dirty="0">
                <a:latin typeface="微软雅黑" panose="020B0503020204020204" pitchFamily="34" charset="-122"/>
                <a:ea typeface="微软雅黑" panose="020B0503020204020204" pitchFamily="34" charset="-122"/>
              </a:rPr>
              <a:t>启动 </a:t>
            </a:r>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进程：在 </a:t>
            </a:r>
            <a:r>
              <a:rPr lang="en-US" altLang="zh-CN" sz="1600" b="0" dirty="0">
                <a:latin typeface="微软雅黑" panose="020B0503020204020204" pitchFamily="34" charset="-122"/>
                <a:ea typeface="微软雅黑" panose="020B0503020204020204" pitchFamily="34" charset="-122"/>
              </a:rPr>
              <a:t>Linux </a:t>
            </a:r>
            <a:r>
              <a:rPr lang="zh-CN" altLang="en-US" sz="1600" b="0" dirty="0">
                <a:latin typeface="微软雅黑" panose="020B0503020204020204" pitchFamily="34" charset="-122"/>
                <a:ea typeface="微软雅黑" panose="020B0503020204020204" pitchFamily="34" charset="-122"/>
              </a:rPr>
              <a:t>系统中，所有的进程都是由 </a:t>
            </a:r>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进程直接或间接 </a:t>
            </a:r>
            <a:r>
              <a:rPr lang="en-US" altLang="zh-CN" sz="1600" b="0" dirty="0">
                <a:latin typeface="微软雅黑" panose="020B0503020204020204" pitchFamily="34" charset="-122"/>
                <a:ea typeface="微软雅黑" panose="020B0503020204020204" pitchFamily="34" charset="-122"/>
              </a:rPr>
              <a:t>fork </a:t>
            </a:r>
            <a:r>
              <a:rPr lang="zh-CN" altLang="en-US" sz="1600" b="0" dirty="0">
                <a:latin typeface="微软雅黑" panose="020B0503020204020204" pitchFamily="34" charset="-122"/>
                <a:ea typeface="微软雅黑" panose="020B0503020204020204" pitchFamily="34" charset="-122"/>
              </a:rPr>
              <a:t>出来的。</a:t>
            </a:r>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进程负责创建系统中最关键的几个子进程，尤其是 </a:t>
            </a:r>
            <a:r>
              <a:rPr lang="en-US" altLang="zh-CN" sz="1600" b="0" dirty="0">
                <a:latin typeface="微软雅黑" panose="020B0503020204020204" pitchFamily="34" charset="-122"/>
                <a:ea typeface="微软雅黑" panose="020B0503020204020204" pitchFamily="34" charset="-122"/>
              </a:rPr>
              <a:t>Zygote </a:t>
            </a:r>
            <a:r>
              <a:rPr lang="zh-CN" altLang="en-US" sz="1600" b="0" dirty="0">
                <a:latin typeface="微软雅黑" panose="020B0503020204020204" pitchFamily="34" charset="-122"/>
                <a:ea typeface="微软雅黑" panose="020B0503020204020204" pitchFamily="34" charset="-122"/>
              </a:rPr>
              <a:t>进程，另外它还提供了 </a:t>
            </a:r>
            <a:r>
              <a:rPr lang="en-US" altLang="zh-CN" sz="1600" b="0" dirty="0">
                <a:latin typeface="微软雅黑" panose="020B0503020204020204" pitchFamily="34" charset="-122"/>
                <a:ea typeface="微软雅黑" panose="020B0503020204020204" pitchFamily="34" charset="-122"/>
              </a:rPr>
              <a:t>property service</a:t>
            </a:r>
            <a:r>
              <a:rPr lang="zh-CN" altLang="en-US" sz="1600" b="0" dirty="0">
                <a:latin typeface="微软雅黑" panose="020B0503020204020204" pitchFamily="34" charset="-122"/>
                <a:ea typeface="微软雅黑" panose="020B0503020204020204" pitchFamily="34" charset="-122"/>
              </a:rPr>
              <a:t>（类似于 </a:t>
            </a:r>
            <a:r>
              <a:rPr lang="en-US" altLang="zh-CN" sz="1600" b="0" dirty="0">
                <a:latin typeface="微软雅黑" panose="020B0503020204020204" pitchFamily="34" charset="-122"/>
                <a:ea typeface="微软雅黑" panose="020B0503020204020204" pitchFamily="34" charset="-122"/>
              </a:rPr>
              <a:t>Windows </a:t>
            </a:r>
            <a:r>
              <a:rPr lang="zh-CN" altLang="en-US" sz="1600" b="0" dirty="0">
                <a:latin typeface="微软雅黑" panose="020B0503020204020204" pitchFamily="34" charset="-122"/>
                <a:ea typeface="微软雅黑" panose="020B0503020204020204" pitchFamily="34" charset="-122"/>
              </a:rPr>
              <a:t>系统的注册表服务）。 </a:t>
            </a:r>
          </a:p>
          <a:p>
            <a:pPr marL="342900" indent="-342900" algn="l">
              <a:buFont typeface="+mj-lt"/>
              <a:buAutoNum type="arabicPeriod"/>
            </a:pPr>
            <a:r>
              <a:rPr lang="zh-CN" altLang="en-US" sz="1600" b="0" dirty="0">
                <a:latin typeface="微软雅黑" panose="020B0503020204020204" pitchFamily="34" charset="-122"/>
                <a:ea typeface="微软雅黑" panose="020B0503020204020204" pitchFamily="34" charset="-122"/>
              </a:rPr>
              <a:t>启动 </a:t>
            </a:r>
            <a:r>
              <a:rPr lang="en-US" altLang="zh-CN" sz="1600" b="0" dirty="0">
                <a:latin typeface="微软雅黑" panose="020B0503020204020204" pitchFamily="34" charset="-122"/>
                <a:ea typeface="微软雅黑" panose="020B0503020204020204" pitchFamily="34" charset="-122"/>
              </a:rPr>
              <a:t>Zygote </a:t>
            </a:r>
            <a:r>
              <a:rPr lang="zh-CN" altLang="en-US" sz="1600" b="0" dirty="0">
                <a:latin typeface="微软雅黑" panose="020B0503020204020204" pitchFamily="34" charset="-122"/>
                <a:ea typeface="微软雅黑" panose="020B0503020204020204" pitchFamily="34" charset="-122"/>
              </a:rPr>
              <a:t>进程：当 </a:t>
            </a:r>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进程创建之后，会 </a:t>
            </a:r>
            <a:r>
              <a:rPr lang="en-US" altLang="zh-CN" sz="1600" b="0" dirty="0">
                <a:latin typeface="微软雅黑" panose="020B0503020204020204" pitchFamily="34" charset="-122"/>
                <a:ea typeface="微软雅黑" panose="020B0503020204020204" pitchFamily="34" charset="-122"/>
              </a:rPr>
              <a:t>fork </a:t>
            </a:r>
            <a:r>
              <a:rPr lang="zh-CN" altLang="en-US" sz="1600" b="0" dirty="0">
                <a:latin typeface="微软雅黑" panose="020B0503020204020204" pitchFamily="34" charset="-122"/>
                <a:ea typeface="微软雅黑" panose="020B0503020204020204" pitchFamily="34" charset="-122"/>
              </a:rPr>
              <a:t>出一个 </a:t>
            </a:r>
            <a:r>
              <a:rPr lang="en-US" altLang="zh-CN" sz="1600" b="0" dirty="0">
                <a:latin typeface="微软雅黑" panose="020B0503020204020204" pitchFamily="34" charset="-122"/>
                <a:ea typeface="微软雅黑" panose="020B0503020204020204" pitchFamily="34" charset="-122"/>
              </a:rPr>
              <a:t>Zygote </a:t>
            </a:r>
            <a:r>
              <a:rPr lang="zh-CN" altLang="en-US" sz="1600" b="0" dirty="0">
                <a:latin typeface="微软雅黑" panose="020B0503020204020204" pitchFamily="34" charset="-122"/>
                <a:ea typeface="微软雅黑" panose="020B0503020204020204" pitchFamily="34" charset="-122"/>
              </a:rPr>
              <a:t>进程，这个进程是所有 </a:t>
            </a:r>
            <a:r>
              <a:rPr lang="en-US" altLang="zh-CN" sz="1600" b="0" dirty="0">
                <a:latin typeface="微软雅黑" panose="020B0503020204020204" pitchFamily="34" charset="-122"/>
                <a:ea typeface="微软雅黑" panose="020B0503020204020204" pitchFamily="34" charset="-122"/>
              </a:rPr>
              <a:t>Java </a:t>
            </a:r>
            <a:r>
              <a:rPr lang="zh-CN" altLang="en-US" sz="1600" b="0" dirty="0">
                <a:latin typeface="微软雅黑" panose="020B0503020204020204" pitchFamily="34" charset="-122"/>
                <a:ea typeface="微软雅黑" panose="020B0503020204020204" pitchFamily="34" charset="-122"/>
              </a:rPr>
              <a:t>进程的父进程。 </a:t>
            </a:r>
          </a:p>
          <a:p>
            <a:pPr marL="342900" indent="-342900" algn="l">
              <a:buFont typeface="+mj-lt"/>
              <a:buAutoNum type="arabicPeriod"/>
            </a:pPr>
            <a:r>
              <a:rPr lang="zh-CN" altLang="en-US" sz="1600" b="0" dirty="0">
                <a:latin typeface="微软雅黑" panose="020B0503020204020204" pitchFamily="34" charset="-122"/>
                <a:ea typeface="微软雅黑" panose="020B0503020204020204" pitchFamily="34" charset="-122"/>
              </a:rPr>
              <a:t>启动 </a:t>
            </a:r>
            <a:r>
              <a:rPr lang="en-US" altLang="zh-CN" sz="1600" b="0" dirty="0" err="1">
                <a:latin typeface="微软雅黑" panose="020B0503020204020204" pitchFamily="34" charset="-122"/>
                <a:ea typeface="微软雅黑" panose="020B0503020204020204" pitchFamily="34" charset="-122"/>
              </a:rPr>
              <a:t>SystemServer</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进程：</a:t>
            </a:r>
            <a:r>
              <a:rPr lang="en-US" altLang="zh-CN" sz="1600" b="0" dirty="0" err="1">
                <a:latin typeface="微软雅黑" panose="020B0503020204020204" pitchFamily="34" charset="-122"/>
                <a:ea typeface="微软雅黑" panose="020B0503020204020204" pitchFamily="34" charset="-122"/>
              </a:rPr>
              <a:t>SystemServer</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进程由 </a:t>
            </a:r>
            <a:r>
              <a:rPr lang="en-US" altLang="zh-CN" sz="1600" b="0" dirty="0">
                <a:latin typeface="微软雅黑" panose="020B0503020204020204" pitchFamily="34" charset="-122"/>
                <a:ea typeface="微软雅黑" panose="020B0503020204020204" pitchFamily="34" charset="-122"/>
              </a:rPr>
              <a:t>Zygote </a:t>
            </a:r>
            <a:r>
              <a:rPr lang="zh-CN" altLang="en-US" sz="1600" b="0" dirty="0">
                <a:latin typeface="微软雅黑" panose="020B0503020204020204" pitchFamily="34" charset="-122"/>
                <a:ea typeface="微软雅黑" panose="020B0503020204020204" pitchFamily="34" charset="-122"/>
              </a:rPr>
              <a:t>进程 </a:t>
            </a:r>
            <a:r>
              <a:rPr lang="en-US" altLang="zh-CN" sz="1600" b="0" dirty="0">
                <a:latin typeface="微软雅黑" panose="020B0503020204020204" pitchFamily="34" charset="-122"/>
                <a:ea typeface="微软雅黑" panose="020B0503020204020204" pitchFamily="34" charset="-122"/>
              </a:rPr>
              <a:t>fork</a:t>
            </a:r>
            <a:r>
              <a:rPr lang="zh-CN" altLang="en-US" sz="1600" b="0" dirty="0">
                <a:latin typeface="微软雅黑" panose="020B0503020204020204" pitchFamily="34" charset="-122"/>
                <a:ea typeface="微软雅黑" panose="020B0503020204020204" pitchFamily="34" charset="-122"/>
              </a:rPr>
              <a:t>，这个进程在整个 </a:t>
            </a:r>
            <a:r>
              <a:rPr lang="en-US" altLang="zh-CN" sz="1600" b="0" dirty="0">
                <a:latin typeface="微软雅黑" panose="020B0503020204020204" pitchFamily="34" charset="-122"/>
                <a:ea typeface="微软雅黑" panose="020B0503020204020204" pitchFamily="34" charset="-122"/>
              </a:rPr>
              <a:t>Android </a:t>
            </a:r>
            <a:r>
              <a:rPr lang="zh-CN" altLang="en-US" sz="1600" b="0" dirty="0">
                <a:latin typeface="微软雅黑" panose="020B0503020204020204" pitchFamily="34" charset="-122"/>
                <a:ea typeface="微软雅黑" panose="020B0503020204020204" pitchFamily="34" charset="-122"/>
              </a:rPr>
              <a:t>系统中非常重要，系统里面的服务都是在这个进程里面开启的，例如 </a:t>
            </a:r>
            <a:r>
              <a:rPr lang="en-US" altLang="zh-CN" sz="1600" b="0" dirty="0">
                <a:latin typeface="微软雅黑" panose="020B0503020204020204" pitchFamily="34" charset="-122"/>
                <a:ea typeface="微软雅黑" panose="020B0503020204020204" pitchFamily="34" charset="-122"/>
              </a:rPr>
              <a:t>AMS</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WindowsManager</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等。 </a:t>
            </a:r>
          </a:p>
          <a:p>
            <a:pPr marL="342900" indent="-342900" algn="l">
              <a:buFont typeface="+mj-lt"/>
              <a:buAutoNum type="arabicPeriod"/>
            </a:pPr>
            <a:r>
              <a:rPr lang="zh-CN" altLang="en-US" sz="1600" b="0" dirty="0">
                <a:latin typeface="微软雅黑" panose="020B0503020204020204" pitchFamily="34" charset="-122"/>
                <a:ea typeface="微软雅黑" panose="020B0503020204020204" pitchFamily="34" charset="-122"/>
              </a:rPr>
              <a:t>运行 </a:t>
            </a:r>
            <a:r>
              <a:rPr lang="en-US" altLang="zh-CN" sz="1600" b="0" dirty="0">
                <a:latin typeface="微软雅黑" panose="020B0503020204020204" pitchFamily="34" charset="-122"/>
                <a:ea typeface="微软雅黑" panose="020B0503020204020204" pitchFamily="34" charset="-122"/>
              </a:rPr>
              <a:t>Home Activity</a:t>
            </a:r>
            <a:r>
              <a:rPr lang="zh-CN" altLang="en-US" sz="1600" b="0" dirty="0">
                <a:latin typeface="微软雅黑" panose="020B0503020204020204" pitchFamily="34" charset="-122"/>
                <a:ea typeface="微软雅黑" panose="020B0503020204020204" pitchFamily="34" charset="-122"/>
              </a:rPr>
              <a:t>：最后 </a:t>
            </a:r>
            <a:r>
              <a:rPr lang="en-US" altLang="zh-CN" sz="1600" b="0" dirty="0">
                <a:latin typeface="微软雅黑" panose="020B0503020204020204" pitchFamily="34" charset="-122"/>
                <a:ea typeface="微软雅黑" panose="020B0503020204020204" pitchFamily="34" charset="-122"/>
              </a:rPr>
              <a:t>AMS </a:t>
            </a:r>
            <a:r>
              <a:rPr lang="zh-CN" altLang="en-US" sz="1600" b="0" dirty="0">
                <a:latin typeface="微软雅黑" panose="020B0503020204020204" pitchFamily="34" charset="-122"/>
                <a:ea typeface="微软雅黑" panose="020B0503020204020204" pitchFamily="34" charset="-122"/>
              </a:rPr>
              <a:t>会通过 </a:t>
            </a:r>
            <a:r>
              <a:rPr lang="en-US" altLang="zh-CN" sz="1600" b="0" dirty="0">
                <a:latin typeface="微软雅黑" panose="020B0503020204020204" pitchFamily="34" charset="-122"/>
                <a:ea typeface="微软雅黑" panose="020B0503020204020204" pitchFamily="34" charset="-122"/>
              </a:rPr>
              <a:t>Home intent </a:t>
            </a:r>
            <a:r>
              <a:rPr lang="zh-CN" altLang="en-US" sz="1600" b="0" dirty="0">
                <a:latin typeface="微软雅黑" panose="020B0503020204020204" pitchFamily="34" charset="-122"/>
                <a:ea typeface="微软雅黑" panose="020B0503020204020204" pitchFamily="34" charset="-122"/>
              </a:rPr>
              <a:t>将 </a:t>
            </a:r>
            <a:r>
              <a:rPr lang="en-US" altLang="zh-CN" sz="1600" b="0" dirty="0" smtClean="0">
                <a:latin typeface="微软雅黑" panose="020B0503020204020204" pitchFamily="34" charset="-122"/>
                <a:ea typeface="微软雅黑" panose="020B0503020204020204" pitchFamily="34" charset="-122"/>
              </a:rPr>
              <a:t>Launcher </a:t>
            </a:r>
            <a:r>
              <a:rPr lang="zh-CN" altLang="en-US" sz="1600" b="0" dirty="0">
                <a:latin typeface="微软雅黑" panose="020B0503020204020204" pitchFamily="34" charset="-122"/>
                <a:ea typeface="微软雅黑" panose="020B0503020204020204" pitchFamily="34" charset="-122"/>
              </a:rPr>
              <a:t>启动起来</a:t>
            </a:r>
            <a:r>
              <a:rPr lang="zh-CN" altLang="en-US" sz="1600" b="0" dirty="0" smtClean="0">
                <a:latin typeface="微软雅黑" panose="020B0503020204020204" pitchFamily="34" charset="-122"/>
                <a:ea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188520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Boot Rom</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bootloader</a:t>
            </a:r>
            <a:r>
              <a:rPr lang="zh-CN" altLang="en-US" sz="2400" b="0" dirty="0">
                <a:latin typeface="微软雅黑" panose="020B0503020204020204" pitchFamily="34" charset="-122"/>
                <a:ea typeface="微软雅黑" panose="020B0503020204020204" pitchFamily="34" charset="-122"/>
              </a:rPr>
              <a:t>、</a:t>
            </a:r>
            <a:r>
              <a:rPr lang="en-US" altLang="zh-CN" sz="2400" b="0" dirty="0" err="1">
                <a:latin typeface="微软雅黑" panose="020B0503020204020204" pitchFamily="34" charset="-122"/>
                <a:ea typeface="微软雅黑" panose="020B0503020204020204" pitchFamily="34" charset="-122"/>
              </a:rPr>
              <a:t>uboot</a:t>
            </a:r>
            <a:r>
              <a:rPr lang="zh-CN" altLang="en-US" sz="2400" b="0" dirty="0">
                <a:latin typeface="微软雅黑" panose="020B0503020204020204" pitchFamily="34" charset="-122"/>
                <a:ea typeface="微软雅黑" panose="020B0503020204020204" pitchFamily="34" charset="-122"/>
              </a:rPr>
              <a:t>简介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4985980"/>
          </a:xfrm>
          <a:prstGeom prst="rect">
            <a:avLst/>
          </a:prstGeom>
          <a:noFill/>
        </p:spPr>
        <p:txBody>
          <a:bodyPr wrap="square" rtlCol="0">
            <a:spAutoFit/>
          </a:bodyPr>
          <a:lstStyle/>
          <a:p>
            <a:pPr algn="l"/>
            <a:r>
              <a:rPr lang="en-US" altLang="zh-CN" sz="1800" dirty="0" smtClean="0">
                <a:latin typeface="微软雅黑" panose="020B0503020204020204" pitchFamily="34" charset="-122"/>
                <a:ea typeface="微软雅黑" panose="020B0503020204020204" pitchFamily="34" charset="-122"/>
              </a:rPr>
              <a:t>Boot Rom</a:t>
            </a:r>
            <a:r>
              <a:rPr lang="zh-CN" altLang="en-US" sz="1800" dirty="0" smtClean="0">
                <a:latin typeface="微软雅黑" panose="020B0503020204020204" pitchFamily="34" charset="-122"/>
                <a:ea typeface="微软雅黑" panose="020B0503020204020204" pitchFamily="34" charset="-122"/>
              </a:rPr>
              <a:t>是什么？</a:t>
            </a:r>
            <a:endParaRPr lang="en-US" altLang="zh-CN" sz="1800" dirty="0" smtClean="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        </a:t>
            </a:r>
            <a:r>
              <a:rPr lang="en-US" altLang="zh-CN" sz="1600" b="0" dirty="0" err="1">
                <a:latin typeface="微软雅黑" panose="020B0503020204020204" pitchFamily="34" charset="-122"/>
                <a:ea typeface="微软雅黑" panose="020B0503020204020204" pitchFamily="34" charset="-122"/>
              </a:rPr>
              <a:t>BootROM</a:t>
            </a:r>
            <a:r>
              <a:rPr lang="zh-CN" altLang="en-US" sz="1600" b="0" dirty="0">
                <a:latin typeface="微软雅黑" panose="020B0503020204020204" pitchFamily="34" charset="-122"/>
                <a:ea typeface="微软雅黑" panose="020B0503020204020204" pitchFamily="34" charset="-122"/>
              </a:rPr>
              <a:t>是嵌入式系统中的一段代码，它是芯片内置的只读存储器（</a:t>
            </a:r>
            <a:r>
              <a:rPr lang="en-US" altLang="zh-CN" sz="1600" b="0" dirty="0">
                <a:latin typeface="微软雅黑" panose="020B0503020204020204" pitchFamily="34" charset="-122"/>
                <a:ea typeface="微软雅黑" panose="020B0503020204020204" pitchFamily="34" charset="-122"/>
              </a:rPr>
              <a:t>ROM</a:t>
            </a:r>
            <a:r>
              <a:rPr lang="zh-CN" altLang="en-US" sz="1600" b="0" dirty="0">
                <a:latin typeface="微软雅黑" panose="020B0503020204020204" pitchFamily="34" charset="-122"/>
                <a:ea typeface="微软雅黑" panose="020B0503020204020204" pitchFamily="34" charset="-122"/>
              </a:rPr>
              <a:t>）中的一段程序，一般固话在芯片内部，它是芯片上电后第一时间运行的程序</a:t>
            </a:r>
            <a:r>
              <a:rPr lang="zh-CN" altLang="en-US" sz="1600" b="0" dirty="0" smtClean="0">
                <a:latin typeface="微软雅黑" panose="020B0503020204020204" pitchFamily="34" charset="-122"/>
                <a:ea typeface="微软雅黑" panose="020B0503020204020204" pitchFamily="34" charset="-122"/>
              </a:rPr>
              <a:t>，初始化部分硬件，</a:t>
            </a:r>
            <a:r>
              <a:rPr lang="zh-CN" altLang="en-US" sz="1600" b="0" dirty="0">
                <a:latin typeface="微软雅黑" panose="020B0503020204020204" pitchFamily="34" charset="-122"/>
                <a:ea typeface="微软雅黑" panose="020B0503020204020204" pitchFamily="34" charset="-122"/>
              </a:rPr>
              <a:t>包括</a:t>
            </a:r>
            <a:r>
              <a:rPr lang="en-US" altLang="zh-CN" sz="1600" b="0" dirty="0">
                <a:latin typeface="微软雅黑" panose="020B0503020204020204" pitchFamily="34" charset="-122"/>
                <a:ea typeface="微软雅黑" panose="020B0503020204020204" pitchFamily="34" charset="-122"/>
              </a:rPr>
              <a:t>CPU</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DDR</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EMMC</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NAND Flash</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SPI Flash</a:t>
            </a:r>
            <a:r>
              <a:rPr lang="zh-CN" altLang="en-US" sz="1600" b="0" dirty="0">
                <a:latin typeface="微软雅黑" panose="020B0503020204020204" pitchFamily="34" charset="-122"/>
                <a:ea typeface="微软雅黑" panose="020B0503020204020204" pitchFamily="34" charset="-122"/>
              </a:rPr>
              <a:t>等硬件设备的初始化</a:t>
            </a:r>
            <a:r>
              <a:rPr lang="zh-CN" altLang="en-US" sz="1600" b="0" dirty="0" smtClean="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algn="l"/>
            <a:r>
              <a:rPr lang="en-US" altLang="zh-CN" sz="1800" dirty="0" smtClean="0">
                <a:latin typeface="微软雅黑" panose="020B0503020204020204" pitchFamily="34" charset="-122"/>
                <a:ea typeface="微软雅黑" panose="020B0503020204020204" pitchFamily="34" charset="-122"/>
              </a:rPr>
              <a:t>bootloader</a:t>
            </a:r>
            <a:r>
              <a:rPr lang="zh-CN" altLang="en-US" sz="1800" dirty="0">
                <a:latin typeface="微软雅黑" panose="020B0503020204020204" pitchFamily="34" charset="-122"/>
                <a:ea typeface="微软雅黑" panose="020B0503020204020204" pitchFamily="34" charset="-122"/>
              </a:rPr>
              <a:t>是什么？</a:t>
            </a:r>
          </a:p>
          <a:p>
            <a:pPr algn="l"/>
            <a:r>
              <a:rPr lang="en-US" altLang="zh-CN" sz="1600" b="0" dirty="0" smtClean="0">
                <a:latin typeface="微软雅黑" panose="020B0503020204020204" pitchFamily="34" charset="-122"/>
                <a:ea typeface="微软雅黑" panose="020B0503020204020204" pitchFamily="34" charset="-122"/>
              </a:rPr>
              <a:t>        bootloader </a:t>
            </a:r>
            <a:r>
              <a:rPr lang="zh-CN" altLang="en-US" sz="1600" b="0" dirty="0">
                <a:latin typeface="微软雅黑" panose="020B0503020204020204" pitchFamily="34" charset="-122"/>
                <a:ea typeface="微软雅黑" panose="020B0503020204020204" pitchFamily="34" charset="-122"/>
              </a:rPr>
              <a:t>就是在</a:t>
            </a:r>
            <a:r>
              <a:rPr lang="zh-CN" altLang="en-US" sz="1600" b="0" dirty="0" smtClean="0">
                <a:latin typeface="微软雅黑" panose="020B0503020204020204" pitchFamily="34" charset="-122"/>
                <a:ea typeface="微软雅黑" panose="020B0503020204020204" pitchFamily="34" charset="-122"/>
              </a:rPr>
              <a:t>操作系统 </a:t>
            </a:r>
            <a:r>
              <a:rPr lang="en-US" altLang="zh-CN" sz="1600" b="0" dirty="0" smtClean="0">
                <a:latin typeface="微软雅黑" panose="020B0503020204020204" pitchFamily="34" charset="-122"/>
                <a:ea typeface="微软雅黑" panose="020B0503020204020204" pitchFamily="34" charset="-122"/>
              </a:rPr>
              <a:t>kernel </a:t>
            </a:r>
            <a:r>
              <a:rPr lang="zh-CN" altLang="en-US" sz="1600" b="0" dirty="0" smtClean="0">
                <a:latin typeface="微软雅黑" panose="020B0503020204020204" pitchFamily="34" charset="-122"/>
                <a:ea typeface="微软雅黑" panose="020B0503020204020204" pitchFamily="34" charset="-122"/>
              </a:rPr>
              <a:t>运行</a:t>
            </a:r>
            <a:r>
              <a:rPr lang="zh-CN" altLang="en-US" sz="1600" b="0" dirty="0">
                <a:latin typeface="微软雅黑" panose="020B0503020204020204" pitchFamily="34" charset="-122"/>
                <a:ea typeface="微软雅黑" panose="020B0503020204020204" pitchFamily="34" charset="-122"/>
              </a:rPr>
              <a:t>之前运行的一段小程序。通过这段小程序，我们</a:t>
            </a:r>
            <a:r>
              <a:rPr lang="zh-CN" altLang="en-US" sz="1600" b="0" dirty="0" smtClean="0">
                <a:latin typeface="微软雅黑" panose="020B0503020204020204" pitchFamily="34" charset="-122"/>
                <a:ea typeface="微软雅黑" panose="020B0503020204020204" pitchFamily="34" charset="-122"/>
              </a:rPr>
              <a:t>可以建立</a:t>
            </a:r>
            <a:r>
              <a:rPr lang="zh-CN" altLang="en-US" sz="1600" b="0" dirty="0">
                <a:latin typeface="微软雅黑" panose="020B0503020204020204" pitchFamily="34" charset="-122"/>
                <a:ea typeface="微软雅黑" panose="020B0503020204020204" pitchFamily="34" charset="-122"/>
              </a:rPr>
              <a:t>内存空间的映射图，从而将系统的软硬件环境带到一个合适的状态，以便为最终调用操作系统内核准备好正确的</a:t>
            </a:r>
            <a:r>
              <a:rPr lang="zh-CN" altLang="en-US" sz="1600" b="0" dirty="0" smtClean="0">
                <a:latin typeface="微软雅黑" panose="020B0503020204020204" pitchFamily="34" charset="-122"/>
                <a:ea typeface="微软雅黑" panose="020B0503020204020204" pitchFamily="34" charset="-122"/>
              </a:rPr>
              <a:t>环境</a:t>
            </a:r>
            <a:r>
              <a:rPr lang="zh-CN" altLang="en-US" sz="1600" b="0" dirty="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最后会调用 </a:t>
            </a:r>
            <a:r>
              <a:rPr lang="en-US" altLang="zh-CN" sz="1600" b="0" dirty="0" smtClean="0">
                <a:latin typeface="微软雅黑" panose="020B0503020204020204" pitchFamily="34" charset="-122"/>
                <a:ea typeface="微软雅黑" panose="020B0503020204020204" pitchFamily="34" charset="-122"/>
              </a:rPr>
              <a:t>kernel </a:t>
            </a:r>
            <a:r>
              <a:rPr lang="zh-CN" altLang="en-US" sz="1600" b="0" dirty="0" smtClean="0">
                <a:latin typeface="微软雅黑" panose="020B0503020204020204" pitchFamily="34" charset="-122"/>
                <a:ea typeface="微软雅黑" panose="020B0503020204020204" pitchFamily="34" charset="-122"/>
              </a:rPr>
              <a:t>的</a:t>
            </a:r>
            <a:r>
              <a:rPr lang="zh-CN" altLang="en-US" sz="1600" b="0" dirty="0">
                <a:latin typeface="微软雅黑" panose="020B0503020204020204" pitchFamily="34" charset="-122"/>
                <a:ea typeface="微软雅黑" panose="020B0503020204020204" pitchFamily="34" charset="-122"/>
              </a:rPr>
              <a:t>起始位置开始执行。</a:t>
            </a:r>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        Android</a:t>
            </a:r>
            <a:r>
              <a:rPr lang="zh-CN" altLang="en-US" sz="1600" b="0" dirty="0">
                <a:latin typeface="微软雅黑" panose="020B0503020204020204" pitchFamily="34" charset="-122"/>
                <a:ea typeface="微软雅黑" panose="020B0503020204020204" pitchFamily="34" charset="-122"/>
              </a:rPr>
              <a:t>系统基于</a:t>
            </a:r>
            <a:r>
              <a:rPr lang="en-US" altLang="zh-CN" sz="1600" b="0" dirty="0">
                <a:latin typeface="微软雅黑" panose="020B0503020204020204" pitchFamily="34" charset="-122"/>
                <a:ea typeface="微软雅黑" panose="020B0503020204020204" pitchFamily="34" charset="-122"/>
              </a:rPr>
              <a:t>Linux</a:t>
            </a:r>
            <a:r>
              <a:rPr lang="zh-CN" altLang="en-US" sz="1600" b="0" dirty="0">
                <a:latin typeface="微软雅黑" panose="020B0503020204020204" pitchFamily="34" charset="-122"/>
                <a:ea typeface="微软雅黑" panose="020B0503020204020204" pitchFamily="34" charset="-122"/>
              </a:rPr>
              <a:t>，所以</a:t>
            </a:r>
            <a:r>
              <a:rPr lang="en-US" altLang="zh-CN" sz="1600" b="0" dirty="0">
                <a:latin typeface="微软雅黑" panose="020B0503020204020204" pitchFamily="34" charset="-122"/>
                <a:ea typeface="微软雅黑" panose="020B0503020204020204" pitchFamily="34" charset="-122"/>
              </a:rPr>
              <a:t>bootloader</a:t>
            </a:r>
            <a:r>
              <a:rPr lang="zh-CN" altLang="en-US" sz="1600" b="0" dirty="0">
                <a:latin typeface="微软雅黑" panose="020B0503020204020204" pitchFamily="34" charset="-122"/>
                <a:ea typeface="微软雅黑" panose="020B0503020204020204" pitchFamily="34" charset="-122"/>
              </a:rPr>
              <a:t>部分也是与传统的嵌入式设备上运行的</a:t>
            </a:r>
            <a:r>
              <a:rPr lang="en-US" altLang="zh-CN" sz="1600" b="0" dirty="0">
                <a:latin typeface="微软雅黑" panose="020B0503020204020204" pitchFamily="34" charset="-122"/>
                <a:ea typeface="微软雅黑" panose="020B0503020204020204" pitchFamily="34" charset="-122"/>
              </a:rPr>
              <a:t>Linux</a:t>
            </a:r>
            <a:r>
              <a:rPr lang="zh-CN" altLang="en-US" sz="1600" b="0" dirty="0">
                <a:latin typeface="微软雅黑" panose="020B0503020204020204" pitchFamily="34" charset="-122"/>
                <a:ea typeface="微软雅黑" panose="020B0503020204020204" pitchFamily="34" charset="-122"/>
              </a:rPr>
              <a:t>没有什么区别</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        bootloader</a:t>
            </a:r>
            <a:r>
              <a:rPr lang="zh-CN" altLang="en-US" sz="1600" b="0" dirty="0">
                <a:latin typeface="微软雅黑" panose="020B0503020204020204" pitchFamily="34" charset="-122"/>
                <a:ea typeface="微软雅黑" panose="020B0503020204020204" pitchFamily="34" charset="-122"/>
              </a:rPr>
              <a:t>是基于特定硬件平台来实现的。因此，几乎不可能为所有的嵌入式系统建立一个通用</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bootloader</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800" dirty="0" err="1">
                <a:latin typeface="微软雅黑" panose="020B0503020204020204" pitchFamily="34" charset="-122"/>
                <a:ea typeface="微软雅黑" panose="020B0503020204020204" pitchFamily="34" charset="-122"/>
              </a:rPr>
              <a:t>uboot</a:t>
            </a:r>
            <a:r>
              <a:rPr lang="zh-CN" altLang="en-US" sz="1800" dirty="0">
                <a:latin typeface="微软雅黑" panose="020B0503020204020204" pitchFamily="34" charset="-122"/>
                <a:ea typeface="微软雅黑" panose="020B0503020204020204" pitchFamily="34" charset="-122"/>
              </a:rPr>
              <a:t>是什么</a:t>
            </a:r>
            <a:r>
              <a:rPr lang="zh-CN" altLang="en-US" sz="1800" dirty="0" smtClean="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        </a:t>
            </a:r>
            <a:r>
              <a:rPr lang="en-US" altLang="zh-CN" sz="1600" b="0" dirty="0" err="1" smtClean="0">
                <a:latin typeface="微软雅黑" panose="020B0503020204020204" pitchFamily="34" charset="-122"/>
                <a:ea typeface="微软雅黑" panose="020B0503020204020204" pitchFamily="34" charset="-122"/>
              </a:rPr>
              <a:t>uboot</a:t>
            </a:r>
            <a:r>
              <a:rPr lang="en-US" altLang="zh-CN" sz="1600" b="0" dirty="0" smtClean="0">
                <a:latin typeface="微软雅黑" panose="020B0503020204020204" pitchFamily="34" charset="-122"/>
                <a:ea typeface="微软雅黑" panose="020B0503020204020204" pitchFamily="34" charset="-122"/>
              </a:rPr>
              <a:t> </a:t>
            </a:r>
            <a:r>
              <a:rPr lang="zh-CN" altLang="en-US" sz="1600" b="0" dirty="0" smtClean="0">
                <a:latin typeface="微软雅黑" panose="020B0503020204020204" pitchFamily="34" charset="-122"/>
                <a:ea typeface="微软雅黑" panose="020B0503020204020204" pitchFamily="34" charset="-122"/>
              </a:rPr>
              <a:t>即 </a:t>
            </a:r>
            <a:r>
              <a:rPr lang="en-US" altLang="zh-CN" sz="1600" b="0" dirty="0" smtClean="0">
                <a:latin typeface="微软雅黑" panose="020B0503020204020204" pitchFamily="34" charset="-122"/>
                <a:ea typeface="微软雅黑" panose="020B0503020204020204" pitchFamily="34" charset="-122"/>
              </a:rPr>
              <a:t>universal bootloader</a:t>
            </a:r>
            <a:r>
              <a:rPr lang="zh-CN" altLang="en-US" sz="1600" b="0" dirty="0" smtClean="0">
                <a:latin typeface="微软雅黑" panose="020B0503020204020204" pitchFamily="34" charset="-122"/>
                <a:ea typeface="微软雅黑" panose="020B0503020204020204" pitchFamily="34" charset="-122"/>
              </a:rPr>
              <a:t>，是一种可用于多种</a:t>
            </a:r>
            <a:r>
              <a:rPr lang="en-US" altLang="zh-CN" sz="1600" b="0" dirty="0" smtClean="0">
                <a:latin typeface="微软雅黑" panose="020B0503020204020204" pitchFamily="34" charset="-122"/>
                <a:ea typeface="微软雅黑" panose="020B0503020204020204" pitchFamily="34" charset="-122"/>
              </a:rPr>
              <a:t>CPU</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bootloader</a:t>
            </a:r>
            <a:r>
              <a:rPr lang="zh-CN" altLang="en-US" sz="1600" b="0" dirty="0" smtClean="0">
                <a:latin typeface="微软雅黑" panose="020B0503020204020204" pitchFamily="34" charset="-122"/>
                <a:ea typeface="微软雅黑" panose="020B0503020204020204" pitchFamily="34" charset="-122"/>
              </a:rPr>
              <a:t>程序（</a:t>
            </a:r>
            <a:r>
              <a:rPr lang="en-US" altLang="zh-CN" sz="1600" b="0" dirty="0" smtClean="0">
                <a:latin typeface="微软雅黑" panose="020B0503020204020204" pitchFamily="34" charset="-122"/>
                <a:ea typeface="微软雅黑" panose="020B0503020204020204" pitchFamily="34" charset="-122"/>
              </a:rPr>
              <a:t>ARM</a:t>
            </a:r>
            <a:r>
              <a:rPr lang="zh-CN" altLang="en-US" sz="1600" b="0" dirty="0" smtClean="0">
                <a:latin typeface="微软雅黑" panose="020B0503020204020204" pitchFamily="34" charset="-122"/>
                <a:ea typeface="微软雅黑" panose="020B0503020204020204" pitchFamily="34" charset="-122"/>
              </a:rPr>
              <a:t>、</a:t>
            </a:r>
            <a:r>
              <a:rPr lang="en-US" altLang="zh-CN" sz="1600" b="0" dirty="0" smtClean="0">
                <a:latin typeface="微软雅黑" panose="020B0503020204020204" pitchFamily="34" charset="-122"/>
                <a:ea typeface="微软雅黑" panose="020B0503020204020204" pitchFamily="34" charset="-122"/>
              </a:rPr>
              <a:t>MIPS</a:t>
            </a:r>
            <a:r>
              <a:rPr lang="zh-CN" altLang="en-US" sz="1600" b="0" dirty="0" smtClean="0">
                <a:latin typeface="微软雅黑" panose="020B0503020204020204" pitchFamily="34" charset="-122"/>
                <a:ea typeface="微软雅黑" panose="020B0503020204020204" pitchFamily="34" charset="-122"/>
              </a:rPr>
              <a:t>、</a:t>
            </a:r>
            <a:r>
              <a:rPr lang="en-US" altLang="zh-CN" sz="1600" b="0" dirty="0" smtClean="0">
                <a:latin typeface="微软雅黑" panose="020B0503020204020204" pitchFamily="34" charset="-122"/>
                <a:ea typeface="微软雅黑" panose="020B0503020204020204" pitchFamily="34" charset="-122"/>
              </a:rPr>
              <a:t>X86</a:t>
            </a:r>
            <a:r>
              <a:rPr lang="zh-CN" altLang="en-US" sz="1600" b="0" dirty="0" smtClean="0">
                <a:latin typeface="微软雅黑" panose="020B0503020204020204" pitchFamily="34" charset="-122"/>
                <a:ea typeface="微软雅黑" panose="020B0503020204020204" pitchFamily="34" charset="-122"/>
              </a:rPr>
              <a:t>等），可以说是</a:t>
            </a:r>
            <a:r>
              <a:rPr lang="en-US" altLang="zh-CN" sz="1600" b="0" dirty="0" smtClean="0">
                <a:latin typeface="微软雅黑" panose="020B0503020204020204" pitchFamily="34" charset="-122"/>
                <a:ea typeface="微软雅黑" panose="020B0503020204020204" pitchFamily="34" charset="-122"/>
              </a:rPr>
              <a:t>bootloader</a:t>
            </a:r>
            <a:r>
              <a:rPr lang="zh-CN" altLang="en-US" sz="1600" b="0" dirty="0" smtClean="0">
                <a:latin typeface="微软雅黑" panose="020B0503020204020204" pitchFamily="34" charset="-122"/>
                <a:ea typeface="微软雅黑" panose="020B0503020204020204" pitchFamily="34" charset="-122"/>
              </a:rPr>
              <a:t>的</a:t>
            </a:r>
            <a:r>
              <a:rPr lang="zh-CN" altLang="en-US" sz="1600" b="0" dirty="0">
                <a:latin typeface="微软雅黑" panose="020B0503020204020204" pitchFamily="34" charset="-122"/>
                <a:ea typeface="微软雅黑" panose="020B0503020204020204" pitchFamily="34" charset="-122"/>
              </a:rPr>
              <a:t>一种</a:t>
            </a:r>
            <a:r>
              <a:rPr lang="zh-CN" altLang="en-US" sz="1600" b="0" dirty="0" smtClean="0">
                <a:latin typeface="微软雅黑" panose="020B0503020204020204" pitchFamily="34" charset="-122"/>
                <a:ea typeface="微软雅黑" panose="020B0503020204020204" pitchFamily="34" charset="-122"/>
              </a:rPr>
              <a:t>具体实现。</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800" dirty="0" smtClean="0">
                <a:latin typeface="微软雅黑" panose="020B0503020204020204" pitchFamily="34" charset="-122"/>
                <a:ea typeface="微软雅黑" panose="020B0503020204020204" pitchFamily="34" charset="-122"/>
              </a:rPr>
              <a:t>Boot Rom</a:t>
            </a:r>
            <a:r>
              <a:rPr lang="zh-CN" altLang="en-US" sz="1800" dirty="0" smtClean="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Bootloader</a:t>
            </a:r>
            <a:r>
              <a:rPr lang="zh-CN" altLang="en-US" sz="1800" dirty="0">
                <a:latin typeface="微软雅黑" panose="020B0503020204020204" pitchFamily="34" charset="-122"/>
                <a:ea typeface="微软雅黑" panose="020B0503020204020204" pitchFamily="34" charset="-122"/>
              </a:rPr>
              <a:t>的</a:t>
            </a:r>
            <a:r>
              <a:rPr lang="zh-CN" altLang="en-US" sz="1800" dirty="0" smtClean="0">
                <a:latin typeface="微软雅黑" panose="020B0503020204020204" pitchFamily="34" charset="-122"/>
                <a:ea typeface="微软雅黑" panose="020B0503020204020204" pitchFamily="34" charset="-122"/>
              </a:rPr>
              <a:t>关系</a:t>
            </a:r>
            <a:endParaRPr lang="en-US" altLang="zh-CN" sz="1800" dirty="0" smtClean="0">
              <a:latin typeface="微软雅黑" panose="020B0503020204020204" pitchFamily="34" charset="-122"/>
              <a:ea typeface="微软雅黑" panose="020B0503020204020204" pitchFamily="34" charset="-122"/>
            </a:endParaRPr>
          </a:p>
          <a:p>
            <a:pPr algn="l"/>
            <a:r>
              <a:rPr lang="en-US" altLang="zh-CN" sz="1800" b="0" dirty="0" smtClean="0">
                <a:latin typeface="微软雅黑" panose="020B0503020204020204" pitchFamily="34" charset="-122"/>
                <a:ea typeface="微软雅黑" panose="020B0503020204020204" pitchFamily="34" charset="-122"/>
              </a:rPr>
              <a:t>        Boot Rom </a:t>
            </a:r>
            <a:r>
              <a:rPr lang="zh-CN" altLang="en-US" sz="1800" b="0" dirty="0" smtClean="0">
                <a:latin typeface="微软雅黑" panose="020B0503020204020204" pitchFamily="34" charset="-122"/>
                <a:ea typeface="微软雅黑" panose="020B0503020204020204" pitchFamily="34" charset="-122"/>
              </a:rPr>
              <a:t>是</a:t>
            </a:r>
            <a:r>
              <a:rPr lang="zh-CN" altLang="en-US" sz="1800" b="0" dirty="0">
                <a:latin typeface="微软雅黑" panose="020B0503020204020204" pitchFamily="34" charset="-122"/>
                <a:ea typeface="微软雅黑" panose="020B0503020204020204" pitchFamily="34" charset="-122"/>
              </a:rPr>
              <a:t>芯片内置的引导程序，负责初始化芯片并启动引导加载程序，</a:t>
            </a:r>
            <a:r>
              <a:rPr lang="zh-CN" altLang="en-US" sz="1800" b="0" dirty="0" smtClean="0">
                <a:latin typeface="微软雅黑" panose="020B0503020204020204" pitchFamily="34" charset="-122"/>
                <a:ea typeface="微软雅黑" panose="020B0503020204020204" pitchFamily="34" charset="-122"/>
              </a:rPr>
              <a:t>而</a:t>
            </a:r>
            <a:r>
              <a:rPr lang="en-US" altLang="zh-CN" sz="1800" b="0" dirty="0" smtClean="0">
                <a:latin typeface="微软雅黑" panose="020B0503020204020204" pitchFamily="34" charset="-122"/>
                <a:ea typeface="微软雅黑" panose="020B0503020204020204" pitchFamily="34" charset="-122"/>
              </a:rPr>
              <a:t>bootloader</a:t>
            </a:r>
            <a:r>
              <a:rPr lang="zh-CN" altLang="en-US" sz="1800" b="0" dirty="0">
                <a:latin typeface="微软雅黑" panose="020B0503020204020204" pitchFamily="34" charset="-122"/>
                <a:ea typeface="微软雅黑" panose="020B0503020204020204" pitchFamily="34" charset="-122"/>
              </a:rPr>
              <a:t>是启动流程的下一步，负责从存储设备中读取内核和文件系统等映像文件，并将它们加载到内存中。</a:t>
            </a:r>
            <a:endParaRPr lang="zh-CN" altLang="en-US"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610894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kernel</a:t>
            </a:r>
            <a:r>
              <a:rPr lang="zh-CN" altLang="en-US" sz="2400" b="0" dirty="0">
                <a:latin typeface="微软雅黑" panose="020B0503020204020204" pitchFamily="34" charset="-122"/>
                <a:ea typeface="微软雅黑" panose="020B0503020204020204" pitchFamily="34" charset="-122"/>
              </a:rPr>
              <a:t>启动简介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262979"/>
          </a:xfrm>
          <a:prstGeom prst="rect">
            <a:avLst/>
          </a:prstGeom>
          <a:noFill/>
        </p:spPr>
        <p:txBody>
          <a:bodyPr wrap="square" rtlCol="0">
            <a:spAutoFit/>
          </a:bodyPr>
          <a:lstStyle/>
          <a:p>
            <a:pPr algn="l"/>
            <a:r>
              <a:rPr lang="en-US" altLang="zh-CN" sz="1600" b="0" dirty="0" err="1">
                <a:latin typeface="微软雅黑" panose="020B0503020204020204" pitchFamily="34" charset="-122"/>
                <a:ea typeface="微软雅黑" panose="020B0503020204020204" pitchFamily="34" charset="-122"/>
              </a:rPr>
              <a:t>u</a:t>
            </a:r>
            <a:r>
              <a:rPr lang="en-US" altLang="zh-CN" sz="1600" b="0" dirty="0" err="1" smtClean="0">
                <a:latin typeface="微软雅黑" panose="020B0503020204020204" pitchFamily="34" charset="-122"/>
                <a:ea typeface="微软雅黑" panose="020B0503020204020204" pitchFamily="34" charset="-122"/>
              </a:rPr>
              <a:t>boot</a:t>
            </a:r>
            <a:r>
              <a:rPr lang="zh-CN" altLang="en-US" sz="1600" b="0" dirty="0" smtClean="0">
                <a:latin typeface="微软雅黑" panose="020B0503020204020204" pitchFamily="34" charset="-122"/>
                <a:ea typeface="微软雅黑" panose="020B0503020204020204" pitchFamily="34" charset="-122"/>
              </a:rPr>
              <a:t>运行到最后会执行</a:t>
            </a:r>
            <a:r>
              <a:rPr lang="en-US" altLang="zh-CN" sz="1600" b="0" dirty="0" smtClean="0">
                <a:latin typeface="微软雅黑" panose="020B0503020204020204" pitchFamily="34" charset="-122"/>
                <a:ea typeface="微软雅黑" panose="020B0503020204020204" pitchFamily="34" charset="-122"/>
              </a:rPr>
              <a:t>kernel</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err="1" smtClean="0">
                <a:latin typeface="微软雅黑" panose="020B0503020204020204" pitchFamily="34" charset="-122"/>
                <a:ea typeface="微软雅黑" panose="020B0503020204020204" pitchFamily="34" charset="-122"/>
              </a:rPr>
              <a:t>start_kernel</a:t>
            </a:r>
            <a:r>
              <a:rPr lang="zh-CN" altLang="en-US" sz="1600" b="0" dirty="0" smtClean="0">
                <a:latin typeface="微软雅黑" panose="020B0503020204020204" pitchFamily="34" charset="-122"/>
                <a:ea typeface="微软雅黑" panose="020B0503020204020204" pitchFamily="34" charset="-122"/>
              </a:rPr>
              <a:t>函数，</a:t>
            </a:r>
            <a:r>
              <a:rPr lang="en-US" altLang="zh-CN" sz="1600" b="0" dirty="0" smtClean="0">
                <a:latin typeface="微软雅黑" panose="020B0503020204020204" pitchFamily="34" charset="-122"/>
                <a:ea typeface="微软雅黑" panose="020B0503020204020204" pitchFamily="34" charset="-122"/>
              </a:rPr>
              <a:t>kernel</a:t>
            </a:r>
            <a:r>
              <a:rPr lang="zh-CN" altLang="en-US" sz="1600" b="0" dirty="0" smtClean="0">
                <a:latin typeface="微软雅黑" panose="020B0503020204020204" pitchFamily="34" charset="-122"/>
                <a:ea typeface="微软雅黑" panose="020B0503020204020204" pitchFamily="34" charset="-122"/>
              </a:rPr>
              <a:t>初始化，加载驱动程序，内核启动完成后调用到</a:t>
            </a:r>
            <a:r>
              <a:rPr lang="en-US" altLang="zh-CN" sz="1600" b="0" dirty="0" err="1" smtClean="0">
                <a:latin typeface="微软雅黑" panose="020B0503020204020204" pitchFamily="34" charset="-122"/>
                <a:ea typeface="微软雅黑" panose="020B0503020204020204" pitchFamily="34" charset="-122"/>
              </a:rPr>
              <a:t>rest_init</a:t>
            </a:r>
            <a:r>
              <a:rPr lang="zh-CN" altLang="en-US" sz="1600" b="0" dirty="0" smtClean="0">
                <a:latin typeface="微软雅黑" panose="020B0503020204020204" pitchFamily="34" charset="-122"/>
                <a:ea typeface="微软雅黑" panose="020B0503020204020204" pitchFamily="34" charset="-122"/>
              </a:rPr>
              <a:t>函数，创建</a:t>
            </a:r>
            <a:r>
              <a:rPr lang="en-US" altLang="zh-CN" sz="1600" b="0" dirty="0" smtClean="0">
                <a:latin typeface="微软雅黑" panose="020B0503020204020204" pitchFamily="34" charset="-122"/>
                <a:ea typeface="微软雅黑" panose="020B0503020204020204" pitchFamily="34" charset="-122"/>
              </a:rPr>
              <a:t>2</a:t>
            </a:r>
            <a:r>
              <a:rPr lang="zh-CN" altLang="en-US" sz="1600" b="0" dirty="0" smtClean="0">
                <a:latin typeface="微软雅黑" panose="020B0503020204020204" pitchFamily="34" charset="-122"/>
                <a:ea typeface="微软雅黑" panose="020B0503020204020204" pitchFamily="34" charset="-122"/>
              </a:rPr>
              <a:t>个线程，分别是</a:t>
            </a:r>
            <a:r>
              <a:rPr lang="en-US" altLang="zh-CN" sz="1600" b="0" dirty="0" err="1" smtClean="0">
                <a:latin typeface="微软雅黑" panose="020B0503020204020204" pitchFamily="34" charset="-122"/>
                <a:ea typeface="微软雅黑" panose="020B0503020204020204" pitchFamily="34" charset="-122"/>
              </a:rPr>
              <a:t>kernel_init</a:t>
            </a:r>
            <a:r>
              <a:rPr lang="zh-CN" altLang="en-US" sz="1600" b="0" dirty="0" smtClean="0">
                <a:latin typeface="微软雅黑" panose="020B0503020204020204" pitchFamily="34" charset="-122"/>
                <a:ea typeface="微软雅黑" panose="020B0503020204020204" pitchFamily="34" charset="-122"/>
              </a:rPr>
              <a:t>与</a:t>
            </a:r>
            <a:r>
              <a:rPr lang="en-US" altLang="zh-CN" sz="1600" b="0" dirty="0" err="1" smtClean="0">
                <a:latin typeface="微软雅黑" panose="020B0503020204020204" pitchFamily="34" charset="-122"/>
                <a:ea typeface="微软雅黑" panose="020B0503020204020204" pitchFamily="34" charset="-122"/>
              </a:rPr>
              <a:t>kthreadd</a:t>
            </a:r>
            <a:r>
              <a:rPr lang="zh-CN" altLang="en-US" sz="1600" b="0" dirty="0">
                <a:latin typeface="微软雅黑" panose="020B0503020204020204" pitchFamily="34" charset="-122"/>
                <a:ea typeface="微软雅黑" panose="020B0503020204020204" pitchFamily="34" charset="-122"/>
              </a:rPr>
              <a:t>线程</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kernel_init</a:t>
            </a:r>
            <a:r>
              <a:rPr lang="zh-CN" altLang="en-US" sz="1600" b="0" dirty="0" smtClean="0">
                <a:latin typeface="微软雅黑" panose="020B0503020204020204" pitchFamily="34" charset="-122"/>
                <a:ea typeface="微软雅黑" panose="020B0503020204020204" pitchFamily="34" charset="-122"/>
              </a:rPr>
              <a:t>线程最后会在用户空间启动</a:t>
            </a:r>
            <a:r>
              <a:rPr lang="en-US" altLang="zh-CN" sz="1600" b="0" dirty="0" err="1" smtClean="0">
                <a:latin typeface="微软雅黑" panose="020B0503020204020204" pitchFamily="34" charset="-122"/>
                <a:ea typeface="微软雅黑" panose="020B0503020204020204" pitchFamily="34" charset="-122"/>
              </a:rPr>
              <a:t>init</a:t>
            </a:r>
            <a:r>
              <a:rPr lang="zh-CN" altLang="en-US" sz="1600" b="0" dirty="0" smtClean="0">
                <a:latin typeface="微软雅黑" panose="020B0503020204020204" pitchFamily="34" charset="-122"/>
                <a:ea typeface="微软雅黑" panose="020B0503020204020204" pitchFamily="34" charset="-122"/>
              </a:rPr>
              <a:t>进程，开机启动进入下一个阶段，后面会详细介绍。</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kthreadd</a:t>
            </a:r>
            <a:r>
              <a:rPr lang="zh-CN" altLang="en-US" sz="1600" b="0" dirty="0" smtClean="0">
                <a:latin typeface="微软雅黑" panose="020B0503020204020204" pitchFamily="34" charset="-122"/>
                <a:ea typeface="微软雅黑" panose="020B0503020204020204" pitchFamily="34" charset="-122"/>
              </a:rPr>
              <a:t>线程的作用主要是创建、清理、调度其他内核线程。</a:t>
            </a:r>
            <a:endParaRPr lang="zh-CN" altLang="en-US" sz="16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1907704" y="1436737"/>
            <a:ext cx="5172857" cy="4008487"/>
          </a:xfrm>
          <a:prstGeom prst="rect">
            <a:avLst/>
          </a:prstGeom>
        </p:spPr>
      </p:pic>
    </p:spTree>
    <p:extLst>
      <p:ext uri="{BB962C8B-B14F-4D97-AF65-F5344CB8AC3E}">
        <p14:creationId xmlns:p14="http://schemas.microsoft.com/office/powerpoint/2010/main" val="32096200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262979"/>
          </a:xfrm>
          <a:prstGeom prst="rect">
            <a:avLst/>
          </a:prstGeom>
          <a:noFill/>
        </p:spPr>
        <p:txBody>
          <a:bodyPr wrap="square" rtlCol="0">
            <a:spAutoFit/>
          </a:bodyPr>
          <a:lstStyle/>
          <a:p>
            <a:pPr algn="l"/>
            <a:r>
              <a:rPr lang="en-US" altLang="zh-CN" sz="1600" b="0" dirty="0" err="1">
                <a:latin typeface="微软雅黑" panose="020B0503020204020204" pitchFamily="34" charset="-122"/>
                <a:ea typeface="微软雅黑" panose="020B0503020204020204" pitchFamily="34" charset="-122"/>
              </a:rPr>
              <a:t>kernel_init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启动后，完成一些 </a:t>
            </a:r>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的初始化操作。启动后去系统根目录下依次找 </a:t>
            </a:r>
            <a:r>
              <a:rPr lang="en-US" altLang="zh-CN" sz="1600" b="0" dirty="0" err="1">
                <a:latin typeface="微软雅黑" panose="020B0503020204020204" pitchFamily="34" charset="-122"/>
                <a:ea typeface="微软雅黑" panose="020B0503020204020204" pitchFamily="34" charset="-122"/>
              </a:rPr>
              <a:t>ramdisk_execute_command</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和 </a:t>
            </a:r>
            <a:r>
              <a:rPr lang="en-US" altLang="zh-CN" sz="1600" b="0" dirty="0" err="1">
                <a:latin typeface="微软雅黑" panose="020B0503020204020204" pitchFamily="34" charset="-122"/>
                <a:ea typeface="微软雅黑" panose="020B0503020204020204" pitchFamily="34" charset="-122"/>
              </a:rPr>
              <a:t>execute_command</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设置的应用程序，如果这两个目录都找不到，就依次去根目录下找</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sbin</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init</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etc</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init</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/bin/</a:t>
            </a:r>
            <a:r>
              <a:rPr lang="en-US" altLang="zh-CN" sz="1600" b="0" dirty="0" err="1">
                <a:latin typeface="微软雅黑" panose="020B0503020204020204" pitchFamily="34" charset="-122"/>
                <a:ea typeface="微软雅黑" panose="020B0503020204020204" pitchFamily="34" charset="-122"/>
              </a:rPr>
              <a:t>init</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/bin/</a:t>
            </a:r>
            <a:r>
              <a:rPr lang="en-US" altLang="zh-CN" sz="1600" b="0" dirty="0" err="1">
                <a:latin typeface="微软雅黑" panose="020B0503020204020204" pitchFamily="34" charset="-122"/>
                <a:ea typeface="微软雅黑" panose="020B0503020204020204" pitchFamily="34" charset="-122"/>
              </a:rPr>
              <a:t>sh</a:t>
            </a:r>
            <a:r>
              <a:rPr lang="zh-CN" altLang="en-US" sz="1600" b="0" dirty="0">
                <a:latin typeface="微软雅黑" panose="020B0503020204020204" pitchFamily="34" charset="-122"/>
                <a:ea typeface="微软雅黑" panose="020B0503020204020204" pitchFamily="34" charset="-122"/>
              </a:rPr>
              <a:t>，只要这些应用程序有一个启动了，其他就不需启动了</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ramdisk_execute_command</a:t>
            </a:r>
            <a:r>
              <a:rPr lang="en-US" altLang="zh-CN" sz="1600" b="0" dirty="0" smtClean="0">
                <a:latin typeface="微软雅黑" panose="020B0503020204020204" pitchFamily="34" charset="-122"/>
                <a:ea typeface="微软雅黑" panose="020B0503020204020204" pitchFamily="34" charset="-122"/>
              </a:rPr>
              <a:t> </a:t>
            </a:r>
            <a:r>
              <a:rPr lang="zh-CN" altLang="en-US" sz="1600" b="0" dirty="0" smtClean="0">
                <a:latin typeface="微软雅黑" panose="020B0503020204020204" pitchFamily="34" charset="-122"/>
                <a:ea typeface="微软雅黑" panose="020B0503020204020204" pitchFamily="34" charset="-122"/>
              </a:rPr>
              <a:t>和 </a:t>
            </a:r>
            <a:r>
              <a:rPr lang="en-US" altLang="zh-CN" sz="1600" b="0" dirty="0" err="1" smtClean="0">
                <a:latin typeface="微软雅黑" panose="020B0503020204020204" pitchFamily="34" charset="-122"/>
                <a:ea typeface="微软雅黑" panose="020B0503020204020204" pitchFamily="34" charset="-122"/>
              </a:rPr>
              <a:t>execute_command</a:t>
            </a:r>
            <a:r>
              <a:rPr lang="en-US" altLang="zh-CN" sz="1600" b="0" dirty="0" smtClean="0">
                <a:latin typeface="微软雅黑" panose="020B0503020204020204" pitchFamily="34" charset="-122"/>
                <a:ea typeface="微软雅黑" panose="020B0503020204020204" pitchFamily="34" charset="-122"/>
              </a:rPr>
              <a:t> </a:t>
            </a:r>
            <a:r>
              <a:rPr lang="zh-CN" altLang="en-US" sz="1600" b="0" dirty="0" smtClean="0">
                <a:latin typeface="微软雅黑" panose="020B0503020204020204" pitchFamily="34" charset="-122"/>
                <a:ea typeface="微软雅黑" panose="020B0503020204020204" pitchFamily="34" charset="-122"/>
              </a:rPr>
              <a:t>是</a:t>
            </a:r>
            <a:r>
              <a:rPr lang="en-US" altLang="zh-CN" sz="1600" b="0" dirty="0" err="1" smtClean="0">
                <a:latin typeface="微软雅黑" panose="020B0503020204020204" pitchFamily="34" charset="-122"/>
                <a:ea typeface="微软雅黑" panose="020B0503020204020204" pitchFamily="34" charset="-122"/>
              </a:rPr>
              <a:t>uboot</a:t>
            </a:r>
            <a:r>
              <a:rPr lang="zh-CN" altLang="en-US" sz="1600" b="0" dirty="0" smtClean="0">
                <a:latin typeface="微软雅黑" panose="020B0503020204020204" pitchFamily="34" charset="-122"/>
                <a:ea typeface="微软雅黑" panose="020B0503020204020204" pitchFamily="34" charset="-122"/>
              </a:rPr>
              <a:t>启动</a:t>
            </a:r>
            <a:r>
              <a:rPr lang="en-US" altLang="zh-CN" sz="1600" b="0" dirty="0" smtClean="0">
                <a:latin typeface="微软雅黑" panose="020B0503020204020204" pitchFamily="34" charset="-122"/>
                <a:ea typeface="微软雅黑" panose="020B0503020204020204" pitchFamily="34" charset="-122"/>
              </a:rPr>
              <a:t>kernel</a:t>
            </a:r>
            <a:r>
              <a:rPr lang="zh-CN" altLang="en-US" sz="1600" b="0" dirty="0" smtClean="0">
                <a:latin typeface="微软雅黑" panose="020B0503020204020204" pitchFamily="34" charset="-122"/>
                <a:ea typeface="微软雅黑" panose="020B0503020204020204" pitchFamily="34" charset="-122"/>
              </a:rPr>
              <a:t>时，配置的环境参数，如：</a:t>
            </a:r>
            <a:r>
              <a:rPr lang="en-US" altLang="zh-CN" sz="1600" b="0" dirty="0" err="1" smtClean="0">
                <a:solidFill>
                  <a:srgbClr val="7030A0"/>
                </a:solidFill>
                <a:latin typeface="微软雅黑" panose="020B0503020204020204" pitchFamily="34" charset="-122"/>
                <a:ea typeface="微软雅黑" panose="020B0503020204020204" pitchFamily="34" charset="-122"/>
              </a:rPr>
              <a:t>setenv</a:t>
            </a:r>
            <a:r>
              <a:rPr lang="en-US" altLang="zh-CN" sz="1600" b="0" dirty="0" smtClean="0">
                <a:solidFill>
                  <a:srgbClr val="7030A0"/>
                </a:solidFill>
                <a:latin typeface="微软雅黑" panose="020B0503020204020204" pitchFamily="34" charset="-122"/>
                <a:ea typeface="微软雅黑" panose="020B0503020204020204" pitchFamily="34" charset="-122"/>
              </a:rPr>
              <a:t> </a:t>
            </a:r>
            <a:r>
              <a:rPr lang="en-US" altLang="zh-CN" sz="1600" b="0" dirty="0" err="1">
                <a:solidFill>
                  <a:srgbClr val="7030A0"/>
                </a:solidFill>
                <a:latin typeface="微软雅黑" panose="020B0503020204020204" pitchFamily="34" charset="-122"/>
                <a:ea typeface="微软雅黑" panose="020B0503020204020204" pitchFamily="34" charset="-122"/>
              </a:rPr>
              <a:t>bootargs</a:t>
            </a:r>
            <a:r>
              <a:rPr lang="en-US" altLang="zh-CN" sz="1600" b="0" dirty="0">
                <a:solidFill>
                  <a:srgbClr val="7030A0"/>
                </a:solidFill>
                <a:latin typeface="微软雅黑" panose="020B0503020204020204" pitchFamily="34" charset="-122"/>
                <a:ea typeface="微软雅黑" panose="020B0503020204020204" pitchFamily="34" charset="-122"/>
              </a:rPr>
              <a:t> </a:t>
            </a:r>
            <a:r>
              <a:rPr lang="en-US" altLang="zh-CN" sz="1600" b="0" dirty="0" err="1">
                <a:solidFill>
                  <a:srgbClr val="7030A0"/>
                </a:solidFill>
                <a:latin typeface="微软雅黑" panose="020B0503020204020204" pitchFamily="34" charset="-122"/>
                <a:ea typeface="微软雅黑" panose="020B0503020204020204" pitchFamily="34" charset="-122"/>
              </a:rPr>
              <a:t>rdinit</a:t>
            </a:r>
            <a:r>
              <a:rPr lang="en-US" altLang="zh-CN" sz="1600" b="0" dirty="0">
                <a:solidFill>
                  <a:srgbClr val="7030A0"/>
                </a:solidFill>
                <a:latin typeface="微软雅黑" panose="020B0503020204020204" pitchFamily="34" charset="-122"/>
                <a:ea typeface="微软雅黑" panose="020B0503020204020204" pitchFamily="34" charset="-122"/>
              </a:rPr>
              <a:t>=/</a:t>
            </a:r>
            <a:r>
              <a:rPr lang="en-US" altLang="zh-CN" sz="1600" b="0" dirty="0" err="1">
                <a:solidFill>
                  <a:srgbClr val="7030A0"/>
                </a:solidFill>
                <a:latin typeface="微软雅黑" panose="020B0503020204020204" pitchFamily="34" charset="-122"/>
                <a:ea typeface="微软雅黑" panose="020B0503020204020204" pitchFamily="34" charset="-122"/>
              </a:rPr>
              <a:t>busybox</a:t>
            </a:r>
            <a:r>
              <a:rPr lang="en-US" altLang="zh-CN" sz="1600" b="0" dirty="0">
                <a:solidFill>
                  <a:srgbClr val="7030A0"/>
                </a:solidFill>
                <a:latin typeface="微软雅黑" panose="020B0503020204020204" pitchFamily="34" charset="-122"/>
                <a:ea typeface="微软雅黑" panose="020B0503020204020204" pitchFamily="34" charset="-122"/>
              </a:rPr>
              <a:t>/</a:t>
            </a:r>
            <a:r>
              <a:rPr lang="en-US" altLang="zh-CN" sz="1600" b="0" dirty="0" err="1">
                <a:solidFill>
                  <a:srgbClr val="7030A0"/>
                </a:solidFill>
                <a:latin typeface="微软雅黑" panose="020B0503020204020204" pitchFamily="34" charset="-122"/>
                <a:ea typeface="微软雅黑" panose="020B0503020204020204" pitchFamily="34" charset="-122"/>
              </a:rPr>
              <a:t>rdinit</a:t>
            </a:r>
            <a:r>
              <a:rPr lang="en-US" altLang="zh-CN" sz="1600" b="0" dirty="0">
                <a:solidFill>
                  <a:srgbClr val="7030A0"/>
                </a:solidFill>
                <a:latin typeface="微软雅黑" panose="020B0503020204020204" pitchFamily="34" charset="-122"/>
                <a:ea typeface="微软雅黑" panose="020B0503020204020204" pitchFamily="34" charset="-122"/>
              </a:rPr>
              <a:t> </a:t>
            </a:r>
            <a:r>
              <a:rPr lang="en-US" altLang="zh-CN" sz="1600" b="0" dirty="0" err="1">
                <a:solidFill>
                  <a:srgbClr val="7030A0"/>
                </a:solidFill>
                <a:latin typeface="微软雅黑" panose="020B0503020204020204" pitchFamily="34" charset="-122"/>
                <a:ea typeface="微软雅黑" panose="020B0503020204020204" pitchFamily="34" charset="-122"/>
              </a:rPr>
              <a:t>cpmem</a:t>
            </a:r>
            <a:r>
              <a:rPr lang="en-US" altLang="zh-CN" sz="1600" b="0" dirty="0">
                <a:solidFill>
                  <a:srgbClr val="7030A0"/>
                </a:solidFill>
                <a:latin typeface="微软雅黑" panose="020B0503020204020204" pitchFamily="34" charset="-122"/>
                <a:ea typeface="微软雅黑" panose="020B0503020204020204" pitchFamily="34" charset="-122"/>
              </a:rPr>
              <a:t>=16M</a:t>
            </a:r>
            <a:endParaRPr lang="en-US" altLang="zh-CN" sz="1600" b="0" dirty="0" smtClean="0">
              <a:solidFill>
                <a:srgbClr val="7030A0"/>
              </a:solidFill>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51520" y="2348880"/>
            <a:ext cx="4513753" cy="4342257"/>
          </a:xfrm>
          <a:prstGeom prst="rect">
            <a:avLst/>
          </a:prstGeom>
        </p:spPr>
      </p:pic>
      <p:pic>
        <p:nvPicPr>
          <p:cNvPr id="6" name="图片 5"/>
          <p:cNvPicPr>
            <a:picLocks noChangeAspect="1"/>
          </p:cNvPicPr>
          <p:nvPr/>
        </p:nvPicPr>
        <p:blipFill>
          <a:blip r:embed="rId3"/>
          <a:stretch>
            <a:fillRect/>
          </a:stretch>
        </p:blipFill>
        <p:spPr>
          <a:xfrm>
            <a:off x="4829470" y="2348880"/>
            <a:ext cx="4063009" cy="4420575"/>
          </a:xfrm>
          <a:prstGeom prst="rect">
            <a:avLst/>
          </a:prstGeom>
        </p:spPr>
      </p:pic>
    </p:spTree>
    <p:extLst>
      <p:ext uri="{BB962C8B-B14F-4D97-AF65-F5344CB8AC3E}">
        <p14:creationId xmlns:p14="http://schemas.microsoft.com/office/powerpoint/2010/main" val="5798827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6001643"/>
          </a:xfrm>
          <a:prstGeom prst="rect">
            <a:avLst/>
          </a:prstGeom>
          <a:noFill/>
        </p:spPr>
        <p:txBody>
          <a:bodyPr wrap="square" rtlCol="0">
            <a:spAutoFit/>
          </a:bodyPr>
          <a:lstStyle/>
          <a:p>
            <a:pPr algn="l"/>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进程是一个守护进程，它是 </a:t>
            </a:r>
            <a:r>
              <a:rPr lang="en-US" altLang="zh-CN" sz="1600" b="0" dirty="0">
                <a:latin typeface="微软雅黑" panose="020B0503020204020204" pitchFamily="34" charset="-122"/>
                <a:ea typeface="微软雅黑" panose="020B0503020204020204" pitchFamily="34" charset="-122"/>
              </a:rPr>
              <a:t>Linux </a:t>
            </a:r>
            <a:r>
              <a:rPr lang="zh-CN" altLang="en-US" sz="1600" b="0" dirty="0">
                <a:latin typeface="微软雅黑" panose="020B0503020204020204" pitchFamily="34" charset="-122"/>
                <a:ea typeface="微软雅黑" panose="020B0503020204020204" pitchFamily="34" charset="-122"/>
              </a:rPr>
              <a:t>系统中用户空间的第一个进程，它的进程号为 </a:t>
            </a:r>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Init</a:t>
            </a:r>
            <a:r>
              <a:rPr lang="zh-CN" altLang="en-US" sz="1600" b="0" dirty="0" smtClean="0">
                <a:latin typeface="微软雅黑" panose="020B0503020204020204" pitchFamily="34" charset="-122"/>
                <a:ea typeface="微软雅黑" panose="020B0503020204020204" pitchFamily="34" charset="-122"/>
              </a:rPr>
              <a:t>进程的入口为</a:t>
            </a:r>
            <a:r>
              <a:rPr lang="en-US" altLang="zh-CN" sz="1600" b="0" dirty="0" smtClean="0">
                <a:latin typeface="微软雅黑" panose="020B0503020204020204" pitchFamily="34" charset="-122"/>
                <a:ea typeface="微软雅黑" panose="020B0503020204020204" pitchFamily="34" charset="-122"/>
              </a:rPr>
              <a:t>/system/core/</a:t>
            </a:r>
            <a:r>
              <a:rPr lang="en-US" altLang="zh-CN" sz="1600" b="0" dirty="0" err="1" smtClean="0">
                <a:latin typeface="微软雅黑" panose="020B0503020204020204" pitchFamily="34" charset="-122"/>
                <a:ea typeface="微软雅黑" panose="020B0503020204020204" pitchFamily="34" charset="-122"/>
              </a:rPr>
              <a:t>init</a:t>
            </a:r>
            <a:r>
              <a:rPr lang="en-US" altLang="zh-CN" sz="1600" b="0" dirty="0" smtClean="0">
                <a:latin typeface="微软雅黑" panose="020B0503020204020204" pitchFamily="34" charset="-122"/>
                <a:ea typeface="微软雅黑" panose="020B0503020204020204" pitchFamily="34" charset="-122"/>
              </a:rPr>
              <a:t>/main.cpp</a:t>
            </a:r>
            <a:r>
              <a:rPr lang="zh-CN" altLang="en-US" sz="1600" b="0" dirty="0">
                <a:latin typeface="微软雅黑" panose="020B0503020204020204" pitchFamily="34" charset="-122"/>
                <a:ea typeface="微软雅黑" panose="020B0503020204020204" pitchFamily="34" charset="-122"/>
              </a:rPr>
              <a:t>，它的</a:t>
            </a:r>
            <a:r>
              <a:rPr lang="en-US" altLang="zh-CN" sz="1600" b="0" dirty="0">
                <a:latin typeface="微软雅黑" panose="020B0503020204020204" pitchFamily="34" charset="-122"/>
                <a:ea typeface="微软雅黑" panose="020B0503020204020204" pitchFamily="34" charset="-122"/>
              </a:rPr>
              <a:t>main()</a:t>
            </a:r>
            <a:r>
              <a:rPr lang="zh-CN" altLang="en-US" sz="1600" b="0" dirty="0">
                <a:latin typeface="微软雅黑" panose="020B0503020204020204" pitchFamily="34" charset="-122"/>
                <a:ea typeface="微软雅黑" panose="020B0503020204020204" pitchFamily="34" charset="-122"/>
              </a:rPr>
              <a:t>方法会多次</a:t>
            </a:r>
            <a:r>
              <a:rPr lang="zh-CN" altLang="en-US" sz="1600" b="0" dirty="0" smtClean="0">
                <a:latin typeface="微软雅黑" panose="020B0503020204020204" pitchFamily="34" charset="-122"/>
                <a:ea typeface="微软雅黑" panose="020B0503020204020204" pitchFamily="34" charset="-122"/>
              </a:rPr>
              <a:t>进入，原型如下：</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第一个参数</a:t>
            </a:r>
            <a:r>
              <a:rPr lang="en-US" altLang="zh-CN" sz="1600" b="0" dirty="0" err="1">
                <a:latin typeface="微软雅黑" panose="020B0503020204020204" pitchFamily="34" charset="-122"/>
                <a:ea typeface="微软雅黑" panose="020B0503020204020204" pitchFamily="34" charset="-122"/>
              </a:rPr>
              <a:t>argc</a:t>
            </a:r>
            <a:r>
              <a:rPr lang="zh-CN" altLang="en-US" sz="1600" b="0" dirty="0">
                <a:latin typeface="微软雅黑" panose="020B0503020204020204" pitchFamily="34" charset="-122"/>
                <a:ea typeface="微软雅黑" panose="020B0503020204020204" pitchFamily="34" charset="-122"/>
              </a:rPr>
              <a:t>表示参数个数，第二个参数是参数列表，也就是具体的</a:t>
            </a:r>
            <a:r>
              <a:rPr lang="zh-CN" altLang="en-US" sz="1600" b="0" dirty="0" smtClean="0">
                <a:latin typeface="微软雅黑" panose="020B0503020204020204" pitchFamily="34" charset="-122"/>
                <a:ea typeface="微软雅黑" panose="020B0503020204020204" pitchFamily="34" charset="-122"/>
              </a:rPr>
              <a:t>参数。</a:t>
            </a:r>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*参数中有</a:t>
            </a:r>
            <a:r>
              <a:rPr lang="en-US" altLang="zh-CN" sz="1600" b="0" dirty="0" err="1">
                <a:latin typeface="微软雅黑" panose="020B0503020204020204" pitchFamily="34" charset="-122"/>
                <a:ea typeface="微软雅黑" panose="020B0503020204020204" pitchFamily="34" charset="-122"/>
              </a:rPr>
              <a:t>ueventd</a:t>
            </a:r>
            <a:r>
              <a:rPr lang="zh-CN" altLang="en-US" sz="1600" b="0" dirty="0">
                <a:latin typeface="微软雅黑" panose="020B0503020204020204" pitchFamily="34" charset="-122"/>
                <a:ea typeface="微软雅黑" panose="020B0503020204020204" pitchFamily="34" charset="-122"/>
              </a:rPr>
              <a:t>，进入</a:t>
            </a:r>
            <a:r>
              <a:rPr lang="en-US" altLang="zh-CN" sz="1600" b="0" dirty="0" err="1">
                <a:latin typeface="微软雅黑" panose="020B0503020204020204" pitchFamily="34" charset="-122"/>
                <a:ea typeface="微软雅黑" panose="020B0503020204020204" pitchFamily="34" charset="-122"/>
              </a:rPr>
              <a:t>ueventd_main</a:t>
            </a:r>
            <a:r>
              <a:rPr lang="en-US" altLang="zh-CN" sz="1600" b="0" dirty="0">
                <a:latin typeface="微软雅黑" panose="020B0503020204020204" pitchFamily="34" charset="-122"/>
                <a:ea typeface="微软雅黑" panose="020B0503020204020204" pitchFamily="34" charset="-122"/>
              </a:rPr>
              <a:t> </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无参数，进入</a:t>
            </a:r>
            <a:r>
              <a:rPr lang="en-US" altLang="zh-CN" sz="1600" b="0" dirty="0" err="1" smtClean="0">
                <a:latin typeface="微软雅黑" panose="020B0503020204020204" pitchFamily="34" charset="-122"/>
                <a:ea typeface="微软雅黑" panose="020B0503020204020204" pitchFamily="34" charset="-122"/>
              </a:rPr>
              <a:t>FirstStageMain</a:t>
            </a:r>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参数中有</a:t>
            </a:r>
            <a:r>
              <a:rPr lang="en-US" altLang="zh-CN" sz="1600" b="0" dirty="0" err="1">
                <a:latin typeface="微软雅黑" panose="020B0503020204020204" pitchFamily="34" charset="-122"/>
                <a:ea typeface="微软雅黑" panose="020B0503020204020204" pitchFamily="34" charset="-122"/>
              </a:rPr>
              <a:t>subcontext</a:t>
            </a:r>
            <a:r>
              <a:rPr lang="zh-CN" altLang="en-US" sz="1600" b="0" dirty="0">
                <a:latin typeface="微软雅黑" panose="020B0503020204020204" pitchFamily="34" charset="-122"/>
                <a:ea typeface="微软雅黑" panose="020B0503020204020204" pitchFamily="34" charset="-122"/>
              </a:rPr>
              <a:t>，进入</a:t>
            </a:r>
            <a:r>
              <a:rPr lang="en-US" altLang="zh-CN" sz="1600" b="0" dirty="0" err="1" smtClean="0">
                <a:latin typeface="微软雅黑" panose="020B0503020204020204" pitchFamily="34" charset="-122"/>
                <a:ea typeface="微软雅黑" panose="020B0503020204020204" pitchFamily="34" charset="-122"/>
              </a:rPr>
              <a:t>InitLogging</a:t>
            </a:r>
            <a:r>
              <a:rPr lang="zh-CN" altLang="en-US" sz="1600" b="0" dirty="0" smtClean="0">
                <a:latin typeface="微软雅黑" panose="020B0503020204020204" pitchFamily="34" charset="-122"/>
                <a:ea typeface="微软雅黑" panose="020B0503020204020204" pitchFamily="34" charset="-122"/>
              </a:rPr>
              <a:t>和</a:t>
            </a:r>
            <a:r>
              <a:rPr lang="en-US" altLang="zh-CN" sz="1600" b="0" dirty="0" err="1" smtClean="0">
                <a:latin typeface="微软雅黑" panose="020B0503020204020204" pitchFamily="34" charset="-122"/>
                <a:ea typeface="微软雅黑" panose="020B0503020204020204" pitchFamily="34" charset="-122"/>
              </a:rPr>
              <a:t>SubcontextMain</a:t>
            </a:r>
            <a:r>
              <a:rPr lang="en-US" altLang="zh-CN" sz="1600" b="0" dirty="0" smtClean="0">
                <a:latin typeface="微软雅黑" panose="020B0503020204020204" pitchFamily="34" charset="-122"/>
                <a:ea typeface="微软雅黑" panose="020B0503020204020204" pitchFamily="34" charset="-122"/>
              </a:rPr>
              <a:t> </a:t>
            </a:r>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参数中有</a:t>
            </a:r>
            <a:r>
              <a:rPr lang="en-US" altLang="zh-CN" sz="1600" b="0" dirty="0" err="1">
                <a:latin typeface="微软雅黑" panose="020B0503020204020204" pitchFamily="34" charset="-122"/>
                <a:ea typeface="微软雅黑" panose="020B0503020204020204" pitchFamily="34" charset="-122"/>
              </a:rPr>
              <a:t>selinux_setup</a:t>
            </a:r>
            <a:r>
              <a:rPr lang="zh-CN" altLang="en-US" sz="1600" b="0" dirty="0">
                <a:latin typeface="微软雅黑" panose="020B0503020204020204" pitchFamily="34" charset="-122"/>
                <a:ea typeface="微软雅黑" panose="020B0503020204020204" pitchFamily="34" charset="-122"/>
              </a:rPr>
              <a:t>，进入</a:t>
            </a:r>
            <a:r>
              <a:rPr lang="en-US" altLang="zh-CN" sz="1600" b="0" dirty="0" err="1">
                <a:latin typeface="微软雅黑" panose="020B0503020204020204" pitchFamily="34" charset="-122"/>
                <a:ea typeface="微软雅黑" panose="020B0503020204020204" pitchFamily="34" charset="-122"/>
              </a:rPr>
              <a:t>SetupSelinux</a:t>
            </a:r>
            <a:r>
              <a:rPr lang="en-US" altLang="zh-CN" sz="1600" b="0" dirty="0">
                <a:latin typeface="微软雅黑" panose="020B0503020204020204" pitchFamily="34" charset="-122"/>
                <a:ea typeface="微软雅黑" panose="020B0503020204020204" pitchFamily="34" charset="-122"/>
              </a:rPr>
              <a:t> </a:t>
            </a:r>
          </a:p>
          <a:p>
            <a:pPr algn="l"/>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参数中有</a:t>
            </a:r>
            <a:r>
              <a:rPr lang="en-US" altLang="zh-CN" sz="1600" b="0" dirty="0" err="1">
                <a:latin typeface="微软雅黑" panose="020B0503020204020204" pitchFamily="34" charset="-122"/>
                <a:ea typeface="微软雅黑" panose="020B0503020204020204" pitchFamily="34" charset="-122"/>
              </a:rPr>
              <a:t>second_stage</a:t>
            </a:r>
            <a:r>
              <a:rPr lang="zh-CN" altLang="en-US" sz="1600" b="0" dirty="0">
                <a:latin typeface="微软雅黑" panose="020B0503020204020204" pitchFamily="34" charset="-122"/>
                <a:ea typeface="微软雅黑" panose="020B0503020204020204" pitchFamily="34" charset="-122"/>
              </a:rPr>
              <a:t>，进入</a:t>
            </a:r>
            <a:r>
              <a:rPr lang="en-US" altLang="zh-CN" sz="1600" b="0" dirty="0" err="1">
                <a:latin typeface="微软雅黑" panose="020B0503020204020204" pitchFamily="34" charset="-122"/>
                <a:ea typeface="微软雅黑" panose="020B0503020204020204" pitchFamily="34" charset="-122"/>
              </a:rPr>
              <a:t>SecondStageMain</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235498" y="1124744"/>
            <a:ext cx="8244408" cy="2914041"/>
          </a:xfrm>
          <a:prstGeom prst="rect">
            <a:avLst/>
          </a:prstGeom>
        </p:spPr>
      </p:pic>
      <p:pic>
        <p:nvPicPr>
          <p:cNvPr id="6" name="图片 5"/>
          <p:cNvPicPr>
            <a:picLocks noChangeAspect="1"/>
          </p:cNvPicPr>
          <p:nvPr/>
        </p:nvPicPr>
        <p:blipFill>
          <a:blip r:embed="rId3"/>
          <a:stretch>
            <a:fillRect/>
          </a:stretch>
        </p:blipFill>
        <p:spPr>
          <a:xfrm>
            <a:off x="326901" y="4409292"/>
            <a:ext cx="4029075" cy="495300"/>
          </a:xfrm>
          <a:prstGeom prst="rect">
            <a:avLst/>
          </a:prstGeom>
        </p:spPr>
      </p:pic>
    </p:spTree>
    <p:extLst>
      <p:ext uri="{BB962C8B-B14F-4D97-AF65-F5344CB8AC3E}">
        <p14:creationId xmlns:p14="http://schemas.microsoft.com/office/powerpoint/2010/main" val="9501930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509200"/>
          </a:xfrm>
          <a:prstGeom prst="rect">
            <a:avLst/>
          </a:prstGeom>
          <a:noFill/>
        </p:spPr>
        <p:txBody>
          <a:bodyPr wrap="square" rtlCol="0">
            <a:spAutoFit/>
          </a:bodyPr>
          <a:lstStyle/>
          <a:p>
            <a:pPr algn="l"/>
            <a:r>
              <a:rPr lang="zh-CN" altLang="en-US" sz="1600" b="0" dirty="0">
                <a:latin typeface="微软雅黑" panose="020B0503020204020204" pitchFamily="34" charset="-122"/>
                <a:ea typeface="微软雅黑" panose="020B0503020204020204" pitchFamily="34" charset="-122"/>
              </a:rPr>
              <a:t>源码路径：</a:t>
            </a:r>
            <a:r>
              <a:rPr lang="en-US" altLang="zh-CN" sz="1600" b="0" dirty="0" smtClean="0">
                <a:solidFill>
                  <a:srgbClr val="7030A0"/>
                </a:solidFill>
                <a:latin typeface="微软雅黑" panose="020B0503020204020204" pitchFamily="34" charset="-122"/>
                <a:ea typeface="微软雅黑" panose="020B0503020204020204" pitchFamily="34" charset="-122"/>
              </a:rPr>
              <a:t>system/core/</a:t>
            </a:r>
            <a:r>
              <a:rPr lang="en-US" altLang="zh-CN" sz="1600" b="0" dirty="0" err="1" smtClean="0">
                <a:solidFill>
                  <a:srgbClr val="7030A0"/>
                </a:solidFill>
                <a:latin typeface="微软雅黑" panose="020B0503020204020204" pitchFamily="34" charset="-122"/>
                <a:ea typeface="微软雅黑" panose="020B0503020204020204" pitchFamily="34" charset="-122"/>
              </a:rPr>
              <a:t>init</a:t>
            </a:r>
            <a:r>
              <a:rPr lang="en-US" altLang="zh-CN" sz="1600" b="0" dirty="0" smtClean="0">
                <a:solidFill>
                  <a:srgbClr val="7030A0"/>
                </a:solidFill>
                <a:latin typeface="微软雅黑" panose="020B0503020204020204" pitchFamily="34" charset="-122"/>
                <a:ea typeface="微软雅黑" panose="020B0503020204020204" pitchFamily="34" charset="-122"/>
              </a:rPr>
              <a:t>/main.cpp</a:t>
            </a:r>
            <a:endParaRPr lang="en-US" altLang="zh-CN" sz="1600" b="0" dirty="0">
              <a:solidFill>
                <a:srgbClr val="7030A0"/>
              </a:solidFill>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main(</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argc</a:t>
            </a:r>
            <a:r>
              <a:rPr lang="en-US" altLang="zh-CN" sz="1400" b="0" dirty="0">
                <a:solidFill>
                  <a:srgbClr val="0070C0"/>
                </a:solidFill>
                <a:latin typeface="微软雅黑" panose="020B0503020204020204" pitchFamily="34" charset="-122"/>
                <a:ea typeface="微软雅黑" panose="020B0503020204020204" pitchFamily="34" charset="-122"/>
              </a:rPr>
              <a:t>, char** </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当</a:t>
            </a:r>
            <a:r>
              <a:rPr lang="en-US" altLang="zh-CN" sz="1400" b="0" dirty="0" err="1">
                <a:solidFill>
                  <a:srgbClr val="FF0000"/>
                </a:solidFill>
                <a:latin typeface="微软雅黑" panose="020B0503020204020204" pitchFamily="34" charset="-122"/>
                <a:ea typeface="微软雅黑" panose="020B0503020204020204" pitchFamily="34" charset="-122"/>
              </a:rPr>
              <a:t>argv</a:t>
            </a:r>
            <a:r>
              <a:rPr lang="en-US" altLang="zh-CN" sz="1400" b="0" dirty="0">
                <a:solidFill>
                  <a:srgbClr val="FF0000"/>
                </a:solidFill>
                <a:latin typeface="微软雅黑" panose="020B0503020204020204" pitchFamily="34" charset="-122"/>
                <a:ea typeface="微软雅黑" panose="020B0503020204020204" pitchFamily="34" charset="-122"/>
              </a:rPr>
              <a:t>[0]</a:t>
            </a:r>
            <a:r>
              <a:rPr lang="zh-CN" altLang="en-US" sz="1400" b="0" dirty="0">
                <a:solidFill>
                  <a:srgbClr val="FF0000"/>
                </a:solidFill>
                <a:latin typeface="微软雅黑" panose="020B0503020204020204" pitchFamily="34" charset="-122"/>
                <a:ea typeface="微软雅黑" panose="020B0503020204020204" pitchFamily="34" charset="-122"/>
              </a:rPr>
              <a:t>的内容为</a:t>
            </a:r>
            <a:r>
              <a:rPr lang="en-US" altLang="zh-CN" sz="1400" b="0" dirty="0" err="1">
                <a:solidFill>
                  <a:srgbClr val="FF0000"/>
                </a:solidFill>
                <a:latin typeface="微软雅黑" panose="020B0503020204020204" pitchFamily="34" charset="-122"/>
                <a:ea typeface="微软雅黑" panose="020B0503020204020204" pitchFamily="34" charset="-122"/>
              </a:rPr>
              <a:t>ueventd</a:t>
            </a:r>
            <a:r>
              <a:rPr lang="zh-CN" altLang="en-US" sz="1400" b="0" dirty="0">
                <a:solidFill>
                  <a:srgbClr val="FF0000"/>
                </a:solidFill>
                <a:latin typeface="微软雅黑" panose="020B0503020204020204" pitchFamily="34" charset="-122"/>
                <a:ea typeface="微软雅黑" panose="020B0503020204020204" pitchFamily="34" charset="-122"/>
              </a:rPr>
              <a:t>时，执行</a:t>
            </a:r>
            <a:r>
              <a:rPr lang="en-US" altLang="zh-CN" sz="1400" b="0" dirty="0" err="1">
                <a:solidFill>
                  <a:srgbClr val="FF0000"/>
                </a:solidFill>
                <a:latin typeface="微软雅黑" panose="020B0503020204020204" pitchFamily="34" charset="-122"/>
                <a:ea typeface="微软雅黑" panose="020B0503020204020204" pitchFamily="34" charset="-122"/>
              </a:rPr>
              <a:t>ueventd_main</a:t>
            </a:r>
            <a:r>
              <a:rPr lang="zh-CN" altLang="en-US" sz="1400" b="0" dirty="0">
                <a:solidFill>
                  <a:srgbClr val="FF0000"/>
                </a:solidFill>
                <a:latin typeface="微软雅黑" panose="020B0503020204020204" pitchFamily="34" charset="-122"/>
                <a:ea typeface="微软雅黑" panose="020B0503020204020204" pitchFamily="34" charset="-122"/>
              </a:rPr>
              <a:t>，</a:t>
            </a:r>
            <a:r>
              <a:rPr lang="en-US" altLang="zh-CN" sz="1400" b="0" dirty="0" err="1">
                <a:solidFill>
                  <a:srgbClr val="FF0000"/>
                </a:solidFill>
                <a:latin typeface="微软雅黑" panose="020B0503020204020204" pitchFamily="34" charset="-122"/>
                <a:ea typeface="微软雅黑" panose="020B0503020204020204" pitchFamily="34" charset="-122"/>
              </a:rPr>
              <a:t>ueventd</a:t>
            </a:r>
            <a:r>
              <a:rPr lang="zh-CN" altLang="en-US" sz="1400" b="0" dirty="0">
                <a:solidFill>
                  <a:srgbClr val="FF0000"/>
                </a:solidFill>
                <a:latin typeface="微软雅黑" panose="020B0503020204020204" pitchFamily="34" charset="-122"/>
                <a:ea typeface="微软雅黑" panose="020B0503020204020204" pitchFamily="34" charset="-122"/>
              </a:rPr>
              <a:t>主要是负责设备节点的创建、权限设定</a:t>
            </a:r>
            <a:r>
              <a:rPr lang="zh-CN" altLang="en-US" sz="1400" b="0" dirty="0" smtClean="0">
                <a:solidFill>
                  <a:srgbClr val="FF0000"/>
                </a:solidFill>
                <a:latin typeface="微软雅黑" panose="020B0503020204020204" pitchFamily="34" charset="-122"/>
                <a:ea typeface="微软雅黑" panose="020B0503020204020204" pitchFamily="34" charset="-122"/>
              </a:rPr>
              <a:t>等</a:t>
            </a:r>
            <a:endParaRPr lang="zh-CN" altLang="en-US" sz="1400" b="0" dirty="0">
              <a:solidFill>
                <a:srgbClr val="FF0000"/>
              </a:solidFill>
              <a:latin typeface="微软雅黑" panose="020B0503020204020204" pitchFamily="34" charset="-122"/>
              <a:ea typeface="微软雅黑" panose="020B0503020204020204" pitchFamily="34" charset="-122"/>
            </a:endParaRP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if (!</a:t>
            </a:r>
            <a:r>
              <a:rPr lang="en-US" altLang="zh-CN" sz="1400" b="0" dirty="0" err="1">
                <a:solidFill>
                  <a:srgbClr val="0070C0"/>
                </a:solidFill>
                <a:latin typeface="微软雅黑" panose="020B0503020204020204" pitchFamily="34" charset="-122"/>
                <a:ea typeface="微软雅黑" panose="020B0503020204020204" pitchFamily="34" charset="-122"/>
              </a:rPr>
              <a:t>strcmp</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basename</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[0]), "</a:t>
            </a:r>
            <a:r>
              <a:rPr lang="en-US" altLang="zh-CN" sz="1400" b="0" dirty="0" err="1">
                <a:solidFill>
                  <a:srgbClr val="0070C0"/>
                </a:solidFill>
                <a:latin typeface="微软雅黑" panose="020B0503020204020204" pitchFamily="34" charset="-122"/>
                <a:ea typeface="微软雅黑" panose="020B0503020204020204" pitchFamily="34" charset="-122"/>
              </a:rPr>
              <a:t>ueventd</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a:t>
            </a:r>
            <a:r>
              <a:rPr lang="en-US" altLang="zh-CN" sz="1400" b="0" dirty="0" err="1">
                <a:solidFill>
                  <a:srgbClr val="0070C0"/>
                </a:solidFill>
                <a:latin typeface="微软雅黑" panose="020B0503020204020204" pitchFamily="34" charset="-122"/>
                <a:ea typeface="微软雅黑" panose="020B0503020204020204" pitchFamily="34" charset="-122"/>
              </a:rPr>
              <a:t>ueventd_main</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argc</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argc</a:t>
            </a:r>
            <a:r>
              <a:rPr lang="en-US" altLang="zh-CN" sz="1400" b="0" dirty="0">
                <a:solidFill>
                  <a:srgbClr val="0070C0"/>
                </a:solidFill>
                <a:latin typeface="微软雅黑" panose="020B0503020204020204" pitchFamily="34" charset="-122"/>
                <a:ea typeface="微软雅黑" panose="020B0503020204020204" pitchFamily="34" charset="-122"/>
              </a:rPr>
              <a:t> &gt; 1)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参数为</a:t>
            </a:r>
            <a:r>
              <a:rPr lang="en-US" altLang="zh-CN" sz="1400" b="0" dirty="0" err="1">
                <a:solidFill>
                  <a:srgbClr val="FF0000"/>
                </a:solidFill>
                <a:latin typeface="微软雅黑" panose="020B0503020204020204" pitchFamily="34" charset="-122"/>
                <a:ea typeface="微软雅黑" panose="020B0503020204020204" pitchFamily="34" charset="-122"/>
              </a:rPr>
              <a:t>subcontext</a:t>
            </a:r>
            <a:r>
              <a:rPr lang="zh-CN" altLang="en-US" sz="1400" b="0" dirty="0">
                <a:solidFill>
                  <a:srgbClr val="FF0000"/>
                </a:solidFill>
                <a:latin typeface="微软雅黑" panose="020B0503020204020204" pitchFamily="34" charset="-122"/>
                <a:ea typeface="微软雅黑" panose="020B0503020204020204" pitchFamily="34" charset="-122"/>
              </a:rPr>
              <a:t>，初始化日志系统</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if (!</a:t>
            </a:r>
            <a:r>
              <a:rPr lang="en-US" altLang="zh-CN" sz="1400" b="0" dirty="0" err="1">
                <a:solidFill>
                  <a:srgbClr val="0070C0"/>
                </a:solidFill>
                <a:latin typeface="微软雅黑" panose="020B0503020204020204" pitchFamily="34" charset="-122"/>
                <a:ea typeface="微软雅黑" panose="020B0503020204020204" pitchFamily="34" charset="-122"/>
              </a:rPr>
              <a:t>strcmp</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[1], "</a:t>
            </a:r>
            <a:r>
              <a:rPr lang="en-US" altLang="zh-CN" sz="1400" b="0" dirty="0" err="1">
                <a:solidFill>
                  <a:srgbClr val="0070C0"/>
                </a:solidFill>
                <a:latin typeface="微软雅黑" panose="020B0503020204020204" pitchFamily="34" charset="-122"/>
                <a:ea typeface="微软雅黑" panose="020B0503020204020204" pitchFamily="34" charset="-122"/>
              </a:rPr>
              <a:t>subcontext</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android::base::</a:t>
            </a:r>
            <a:r>
              <a:rPr lang="en-US" altLang="zh-CN" sz="1400" b="0" dirty="0" err="1">
                <a:solidFill>
                  <a:srgbClr val="0070C0"/>
                </a:solidFill>
                <a:latin typeface="微软雅黑" panose="020B0503020204020204" pitchFamily="34" charset="-122"/>
                <a:ea typeface="微软雅黑" panose="020B0503020204020204" pitchFamily="34" charset="-122"/>
              </a:rPr>
              <a:t>InitLogging</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 &amp;android::base::</a:t>
            </a:r>
            <a:r>
              <a:rPr lang="en-US" altLang="zh-CN" sz="1400" b="0" dirty="0" err="1">
                <a:solidFill>
                  <a:srgbClr val="0070C0"/>
                </a:solidFill>
                <a:latin typeface="微软雅黑" panose="020B0503020204020204" pitchFamily="34" charset="-122"/>
                <a:ea typeface="微软雅黑" panose="020B0503020204020204" pitchFamily="34" charset="-122"/>
              </a:rPr>
              <a:t>KernelLogger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BuiltinFunctionMap</a:t>
            </a:r>
            <a:r>
              <a:rPr lang="en-US" altLang="zh-CN" sz="1400" b="0" dirty="0">
                <a:solidFill>
                  <a:srgbClr val="0070C0"/>
                </a:solidFill>
                <a:latin typeface="微软雅黑" panose="020B0503020204020204" pitchFamily="34" charset="-122"/>
                <a:ea typeface="微软雅黑" panose="020B0503020204020204" pitchFamily="34" charset="-122"/>
              </a:rPr>
              <a:t>&amp; </a:t>
            </a:r>
            <a:r>
              <a:rPr lang="en-US" altLang="zh-CN" sz="1400" b="0" dirty="0" err="1">
                <a:solidFill>
                  <a:srgbClr val="0070C0"/>
                </a:solidFill>
                <a:latin typeface="微软雅黑" panose="020B0503020204020204" pitchFamily="34" charset="-122"/>
                <a:ea typeface="微软雅黑" panose="020B0503020204020204" pitchFamily="34" charset="-122"/>
              </a:rPr>
              <a:t>function_map</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GetBuiltinFunctionMap</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return </a:t>
            </a:r>
            <a:r>
              <a:rPr lang="en-US" altLang="zh-CN" sz="1400" b="0" dirty="0" err="1">
                <a:solidFill>
                  <a:srgbClr val="0070C0"/>
                </a:solidFill>
                <a:latin typeface="微软雅黑" panose="020B0503020204020204" pitchFamily="34" charset="-122"/>
                <a:ea typeface="微软雅黑" panose="020B0503020204020204" pitchFamily="34" charset="-122"/>
              </a:rPr>
              <a:t>SubcontextMain</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argc</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 &amp;</a:t>
            </a:r>
            <a:r>
              <a:rPr lang="en-US" altLang="zh-CN" sz="1400" b="0" dirty="0" err="1">
                <a:solidFill>
                  <a:srgbClr val="0070C0"/>
                </a:solidFill>
                <a:latin typeface="微软雅黑" panose="020B0503020204020204" pitchFamily="34" charset="-122"/>
                <a:ea typeface="微软雅黑" panose="020B0503020204020204" pitchFamily="34" charset="-122"/>
              </a:rPr>
              <a:t>function_map</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参数为</a:t>
            </a:r>
            <a:r>
              <a:rPr lang="en-US" altLang="zh-CN" sz="1400" b="0" dirty="0" err="1">
                <a:solidFill>
                  <a:srgbClr val="FF0000"/>
                </a:solidFill>
                <a:latin typeface="微软雅黑" panose="020B0503020204020204" pitchFamily="34" charset="-122"/>
                <a:ea typeface="微软雅黑" panose="020B0503020204020204" pitchFamily="34" charset="-122"/>
              </a:rPr>
              <a:t>selinux_setup</a:t>
            </a:r>
            <a:r>
              <a:rPr lang="zh-CN" altLang="en-US" sz="1400" b="0" dirty="0">
                <a:solidFill>
                  <a:srgbClr val="FF0000"/>
                </a:solidFill>
                <a:latin typeface="微软雅黑" panose="020B0503020204020204" pitchFamily="34" charset="-122"/>
                <a:ea typeface="微软雅黑" panose="020B0503020204020204" pitchFamily="34" charset="-122"/>
              </a:rPr>
              <a:t>，启动</a:t>
            </a:r>
            <a:r>
              <a:rPr lang="en-US" altLang="zh-CN" sz="1400" b="0" dirty="0" err="1">
                <a:solidFill>
                  <a:srgbClr val="FF0000"/>
                </a:solidFill>
                <a:latin typeface="微软雅黑" panose="020B0503020204020204" pitchFamily="34" charset="-122"/>
                <a:ea typeface="微软雅黑" panose="020B0503020204020204" pitchFamily="34" charset="-122"/>
              </a:rPr>
              <a:t>Selinux</a:t>
            </a:r>
            <a:r>
              <a:rPr lang="zh-CN" altLang="en-US" sz="1400" b="0" dirty="0">
                <a:solidFill>
                  <a:srgbClr val="FF0000"/>
                </a:solidFill>
                <a:latin typeface="微软雅黑" panose="020B0503020204020204" pitchFamily="34" charset="-122"/>
                <a:ea typeface="微软雅黑" panose="020B0503020204020204" pitchFamily="34" charset="-122"/>
              </a:rPr>
              <a:t>安全策略</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if (!</a:t>
            </a:r>
            <a:r>
              <a:rPr lang="en-US" altLang="zh-CN" sz="1400" b="0" dirty="0" err="1">
                <a:solidFill>
                  <a:srgbClr val="0070C0"/>
                </a:solidFill>
                <a:latin typeface="微软雅黑" panose="020B0503020204020204" pitchFamily="34" charset="-122"/>
                <a:ea typeface="微软雅黑" panose="020B0503020204020204" pitchFamily="34" charset="-122"/>
              </a:rPr>
              <a:t>strcmp</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[1], "</a:t>
            </a:r>
            <a:r>
              <a:rPr lang="en-US" altLang="zh-CN" sz="1400" b="0" dirty="0" err="1">
                <a:solidFill>
                  <a:srgbClr val="0070C0"/>
                </a:solidFill>
                <a:latin typeface="微软雅黑" panose="020B0503020204020204" pitchFamily="34" charset="-122"/>
                <a:ea typeface="微软雅黑" panose="020B0503020204020204" pitchFamily="34" charset="-122"/>
              </a:rPr>
              <a:t>selinux_setup</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a:t>
            </a:r>
            <a:r>
              <a:rPr lang="en-US" altLang="zh-CN" sz="1400" b="0" dirty="0" err="1">
                <a:solidFill>
                  <a:srgbClr val="0070C0"/>
                </a:solidFill>
                <a:latin typeface="微软雅黑" panose="020B0503020204020204" pitchFamily="34" charset="-122"/>
                <a:ea typeface="微软雅黑" panose="020B0503020204020204" pitchFamily="34" charset="-122"/>
              </a:rPr>
              <a:t>SetupSelinux</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参数为</a:t>
            </a:r>
            <a:r>
              <a:rPr lang="en-US" altLang="zh-CN" sz="1400" b="0" dirty="0" err="1">
                <a:solidFill>
                  <a:srgbClr val="FF0000"/>
                </a:solidFill>
                <a:latin typeface="微软雅黑" panose="020B0503020204020204" pitchFamily="34" charset="-122"/>
                <a:ea typeface="微软雅黑" panose="020B0503020204020204" pitchFamily="34" charset="-122"/>
              </a:rPr>
              <a:t>second_stage</a:t>
            </a:r>
            <a:r>
              <a:rPr lang="zh-CN" altLang="en-US" sz="1400" b="0" dirty="0">
                <a:solidFill>
                  <a:srgbClr val="FF0000"/>
                </a:solidFill>
                <a:latin typeface="微软雅黑" panose="020B0503020204020204" pitchFamily="34" charset="-122"/>
                <a:ea typeface="微软雅黑" panose="020B0503020204020204" pitchFamily="34" charset="-122"/>
              </a:rPr>
              <a:t>，启动</a:t>
            </a:r>
            <a:r>
              <a:rPr lang="en-US" altLang="zh-CN" sz="1400" b="0" dirty="0" err="1">
                <a:solidFill>
                  <a:srgbClr val="FF0000"/>
                </a:solidFill>
                <a:latin typeface="微软雅黑" panose="020B0503020204020204" pitchFamily="34" charset="-122"/>
                <a:ea typeface="微软雅黑" panose="020B0503020204020204" pitchFamily="34" charset="-122"/>
              </a:rPr>
              <a:t>init</a:t>
            </a:r>
            <a:r>
              <a:rPr lang="zh-CN" altLang="en-US" sz="1400" b="0" dirty="0">
                <a:solidFill>
                  <a:srgbClr val="FF0000"/>
                </a:solidFill>
                <a:latin typeface="微软雅黑" panose="020B0503020204020204" pitchFamily="34" charset="-122"/>
                <a:ea typeface="微软雅黑" panose="020B0503020204020204" pitchFamily="34" charset="-122"/>
              </a:rPr>
              <a:t>进程第二阶段</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if (!</a:t>
            </a:r>
            <a:r>
              <a:rPr lang="en-US" altLang="zh-CN" sz="1400" b="0" dirty="0" err="1">
                <a:solidFill>
                  <a:srgbClr val="0070C0"/>
                </a:solidFill>
                <a:latin typeface="微软雅黑" panose="020B0503020204020204" pitchFamily="34" charset="-122"/>
                <a:ea typeface="微软雅黑" panose="020B0503020204020204" pitchFamily="34" charset="-122"/>
              </a:rPr>
              <a:t>strcmp</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[1], "</a:t>
            </a:r>
            <a:r>
              <a:rPr lang="en-US" altLang="zh-CN" sz="1400" b="0" dirty="0" err="1">
                <a:solidFill>
                  <a:srgbClr val="0070C0"/>
                </a:solidFill>
                <a:latin typeface="微软雅黑" panose="020B0503020204020204" pitchFamily="34" charset="-122"/>
                <a:ea typeface="微软雅黑" panose="020B0503020204020204" pitchFamily="34" charset="-122"/>
              </a:rPr>
              <a:t>second_stage</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a:t>
            </a:r>
            <a:r>
              <a:rPr lang="en-US" altLang="zh-CN" sz="1400" b="0" dirty="0" err="1">
                <a:solidFill>
                  <a:srgbClr val="0070C0"/>
                </a:solidFill>
                <a:latin typeface="微软雅黑" panose="020B0503020204020204" pitchFamily="34" charset="-122"/>
                <a:ea typeface="微软雅黑" panose="020B0503020204020204" pitchFamily="34" charset="-122"/>
              </a:rPr>
              <a:t>SecondStageMain</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argc</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默认启动</a:t>
            </a:r>
            <a:r>
              <a:rPr lang="en-US" altLang="zh-CN" sz="1400" b="0" dirty="0" err="1">
                <a:solidFill>
                  <a:srgbClr val="FF0000"/>
                </a:solidFill>
                <a:latin typeface="微软雅黑" panose="020B0503020204020204" pitchFamily="34" charset="-122"/>
                <a:ea typeface="微软雅黑" panose="020B0503020204020204" pitchFamily="34" charset="-122"/>
              </a:rPr>
              <a:t>init</a:t>
            </a:r>
            <a:r>
              <a:rPr lang="zh-CN" altLang="en-US" sz="1400" b="0" dirty="0">
                <a:solidFill>
                  <a:srgbClr val="FF0000"/>
                </a:solidFill>
                <a:latin typeface="微软雅黑" panose="020B0503020204020204" pitchFamily="34" charset="-122"/>
                <a:ea typeface="微软雅黑" panose="020B0503020204020204" pitchFamily="34" charset="-122"/>
              </a:rPr>
              <a:t>进程第一阶段 </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return </a:t>
            </a:r>
            <a:r>
              <a:rPr lang="en-US" altLang="zh-CN" sz="1400" b="0" dirty="0" err="1">
                <a:solidFill>
                  <a:srgbClr val="0070C0"/>
                </a:solidFill>
                <a:latin typeface="微软雅黑" panose="020B0503020204020204" pitchFamily="34" charset="-122"/>
                <a:ea typeface="微软雅黑" panose="020B0503020204020204" pitchFamily="34" charset="-122"/>
              </a:rPr>
              <a:t>FirstStageMain</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argc</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56410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755422"/>
          </a:xfrm>
          <a:prstGeom prst="rect">
            <a:avLst/>
          </a:prstGeom>
          <a:noFill/>
        </p:spPr>
        <p:txBody>
          <a:bodyPr wrap="square" rtlCol="0">
            <a:spAutoFit/>
          </a:bodyPr>
          <a:lstStyle/>
          <a:p>
            <a:pPr algn="l"/>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进程启动第一</a:t>
            </a:r>
            <a:r>
              <a:rPr lang="zh-CN" altLang="en-US" sz="1600" b="0" dirty="0" smtClean="0">
                <a:latin typeface="微软雅黑" panose="020B0503020204020204" pitchFamily="34" charset="-122"/>
                <a:ea typeface="微软雅黑" panose="020B0503020204020204" pitchFamily="34" charset="-122"/>
              </a:rPr>
              <a:t>阶段（</a:t>
            </a:r>
            <a:r>
              <a:rPr lang="en-US" altLang="zh-CN" sz="1600" b="0" dirty="0" err="1" smtClean="0">
                <a:latin typeface="微软雅黑" panose="020B0503020204020204" pitchFamily="34" charset="-122"/>
                <a:ea typeface="微软雅黑" panose="020B0503020204020204" pitchFamily="34" charset="-122"/>
              </a:rPr>
              <a:t>FirstStageMain</a:t>
            </a:r>
            <a:r>
              <a:rPr lang="zh-CN" altLang="en-US" sz="1600" b="0" dirty="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进程第一阶段做的主要工作是挂载分区、创建设备节点以及一些关键目录、初始化日志输出系统和</a:t>
            </a:r>
            <a:r>
              <a:rPr lang="zh-CN" altLang="en-US" sz="1600" b="0" dirty="0" smtClean="0">
                <a:latin typeface="微软雅黑" panose="020B0503020204020204" pitchFamily="34" charset="-122"/>
                <a:ea typeface="微软雅黑" panose="020B0503020204020204" pitchFamily="34" charset="-122"/>
              </a:rPr>
              <a:t>启用 </a:t>
            </a:r>
            <a:r>
              <a:rPr lang="en-US" altLang="zh-CN" sz="1600" b="0" dirty="0" err="1">
                <a:latin typeface="微软雅黑" panose="020B0503020204020204" pitchFamily="34" charset="-122"/>
                <a:ea typeface="微软雅黑" panose="020B0503020204020204" pitchFamily="34" charset="-122"/>
              </a:rPr>
              <a:t>SELinux</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安全策略</a:t>
            </a:r>
            <a:r>
              <a:rPr lang="zh-CN" altLang="en-US" sz="1600" b="0" dirty="0" smtClean="0">
                <a:latin typeface="微软雅黑" panose="020B0503020204020204" pitchFamily="34" charset="-122"/>
                <a:ea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第一个阶段完成以下内容</a:t>
            </a:r>
            <a:r>
              <a:rPr lang="zh-CN" altLang="en-US" sz="1600" b="0" dirty="0" smtClean="0">
                <a:latin typeface="微软雅黑" panose="020B0503020204020204" pitchFamily="34" charset="-122"/>
                <a:ea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1.</a:t>
            </a:r>
            <a:r>
              <a:rPr lang="zh-CN" altLang="en-US" sz="1600" b="0" dirty="0" smtClean="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挂载文件系统并</a:t>
            </a:r>
            <a:r>
              <a:rPr lang="zh-CN" altLang="en-US" sz="1600" b="0" dirty="0" smtClean="0">
                <a:latin typeface="微软雅黑" panose="020B0503020204020204" pitchFamily="34" charset="-122"/>
                <a:ea typeface="微软雅黑" panose="020B0503020204020204" pitchFamily="34" charset="-122"/>
              </a:rPr>
              <a:t>创建目录</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2.</a:t>
            </a:r>
            <a:r>
              <a:rPr lang="zh-CN" altLang="en-US" sz="1600" b="0" dirty="0" smtClean="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初始化日志输出、挂载分区</a:t>
            </a:r>
            <a:r>
              <a:rPr lang="zh-CN" altLang="en-US" sz="1600" b="0" dirty="0" smtClean="0">
                <a:latin typeface="微软雅黑" panose="020B0503020204020204" pitchFamily="34" charset="-122"/>
                <a:ea typeface="微软雅黑" panose="020B0503020204020204" pitchFamily="34" charset="-122"/>
              </a:rPr>
              <a:t>设备</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3.</a:t>
            </a:r>
            <a:r>
              <a:rPr lang="zh-CN" altLang="en-US" sz="1600" b="0" dirty="0" smtClean="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启用 </a:t>
            </a:r>
            <a:r>
              <a:rPr lang="en-US" altLang="zh-CN" sz="1600" b="0" dirty="0" err="1">
                <a:latin typeface="微软雅黑" panose="020B0503020204020204" pitchFamily="34" charset="-122"/>
                <a:ea typeface="微软雅黑" panose="020B0503020204020204" pitchFamily="34" charset="-122"/>
              </a:rPr>
              <a:t>SELinux</a:t>
            </a:r>
            <a:r>
              <a:rPr lang="en-US" altLang="zh-CN" sz="1600" b="0" dirty="0">
                <a:latin typeface="微软雅黑" panose="020B0503020204020204" pitchFamily="34" charset="-122"/>
                <a:ea typeface="微软雅黑" panose="020B0503020204020204" pitchFamily="34" charset="-122"/>
              </a:rPr>
              <a:t> </a:t>
            </a:r>
            <a:r>
              <a:rPr lang="zh-CN" altLang="en-US" sz="1600" b="0" dirty="0" smtClean="0">
                <a:latin typeface="微软雅黑" panose="020B0503020204020204" pitchFamily="34" charset="-122"/>
                <a:ea typeface="微软雅黑" panose="020B0503020204020204" pitchFamily="34" charset="-122"/>
              </a:rPr>
              <a:t>安全策略</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4.</a:t>
            </a:r>
            <a:r>
              <a:rPr lang="zh-CN" altLang="en-US" sz="1600" b="0" dirty="0" smtClean="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开始第二阶段前的</a:t>
            </a:r>
            <a:r>
              <a:rPr lang="zh-CN" altLang="en-US" sz="1600" b="0" dirty="0" smtClean="0">
                <a:latin typeface="微软雅黑" panose="020B0503020204020204" pitchFamily="34" charset="-122"/>
                <a:ea typeface="微软雅黑" panose="020B0503020204020204" pitchFamily="34" charset="-122"/>
              </a:rPr>
              <a:t>准备</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源码路径：</a:t>
            </a:r>
            <a:r>
              <a:rPr lang="en-US" altLang="zh-CN" sz="1600" b="0" dirty="0">
                <a:solidFill>
                  <a:srgbClr val="7030A0"/>
                </a:solidFill>
                <a:latin typeface="微软雅黑" panose="020B0503020204020204" pitchFamily="34" charset="-122"/>
                <a:ea typeface="微软雅黑" panose="020B0503020204020204" pitchFamily="34" charset="-122"/>
              </a:rPr>
              <a:t>system/core/</a:t>
            </a:r>
            <a:r>
              <a:rPr lang="en-US" altLang="zh-CN" sz="1600" b="0" dirty="0" err="1">
                <a:solidFill>
                  <a:srgbClr val="7030A0"/>
                </a:solidFill>
                <a:latin typeface="微软雅黑" panose="020B0503020204020204" pitchFamily="34" charset="-122"/>
                <a:ea typeface="微软雅黑" panose="020B0503020204020204" pitchFamily="34" charset="-122"/>
              </a:rPr>
              <a:t>init</a:t>
            </a:r>
            <a:r>
              <a:rPr lang="en-US" altLang="zh-CN" sz="1600" b="0" dirty="0">
                <a:solidFill>
                  <a:srgbClr val="7030A0"/>
                </a:solidFill>
                <a:latin typeface="微软雅黑" panose="020B0503020204020204" pitchFamily="34" charset="-122"/>
                <a:ea typeface="微软雅黑" panose="020B0503020204020204" pitchFamily="34" charset="-122"/>
              </a:rPr>
              <a:t>/first_stage_init.cpp</a:t>
            </a:r>
            <a:endParaRPr lang="en-US" altLang="zh-CN" sz="1600" b="0" dirty="0" smtClean="0">
              <a:solidFill>
                <a:srgbClr val="7030A0"/>
              </a:solidFill>
              <a:latin typeface="微软雅黑" panose="020B0503020204020204" pitchFamily="34" charset="-122"/>
              <a:ea typeface="微软雅黑" panose="020B0503020204020204" pitchFamily="34" charset="-122"/>
            </a:endParaRPr>
          </a:p>
          <a:p>
            <a:pPr algn="l"/>
            <a:r>
              <a:rPr lang="en-US" altLang="zh-CN" sz="1400" b="0" dirty="0" err="1">
                <a:solidFill>
                  <a:srgbClr val="005A9E"/>
                </a:solidFill>
                <a:latin typeface="微软雅黑" panose="020B0503020204020204" pitchFamily="34" charset="-122"/>
                <a:ea typeface="微软雅黑" panose="020B0503020204020204" pitchFamily="34" charset="-122"/>
              </a:rPr>
              <a:t>int</a:t>
            </a:r>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err="1">
                <a:solidFill>
                  <a:srgbClr val="005A9E"/>
                </a:solidFill>
                <a:latin typeface="微软雅黑" panose="020B0503020204020204" pitchFamily="34" charset="-122"/>
                <a:ea typeface="微软雅黑" panose="020B0503020204020204" pitchFamily="34" charset="-122"/>
              </a:rPr>
              <a:t>FirstStageMain</a:t>
            </a:r>
            <a:r>
              <a:rPr lang="en-US" altLang="zh-CN" sz="1400" b="0" dirty="0">
                <a:solidFill>
                  <a:srgbClr val="005A9E"/>
                </a:solidFill>
                <a:latin typeface="微软雅黑" panose="020B0503020204020204" pitchFamily="34" charset="-122"/>
                <a:ea typeface="微软雅黑" panose="020B0503020204020204" pitchFamily="34" charset="-122"/>
              </a:rPr>
              <a:t>(</a:t>
            </a:r>
            <a:r>
              <a:rPr lang="en-US" altLang="zh-CN" sz="1400" b="0" dirty="0" err="1">
                <a:solidFill>
                  <a:srgbClr val="005A9E"/>
                </a:solidFill>
                <a:latin typeface="微软雅黑" panose="020B0503020204020204" pitchFamily="34" charset="-122"/>
                <a:ea typeface="微软雅黑" panose="020B0503020204020204" pitchFamily="34" charset="-122"/>
              </a:rPr>
              <a:t>int</a:t>
            </a:r>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err="1">
                <a:solidFill>
                  <a:srgbClr val="005A9E"/>
                </a:solidFill>
                <a:latin typeface="微软雅黑" panose="020B0503020204020204" pitchFamily="34" charset="-122"/>
                <a:ea typeface="微软雅黑" panose="020B0503020204020204" pitchFamily="34" charset="-122"/>
              </a:rPr>
              <a:t>argc</a:t>
            </a:r>
            <a:r>
              <a:rPr lang="en-US" altLang="zh-CN" sz="1400" b="0" dirty="0">
                <a:solidFill>
                  <a:srgbClr val="005A9E"/>
                </a:solidFill>
                <a:latin typeface="微软雅黑" panose="020B0503020204020204" pitchFamily="34" charset="-122"/>
                <a:ea typeface="微软雅黑" panose="020B0503020204020204" pitchFamily="34" charset="-122"/>
              </a:rPr>
              <a:t>, char** </a:t>
            </a:r>
            <a:r>
              <a:rPr lang="en-US" altLang="zh-CN" sz="1400" b="0" dirty="0" err="1">
                <a:solidFill>
                  <a:srgbClr val="005A9E"/>
                </a:solidFill>
                <a:latin typeface="微软雅黑" panose="020B0503020204020204" pitchFamily="34" charset="-122"/>
                <a:ea typeface="微软雅黑" panose="020B0503020204020204" pitchFamily="34" charset="-122"/>
              </a:rPr>
              <a:t>argv</a:t>
            </a:r>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安全处理，</a:t>
            </a:r>
            <a:r>
              <a:rPr lang="en-US" altLang="zh-CN" sz="1400" b="0" dirty="0" err="1">
                <a:solidFill>
                  <a:srgbClr val="FF0000"/>
                </a:solidFill>
                <a:latin typeface="微软雅黑" panose="020B0503020204020204" pitchFamily="34" charset="-122"/>
                <a:ea typeface="微软雅黑" panose="020B0503020204020204" pitchFamily="34" charset="-122"/>
              </a:rPr>
              <a:t>init</a:t>
            </a:r>
            <a:r>
              <a:rPr lang="en-US" altLang="zh-CN" sz="1400" b="0" dirty="0">
                <a:solidFill>
                  <a:srgbClr val="FF0000"/>
                </a:solidFill>
                <a:latin typeface="微软雅黑" panose="020B0503020204020204" pitchFamily="34" charset="-122"/>
                <a:ea typeface="微软雅黑" panose="020B0503020204020204" pitchFamily="34" charset="-122"/>
              </a:rPr>
              <a:t> crash</a:t>
            </a:r>
            <a:r>
              <a:rPr lang="zh-CN" altLang="en-US" sz="1400" b="0" dirty="0">
                <a:solidFill>
                  <a:srgbClr val="FF0000"/>
                </a:solidFill>
                <a:latin typeface="微软雅黑" panose="020B0503020204020204" pitchFamily="34" charset="-122"/>
                <a:ea typeface="微软雅黑" panose="020B0503020204020204" pitchFamily="34" charset="-122"/>
              </a:rPr>
              <a:t>时会重启引导加载程序</a:t>
            </a:r>
          </a:p>
          <a:p>
            <a:pPr algn="l"/>
            <a:r>
              <a:rPr lang="zh-CN" altLang="en-US"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005A9E"/>
                </a:solidFill>
                <a:latin typeface="微软雅黑" panose="020B0503020204020204" pitchFamily="34" charset="-122"/>
                <a:ea typeface="微软雅黑" panose="020B0503020204020204" pitchFamily="34" charset="-122"/>
              </a:rPr>
              <a:t>if (REBOOT_BOOTLOADER_ON_PANIC) {</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err="1">
                <a:solidFill>
                  <a:srgbClr val="005A9E"/>
                </a:solidFill>
                <a:latin typeface="微软雅黑" panose="020B0503020204020204" pitchFamily="34" charset="-122"/>
                <a:ea typeface="微软雅黑" panose="020B0503020204020204" pitchFamily="34" charset="-122"/>
              </a:rPr>
              <a:t>InstallRebootSignalHandlers</a:t>
            </a:r>
            <a:r>
              <a:rPr lang="en-US" altLang="zh-CN" sz="1400" b="0" dirty="0">
                <a:solidFill>
                  <a:srgbClr val="005A9E"/>
                </a:solidFill>
                <a:latin typeface="微软雅黑" panose="020B0503020204020204" pitchFamily="34" charset="-122"/>
                <a:ea typeface="微软雅黑" panose="020B0503020204020204" pitchFamily="34" charset="-122"/>
              </a:rPr>
              <a:t>();</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清除环境变量</a:t>
            </a:r>
          </a:p>
          <a:p>
            <a:pPr algn="l"/>
            <a:r>
              <a:rPr lang="zh-CN" altLang="en-US"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005A9E"/>
                </a:solidFill>
                <a:latin typeface="微软雅黑" panose="020B0503020204020204" pitchFamily="34" charset="-122"/>
                <a:ea typeface="微软雅黑" panose="020B0503020204020204" pitchFamily="34" charset="-122"/>
              </a:rPr>
              <a:t>CHECKCALL(</a:t>
            </a:r>
            <a:r>
              <a:rPr lang="en-US" altLang="zh-CN" sz="1400" b="0" dirty="0" err="1">
                <a:solidFill>
                  <a:srgbClr val="005A9E"/>
                </a:solidFill>
                <a:latin typeface="微软雅黑" panose="020B0503020204020204" pitchFamily="34" charset="-122"/>
                <a:ea typeface="微软雅黑" panose="020B0503020204020204" pitchFamily="34" charset="-122"/>
              </a:rPr>
              <a:t>clearenv</a:t>
            </a:r>
            <a:r>
              <a:rPr lang="en-US" altLang="zh-CN" sz="1400" b="0" dirty="0">
                <a:solidFill>
                  <a:srgbClr val="005A9E"/>
                </a:solidFill>
                <a:latin typeface="微软雅黑" panose="020B0503020204020204" pitchFamily="34" charset="-122"/>
                <a:ea typeface="微软雅黑" panose="020B0503020204020204" pitchFamily="34" charset="-122"/>
              </a:rPr>
              <a:t>());</a:t>
            </a:r>
          </a:p>
          <a:p>
            <a:pPr algn="l"/>
            <a:r>
              <a:rPr lang="en-US" altLang="zh-CN" sz="1400" b="0" dirty="0">
                <a:solidFill>
                  <a:srgbClr val="005A9E"/>
                </a:solidFill>
                <a:latin typeface="微软雅黑" panose="020B0503020204020204" pitchFamily="34" charset="-122"/>
                <a:ea typeface="微软雅黑" panose="020B0503020204020204" pitchFamily="34" charset="-122"/>
              </a:rPr>
              <a:t>    CHECKCALL(</a:t>
            </a:r>
            <a:r>
              <a:rPr lang="en-US" altLang="zh-CN" sz="1400" b="0" dirty="0" err="1">
                <a:solidFill>
                  <a:srgbClr val="005A9E"/>
                </a:solidFill>
                <a:latin typeface="微软雅黑" panose="020B0503020204020204" pitchFamily="34" charset="-122"/>
                <a:ea typeface="微软雅黑" panose="020B0503020204020204" pitchFamily="34" charset="-122"/>
              </a:rPr>
              <a:t>setenv</a:t>
            </a:r>
            <a:r>
              <a:rPr lang="en-US" altLang="zh-CN" sz="1400" b="0" dirty="0">
                <a:solidFill>
                  <a:srgbClr val="005A9E"/>
                </a:solidFill>
                <a:latin typeface="微软雅黑" panose="020B0503020204020204" pitchFamily="34" charset="-122"/>
                <a:ea typeface="微软雅黑" panose="020B0503020204020204" pitchFamily="34" charset="-122"/>
              </a:rPr>
              <a:t>("PATH", _PATH_DEFPATH, 1));</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在内存上挂载临时文件系统，其他文件系统会在处理</a:t>
            </a:r>
            <a:r>
              <a:rPr lang="en-US" altLang="zh-CN" sz="1400" b="0" dirty="0" err="1">
                <a:solidFill>
                  <a:srgbClr val="FF0000"/>
                </a:solidFill>
                <a:latin typeface="微软雅黑" panose="020B0503020204020204" pitchFamily="34" charset="-122"/>
                <a:ea typeface="微软雅黑" panose="020B0503020204020204" pitchFamily="34" charset="-122"/>
              </a:rPr>
              <a:t>rc</a:t>
            </a:r>
            <a:r>
              <a:rPr lang="zh-CN" altLang="en-US" sz="1400" b="0" dirty="0">
                <a:solidFill>
                  <a:srgbClr val="FF0000"/>
                </a:solidFill>
                <a:latin typeface="微软雅黑" panose="020B0503020204020204" pitchFamily="34" charset="-122"/>
                <a:ea typeface="微软雅黑" panose="020B0503020204020204" pitchFamily="34" charset="-122"/>
              </a:rPr>
              <a:t>配置文件时挂载</a:t>
            </a:r>
          </a:p>
          <a:p>
            <a:pPr algn="l"/>
            <a:r>
              <a:rPr lang="zh-CN" altLang="en-US"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005A9E"/>
                </a:solidFill>
                <a:latin typeface="微软雅黑" panose="020B0503020204020204" pitchFamily="34" charset="-122"/>
                <a:ea typeface="微软雅黑" panose="020B0503020204020204" pitchFamily="34" charset="-122"/>
              </a:rPr>
              <a:t>CHECKCALL(mount("</a:t>
            </a:r>
            <a:r>
              <a:rPr lang="en-US" altLang="zh-CN" sz="1400" b="0" dirty="0" err="1">
                <a:solidFill>
                  <a:srgbClr val="005A9E"/>
                </a:solidFill>
                <a:latin typeface="微软雅黑" panose="020B0503020204020204" pitchFamily="34" charset="-122"/>
                <a:ea typeface="微软雅黑" panose="020B0503020204020204" pitchFamily="34" charset="-122"/>
              </a:rPr>
              <a:t>tmpfs</a:t>
            </a:r>
            <a:r>
              <a:rPr lang="en-US" altLang="zh-CN" sz="1400" b="0" dirty="0">
                <a:solidFill>
                  <a:srgbClr val="005A9E"/>
                </a:solidFill>
                <a:latin typeface="微软雅黑" panose="020B0503020204020204" pitchFamily="34" charset="-122"/>
                <a:ea typeface="微软雅黑" panose="020B0503020204020204" pitchFamily="34" charset="-122"/>
              </a:rPr>
              <a:t>", "/dev", "</a:t>
            </a:r>
            <a:r>
              <a:rPr lang="en-US" altLang="zh-CN" sz="1400" b="0" dirty="0" err="1">
                <a:solidFill>
                  <a:srgbClr val="005A9E"/>
                </a:solidFill>
                <a:latin typeface="微软雅黑" panose="020B0503020204020204" pitchFamily="34" charset="-122"/>
                <a:ea typeface="微软雅黑" panose="020B0503020204020204" pitchFamily="34" charset="-122"/>
              </a:rPr>
              <a:t>tmpfs</a:t>
            </a:r>
            <a:r>
              <a:rPr lang="en-US" altLang="zh-CN" sz="1400" b="0" dirty="0">
                <a:solidFill>
                  <a:srgbClr val="005A9E"/>
                </a:solidFill>
                <a:latin typeface="微软雅黑" panose="020B0503020204020204" pitchFamily="34" charset="-122"/>
                <a:ea typeface="微软雅黑" panose="020B0503020204020204" pitchFamily="34" charset="-122"/>
              </a:rPr>
              <a:t>", MS_NOSUID, "mode=0755"));</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给</a:t>
            </a:r>
            <a:r>
              <a:rPr lang="en-US" altLang="zh-CN" sz="1400" b="0" dirty="0" err="1">
                <a:solidFill>
                  <a:srgbClr val="FF0000"/>
                </a:solidFill>
                <a:latin typeface="微软雅黑" panose="020B0503020204020204" pitchFamily="34" charset="-122"/>
                <a:ea typeface="微软雅黑" panose="020B0503020204020204" pitchFamily="34" charset="-122"/>
              </a:rPr>
              <a:t>cmdline</a:t>
            </a:r>
            <a:r>
              <a:rPr lang="zh-CN" altLang="en-US" sz="1400" b="0" dirty="0">
                <a:solidFill>
                  <a:srgbClr val="FF0000"/>
                </a:solidFill>
                <a:latin typeface="微软雅黑" panose="020B0503020204020204" pitchFamily="34" charset="-122"/>
                <a:ea typeface="微软雅黑" panose="020B0503020204020204" pitchFamily="34" charset="-122"/>
              </a:rPr>
              <a:t>配置访问权限</a:t>
            </a:r>
          </a:p>
          <a:p>
            <a:pPr algn="l"/>
            <a:r>
              <a:rPr lang="zh-CN" altLang="en-US"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005A9E"/>
                </a:solidFill>
                <a:latin typeface="微软雅黑" panose="020B0503020204020204" pitchFamily="34" charset="-122"/>
                <a:ea typeface="微软雅黑" panose="020B0503020204020204" pitchFamily="34" charset="-122"/>
              </a:rPr>
              <a:t>CHECKCALL(</a:t>
            </a:r>
            <a:r>
              <a:rPr lang="en-US" altLang="zh-CN" sz="1400" b="0" dirty="0" err="1">
                <a:solidFill>
                  <a:srgbClr val="005A9E"/>
                </a:solidFill>
                <a:latin typeface="微软雅黑" panose="020B0503020204020204" pitchFamily="34" charset="-122"/>
                <a:ea typeface="微软雅黑" panose="020B0503020204020204" pitchFamily="34" charset="-122"/>
              </a:rPr>
              <a:t>chmod</a:t>
            </a:r>
            <a:r>
              <a:rPr lang="en-US" altLang="zh-CN" sz="1400" b="0" dirty="0">
                <a:solidFill>
                  <a:srgbClr val="005A9E"/>
                </a:solidFill>
                <a:latin typeface="微软雅黑" panose="020B0503020204020204" pitchFamily="34" charset="-122"/>
                <a:ea typeface="微软雅黑" panose="020B0503020204020204" pitchFamily="34" charset="-122"/>
              </a:rPr>
              <a:t>("/proc/</a:t>
            </a:r>
            <a:r>
              <a:rPr lang="en-US" altLang="zh-CN" sz="1400" b="0" dirty="0" err="1">
                <a:solidFill>
                  <a:srgbClr val="005A9E"/>
                </a:solidFill>
                <a:latin typeface="微软雅黑" panose="020B0503020204020204" pitchFamily="34" charset="-122"/>
                <a:ea typeface="微软雅黑" panose="020B0503020204020204" pitchFamily="34" charset="-122"/>
              </a:rPr>
              <a:t>cmdline</a:t>
            </a:r>
            <a:r>
              <a:rPr lang="en-US" altLang="zh-CN" sz="1400" b="0" dirty="0">
                <a:solidFill>
                  <a:srgbClr val="005A9E"/>
                </a:solidFill>
                <a:latin typeface="微软雅黑" panose="020B0503020204020204" pitchFamily="34" charset="-122"/>
                <a:ea typeface="微软雅黑" panose="020B0503020204020204" pitchFamily="34" charset="-122"/>
              </a:rPr>
              <a:t>", 0440));</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读取</a:t>
            </a:r>
            <a:r>
              <a:rPr lang="en-US" altLang="zh-CN" sz="1400" b="0" dirty="0" err="1">
                <a:solidFill>
                  <a:srgbClr val="FF0000"/>
                </a:solidFill>
                <a:latin typeface="微软雅黑" panose="020B0503020204020204" pitchFamily="34" charset="-122"/>
                <a:ea typeface="微软雅黑" panose="020B0503020204020204" pitchFamily="34" charset="-122"/>
              </a:rPr>
              <a:t>cmdline</a:t>
            </a:r>
            <a:r>
              <a:rPr lang="zh-CN" altLang="en-US" sz="1400" b="0" dirty="0">
                <a:solidFill>
                  <a:srgbClr val="FF0000"/>
                </a:solidFill>
                <a:latin typeface="微软雅黑" panose="020B0503020204020204" pitchFamily="34" charset="-122"/>
                <a:ea typeface="微软雅黑" panose="020B0503020204020204" pitchFamily="34" charset="-122"/>
              </a:rPr>
              <a:t>内容</a:t>
            </a:r>
          </a:p>
          <a:p>
            <a:pPr algn="l"/>
            <a:r>
              <a:rPr lang="zh-CN" altLang="en-US" sz="1400" b="0" dirty="0">
                <a:solidFill>
                  <a:srgbClr val="005A9E"/>
                </a:solidFill>
                <a:latin typeface="微软雅黑" panose="020B0503020204020204" pitchFamily="34" charset="-122"/>
                <a:ea typeface="微软雅黑" panose="020B0503020204020204" pitchFamily="34" charset="-122"/>
              </a:rPr>
              <a:t>    </a:t>
            </a:r>
            <a:r>
              <a:rPr lang="en-US" altLang="zh-CN" sz="1400" b="0" dirty="0" err="1">
                <a:solidFill>
                  <a:srgbClr val="005A9E"/>
                </a:solidFill>
                <a:latin typeface="微软雅黑" panose="020B0503020204020204" pitchFamily="34" charset="-122"/>
                <a:ea typeface="微软雅黑" panose="020B0503020204020204" pitchFamily="34" charset="-122"/>
              </a:rPr>
              <a:t>std</a:t>
            </a:r>
            <a:r>
              <a:rPr lang="en-US" altLang="zh-CN" sz="1400" b="0" dirty="0">
                <a:solidFill>
                  <a:srgbClr val="005A9E"/>
                </a:solidFill>
                <a:latin typeface="微软雅黑" panose="020B0503020204020204" pitchFamily="34" charset="-122"/>
                <a:ea typeface="微软雅黑" panose="020B0503020204020204" pitchFamily="34" charset="-122"/>
              </a:rPr>
              <a:t>::string </a:t>
            </a:r>
            <a:r>
              <a:rPr lang="en-US" altLang="zh-CN" sz="1400" b="0" dirty="0" err="1">
                <a:solidFill>
                  <a:srgbClr val="005A9E"/>
                </a:solidFill>
                <a:latin typeface="微软雅黑" panose="020B0503020204020204" pitchFamily="34" charset="-122"/>
                <a:ea typeface="微软雅黑" panose="020B0503020204020204" pitchFamily="34" charset="-122"/>
              </a:rPr>
              <a:t>cmdline</a:t>
            </a:r>
            <a:r>
              <a:rPr lang="en-US" altLang="zh-CN" sz="1400" b="0" dirty="0" smtClean="0">
                <a:solidFill>
                  <a:srgbClr val="005A9E"/>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8340260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693866"/>
          </a:xfrm>
          <a:prstGeom prst="rect">
            <a:avLst/>
          </a:prstGeom>
          <a:noFill/>
        </p:spPr>
        <p:txBody>
          <a:bodyPr wrap="square" rtlCol="0">
            <a:spAutoFit/>
          </a:bodyPr>
          <a:lstStyle/>
          <a:p>
            <a:pPr algn="l"/>
            <a:r>
              <a:rPr lang="en-US" altLang="zh-CN" sz="1400" b="0" dirty="0" smtClean="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005A9E"/>
                </a:solidFill>
                <a:latin typeface="微软雅黑" panose="020B0503020204020204" pitchFamily="34" charset="-122"/>
                <a:ea typeface="微软雅黑" panose="020B0503020204020204" pitchFamily="34" charset="-122"/>
              </a:rPr>
              <a:t>android::base::</a:t>
            </a:r>
            <a:r>
              <a:rPr lang="en-US" altLang="zh-CN" sz="1400" b="0" dirty="0" err="1">
                <a:solidFill>
                  <a:srgbClr val="005A9E"/>
                </a:solidFill>
                <a:latin typeface="微软雅黑" panose="020B0503020204020204" pitchFamily="34" charset="-122"/>
                <a:ea typeface="微软雅黑" panose="020B0503020204020204" pitchFamily="34" charset="-122"/>
              </a:rPr>
              <a:t>ReadFileToString</a:t>
            </a:r>
            <a:r>
              <a:rPr lang="en-US" altLang="zh-CN" sz="1400" b="0" dirty="0">
                <a:solidFill>
                  <a:srgbClr val="005A9E"/>
                </a:solidFill>
                <a:latin typeface="微软雅黑" panose="020B0503020204020204" pitchFamily="34" charset="-122"/>
                <a:ea typeface="微软雅黑" panose="020B0503020204020204" pitchFamily="34" charset="-122"/>
              </a:rPr>
              <a:t>("/proc/</a:t>
            </a:r>
            <a:r>
              <a:rPr lang="en-US" altLang="zh-CN" sz="1400" b="0" dirty="0" err="1">
                <a:solidFill>
                  <a:srgbClr val="005A9E"/>
                </a:solidFill>
                <a:latin typeface="微软雅黑" panose="020B0503020204020204" pitchFamily="34" charset="-122"/>
                <a:ea typeface="微软雅黑" panose="020B0503020204020204" pitchFamily="34" charset="-122"/>
              </a:rPr>
              <a:t>cmdline</a:t>
            </a:r>
            <a:r>
              <a:rPr lang="en-US" altLang="zh-CN" sz="1400" b="0" dirty="0">
                <a:solidFill>
                  <a:srgbClr val="005A9E"/>
                </a:solidFill>
                <a:latin typeface="微软雅黑" panose="020B0503020204020204" pitchFamily="34" charset="-122"/>
                <a:ea typeface="微软雅黑" panose="020B0503020204020204" pitchFamily="34" charset="-122"/>
              </a:rPr>
              <a:t>", &amp;</a:t>
            </a:r>
            <a:r>
              <a:rPr lang="en-US" altLang="zh-CN" sz="1400" b="0" dirty="0" err="1">
                <a:solidFill>
                  <a:srgbClr val="005A9E"/>
                </a:solidFill>
                <a:latin typeface="微软雅黑" panose="020B0503020204020204" pitchFamily="34" charset="-122"/>
                <a:ea typeface="微软雅黑" panose="020B0503020204020204" pitchFamily="34" charset="-122"/>
              </a:rPr>
              <a:t>cmdline</a:t>
            </a:r>
            <a:r>
              <a:rPr lang="en-US" altLang="zh-CN" sz="1400" b="0" dirty="0">
                <a:solidFill>
                  <a:srgbClr val="005A9E"/>
                </a:solidFill>
                <a:latin typeface="微软雅黑" panose="020B0503020204020204" pitchFamily="34" charset="-122"/>
                <a:ea typeface="微软雅黑" panose="020B0503020204020204" pitchFamily="34" charset="-122"/>
              </a:rPr>
              <a:t>);</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挂载</a:t>
            </a:r>
            <a:r>
              <a:rPr lang="en-US" altLang="zh-CN" sz="1400" b="0" dirty="0" err="1">
                <a:solidFill>
                  <a:srgbClr val="FF0000"/>
                </a:solidFill>
                <a:latin typeface="微软雅黑" panose="020B0503020204020204" pitchFamily="34" charset="-122"/>
                <a:ea typeface="微软雅黑" panose="020B0503020204020204" pitchFamily="34" charset="-122"/>
              </a:rPr>
              <a:t>tmpfs</a:t>
            </a:r>
            <a:r>
              <a:rPr lang="zh-CN" altLang="en-US" sz="1400" b="0" dirty="0">
                <a:solidFill>
                  <a:srgbClr val="FF0000"/>
                </a:solidFill>
                <a:latin typeface="微软雅黑" panose="020B0503020204020204" pitchFamily="34" charset="-122"/>
                <a:ea typeface="微软雅黑" panose="020B0503020204020204" pitchFamily="34" charset="-122"/>
              </a:rPr>
              <a:t>、</a:t>
            </a:r>
            <a:r>
              <a:rPr lang="en-US" altLang="zh-CN" sz="1400" b="0" dirty="0" err="1">
                <a:solidFill>
                  <a:srgbClr val="FF0000"/>
                </a:solidFill>
                <a:latin typeface="微软雅黑" panose="020B0503020204020204" pitchFamily="34" charset="-122"/>
                <a:ea typeface="微软雅黑" panose="020B0503020204020204" pitchFamily="34" charset="-122"/>
              </a:rPr>
              <a:t>mnt</a:t>
            </a:r>
            <a:r>
              <a:rPr lang="en-US" altLang="zh-CN" sz="1400" b="0" dirty="0">
                <a:solidFill>
                  <a:srgbClr val="FF0000"/>
                </a:solidFill>
                <a:latin typeface="微软雅黑" panose="020B0503020204020204" pitchFamily="34" charset="-122"/>
                <a:ea typeface="微软雅黑" panose="020B0503020204020204" pitchFamily="34" charset="-122"/>
              </a:rPr>
              <a:t>/vendor</a:t>
            </a:r>
            <a:r>
              <a:rPr lang="zh-CN" altLang="en-US" sz="1400" b="0" dirty="0">
                <a:solidFill>
                  <a:srgbClr val="FF0000"/>
                </a:solidFill>
                <a:latin typeface="微软雅黑" panose="020B0503020204020204" pitchFamily="34" charset="-122"/>
                <a:ea typeface="微软雅黑" panose="020B0503020204020204" pitchFamily="34" charset="-122"/>
              </a:rPr>
              <a:t>、</a:t>
            </a:r>
            <a:r>
              <a:rPr lang="en-US" altLang="zh-CN" sz="1400" b="0" dirty="0" err="1">
                <a:solidFill>
                  <a:srgbClr val="FF0000"/>
                </a:solidFill>
                <a:latin typeface="微软雅黑" panose="020B0503020204020204" pitchFamily="34" charset="-122"/>
                <a:ea typeface="微软雅黑" panose="020B0503020204020204" pitchFamily="34" charset="-122"/>
              </a:rPr>
              <a:t>mnt</a:t>
            </a:r>
            <a:r>
              <a:rPr lang="en-US" altLang="zh-CN" sz="1400" b="0" dirty="0">
                <a:solidFill>
                  <a:srgbClr val="FF0000"/>
                </a:solidFill>
                <a:latin typeface="微软雅黑" panose="020B0503020204020204" pitchFamily="34" charset="-122"/>
                <a:ea typeface="微软雅黑" panose="020B0503020204020204" pitchFamily="34" charset="-122"/>
              </a:rPr>
              <a:t>/product</a:t>
            </a:r>
            <a:r>
              <a:rPr lang="zh-CN" altLang="en-US" sz="1400" b="0" dirty="0">
                <a:solidFill>
                  <a:srgbClr val="FF0000"/>
                </a:solidFill>
                <a:latin typeface="微软雅黑" panose="020B0503020204020204" pitchFamily="34" charset="-122"/>
                <a:ea typeface="微软雅黑" panose="020B0503020204020204" pitchFamily="34" charset="-122"/>
              </a:rPr>
              <a:t>分区。其他的分区在第二阶段通过</a:t>
            </a:r>
            <a:r>
              <a:rPr lang="en-US" altLang="zh-CN" sz="1400" b="0" dirty="0" err="1">
                <a:solidFill>
                  <a:srgbClr val="FF0000"/>
                </a:solidFill>
                <a:latin typeface="微软雅黑" panose="020B0503020204020204" pitchFamily="34" charset="-122"/>
                <a:ea typeface="微软雅黑" panose="020B0503020204020204" pitchFamily="34" charset="-122"/>
              </a:rPr>
              <a:t>rc</a:t>
            </a:r>
            <a:r>
              <a:rPr lang="zh-CN" altLang="en-US" sz="1400" b="0" dirty="0">
                <a:solidFill>
                  <a:srgbClr val="FF0000"/>
                </a:solidFill>
                <a:latin typeface="微软雅黑" panose="020B0503020204020204" pitchFamily="34" charset="-122"/>
                <a:ea typeface="微软雅黑" panose="020B0503020204020204" pitchFamily="34" charset="-122"/>
              </a:rPr>
              <a:t>文件解析来挂载</a:t>
            </a:r>
          </a:p>
          <a:p>
            <a:pPr algn="l"/>
            <a:r>
              <a:rPr lang="zh-CN" altLang="en-US"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005A9E"/>
                </a:solidFill>
                <a:latin typeface="微软雅黑" panose="020B0503020204020204" pitchFamily="34" charset="-122"/>
                <a:ea typeface="微软雅黑" panose="020B0503020204020204" pitchFamily="34" charset="-122"/>
              </a:rPr>
              <a:t>CHECKCALL(mount("</a:t>
            </a:r>
            <a:r>
              <a:rPr lang="en-US" altLang="zh-CN" sz="1400" b="0" dirty="0" err="1">
                <a:solidFill>
                  <a:srgbClr val="005A9E"/>
                </a:solidFill>
                <a:latin typeface="微软雅黑" panose="020B0503020204020204" pitchFamily="34" charset="-122"/>
                <a:ea typeface="微软雅黑" panose="020B0503020204020204" pitchFamily="34" charset="-122"/>
              </a:rPr>
              <a:t>tmpfs</a:t>
            </a:r>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err="1">
                <a:solidFill>
                  <a:srgbClr val="005A9E"/>
                </a:solidFill>
                <a:latin typeface="微软雅黑" panose="020B0503020204020204" pitchFamily="34" charset="-122"/>
                <a:ea typeface="微软雅黑" panose="020B0503020204020204" pitchFamily="34" charset="-122"/>
              </a:rPr>
              <a:t>mnt</a:t>
            </a:r>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err="1">
                <a:solidFill>
                  <a:srgbClr val="005A9E"/>
                </a:solidFill>
                <a:latin typeface="微软雅黑" panose="020B0503020204020204" pitchFamily="34" charset="-122"/>
                <a:ea typeface="微软雅黑" panose="020B0503020204020204" pitchFamily="34" charset="-122"/>
              </a:rPr>
              <a:t>tmpfs</a:t>
            </a:r>
            <a:r>
              <a:rPr lang="en-US" altLang="zh-CN" sz="1400" b="0" dirty="0">
                <a:solidFill>
                  <a:srgbClr val="005A9E"/>
                </a:solidFill>
                <a:latin typeface="微软雅黑" panose="020B0503020204020204" pitchFamily="34" charset="-122"/>
                <a:ea typeface="微软雅黑" panose="020B0503020204020204" pitchFamily="34" charset="-122"/>
              </a:rPr>
              <a:t>", MS_NOEXEC | MS_NOSUID | MS_NODEV,</a:t>
            </a:r>
          </a:p>
          <a:p>
            <a:pPr algn="l"/>
            <a:r>
              <a:rPr lang="en-US" altLang="zh-CN" sz="1400" b="0" dirty="0">
                <a:solidFill>
                  <a:srgbClr val="005A9E"/>
                </a:solidFill>
                <a:latin typeface="微软雅黑" panose="020B0503020204020204" pitchFamily="34" charset="-122"/>
                <a:ea typeface="微软雅黑" panose="020B0503020204020204" pitchFamily="34" charset="-122"/>
              </a:rPr>
              <a:t>                    "mode=0755,uid=0,gid=1000"));</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创建可供读写的</a:t>
            </a:r>
            <a:r>
              <a:rPr lang="en-US" altLang="zh-CN" sz="1400" b="0" dirty="0">
                <a:solidFill>
                  <a:srgbClr val="FF0000"/>
                </a:solidFill>
                <a:latin typeface="微软雅黑" panose="020B0503020204020204" pitchFamily="34" charset="-122"/>
                <a:ea typeface="微软雅黑" panose="020B0503020204020204" pitchFamily="34" charset="-122"/>
              </a:rPr>
              <a:t>vendor</a:t>
            </a:r>
            <a:r>
              <a:rPr lang="zh-CN" altLang="en-US" sz="1400" b="0" dirty="0">
                <a:solidFill>
                  <a:srgbClr val="FF0000"/>
                </a:solidFill>
                <a:latin typeface="微软雅黑" panose="020B0503020204020204" pitchFamily="34" charset="-122"/>
                <a:ea typeface="微软雅黑" panose="020B0503020204020204" pitchFamily="34" charset="-122"/>
              </a:rPr>
              <a:t>目录</a:t>
            </a:r>
          </a:p>
          <a:p>
            <a:pPr algn="l"/>
            <a:r>
              <a:rPr lang="zh-CN" altLang="en-US"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005A9E"/>
                </a:solidFill>
                <a:latin typeface="微软雅黑" panose="020B0503020204020204" pitchFamily="34" charset="-122"/>
                <a:ea typeface="微软雅黑" panose="020B0503020204020204" pitchFamily="34" charset="-122"/>
              </a:rPr>
              <a:t>CHECKCALL(</a:t>
            </a:r>
            <a:r>
              <a:rPr lang="en-US" altLang="zh-CN" sz="1400" b="0" dirty="0" err="1">
                <a:solidFill>
                  <a:srgbClr val="005A9E"/>
                </a:solidFill>
                <a:latin typeface="微软雅黑" panose="020B0503020204020204" pitchFamily="34" charset="-122"/>
                <a:ea typeface="微软雅黑" panose="020B0503020204020204" pitchFamily="34" charset="-122"/>
              </a:rPr>
              <a:t>mkdir</a:t>
            </a:r>
            <a:r>
              <a:rPr lang="en-US" altLang="zh-CN" sz="1400" b="0" dirty="0">
                <a:solidFill>
                  <a:srgbClr val="005A9E"/>
                </a:solidFill>
                <a:latin typeface="微软雅黑" panose="020B0503020204020204" pitchFamily="34" charset="-122"/>
                <a:ea typeface="微软雅黑" panose="020B0503020204020204" pitchFamily="34" charset="-122"/>
              </a:rPr>
              <a:t>("/</a:t>
            </a:r>
            <a:r>
              <a:rPr lang="en-US" altLang="zh-CN" sz="1400" b="0" dirty="0" err="1">
                <a:solidFill>
                  <a:srgbClr val="005A9E"/>
                </a:solidFill>
                <a:latin typeface="微软雅黑" panose="020B0503020204020204" pitchFamily="34" charset="-122"/>
                <a:ea typeface="微软雅黑" panose="020B0503020204020204" pitchFamily="34" charset="-122"/>
              </a:rPr>
              <a:t>mnt</a:t>
            </a:r>
            <a:r>
              <a:rPr lang="en-US" altLang="zh-CN" sz="1400" b="0" dirty="0">
                <a:solidFill>
                  <a:srgbClr val="005A9E"/>
                </a:solidFill>
                <a:latin typeface="微软雅黑" panose="020B0503020204020204" pitchFamily="34" charset="-122"/>
                <a:ea typeface="微软雅黑" panose="020B0503020204020204" pitchFamily="34" charset="-122"/>
              </a:rPr>
              <a:t>/vendor", 0755));</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创建可供读写的</a:t>
            </a:r>
            <a:r>
              <a:rPr lang="en-US" altLang="zh-CN" sz="1400" b="0" dirty="0">
                <a:solidFill>
                  <a:srgbClr val="FF0000"/>
                </a:solidFill>
                <a:latin typeface="微软雅黑" panose="020B0503020204020204" pitchFamily="34" charset="-122"/>
                <a:ea typeface="微软雅黑" panose="020B0503020204020204" pitchFamily="34" charset="-122"/>
              </a:rPr>
              <a:t>product</a:t>
            </a:r>
            <a:r>
              <a:rPr lang="zh-CN" altLang="en-US" sz="1400" b="0" dirty="0">
                <a:solidFill>
                  <a:srgbClr val="FF0000"/>
                </a:solidFill>
                <a:latin typeface="微软雅黑" panose="020B0503020204020204" pitchFamily="34" charset="-122"/>
                <a:ea typeface="微软雅黑" panose="020B0503020204020204" pitchFamily="34" charset="-122"/>
              </a:rPr>
              <a:t>目录</a:t>
            </a:r>
          </a:p>
          <a:p>
            <a:pPr algn="l"/>
            <a:r>
              <a:rPr lang="zh-CN" altLang="en-US"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005A9E"/>
                </a:solidFill>
                <a:latin typeface="微软雅黑" panose="020B0503020204020204" pitchFamily="34" charset="-122"/>
                <a:ea typeface="微软雅黑" panose="020B0503020204020204" pitchFamily="34" charset="-122"/>
              </a:rPr>
              <a:t>CHECKCALL(</a:t>
            </a:r>
            <a:r>
              <a:rPr lang="en-US" altLang="zh-CN" sz="1400" b="0" dirty="0" err="1">
                <a:solidFill>
                  <a:srgbClr val="005A9E"/>
                </a:solidFill>
                <a:latin typeface="微软雅黑" panose="020B0503020204020204" pitchFamily="34" charset="-122"/>
                <a:ea typeface="微软雅黑" panose="020B0503020204020204" pitchFamily="34" charset="-122"/>
              </a:rPr>
              <a:t>mkdir</a:t>
            </a:r>
            <a:r>
              <a:rPr lang="en-US" altLang="zh-CN" sz="1400" b="0" dirty="0">
                <a:solidFill>
                  <a:srgbClr val="005A9E"/>
                </a:solidFill>
                <a:latin typeface="微软雅黑" panose="020B0503020204020204" pitchFamily="34" charset="-122"/>
                <a:ea typeface="微软雅黑" panose="020B0503020204020204" pitchFamily="34" charset="-122"/>
              </a:rPr>
              <a:t>("/</a:t>
            </a:r>
            <a:r>
              <a:rPr lang="en-US" altLang="zh-CN" sz="1400" b="0" dirty="0" err="1">
                <a:solidFill>
                  <a:srgbClr val="005A9E"/>
                </a:solidFill>
                <a:latin typeface="微软雅黑" panose="020B0503020204020204" pitchFamily="34" charset="-122"/>
                <a:ea typeface="微软雅黑" panose="020B0503020204020204" pitchFamily="34" charset="-122"/>
              </a:rPr>
              <a:t>mnt</a:t>
            </a:r>
            <a:r>
              <a:rPr lang="en-US" altLang="zh-CN" sz="1400" b="0" dirty="0">
                <a:solidFill>
                  <a:srgbClr val="005A9E"/>
                </a:solidFill>
                <a:latin typeface="微软雅黑" panose="020B0503020204020204" pitchFamily="34" charset="-122"/>
                <a:ea typeface="微软雅黑" panose="020B0503020204020204" pitchFamily="34" charset="-122"/>
              </a:rPr>
              <a:t>/product", 0755));</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5A9E"/>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在</a:t>
            </a:r>
            <a:r>
              <a:rPr lang="en-US" altLang="zh-CN" sz="1400" b="0" dirty="0">
                <a:solidFill>
                  <a:srgbClr val="FF0000"/>
                </a:solidFill>
                <a:latin typeface="微软雅黑" panose="020B0503020204020204" pitchFamily="34" charset="-122"/>
                <a:ea typeface="微软雅黑" panose="020B0503020204020204" pitchFamily="34" charset="-122"/>
              </a:rPr>
              <a:t>/dev</a:t>
            </a:r>
            <a:r>
              <a:rPr lang="zh-CN" altLang="en-US" sz="1400" b="0" dirty="0">
                <a:solidFill>
                  <a:srgbClr val="FF0000"/>
                </a:solidFill>
                <a:latin typeface="微软雅黑" panose="020B0503020204020204" pitchFamily="34" charset="-122"/>
                <a:ea typeface="微软雅黑" panose="020B0503020204020204" pitchFamily="34" charset="-122"/>
              </a:rPr>
              <a:t>目录下挂载好</a:t>
            </a:r>
            <a:r>
              <a:rPr lang="en-US" altLang="zh-CN" sz="1400" b="0" dirty="0" err="1">
                <a:solidFill>
                  <a:srgbClr val="FF0000"/>
                </a:solidFill>
                <a:latin typeface="微软雅黑" panose="020B0503020204020204" pitchFamily="34" charset="-122"/>
                <a:ea typeface="微软雅黑" panose="020B0503020204020204" pitchFamily="34" charset="-122"/>
              </a:rPr>
              <a:t>tmpfs</a:t>
            </a:r>
            <a:r>
              <a:rPr lang="zh-CN" altLang="en-US" sz="1400" b="0" dirty="0">
                <a:solidFill>
                  <a:srgbClr val="FF0000"/>
                </a:solidFill>
                <a:latin typeface="微软雅黑" panose="020B0503020204020204" pitchFamily="34" charset="-122"/>
                <a:ea typeface="微软雅黑" panose="020B0503020204020204" pitchFamily="34" charset="-122"/>
              </a:rPr>
              <a:t>和</a:t>
            </a:r>
            <a:r>
              <a:rPr lang="en-US" altLang="zh-CN" sz="1400" b="0" dirty="0" err="1">
                <a:solidFill>
                  <a:srgbClr val="FF0000"/>
                </a:solidFill>
                <a:latin typeface="微软雅黑" panose="020B0503020204020204" pitchFamily="34" charset="-122"/>
                <a:ea typeface="微软雅黑" panose="020B0503020204020204" pitchFamily="34" charset="-122"/>
              </a:rPr>
              <a:t>kmsg</a:t>
            </a:r>
            <a:r>
              <a:rPr lang="zh-CN" altLang="en-US" sz="1400" b="0" dirty="0">
                <a:solidFill>
                  <a:srgbClr val="FF0000"/>
                </a:solidFill>
                <a:latin typeface="微软雅黑" panose="020B0503020204020204" pitchFamily="34" charset="-122"/>
                <a:ea typeface="微软雅黑" panose="020B0503020204020204" pitchFamily="34" charset="-122"/>
              </a:rPr>
              <a:t>后，开始初始化</a:t>
            </a:r>
            <a:r>
              <a:rPr lang="en-US" altLang="zh-CN" sz="1400" b="0" dirty="0">
                <a:solidFill>
                  <a:srgbClr val="FF0000"/>
                </a:solidFill>
                <a:latin typeface="微软雅黑" panose="020B0503020204020204" pitchFamily="34" charset="-122"/>
                <a:ea typeface="微软雅黑" panose="020B0503020204020204" pitchFamily="34" charset="-122"/>
              </a:rPr>
              <a:t>kernel</a:t>
            </a:r>
            <a:r>
              <a:rPr lang="zh-CN" altLang="en-US" sz="1400" b="0" dirty="0">
                <a:solidFill>
                  <a:srgbClr val="FF0000"/>
                </a:solidFill>
                <a:latin typeface="微软雅黑" panose="020B0503020204020204" pitchFamily="34" charset="-122"/>
                <a:ea typeface="微软雅黑" panose="020B0503020204020204" pitchFamily="34" charset="-122"/>
              </a:rPr>
              <a:t>日志系统 </a:t>
            </a:r>
          </a:p>
          <a:p>
            <a:pPr algn="l"/>
            <a:r>
              <a:rPr lang="zh-CN" altLang="en-US" sz="1400" b="0" dirty="0">
                <a:solidFill>
                  <a:srgbClr val="005A9E"/>
                </a:solidFill>
                <a:latin typeface="微软雅黑" panose="020B0503020204020204" pitchFamily="34" charset="-122"/>
                <a:ea typeface="微软雅黑" panose="020B0503020204020204" pitchFamily="34" charset="-122"/>
              </a:rPr>
              <a:t>    </a:t>
            </a:r>
            <a:r>
              <a:rPr lang="en-US" altLang="zh-CN" sz="1400" b="0" dirty="0" err="1">
                <a:solidFill>
                  <a:srgbClr val="005A9E"/>
                </a:solidFill>
                <a:latin typeface="微软雅黑" panose="020B0503020204020204" pitchFamily="34" charset="-122"/>
                <a:ea typeface="微软雅黑" panose="020B0503020204020204" pitchFamily="34" charset="-122"/>
              </a:rPr>
              <a:t>InitKernelLogging</a:t>
            </a:r>
            <a:r>
              <a:rPr lang="en-US" altLang="zh-CN" sz="1400" b="0" dirty="0">
                <a:solidFill>
                  <a:srgbClr val="005A9E"/>
                </a:solidFill>
                <a:latin typeface="微软雅黑" panose="020B0503020204020204" pitchFamily="34" charset="-122"/>
                <a:ea typeface="微软雅黑" panose="020B0503020204020204" pitchFamily="34" charset="-122"/>
              </a:rPr>
              <a:t>(</a:t>
            </a:r>
            <a:r>
              <a:rPr lang="en-US" altLang="zh-CN" sz="1400" b="0" dirty="0" err="1">
                <a:solidFill>
                  <a:srgbClr val="005A9E"/>
                </a:solidFill>
                <a:latin typeface="微软雅黑" panose="020B0503020204020204" pitchFamily="34" charset="-122"/>
                <a:ea typeface="微软雅黑" panose="020B0503020204020204" pitchFamily="34" charset="-122"/>
              </a:rPr>
              <a:t>argv</a:t>
            </a:r>
            <a:r>
              <a:rPr lang="en-US" altLang="zh-CN" sz="1400" b="0" dirty="0">
                <a:solidFill>
                  <a:srgbClr val="005A9E"/>
                </a:solidFill>
                <a:latin typeface="微软雅黑" panose="020B0503020204020204" pitchFamily="34" charset="-122"/>
                <a:ea typeface="微软雅黑" panose="020B0503020204020204" pitchFamily="34" charset="-122"/>
              </a:rPr>
              <a:t>);</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在设备树中挂载由</a:t>
            </a:r>
            <a:r>
              <a:rPr lang="en-US" altLang="zh-CN" sz="1400" b="0" dirty="0" err="1">
                <a:solidFill>
                  <a:srgbClr val="FF0000"/>
                </a:solidFill>
                <a:latin typeface="微软雅黑" panose="020B0503020204020204" pitchFamily="34" charset="-122"/>
                <a:ea typeface="微软雅黑" panose="020B0503020204020204" pitchFamily="34" charset="-122"/>
              </a:rPr>
              <a:t>fstab</a:t>
            </a:r>
            <a:r>
              <a:rPr lang="zh-CN" altLang="en-US" sz="1400" b="0" dirty="0">
                <a:solidFill>
                  <a:srgbClr val="FF0000"/>
                </a:solidFill>
                <a:latin typeface="微软雅黑" panose="020B0503020204020204" pitchFamily="34" charset="-122"/>
                <a:ea typeface="微软雅黑" panose="020B0503020204020204" pitchFamily="34" charset="-122"/>
              </a:rPr>
              <a:t>文件指定的分区</a:t>
            </a:r>
          </a:p>
          <a:p>
            <a:pPr algn="l"/>
            <a:r>
              <a:rPr lang="zh-CN" altLang="en-US"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005A9E"/>
                </a:solidFill>
                <a:latin typeface="微软雅黑" panose="020B0503020204020204" pitchFamily="34" charset="-122"/>
                <a:ea typeface="微软雅黑" panose="020B0503020204020204" pitchFamily="34" charset="-122"/>
              </a:rPr>
              <a:t>if (!</a:t>
            </a:r>
            <a:r>
              <a:rPr lang="en-US" altLang="zh-CN" sz="1400" b="0" dirty="0" err="1">
                <a:solidFill>
                  <a:srgbClr val="005A9E"/>
                </a:solidFill>
                <a:latin typeface="微软雅黑" panose="020B0503020204020204" pitchFamily="34" charset="-122"/>
                <a:ea typeface="微软雅黑" panose="020B0503020204020204" pitchFamily="34" charset="-122"/>
              </a:rPr>
              <a:t>DoFirstStageMount</a:t>
            </a:r>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a:solidFill>
                  <a:srgbClr val="005A9E"/>
                </a:solidFill>
                <a:latin typeface="微软雅黑" panose="020B0503020204020204" pitchFamily="34" charset="-122"/>
                <a:ea typeface="微软雅黑" panose="020B0503020204020204" pitchFamily="34" charset="-122"/>
              </a:rPr>
              <a:t>        LOG(FATAL) &lt;&lt; "Failed to mount required partitions early ...";</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启动</a:t>
            </a:r>
            <a:r>
              <a:rPr lang="en-US" altLang="zh-CN" sz="1400" b="0" dirty="0" err="1">
                <a:solidFill>
                  <a:srgbClr val="FF0000"/>
                </a:solidFill>
                <a:latin typeface="微软雅黑" panose="020B0503020204020204" pitchFamily="34" charset="-122"/>
                <a:ea typeface="微软雅黑" panose="020B0503020204020204" pitchFamily="34" charset="-122"/>
              </a:rPr>
              <a:t>init</a:t>
            </a:r>
            <a:r>
              <a:rPr lang="zh-CN" altLang="en-US" sz="1400" b="0" dirty="0">
                <a:solidFill>
                  <a:srgbClr val="FF0000"/>
                </a:solidFill>
                <a:latin typeface="微软雅黑" panose="020B0503020204020204" pitchFamily="34" charset="-122"/>
                <a:ea typeface="微软雅黑" panose="020B0503020204020204" pitchFamily="34" charset="-122"/>
              </a:rPr>
              <a:t>进程，传入参数</a:t>
            </a:r>
            <a:r>
              <a:rPr lang="en-US" altLang="zh-CN" sz="1400" b="0" dirty="0" err="1">
                <a:solidFill>
                  <a:srgbClr val="FF0000"/>
                </a:solidFill>
                <a:latin typeface="微软雅黑" panose="020B0503020204020204" pitchFamily="34" charset="-122"/>
                <a:ea typeface="微软雅黑" panose="020B0503020204020204" pitchFamily="34" charset="-122"/>
              </a:rPr>
              <a:t>selinux_steup</a:t>
            </a:r>
            <a:r>
              <a:rPr lang="zh-CN" altLang="en-US" sz="1400" b="0" dirty="0">
                <a:solidFill>
                  <a:srgbClr val="FF0000"/>
                </a:solidFill>
                <a:latin typeface="微软雅黑" panose="020B0503020204020204" pitchFamily="34" charset="-122"/>
                <a:ea typeface="微软雅黑" panose="020B0503020204020204" pitchFamily="34" charset="-122"/>
              </a:rPr>
              <a:t>，执行命令</a:t>
            </a:r>
            <a:r>
              <a:rPr lang="en-US" altLang="zh-CN" sz="1400" b="0" dirty="0">
                <a:solidFill>
                  <a:srgbClr val="FF0000"/>
                </a:solidFill>
                <a:latin typeface="微软雅黑" panose="020B0503020204020204" pitchFamily="34" charset="-122"/>
                <a:ea typeface="微软雅黑" panose="020B0503020204020204" pitchFamily="34" charset="-122"/>
              </a:rPr>
              <a:t>/system/bin/</a:t>
            </a:r>
            <a:r>
              <a:rPr lang="en-US" altLang="zh-CN" sz="1400" b="0" dirty="0" err="1">
                <a:solidFill>
                  <a:srgbClr val="FF0000"/>
                </a:solidFill>
                <a:latin typeface="微软雅黑" panose="020B0503020204020204" pitchFamily="34" charset="-122"/>
                <a:ea typeface="微软雅黑" panose="020B0503020204020204" pitchFamily="34" charset="-122"/>
              </a:rPr>
              <a:t>init</a:t>
            </a:r>
            <a:r>
              <a:rPr lang="en-US" altLang="zh-CN" sz="1400" b="0" dirty="0">
                <a:solidFill>
                  <a:srgbClr val="FF0000"/>
                </a:solidFill>
                <a:latin typeface="微软雅黑" panose="020B0503020204020204" pitchFamily="34" charset="-122"/>
                <a:ea typeface="微软雅黑" panose="020B0503020204020204" pitchFamily="34" charset="-122"/>
              </a:rPr>
              <a:t> </a:t>
            </a:r>
            <a:r>
              <a:rPr lang="en-US" altLang="zh-CN" sz="1400" b="0" dirty="0" err="1">
                <a:solidFill>
                  <a:srgbClr val="FF0000"/>
                </a:solidFill>
                <a:latin typeface="微软雅黑" panose="020B0503020204020204" pitchFamily="34" charset="-122"/>
                <a:ea typeface="微软雅黑" panose="020B0503020204020204" pitchFamily="34" charset="-122"/>
              </a:rPr>
              <a:t>selinux_setup</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err="1">
                <a:solidFill>
                  <a:srgbClr val="005A9E"/>
                </a:solidFill>
                <a:latin typeface="微软雅黑" panose="020B0503020204020204" pitchFamily="34" charset="-122"/>
                <a:ea typeface="微软雅黑" panose="020B0503020204020204" pitchFamily="34" charset="-122"/>
              </a:rPr>
              <a:t>const</a:t>
            </a:r>
            <a:r>
              <a:rPr lang="en-US" altLang="zh-CN" sz="1400" b="0" dirty="0">
                <a:solidFill>
                  <a:srgbClr val="005A9E"/>
                </a:solidFill>
                <a:latin typeface="微软雅黑" panose="020B0503020204020204" pitchFamily="34" charset="-122"/>
                <a:ea typeface="微软雅黑" panose="020B0503020204020204" pitchFamily="34" charset="-122"/>
              </a:rPr>
              <a:t> char* path = "/system/bin/</a:t>
            </a:r>
            <a:r>
              <a:rPr lang="en-US" altLang="zh-CN" sz="1400" b="0" dirty="0" err="1">
                <a:solidFill>
                  <a:srgbClr val="005A9E"/>
                </a:solidFill>
                <a:latin typeface="微软雅黑" panose="020B0503020204020204" pitchFamily="34" charset="-122"/>
                <a:ea typeface="微软雅黑" panose="020B0503020204020204" pitchFamily="34" charset="-122"/>
              </a:rPr>
              <a:t>init</a:t>
            </a:r>
            <a:r>
              <a:rPr lang="en-US" altLang="zh-CN" sz="1400" b="0" dirty="0">
                <a:solidFill>
                  <a:srgbClr val="005A9E"/>
                </a:solidFill>
                <a:latin typeface="微软雅黑" panose="020B0503020204020204" pitchFamily="34" charset="-122"/>
                <a:ea typeface="微软雅黑" panose="020B0503020204020204" pitchFamily="34" charset="-122"/>
              </a:rPr>
              <a:t>";</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err="1">
                <a:solidFill>
                  <a:srgbClr val="005A9E"/>
                </a:solidFill>
                <a:latin typeface="微软雅黑" panose="020B0503020204020204" pitchFamily="34" charset="-122"/>
                <a:ea typeface="微软雅黑" panose="020B0503020204020204" pitchFamily="34" charset="-122"/>
              </a:rPr>
              <a:t>const</a:t>
            </a:r>
            <a:r>
              <a:rPr lang="en-US" altLang="zh-CN" sz="1400" b="0" dirty="0">
                <a:solidFill>
                  <a:srgbClr val="005A9E"/>
                </a:solidFill>
                <a:latin typeface="微软雅黑" panose="020B0503020204020204" pitchFamily="34" charset="-122"/>
                <a:ea typeface="微软雅黑" panose="020B0503020204020204" pitchFamily="34" charset="-122"/>
              </a:rPr>
              <a:t> char* </a:t>
            </a:r>
            <a:r>
              <a:rPr lang="en-US" altLang="zh-CN" sz="1400" b="0" dirty="0" err="1">
                <a:solidFill>
                  <a:srgbClr val="005A9E"/>
                </a:solidFill>
                <a:latin typeface="微软雅黑" panose="020B0503020204020204" pitchFamily="34" charset="-122"/>
                <a:ea typeface="微软雅黑" panose="020B0503020204020204" pitchFamily="34" charset="-122"/>
              </a:rPr>
              <a:t>args</a:t>
            </a:r>
            <a:r>
              <a:rPr lang="en-US" altLang="zh-CN" sz="1400" b="0" dirty="0">
                <a:solidFill>
                  <a:srgbClr val="005A9E"/>
                </a:solidFill>
                <a:latin typeface="微软雅黑" panose="020B0503020204020204" pitchFamily="34" charset="-122"/>
                <a:ea typeface="微软雅黑" panose="020B0503020204020204" pitchFamily="34" charset="-122"/>
              </a:rPr>
              <a:t>[] = {path, "</a:t>
            </a:r>
            <a:r>
              <a:rPr lang="en-US" altLang="zh-CN" sz="1400" b="0" dirty="0" err="1">
                <a:solidFill>
                  <a:srgbClr val="005A9E"/>
                </a:solidFill>
                <a:latin typeface="微软雅黑" panose="020B0503020204020204" pitchFamily="34" charset="-122"/>
                <a:ea typeface="微软雅黑" panose="020B0503020204020204" pitchFamily="34" charset="-122"/>
              </a:rPr>
              <a:t>selinux_setup</a:t>
            </a:r>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err="1">
                <a:solidFill>
                  <a:srgbClr val="005A9E"/>
                </a:solidFill>
                <a:latin typeface="微软雅黑" panose="020B0503020204020204" pitchFamily="34" charset="-122"/>
                <a:ea typeface="微软雅黑" panose="020B0503020204020204" pitchFamily="34" charset="-122"/>
              </a:rPr>
              <a:t>nullptr</a:t>
            </a:r>
            <a:r>
              <a:rPr lang="en-US" altLang="zh-CN" sz="1400" b="0" dirty="0">
                <a:solidFill>
                  <a:srgbClr val="005A9E"/>
                </a:solidFill>
                <a:latin typeface="微软雅黑" panose="020B0503020204020204" pitchFamily="34" charset="-122"/>
                <a:ea typeface="微软雅黑" panose="020B0503020204020204" pitchFamily="34" charset="-122"/>
              </a:rPr>
              <a:t>};</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err="1">
                <a:solidFill>
                  <a:srgbClr val="005A9E"/>
                </a:solidFill>
                <a:latin typeface="微软雅黑" panose="020B0503020204020204" pitchFamily="34" charset="-122"/>
                <a:ea typeface="微软雅黑" panose="020B0503020204020204" pitchFamily="34" charset="-122"/>
              </a:rPr>
              <a:t>execv</a:t>
            </a:r>
            <a:r>
              <a:rPr lang="en-US" altLang="zh-CN" sz="1400" b="0" dirty="0">
                <a:solidFill>
                  <a:srgbClr val="005A9E"/>
                </a:solidFill>
                <a:latin typeface="微软雅黑" panose="020B0503020204020204" pitchFamily="34" charset="-122"/>
                <a:ea typeface="微软雅黑" panose="020B0503020204020204" pitchFamily="34" charset="-122"/>
              </a:rPr>
              <a:t>(path, </a:t>
            </a:r>
            <a:r>
              <a:rPr lang="en-US" altLang="zh-CN" sz="1400" b="0" dirty="0" err="1">
                <a:solidFill>
                  <a:srgbClr val="005A9E"/>
                </a:solidFill>
                <a:latin typeface="微软雅黑" panose="020B0503020204020204" pitchFamily="34" charset="-122"/>
                <a:ea typeface="微软雅黑" panose="020B0503020204020204" pitchFamily="34" charset="-122"/>
              </a:rPr>
              <a:t>const_cast</a:t>
            </a:r>
            <a:r>
              <a:rPr lang="en-US" altLang="zh-CN" sz="1400" b="0" dirty="0">
                <a:solidFill>
                  <a:srgbClr val="005A9E"/>
                </a:solidFill>
                <a:latin typeface="微软雅黑" panose="020B0503020204020204" pitchFamily="34" charset="-122"/>
                <a:ea typeface="微软雅黑" panose="020B0503020204020204" pitchFamily="34" charset="-122"/>
              </a:rPr>
              <a:t>&lt;char**&gt;(</a:t>
            </a:r>
            <a:r>
              <a:rPr lang="en-US" altLang="zh-CN" sz="1400" b="0" dirty="0" err="1">
                <a:solidFill>
                  <a:srgbClr val="005A9E"/>
                </a:solidFill>
                <a:latin typeface="微软雅黑" panose="020B0503020204020204" pitchFamily="34" charset="-122"/>
                <a:ea typeface="微软雅黑" panose="020B0503020204020204" pitchFamily="34" charset="-122"/>
              </a:rPr>
              <a:t>args</a:t>
            </a:r>
            <a:r>
              <a:rPr lang="en-US" altLang="zh-CN" sz="1400" b="0" dirty="0">
                <a:solidFill>
                  <a:srgbClr val="005A9E"/>
                </a:solidFill>
                <a:latin typeface="微软雅黑" panose="020B0503020204020204" pitchFamily="34" charset="-122"/>
                <a:ea typeface="微软雅黑" panose="020B0503020204020204" pitchFamily="34" charset="-122"/>
              </a:rPr>
              <a:t>));</a:t>
            </a:r>
          </a:p>
          <a:p>
            <a:pPr algn="l"/>
            <a:r>
              <a:rPr lang="en-US" altLang="zh-CN" sz="1400" b="0" dirty="0">
                <a:solidFill>
                  <a:srgbClr val="005A9E"/>
                </a:solidFill>
                <a:latin typeface="微软雅黑" panose="020B0503020204020204" pitchFamily="34" charset="-122"/>
                <a:ea typeface="微软雅黑" panose="020B0503020204020204" pitchFamily="34" charset="-122"/>
              </a:rPr>
              <a:t>    ......</a:t>
            </a:r>
          </a:p>
          <a:p>
            <a:pPr algn="l"/>
            <a:r>
              <a:rPr lang="en-US" altLang="zh-CN" sz="1400" b="0" dirty="0">
                <a:solidFill>
                  <a:srgbClr val="005A9E"/>
                </a:solidFill>
                <a:latin typeface="微软雅黑" panose="020B0503020204020204" pitchFamily="34" charset="-122"/>
                <a:ea typeface="微软雅黑" panose="020B0503020204020204" pitchFamily="34" charset="-122"/>
              </a:rPr>
              <a:t>    return 1;</a:t>
            </a:r>
          </a:p>
          <a:p>
            <a:pPr algn="l"/>
            <a:r>
              <a:rPr lang="en-US" altLang="zh-CN" sz="1400" b="0" dirty="0" smtClean="0">
                <a:solidFill>
                  <a:srgbClr val="005A9E"/>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8862230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4401205"/>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DoFirstStageMount</a:t>
            </a:r>
            <a:r>
              <a:rPr lang="zh-CN" altLang="en-US" sz="1600" b="0" dirty="0" smtClean="0">
                <a:latin typeface="微软雅黑" panose="020B0503020204020204" pitchFamily="34" charset="-122"/>
                <a:ea typeface="微软雅黑" panose="020B0503020204020204" pitchFamily="34" charset="-122"/>
              </a:rPr>
              <a:t>流程解析：</a:t>
            </a:r>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在描述这一部分之前得先提一下动态分区。动态分区是</a:t>
            </a:r>
            <a:r>
              <a:rPr lang="en-US" altLang="zh-CN" sz="1600" b="0" dirty="0">
                <a:latin typeface="微软雅黑" panose="020B0503020204020204" pitchFamily="34" charset="-122"/>
                <a:ea typeface="微软雅黑" panose="020B0503020204020204" pitchFamily="34" charset="-122"/>
              </a:rPr>
              <a:t>Android 10</a:t>
            </a:r>
            <a:r>
              <a:rPr lang="zh-CN" altLang="en-US" sz="1600" b="0" dirty="0">
                <a:latin typeface="微软雅黑" panose="020B0503020204020204" pitchFamily="34" charset="-122"/>
                <a:ea typeface="微软雅黑" panose="020B0503020204020204" pitchFamily="34" charset="-122"/>
              </a:rPr>
              <a:t>以上的新功能，是</a:t>
            </a:r>
            <a:r>
              <a:rPr lang="en-US" altLang="zh-CN" sz="1600" b="0" dirty="0">
                <a:latin typeface="微软雅黑" panose="020B0503020204020204" pitchFamily="34" charset="-122"/>
                <a:ea typeface="微软雅黑" panose="020B0503020204020204" pitchFamily="34" charset="-122"/>
              </a:rPr>
              <a:t>Android</a:t>
            </a:r>
            <a:r>
              <a:rPr lang="zh-CN" altLang="en-US" sz="1600" b="0" dirty="0">
                <a:latin typeface="微软雅黑" panose="020B0503020204020204" pitchFamily="34" charset="-122"/>
                <a:ea typeface="微软雅黑" panose="020B0503020204020204" pitchFamily="34" charset="-122"/>
              </a:rPr>
              <a:t>系统的用户空间分区系统，</a:t>
            </a:r>
            <a:r>
              <a:rPr lang="en-US" altLang="zh-CN" sz="1600" b="0" dirty="0">
                <a:latin typeface="微软雅黑" panose="020B0503020204020204" pitchFamily="34" charset="-122"/>
                <a:ea typeface="微软雅黑" panose="020B0503020204020204" pitchFamily="34" charset="-122"/>
              </a:rPr>
              <a:t>system</a:t>
            </a:r>
            <a:r>
              <a:rPr lang="zh-CN" altLang="en-US"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system_ext</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Android 11.0 </a:t>
            </a:r>
            <a:r>
              <a:rPr lang="zh-CN" altLang="en-US" sz="1600" b="0" dirty="0">
                <a:latin typeface="微软雅黑" panose="020B0503020204020204" pitchFamily="34" charset="-122"/>
                <a:ea typeface="微软雅黑" panose="020B0503020204020204" pitchFamily="34" charset="-122"/>
              </a:rPr>
              <a:t>新增分区）、</a:t>
            </a:r>
            <a:r>
              <a:rPr lang="en-US" altLang="zh-CN" sz="1600" b="0" dirty="0">
                <a:latin typeface="微软雅黑" panose="020B0503020204020204" pitchFamily="34" charset="-122"/>
                <a:ea typeface="微软雅黑" panose="020B0503020204020204" pitchFamily="34" charset="-122"/>
              </a:rPr>
              <a:t>vendor</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product</a:t>
            </a:r>
            <a:r>
              <a:rPr lang="zh-CN" altLang="en-US" sz="1600" b="0" dirty="0">
                <a:latin typeface="微软雅黑" panose="020B0503020204020204" pitchFamily="34" charset="-122"/>
                <a:ea typeface="微软雅黑" panose="020B0503020204020204" pitchFamily="34" charset="-122"/>
              </a:rPr>
              <a:t>等只读分区被打包到</a:t>
            </a:r>
            <a:r>
              <a:rPr lang="en-US" altLang="zh-CN" sz="1600" b="0" dirty="0" err="1">
                <a:latin typeface="微软雅黑" panose="020B0503020204020204" pitchFamily="34" charset="-122"/>
                <a:ea typeface="微软雅黑" panose="020B0503020204020204" pitchFamily="34" charset="-122"/>
              </a:rPr>
              <a:t>super.img</a:t>
            </a:r>
            <a:r>
              <a:rPr lang="zh-CN" altLang="en-US" sz="1600" b="0" dirty="0">
                <a:latin typeface="微软雅黑" panose="020B0503020204020204" pitchFamily="34" charset="-122"/>
                <a:ea typeface="微软雅黑" panose="020B0503020204020204" pitchFamily="34" charset="-122"/>
              </a:rPr>
              <a:t>。在</a:t>
            </a:r>
            <a:r>
              <a:rPr lang="en-US" altLang="zh-CN" sz="1600" b="0" dirty="0" err="1">
                <a:latin typeface="微软雅黑" panose="020B0503020204020204" pitchFamily="34" charset="-122"/>
                <a:ea typeface="微软雅黑" panose="020B0503020204020204" pitchFamily="34" charset="-122"/>
              </a:rPr>
              <a:t>super.img</a:t>
            </a:r>
            <a:r>
              <a:rPr lang="zh-CN" altLang="en-US" sz="1600" b="0" dirty="0">
                <a:latin typeface="微软雅黑" panose="020B0503020204020204" pitchFamily="34" charset="-122"/>
                <a:ea typeface="微软雅黑" panose="020B0503020204020204" pitchFamily="34" charset="-122"/>
              </a:rPr>
              <a:t>的</a:t>
            </a:r>
            <a:r>
              <a:rPr lang="zh-CN" altLang="en-US" sz="1600" b="0" dirty="0" smtClean="0">
                <a:latin typeface="微软雅黑" panose="020B0503020204020204" pitchFamily="34" charset="-122"/>
                <a:ea typeface="微软雅黑" panose="020B0503020204020204" pitchFamily="34" charset="-122"/>
              </a:rPr>
              <a:t>元数据中</a:t>
            </a:r>
            <a:r>
              <a:rPr lang="zh-CN" altLang="en-US" sz="1600" b="0" dirty="0">
                <a:latin typeface="微软雅黑" panose="020B0503020204020204" pitchFamily="34" charset="-122"/>
                <a:ea typeface="微软雅黑" panose="020B0503020204020204" pitchFamily="34" charset="-122"/>
              </a:rPr>
              <a:t>记录着每个动态分区的名称和在</a:t>
            </a:r>
            <a:r>
              <a:rPr lang="en-US" altLang="zh-CN" sz="1600" b="0" dirty="0">
                <a:latin typeface="微软雅黑" panose="020B0503020204020204" pitchFamily="34" charset="-122"/>
                <a:ea typeface="微软雅黑" panose="020B0503020204020204" pitchFamily="34" charset="-122"/>
              </a:rPr>
              <a:t>Super</a:t>
            </a:r>
            <a:r>
              <a:rPr lang="zh-CN" altLang="en-US" sz="1600" b="0" dirty="0">
                <a:latin typeface="微软雅黑" panose="020B0503020204020204" pitchFamily="34" charset="-122"/>
                <a:ea typeface="微软雅黑" panose="020B0503020204020204" pitchFamily="34" charset="-122"/>
              </a:rPr>
              <a:t>分区中的存储范围。</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a:latin typeface="微软雅黑" panose="020B0503020204020204" pitchFamily="34" charset="-122"/>
                <a:ea typeface="微软雅黑" panose="020B0503020204020204" pitchFamily="34" charset="-122"/>
              </a:rPr>
              <a:t>DoFirstStageMount</a:t>
            </a:r>
            <a:r>
              <a:rPr lang="zh-CN" altLang="en-US" sz="1600" b="0" dirty="0">
                <a:latin typeface="微软雅黑" panose="020B0503020204020204" pitchFamily="34" charset="-122"/>
                <a:ea typeface="微软雅黑" panose="020B0503020204020204" pitchFamily="34" charset="-122"/>
              </a:rPr>
              <a:t>会解析和校验</a:t>
            </a:r>
            <a:r>
              <a:rPr lang="en-US" altLang="zh-CN" sz="1600" b="0" dirty="0">
                <a:latin typeface="微软雅黑" panose="020B0503020204020204" pitchFamily="34" charset="-122"/>
                <a:ea typeface="微软雅黑" panose="020B0503020204020204" pitchFamily="34" charset="-122"/>
              </a:rPr>
              <a:t>Super</a:t>
            </a:r>
            <a:r>
              <a:rPr lang="zh-CN" altLang="en-US" sz="1600" b="0" dirty="0">
                <a:latin typeface="微软雅黑" panose="020B0503020204020204" pitchFamily="34" charset="-122"/>
                <a:ea typeface="微软雅黑" panose="020B0503020204020204" pitchFamily="34" charset="-122"/>
              </a:rPr>
              <a:t>分区的元数据，并创建虚拟的块设备对应各个动态分区，从而对</a:t>
            </a:r>
            <a:r>
              <a:rPr lang="en-US" altLang="zh-CN" sz="1600" b="0" dirty="0">
                <a:latin typeface="微软雅黑" panose="020B0503020204020204" pitchFamily="34" charset="-122"/>
                <a:ea typeface="微软雅黑" panose="020B0503020204020204" pitchFamily="34" charset="-122"/>
              </a:rPr>
              <a:t>system/</a:t>
            </a:r>
            <a:r>
              <a:rPr lang="en-US" altLang="zh-CN" sz="1600" b="0" dirty="0" err="1">
                <a:latin typeface="微软雅黑" panose="020B0503020204020204" pitchFamily="34" charset="-122"/>
                <a:ea typeface="微软雅黑" panose="020B0503020204020204" pitchFamily="34" charset="-122"/>
              </a:rPr>
              <a:t>system_ext</a:t>
            </a:r>
            <a:r>
              <a:rPr lang="en-US" altLang="zh-CN" sz="1600" b="0" dirty="0">
                <a:latin typeface="微软雅黑" panose="020B0503020204020204" pitchFamily="34" charset="-122"/>
                <a:ea typeface="微软雅黑" panose="020B0503020204020204" pitchFamily="34" charset="-122"/>
              </a:rPr>
              <a:t>/vendor/product</a:t>
            </a:r>
            <a:r>
              <a:rPr lang="zh-CN" altLang="en-US" sz="1600" b="0" dirty="0">
                <a:latin typeface="微软雅黑" panose="020B0503020204020204" pitchFamily="34" charset="-122"/>
                <a:ea typeface="微软雅黑" panose="020B0503020204020204" pitchFamily="34" charset="-122"/>
              </a:rPr>
              <a:t>等分区进行挂载。</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bool </a:t>
            </a:r>
            <a:r>
              <a:rPr lang="en-US" altLang="zh-CN" sz="1400" b="0" dirty="0" err="1">
                <a:solidFill>
                  <a:srgbClr val="0070C0"/>
                </a:solidFill>
                <a:latin typeface="微软雅黑" panose="020B0503020204020204" pitchFamily="34" charset="-122"/>
                <a:ea typeface="微软雅黑" panose="020B0503020204020204" pitchFamily="34" charset="-122"/>
              </a:rPr>
              <a:t>FirstStageMount</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DoFirstStageMount</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判断</a:t>
            </a:r>
            <a:r>
              <a:rPr lang="en-US" altLang="zh-CN" sz="1400" b="0" dirty="0" err="1">
                <a:solidFill>
                  <a:srgbClr val="FF0000"/>
                </a:solidFill>
                <a:latin typeface="微软雅黑" panose="020B0503020204020204" pitchFamily="34" charset="-122"/>
                <a:ea typeface="微软雅黑" panose="020B0503020204020204" pitchFamily="34" charset="-122"/>
              </a:rPr>
              <a:t>fstab</a:t>
            </a:r>
            <a:r>
              <a:rPr lang="zh-CN" altLang="en-US" sz="1400" b="0" dirty="0">
                <a:solidFill>
                  <a:srgbClr val="FF0000"/>
                </a:solidFill>
                <a:latin typeface="微软雅黑" panose="020B0503020204020204" pitchFamily="34" charset="-122"/>
                <a:ea typeface="微软雅黑" panose="020B0503020204020204" pitchFamily="34" charset="-122"/>
              </a:rPr>
              <a:t>中是否有</a:t>
            </a:r>
            <a:r>
              <a:rPr lang="en-US" altLang="zh-CN" sz="1400" b="0" dirty="0">
                <a:solidFill>
                  <a:srgbClr val="FF0000"/>
                </a:solidFill>
                <a:latin typeface="微软雅黑" panose="020B0503020204020204" pitchFamily="34" charset="-122"/>
                <a:ea typeface="微软雅黑" panose="020B0503020204020204" pitchFamily="34" charset="-122"/>
              </a:rPr>
              <a:t>logical</a:t>
            </a:r>
            <a:r>
              <a:rPr lang="zh-CN" altLang="en-US" sz="1400" b="0" dirty="0">
                <a:solidFill>
                  <a:srgbClr val="FF0000"/>
                </a:solidFill>
                <a:latin typeface="微软雅黑" panose="020B0503020204020204" pitchFamily="34" charset="-122"/>
                <a:ea typeface="微软雅黑" panose="020B0503020204020204" pitchFamily="34" charset="-122"/>
              </a:rPr>
              <a:t>标志，若无则返回</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if (!</a:t>
            </a:r>
            <a:r>
              <a:rPr lang="en-US" altLang="zh-CN" sz="1400" b="0" dirty="0" err="1">
                <a:solidFill>
                  <a:srgbClr val="0070C0"/>
                </a:solidFill>
                <a:latin typeface="微软雅黑" panose="020B0503020204020204" pitchFamily="34" charset="-122"/>
                <a:ea typeface="微软雅黑" panose="020B0503020204020204" pitchFamily="34" charset="-122"/>
              </a:rPr>
              <a:t>IsDmLinearEnabled</a:t>
            </a:r>
            <a:r>
              <a:rPr lang="en-US" altLang="zh-CN" sz="1400" b="0" dirty="0">
                <a:solidFill>
                  <a:srgbClr val="0070C0"/>
                </a:solidFill>
                <a:latin typeface="微软雅黑" panose="020B0503020204020204" pitchFamily="34" charset="-122"/>
                <a:ea typeface="微软雅黑" panose="020B0503020204020204" pitchFamily="34" charset="-122"/>
              </a:rPr>
              <a:t>() &amp;&amp; </a:t>
            </a:r>
            <a:r>
              <a:rPr lang="en-US" altLang="zh-CN" sz="1400" b="0" dirty="0" err="1">
                <a:solidFill>
                  <a:srgbClr val="0070C0"/>
                </a:solidFill>
                <a:latin typeface="微软雅黑" panose="020B0503020204020204" pitchFamily="34" charset="-122"/>
                <a:ea typeface="微软雅黑" panose="020B0503020204020204" pitchFamily="34" charset="-122"/>
              </a:rPr>
              <a:t>fstab</a:t>
            </a:r>
            <a:r>
              <a:rPr lang="en-US" altLang="zh-CN" sz="1400" b="0" dirty="0">
                <a:solidFill>
                  <a:srgbClr val="0070C0"/>
                </a:solidFill>
                <a:latin typeface="微软雅黑" panose="020B0503020204020204" pitchFamily="34" charset="-122"/>
                <a:ea typeface="微软雅黑" panose="020B0503020204020204" pitchFamily="34" charset="-122"/>
              </a:rPr>
              <a:t>_.empty()) {</a:t>
            </a:r>
          </a:p>
          <a:p>
            <a:pPr algn="l"/>
            <a:r>
              <a:rPr lang="en-US" altLang="zh-CN" sz="1400" b="0" dirty="0">
                <a:solidFill>
                  <a:srgbClr val="0070C0"/>
                </a:solidFill>
                <a:latin typeface="微软雅黑" panose="020B0503020204020204" pitchFamily="34" charset="-122"/>
                <a:ea typeface="微软雅黑" panose="020B0503020204020204" pitchFamily="34" charset="-122"/>
              </a:rPr>
              <a:t>        // Nothing to mount.</a:t>
            </a:r>
          </a:p>
          <a:p>
            <a:pPr algn="l"/>
            <a:r>
              <a:rPr lang="en-US" altLang="zh-CN" sz="1400" b="0" dirty="0">
                <a:solidFill>
                  <a:srgbClr val="0070C0"/>
                </a:solidFill>
                <a:latin typeface="微软雅黑" panose="020B0503020204020204" pitchFamily="34" charset="-122"/>
                <a:ea typeface="微软雅黑" panose="020B0503020204020204" pitchFamily="34" charset="-122"/>
              </a:rPr>
              <a:t>        LOG(INFO) &lt;&lt; "First stage mount skipped (missing/incompatible/empty </a:t>
            </a:r>
            <a:r>
              <a:rPr lang="en-US" altLang="zh-CN" sz="1400" b="0" dirty="0" err="1">
                <a:solidFill>
                  <a:srgbClr val="0070C0"/>
                </a:solidFill>
                <a:latin typeface="微软雅黑" panose="020B0503020204020204" pitchFamily="34" charset="-122"/>
                <a:ea typeface="微软雅黑" panose="020B0503020204020204" pitchFamily="34" charset="-122"/>
              </a:rPr>
              <a:t>fstab</a:t>
            </a:r>
            <a:r>
              <a:rPr lang="en-US" altLang="zh-CN" sz="1400" b="0" dirty="0">
                <a:solidFill>
                  <a:srgbClr val="0070C0"/>
                </a:solidFill>
                <a:latin typeface="微软雅黑" panose="020B0503020204020204" pitchFamily="34" charset="-122"/>
                <a:ea typeface="微软雅黑" panose="020B0503020204020204" pitchFamily="34" charset="-122"/>
              </a:rPr>
              <a:t> in device tree)";</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true;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InitDevices</a:t>
            </a:r>
            <a:r>
              <a:rPr lang="en-US" altLang="zh-CN" sz="1400" b="0" dirty="0">
                <a:solidFill>
                  <a:srgbClr val="0070C0"/>
                </a:solidFill>
                <a:latin typeface="微软雅黑" panose="020B0503020204020204" pitchFamily="34" charset="-122"/>
                <a:ea typeface="微软雅黑" panose="020B0503020204020204" pitchFamily="34" charset="-122"/>
              </a:rPr>
              <a:t>()) return false;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挂载</a:t>
            </a:r>
            <a:r>
              <a:rPr lang="en-US" altLang="zh-CN" sz="1400" b="0" dirty="0">
                <a:solidFill>
                  <a:srgbClr val="FF0000"/>
                </a:solidFill>
                <a:latin typeface="微软雅黑" panose="020B0503020204020204" pitchFamily="34" charset="-122"/>
                <a:ea typeface="微软雅黑" panose="020B0503020204020204" pitchFamily="34" charset="-122"/>
              </a:rPr>
              <a:t>system</a:t>
            </a:r>
            <a:r>
              <a:rPr lang="zh-CN" altLang="en-US" sz="1400" b="0" dirty="0">
                <a:solidFill>
                  <a:srgbClr val="FF0000"/>
                </a:solidFill>
                <a:latin typeface="微软雅黑" panose="020B0503020204020204" pitchFamily="34" charset="-122"/>
                <a:ea typeface="微软雅黑" panose="020B0503020204020204" pitchFamily="34" charset="-122"/>
              </a:rPr>
              <a:t>并切换为</a:t>
            </a:r>
            <a:r>
              <a:rPr lang="en-US" altLang="zh-CN" sz="1400" b="0" dirty="0">
                <a:solidFill>
                  <a:srgbClr val="FF0000"/>
                </a:solidFill>
                <a:latin typeface="微软雅黑" panose="020B0503020204020204" pitchFamily="34" charset="-122"/>
                <a:ea typeface="微软雅黑" panose="020B0503020204020204" pitchFamily="34" charset="-122"/>
              </a:rPr>
              <a:t>root</a:t>
            </a:r>
            <a:r>
              <a:rPr lang="zh-CN" altLang="en-US" sz="1400" b="0" dirty="0">
                <a:solidFill>
                  <a:srgbClr val="FF0000"/>
                </a:solidFill>
                <a:latin typeface="微软雅黑" panose="020B0503020204020204" pitchFamily="34" charset="-122"/>
                <a:ea typeface="微软雅黑" panose="020B0503020204020204" pitchFamily="34" charset="-122"/>
              </a:rPr>
              <a:t>、</a:t>
            </a:r>
            <a:r>
              <a:rPr lang="en-US" altLang="zh-CN" sz="1400" b="0" dirty="0">
                <a:solidFill>
                  <a:srgbClr val="FF0000"/>
                </a:solidFill>
                <a:latin typeface="微软雅黑" panose="020B0503020204020204" pitchFamily="34" charset="-122"/>
                <a:ea typeface="微软雅黑" panose="020B0503020204020204" pitchFamily="34" charset="-122"/>
              </a:rPr>
              <a:t>vendor</a:t>
            </a:r>
            <a:r>
              <a:rPr lang="zh-CN" altLang="en-US" sz="1400" b="0" dirty="0">
                <a:solidFill>
                  <a:srgbClr val="FF0000"/>
                </a:solidFill>
                <a:latin typeface="微软雅黑" panose="020B0503020204020204" pitchFamily="34" charset="-122"/>
                <a:ea typeface="微软雅黑" panose="020B0503020204020204" pitchFamily="34" charset="-122"/>
              </a:rPr>
              <a:t>、</a:t>
            </a:r>
            <a:r>
              <a:rPr lang="en-US" altLang="zh-CN" sz="1400" b="0" dirty="0">
                <a:solidFill>
                  <a:srgbClr val="FF0000"/>
                </a:solidFill>
                <a:latin typeface="微软雅黑" panose="020B0503020204020204" pitchFamily="34" charset="-122"/>
                <a:ea typeface="微软雅黑" panose="020B0503020204020204" pitchFamily="34" charset="-122"/>
              </a:rPr>
              <a:t>product</a:t>
            </a:r>
            <a:r>
              <a:rPr lang="zh-CN" altLang="en-US" sz="1400" b="0" dirty="0">
                <a:solidFill>
                  <a:srgbClr val="FF0000"/>
                </a:solidFill>
                <a:latin typeface="微软雅黑" panose="020B0503020204020204" pitchFamily="34" charset="-122"/>
                <a:ea typeface="微软雅黑" panose="020B0503020204020204" pitchFamily="34" charset="-122"/>
              </a:rPr>
              <a:t>、</a:t>
            </a:r>
            <a:r>
              <a:rPr lang="en-US" altLang="zh-CN" sz="1400" b="0" dirty="0" err="1">
                <a:solidFill>
                  <a:srgbClr val="FF0000"/>
                </a:solidFill>
                <a:latin typeface="微软雅黑" panose="020B0503020204020204" pitchFamily="34" charset="-122"/>
                <a:ea typeface="微软雅黑" panose="020B0503020204020204" pitchFamily="34" charset="-122"/>
              </a:rPr>
              <a:t>overlayfs</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MountPartitions</a:t>
            </a:r>
            <a:r>
              <a:rPr lang="en-US" altLang="zh-CN" sz="1400" b="0" dirty="0">
                <a:solidFill>
                  <a:srgbClr val="0070C0"/>
                </a:solidFill>
                <a:latin typeface="微软雅黑" panose="020B0503020204020204" pitchFamily="34" charset="-122"/>
                <a:ea typeface="微软雅黑" panose="020B0503020204020204" pitchFamily="34" charset="-122"/>
              </a:rPr>
              <a:t>()) return false;</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true;</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3504134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pic>
        <p:nvPicPr>
          <p:cNvPr id="7" name="图片 6"/>
          <p:cNvPicPr>
            <a:picLocks noChangeAspect="1"/>
          </p:cNvPicPr>
          <p:nvPr/>
        </p:nvPicPr>
        <p:blipFill>
          <a:blip r:embed="rId2"/>
          <a:stretch>
            <a:fillRect/>
          </a:stretch>
        </p:blipFill>
        <p:spPr>
          <a:xfrm>
            <a:off x="0" y="1232544"/>
            <a:ext cx="9144000" cy="5292800"/>
          </a:xfrm>
          <a:prstGeom prst="rect">
            <a:avLst/>
          </a:prstGeom>
        </p:spPr>
      </p:pic>
      <p:sp>
        <p:nvSpPr>
          <p:cNvPr id="8" name="文本框 7"/>
          <p:cNvSpPr txBox="1"/>
          <p:nvPr/>
        </p:nvSpPr>
        <p:spPr>
          <a:xfrm>
            <a:off x="187323" y="836712"/>
            <a:ext cx="8784976" cy="338554"/>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DoFirstStageMount</a:t>
            </a:r>
            <a:r>
              <a:rPr lang="zh-CN" altLang="en-US" sz="1600" b="0" dirty="0" smtClean="0">
                <a:latin typeface="微软雅黑" panose="020B0503020204020204" pitchFamily="34" charset="-122"/>
                <a:ea typeface="微软雅黑" panose="020B0503020204020204" pitchFamily="34" charset="-122"/>
              </a:rPr>
              <a:t>执行流程大致如下：</a:t>
            </a:r>
            <a:endParaRPr lang="en-US" altLang="zh-CN"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071916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509200"/>
          </a:xfrm>
          <a:prstGeom prst="rect">
            <a:avLst/>
          </a:prstGeom>
          <a:noFill/>
        </p:spPr>
        <p:txBody>
          <a:bodyPr wrap="square" rtlCol="0">
            <a:spAutoFit/>
          </a:bodyPr>
          <a:lstStyle/>
          <a:p>
            <a:pPr algn="l"/>
            <a:r>
              <a:rPr lang="zh-CN" altLang="en-US" sz="1600" b="0" dirty="0">
                <a:latin typeface="微软雅黑" panose="020B0503020204020204" pitchFamily="34" charset="-122"/>
                <a:ea typeface="微软雅黑" panose="020B0503020204020204" pitchFamily="34" charset="-122"/>
              </a:rPr>
              <a:t>文件系统挂载是需要挂载信息的，而这个信息通常保存在 </a:t>
            </a:r>
            <a:r>
              <a:rPr lang="en-US" altLang="zh-CN" sz="1600" b="0" dirty="0" err="1">
                <a:latin typeface="微软雅黑" panose="020B0503020204020204" pitchFamily="34" charset="-122"/>
                <a:ea typeface="微软雅黑" panose="020B0503020204020204" pitchFamily="34" charset="-122"/>
              </a:rPr>
              <a:t>fstab</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文件中：</a:t>
            </a:r>
            <a:r>
              <a:rPr lang="en-US" altLang="zh-CN" sz="1600" b="0" dirty="0" err="1">
                <a:latin typeface="微软雅黑" panose="020B0503020204020204" pitchFamily="34" charset="-122"/>
                <a:ea typeface="微软雅黑" panose="020B0503020204020204" pitchFamily="34" charset="-122"/>
              </a:rPr>
              <a:t>fstab</a:t>
            </a:r>
            <a:r>
              <a:rPr lang="en-US" altLang="zh-CN" sz="1600" b="0" dirty="0">
                <a:latin typeface="微软雅黑" panose="020B0503020204020204" pitchFamily="34" charset="-122"/>
                <a:ea typeface="微软雅黑" panose="020B0503020204020204" pitchFamily="34" charset="-122"/>
              </a:rPr>
              <a:t>.$(TARGET_BOARD</a:t>
            </a:r>
            <a:r>
              <a:rPr lang="en-US" altLang="zh-CN" sz="1600" b="0" dirty="0" smtClean="0">
                <a:latin typeface="微软雅黑" panose="020B0503020204020204" pitchFamily="34" charset="-122"/>
                <a:ea typeface="微软雅黑" panose="020B0503020204020204" pitchFamily="34" charset="-122"/>
              </a:rPr>
              <a:t>)</a:t>
            </a:r>
          </a:p>
          <a:p>
            <a:pPr algn="l"/>
            <a:r>
              <a:rPr lang="zh-CN" altLang="en-US" sz="1600" b="0" dirty="0" smtClean="0">
                <a:latin typeface="微软雅黑" panose="020B0503020204020204" pitchFamily="34" charset="-122"/>
                <a:ea typeface="微软雅黑" panose="020B0503020204020204" pitchFamily="34" charset="-122"/>
              </a:rPr>
              <a:t>挂载表实例如下：</a:t>
            </a:r>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需</a:t>
            </a:r>
            <a:r>
              <a:rPr lang="zh-CN" altLang="en-US" sz="1600" b="0" dirty="0">
                <a:latin typeface="微软雅黑" panose="020B0503020204020204" pitchFamily="34" charset="-122"/>
                <a:ea typeface="微软雅黑" panose="020B0503020204020204" pitchFamily="34" charset="-122"/>
              </a:rPr>
              <a:t>注意的是，必须</a:t>
            </a:r>
            <a:r>
              <a:rPr lang="zh-CN" altLang="en-US" sz="1600" b="0" dirty="0" smtClean="0">
                <a:latin typeface="微软雅黑" panose="020B0503020204020204" pitchFamily="34" charset="-122"/>
                <a:ea typeface="微软雅黑" panose="020B0503020204020204" pitchFamily="34" charset="-122"/>
              </a:rPr>
              <a:t>包含</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avb</a:t>
            </a:r>
            <a:r>
              <a:rPr lang="en-US" altLang="zh-CN" sz="1600" b="0" dirty="0">
                <a:latin typeface="微软雅黑" panose="020B0503020204020204" pitchFamily="34" charset="-122"/>
                <a:ea typeface="微软雅黑" panose="020B0503020204020204" pitchFamily="34" charset="-122"/>
              </a:rPr>
              <a:t>=xxx, </a:t>
            </a:r>
            <a:r>
              <a:rPr lang="en-US" altLang="zh-CN" sz="1600" b="0" dirty="0" err="1">
                <a:latin typeface="微软雅黑" panose="020B0503020204020204" pitchFamily="34" charset="-122"/>
                <a:ea typeface="微软雅黑" panose="020B0503020204020204" pitchFamily="34" charset="-122"/>
              </a:rPr>
              <a:t>logical,first_stage_mount</a:t>
            </a:r>
            <a:r>
              <a:rPr lang="en-US" altLang="zh-CN" sz="1600" b="0" dirty="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这样</a:t>
            </a:r>
            <a:r>
              <a:rPr lang="zh-CN" altLang="en-US" sz="1600" b="0" dirty="0">
                <a:latin typeface="微软雅黑" panose="020B0503020204020204" pitchFamily="34" charset="-122"/>
                <a:ea typeface="微软雅黑" panose="020B0503020204020204" pitchFamily="34" charset="-122"/>
              </a:rPr>
              <a:t>配置才可以在 </a:t>
            </a:r>
            <a:r>
              <a:rPr lang="en-US" altLang="zh-CN" sz="1600" b="0" dirty="0" err="1">
                <a:latin typeface="微软雅黑" panose="020B0503020204020204" pitchFamily="34" charset="-122"/>
                <a:ea typeface="微软雅黑" panose="020B0503020204020204" pitchFamily="34" charset="-122"/>
              </a:rPr>
              <a:t>first_stage</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进行挂载</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3957327353"/>
              </p:ext>
            </p:extLst>
          </p:nvPr>
        </p:nvGraphicFramePr>
        <p:xfrm>
          <a:off x="250364" y="1628800"/>
          <a:ext cx="8642115" cy="4124960"/>
        </p:xfrm>
        <a:graphic>
          <a:graphicData uri="http://schemas.openxmlformats.org/drawingml/2006/table">
            <a:tbl>
              <a:tblPr firstRow="1" bandRow="1">
                <a:tableStyleId>{5C22544A-7EE6-4342-B048-85BDC9FD1C3A}</a:tableStyleId>
              </a:tblPr>
              <a:tblGrid>
                <a:gridCol w="1801356"/>
                <a:gridCol w="1008112"/>
                <a:gridCol w="648072"/>
                <a:gridCol w="2088232"/>
                <a:gridCol w="3096343"/>
              </a:tblGrid>
              <a:tr h="370840">
                <a:tc>
                  <a:txBody>
                    <a:bodyPr/>
                    <a:lstStyle/>
                    <a:p>
                      <a:r>
                        <a:rPr lang="en-US" altLang="zh-CN" sz="1600" dirty="0" smtClean="0">
                          <a:solidFill>
                            <a:schemeClr val="tx1"/>
                          </a:solidFill>
                        </a:rPr>
                        <a:t>&lt;</a:t>
                      </a:r>
                      <a:r>
                        <a:rPr lang="en-US" altLang="zh-CN" sz="1600" dirty="0" err="1" smtClean="0">
                          <a:solidFill>
                            <a:schemeClr val="tx1"/>
                          </a:solidFill>
                        </a:rPr>
                        <a:t>src</a:t>
                      </a:r>
                      <a:r>
                        <a:rPr lang="en-US" altLang="zh-CN" sz="1600" dirty="0" smtClean="0">
                          <a:solidFill>
                            <a:schemeClr val="tx1"/>
                          </a:solidFill>
                        </a:rPr>
                        <a:t>&gt;</a:t>
                      </a:r>
                      <a:endParaRPr lang="zh-CN" altLang="en-US" sz="1600" dirty="0">
                        <a:solidFill>
                          <a:schemeClr val="tx1"/>
                        </a:solidFill>
                      </a:endParaRPr>
                    </a:p>
                  </a:txBody>
                  <a:tcPr/>
                </a:tc>
                <a:tc>
                  <a:txBody>
                    <a:bodyPr/>
                    <a:lstStyle/>
                    <a:p>
                      <a:r>
                        <a:rPr lang="en-US" altLang="zh-CN" sz="1600" dirty="0" smtClean="0">
                          <a:solidFill>
                            <a:schemeClr val="tx1"/>
                          </a:solidFill>
                        </a:rPr>
                        <a:t>&lt;</a:t>
                      </a:r>
                      <a:r>
                        <a:rPr lang="en-US" altLang="zh-CN" sz="1600" dirty="0" err="1" smtClean="0">
                          <a:solidFill>
                            <a:schemeClr val="tx1"/>
                          </a:solidFill>
                        </a:rPr>
                        <a:t>mnt_point</a:t>
                      </a:r>
                      <a:r>
                        <a:rPr lang="en-US" altLang="zh-CN" sz="1600" dirty="0" smtClean="0">
                          <a:solidFill>
                            <a:schemeClr val="tx1"/>
                          </a:solidFill>
                        </a:rPr>
                        <a:t>&gt;</a:t>
                      </a:r>
                      <a:endParaRPr lang="zh-CN" altLang="en-US" sz="1600" dirty="0">
                        <a:solidFill>
                          <a:schemeClr val="tx1"/>
                        </a:solidFill>
                      </a:endParaRPr>
                    </a:p>
                  </a:txBody>
                  <a:tcPr/>
                </a:tc>
                <a:tc>
                  <a:txBody>
                    <a:bodyPr/>
                    <a:lstStyle/>
                    <a:p>
                      <a:r>
                        <a:rPr lang="en-US" altLang="zh-CN" sz="1600" dirty="0" smtClean="0">
                          <a:solidFill>
                            <a:schemeClr val="tx1"/>
                          </a:solidFill>
                        </a:rPr>
                        <a:t>&lt;type&gt;</a:t>
                      </a:r>
                      <a:endParaRPr lang="zh-CN" altLang="en-US" sz="1600" dirty="0">
                        <a:solidFill>
                          <a:schemeClr val="tx1"/>
                        </a:solidFill>
                      </a:endParaRPr>
                    </a:p>
                  </a:txBody>
                  <a:tcPr/>
                </a:tc>
                <a:tc>
                  <a:txBody>
                    <a:bodyPr/>
                    <a:lstStyle/>
                    <a:p>
                      <a:r>
                        <a:rPr lang="en-US" altLang="zh-CN" sz="1600" dirty="0" smtClean="0">
                          <a:solidFill>
                            <a:schemeClr val="tx1"/>
                          </a:solidFill>
                        </a:rPr>
                        <a:t>&lt;</a:t>
                      </a:r>
                      <a:r>
                        <a:rPr lang="en-US" altLang="zh-CN" sz="1600" dirty="0" err="1" smtClean="0">
                          <a:solidFill>
                            <a:schemeClr val="tx1"/>
                          </a:solidFill>
                        </a:rPr>
                        <a:t>mnt_flags</a:t>
                      </a:r>
                      <a:r>
                        <a:rPr lang="en-US" altLang="zh-CN" sz="1600" dirty="0" smtClean="0">
                          <a:solidFill>
                            <a:schemeClr val="tx1"/>
                          </a:solidFill>
                        </a:rPr>
                        <a:t> and options&gt;</a:t>
                      </a:r>
                      <a:endParaRPr lang="zh-CN" altLang="en-US" sz="1600" dirty="0">
                        <a:solidFill>
                          <a:schemeClr val="tx1"/>
                        </a:solidFill>
                      </a:endParaRPr>
                    </a:p>
                  </a:txBody>
                  <a:tcPr/>
                </a:tc>
                <a:tc>
                  <a:txBody>
                    <a:bodyPr/>
                    <a:lstStyle/>
                    <a:p>
                      <a:r>
                        <a:rPr lang="en-US" altLang="zh-CN" sz="1600" dirty="0" smtClean="0">
                          <a:solidFill>
                            <a:schemeClr val="tx1"/>
                          </a:solidFill>
                        </a:rPr>
                        <a:t>&lt;</a:t>
                      </a:r>
                      <a:r>
                        <a:rPr lang="en-US" altLang="zh-CN" sz="1600" dirty="0" err="1" smtClean="0">
                          <a:solidFill>
                            <a:schemeClr val="tx1"/>
                          </a:solidFill>
                        </a:rPr>
                        <a:t>fs_mgr_flags</a:t>
                      </a:r>
                      <a:r>
                        <a:rPr lang="en-US" altLang="zh-CN" sz="1600" dirty="0" smtClean="0">
                          <a:solidFill>
                            <a:schemeClr val="tx1"/>
                          </a:solidFill>
                        </a:rPr>
                        <a:t>&gt;</a:t>
                      </a:r>
                      <a:endParaRPr lang="zh-CN" altLang="en-US" sz="1600" dirty="0">
                        <a:solidFill>
                          <a:schemeClr val="tx1"/>
                        </a:solidFill>
                      </a:endParaRPr>
                    </a:p>
                  </a:txBody>
                  <a:tcPr/>
                </a:tc>
              </a:tr>
              <a:tr h="370840">
                <a:tc>
                  <a:txBody>
                    <a:bodyPr/>
                    <a:lstStyle/>
                    <a:p>
                      <a:r>
                        <a:rPr lang="en-US" altLang="zh-CN" sz="1400" dirty="0" smtClean="0"/>
                        <a:t>system</a:t>
                      </a:r>
                      <a:endParaRPr lang="zh-CN" altLang="en-US" sz="1400" dirty="0"/>
                    </a:p>
                  </a:txBody>
                  <a:tcPr/>
                </a:tc>
                <a:tc>
                  <a:txBody>
                    <a:bodyPr/>
                    <a:lstStyle/>
                    <a:p>
                      <a:r>
                        <a:rPr lang="en-US" altLang="zh-CN" sz="1400" dirty="0" smtClean="0"/>
                        <a:t>/system</a:t>
                      </a:r>
                      <a:endParaRPr lang="zh-CN" altLang="en-US" sz="1400" dirty="0"/>
                    </a:p>
                  </a:txBody>
                  <a:tcPr/>
                </a:tc>
                <a:tc>
                  <a:txBody>
                    <a:bodyPr/>
                    <a:lstStyle/>
                    <a:p>
                      <a:r>
                        <a:rPr lang="en-US" altLang="zh-CN" sz="1400" dirty="0" smtClean="0"/>
                        <a:t>ext4</a:t>
                      </a:r>
                      <a:endParaRPr lang="zh-CN" altLang="en-US" sz="1400" dirty="0"/>
                    </a:p>
                  </a:txBody>
                  <a:tcPr/>
                </a:tc>
                <a:tc>
                  <a:txBody>
                    <a:bodyPr/>
                    <a:lstStyle/>
                    <a:p>
                      <a:r>
                        <a:rPr lang="en-US" altLang="zh-CN" sz="1400" dirty="0" err="1" smtClean="0"/>
                        <a:t>ro,barrier</a:t>
                      </a:r>
                      <a:r>
                        <a:rPr lang="en-US" altLang="zh-CN" sz="1400" dirty="0" smtClean="0"/>
                        <a:t>=1,discard</a:t>
                      </a:r>
                      <a:endParaRPr lang="zh-CN" altLang="en-US" sz="1400" dirty="0"/>
                    </a:p>
                  </a:txBody>
                  <a:tcPr/>
                </a:tc>
                <a:tc>
                  <a:txBody>
                    <a:bodyPr/>
                    <a:lstStyle/>
                    <a:p>
                      <a:r>
                        <a:rPr lang="en-US" altLang="zh-CN" sz="1400" dirty="0" err="1" smtClean="0"/>
                        <a:t>wait,avb</a:t>
                      </a:r>
                      <a:r>
                        <a:rPr lang="en-US" altLang="zh-CN" sz="1400" dirty="0" smtClean="0"/>
                        <a:t>=</a:t>
                      </a:r>
                      <a:r>
                        <a:rPr lang="en-US" altLang="zh-CN" sz="1400" dirty="0" err="1" smtClean="0"/>
                        <a:t>vbmeta_system,slotselect,logical,first_stage_mount</a:t>
                      </a:r>
                      <a:endParaRPr lang="zh-CN" altLang="en-US" sz="1400" dirty="0"/>
                    </a:p>
                  </a:txBody>
                  <a:tcPr/>
                </a:tc>
              </a:tr>
              <a:tr h="370840">
                <a:tc>
                  <a:txBody>
                    <a:bodyPr/>
                    <a:lstStyle/>
                    <a:p>
                      <a:r>
                        <a:rPr lang="en-US" altLang="zh-CN" sz="1400" dirty="0" smtClean="0"/>
                        <a:t>vendor</a:t>
                      </a:r>
                      <a:endParaRPr lang="zh-CN" altLang="en-US" sz="1400" dirty="0"/>
                    </a:p>
                  </a:txBody>
                  <a:tcPr/>
                </a:tc>
                <a:tc>
                  <a:txBody>
                    <a:bodyPr/>
                    <a:lstStyle/>
                    <a:p>
                      <a:r>
                        <a:rPr lang="en-US" altLang="zh-CN" sz="1400" dirty="0" smtClean="0"/>
                        <a:t>/vendor</a:t>
                      </a:r>
                      <a:endParaRPr lang="zh-CN" altLang="en-US" sz="1400" dirty="0"/>
                    </a:p>
                  </a:txBody>
                  <a:tcPr/>
                </a:tc>
                <a:tc>
                  <a:txBody>
                    <a:bodyPr/>
                    <a:lstStyle/>
                    <a:p>
                      <a:r>
                        <a:rPr lang="en-US" altLang="zh-CN" sz="1400" dirty="0" smtClean="0"/>
                        <a:t>ext4</a:t>
                      </a:r>
                      <a:endParaRPr lang="zh-CN" altLang="en-US" sz="1400" dirty="0"/>
                    </a:p>
                  </a:txBody>
                  <a:tcPr/>
                </a:tc>
                <a:tc>
                  <a:txBody>
                    <a:bodyPr/>
                    <a:lstStyle/>
                    <a:p>
                      <a:r>
                        <a:rPr lang="en-US" altLang="zh-CN" sz="1400" dirty="0" err="1" smtClean="0"/>
                        <a:t>ro,barrier</a:t>
                      </a:r>
                      <a:r>
                        <a:rPr lang="en-US" altLang="zh-CN" sz="1400" dirty="0" smtClean="0"/>
                        <a:t>=1,discard</a:t>
                      </a:r>
                      <a:endParaRPr lang="zh-CN" altLang="en-US" sz="1400" dirty="0"/>
                    </a:p>
                  </a:txBody>
                  <a:tcPr/>
                </a:tc>
                <a:tc>
                  <a:txBody>
                    <a:bodyPr/>
                    <a:lstStyle/>
                    <a:p>
                      <a:r>
                        <a:rPr lang="en-US" altLang="zh-CN" sz="1400" dirty="0" err="1" smtClean="0"/>
                        <a:t>wait,avb,slotselect,logical,first_stage_mount</a:t>
                      </a:r>
                      <a:endParaRPr lang="zh-CN" altLang="en-US" sz="1400" dirty="0"/>
                    </a:p>
                  </a:txBody>
                  <a:tcPr/>
                </a:tc>
              </a:tr>
              <a:tr h="370840">
                <a:tc>
                  <a:txBody>
                    <a:bodyPr/>
                    <a:lstStyle/>
                    <a:p>
                      <a:r>
                        <a:rPr lang="en-US" altLang="zh-CN" sz="1400" dirty="0" smtClean="0"/>
                        <a:t>/dev/block/by-name/metadata</a:t>
                      </a:r>
                      <a:endParaRPr lang="zh-CN" altLang="en-US" sz="1400" dirty="0"/>
                    </a:p>
                  </a:txBody>
                  <a:tcPr/>
                </a:tc>
                <a:tc>
                  <a:txBody>
                    <a:bodyPr/>
                    <a:lstStyle/>
                    <a:p>
                      <a:r>
                        <a:rPr lang="en-US" altLang="zh-CN" sz="1400" dirty="0" smtClean="0"/>
                        <a:t>/metadata</a:t>
                      </a:r>
                      <a:endParaRPr lang="zh-CN" altLang="en-US" sz="1400" dirty="0"/>
                    </a:p>
                  </a:txBody>
                  <a:tcPr/>
                </a:tc>
                <a:tc>
                  <a:txBody>
                    <a:bodyPr/>
                    <a:lstStyle/>
                    <a:p>
                      <a:r>
                        <a:rPr lang="en-US" altLang="zh-CN" sz="1400" dirty="0" smtClean="0"/>
                        <a:t>ext4</a:t>
                      </a:r>
                      <a:endParaRPr lang="zh-CN" altLang="en-US" sz="1400" dirty="0"/>
                    </a:p>
                  </a:txBody>
                  <a:tcPr/>
                </a:tc>
                <a:tc>
                  <a:txBody>
                    <a:bodyPr/>
                    <a:lstStyle/>
                    <a:p>
                      <a:r>
                        <a:rPr lang="en-US" altLang="zh-CN" sz="1400" dirty="0" err="1" smtClean="0"/>
                        <a:t>noatime,nosuid,nodev,discard</a:t>
                      </a:r>
                      <a:endParaRPr lang="zh-CN" altLang="en-US" sz="1400" dirty="0"/>
                    </a:p>
                  </a:txBody>
                  <a:tcPr/>
                </a:tc>
                <a:tc>
                  <a:txBody>
                    <a:bodyPr/>
                    <a:lstStyle/>
                    <a:p>
                      <a:r>
                        <a:rPr lang="en-US" altLang="zh-CN" sz="1400" dirty="0" err="1" smtClean="0"/>
                        <a:t>wait,formattable,first_stage_mount,check</a:t>
                      </a:r>
                      <a:endParaRPr lang="zh-CN" altLang="en-US" sz="1400" dirty="0"/>
                    </a:p>
                  </a:txBody>
                  <a:tcPr/>
                </a:tc>
              </a:tr>
              <a:tr h="370840">
                <a:tc>
                  <a:txBody>
                    <a:bodyPr/>
                    <a:lstStyle/>
                    <a:p>
                      <a:r>
                        <a:rPr lang="en-US" altLang="zh-CN" sz="1400" dirty="0" smtClean="0"/>
                        <a:t>/dev/block/</a:t>
                      </a:r>
                      <a:r>
                        <a:rPr lang="en-US" altLang="zh-CN" sz="1400" dirty="0" err="1" smtClean="0"/>
                        <a:t>bootdevice</a:t>
                      </a:r>
                      <a:r>
                        <a:rPr lang="en-US" altLang="zh-CN" sz="1400" dirty="0" smtClean="0"/>
                        <a:t>/by-name/</a:t>
                      </a:r>
                      <a:r>
                        <a:rPr lang="en-US" altLang="zh-CN" sz="1400" dirty="0" err="1" smtClean="0"/>
                        <a:t>userdata</a:t>
                      </a:r>
                      <a:endParaRPr lang="zh-CN" altLang="en-US" sz="1400" dirty="0"/>
                    </a:p>
                  </a:txBody>
                  <a:tcPr/>
                </a:tc>
                <a:tc>
                  <a:txBody>
                    <a:bodyPr/>
                    <a:lstStyle/>
                    <a:p>
                      <a:r>
                        <a:rPr lang="en-US" altLang="zh-CN" sz="1400" dirty="0" smtClean="0"/>
                        <a:t>/data</a:t>
                      </a:r>
                      <a:endParaRPr lang="zh-CN" altLang="en-US" sz="1400" dirty="0"/>
                    </a:p>
                  </a:txBody>
                  <a:tcPr/>
                </a:tc>
                <a:tc>
                  <a:txBody>
                    <a:bodyPr/>
                    <a:lstStyle/>
                    <a:p>
                      <a:r>
                        <a:rPr lang="en-US" altLang="zh-CN" sz="1400" dirty="0" smtClean="0"/>
                        <a:t>ext4</a:t>
                      </a:r>
                      <a:endParaRPr lang="zh-CN" altLang="en-US" sz="1400" dirty="0"/>
                    </a:p>
                  </a:txBody>
                  <a:tcPr/>
                </a:tc>
                <a:tc>
                  <a:txBody>
                    <a:bodyPr/>
                    <a:lstStyle/>
                    <a:p>
                      <a:r>
                        <a:rPr lang="en-US" altLang="zh-CN" sz="1400" dirty="0" err="1" smtClean="0"/>
                        <a:t>noatime,nosuid,nodev,barrier</a:t>
                      </a:r>
                      <a:r>
                        <a:rPr lang="en-US" altLang="zh-CN" sz="1400" dirty="0" smtClean="0"/>
                        <a:t>=1,noauto_da_alloc,discard,inlinecrypt</a:t>
                      </a:r>
                      <a:endParaRPr lang="zh-CN" altLang="en-US" sz="1400" dirty="0"/>
                    </a:p>
                  </a:txBody>
                  <a:tcPr/>
                </a:tc>
                <a:tc>
                  <a:txBody>
                    <a:bodyPr/>
                    <a:lstStyle/>
                    <a:p>
                      <a:r>
                        <a:rPr lang="en-US" altLang="zh-CN" sz="1400" dirty="0" err="1" smtClean="0"/>
                        <a:t>latemount,wait,check,formattable,quota,reservedsize</a:t>
                      </a:r>
                      <a:r>
                        <a:rPr lang="en-US" altLang="zh-CN" sz="1400" dirty="0" smtClean="0"/>
                        <a:t>=128M,checkpoint=block</a:t>
                      </a:r>
                      <a:endParaRPr lang="zh-CN" altLang="en-US" sz="1400" dirty="0"/>
                    </a:p>
                  </a:txBody>
                  <a:tcPr/>
                </a:tc>
              </a:tr>
              <a:tr h="370840">
                <a:tc>
                  <a:txBody>
                    <a:bodyPr/>
                    <a:lstStyle/>
                    <a:p>
                      <a:r>
                        <a:rPr lang="en-US" altLang="zh-CN" sz="1400" dirty="0" smtClean="0"/>
                        <a:t>/dev/block/</a:t>
                      </a:r>
                      <a:r>
                        <a:rPr lang="en-US" altLang="zh-CN" sz="1400" dirty="0" err="1" smtClean="0"/>
                        <a:t>bootdevice</a:t>
                      </a:r>
                      <a:r>
                        <a:rPr lang="en-US" altLang="zh-CN" sz="1400" dirty="0" smtClean="0"/>
                        <a:t>/by-name/</a:t>
                      </a:r>
                      <a:r>
                        <a:rPr lang="en-US" altLang="zh-CN" sz="1400" dirty="0" err="1" smtClean="0"/>
                        <a:t>misc</a:t>
                      </a:r>
                      <a:endParaRPr lang="zh-CN" altLang="en-US" sz="1400" dirty="0"/>
                    </a:p>
                  </a:txBody>
                  <a:tcPr/>
                </a:tc>
                <a:tc>
                  <a:txBody>
                    <a:bodyPr/>
                    <a:lstStyle/>
                    <a:p>
                      <a:r>
                        <a:rPr lang="en-US" altLang="zh-CN" sz="1400" dirty="0" smtClean="0"/>
                        <a:t>/</a:t>
                      </a:r>
                      <a:r>
                        <a:rPr lang="en-US" altLang="zh-CN" sz="1400" dirty="0" err="1" smtClean="0"/>
                        <a:t>misc</a:t>
                      </a:r>
                      <a:endParaRPr lang="zh-CN" altLang="en-US" sz="1400" dirty="0"/>
                    </a:p>
                  </a:txBody>
                  <a:tcPr/>
                </a:tc>
                <a:tc>
                  <a:txBody>
                    <a:bodyPr/>
                    <a:lstStyle/>
                    <a:p>
                      <a:r>
                        <a:rPr lang="en-US" altLang="zh-CN" sz="1400" dirty="0" err="1" smtClean="0"/>
                        <a:t>emmc</a:t>
                      </a:r>
                      <a:endParaRPr lang="zh-CN" altLang="en-US" sz="1400" dirty="0"/>
                    </a:p>
                  </a:txBody>
                  <a:tcPr/>
                </a:tc>
                <a:tc>
                  <a:txBody>
                    <a:bodyPr/>
                    <a:lstStyle/>
                    <a:p>
                      <a:r>
                        <a:rPr lang="en-US" altLang="zh-CN" sz="1400" dirty="0" smtClean="0"/>
                        <a:t>defaults</a:t>
                      </a:r>
                      <a:endParaRPr lang="zh-CN" altLang="en-US" sz="1400" dirty="0"/>
                    </a:p>
                  </a:txBody>
                  <a:tcPr/>
                </a:tc>
                <a:tc>
                  <a:txBody>
                    <a:bodyPr/>
                    <a:lstStyle/>
                    <a:p>
                      <a:r>
                        <a:rPr lang="en-US" altLang="zh-CN" sz="1400" dirty="0" smtClean="0"/>
                        <a:t>defaults</a:t>
                      </a:r>
                      <a:endParaRPr lang="zh-CN" altLang="en-US" sz="1400" dirty="0"/>
                    </a:p>
                  </a:txBody>
                  <a:tcPr/>
                </a:tc>
              </a:tr>
              <a:tr h="741680">
                <a:tc>
                  <a:txBody>
                    <a:bodyPr/>
                    <a:lstStyle/>
                    <a:p>
                      <a:r>
                        <a:rPr lang="en-US" altLang="zh-CN" sz="1400" dirty="0" smtClean="0"/>
                        <a:t>/devices/platform/</a:t>
                      </a:r>
                      <a:r>
                        <a:rPr lang="en-US" altLang="zh-CN" sz="1400" dirty="0" err="1" smtClean="0"/>
                        <a:t>soc</a:t>
                      </a:r>
                      <a:r>
                        <a:rPr lang="en-US" altLang="zh-CN" sz="1400" dirty="0" smtClean="0"/>
                        <a:t>/8804000.sdhci/</a:t>
                      </a:r>
                      <a:r>
                        <a:rPr lang="en-US" altLang="zh-CN" sz="1400" dirty="0" err="1" smtClean="0"/>
                        <a:t>mmc_host</a:t>
                      </a:r>
                      <a:r>
                        <a:rPr lang="en-US" altLang="zh-CN" sz="1400" dirty="0" smtClean="0"/>
                        <a:t>*</a:t>
                      </a:r>
                      <a:endParaRPr lang="zh-CN" altLang="en-US" sz="1400" dirty="0"/>
                    </a:p>
                  </a:txBody>
                  <a:tcPr/>
                </a:tc>
                <a:tc>
                  <a:txBody>
                    <a:bodyPr/>
                    <a:lstStyle/>
                    <a:p>
                      <a:r>
                        <a:rPr lang="en-US" altLang="zh-CN" sz="1400" dirty="0" smtClean="0"/>
                        <a:t>/storage/sdcard1</a:t>
                      </a:r>
                      <a:endParaRPr lang="zh-CN" altLang="en-US" sz="1400" dirty="0"/>
                    </a:p>
                  </a:txBody>
                  <a:tcPr/>
                </a:tc>
                <a:tc>
                  <a:txBody>
                    <a:bodyPr/>
                    <a:lstStyle/>
                    <a:p>
                      <a:r>
                        <a:rPr lang="en-US" altLang="zh-CN" sz="1400" dirty="0" err="1" smtClean="0"/>
                        <a:t>vfat</a:t>
                      </a:r>
                      <a:endParaRPr lang="zh-CN" altLang="en-US" sz="1400" dirty="0"/>
                    </a:p>
                  </a:txBody>
                  <a:tcPr/>
                </a:tc>
                <a:tc>
                  <a:txBody>
                    <a:bodyPr/>
                    <a:lstStyle/>
                    <a:p>
                      <a:r>
                        <a:rPr lang="en-US" altLang="zh-CN" sz="1400" dirty="0" err="1" smtClean="0"/>
                        <a:t>nosuid,nodev</a:t>
                      </a:r>
                      <a:endParaRPr lang="zh-CN" altLang="en-US" sz="1400" dirty="0"/>
                    </a:p>
                  </a:txBody>
                  <a:tcPr/>
                </a:tc>
                <a:tc>
                  <a:txBody>
                    <a:bodyPr/>
                    <a:lstStyle/>
                    <a:p>
                      <a:r>
                        <a:rPr lang="en-US" altLang="zh-CN" sz="1400" dirty="0" err="1" smtClean="0"/>
                        <a:t>wait,voldmanaged</a:t>
                      </a:r>
                      <a:r>
                        <a:rPr lang="en-US" altLang="zh-CN" sz="1400" dirty="0" smtClean="0"/>
                        <a:t>=sdcard1:auto,encryptable=footer</a:t>
                      </a:r>
                      <a:endParaRPr lang="zh-CN" altLang="en-US" sz="1400" dirty="0"/>
                    </a:p>
                  </a:txBody>
                  <a:tcPr/>
                </a:tc>
              </a:tr>
            </a:tbl>
          </a:graphicData>
        </a:graphic>
      </p:graphicFrame>
    </p:spTree>
    <p:extLst>
      <p:ext uri="{BB962C8B-B14F-4D97-AF65-F5344CB8AC3E}">
        <p14:creationId xmlns:p14="http://schemas.microsoft.com/office/powerpoint/2010/main" val="29722058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047536"/>
          </a:xfrm>
          <a:prstGeom prst="rect">
            <a:avLst/>
          </a:prstGeom>
          <a:noFill/>
        </p:spPr>
        <p:txBody>
          <a:bodyPr wrap="square" rtlCol="0">
            <a:spAutoFit/>
          </a:bodyPr>
          <a:lstStyle/>
          <a:p>
            <a:pPr algn="l"/>
            <a:r>
              <a:rPr lang="zh-CN" altLang="en-US" sz="1600" b="0" dirty="0">
                <a:latin typeface="微软雅黑" panose="020B0503020204020204" pitchFamily="34" charset="-122"/>
                <a:ea typeface="微软雅黑" panose="020B0503020204020204" pitchFamily="34" charset="-122"/>
              </a:rPr>
              <a:t>启用 </a:t>
            </a:r>
            <a:r>
              <a:rPr lang="en-US" altLang="zh-CN" sz="1600" b="0" dirty="0" err="1">
                <a:latin typeface="微软雅黑" panose="020B0503020204020204" pitchFamily="34" charset="-122"/>
                <a:ea typeface="微软雅黑" panose="020B0503020204020204" pitchFamily="34" charset="-122"/>
              </a:rPr>
              <a:t>SELinux</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安全策略</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会再走一次</a:t>
            </a:r>
            <a:r>
              <a:rPr lang="en-US" altLang="zh-CN" sz="1600" b="0" dirty="0" smtClean="0">
                <a:latin typeface="微软雅黑" panose="020B0503020204020204" pitchFamily="34" charset="-122"/>
                <a:ea typeface="微软雅黑" panose="020B0503020204020204" pitchFamily="34" charset="-122"/>
              </a:rPr>
              <a:t>main</a:t>
            </a:r>
            <a:r>
              <a:rPr lang="zh-CN" altLang="en-US" sz="1600" b="0" dirty="0" smtClean="0">
                <a:latin typeface="微软雅黑" panose="020B0503020204020204" pitchFamily="34" charset="-122"/>
                <a:ea typeface="微软雅黑" panose="020B0503020204020204" pitchFamily="34" charset="-122"/>
              </a:rPr>
              <a:t>，不过这次是带</a:t>
            </a:r>
            <a:r>
              <a:rPr lang="zh-CN" altLang="en-US" sz="1600" b="0" dirty="0">
                <a:latin typeface="微软雅黑" panose="020B0503020204020204" pitchFamily="34" charset="-122"/>
                <a:ea typeface="微软雅黑" panose="020B0503020204020204" pitchFamily="34" charset="-122"/>
              </a:rPr>
              <a:t>参数</a:t>
            </a:r>
            <a:r>
              <a:rPr lang="en-US" altLang="zh-CN" sz="1600" b="0" dirty="0" err="1">
                <a:latin typeface="微软雅黑" panose="020B0503020204020204" pitchFamily="34" charset="-122"/>
                <a:ea typeface="微软雅黑" panose="020B0503020204020204" pitchFamily="34" charset="-122"/>
              </a:rPr>
              <a:t>selinux_steup</a:t>
            </a:r>
            <a:r>
              <a:rPr lang="zh-CN" altLang="en-US" sz="1600" b="0" dirty="0">
                <a:latin typeface="微软雅黑" panose="020B0503020204020204" pitchFamily="34" charset="-122"/>
                <a:ea typeface="微软雅黑" panose="020B0503020204020204" pitchFamily="34" charset="-122"/>
              </a:rPr>
              <a:t>，主要功能为初始化 </a:t>
            </a:r>
            <a:r>
              <a:rPr lang="en-US" altLang="zh-CN" sz="1600" b="0" dirty="0" err="1">
                <a:latin typeface="微软雅黑" panose="020B0503020204020204" pitchFamily="34" charset="-122"/>
                <a:ea typeface="微软雅黑" panose="020B0503020204020204" pitchFamily="34" charset="-122"/>
              </a:rPr>
              <a:t>SELinux</a:t>
            </a:r>
            <a:r>
              <a:rPr lang="zh-CN" altLang="en-US" sz="1600" b="0" dirty="0">
                <a:latin typeface="微软雅黑" panose="020B0503020204020204" pitchFamily="34" charset="-122"/>
                <a:ea typeface="微软雅黑" panose="020B0503020204020204" pitchFamily="34" charset="-122"/>
              </a:rPr>
              <a:t>，加载 </a:t>
            </a:r>
            <a:r>
              <a:rPr lang="en-US" altLang="zh-CN" sz="1600" b="0" dirty="0" err="1">
                <a:latin typeface="微软雅黑" panose="020B0503020204020204" pitchFamily="34" charset="-122"/>
                <a:ea typeface="微软雅黑" panose="020B0503020204020204" pitchFamily="34" charset="-122"/>
              </a:rPr>
              <a:t>SELinux</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规则，配置 </a:t>
            </a:r>
            <a:r>
              <a:rPr lang="en-US" altLang="zh-CN" sz="1600" b="0" dirty="0" err="1">
                <a:latin typeface="微软雅黑" panose="020B0503020204020204" pitchFamily="34" charset="-122"/>
                <a:ea typeface="微软雅黑" panose="020B0503020204020204" pitchFamily="34" charset="-122"/>
              </a:rPr>
              <a:t>SELinux</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 </a:t>
            </a:r>
            <a:r>
              <a:rPr lang="en-US" altLang="zh-CN" sz="1600" b="0" dirty="0">
                <a:latin typeface="微软雅黑" panose="020B0503020204020204" pitchFamily="34" charset="-122"/>
                <a:ea typeface="微软雅黑" panose="020B0503020204020204" pitchFamily="34" charset="-122"/>
              </a:rPr>
              <a:t>log </a:t>
            </a:r>
            <a:r>
              <a:rPr lang="zh-CN" altLang="en-US" sz="1600" b="0" dirty="0">
                <a:latin typeface="微软雅黑" panose="020B0503020204020204" pitchFamily="34" charset="-122"/>
                <a:ea typeface="微软雅黑" panose="020B0503020204020204" pitchFamily="34" charset="-122"/>
              </a:rPr>
              <a:t>输出，并启动第二阶段。 </a:t>
            </a:r>
          </a:p>
          <a:p>
            <a:pPr algn="l"/>
            <a:r>
              <a:rPr lang="zh-CN" altLang="en-US" sz="1600" b="0" dirty="0">
                <a:latin typeface="微软雅黑" panose="020B0503020204020204" pitchFamily="34" charset="-122"/>
                <a:ea typeface="微软雅黑" panose="020B0503020204020204" pitchFamily="34" charset="-122"/>
              </a:rPr>
              <a:t>源码路径：</a:t>
            </a:r>
            <a:r>
              <a:rPr lang="en-US" altLang="zh-CN" sz="1600" b="0" dirty="0">
                <a:solidFill>
                  <a:srgbClr val="7030A0"/>
                </a:solidFill>
                <a:latin typeface="微软雅黑" panose="020B0503020204020204" pitchFamily="34" charset="-122"/>
                <a:ea typeface="微软雅黑" panose="020B0503020204020204" pitchFamily="34" charset="-122"/>
              </a:rPr>
              <a:t>system/core/</a:t>
            </a:r>
            <a:r>
              <a:rPr lang="en-US" altLang="zh-CN" sz="1600" b="0" dirty="0" err="1">
                <a:solidFill>
                  <a:srgbClr val="7030A0"/>
                </a:solidFill>
                <a:latin typeface="微软雅黑" panose="020B0503020204020204" pitchFamily="34" charset="-122"/>
                <a:ea typeface="微软雅黑" panose="020B0503020204020204" pitchFamily="34" charset="-122"/>
              </a:rPr>
              <a:t>init</a:t>
            </a:r>
            <a:r>
              <a:rPr lang="en-US" altLang="zh-CN" sz="1600" b="0" dirty="0">
                <a:solidFill>
                  <a:srgbClr val="7030A0"/>
                </a:solidFill>
                <a:latin typeface="微软雅黑" panose="020B0503020204020204" pitchFamily="34" charset="-122"/>
                <a:ea typeface="微软雅黑" panose="020B0503020204020204" pitchFamily="34" charset="-122"/>
              </a:rPr>
              <a:t>/selinux.cpp</a:t>
            </a:r>
            <a:endParaRPr lang="en-US" altLang="zh-CN" sz="1600" b="0" dirty="0" smtClean="0">
              <a:solidFill>
                <a:srgbClr val="7030A0"/>
              </a:solidFill>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SetupSelinux</a:t>
            </a:r>
            <a:r>
              <a:rPr lang="en-US" altLang="zh-CN" sz="1400" b="0" dirty="0">
                <a:solidFill>
                  <a:srgbClr val="0070C0"/>
                </a:solidFill>
                <a:latin typeface="微软雅黑" panose="020B0503020204020204" pitchFamily="34" charset="-122"/>
                <a:ea typeface="微软雅黑" panose="020B0503020204020204" pitchFamily="34" charset="-122"/>
              </a:rPr>
              <a:t>(char** </a:t>
            </a:r>
            <a:r>
              <a:rPr lang="en-US" altLang="zh-CN" sz="1400" b="0" dirty="0" err="1">
                <a:solidFill>
                  <a:srgbClr val="0070C0"/>
                </a:solidFill>
                <a:latin typeface="微软雅黑" panose="020B0503020204020204" pitchFamily="34" charset="-122"/>
                <a:ea typeface="微软雅黑" panose="020B0503020204020204" pitchFamily="34" charset="-122"/>
              </a:rPr>
              <a:t>argv</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注册回调，用来设置需要写入</a:t>
            </a:r>
            <a:r>
              <a:rPr lang="en-US" altLang="zh-CN" sz="1400" b="0" dirty="0" err="1">
                <a:solidFill>
                  <a:srgbClr val="FF0000"/>
                </a:solidFill>
                <a:latin typeface="微软雅黑" panose="020B0503020204020204" pitchFamily="34" charset="-122"/>
                <a:ea typeface="微软雅黑" panose="020B0503020204020204" pitchFamily="34" charset="-122"/>
              </a:rPr>
              <a:t>kmsg</a:t>
            </a:r>
            <a:r>
              <a:rPr lang="zh-CN" altLang="en-US" sz="1400" b="0" dirty="0">
                <a:solidFill>
                  <a:srgbClr val="FF0000"/>
                </a:solidFill>
                <a:latin typeface="微软雅黑" panose="020B0503020204020204" pitchFamily="34" charset="-122"/>
                <a:ea typeface="微软雅黑" panose="020B0503020204020204" pitchFamily="34" charset="-122"/>
              </a:rPr>
              <a:t>的</a:t>
            </a:r>
            <a:r>
              <a:rPr lang="en-US" altLang="zh-CN" sz="1400" b="0" dirty="0" err="1">
                <a:solidFill>
                  <a:srgbClr val="FF0000"/>
                </a:solidFill>
                <a:latin typeface="微软雅黑" panose="020B0503020204020204" pitchFamily="34" charset="-122"/>
                <a:ea typeface="微软雅黑" panose="020B0503020204020204" pitchFamily="34" charset="-122"/>
              </a:rPr>
              <a:t>selinux</a:t>
            </a:r>
            <a:r>
              <a:rPr lang="zh-CN" altLang="en-US" sz="1400" b="0" dirty="0">
                <a:solidFill>
                  <a:srgbClr val="FF0000"/>
                </a:solidFill>
                <a:latin typeface="微软雅黑" panose="020B0503020204020204" pitchFamily="34" charset="-122"/>
                <a:ea typeface="微软雅黑" panose="020B0503020204020204" pitchFamily="34" charset="-122"/>
              </a:rPr>
              <a:t>日志</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SelinuxSetupKernelLogging</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加载</a:t>
            </a:r>
            <a:r>
              <a:rPr lang="en-US" altLang="zh-CN" sz="1400" b="0" dirty="0" err="1">
                <a:solidFill>
                  <a:srgbClr val="FF0000"/>
                </a:solidFill>
                <a:latin typeface="微软雅黑" panose="020B0503020204020204" pitchFamily="34" charset="-122"/>
                <a:ea typeface="微软雅黑" panose="020B0503020204020204" pitchFamily="34" charset="-122"/>
              </a:rPr>
              <a:t>SELinux</a:t>
            </a:r>
            <a:r>
              <a:rPr lang="zh-CN" altLang="en-US" sz="1400" b="0" dirty="0">
                <a:solidFill>
                  <a:srgbClr val="FF0000"/>
                </a:solidFill>
                <a:latin typeface="微软雅黑" panose="020B0503020204020204" pitchFamily="34" charset="-122"/>
                <a:ea typeface="微软雅黑" panose="020B0503020204020204" pitchFamily="34" charset="-122"/>
              </a:rPr>
              <a:t>规则</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SelinuxInitialize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准备启动</a:t>
            </a:r>
            <a:r>
              <a:rPr lang="en-US" altLang="zh-CN" sz="1400" b="0" dirty="0" err="1">
                <a:solidFill>
                  <a:srgbClr val="FF0000"/>
                </a:solidFill>
                <a:latin typeface="微软雅黑" panose="020B0503020204020204" pitchFamily="34" charset="-122"/>
                <a:ea typeface="微软雅黑" panose="020B0503020204020204" pitchFamily="34" charset="-122"/>
              </a:rPr>
              <a:t>init</a:t>
            </a:r>
            <a:r>
              <a:rPr lang="zh-CN" altLang="en-US" sz="1400" b="0" dirty="0">
                <a:solidFill>
                  <a:srgbClr val="FF0000"/>
                </a:solidFill>
                <a:latin typeface="微软雅黑" panose="020B0503020204020204" pitchFamily="34" charset="-122"/>
                <a:ea typeface="微软雅黑" panose="020B0503020204020204" pitchFamily="34" charset="-122"/>
              </a:rPr>
              <a:t>进程，传入参数</a:t>
            </a:r>
            <a:r>
              <a:rPr lang="en-US" altLang="zh-CN" sz="1400" b="0" dirty="0" err="1">
                <a:solidFill>
                  <a:srgbClr val="FF0000"/>
                </a:solidFill>
                <a:latin typeface="微软雅黑" panose="020B0503020204020204" pitchFamily="34" charset="-122"/>
                <a:ea typeface="微软雅黑" panose="020B0503020204020204" pitchFamily="34" charset="-122"/>
              </a:rPr>
              <a:t>second_stage</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char* path = "/system/bin/</a:t>
            </a:r>
            <a:r>
              <a:rPr lang="en-US" altLang="zh-CN" sz="1400" b="0" dirty="0" err="1">
                <a:solidFill>
                  <a:srgbClr val="0070C0"/>
                </a:solidFill>
                <a:latin typeface="微软雅黑" panose="020B0503020204020204" pitchFamily="34" charset="-122"/>
                <a:ea typeface="微软雅黑" panose="020B0503020204020204" pitchFamily="34" charset="-122"/>
              </a:rPr>
              <a:t>init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const</a:t>
            </a:r>
            <a:r>
              <a:rPr lang="en-US" altLang="zh-CN" sz="1400" b="0" dirty="0">
                <a:solidFill>
                  <a:srgbClr val="0070C0"/>
                </a:solidFill>
                <a:latin typeface="微软雅黑" panose="020B0503020204020204" pitchFamily="34" charset="-122"/>
                <a:ea typeface="微软雅黑" panose="020B0503020204020204" pitchFamily="34" charset="-122"/>
              </a:rPr>
              <a:t> char* </a:t>
            </a:r>
            <a:r>
              <a:rPr lang="en-US" altLang="zh-CN" sz="1400" b="0" dirty="0" err="1">
                <a:solidFill>
                  <a:srgbClr val="0070C0"/>
                </a:solidFill>
                <a:latin typeface="微软雅黑" panose="020B0503020204020204" pitchFamily="34" charset="-122"/>
                <a:ea typeface="微软雅黑" panose="020B0503020204020204" pitchFamily="34" charset="-122"/>
              </a:rPr>
              <a:t>args</a:t>
            </a:r>
            <a:r>
              <a:rPr lang="en-US" altLang="zh-CN" sz="1400" b="0" dirty="0">
                <a:solidFill>
                  <a:srgbClr val="0070C0"/>
                </a:solidFill>
                <a:latin typeface="微软雅黑" panose="020B0503020204020204" pitchFamily="34" charset="-122"/>
                <a:ea typeface="微软雅黑" panose="020B0503020204020204" pitchFamily="34" charset="-122"/>
              </a:rPr>
              <a:t>[] = {path, "</a:t>
            </a:r>
            <a:r>
              <a:rPr lang="en-US" altLang="zh-CN" sz="1400" b="0" dirty="0" err="1">
                <a:solidFill>
                  <a:srgbClr val="0070C0"/>
                </a:solidFill>
                <a:latin typeface="微软雅黑" panose="020B0503020204020204" pitchFamily="34" charset="-122"/>
                <a:ea typeface="微软雅黑" panose="020B0503020204020204" pitchFamily="34" charset="-122"/>
              </a:rPr>
              <a:t>second_stage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nullptr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执行</a:t>
            </a:r>
            <a:r>
              <a:rPr lang="en-US" altLang="zh-CN" sz="1400" b="0" dirty="0">
                <a:solidFill>
                  <a:srgbClr val="FF0000"/>
                </a:solidFill>
                <a:latin typeface="微软雅黑" panose="020B0503020204020204" pitchFamily="34" charset="-122"/>
                <a:ea typeface="微软雅黑" panose="020B0503020204020204" pitchFamily="34" charset="-122"/>
              </a:rPr>
              <a:t>/system/bin/</a:t>
            </a:r>
            <a:r>
              <a:rPr lang="en-US" altLang="zh-CN" sz="1400" b="0" dirty="0" err="1">
                <a:solidFill>
                  <a:srgbClr val="FF0000"/>
                </a:solidFill>
                <a:latin typeface="微软雅黑" panose="020B0503020204020204" pitchFamily="34" charset="-122"/>
                <a:ea typeface="微软雅黑" panose="020B0503020204020204" pitchFamily="34" charset="-122"/>
              </a:rPr>
              <a:t>init</a:t>
            </a:r>
            <a:r>
              <a:rPr lang="en-US" altLang="zh-CN" sz="1400" b="0" dirty="0">
                <a:solidFill>
                  <a:srgbClr val="FF0000"/>
                </a:solidFill>
                <a:latin typeface="微软雅黑" panose="020B0503020204020204" pitchFamily="34" charset="-122"/>
                <a:ea typeface="微软雅黑" panose="020B0503020204020204" pitchFamily="34" charset="-122"/>
              </a:rPr>
              <a:t> </a:t>
            </a:r>
            <a:r>
              <a:rPr lang="en-US" altLang="zh-CN" sz="1400" b="0" dirty="0" err="1">
                <a:solidFill>
                  <a:srgbClr val="FF0000"/>
                </a:solidFill>
                <a:latin typeface="微软雅黑" panose="020B0503020204020204" pitchFamily="34" charset="-122"/>
                <a:ea typeface="微软雅黑" panose="020B0503020204020204" pitchFamily="34" charset="-122"/>
              </a:rPr>
              <a:t>second_stage</a:t>
            </a:r>
            <a:r>
              <a:rPr lang="en-US" altLang="zh-CN" sz="1400" b="0" dirty="0">
                <a:solidFill>
                  <a:srgbClr val="FF0000"/>
                </a:solidFill>
                <a:latin typeface="微软雅黑" panose="020B0503020204020204" pitchFamily="34" charset="-122"/>
                <a:ea typeface="微软雅黑" panose="020B0503020204020204" pitchFamily="34" charset="-122"/>
              </a:rPr>
              <a:t>, </a:t>
            </a:r>
            <a:r>
              <a:rPr lang="zh-CN" altLang="en-US" sz="1400" b="0" dirty="0">
                <a:solidFill>
                  <a:srgbClr val="FF0000"/>
                </a:solidFill>
                <a:latin typeface="微软雅黑" panose="020B0503020204020204" pitchFamily="34" charset="-122"/>
                <a:ea typeface="微软雅黑" panose="020B0503020204020204" pitchFamily="34" charset="-122"/>
              </a:rPr>
              <a:t>进入第二阶段</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execv</a:t>
            </a:r>
            <a:r>
              <a:rPr lang="en-US" altLang="zh-CN" sz="1400" b="0" dirty="0">
                <a:solidFill>
                  <a:srgbClr val="0070C0"/>
                </a:solidFill>
                <a:latin typeface="微软雅黑" panose="020B0503020204020204" pitchFamily="34" charset="-122"/>
                <a:ea typeface="微软雅黑" panose="020B0503020204020204" pitchFamily="34" charset="-122"/>
              </a:rPr>
              <a:t>(path, </a:t>
            </a:r>
            <a:r>
              <a:rPr lang="en-US" altLang="zh-CN" sz="1400" b="0" dirty="0" err="1">
                <a:solidFill>
                  <a:srgbClr val="0070C0"/>
                </a:solidFill>
                <a:latin typeface="微软雅黑" panose="020B0503020204020204" pitchFamily="34" charset="-122"/>
                <a:ea typeface="微软雅黑" panose="020B0503020204020204" pitchFamily="34" charset="-122"/>
              </a:rPr>
              <a:t>const_cast</a:t>
            </a:r>
            <a:r>
              <a:rPr lang="en-US" altLang="zh-CN" sz="1400" b="0" dirty="0">
                <a:solidFill>
                  <a:srgbClr val="0070C0"/>
                </a:solidFill>
                <a:latin typeface="微软雅黑" panose="020B0503020204020204" pitchFamily="34" charset="-122"/>
                <a:ea typeface="微软雅黑" panose="020B0503020204020204" pitchFamily="34" charset="-122"/>
              </a:rPr>
              <a:t>&lt;char**&gt;(</a:t>
            </a:r>
            <a:r>
              <a:rPr lang="en-US" altLang="zh-CN" sz="1400" b="0" dirty="0" err="1">
                <a:solidFill>
                  <a:srgbClr val="0070C0"/>
                </a:solidFill>
                <a:latin typeface="微软雅黑" panose="020B0503020204020204" pitchFamily="34" charset="-122"/>
                <a:ea typeface="微软雅黑" panose="020B0503020204020204" pitchFamily="34" charset="-122"/>
              </a:rPr>
              <a:t>args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PLOG(FATAL) &lt;&lt; "</a:t>
            </a:r>
            <a:r>
              <a:rPr lang="en-US" altLang="zh-CN" sz="1400" b="0" dirty="0" err="1">
                <a:solidFill>
                  <a:srgbClr val="0070C0"/>
                </a:solidFill>
                <a:latin typeface="微软雅黑" panose="020B0503020204020204" pitchFamily="34" charset="-122"/>
                <a:ea typeface="微软雅黑" panose="020B0503020204020204" pitchFamily="34" charset="-122"/>
              </a:rPr>
              <a:t>execv</a:t>
            </a:r>
            <a:r>
              <a:rPr lang="en-US" altLang="zh-CN" sz="1400" b="0" dirty="0">
                <a:solidFill>
                  <a:srgbClr val="0070C0"/>
                </a:solidFill>
                <a:latin typeface="微软雅黑" panose="020B0503020204020204" pitchFamily="34" charset="-122"/>
                <a:ea typeface="微软雅黑" panose="020B0503020204020204" pitchFamily="34" charset="-122"/>
              </a:rPr>
              <a:t>(\"" &lt;&lt; path &lt;&lt; "\") failed";</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1;</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009359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909310"/>
          </a:xfrm>
          <a:prstGeom prst="rect">
            <a:avLst/>
          </a:prstGeom>
          <a:noFill/>
        </p:spPr>
        <p:txBody>
          <a:bodyPr wrap="square" rtlCol="0">
            <a:spAutoFit/>
          </a:bodyPr>
          <a:lstStyle/>
          <a:p>
            <a:pPr algn="l"/>
            <a:r>
              <a:rPr lang="en-US" altLang="zh-CN" sz="1400" b="0" dirty="0">
                <a:solidFill>
                  <a:srgbClr val="0070C0"/>
                </a:solidFill>
                <a:latin typeface="微软雅黑" panose="020B0503020204020204" pitchFamily="34" charset="-122"/>
                <a:ea typeface="微软雅黑" panose="020B0503020204020204" pitchFamily="34" charset="-122"/>
              </a:rPr>
              <a:t>void </a:t>
            </a:r>
            <a:r>
              <a:rPr lang="en-US" altLang="zh-CN" sz="1400" b="0" dirty="0" err="1">
                <a:solidFill>
                  <a:srgbClr val="0070C0"/>
                </a:solidFill>
                <a:latin typeface="微软雅黑" panose="020B0503020204020204" pitchFamily="34" charset="-122"/>
                <a:ea typeface="微软雅黑" panose="020B0503020204020204" pitchFamily="34" charset="-122"/>
              </a:rPr>
              <a:t>SelinuxInitialize</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LOG(INFO) &lt;&lt; "Loading </a:t>
            </a:r>
            <a:r>
              <a:rPr lang="en-US" altLang="zh-CN" sz="1400" b="0" dirty="0" err="1">
                <a:solidFill>
                  <a:srgbClr val="0070C0"/>
                </a:solidFill>
                <a:latin typeface="微软雅黑" panose="020B0503020204020204" pitchFamily="34" charset="-122"/>
                <a:ea typeface="微软雅黑" panose="020B0503020204020204" pitchFamily="34" charset="-122"/>
              </a:rPr>
              <a:t>SELinux</a:t>
            </a:r>
            <a:r>
              <a:rPr lang="en-US" altLang="zh-CN" sz="1400" b="0" dirty="0">
                <a:solidFill>
                  <a:srgbClr val="0070C0"/>
                </a:solidFill>
                <a:latin typeface="微软雅黑" panose="020B0503020204020204" pitchFamily="34" charset="-122"/>
                <a:ea typeface="微软雅黑" panose="020B0503020204020204" pitchFamily="34" charset="-122"/>
              </a:rPr>
              <a:t> policy";</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加载</a:t>
            </a:r>
            <a:r>
              <a:rPr lang="en-US" altLang="zh-CN" sz="1400" b="0" dirty="0" err="1">
                <a:solidFill>
                  <a:srgbClr val="FF0000"/>
                </a:solidFill>
                <a:latin typeface="微软雅黑" panose="020B0503020204020204" pitchFamily="34" charset="-122"/>
                <a:ea typeface="微软雅黑" panose="020B0503020204020204" pitchFamily="34" charset="-122"/>
              </a:rPr>
              <a:t>SELinux</a:t>
            </a:r>
            <a:r>
              <a:rPr lang="zh-CN" altLang="en-US" sz="1400" b="0" dirty="0">
                <a:solidFill>
                  <a:srgbClr val="FF0000"/>
                </a:solidFill>
                <a:latin typeface="微软雅黑" panose="020B0503020204020204" pitchFamily="34" charset="-122"/>
                <a:ea typeface="微软雅黑" panose="020B0503020204020204" pitchFamily="34" charset="-122"/>
              </a:rPr>
              <a:t>规则</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if (!</a:t>
            </a:r>
            <a:r>
              <a:rPr lang="en-US" altLang="zh-CN" sz="1400" b="0" dirty="0" err="1">
                <a:solidFill>
                  <a:srgbClr val="0070C0"/>
                </a:solidFill>
                <a:latin typeface="微软雅黑" panose="020B0503020204020204" pitchFamily="34" charset="-122"/>
                <a:ea typeface="微软雅黑" panose="020B0503020204020204" pitchFamily="34" charset="-122"/>
              </a:rPr>
              <a:t>LoadPolicy</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LOG(FATAL) &lt;&lt; "Unable to load </a:t>
            </a:r>
            <a:r>
              <a:rPr lang="en-US" altLang="zh-CN" sz="1400" b="0" dirty="0" err="1">
                <a:solidFill>
                  <a:srgbClr val="0070C0"/>
                </a:solidFill>
                <a:latin typeface="微软雅黑" panose="020B0503020204020204" pitchFamily="34" charset="-122"/>
                <a:ea typeface="微软雅黑" panose="020B0503020204020204" pitchFamily="34" charset="-122"/>
              </a:rPr>
              <a:t>SELinux</a:t>
            </a:r>
            <a:r>
              <a:rPr lang="en-US" altLang="zh-CN" sz="1400" b="0" dirty="0">
                <a:solidFill>
                  <a:srgbClr val="0070C0"/>
                </a:solidFill>
                <a:latin typeface="微软雅黑" panose="020B0503020204020204" pitchFamily="34" charset="-122"/>
                <a:ea typeface="微软雅黑" panose="020B0503020204020204" pitchFamily="34" charset="-122"/>
              </a:rPr>
              <a:t> policy";</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获取当前</a:t>
            </a:r>
            <a:r>
              <a:rPr lang="en-US" altLang="zh-CN" sz="1400" b="0" dirty="0">
                <a:solidFill>
                  <a:srgbClr val="FF0000"/>
                </a:solidFill>
                <a:latin typeface="微软雅黑" panose="020B0503020204020204" pitchFamily="34" charset="-122"/>
                <a:ea typeface="微软雅黑" panose="020B0503020204020204" pitchFamily="34" charset="-122"/>
              </a:rPr>
              <a:t>Kernel</a:t>
            </a:r>
            <a:r>
              <a:rPr lang="zh-CN" altLang="en-US" sz="1400" b="0" dirty="0">
                <a:solidFill>
                  <a:srgbClr val="FF0000"/>
                </a:solidFill>
                <a:latin typeface="微软雅黑" panose="020B0503020204020204" pitchFamily="34" charset="-122"/>
                <a:ea typeface="微软雅黑" panose="020B0503020204020204" pitchFamily="34" charset="-122"/>
              </a:rPr>
              <a:t>的工作模式</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bool </a:t>
            </a:r>
            <a:r>
              <a:rPr lang="en-US" altLang="zh-CN" sz="1400" b="0" dirty="0" err="1">
                <a:solidFill>
                  <a:srgbClr val="0070C0"/>
                </a:solidFill>
                <a:latin typeface="微软雅黑" panose="020B0503020204020204" pitchFamily="34" charset="-122"/>
                <a:ea typeface="微软雅黑" panose="020B0503020204020204" pitchFamily="34" charset="-122"/>
              </a:rPr>
              <a:t>kernel_enforcing</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security_getenforce</a:t>
            </a:r>
            <a:r>
              <a:rPr lang="en-US" altLang="zh-CN" sz="1400" b="0" dirty="0">
                <a:solidFill>
                  <a:srgbClr val="0070C0"/>
                </a:solidFill>
                <a:latin typeface="微软雅黑" panose="020B0503020204020204" pitchFamily="34" charset="-122"/>
                <a:ea typeface="微软雅黑" panose="020B0503020204020204" pitchFamily="34" charset="-122"/>
              </a:rPr>
              <a:t>() == 1);</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获取工作模式的配置</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bool </a:t>
            </a:r>
            <a:r>
              <a:rPr lang="en-US" altLang="zh-CN" sz="1400" b="0" dirty="0" err="1">
                <a:solidFill>
                  <a:srgbClr val="0070C0"/>
                </a:solidFill>
                <a:latin typeface="微软雅黑" panose="020B0503020204020204" pitchFamily="34" charset="-122"/>
                <a:ea typeface="微软雅黑" panose="020B0503020204020204" pitchFamily="34" charset="-122"/>
              </a:rPr>
              <a:t>is_enforcing</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IsEnforcing</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如果当前的工作模式与配置的不同，就将当前的工作模式改掉</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if (</a:t>
            </a:r>
            <a:r>
              <a:rPr lang="en-US" altLang="zh-CN" sz="1400" b="0" dirty="0" err="1">
                <a:solidFill>
                  <a:srgbClr val="0070C0"/>
                </a:solidFill>
                <a:latin typeface="微软雅黑" panose="020B0503020204020204" pitchFamily="34" charset="-122"/>
                <a:ea typeface="微软雅黑" panose="020B0503020204020204" pitchFamily="34" charset="-122"/>
              </a:rPr>
              <a:t>kernel_enforcing</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is_enforcing</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security_setenforce</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is_enforcing</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PLOG(FATAL) &lt;&lt; "</a:t>
            </a:r>
            <a:r>
              <a:rPr lang="en-US" altLang="zh-CN" sz="1400" b="0" dirty="0" err="1">
                <a:solidFill>
                  <a:srgbClr val="0070C0"/>
                </a:solidFill>
                <a:latin typeface="微软雅黑" panose="020B0503020204020204" pitchFamily="34" charset="-122"/>
                <a:ea typeface="微软雅黑" panose="020B0503020204020204" pitchFamily="34" charset="-122"/>
              </a:rPr>
              <a:t>security_setenforce</a:t>
            </a:r>
            <a:r>
              <a:rPr lang="en-US" altLang="zh-CN" sz="1400" b="0" dirty="0">
                <a:solidFill>
                  <a:srgbClr val="0070C0"/>
                </a:solidFill>
                <a:latin typeface="微软雅黑" panose="020B0503020204020204" pitchFamily="34" charset="-122"/>
                <a:ea typeface="微软雅黑" panose="020B0503020204020204" pitchFamily="34" charset="-122"/>
              </a:rPr>
              <a:t>(" &lt;&lt; (</a:t>
            </a:r>
            <a:r>
              <a:rPr lang="en-US" altLang="zh-CN" sz="1400" b="0" dirty="0" err="1">
                <a:solidFill>
                  <a:srgbClr val="0070C0"/>
                </a:solidFill>
                <a:latin typeface="微软雅黑" panose="020B0503020204020204" pitchFamily="34" charset="-122"/>
                <a:ea typeface="微软雅黑" panose="020B0503020204020204" pitchFamily="34" charset="-122"/>
              </a:rPr>
              <a:t>is_enforcing</a:t>
            </a:r>
            <a:r>
              <a:rPr lang="en-US" altLang="zh-CN" sz="1400" b="0" dirty="0">
                <a:solidFill>
                  <a:srgbClr val="0070C0"/>
                </a:solidFill>
                <a:latin typeface="微软雅黑" panose="020B0503020204020204" pitchFamily="34" charset="-122"/>
                <a:ea typeface="微软雅黑" panose="020B0503020204020204" pitchFamily="34" charset="-122"/>
              </a:rPr>
              <a:t> ? "true" : "false") &lt;&lt; ") failed";</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FF0000"/>
                </a:solidFill>
                <a:latin typeface="微软雅黑" panose="020B0503020204020204" pitchFamily="34" charset="-122"/>
                <a:ea typeface="微软雅黑" panose="020B0503020204020204" pitchFamily="34" charset="-122"/>
              </a:rPr>
              <a:t>/* </a:t>
            </a:r>
          </a:p>
          <a:p>
            <a:pPr algn="l"/>
            <a:r>
              <a:rPr lang="en-US" altLang="zh-CN" sz="1400" b="0" dirty="0">
                <a:solidFill>
                  <a:srgbClr val="FF0000"/>
                </a:solidFill>
                <a:latin typeface="微软雅黑" panose="020B0503020204020204" pitchFamily="34" charset="-122"/>
                <a:ea typeface="微软雅黑" panose="020B0503020204020204" pitchFamily="34" charset="-122"/>
              </a:rPr>
              <a:t> *</a:t>
            </a:r>
            <a:r>
              <a:rPr lang="zh-CN" altLang="en-US" sz="1400" b="0" dirty="0">
                <a:solidFill>
                  <a:srgbClr val="FF0000"/>
                </a:solidFill>
                <a:latin typeface="微软雅黑" panose="020B0503020204020204" pitchFamily="34" charset="-122"/>
                <a:ea typeface="微软雅黑" panose="020B0503020204020204" pitchFamily="34" charset="-122"/>
              </a:rPr>
              <a:t>加载</a:t>
            </a:r>
            <a:r>
              <a:rPr lang="en-US" altLang="zh-CN" sz="1400" b="0" dirty="0" err="1">
                <a:solidFill>
                  <a:srgbClr val="FF0000"/>
                </a:solidFill>
                <a:latin typeface="微软雅黑" panose="020B0503020204020204" pitchFamily="34" charset="-122"/>
                <a:ea typeface="微软雅黑" panose="020B0503020204020204" pitchFamily="34" charset="-122"/>
              </a:rPr>
              <a:t>SELinux</a:t>
            </a:r>
            <a:r>
              <a:rPr lang="zh-CN" altLang="en-US" sz="1400" b="0" dirty="0">
                <a:solidFill>
                  <a:srgbClr val="FF0000"/>
                </a:solidFill>
                <a:latin typeface="微软雅黑" panose="020B0503020204020204" pitchFamily="34" charset="-122"/>
                <a:ea typeface="微软雅黑" panose="020B0503020204020204" pitchFamily="34" charset="-122"/>
              </a:rPr>
              <a:t>规则 </a:t>
            </a:r>
          </a:p>
          <a:p>
            <a:pPr algn="l"/>
            <a:r>
              <a:rPr lang="zh-CN" altLang="en-US" sz="1400" b="0" dirty="0">
                <a:solidFill>
                  <a:srgbClr val="FF0000"/>
                </a:solidFill>
                <a:latin typeface="微软雅黑" panose="020B0503020204020204" pitchFamily="34" charset="-122"/>
                <a:ea typeface="微软雅黑" panose="020B0503020204020204" pitchFamily="34" charset="-122"/>
              </a:rPr>
              <a:t> *这里区分了两种情况</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这两种情况只是区分从哪里加载安全策略</a:t>
            </a:r>
            <a:r>
              <a:rPr lang="zh-CN" altLang="en-US" sz="1400" b="0" dirty="0" smtClean="0">
                <a:solidFill>
                  <a:srgbClr val="FF0000"/>
                </a:solidFill>
                <a:latin typeface="微软雅黑" panose="020B0503020204020204" pitchFamily="34" charset="-122"/>
                <a:ea typeface="微软雅黑" panose="020B0503020204020204" pitchFamily="34" charset="-122"/>
              </a:rPr>
              <a:t>文件</a:t>
            </a:r>
            <a:r>
              <a:rPr lang="zh-CN" altLang="en-US" sz="1400" b="0" dirty="0">
                <a:solidFill>
                  <a:srgbClr val="FF0000"/>
                </a:solidFill>
                <a:latin typeface="微软雅黑" panose="020B0503020204020204" pitchFamily="34" charset="-122"/>
                <a:ea typeface="微软雅黑" panose="020B0503020204020204" pitchFamily="34" charset="-122"/>
              </a:rPr>
              <a:t>，</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FF000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en-US" altLang="zh-CN" sz="1400" b="0" dirty="0" err="1" smtClean="0">
                <a:solidFill>
                  <a:srgbClr val="FF0000"/>
                </a:solidFill>
                <a:latin typeface="微软雅黑" panose="020B0503020204020204" pitchFamily="34" charset="-122"/>
                <a:ea typeface="微软雅黑" panose="020B0503020204020204" pitchFamily="34" charset="-122"/>
              </a:rPr>
              <a:t>LoadSplitPolicy</a:t>
            </a:r>
            <a:r>
              <a:rPr lang="zh-CN" altLang="en-US" sz="1400" b="0" dirty="0" smtClean="0">
                <a:solidFill>
                  <a:srgbClr val="FF0000"/>
                </a:solidFill>
                <a:latin typeface="微软雅黑" panose="020B0503020204020204" pitchFamily="34" charset="-122"/>
                <a:ea typeface="微软雅黑" panose="020B0503020204020204" pitchFamily="34" charset="-122"/>
              </a:rPr>
              <a:t>是</a:t>
            </a:r>
            <a:r>
              <a:rPr lang="zh-CN" altLang="en-US" sz="1400" b="0" dirty="0">
                <a:solidFill>
                  <a:srgbClr val="FF0000"/>
                </a:solidFill>
                <a:latin typeface="微软雅黑" panose="020B0503020204020204" pitchFamily="34" charset="-122"/>
                <a:ea typeface="微软雅黑" panose="020B0503020204020204" pitchFamily="34" charset="-122"/>
              </a:rPr>
              <a:t>从</a:t>
            </a:r>
            <a:r>
              <a:rPr lang="en-US" altLang="zh-CN" sz="1400" b="0" dirty="0">
                <a:solidFill>
                  <a:srgbClr val="FF0000"/>
                </a:solidFill>
                <a:latin typeface="微软雅黑" panose="020B0503020204020204" pitchFamily="34" charset="-122"/>
                <a:ea typeface="微软雅黑" panose="020B0503020204020204" pitchFamily="34" charset="-122"/>
              </a:rPr>
              <a:t>/vendor/</a:t>
            </a:r>
            <a:r>
              <a:rPr lang="en-US" altLang="zh-CN" sz="1400" b="0" dirty="0" err="1">
                <a:solidFill>
                  <a:srgbClr val="FF0000"/>
                </a:solidFill>
                <a:latin typeface="微软雅黑" panose="020B0503020204020204" pitchFamily="34" charset="-122"/>
                <a:ea typeface="微软雅黑" panose="020B0503020204020204" pitchFamily="34" charset="-122"/>
              </a:rPr>
              <a:t>etc</a:t>
            </a:r>
            <a:r>
              <a:rPr lang="en-US" altLang="zh-CN" sz="1400" b="0" dirty="0">
                <a:solidFill>
                  <a:srgbClr val="FF0000"/>
                </a:solidFill>
                <a:latin typeface="微软雅黑" panose="020B0503020204020204" pitchFamily="34" charset="-122"/>
                <a:ea typeface="微软雅黑" panose="020B0503020204020204" pitchFamily="34" charset="-122"/>
              </a:rPr>
              <a:t>/</a:t>
            </a:r>
            <a:r>
              <a:rPr lang="en-US" altLang="zh-CN" sz="1400" b="0" dirty="0" err="1">
                <a:solidFill>
                  <a:srgbClr val="FF0000"/>
                </a:solidFill>
                <a:latin typeface="微软雅黑" panose="020B0503020204020204" pitchFamily="34" charset="-122"/>
                <a:ea typeface="微软雅黑" panose="020B0503020204020204" pitchFamily="34" charset="-122"/>
              </a:rPr>
              <a:t>selinux</a:t>
            </a:r>
            <a:r>
              <a:rPr lang="en-US" altLang="zh-CN" sz="1400" b="0" dirty="0">
                <a:solidFill>
                  <a:srgbClr val="FF0000"/>
                </a:solidFill>
                <a:latin typeface="微软雅黑" panose="020B0503020204020204" pitchFamily="34" charset="-122"/>
                <a:ea typeface="微软雅黑" panose="020B0503020204020204" pitchFamily="34" charset="-122"/>
              </a:rPr>
              <a:t>/</a:t>
            </a:r>
            <a:r>
              <a:rPr lang="en-US" altLang="zh-CN" sz="1400" b="0" dirty="0" err="1">
                <a:solidFill>
                  <a:srgbClr val="FF0000"/>
                </a:solidFill>
                <a:latin typeface="微软雅黑" panose="020B0503020204020204" pitchFamily="34" charset="-122"/>
                <a:ea typeface="微软雅黑" panose="020B0503020204020204" pitchFamily="34" charset="-122"/>
              </a:rPr>
              <a:t>precompiled_sepolicy</a:t>
            </a:r>
            <a:r>
              <a:rPr lang="zh-CN" altLang="en-US" sz="1400" b="0" dirty="0">
                <a:solidFill>
                  <a:srgbClr val="FF0000"/>
                </a:solidFill>
                <a:latin typeface="微软雅黑" panose="020B0503020204020204" pitchFamily="34" charset="-122"/>
                <a:ea typeface="微软雅黑" panose="020B0503020204020204" pitchFamily="34" charset="-122"/>
              </a:rPr>
              <a:t>读取</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FF000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en-US" altLang="zh-CN" sz="1400" b="0" dirty="0" err="1" smtClean="0">
                <a:solidFill>
                  <a:srgbClr val="FF0000"/>
                </a:solidFill>
                <a:latin typeface="微软雅黑" panose="020B0503020204020204" pitchFamily="34" charset="-122"/>
                <a:ea typeface="微软雅黑" panose="020B0503020204020204" pitchFamily="34" charset="-122"/>
              </a:rPr>
              <a:t>LoadMonolithicPolicy</a:t>
            </a:r>
            <a:r>
              <a:rPr lang="zh-CN" altLang="en-US" sz="1400" b="0" dirty="0" smtClean="0">
                <a:solidFill>
                  <a:srgbClr val="FF0000"/>
                </a:solidFill>
                <a:latin typeface="微软雅黑" panose="020B0503020204020204" pitchFamily="34" charset="-122"/>
                <a:ea typeface="微软雅黑" panose="020B0503020204020204" pitchFamily="34" charset="-122"/>
              </a:rPr>
              <a:t>是</a:t>
            </a:r>
            <a:r>
              <a:rPr lang="zh-CN" altLang="en-US" sz="1400" b="0" dirty="0">
                <a:solidFill>
                  <a:srgbClr val="FF0000"/>
                </a:solidFill>
                <a:latin typeface="微软雅黑" panose="020B0503020204020204" pitchFamily="34" charset="-122"/>
                <a:ea typeface="微软雅黑" panose="020B0503020204020204" pitchFamily="34" charset="-122"/>
              </a:rPr>
              <a:t>从</a:t>
            </a:r>
            <a:r>
              <a:rPr lang="en-US" altLang="zh-CN" sz="1400" b="0" dirty="0">
                <a:solidFill>
                  <a:srgbClr val="FF0000"/>
                </a:solidFill>
                <a:latin typeface="微软雅黑" panose="020B0503020204020204" pitchFamily="34" charset="-122"/>
                <a:ea typeface="微软雅黑" panose="020B0503020204020204" pitchFamily="34" charset="-122"/>
              </a:rPr>
              <a:t>/</a:t>
            </a:r>
            <a:r>
              <a:rPr lang="en-US" altLang="zh-CN" sz="1400" b="0" dirty="0" err="1">
                <a:solidFill>
                  <a:srgbClr val="FF0000"/>
                </a:solidFill>
                <a:latin typeface="微软雅黑" panose="020B0503020204020204" pitchFamily="34" charset="-122"/>
                <a:ea typeface="微软雅黑" panose="020B0503020204020204" pitchFamily="34" charset="-122"/>
              </a:rPr>
              <a:t>sepolicy</a:t>
            </a:r>
            <a:r>
              <a:rPr lang="en-US" altLang="zh-CN" sz="1400" b="0" dirty="0">
                <a:solidFill>
                  <a:srgbClr val="FF0000"/>
                </a:solidFill>
                <a:latin typeface="微软雅黑" panose="020B0503020204020204" pitchFamily="34" charset="-122"/>
                <a:ea typeface="微软雅黑" panose="020B0503020204020204" pitchFamily="34" charset="-122"/>
              </a:rPr>
              <a:t> </a:t>
            </a:r>
            <a:r>
              <a:rPr lang="zh-CN" altLang="en-US" sz="1400" b="0" dirty="0" smtClean="0">
                <a:solidFill>
                  <a:srgbClr val="FF0000"/>
                </a:solidFill>
                <a:latin typeface="微软雅黑" panose="020B0503020204020204" pitchFamily="34" charset="-122"/>
                <a:ea typeface="微软雅黑" panose="020B0503020204020204" pitchFamily="34" charset="-122"/>
              </a:rPr>
              <a:t>读取，他们</a:t>
            </a:r>
            <a:r>
              <a:rPr lang="zh-CN" altLang="en-US" sz="1400" b="0" dirty="0">
                <a:solidFill>
                  <a:srgbClr val="FF0000"/>
                </a:solidFill>
                <a:latin typeface="微软雅黑" panose="020B0503020204020204" pitchFamily="34" charset="-122"/>
                <a:ea typeface="微软雅黑" panose="020B0503020204020204" pitchFamily="34" charset="-122"/>
              </a:rPr>
              <a:t>最终都是调用</a:t>
            </a:r>
            <a:r>
              <a:rPr lang="en-US" altLang="zh-CN" sz="1400" b="0" dirty="0" err="1">
                <a:solidFill>
                  <a:srgbClr val="FF0000"/>
                </a:solidFill>
                <a:latin typeface="微软雅黑" panose="020B0503020204020204" pitchFamily="34" charset="-122"/>
                <a:ea typeface="微软雅黑" panose="020B0503020204020204" pitchFamily="34" charset="-122"/>
              </a:rPr>
              <a:t>selinux_android_load_policy_from_fd</a:t>
            </a:r>
            <a:r>
              <a:rPr lang="zh-CN" altLang="en-US" sz="1400" b="0" dirty="0">
                <a:solidFill>
                  <a:srgbClr val="FF0000"/>
                </a:solidFill>
                <a:latin typeface="微软雅黑" panose="020B0503020204020204" pitchFamily="34" charset="-122"/>
                <a:ea typeface="微软雅黑" panose="020B0503020204020204" pitchFamily="34" charset="-122"/>
              </a:rPr>
              <a:t>方法 </a:t>
            </a:r>
          </a:p>
          <a:p>
            <a:pPr algn="l"/>
            <a:r>
              <a:rPr lang="zh-CN" altLang="en-US" sz="1400" b="0" dirty="0">
                <a:solidFill>
                  <a:srgbClr val="FF000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bool </a:t>
            </a:r>
            <a:r>
              <a:rPr lang="en-US" altLang="zh-CN" sz="1400" b="0" dirty="0" err="1">
                <a:solidFill>
                  <a:srgbClr val="0070C0"/>
                </a:solidFill>
                <a:latin typeface="微软雅黑" panose="020B0503020204020204" pitchFamily="34" charset="-122"/>
                <a:ea typeface="微软雅黑" panose="020B0503020204020204" pitchFamily="34" charset="-122"/>
              </a:rPr>
              <a:t>LoadPolicy</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a:t>
            </a:r>
            <a:r>
              <a:rPr lang="en-US" altLang="zh-CN" sz="1400" b="0" dirty="0" err="1">
                <a:solidFill>
                  <a:srgbClr val="0070C0"/>
                </a:solidFill>
                <a:latin typeface="微软雅黑" panose="020B0503020204020204" pitchFamily="34" charset="-122"/>
                <a:ea typeface="微软雅黑" panose="020B0503020204020204" pitchFamily="34" charset="-122"/>
              </a:rPr>
              <a:t>IsSplitPolicyDevice</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LoadSplitPolicy</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LoadMonolithicPolicy</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endParaRPr lang="en-US" altLang="zh-CN" sz="1400" b="0" dirty="0" smtClean="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75154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3293209"/>
          </a:xfrm>
          <a:prstGeom prst="rect">
            <a:avLst/>
          </a:prstGeom>
          <a:noFill/>
        </p:spPr>
        <p:txBody>
          <a:bodyPr wrap="square" rtlCol="0">
            <a:spAutoFit/>
          </a:bodyPr>
          <a:lstStyle/>
          <a:p>
            <a:pPr algn="l"/>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进程启动</a:t>
            </a:r>
            <a:r>
              <a:rPr lang="zh-CN" altLang="en-US" sz="1600" b="0" dirty="0" smtClean="0">
                <a:latin typeface="微软雅黑" panose="020B0503020204020204" pitchFamily="34" charset="-122"/>
                <a:ea typeface="微软雅黑" panose="020B0503020204020204" pitchFamily="34" charset="-122"/>
              </a:rPr>
              <a:t>第二</a:t>
            </a:r>
            <a:r>
              <a:rPr lang="zh-CN" altLang="en-US" sz="1600" b="0" dirty="0">
                <a:latin typeface="微软雅黑" panose="020B0503020204020204" pitchFamily="34" charset="-122"/>
                <a:ea typeface="微软雅黑" panose="020B0503020204020204" pitchFamily="34" charset="-122"/>
              </a:rPr>
              <a:t>阶段（</a:t>
            </a:r>
            <a:r>
              <a:rPr lang="en-US" altLang="zh-CN" sz="1600" b="0" dirty="0" err="1">
                <a:latin typeface="微软雅黑" panose="020B0503020204020204" pitchFamily="34" charset="-122"/>
                <a:ea typeface="微软雅黑" panose="020B0503020204020204" pitchFamily="34" charset="-122"/>
              </a:rPr>
              <a:t>SecondStageMain</a:t>
            </a:r>
            <a:r>
              <a:rPr lang="zh-CN" altLang="en-US" sz="1600" b="0" dirty="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SecondStageMain</a:t>
            </a:r>
            <a:r>
              <a:rPr lang="zh-CN" altLang="en-US" sz="1600" b="0" dirty="0" smtClean="0">
                <a:latin typeface="微软雅黑" panose="020B0503020204020204" pitchFamily="34" charset="-122"/>
                <a:ea typeface="微软雅黑" panose="020B0503020204020204" pitchFamily="34" charset="-122"/>
              </a:rPr>
              <a:t>阶段主要功能如下：</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187322" y="1484784"/>
            <a:ext cx="8754325" cy="3312368"/>
          </a:xfrm>
          <a:prstGeom prst="rect">
            <a:avLst/>
          </a:prstGeom>
        </p:spPr>
      </p:pic>
    </p:spTree>
    <p:extLst>
      <p:ext uri="{BB962C8B-B14F-4D97-AF65-F5344CB8AC3E}">
        <p14:creationId xmlns:p14="http://schemas.microsoft.com/office/powerpoint/2010/main" val="994058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693866"/>
          </a:xfrm>
          <a:prstGeom prst="rect">
            <a:avLst/>
          </a:prstGeom>
          <a:noFill/>
        </p:spPr>
        <p:txBody>
          <a:bodyPr wrap="square" rtlCol="0">
            <a:spAutoFit/>
          </a:bodyPr>
          <a:lstStyle/>
          <a:p>
            <a:pPr algn="l"/>
            <a:r>
              <a:rPr lang="en-US" altLang="zh-CN" sz="1400" b="0" dirty="0" err="1">
                <a:latin typeface="微软雅黑" panose="020B0503020204020204" pitchFamily="34" charset="-122"/>
                <a:ea typeface="微软雅黑" panose="020B0503020204020204" pitchFamily="34" charset="-122"/>
              </a:rPr>
              <a:t>int</a:t>
            </a:r>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SecondStageMain</a:t>
            </a:r>
            <a:r>
              <a:rPr lang="en-US" altLang="zh-CN" sz="1400" b="0" dirty="0">
                <a:latin typeface="微软雅黑" panose="020B0503020204020204" pitchFamily="34" charset="-122"/>
                <a:ea typeface="微软雅黑" panose="020B0503020204020204" pitchFamily="34" charset="-122"/>
              </a:rPr>
              <a:t>(</a:t>
            </a:r>
            <a:r>
              <a:rPr lang="en-US" altLang="zh-CN" sz="1400" b="0" dirty="0" err="1">
                <a:latin typeface="微软雅黑" panose="020B0503020204020204" pitchFamily="34" charset="-122"/>
                <a:ea typeface="微软雅黑" panose="020B0503020204020204" pitchFamily="34" charset="-122"/>
              </a:rPr>
              <a:t>int</a:t>
            </a:r>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argc</a:t>
            </a:r>
            <a:r>
              <a:rPr lang="en-US" altLang="zh-CN" sz="1400" b="0" dirty="0">
                <a:latin typeface="微软雅黑" panose="020B0503020204020204" pitchFamily="34" charset="-122"/>
                <a:ea typeface="微软雅黑" panose="020B0503020204020204" pitchFamily="34" charset="-122"/>
              </a:rPr>
              <a:t>, char** </a:t>
            </a:r>
            <a:r>
              <a:rPr lang="en-US" altLang="zh-CN" sz="1400" b="0" dirty="0" err="1">
                <a:latin typeface="微软雅黑" panose="020B0503020204020204" pitchFamily="34" charset="-122"/>
                <a:ea typeface="微软雅黑" panose="020B0503020204020204" pitchFamily="34" charset="-122"/>
              </a:rPr>
              <a:t>argv</a:t>
            </a:r>
            <a:r>
              <a:rPr lang="en-US" altLang="zh-CN" sz="1400" b="0" dirty="0">
                <a:latin typeface="微软雅黑" panose="020B0503020204020204" pitchFamily="34" charset="-122"/>
                <a:ea typeface="微软雅黑" panose="020B0503020204020204" pitchFamily="34" charset="-122"/>
              </a:rPr>
              <a:t>) {</a:t>
            </a:r>
          </a:p>
          <a:p>
            <a:pPr algn="l"/>
            <a:r>
              <a:rPr lang="en-US" altLang="zh-CN" sz="1400" b="0" dirty="0">
                <a:latin typeface="微软雅黑" panose="020B0503020204020204" pitchFamily="34" charset="-122"/>
                <a:ea typeface="微软雅黑" panose="020B0503020204020204" pitchFamily="34" charset="-122"/>
              </a:rPr>
              <a:t>    ......</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//01.</a:t>
            </a:r>
            <a:r>
              <a:rPr lang="zh-CN" altLang="en-US" sz="1400" b="0" dirty="0">
                <a:solidFill>
                  <a:srgbClr val="FF0000"/>
                </a:solidFill>
                <a:latin typeface="微软雅黑" panose="020B0503020204020204" pitchFamily="34" charset="-122"/>
                <a:ea typeface="微软雅黑" panose="020B0503020204020204" pitchFamily="34" charset="-122"/>
              </a:rPr>
              <a:t>创建进程会话密钥并初始化属性系统</a:t>
            </a:r>
          </a:p>
          <a:p>
            <a:pPr algn="l"/>
            <a:r>
              <a:rPr lang="zh-CN" altLang="en-US"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keyctl_get_keyring_ID</a:t>
            </a:r>
            <a:r>
              <a:rPr lang="en-US" altLang="zh-CN" sz="1400" b="0" dirty="0">
                <a:latin typeface="微软雅黑" panose="020B0503020204020204" pitchFamily="34" charset="-122"/>
                <a:ea typeface="微软雅黑" panose="020B0503020204020204" pitchFamily="34" charset="-122"/>
              </a:rPr>
              <a:t>(KEY_SPEC_SESSION_KEYRING, 1);</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创建</a:t>
            </a:r>
            <a:r>
              <a:rPr lang="en-US" altLang="zh-CN" sz="1400" b="0" dirty="0">
                <a:solidFill>
                  <a:srgbClr val="FF0000"/>
                </a:solidFill>
                <a:latin typeface="微软雅黑" panose="020B0503020204020204" pitchFamily="34" charset="-122"/>
                <a:ea typeface="微软雅黑" panose="020B0503020204020204" pitchFamily="34" charset="-122"/>
              </a:rPr>
              <a:t>/dev/.booting</a:t>
            </a:r>
            <a:r>
              <a:rPr lang="zh-CN" altLang="en-US" sz="1400" b="0" dirty="0">
                <a:solidFill>
                  <a:srgbClr val="FF0000"/>
                </a:solidFill>
                <a:latin typeface="微软雅黑" panose="020B0503020204020204" pitchFamily="34" charset="-122"/>
                <a:ea typeface="微软雅黑" panose="020B0503020204020204" pitchFamily="34" charset="-122"/>
              </a:rPr>
              <a:t>文件，就是个标记，表示</a:t>
            </a:r>
            <a:r>
              <a:rPr lang="en-US" altLang="zh-CN" sz="1400" b="0" dirty="0">
                <a:solidFill>
                  <a:srgbClr val="FF0000"/>
                </a:solidFill>
                <a:latin typeface="微软雅黑" panose="020B0503020204020204" pitchFamily="34" charset="-122"/>
                <a:ea typeface="微软雅黑" panose="020B0503020204020204" pitchFamily="34" charset="-122"/>
              </a:rPr>
              <a:t>booting</a:t>
            </a:r>
            <a:r>
              <a:rPr lang="zh-CN" altLang="en-US" sz="1400" b="0" dirty="0">
                <a:solidFill>
                  <a:srgbClr val="FF0000"/>
                </a:solidFill>
                <a:latin typeface="微软雅黑" panose="020B0503020204020204" pitchFamily="34" charset="-122"/>
                <a:ea typeface="微软雅黑" panose="020B0503020204020204" pitchFamily="34" charset="-122"/>
              </a:rPr>
              <a:t>正在进行中</a:t>
            </a:r>
          </a:p>
          <a:p>
            <a:pPr algn="l"/>
            <a:r>
              <a:rPr lang="zh-CN" altLang="en-US" sz="1400" b="0" dirty="0">
                <a:latin typeface="微软雅黑" panose="020B0503020204020204" pitchFamily="34" charset="-122"/>
                <a:ea typeface="微软雅黑" panose="020B0503020204020204" pitchFamily="34" charset="-122"/>
              </a:rPr>
              <a:t>    </a:t>
            </a:r>
            <a:r>
              <a:rPr lang="en-US" altLang="zh-CN" sz="1400" b="0" dirty="0">
                <a:latin typeface="微软雅黑" panose="020B0503020204020204" pitchFamily="34" charset="-122"/>
                <a:ea typeface="微软雅黑" panose="020B0503020204020204" pitchFamily="34" charset="-122"/>
              </a:rPr>
              <a:t>close(open("/dev/.booting", O_WRONLY | O_CREAT | O_CLOEXEC, 0000));</a:t>
            </a:r>
          </a:p>
          <a:p>
            <a:pPr algn="l"/>
            <a:r>
              <a:rPr lang="en-US" altLang="zh-CN" sz="1400" b="0" dirty="0">
                <a:latin typeface="微软雅黑" panose="020B0503020204020204" pitchFamily="34" charset="-122"/>
                <a:ea typeface="微软雅黑" panose="020B0503020204020204" pitchFamily="34" charset="-122"/>
              </a:rPr>
              <a:t>    ......</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初始化属性系统，并从指定文件读取属性</a:t>
            </a:r>
          </a:p>
          <a:p>
            <a:pPr algn="l"/>
            <a:r>
              <a:rPr lang="zh-CN" altLang="en-US"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PropertyInit</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//02.</a:t>
            </a:r>
            <a:r>
              <a:rPr lang="zh-CN" altLang="en-US" sz="1400" b="0" dirty="0">
                <a:solidFill>
                  <a:srgbClr val="FF0000"/>
                </a:solidFill>
                <a:latin typeface="微软雅黑" panose="020B0503020204020204" pitchFamily="34" charset="-122"/>
                <a:ea typeface="微软雅黑" panose="020B0503020204020204" pitchFamily="34" charset="-122"/>
              </a:rPr>
              <a:t>进行</a:t>
            </a:r>
            <a:r>
              <a:rPr lang="en-US" altLang="zh-CN" sz="1400" b="0" dirty="0" err="1">
                <a:solidFill>
                  <a:srgbClr val="FF0000"/>
                </a:solidFill>
                <a:latin typeface="微软雅黑" panose="020B0503020204020204" pitchFamily="34" charset="-122"/>
                <a:ea typeface="微软雅黑" panose="020B0503020204020204" pitchFamily="34" charset="-122"/>
              </a:rPr>
              <a:t>SELinux</a:t>
            </a:r>
            <a:r>
              <a:rPr lang="zh-CN" altLang="en-US" sz="1400" b="0" dirty="0">
                <a:solidFill>
                  <a:srgbClr val="FF0000"/>
                </a:solidFill>
                <a:latin typeface="微软雅黑" panose="020B0503020204020204" pitchFamily="34" charset="-122"/>
                <a:ea typeface="微软雅黑" panose="020B0503020204020204" pitchFamily="34" charset="-122"/>
              </a:rPr>
              <a:t>第二阶段并恢复一些文件安全上下文，因为这些文件是在</a:t>
            </a:r>
            <a:r>
              <a:rPr lang="en-US" altLang="zh-CN" sz="1400" b="0" dirty="0" err="1">
                <a:solidFill>
                  <a:srgbClr val="FF0000"/>
                </a:solidFill>
                <a:latin typeface="微软雅黑" panose="020B0503020204020204" pitchFamily="34" charset="-122"/>
                <a:ea typeface="微软雅黑" panose="020B0503020204020204" pitchFamily="34" charset="-122"/>
              </a:rPr>
              <a:t>SELinux</a:t>
            </a:r>
            <a:r>
              <a:rPr lang="zh-CN" altLang="en-US" sz="1400" b="0" dirty="0">
                <a:solidFill>
                  <a:srgbClr val="FF0000"/>
                </a:solidFill>
                <a:latin typeface="微软雅黑" panose="020B0503020204020204" pitchFamily="34" charset="-122"/>
                <a:ea typeface="微软雅黑" panose="020B0503020204020204" pitchFamily="34" charset="-122"/>
              </a:rPr>
              <a:t>安全机制初始化前创建的，所以需要重新恢复上下文</a:t>
            </a:r>
          </a:p>
          <a:p>
            <a:pPr algn="l"/>
            <a:r>
              <a:rPr lang="zh-CN" altLang="en-US"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SelinuxSetupKernelLogging</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SelabelInitialize</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SelinuxRestoreContext</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//03.</a:t>
            </a:r>
            <a:r>
              <a:rPr lang="zh-CN" altLang="en-US" sz="1400" b="0" dirty="0">
                <a:solidFill>
                  <a:srgbClr val="FF0000"/>
                </a:solidFill>
                <a:latin typeface="微软雅黑" panose="020B0503020204020204" pitchFamily="34" charset="-122"/>
                <a:ea typeface="微软雅黑" panose="020B0503020204020204" pitchFamily="34" charset="-122"/>
              </a:rPr>
              <a:t>新建</a:t>
            </a:r>
            <a:r>
              <a:rPr lang="en-US" altLang="zh-CN" sz="1400" b="0" dirty="0" err="1">
                <a:solidFill>
                  <a:srgbClr val="FF0000"/>
                </a:solidFill>
                <a:latin typeface="微软雅黑" panose="020B0503020204020204" pitchFamily="34" charset="-122"/>
                <a:ea typeface="微软雅黑" panose="020B0503020204020204" pitchFamily="34" charset="-122"/>
              </a:rPr>
              <a:t>epoll</a:t>
            </a:r>
            <a:r>
              <a:rPr lang="zh-CN" altLang="en-US" sz="1400" b="0" dirty="0">
                <a:solidFill>
                  <a:srgbClr val="FF0000"/>
                </a:solidFill>
                <a:latin typeface="微软雅黑" panose="020B0503020204020204" pitchFamily="34" charset="-122"/>
                <a:ea typeface="微软雅黑" panose="020B0503020204020204" pitchFamily="34" charset="-122"/>
              </a:rPr>
              <a:t>并初始化子进程终止信号处理函数创建</a:t>
            </a:r>
            <a:r>
              <a:rPr lang="en-US" altLang="zh-CN" sz="1400" b="0" dirty="0" err="1">
                <a:solidFill>
                  <a:srgbClr val="FF0000"/>
                </a:solidFill>
                <a:latin typeface="微软雅黑" panose="020B0503020204020204" pitchFamily="34" charset="-122"/>
                <a:ea typeface="微软雅黑" panose="020B0503020204020204" pitchFamily="34" charset="-122"/>
              </a:rPr>
              <a:t>epoll</a:t>
            </a:r>
            <a:r>
              <a:rPr lang="zh-CN" altLang="en-US" sz="1400" b="0" dirty="0">
                <a:solidFill>
                  <a:srgbClr val="FF0000"/>
                </a:solidFill>
                <a:latin typeface="微软雅黑" panose="020B0503020204020204" pitchFamily="34" charset="-122"/>
                <a:ea typeface="微软雅黑" panose="020B0503020204020204" pitchFamily="34" charset="-122"/>
              </a:rPr>
              <a:t>实例，并返回</a:t>
            </a:r>
            <a:r>
              <a:rPr lang="en-US" altLang="zh-CN" sz="1400" b="0" dirty="0" err="1">
                <a:solidFill>
                  <a:srgbClr val="FF0000"/>
                </a:solidFill>
                <a:latin typeface="微软雅黑" panose="020B0503020204020204" pitchFamily="34" charset="-122"/>
                <a:ea typeface="微软雅黑" panose="020B0503020204020204" pitchFamily="34" charset="-122"/>
              </a:rPr>
              <a:t>epoll</a:t>
            </a:r>
            <a:r>
              <a:rPr lang="zh-CN" altLang="en-US" sz="1400" b="0" dirty="0">
                <a:solidFill>
                  <a:srgbClr val="FF0000"/>
                </a:solidFill>
                <a:latin typeface="微软雅黑" panose="020B0503020204020204" pitchFamily="34" charset="-122"/>
                <a:ea typeface="微软雅黑" panose="020B0503020204020204" pitchFamily="34" charset="-122"/>
              </a:rPr>
              <a:t>的文件描述符</a:t>
            </a:r>
          </a:p>
          <a:p>
            <a:pPr algn="l"/>
            <a:r>
              <a:rPr lang="zh-CN" altLang="en-US"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Epoll</a:t>
            </a:r>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epoll</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if (auto result = </a:t>
            </a:r>
            <a:r>
              <a:rPr lang="en-US" altLang="zh-CN" sz="1400" b="0" dirty="0" err="1">
                <a:latin typeface="微软雅黑" panose="020B0503020204020204" pitchFamily="34" charset="-122"/>
                <a:ea typeface="微软雅黑" panose="020B0503020204020204" pitchFamily="34" charset="-122"/>
              </a:rPr>
              <a:t>epoll.Open</a:t>
            </a:r>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result.ok</a:t>
            </a:r>
            <a:r>
              <a:rPr lang="en-US" altLang="zh-CN" sz="1400" b="0" dirty="0">
                <a:latin typeface="微软雅黑" panose="020B0503020204020204" pitchFamily="34" charset="-122"/>
                <a:ea typeface="微软雅黑" panose="020B0503020204020204" pitchFamily="34" charset="-122"/>
              </a:rPr>
              <a:t>()) {</a:t>
            </a:r>
          </a:p>
          <a:p>
            <a:pPr algn="l"/>
            <a:r>
              <a:rPr lang="en-US" altLang="zh-CN" sz="1400" b="0" dirty="0">
                <a:latin typeface="微软雅黑" panose="020B0503020204020204" pitchFamily="34" charset="-122"/>
                <a:ea typeface="微软雅黑" panose="020B0503020204020204" pitchFamily="34" charset="-122"/>
              </a:rPr>
              <a:t>        PLOG(FATAL) &lt;&lt; </a:t>
            </a:r>
            <a:r>
              <a:rPr lang="en-US" altLang="zh-CN" sz="1400" b="0" dirty="0" err="1">
                <a:latin typeface="微软雅黑" panose="020B0503020204020204" pitchFamily="34" charset="-122"/>
                <a:ea typeface="微软雅黑" panose="020B0503020204020204" pitchFamily="34" charset="-122"/>
              </a:rPr>
              <a:t>result.error</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主要是创建</a:t>
            </a:r>
            <a:r>
              <a:rPr lang="en-US" altLang="zh-CN" sz="1400" b="0" dirty="0">
                <a:solidFill>
                  <a:srgbClr val="FF0000"/>
                </a:solidFill>
                <a:latin typeface="微软雅黑" panose="020B0503020204020204" pitchFamily="34" charset="-122"/>
                <a:ea typeface="微软雅黑" panose="020B0503020204020204" pitchFamily="34" charset="-122"/>
              </a:rPr>
              <a:t>handler</a:t>
            </a:r>
            <a:r>
              <a:rPr lang="zh-CN" altLang="en-US" sz="1400" b="0" dirty="0">
                <a:solidFill>
                  <a:srgbClr val="FF0000"/>
                </a:solidFill>
                <a:latin typeface="微软雅黑" panose="020B0503020204020204" pitchFamily="34" charset="-122"/>
                <a:ea typeface="微软雅黑" panose="020B0503020204020204" pitchFamily="34" charset="-122"/>
              </a:rPr>
              <a:t>处理子进程终止信号，注册一个</a:t>
            </a:r>
            <a:r>
              <a:rPr lang="en-US" altLang="zh-CN" sz="1400" b="0" dirty="0">
                <a:solidFill>
                  <a:srgbClr val="FF0000"/>
                </a:solidFill>
                <a:latin typeface="微软雅黑" panose="020B0503020204020204" pitchFamily="34" charset="-122"/>
                <a:ea typeface="微软雅黑" panose="020B0503020204020204" pitchFamily="34" charset="-122"/>
              </a:rPr>
              <a:t>signal</a:t>
            </a:r>
            <a:r>
              <a:rPr lang="zh-CN" altLang="en-US" sz="1400" b="0" dirty="0">
                <a:solidFill>
                  <a:srgbClr val="FF0000"/>
                </a:solidFill>
                <a:latin typeface="微软雅黑" panose="020B0503020204020204" pitchFamily="34" charset="-122"/>
                <a:ea typeface="微软雅黑" panose="020B0503020204020204" pitchFamily="34" charset="-122"/>
              </a:rPr>
              <a:t>到</a:t>
            </a:r>
            <a:r>
              <a:rPr lang="en-US" altLang="zh-CN" sz="1400" b="0" dirty="0" err="1">
                <a:solidFill>
                  <a:srgbClr val="FF0000"/>
                </a:solidFill>
                <a:latin typeface="微软雅黑" panose="020B0503020204020204" pitchFamily="34" charset="-122"/>
                <a:ea typeface="微软雅黑" panose="020B0503020204020204" pitchFamily="34" charset="-122"/>
              </a:rPr>
              <a:t>epoll</a:t>
            </a:r>
            <a:r>
              <a:rPr lang="zh-CN" altLang="en-US" sz="1400" b="0" dirty="0">
                <a:solidFill>
                  <a:srgbClr val="FF0000"/>
                </a:solidFill>
                <a:latin typeface="微软雅黑" panose="020B0503020204020204" pitchFamily="34" charset="-122"/>
                <a:ea typeface="微软雅黑" panose="020B0503020204020204" pitchFamily="34" charset="-122"/>
              </a:rPr>
              <a:t>进行监听进行子进程处理</a:t>
            </a:r>
          </a:p>
          <a:p>
            <a:pPr algn="l"/>
            <a:r>
              <a:rPr lang="zh-CN" altLang="en-US"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InstallSignalFdHandler</a:t>
            </a:r>
            <a:r>
              <a:rPr lang="en-US" altLang="zh-CN" sz="1400" b="0" dirty="0">
                <a:latin typeface="微软雅黑" panose="020B0503020204020204" pitchFamily="34" charset="-122"/>
                <a:ea typeface="微软雅黑" panose="020B0503020204020204" pitchFamily="34" charset="-122"/>
              </a:rPr>
              <a:t>(&amp;</a:t>
            </a:r>
            <a:r>
              <a:rPr lang="en-US" altLang="zh-CN" sz="1400" b="0" dirty="0" err="1">
                <a:latin typeface="微软雅黑" panose="020B0503020204020204" pitchFamily="34" charset="-122"/>
                <a:ea typeface="微软雅黑" panose="020B0503020204020204" pitchFamily="34" charset="-122"/>
              </a:rPr>
              <a:t>epoll</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InstallInitNotifier</a:t>
            </a:r>
            <a:r>
              <a:rPr lang="en-US" altLang="zh-CN" sz="1400" b="0" dirty="0">
                <a:latin typeface="微软雅黑" panose="020B0503020204020204" pitchFamily="34" charset="-122"/>
                <a:ea typeface="微软雅黑" panose="020B0503020204020204" pitchFamily="34" charset="-122"/>
              </a:rPr>
              <a:t>(&amp;</a:t>
            </a:r>
            <a:r>
              <a:rPr lang="en-US" altLang="zh-CN" sz="1400" b="0" dirty="0" err="1">
                <a:latin typeface="微软雅黑" panose="020B0503020204020204" pitchFamily="34" charset="-122"/>
                <a:ea typeface="微软雅黑" panose="020B0503020204020204" pitchFamily="34" charset="-122"/>
              </a:rPr>
              <a:t>epoll</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//04.</a:t>
            </a:r>
            <a:r>
              <a:rPr lang="zh-CN" altLang="en-US" sz="1400" b="0" dirty="0">
                <a:solidFill>
                  <a:srgbClr val="FF0000"/>
                </a:solidFill>
                <a:latin typeface="微软雅黑" panose="020B0503020204020204" pitchFamily="34" charset="-122"/>
                <a:ea typeface="微软雅黑" panose="020B0503020204020204" pitchFamily="34" charset="-122"/>
              </a:rPr>
              <a:t>设置其他系统属性并开启系统属性服务</a:t>
            </a:r>
          </a:p>
          <a:p>
            <a:pPr algn="l"/>
            <a:r>
              <a:rPr lang="zh-CN" altLang="en-US"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StartPropertyService</a:t>
            </a:r>
            <a:r>
              <a:rPr lang="en-US" altLang="zh-CN" sz="1400" b="0" dirty="0">
                <a:latin typeface="微软雅黑" panose="020B0503020204020204" pitchFamily="34" charset="-122"/>
                <a:ea typeface="微软雅黑" panose="020B0503020204020204" pitchFamily="34" charset="-122"/>
              </a:rPr>
              <a:t>(&amp;</a:t>
            </a:r>
            <a:r>
              <a:rPr lang="en-US" altLang="zh-CN" sz="1400" b="0" dirty="0" err="1">
                <a:latin typeface="微软雅黑" panose="020B0503020204020204" pitchFamily="34" charset="-122"/>
                <a:ea typeface="微软雅黑" panose="020B0503020204020204" pitchFamily="34" charset="-122"/>
              </a:rPr>
              <a:t>property_fd</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smtClean="0">
                <a:latin typeface="微软雅黑" panose="020B0503020204020204" pitchFamily="34" charset="-122"/>
                <a:ea typeface="微软雅黑" panose="020B0503020204020204" pitchFamily="34" charset="-122"/>
              </a:rPr>
              <a:t>......</a:t>
            </a:r>
            <a:endParaRPr lang="en-US" altLang="zh-CN" sz="14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16057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4185761"/>
          </a:xfrm>
          <a:prstGeom prst="rect">
            <a:avLst/>
          </a:prstGeom>
          <a:noFill/>
        </p:spPr>
        <p:txBody>
          <a:bodyPr wrap="square" rtlCol="0">
            <a:spAutoFit/>
          </a:bodyPr>
          <a:lstStyle/>
          <a:p>
            <a:pPr algn="l"/>
            <a:r>
              <a:rPr lang="en-US" altLang="zh-CN" sz="1400" b="0" dirty="0" smtClean="0">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初始化文件上下文</a:t>
            </a:r>
          </a:p>
          <a:p>
            <a:pPr algn="l"/>
            <a:r>
              <a:rPr lang="zh-CN" altLang="en-US"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InitializeSubcontext</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//05.</a:t>
            </a:r>
            <a:r>
              <a:rPr lang="zh-CN" altLang="en-US" sz="1400" b="0" dirty="0">
                <a:solidFill>
                  <a:srgbClr val="FF0000"/>
                </a:solidFill>
                <a:latin typeface="微软雅黑" panose="020B0503020204020204" pitchFamily="34" charset="-122"/>
                <a:ea typeface="微软雅黑" panose="020B0503020204020204" pitchFamily="34" charset="-122"/>
              </a:rPr>
              <a:t>解析</a:t>
            </a:r>
            <a:r>
              <a:rPr lang="en-US" altLang="zh-CN" sz="1400" b="0" dirty="0" err="1">
                <a:solidFill>
                  <a:srgbClr val="FF0000"/>
                </a:solidFill>
                <a:latin typeface="微软雅黑" panose="020B0503020204020204" pitchFamily="34" charset="-122"/>
                <a:ea typeface="微软雅黑" panose="020B0503020204020204" pitchFamily="34" charset="-122"/>
              </a:rPr>
              <a:t>init.rc</a:t>
            </a:r>
            <a:r>
              <a:rPr lang="zh-CN" altLang="en-US" sz="1400" b="0" dirty="0">
                <a:solidFill>
                  <a:srgbClr val="FF0000"/>
                </a:solidFill>
                <a:latin typeface="微软雅黑" panose="020B0503020204020204" pitchFamily="34" charset="-122"/>
                <a:ea typeface="微软雅黑" panose="020B0503020204020204" pitchFamily="34" charset="-122"/>
              </a:rPr>
              <a:t>等文件，建立</a:t>
            </a:r>
            <a:r>
              <a:rPr lang="en-US" altLang="zh-CN" sz="1400" b="0" dirty="0" err="1">
                <a:solidFill>
                  <a:srgbClr val="FF0000"/>
                </a:solidFill>
                <a:latin typeface="微软雅黑" panose="020B0503020204020204" pitchFamily="34" charset="-122"/>
                <a:ea typeface="微软雅黑" panose="020B0503020204020204" pitchFamily="34" charset="-122"/>
              </a:rPr>
              <a:t>rc</a:t>
            </a:r>
            <a:r>
              <a:rPr lang="zh-CN" altLang="en-US" sz="1400" b="0" dirty="0">
                <a:solidFill>
                  <a:srgbClr val="FF0000"/>
                </a:solidFill>
                <a:latin typeface="微软雅黑" panose="020B0503020204020204" pitchFamily="34" charset="-122"/>
                <a:ea typeface="微软雅黑" panose="020B0503020204020204" pitchFamily="34" charset="-122"/>
              </a:rPr>
              <a:t>文件的</a:t>
            </a:r>
            <a:r>
              <a:rPr lang="en-US" altLang="zh-CN" sz="1400" b="0" dirty="0">
                <a:solidFill>
                  <a:srgbClr val="FF0000"/>
                </a:solidFill>
                <a:latin typeface="微软雅黑" panose="020B0503020204020204" pitchFamily="34" charset="-122"/>
                <a:ea typeface="微软雅黑" panose="020B0503020204020204" pitchFamily="34" charset="-122"/>
              </a:rPr>
              <a:t>action </a:t>
            </a:r>
            <a:r>
              <a:rPr lang="zh-CN" altLang="en-US" sz="1400" b="0" dirty="0">
                <a:solidFill>
                  <a:srgbClr val="FF0000"/>
                </a:solidFill>
                <a:latin typeface="微软雅黑" panose="020B0503020204020204" pitchFamily="34" charset="-122"/>
                <a:ea typeface="微软雅黑" panose="020B0503020204020204" pitchFamily="34" charset="-122"/>
              </a:rPr>
              <a:t>、</a:t>
            </a:r>
            <a:r>
              <a:rPr lang="en-US" altLang="zh-CN" sz="1400" b="0" dirty="0">
                <a:solidFill>
                  <a:srgbClr val="FF0000"/>
                </a:solidFill>
                <a:latin typeface="微软雅黑" panose="020B0503020204020204" pitchFamily="34" charset="-122"/>
                <a:ea typeface="微软雅黑" panose="020B0503020204020204" pitchFamily="34" charset="-122"/>
              </a:rPr>
              <a:t>service</a:t>
            </a:r>
            <a:r>
              <a:rPr lang="zh-CN" altLang="en-US" sz="1400" b="0" dirty="0">
                <a:solidFill>
                  <a:srgbClr val="FF0000"/>
                </a:solidFill>
                <a:latin typeface="微软雅黑" panose="020B0503020204020204" pitchFamily="34" charset="-122"/>
                <a:ea typeface="微软雅黑" panose="020B0503020204020204" pitchFamily="34" charset="-122"/>
              </a:rPr>
              <a:t>，启动其他进程</a:t>
            </a:r>
          </a:p>
          <a:p>
            <a:pPr algn="l"/>
            <a:r>
              <a:rPr lang="zh-CN" altLang="en-US"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ActionManager</a:t>
            </a:r>
            <a:r>
              <a:rPr lang="en-US" altLang="zh-CN" sz="1400" b="0" dirty="0">
                <a:latin typeface="微软雅黑" panose="020B0503020204020204" pitchFamily="34" charset="-122"/>
                <a:ea typeface="微软雅黑" panose="020B0503020204020204" pitchFamily="34" charset="-122"/>
              </a:rPr>
              <a:t>&amp; am = </a:t>
            </a:r>
            <a:r>
              <a:rPr lang="en-US" altLang="zh-CN" sz="1400" b="0" dirty="0" err="1">
                <a:latin typeface="微软雅黑" panose="020B0503020204020204" pitchFamily="34" charset="-122"/>
                <a:ea typeface="微软雅黑" panose="020B0503020204020204" pitchFamily="34" charset="-122"/>
              </a:rPr>
              <a:t>ActionManager</a:t>
            </a:r>
            <a:r>
              <a:rPr lang="en-US" altLang="zh-CN" sz="1400" b="0" dirty="0">
                <a:latin typeface="微软雅黑" panose="020B0503020204020204" pitchFamily="34" charset="-122"/>
                <a:ea typeface="微软雅黑" panose="020B0503020204020204" pitchFamily="34" charset="-122"/>
              </a:rPr>
              <a:t>::</a:t>
            </a:r>
            <a:r>
              <a:rPr lang="en-US" altLang="zh-CN" sz="1400" b="0" dirty="0" err="1">
                <a:latin typeface="微软雅黑" panose="020B0503020204020204" pitchFamily="34" charset="-122"/>
                <a:ea typeface="微软雅黑" panose="020B0503020204020204" pitchFamily="34" charset="-122"/>
              </a:rPr>
              <a:t>GetInstance</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ServiceList</a:t>
            </a:r>
            <a:r>
              <a:rPr lang="en-US" altLang="zh-CN" sz="1400" b="0" dirty="0">
                <a:latin typeface="微软雅黑" panose="020B0503020204020204" pitchFamily="34" charset="-122"/>
                <a:ea typeface="微软雅黑" panose="020B0503020204020204" pitchFamily="34" charset="-122"/>
              </a:rPr>
              <a:t>&amp; </a:t>
            </a:r>
            <a:r>
              <a:rPr lang="en-US" altLang="zh-CN" sz="1400" b="0" dirty="0" err="1">
                <a:latin typeface="微软雅黑" panose="020B0503020204020204" pitchFamily="34" charset="-122"/>
                <a:ea typeface="微软雅黑" panose="020B0503020204020204" pitchFamily="34" charset="-122"/>
              </a:rPr>
              <a:t>sm</a:t>
            </a:r>
            <a:r>
              <a:rPr lang="en-US" altLang="zh-CN" sz="1400" b="0" dirty="0">
                <a:latin typeface="微软雅黑" panose="020B0503020204020204" pitchFamily="34" charset="-122"/>
                <a:ea typeface="微软雅黑" panose="020B0503020204020204" pitchFamily="34" charset="-122"/>
              </a:rPr>
              <a:t> = </a:t>
            </a:r>
            <a:r>
              <a:rPr lang="en-US" altLang="zh-CN" sz="1400" b="0" dirty="0" err="1">
                <a:latin typeface="微软雅黑" panose="020B0503020204020204" pitchFamily="34" charset="-122"/>
                <a:ea typeface="微软雅黑" panose="020B0503020204020204" pitchFamily="34" charset="-122"/>
              </a:rPr>
              <a:t>ServiceList</a:t>
            </a:r>
            <a:r>
              <a:rPr lang="en-US" altLang="zh-CN" sz="1400" b="0" dirty="0">
                <a:latin typeface="微软雅黑" panose="020B0503020204020204" pitchFamily="34" charset="-122"/>
                <a:ea typeface="微软雅黑" panose="020B0503020204020204" pitchFamily="34" charset="-122"/>
              </a:rPr>
              <a:t>::</a:t>
            </a:r>
            <a:r>
              <a:rPr lang="en-US" altLang="zh-CN" sz="1400" b="0" dirty="0" err="1">
                <a:latin typeface="微软雅黑" panose="020B0503020204020204" pitchFamily="34" charset="-122"/>
                <a:ea typeface="微软雅黑" panose="020B0503020204020204" pitchFamily="34" charset="-122"/>
              </a:rPr>
              <a:t>GetInstance</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LoadBootScripts</a:t>
            </a:r>
            <a:r>
              <a:rPr lang="en-US" altLang="zh-CN" sz="1400" b="0" dirty="0">
                <a:latin typeface="微软雅黑" panose="020B0503020204020204" pitchFamily="34" charset="-122"/>
                <a:ea typeface="微软雅黑" panose="020B0503020204020204" pitchFamily="34" charset="-122"/>
              </a:rPr>
              <a:t>(am, </a:t>
            </a:r>
            <a:r>
              <a:rPr lang="en-US" altLang="zh-CN" sz="1400" b="0" dirty="0" err="1">
                <a:latin typeface="微软雅黑" panose="020B0503020204020204" pitchFamily="34" charset="-122"/>
                <a:ea typeface="微软雅黑" panose="020B0503020204020204" pitchFamily="34" charset="-122"/>
              </a:rPr>
              <a:t>sm</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根据传入的</a:t>
            </a:r>
            <a:r>
              <a:rPr lang="en-US" altLang="zh-CN" sz="1400" b="0" dirty="0" err="1">
                <a:solidFill>
                  <a:srgbClr val="FF0000"/>
                </a:solidFill>
                <a:latin typeface="微软雅黑" panose="020B0503020204020204" pitchFamily="34" charset="-122"/>
                <a:ea typeface="微软雅黑" panose="020B0503020204020204" pitchFamily="34" charset="-122"/>
              </a:rPr>
              <a:t>bootmode</a:t>
            </a:r>
            <a:r>
              <a:rPr lang="zh-CN" altLang="en-US" sz="1400" b="0" dirty="0">
                <a:solidFill>
                  <a:srgbClr val="FF0000"/>
                </a:solidFill>
                <a:latin typeface="微软雅黑" panose="020B0503020204020204" pitchFamily="34" charset="-122"/>
                <a:ea typeface="微软雅黑" panose="020B0503020204020204" pitchFamily="34" charset="-122"/>
              </a:rPr>
              <a:t>进入不同的启动模式，充电模式不需要挂载文件系统或者启动系统服务</a:t>
            </a:r>
          </a:p>
          <a:p>
            <a:pPr algn="l"/>
            <a:r>
              <a:rPr lang="zh-CN" altLang="en-US"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std</a:t>
            </a:r>
            <a:r>
              <a:rPr lang="en-US" altLang="zh-CN" sz="1400" b="0" dirty="0">
                <a:latin typeface="微软雅黑" panose="020B0503020204020204" pitchFamily="34" charset="-122"/>
                <a:ea typeface="微软雅黑" panose="020B0503020204020204" pitchFamily="34" charset="-122"/>
              </a:rPr>
              <a:t>::string </a:t>
            </a:r>
            <a:r>
              <a:rPr lang="en-US" altLang="zh-CN" sz="1400" b="0" dirty="0" err="1">
                <a:latin typeface="微软雅黑" panose="020B0503020204020204" pitchFamily="34" charset="-122"/>
                <a:ea typeface="微软雅黑" panose="020B0503020204020204" pitchFamily="34" charset="-122"/>
              </a:rPr>
              <a:t>bootmode</a:t>
            </a:r>
            <a:r>
              <a:rPr lang="en-US" altLang="zh-CN" sz="1400" b="0" dirty="0">
                <a:latin typeface="微软雅黑" panose="020B0503020204020204" pitchFamily="34" charset="-122"/>
                <a:ea typeface="微软雅黑" panose="020B0503020204020204" pitchFamily="34" charset="-122"/>
              </a:rPr>
              <a:t> = </a:t>
            </a:r>
            <a:r>
              <a:rPr lang="en-US" altLang="zh-CN" sz="1400" b="0" dirty="0" err="1">
                <a:latin typeface="微软雅黑" panose="020B0503020204020204" pitchFamily="34" charset="-122"/>
                <a:ea typeface="微软雅黑" panose="020B0503020204020204" pitchFamily="34" charset="-122"/>
              </a:rPr>
              <a:t>GetProperty</a:t>
            </a:r>
            <a:r>
              <a:rPr lang="en-US" altLang="zh-CN" sz="1400" b="0" dirty="0">
                <a:latin typeface="微软雅黑" panose="020B0503020204020204" pitchFamily="34" charset="-122"/>
                <a:ea typeface="微软雅黑" panose="020B0503020204020204" pitchFamily="34" charset="-122"/>
              </a:rPr>
              <a:t>("</a:t>
            </a:r>
            <a:r>
              <a:rPr lang="en-US" altLang="zh-CN" sz="1400" b="0" dirty="0" err="1">
                <a:latin typeface="微软雅黑" panose="020B0503020204020204" pitchFamily="34" charset="-122"/>
                <a:ea typeface="微软雅黑" panose="020B0503020204020204" pitchFamily="34" charset="-122"/>
              </a:rPr>
              <a:t>ro.bootmode</a:t>
            </a:r>
            <a:r>
              <a:rPr lang="en-US" altLang="zh-CN" sz="1400" b="0" dirty="0">
                <a:latin typeface="微软雅黑" panose="020B0503020204020204" pitchFamily="34" charset="-122"/>
                <a:ea typeface="微软雅黑" panose="020B0503020204020204" pitchFamily="34" charset="-122"/>
              </a:rPr>
              <a:t>", "");</a:t>
            </a:r>
          </a:p>
          <a:p>
            <a:pPr algn="l"/>
            <a:r>
              <a:rPr lang="en-US" altLang="zh-CN" sz="1400" b="0" dirty="0">
                <a:latin typeface="微软雅黑" panose="020B0503020204020204" pitchFamily="34" charset="-122"/>
                <a:ea typeface="微软雅黑" panose="020B0503020204020204" pitchFamily="34" charset="-122"/>
              </a:rPr>
              <a:t>    if (</a:t>
            </a:r>
            <a:r>
              <a:rPr lang="en-US" altLang="zh-CN" sz="1400" b="0" dirty="0" err="1">
                <a:latin typeface="微软雅黑" panose="020B0503020204020204" pitchFamily="34" charset="-122"/>
                <a:ea typeface="微软雅黑" panose="020B0503020204020204" pitchFamily="34" charset="-122"/>
              </a:rPr>
              <a:t>bootmode</a:t>
            </a:r>
            <a:r>
              <a:rPr lang="en-US" altLang="zh-CN" sz="1400" b="0" dirty="0">
                <a:latin typeface="微软雅黑" panose="020B0503020204020204" pitchFamily="34" charset="-122"/>
                <a:ea typeface="微软雅黑" panose="020B0503020204020204" pitchFamily="34" charset="-122"/>
              </a:rPr>
              <a:t> == "charger") {</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am.QueueEventTrigger</a:t>
            </a:r>
            <a:r>
              <a:rPr lang="en-US" altLang="zh-CN" sz="1400" b="0" dirty="0">
                <a:latin typeface="微软雅黑" panose="020B0503020204020204" pitchFamily="34" charset="-122"/>
                <a:ea typeface="微软雅黑" panose="020B0503020204020204" pitchFamily="34" charset="-122"/>
              </a:rPr>
              <a:t>("charger");</a:t>
            </a:r>
          </a:p>
          <a:p>
            <a:pPr algn="l"/>
            <a:r>
              <a:rPr lang="en-US" altLang="zh-CN" sz="1400" b="0" dirty="0">
                <a:latin typeface="微软雅黑" panose="020B0503020204020204" pitchFamily="34" charset="-122"/>
                <a:ea typeface="微软雅黑" panose="020B0503020204020204" pitchFamily="34" charset="-122"/>
              </a:rPr>
              <a:t>    } else {</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am.QueueEventTrigger</a:t>
            </a:r>
            <a:r>
              <a:rPr lang="en-US" altLang="zh-CN" sz="1400" b="0" dirty="0">
                <a:latin typeface="微软雅黑" panose="020B0503020204020204" pitchFamily="34" charset="-122"/>
                <a:ea typeface="微软雅黑" panose="020B0503020204020204" pitchFamily="34" charset="-122"/>
              </a:rPr>
              <a:t>("late-</a:t>
            </a:r>
            <a:r>
              <a:rPr lang="en-US" altLang="zh-CN" sz="1400" b="0" dirty="0" err="1">
                <a:latin typeface="微软雅黑" panose="020B0503020204020204" pitchFamily="34" charset="-122"/>
                <a:ea typeface="微软雅黑" panose="020B0503020204020204" pitchFamily="34" charset="-122"/>
              </a:rPr>
              <a:t>init</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p>
          <a:p>
            <a:pPr algn="l"/>
            <a:r>
              <a:rPr lang="en-US" altLang="zh-CN" sz="1400" b="0" dirty="0">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基于属性当前状态，运行所有的属性触发器</a:t>
            </a:r>
          </a:p>
          <a:p>
            <a:pPr algn="l"/>
            <a:r>
              <a:rPr lang="zh-CN" altLang="en-US"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am.QueueBuiltinAction</a:t>
            </a:r>
            <a:r>
              <a:rPr lang="en-US" altLang="zh-CN" sz="1400" b="0" dirty="0">
                <a:latin typeface="微软雅黑" panose="020B0503020204020204" pitchFamily="34" charset="-122"/>
                <a:ea typeface="微软雅黑" panose="020B0503020204020204" pitchFamily="34" charset="-122"/>
              </a:rPr>
              <a:t>(</a:t>
            </a:r>
            <a:r>
              <a:rPr lang="en-US" altLang="zh-CN" sz="1400" b="0" dirty="0" err="1">
                <a:latin typeface="微软雅黑" panose="020B0503020204020204" pitchFamily="34" charset="-122"/>
                <a:ea typeface="微软雅黑" panose="020B0503020204020204" pitchFamily="34" charset="-122"/>
              </a:rPr>
              <a:t>queue_property_triggers_action</a:t>
            </a:r>
            <a:r>
              <a:rPr lang="en-US" altLang="zh-CN" sz="1400" b="0" dirty="0">
                <a:latin typeface="微软雅黑" panose="020B0503020204020204" pitchFamily="34" charset="-122"/>
                <a:ea typeface="微软雅黑" panose="020B0503020204020204" pitchFamily="34" charset="-122"/>
              </a:rPr>
              <a:t>, "</a:t>
            </a:r>
            <a:r>
              <a:rPr lang="en-US" altLang="zh-CN" sz="1400" b="0" dirty="0" err="1">
                <a:latin typeface="微软雅黑" panose="020B0503020204020204" pitchFamily="34" charset="-122"/>
                <a:ea typeface="微软雅黑" panose="020B0503020204020204" pitchFamily="34" charset="-122"/>
              </a:rPr>
              <a:t>queue_property_triggers</a:t>
            </a:r>
            <a:r>
              <a:rPr lang="en-US" altLang="zh-CN" sz="1400" b="0" dirty="0">
                <a:latin typeface="微软雅黑" panose="020B0503020204020204" pitchFamily="34" charset="-122"/>
                <a:ea typeface="微软雅黑" panose="020B0503020204020204" pitchFamily="34" charset="-122"/>
              </a:rPr>
              <a:t>");</a:t>
            </a:r>
          </a:p>
          <a:p>
            <a:pPr algn="l"/>
            <a:r>
              <a:rPr lang="en-US" altLang="zh-CN" sz="1400" b="0" dirty="0">
                <a:latin typeface="微软雅黑" panose="020B0503020204020204" pitchFamily="34" charset="-122"/>
                <a:ea typeface="微软雅黑" panose="020B0503020204020204" pitchFamily="34" charset="-122"/>
              </a:rPr>
              <a:t>    ......</a:t>
            </a:r>
          </a:p>
          <a:p>
            <a:pPr algn="l"/>
            <a:r>
              <a:rPr lang="en-US" altLang="zh-CN" sz="1400" b="0" dirty="0">
                <a:latin typeface="微软雅黑" panose="020B0503020204020204" pitchFamily="34" charset="-122"/>
                <a:ea typeface="微软雅黑" panose="020B0503020204020204" pitchFamily="34" charset="-122"/>
              </a:rPr>
              <a:t>    return 0;</a:t>
            </a:r>
          </a:p>
          <a:p>
            <a:pPr algn="l"/>
            <a:r>
              <a:rPr lang="en-US" altLang="zh-CN" sz="1400" b="0" dirty="0">
                <a:latin typeface="微软雅黑" panose="020B0503020204020204" pitchFamily="34" charset="-122"/>
                <a:ea typeface="微软雅黑" panose="020B0503020204020204" pitchFamily="34" charset="-122"/>
              </a:rPr>
              <a:t>}</a:t>
            </a:r>
            <a:endParaRPr lang="en-US" altLang="zh-CN" sz="14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067500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1569660"/>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属性服务（</a:t>
            </a:r>
            <a:r>
              <a:rPr lang="en-US" altLang="zh-CN" sz="1600" b="0" dirty="0" err="1" smtClean="0">
                <a:latin typeface="微软雅黑" panose="020B0503020204020204" pitchFamily="34" charset="-122"/>
                <a:ea typeface="微软雅黑" panose="020B0503020204020204" pitchFamily="34" charset="-122"/>
              </a:rPr>
              <a:t>PropertyService</a:t>
            </a:r>
            <a:r>
              <a:rPr lang="zh-CN" altLang="en-US" sz="1600" b="0" dirty="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Android</a:t>
            </a:r>
            <a:r>
              <a:rPr lang="zh-CN" altLang="en-US" sz="1600" b="0" dirty="0" smtClean="0">
                <a:latin typeface="微软雅黑" panose="020B0503020204020204" pitchFamily="34" charset="-122"/>
                <a:ea typeface="微软雅黑" panose="020B0503020204020204" pitchFamily="34" charset="-122"/>
              </a:rPr>
              <a:t>将</a:t>
            </a:r>
            <a:r>
              <a:rPr lang="zh-CN" altLang="en-US" sz="1600" b="0" dirty="0">
                <a:latin typeface="微软雅黑" panose="020B0503020204020204" pitchFamily="34" charset="-122"/>
                <a:ea typeface="微软雅黑" panose="020B0503020204020204" pitchFamily="34" charset="-122"/>
              </a:rPr>
              <a:t>属性的设置统一交</a:t>
            </a:r>
            <a:r>
              <a:rPr lang="zh-CN" altLang="en-US" sz="1600" b="0" dirty="0" smtClean="0">
                <a:latin typeface="微软雅黑" panose="020B0503020204020204" pitchFamily="34" charset="-122"/>
                <a:ea typeface="微软雅黑" panose="020B0503020204020204" pitchFamily="34" charset="-122"/>
              </a:rPr>
              <a:t>由</a:t>
            </a:r>
            <a:r>
              <a:rPr lang="en-US" altLang="zh-CN" sz="1600" b="0" dirty="0" err="1" smtClean="0">
                <a:latin typeface="微软雅黑" panose="020B0503020204020204" pitchFamily="34" charset="-122"/>
                <a:ea typeface="微软雅黑" panose="020B0503020204020204" pitchFamily="34" charset="-122"/>
              </a:rPr>
              <a:t>init</a:t>
            </a:r>
            <a:r>
              <a:rPr lang="zh-CN" altLang="en-US" sz="1600" b="0" dirty="0" smtClean="0">
                <a:latin typeface="微软雅黑" panose="020B0503020204020204" pitchFamily="34" charset="-122"/>
                <a:ea typeface="微软雅黑" panose="020B0503020204020204" pitchFamily="34" charset="-122"/>
              </a:rPr>
              <a:t>进程</a:t>
            </a:r>
            <a:r>
              <a:rPr lang="zh-CN" altLang="en-US" sz="1600" b="0" dirty="0">
                <a:latin typeface="微软雅黑" panose="020B0503020204020204" pitchFamily="34" charset="-122"/>
                <a:ea typeface="微软雅黑" panose="020B0503020204020204" pitchFamily="34" charset="-122"/>
              </a:rPr>
              <a:t>管理，其他进程不能直接修改属性，而只能</a:t>
            </a:r>
            <a:r>
              <a:rPr lang="zh-CN" altLang="en-US" sz="1600" b="0" dirty="0" smtClean="0">
                <a:latin typeface="微软雅黑" panose="020B0503020204020204" pitchFamily="34" charset="-122"/>
                <a:ea typeface="微软雅黑" panose="020B0503020204020204" pitchFamily="34" charset="-122"/>
              </a:rPr>
              <a:t>通知</a:t>
            </a:r>
            <a:r>
              <a:rPr lang="en-US" altLang="zh-CN" sz="1600" b="0" dirty="0" err="1" smtClean="0">
                <a:latin typeface="微软雅黑" panose="020B0503020204020204" pitchFamily="34" charset="-122"/>
                <a:ea typeface="微软雅黑" panose="020B0503020204020204" pitchFamily="34" charset="-122"/>
              </a:rPr>
              <a:t>init</a:t>
            </a:r>
            <a:r>
              <a:rPr lang="zh-CN" altLang="en-US" sz="1600" b="0" dirty="0" smtClean="0">
                <a:latin typeface="微软雅黑" panose="020B0503020204020204" pitchFamily="34" charset="-122"/>
                <a:ea typeface="微软雅黑" panose="020B0503020204020204" pitchFamily="34" charset="-122"/>
              </a:rPr>
              <a:t>进程</a:t>
            </a:r>
            <a:r>
              <a:rPr lang="zh-CN" altLang="en-US" sz="1600" b="0" dirty="0">
                <a:latin typeface="微软雅黑" panose="020B0503020204020204" pitchFamily="34" charset="-122"/>
                <a:ea typeface="微软雅黑" panose="020B0503020204020204" pitchFamily="34" charset="-122"/>
              </a:rPr>
              <a:t>来修改，而在这过程中，</a:t>
            </a:r>
            <a:r>
              <a:rPr lang="en-US" altLang="zh-CN" sz="1600" b="0" dirty="0" err="1" smtClean="0">
                <a:latin typeface="微软雅黑" panose="020B0503020204020204" pitchFamily="34" charset="-122"/>
                <a:ea typeface="微软雅黑" panose="020B0503020204020204" pitchFamily="34" charset="-122"/>
              </a:rPr>
              <a:t>init</a:t>
            </a:r>
            <a:r>
              <a:rPr lang="zh-CN" altLang="en-US" sz="1600" b="0" dirty="0" smtClean="0">
                <a:latin typeface="微软雅黑" panose="020B0503020204020204" pitchFamily="34" charset="-122"/>
                <a:ea typeface="微软雅黑" panose="020B0503020204020204" pitchFamily="34" charset="-122"/>
              </a:rPr>
              <a:t>进程</a:t>
            </a:r>
            <a:r>
              <a:rPr lang="zh-CN" altLang="en-US" sz="1600" b="0" dirty="0">
                <a:latin typeface="微软雅黑" panose="020B0503020204020204" pitchFamily="34" charset="-122"/>
                <a:ea typeface="微软雅黑" panose="020B0503020204020204" pitchFamily="34" charset="-122"/>
              </a:rPr>
              <a:t>可以进行权限控制。大部分</a:t>
            </a:r>
            <a:r>
              <a:rPr lang="en-US" altLang="zh-CN" sz="1600" b="0" dirty="0">
                <a:latin typeface="微软雅黑" panose="020B0503020204020204" pitchFamily="34" charset="-122"/>
                <a:ea typeface="微软雅黑" panose="020B0503020204020204" pitchFamily="34" charset="-122"/>
              </a:rPr>
              <a:t>property</a:t>
            </a:r>
            <a:r>
              <a:rPr lang="zh-CN" altLang="en-US" sz="1600" b="0" dirty="0">
                <a:latin typeface="微软雅黑" panose="020B0503020204020204" pitchFamily="34" charset="-122"/>
                <a:ea typeface="微软雅黑" panose="020B0503020204020204" pitchFamily="34" charset="-122"/>
              </a:rPr>
              <a:t>是记录在某些文件中的，</a:t>
            </a:r>
            <a:r>
              <a:rPr lang="en-US" altLang="zh-CN" sz="1600" b="0" dirty="0" err="1" smtClean="0">
                <a:latin typeface="微软雅黑" panose="020B0503020204020204" pitchFamily="34" charset="-122"/>
                <a:ea typeface="微软雅黑" panose="020B0503020204020204" pitchFamily="34" charset="-122"/>
              </a:rPr>
              <a:t>init</a:t>
            </a:r>
            <a:r>
              <a:rPr lang="zh-CN" altLang="en-US" sz="1600" b="0" dirty="0" smtClean="0">
                <a:latin typeface="微软雅黑" panose="020B0503020204020204" pitchFamily="34" charset="-122"/>
                <a:ea typeface="微软雅黑" panose="020B0503020204020204" pitchFamily="34" charset="-122"/>
              </a:rPr>
              <a:t>进程</a:t>
            </a:r>
            <a:r>
              <a:rPr lang="zh-CN" altLang="en-US" sz="1600" b="0" dirty="0">
                <a:latin typeface="微软雅黑" panose="020B0503020204020204" pitchFamily="34" charset="-122"/>
                <a:ea typeface="微软雅黑" panose="020B0503020204020204" pitchFamily="34" charset="-122"/>
              </a:rPr>
              <a:t>启动的时候，会加载这些文件，</a:t>
            </a:r>
            <a:r>
              <a:rPr lang="zh-CN" altLang="en-US" sz="1600" b="0" dirty="0" smtClean="0">
                <a:latin typeface="微软雅黑" panose="020B0503020204020204" pitchFamily="34" charset="-122"/>
                <a:ea typeface="微软雅黑" panose="020B0503020204020204" pitchFamily="34" charset="-122"/>
              </a:rPr>
              <a:t>完成</a:t>
            </a:r>
            <a:r>
              <a:rPr lang="en-US" altLang="zh-CN" sz="1600" b="0" dirty="0" smtClean="0">
                <a:latin typeface="微软雅黑" panose="020B0503020204020204" pitchFamily="34" charset="-122"/>
                <a:ea typeface="微软雅黑" panose="020B0503020204020204" pitchFamily="34" charset="-122"/>
              </a:rPr>
              <a:t>property</a:t>
            </a:r>
            <a:r>
              <a:rPr lang="zh-CN" altLang="en-US" sz="1600" b="0" dirty="0" smtClean="0">
                <a:latin typeface="微软雅黑" panose="020B0503020204020204" pitchFamily="34" charset="-122"/>
                <a:ea typeface="微软雅黑" panose="020B0503020204020204" pitchFamily="34" charset="-122"/>
              </a:rPr>
              <a:t>系统初始化。</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其他进程对于</a:t>
            </a:r>
            <a:r>
              <a:rPr lang="en-US" altLang="zh-CN" sz="1600" b="0" dirty="0" smtClean="0">
                <a:latin typeface="微软雅黑" panose="020B0503020204020204" pitchFamily="34" charset="-122"/>
                <a:ea typeface="微软雅黑" panose="020B0503020204020204" pitchFamily="34" charset="-122"/>
              </a:rPr>
              <a:t>Property</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read</a:t>
            </a:r>
            <a:r>
              <a:rPr lang="zh-CN" altLang="en-US" sz="1600" b="0" dirty="0" smtClean="0">
                <a:latin typeface="微软雅黑" panose="020B0503020204020204" pitchFamily="34" charset="-122"/>
                <a:ea typeface="微软雅黑" panose="020B0503020204020204" pitchFamily="34" charset="-122"/>
              </a:rPr>
              <a:t>是通过共享内存实现的，而</a:t>
            </a:r>
            <a:r>
              <a:rPr lang="en-US" altLang="zh-CN" sz="1600" b="0" dirty="0" smtClean="0">
                <a:latin typeface="微软雅黑" panose="020B0503020204020204" pitchFamily="34" charset="-122"/>
                <a:ea typeface="微软雅黑" panose="020B0503020204020204" pitchFamily="34" charset="-122"/>
              </a:rPr>
              <a:t>set</a:t>
            </a:r>
            <a:r>
              <a:rPr lang="zh-CN" altLang="en-US" sz="1600" b="0" dirty="0" smtClean="0">
                <a:latin typeface="微软雅黑" panose="020B0503020204020204" pitchFamily="34" charset="-122"/>
                <a:ea typeface="微软雅黑" panose="020B0503020204020204" pitchFamily="34" charset="-122"/>
              </a:rPr>
              <a:t>是通过</a:t>
            </a:r>
            <a:r>
              <a:rPr lang="en-US" altLang="zh-CN" sz="1600" b="0" dirty="0" smtClean="0">
                <a:latin typeface="微软雅黑" panose="020B0503020204020204" pitchFamily="34" charset="-122"/>
                <a:ea typeface="微软雅黑" panose="020B0503020204020204" pitchFamily="34" charset="-122"/>
              </a:rPr>
              <a:t>socket</a:t>
            </a:r>
            <a:r>
              <a:rPr lang="zh-CN" altLang="en-US" sz="1600" b="0" dirty="0" smtClean="0">
                <a:latin typeface="微软雅黑" panose="020B0503020204020204" pitchFamily="34" charset="-122"/>
                <a:ea typeface="微软雅黑" panose="020B0503020204020204" pitchFamily="34" charset="-122"/>
              </a:rPr>
              <a:t>跨进程通知</a:t>
            </a:r>
            <a:r>
              <a:rPr lang="en-US" altLang="zh-CN" sz="1600" b="0" dirty="0" err="1" smtClean="0">
                <a:latin typeface="微软雅黑" panose="020B0503020204020204" pitchFamily="34" charset="-122"/>
                <a:ea typeface="微软雅黑" panose="020B0503020204020204" pitchFamily="34" charset="-122"/>
              </a:rPr>
              <a:t>PropertyService</a:t>
            </a:r>
            <a:r>
              <a:rPr lang="zh-CN" altLang="en-US" sz="1600" b="0" dirty="0" smtClean="0">
                <a:latin typeface="微软雅黑" panose="020B0503020204020204" pitchFamily="34" charset="-122"/>
                <a:ea typeface="微软雅黑" panose="020B0503020204020204" pitchFamily="34" charset="-122"/>
              </a:rPr>
              <a:t>，由</a:t>
            </a:r>
            <a:r>
              <a:rPr lang="en-US" altLang="zh-CN" sz="1600" b="0" dirty="0" err="1" smtClean="0">
                <a:latin typeface="微软雅黑" panose="020B0503020204020204" pitchFamily="34" charset="-122"/>
                <a:ea typeface="微软雅黑" panose="020B0503020204020204" pitchFamily="34" charset="-122"/>
              </a:rPr>
              <a:t>PropertyService</a:t>
            </a:r>
            <a:r>
              <a:rPr lang="zh-CN" altLang="en-US" sz="1600" b="0" dirty="0" smtClean="0">
                <a:latin typeface="微软雅黑" panose="020B0503020204020204" pitchFamily="34" charset="-122"/>
                <a:ea typeface="微软雅黑" panose="020B0503020204020204" pitchFamily="34" charset="-122"/>
              </a:rPr>
              <a:t>判断鉴权后再写入共享内存中。流程如下图：</a:t>
            </a:r>
            <a:endParaRPr lang="en-US" altLang="zh-CN" sz="16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782072" y="2348880"/>
            <a:ext cx="7151259" cy="4458086"/>
          </a:xfrm>
          <a:prstGeom prst="rect">
            <a:avLst/>
          </a:prstGeom>
        </p:spPr>
      </p:pic>
    </p:spTree>
    <p:extLst>
      <p:ext uri="{BB962C8B-B14F-4D97-AF65-F5344CB8AC3E}">
        <p14:creationId xmlns:p14="http://schemas.microsoft.com/office/powerpoint/2010/main" val="28689174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3293209"/>
          </a:xfrm>
          <a:prstGeom prst="rect">
            <a:avLst/>
          </a:prstGeom>
          <a:noFill/>
        </p:spPr>
        <p:txBody>
          <a:bodyPr wrap="square" rtlCol="0">
            <a:spAutoFit/>
          </a:bodyPr>
          <a:lstStyle/>
          <a:p>
            <a:pPr algn="l"/>
            <a:r>
              <a:rPr lang="en-US" altLang="zh-CN" sz="1600" b="0" dirty="0" smtClean="0">
                <a:latin typeface="微软雅黑" panose="020B0503020204020204" pitchFamily="34" charset="-122"/>
                <a:ea typeface="微软雅黑" panose="020B0503020204020204" pitchFamily="34" charset="-122"/>
              </a:rPr>
              <a:t>property</a:t>
            </a:r>
            <a:r>
              <a:rPr lang="zh-CN" altLang="en-US" sz="1600" b="0" dirty="0" smtClean="0">
                <a:latin typeface="微软雅黑" panose="020B0503020204020204" pitchFamily="34" charset="-122"/>
                <a:ea typeface="微软雅黑" panose="020B0503020204020204" pitchFamily="34" charset="-122"/>
              </a:rPr>
              <a:t>的</a:t>
            </a:r>
            <a:r>
              <a:rPr lang="zh-CN" altLang="en-US" sz="1600" b="0" dirty="0">
                <a:latin typeface="微软雅黑" panose="020B0503020204020204" pitchFamily="34" charset="-122"/>
                <a:ea typeface="微软雅黑" panose="020B0503020204020204" pitchFamily="34" charset="-122"/>
              </a:rPr>
              <a:t>加载</a:t>
            </a:r>
            <a:r>
              <a:rPr lang="zh-CN" altLang="en-US" sz="1600" b="0" dirty="0" smtClean="0">
                <a:latin typeface="微软雅黑" panose="020B0503020204020204" pitchFamily="34" charset="-122"/>
                <a:ea typeface="微软雅黑" panose="020B0503020204020204" pitchFamily="34" charset="-122"/>
              </a:rPr>
              <a:t>顺序： </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property</a:t>
            </a:r>
            <a:r>
              <a:rPr lang="zh-CN" altLang="en-US" sz="1600" b="0" dirty="0" smtClean="0">
                <a:latin typeface="微软雅黑" panose="020B0503020204020204" pitchFamily="34" charset="-122"/>
                <a:ea typeface="微软雅黑" panose="020B0503020204020204" pitchFamily="34" charset="-122"/>
              </a:rPr>
              <a:t>文件</a:t>
            </a:r>
            <a:r>
              <a:rPr lang="zh-CN" altLang="en-US" sz="1600" b="0" dirty="0">
                <a:latin typeface="微软雅黑" panose="020B0503020204020204" pitchFamily="34" charset="-122"/>
                <a:ea typeface="微软雅黑" panose="020B0503020204020204" pitchFamily="34" charset="-122"/>
              </a:rPr>
              <a:t>的加载</a:t>
            </a:r>
            <a:r>
              <a:rPr lang="zh-CN" altLang="en-US" sz="1600" b="0" dirty="0" smtClean="0">
                <a:latin typeface="微软雅黑" panose="020B0503020204020204" pitchFamily="34" charset="-122"/>
                <a:ea typeface="微软雅黑" panose="020B0503020204020204" pitchFamily="34" charset="-122"/>
              </a:rPr>
              <a:t>是在</a:t>
            </a:r>
            <a:r>
              <a:rPr lang="en-US" altLang="zh-CN" sz="1600" b="0" dirty="0" smtClean="0">
                <a:solidFill>
                  <a:srgbClr val="7030A0"/>
                </a:solidFill>
                <a:latin typeface="微软雅黑" panose="020B0503020204020204" pitchFamily="34" charset="-122"/>
                <a:ea typeface="微软雅黑" panose="020B0503020204020204" pitchFamily="34" charset="-122"/>
              </a:rPr>
              <a:t>system/core/</a:t>
            </a:r>
            <a:r>
              <a:rPr lang="en-US" altLang="zh-CN" sz="1600" b="0" dirty="0" err="1" smtClean="0">
                <a:solidFill>
                  <a:srgbClr val="7030A0"/>
                </a:solidFill>
                <a:latin typeface="微软雅黑" panose="020B0503020204020204" pitchFamily="34" charset="-122"/>
                <a:ea typeface="微软雅黑" panose="020B0503020204020204" pitchFamily="34" charset="-122"/>
              </a:rPr>
              <a:t>init</a:t>
            </a:r>
            <a:r>
              <a:rPr lang="en-US" altLang="zh-CN" sz="1600" b="0" dirty="0" smtClean="0">
                <a:solidFill>
                  <a:srgbClr val="7030A0"/>
                </a:solidFill>
                <a:latin typeface="微软雅黑" panose="020B0503020204020204" pitchFamily="34" charset="-122"/>
                <a:ea typeface="微软雅黑" panose="020B0503020204020204" pitchFamily="34" charset="-122"/>
              </a:rPr>
              <a:t>/property_service.cpp</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err="1" smtClean="0">
                <a:latin typeface="微软雅黑" panose="020B0503020204020204" pitchFamily="34" charset="-122"/>
                <a:ea typeface="微软雅黑" panose="020B0503020204020204" pitchFamily="34" charset="-122"/>
              </a:rPr>
              <a:t>PropertyLoadBootDefaults</a:t>
            </a:r>
            <a:r>
              <a:rPr lang="en-US" altLang="zh-CN" sz="1600" b="0" dirty="0" smtClean="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函数中</a:t>
            </a:r>
            <a:r>
              <a:rPr lang="zh-CN" altLang="en-US" sz="1600" b="0" dirty="0">
                <a:latin typeface="微软雅黑" panose="020B0503020204020204" pitchFamily="34" charset="-122"/>
                <a:ea typeface="微软雅黑" panose="020B0503020204020204" pitchFamily="34" charset="-122"/>
              </a:rPr>
              <a:t>实现的</a:t>
            </a:r>
            <a:r>
              <a:rPr lang="zh-CN" altLang="en-US" sz="1600" b="0" dirty="0" smtClean="0">
                <a:latin typeface="微软雅黑" panose="020B0503020204020204" pitchFamily="34" charset="-122"/>
                <a:ea typeface="微软雅黑" panose="020B0503020204020204" pitchFamily="34" charset="-122"/>
              </a:rPr>
              <a:t>，在</a:t>
            </a:r>
            <a:r>
              <a:rPr lang="zh-CN" altLang="en-US" sz="1600" b="0" dirty="0">
                <a:latin typeface="微软雅黑" panose="020B0503020204020204" pitchFamily="34" charset="-122"/>
                <a:ea typeface="微软雅黑" panose="020B0503020204020204" pitchFamily="34" charset="-122"/>
              </a:rPr>
              <a:t>整个启动流程中，</a:t>
            </a:r>
            <a:r>
              <a:rPr lang="en-US" altLang="zh-CN" sz="1600" b="0" dirty="0" smtClean="0">
                <a:latin typeface="微软雅黑" panose="020B0503020204020204" pitchFamily="34" charset="-122"/>
                <a:ea typeface="微软雅黑" panose="020B0503020204020204" pitchFamily="34" charset="-122"/>
              </a:rPr>
              <a:t>property</a:t>
            </a:r>
            <a:r>
              <a:rPr lang="zh-CN" altLang="en-US" sz="1600" b="0" dirty="0" smtClean="0">
                <a:latin typeface="微软雅黑" panose="020B0503020204020204" pitchFamily="34" charset="-122"/>
                <a:ea typeface="微软雅黑" panose="020B0503020204020204" pitchFamily="34" charset="-122"/>
              </a:rPr>
              <a:t>的</a:t>
            </a:r>
            <a:r>
              <a:rPr lang="zh-CN" altLang="en-US" sz="1600" b="0" dirty="0">
                <a:latin typeface="微软雅黑" panose="020B0503020204020204" pitchFamily="34" charset="-122"/>
                <a:ea typeface="微软雅黑" panose="020B0503020204020204" pitchFamily="34" charset="-122"/>
              </a:rPr>
              <a:t>加载</a:t>
            </a:r>
            <a:r>
              <a:rPr lang="zh-CN" altLang="en-US" sz="1600" b="0" dirty="0" smtClean="0">
                <a:latin typeface="微软雅黑" panose="020B0503020204020204" pitchFamily="34" charset="-122"/>
                <a:ea typeface="微软雅黑" panose="020B0503020204020204" pitchFamily="34" charset="-122"/>
              </a:rPr>
              <a:t>是在</a:t>
            </a:r>
            <a:r>
              <a:rPr lang="en-US" altLang="zh-CN" sz="1600" b="0" dirty="0" err="1" smtClean="0">
                <a:latin typeface="微软雅黑" panose="020B0503020204020204" pitchFamily="34" charset="-122"/>
                <a:ea typeface="微软雅黑" panose="020B0503020204020204" pitchFamily="34" charset="-122"/>
              </a:rPr>
              <a:t>rc</a:t>
            </a:r>
            <a:r>
              <a:rPr lang="zh-CN" altLang="en-US" sz="1600" b="0" dirty="0" smtClean="0">
                <a:latin typeface="微软雅黑" panose="020B0503020204020204" pitchFamily="34" charset="-122"/>
                <a:ea typeface="微软雅黑" panose="020B0503020204020204" pitchFamily="34" charset="-122"/>
              </a:rPr>
              <a:t>文件</a:t>
            </a:r>
            <a:r>
              <a:rPr lang="zh-CN" altLang="en-US" sz="1600" b="0" dirty="0">
                <a:latin typeface="微软雅黑" panose="020B0503020204020204" pitchFamily="34" charset="-122"/>
                <a:ea typeface="微软雅黑" panose="020B0503020204020204" pitchFamily="34" charset="-122"/>
              </a:rPr>
              <a:t>加载之前</a:t>
            </a:r>
            <a:r>
              <a:rPr lang="zh-CN" altLang="en-US" sz="1600" b="0" dirty="0" smtClean="0">
                <a:latin typeface="微软雅黑" panose="020B0503020204020204" pitchFamily="34" charset="-122"/>
                <a:ea typeface="微软雅黑" panose="020B0503020204020204" pitchFamily="34" charset="-122"/>
              </a:rPr>
              <a:t>的，加载顺序如下：</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如果</a:t>
            </a:r>
            <a:r>
              <a:rPr lang="en-US" altLang="zh-CN" sz="1600" b="0" dirty="0" smtClean="0">
                <a:latin typeface="微软雅黑" panose="020B0503020204020204" pitchFamily="34" charset="-122"/>
                <a:ea typeface="微软雅黑" panose="020B0503020204020204" pitchFamily="34" charset="-122"/>
              </a:rPr>
              <a:t>property</a:t>
            </a:r>
            <a:r>
              <a:rPr lang="zh-CN" altLang="en-US" sz="1600" b="0" dirty="0" smtClean="0">
                <a:latin typeface="微软雅黑" panose="020B0503020204020204" pitchFamily="34" charset="-122"/>
                <a:ea typeface="微软雅黑" panose="020B0503020204020204" pitchFamily="34" charset="-122"/>
              </a:rPr>
              <a:t>在不同的文件中有重复定义，那后面读取的</a:t>
            </a:r>
            <a:r>
              <a:rPr lang="en-US" altLang="zh-CN" sz="1600" b="0" dirty="0" smtClean="0">
                <a:latin typeface="微软雅黑" panose="020B0503020204020204" pitchFamily="34" charset="-122"/>
                <a:ea typeface="微软雅黑" panose="020B0503020204020204" pitchFamily="34" charset="-122"/>
              </a:rPr>
              <a:t>property</a:t>
            </a:r>
            <a:r>
              <a:rPr lang="zh-CN" altLang="en-US" sz="1600" b="0" dirty="0" smtClean="0">
                <a:latin typeface="微软雅黑" panose="020B0503020204020204" pitchFamily="34" charset="-122"/>
                <a:ea typeface="微软雅黑" panose="020B0503020204020204" pitchFamily="34" charset="-122"/>
              </a:rPr>
              <a:t>会覆盖前面读取的。</a:t>
            </a:r>
            <a:endParaRPr lang="en-US" altLang="zh-CN" sz="16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3059" y="1916832"/>
            <a:ext cx="9144000" cy="1763947"/>
          </a:xfrm>
          <a:prstGeom prst="rect">
            <a:avLst/>
          </a:prstGeom>
        </p:spPr>
      </p:pic>
    </p:spTree>
    <p:extLst>
      <p:ext uri="{BB962C8B-B14F-4D97-AF65-F5344CB8AC3E}">
        <p14:creationId xmlns:p14="http://schemas.microsoft.com/office/powerpoint/2010/main" val="9550325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786199"/>
          </a:xfrm>
          <a:prstGeom prst="rect">
            <a:avLst/>
          </a:prstGeom>
          <a:noFill/>
        </p:spPr>
        <p:txBody>
          <a:bodyPr wrap="square" rtlCol="0">
            <a:spAutoFit/>
          </a:bodyPr>
          <a:lstStyle/>
          <a:p>
            <a:pPr algn="l"/>
            <a:r>
              <a:rPr lang="en-US" altLang="zh-CN" sz="1600" b="0" dirty="0" err="1">
                <a:latin typeface="微软雅黑" panose="020B0503020204020204" pitchFamily="34" charset="-122"/>
                <a:ea typeface="微软雅黑" panose="020B0503020204020204" pitchFamily="34" charset="-122"/>
              </a:rPr>
              <a:t>init.rc</a:t>
            </a:r>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init.rc</a:t>
            </a:r>
            <a:r>
              <a:rPr lang="zh-CN" altLang="en-US" sz="1600" b="0" dirty="0" smtClean="0">
                <a:latin typeface="微软雅黑" panose="020B0503020204020204" pitchFamily="34" charset="-122"/>
                <a:ea typeface="微软雅黑" panose="020B0503020204020204" pitchFamily="34" charset="-122"/>
              </a:rPr>
              <a:t>是</a:t>
            </a:r>
            <a:r>
              <a:rPr lang="zh-CN" altLang="en-US" sz="1600" b="0" dirty="0">
                <a:latin typeface="微软雅黑" panose="020B0503020204020204" pitchFamily="34" charset="-122"/>
                <a:ea typeface="微软雅黑" panose="020B0503020204020204" pitchFamily="34" charset="-122"/>
              </a:rPr>
              <a:t>一个配置文件，是由</a:t>
            </a:r>
            <a:r>
              <a:rPr lang="en-US" altLang="zh-CN" sz="1600" b="0" dirty="0">
                <a:latin typeface="微软雅黑" panose="020B0503020204020204" pitchFamily="34" charset="-122"/>
                <a:ea typeface="微软雅黑" panose="020B0503020204020204" pitchFamily="34" charset="-122"/>
              </a:rPr>
              <a:t>Android</a:t>
            </a:r>
            <a:r>
              <a:rPr lang="zh-CN" altLang="en-US" sz="1600" b="0" dirty="0">
                <a:latin typeface="微软雅黑" panose="020B0503020204020204" pitchFamily="34" charset="-122"/>
                <a:ea typeface="微软雅黑" panose="020B0503020204020204" pitchFamily="34" charset="-122"/>
              </a:rPr>
              <a:t>初始化语言编写的脚本，主要包含五种类型语句：</a:t>
            </a:r>
            <a:r>
              <a:rPr lang="en-US" altLang="zh-CN" sz="1600" b="0" dirty="0">
                <a:latin typeface="微软雅黑" panose="020B0503020204020204" pitchFamily="34" charset="-122"/>
                <a:ea typeface="微软雅黑" panose="020B0503020204020204" pitchFamily="34" charset="-122"/>
              </a:rPr>
              <a:t>Action</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Command</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Option</a:t>
            </a:r>
            <a:r>
              <a:rPr lang="zh-CN" altLang="en-US" sz="1600" b="0" dirty="0">
                <a:latin typeface="微软雅黑" panose="020B0503020204020204" pitchFamily="34" charset="-122"/>
                <a:ea typeface="微软雅黑" panose="020B0503020204020204" pitchFamily="34" charset="-122"/>
              </a:rPr>
              <a:t>、</a:t>
            </a:r>
            <a:r>
              <a:rPr lang="en-US" altLang="zh-CN" sz="1600" b="0" dirty="0" smtClean="0">
                <a:latin typeface="微软雅黑" panose="020B0503020204020204" pitchFamily="34" charset="-122"/>
                <a:ea typeface="微软雅黑" panose="020B0503020204020204" pitchFamily="34" charset="-122"/>
              </a:rPr>
              <a:t>Import</a:t>
            </a:r>
            <a:r>
              <a:rPr lang="zh-CN" altLang="en-US" sz="1600" b="0" dirty="0" smtClean="0">
                <a:latin typeface="微软雅黑" panose="020B0503020204020204" pitchFamily="34" charset="-122"/>
                <a:ea typeface="微软雅黑" panose="020B0503020204020204" pitchFamily="34" charset="-122"/>
              </a:rPr>
              <a:t>，下面分别介绍：</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Action</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Action = </a:t>
            </a:r>
            <a:r>
              <a:rPr lang="en-US" altLang="zh-CN" sz="1600" b="0" dirty="0" err="1">
                <a:latin typeface="微软雅黑" panose="020B0503020204020204" pitchFamily="34" charset="-122"/>
                <a:ea typeface="微软雅黑" panose="020B0503020204020204" pitchFamily="34" charset="-122"/>
              </a:rPr>
              <a:t>trigger+commands</a:t>
            </a:r>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动作由一</a:t>
            </a:r>
            <a:r>
              <a:rPr lang="zh-CN" altLang="en-US" sz="1600" b="0" dirty="0" smtClean="0">
                <a:latin typeface="微软雅黑" panose="020B0503020204020204" pitchFamily="34" charset="-122"/>
                <a:ea typeface="微软雅黑" panose="020B0503020204020204" pitchFamily="34" charset="-122"/>
              </a:rPr>
              <a:t>组命令</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Commands</a:t>
            </a:r>
            <a:r>
              <a:rPr lang="zh-CN" altLang="en-US" sz="1600" b="0" dirty="0">
                <a:latin typeface="微软雅黑" panose="020B0503020204020204" pitchFamily="34" charset="-122"/>
                <a:ea typeface="微软雅黑" panose="020B0503020204020204" pitchFamily="34" charset="-122"/>
              </a:rPr>
              <a:t>）组成，动作还包含了一个 </a:t>
            </a:r>
            <a:r>
              <a:rPr lang="zh-CN" altLang="en-US" sz="1600" b="0" dirty="0" smtClean="0">
                <a:latin typeface="微软雅黑" panose="020B0503020204020204" pitchFamily="34" charset="-122"/>
                <a:ea typeface="微软雅黑" panose="020B0503020204020204" pitchFamily="34" charset="-122"/>
              </a:rPr>
              <a:t>触发器，决定</a:t>
            </a:r>
            <a:r>
              <a:rPr lang="zh-CN" altLang="en-US" sz="1600" b="0" dirty="0">
                <a:latin typeface="微软雅黑" panose="020B0503020204020204" pitchFamily="34" charset="-122"/>
                <a:ea typeface="微软雅黑" panose="020B0503020204020204" pitchFamily="34" charset="-122"/>
              </a:rPr>
              <a:t>了运行这个动作的</a:t>
            </a:r>
            <a:r>
              <a:rPr lang="zh-CN" altLang="en-US" sz="1600" b="0" dirty="0" smtClean="0">
                <a:latin typeface="微软雅黑" panose="020B0503020204020204" pitchFamily="34" charset="-122"/>
                <a:ea typeface="微软雅黑" panose="020B0503020204020204" pitchFamily="34" charset="-122"/>
              </a:rPr>
              <a:t>时机，即</a:t>
            </a:r>
            <a:r>
              <a:rPr lang="zh-CN" altLang="en-US" sz="1600" b="0" dirty="0">
                <a:latin typeface="微软雅黑" panose="020B0503020204020204" pitchFamily="34" charset="-122"/>
                <a:ea typeface="微软雅黑" panose="020B0503020204020204" pitchFamily="34" charset="-122"/>
              </a:rPr>
              <a:t>通过以 </a:t>
            </a:r>
            <a:r>
              <a:rPr lang="en-US" altLang="zh-CN" sz="1600" b="0" dirty="0">
                <a:latin typeface="微软雅黑" panose="020B0503020204020204" pitchFamily="34" charset="-122"/>
                <a:ea typeface="微软雅黑" panose="020B0503020204020204" pitchFamily="34" charset="-122"/>
              </a:rPr>
              <a:t>on </a:t>
            </a:r>
            <a:r>
              <a:rPr lang="zh-CN" altLang="en-US" sz="1600" b="0" dirty="0">
                <a:latin typeface="微软雅黑" panose="020B0503020204020204" pitchFamily="34" charset="-122"/>
                <a:ea typeface="微软雅黑" panose="020B0503020204020204" pitchFamily="34" charset="-122"/>
              </a:rPr>
              <a:t>开头的语句来决定执行相应的 </a:t>
            </a:r>
            <a:r>
              <a:rPr lang="en-US" altLang="zh-CN" sz="1600" b="0" dirty="0">
                <a:latin typeface="微软雅黑" panose="020B0503020204020204" pitchFamily="34" charset="-122"/>
                <a:ea typeface="微软雅黑" panose="020B0503020204020204" pitchFamily="34" charset="-122"/>
              </a:rPr>
              <a:t>service </a:t>
            </a:r>
            <a:r>
              <a:rPr lang="zh-CN" altLang="en-US" sz="1600" b="0" dirty="0">
                <a:latin typeface="微软雅黑" panose="020B0503020204020204" pitchFamily="34" charset="-122"/>
                <a:ea typeface="微软雅黑" panose="020B0503020204020204" pitchFamily="34" charset="-122"/>
              </a:rPr>
              <a:t>的时机，具体有如下时机</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on </a:t>
            </a:r>
            <a:r>
              <a:rPr lang="en-US" altLang="zh-CN" sz="1400" b="0" dirty="0" smtClean="0">
                <a:solidFill>
                  <a:srgbClr val="0070C0"/>
                </a:solidFill>
                <a:latin typeface="微软雅黑" panose="020B0503020204020204" pitchFamily="34" charset="-122"/>
                <a:ea typeface="微软雅黑" panose="020B0503020204020204" pitchFamily="34" charset="-122"/>
              </a:rPr>
              <a:t>early-</a:t>
            </a:r>
            <a:r>
              <a:rPr lang="en-US" altLang="zh-CN" sz="1400" b="0" dirty="0" err="1" smtClean="0">
                <a:solidFill>
                  <a:srgbClr val="0070C0"/>
                </a:solidFill>
                <a:latin typeface="微软雅黑" panose="020B0503020204020204" pitchFamily="34" charset="-122"/>
                <a:ea typeface="微软雅黑" panose="020B0503020204020204" pitchFamily="34" charset="-122"/>
              </a:rPr>
              <a:t>init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EE0000"/>
                </a:solidFill>
                <a:latin typeface="微软雅黑" panose="020B0503020204020204" pitchFamily="34" charset="-122"/>
                <a:ea typeface="微软雅黑" panose="020B0503020204020204" pitchFamily="34" charset="-122"/>
              </a:rPr>
              <a:t>//</a:t>
            </a:r>
            <a:r>
              <a:rPr lang="zh-CN" altLang="en-US" sz="1400" b="0" dirty="0" smtClean="0">
                <a:solidFill>
                  <a:srgbClr val="EE0000"/>
                </a:solidFill>
                <a:latin typeface="微软雅黑" panose="020B0503020204020204" pitchFamily="34" charset="-122"/>
                <a:ea typeface="微软雅黑" panose="020B0503020204020204" pitchFamily="34" charset="-122"/>
              </a:rPr>
              <a:t>在</a:t>
            </a:r>
            <a:r>
              <a:rPr lang="zh-CN" altLang="en-US" sz="1400" b="0" dirty="0">
                <a:solidFill>
                  <a:srgbClr val="EE0000"/>
                </a:solidFill>
                <a:latin typeface="微软雅黑" panose="020B0503020204020204" pitchFamily="34" charset="-122"/>
                <a:ea typeface="微软雅黑" panose="020B0503020204020204" pitchFamily="34" charset="-122"/>
              </a:rPr>
              <a:t>初始化早期阶段</a:t>
            </a:r>
            <a:r>
              <a:rPr lang="zh-CN" altLang="en-US" sz="1400" b="0" dirty="0" smtClean="0">
                <a:solidFill>
                  <a:srgbClr val="EE0000"/>
                </a:solidFill>
                <a:latin typeface="微软雅黑" panose="020B0503020204020204" pitchFamily="34" charset="-122"/>
                <a:ea typeface="微软雅黑" panose="020B0503020204020204" pitchFamily="34" charset="-122"/>
              </a:rPr>
              <a:t>触发</a:t>
            </a:r>
            <a:endParaRPr lang="zh-CN" altLang="en-US" sz="1400" b="0" dirty="0">
              <a:solidFill>
                <a:srgbClr val="EE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on </a:t>
            </a:r>
            <a:r>
              <a:rPr lang="en-US" altLang="zh-CN" sz="1400" b="0" dirty="0" err="1" smtClean="0">
                <a:solidFill>
                  <a:srgbClr val="0070C0"/>
                </a:solidFill>
                <a:latin typeface="微软雅黑" panose="020B0503020204020204" pitchFamily="34" charset="-122"/>
                <a:ea typeface="微软雅黑" panose="020B0503020204020204" pitchFamily="34" charset="-122"/>
              </a:rPr>
              <a:t>init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EE0000"/>
                </a:solidFill>
                <a:latin typeface="微软雅黑" panose="020B0503020204020204" pitchFamily="34" charset="-122"/>
                <a:ea typeface="微软雅黑" panose="020B0503020204020204" pitchFamily="34" charset="-122"/>
              </a:rPr>
              <a:t>//</a:t>
            </a:r>
            <a:r>
              <a:rPr lang="zh-CN" altLang="en-US" sz="1400" b="0" dirty="0" smtClean="0">
                <a:solidFill>
                  <a:srgbClr val="EE0000"/>
                </a:solidFill>
                <a:latin typeface="微软雅黑" panose="020B0503020204020204" pitchFamily="34" charset="-122"/>
                <a:ea typeface="微软雅黑" panose="020B0503020204020204" pitchFamily="34" charset="-122"/>
              </a:rPr>
              <a:t>在</a:t>
            </a:r>
            <a:r>
              <a:rPr lang="zh-CN" altLang="en-US" sz="1400" b="0" dirty="0">
                <a:solidFill>
                  <a:srgbClr val="EE0000"/>
                </a:solidFill>
                <a:latin typeface="微软雅黑" panose="020B0503020204020204" pitchFamily="34" charset="-122"/>
                <a:ea typeface="微软雅黑" panose="020B0503020204020204" pitchFamily="34" charset="-122"/>
              </a:rPr>
              <a:t>初始化阶段</a:t>
            </a:r>
            <a:r>
              <a:rPr lang="zh-CN" altLang="en-US" sz="1400" b="0" dirty="0" smtClean="0">
                <a:solidFill>
                  <a:srgbClr val="EE0000"/>
                </a:solidFill>
                <a:latin typeface="微软雅黑" panose="020B0503020204020204" pitchFamily="34" charset="-122"/>
                <a:ea typeface="微软雅黑" panose="020B0503020204020204" pitchFamily="34" charset="-122"/>
              </a:rPr>
              <a:t>触发</a:t>
            </a:r>
            <a:endParaRPr lang="zh-CN" altLang="en-US" sz="1400" b="0" dirty="0">
              <a:solidFill>
                <a:srgbClr val="EE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on </a:t>
            </a:r>
            <a:r>
              <a:rPr lang="en-US" altLang="zh-CN" sz="1400" b="0" dirty="0" smtClean="0">
                <a:solidFill>
                  <a:srgbClr val="0070C0"/>
                </a:solidFill>
                <a:latin typeface="微软雅黑" panose="020B0503020204020204" pitchFamily="34" charset="-122"/>
                <a:ea typeface="微软雅黑" panose="020B0503020204020204" pitchFamily="34" charset="-122"/>
              </a:rPr>
              <a:t>late-</a:t>
            </a:r>
            <a:r>
              <a:rPr lang="en-US" altLang="zh-CN" sz="1400" b="0" dirty="0" err="1" smtClean="0">
                <a:solidFill>
                  <a:srgbClr val="0070C0"/>
                </a:solidFill>
                <a:latin typeface="微软雅黑" panose="020B0503020204020204" pitchFamily="34" charset="-122"/>
                <a:ea typeface="微软雅黑" panose="020B0503020204020204" pitchFamily="34" charset="-122"/>
              </a:rPr>
              <a:t>init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EE0000"/>
                </a:solidFill>
                <a:latin typeface="微软雅黑" panose="020B0503020204020204" pitchFamily="34" charset="-122"/>
                <a:ea typeface="微软雅黑" panose="020B0503020204020204" pitchFamily="34" charset="-122"/>
              </a:rPr>
              <a:t>//</a:t>
            </a:r>
            <a:r>
              <a:rPr lang="zh-CN" altLang="en-US" sz="1400" b="0" dirty="0" smtClean="0">
                <a:solidFill>
                  <a:srgbClr val="EE0000"/>
                </a:solidFill>
                <a:latin typeface="微软雅黑" panose="020B0503020204020204" pitchFamily="34" charset="-122"/>
                <a:ea typeface="微软雅黑" panose="020B0503020204020204" pitchFamily="34" charset="-122"/>
              </a:rPr>
              <a:t>在</a:t>
            </a:r>
            <a:r>
              <a:rPr lang="zh-CN" altLang="en-US" sz="1400" b="0" dirty="0">
                <a:solidFill>
                  <a:srgbClr val="EE0000"/>
                </a:solidFill>
                <a:latin typeface="微软雅黑" panose="020B0503020204020204" pitchFamily="34" charset="-122"/>
                <a:ea typeface="微软雅黑" panose="020B0503020204020204" pitchFamily="34" charset="-122"/>
              </a:rPr>
              <a:t>初始化晚期阶段</a:t>
            </a:r>
            <a:r>
              <a:rPr lang="zh-CN" altLang="en-US" sz="1400" b="0" dirty="0" smtClean="0">
                <a:solidFill>
                  <a:srgbClr val="EE0000"/>
                </a:solidFill>
                <a:latin typeface="微软雅黑" panose="020B0503020204020204" pitchFamily="34" charset="-122"/>
                <a:ea typeface="微软雅黑" panose="020B0503020204020204" pitchFamily="34" charset="-122"/>
              </a:rPr>
              <a:t>触发</a:t>
            </a:r>
            <a:endParaRPr lang="zh-CN" altLang="en-US" sz="1400" b="0" dirty="0">
              <a:solidFill>
                <a:srgbClr val="EE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on </a:t>
            </a:r>
            <a:r>
              <a:rPr lang="en-US" altLang="zh-CN" sz="1400" b="0" dirty="0" smtClean="0">
                <a:solidFill>
                  <a:srgbClr val="0070C0"/>
                </a:solidFill>
                <a:latin typeface="微软雅黑" panose="020B0503020204020204" pitchFamily="34" charset="-122"/>
                <a:ea typeface="微软雅黑" panose="020B0503020204020204" pitchFamily="34" charset="-122"/>
              </a:rPr>
              <a:t>boot/charger</a:t>
            </a:r>
            <a:r>
              <a:rPr lang="zh-CN" altLang="en-US"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EE0000"/>
                </a:solidFill>
                <a:latin typeface="微软雅黑" panose="020B0503020204020204" pitchFamily="34" charset="-122"/>
                <a:ea typeface="微软雅黑" panose="020B0503020204020204" pitchFamily="34" charset="-122"/>
              </a:rPr>
              <a:t>//</a:t>
            </a:r>
            <a:r>
              <a:rPr lang="zh-CN" altLang="en-US" sz="1400" b="0" dirty="0" smtClean="0">
                <a:solidFill>
                  <a:srgbClr val="EE0000"/>
                </a:solidFill>
                <a:latin typeface="微软雅黑" panose="020B0503020204020204" pitchFamily="34" charset="-122"/>
                <a:ea typeface="微软雅黑" panose="020B0503020204020204" pitchFamily="34" charset="-122"/>
              </a:rPr>
              <a:t>当系统启动</a:t>
            </a:r>
            <a:r>
              <a:rPr lang="en-US" altLang="zh-CN" sz="1400" b="0" dirty="0" smtClean="0">
                <a:solidFill>
                  <a:srgbClr val="EE0000"/>
                </a:solidFill>
                <a:latin typeface="微软雅黑" panose="020B0503020204020204" pitchFamily="34" charset="-122"/>
                <a:ea typeface="微软雅黑" panose="020B0503020204020204" pitchFamily="34" charset="-122"/>
              </a:rPr>
              <a:t>/</a:t>
            </a:r>
            <a:r>
              <a:rPr lang="zh-CN" altLang="en-US" sz="1400" b="0" dirty="0" smtClean="0">
                <a:solidFill>
                  <a:srgbClr val="EE0000"/>
                </a:solidFill>
                <a:latin typeface="微软雅黑" panose="020B0503020204020204" pitchFamily="34" charset="-122"/>
                <a:ea typeface="微软雅黑" panose="020B0503020204020204" pitchFamily="34" charset="-122"/>
              </a:rPr>
              <a:t>充电时触发</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on property:&lt;key&gt;=&lt;value&gt;  </a:t>
            </a:r>
            <a:r>
              <a:rPr lang="en-US" altLang="zh-CN" sz="1400" b="0" dirty="0" smtClean="0">
                <a:solidFill>
                  <a:srgbClr val="EE0000"/>
                </a:solidFill>
                <a:latin typeface="微软雅黑" panose="020B0503020204020204" pitchFamily="34" charset="-122"/>
                <a:ea typeface="微软雅黑" panose="020B0503020204020204" pitchFamily="34" charset="-122"/>
              </a:rPr>
              <a:t>//</a:t>
            </a:r>
            <a:r>
              <a:rPr lang="zh-CN" altLang="en-US" sz="1400" b="0" dirty="0" smtClean="0">
                <a:solidFill>
                  <a:srgbClr val="EE0000"/>
                </a:solidFill>
                <a:latin typeface="微软雅黑" panose="020B0503020204020204" pitchFamily="34" charset="-122"/>
                <a:ea typeface="微软雅黑" panose="020B0503020204020204" pitchFamily="34" charset="-122"/>
              </a:rPr>
              <a:t>当属性值满足条件时触发</a:t>
            </a:r>
            <a:endParaRPr lang="en-US" altLang="zh-CN" sz="1400" b="0" dirty="0" smtClean="0">
              <a:solidFill>
                <a:srgbClr val="EE0000"/>
              </a:solidFill>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Command</a:t>
            </a:r>
            <a:r>
              <a:rPr lang="zh-CN" altLang="en-US" sz="1600" b="0" dirty="0">
                <a:latin typeface="微软雅黑" panose="020B0503020204020204" pitchFamily="34" charset="-122"/>
                <a:ea typeface="微软雅黑" panose="020B0503020204020204" pitchFamily="34" charset="-122"/>
              </a:rPr>
              <a:t>：</a:t>
            </a:r>
          </a:p>
          <a:p>
            <a:pPr algn="l"/>
            <a:r>
              <a:rPr lang="en-US" altLang="zh-CN" sz="1600" b="0" dirty="0">
                <a:latin typeface="微软雅黑" panose="020B0503020204020204" pitchFamily="34" charset="-122"/>
                <a:ea typeface="微软雅黑" panose="020B0503020204020204" pitchFamily="34" charset="-122"/>
              </a:rPr>
              <a:t>Command</a:t>
            </a:r>
            <a:r>
              <a:rPr lang="zh-CN" altLang="en-US" sz="1600" b="0" dirty="0">
                <a:latin typeface="微软雅黑" panose="020B0503020204020204" pitchFamily="34" charset="-122"/>
                <a:ea typeface="微软雅黑" panose="020B0503020204020204" pitchFamily="34" charset="-122"/>
              </a:rPr>
              <a:t>是</a:t>
            </a:r>
            <a:r>
              <a:rPr lang="en-US" altLang="zh-CN" sz="1600" b="0" dirty="0">
                <a:latin typeface="微软雅黑" panose="020B0503020204020204" pitchFamily="34" charset="-122"/>
                <a:ea typeface="微软雅黑" panose="020B0503020204020204" pitchFamily="34" charset="-122"/>
              </a:rPr>
              <a:t>Action</a:t>
            </a:r>
            <a:r>
              <a:rPr lang="zh-CN" altLang="en-US" sz="1600" b="0" dirty="0">
                <a:latin typeface="微软雅黑" panose="020B0503020204020204" pitchFamily="34" charset="-122"/>
                <a:ea typeface="微软雅黑" panose="020B0503020204020204" pitchFamily="34" charset="-122"/>
              </a:rPr>
              <a:t>的命令列表中命令，或者是</a:t>
            </a:r>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中的选项</a:t>
            </a:r>
            <a:r>
              <a:rPr lang="en-US" altLang="zh-CN" sz="1600" b="0" dirty="0" err="1">
                <a:latin typeface="微软雅黑" panose="020B0503020204020204" pitchFamily="34" charset="-122"/>
                <a:ea typeface="微软雅黑" panose="020B0503020204020204" pitchFamily="34" charset="-122"/>
              </a:rPr>
              <a:t>onrestart</a:t>
            </a:r>
            <a:r>
              <a:rPr lang="zh-CN" altLang="en-US" sz="1600" b="0" dirty="0">
                <a:latin typeface="微软雅黑" panose="020B0503020204020204" pitchFamily="34" charset="-122"/>
                <a:ea typeface="微软雅黑" panose="020B0503020204020204" pitchFamily="34" charset="-122"/>
              </a:rPr>
              <a:t>的参数命令，命令将在所属事件发生时被一个一个的执行。常用命令如下：</a:t>
            </a:r>
          </a:p>
          <a:p>
            <a:pPr algn="l"/>
            <a:r>
              <a:rPr lang="en-US" altLang="zh-CN" sz="1400" b="0" dirty="0" err="1">
                <a:solidFill>
                  <a:srgbClr val="0070C0"/>
                </a:solidFill>
                <a:latin typeface="微软雅黑" panose="020B0503020204020204" pitchFamily="34" charset="-122"/>
                <a:ea typeface="微软雅黑" panose="020B0503020204020204" pitchFamily="34" charset="-122"/>
              </a:rPr>
              <a:t>class_start</a:t>
            </a:r>
            <a:r>
              <a:rPr lang="en-US" altLang="zh-CN" sz="1400" b="0" dirty="0">
                <a:solidFill>
                  <a:srgbClr val="0070C0"/>
                </a:solidFill>
                <a:latin typeface="微软雅黑" panose="020B0503020204020204" pitchFamily="34" charset="-122"/>
                <a:ea typeface="微软雅黑" panose="020B0503020204020204" pitchFamily="34" charset="-122"/>
              </a:rPr>
              <a:t> &lt;</a:t>
            </a:r>
            <a:r>
              <a:rPr lang="en-US" altLang="zh-CN" sz="1400" b="0" dirty="0" err="1">
                <a:solidFill>
                  <a:srgbClr val="0070C0"/>
                </a:solidFill>
                <a:latin typeface="微软雅黑" panose="020B0503020204020204" pitchFamily="34" charset="-122"/>
                <a:ea typeface="微软雅黑" panose="020B0503020204020204" pitchFamily="34" charset="-122"/>
              </a:rPr>
              <a:t>service_class_name</a:t>
            </a:r>
            <a:r>
              <a:rPr lang="en-US" altLang="zh-CN" sz="1400" b="0" dirty="0">
                <a:solidFill>
                  <a:srgbClr val="0070C0"/>
                </a:solidFill>
                <a:latin typeface="微软雅黑" panose="020B0503020204020204" pitchFamily="34" charset="-122"/>
                <a:ea typeface="微软雅黑" panose="020B0503020204020204" pitchFamily="34" charset="-122"/>
              </a:rPr>
              <a:t>&gt;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启动属于同一个</a:t>
            </a:r>
            <a:r>
              <a:rPr lang="en-US" altLang="zh-CN" sz="1400" b="0" dirty="0">
                <a:solidFill>
                  <a:srgbClr val="FF0000"/>
                </a:solidFill>
                <a:latin typeface="微软雅黑" panose="020B0503020204020204" pitchFamily="34" charset="-122"/>
                <a:ea typeface="微软雅黑" panose="020B0503020204020204" pitchFamily="34" charset="-122"/>
              </a:rPr>
              <a:t>class</a:t>
            </a:r>
            <a:r>
              <a:rPr lang="zh-CN" altLang="en-US" sz="1400" b="0" dirty="0">
                <a:solidFill>
                  <a:srgbClr val="FF0000"/>
                </a:solidFill>
                <a:latin typeface="微软雅黑" panose="020B0503020204020204" pitchFamily="34" charset="-122"/>
                <a:ea typeface="微软雅黑" panose="020B0503020204020204" pitchFamily="34" charset="-122"/>
              </a:rPr>
              <a:t>的所有服务</a:t>
            </a:r>
          </a:p>
          <a:p>
            <a:pPr algn="l"/>
            <a:r>
              <a:rPr lang="en-US" altLang="zh-CN" sz="1400" b="0" dirty="0" err="1">
                <a:solidFill>
                  <a:srgbClr val="0070C0"/>
                </a:solidFill>
                <a:latin typeface="微软雅黑" panose="020B0503020204020204" pitchFamily="34" charset="-122"/>
                <a:ea typeface="微软雅黑" panose="020B0503020204020204" pitchFamily="34" charset="-122"/>
              </a:rPr>
              <a:t>class_stop</a:t>
            </a:r>
            <a:r>
              <a:rPr lang="en-US" altLang="zh-CN" sz="1400" b="0" dirty="0">
                <a:solidFill>
                  <a:srgbClr val="0070C0"/>
                </a:solidFill>
                <a:latin typeface="微软雅黑" panose="020B0503020204020204" pitchFamily="34" charset="-122"/>
                <a:ea typeface="微软雅黑" panose="020B0503020204020204" pitchFamily="34" charset="-122"/>
              </a:rPr>
              <a:t> &lt;</a:t>
            </a:r>
            <a:r>
              <a:rPr lang="en-US" altLang="zh-CN" sz="1400" b="0" dirty="0" err="1">
                <a:solidFill>
                  <a:srgbClr val="0070C0"/>
                </a:solidFill>
                <a:latin typeface="微软雅黑" panose="020B0503020204020204" pitchFamily="34" charset="-122"/>
                <a:ea typeface="微软雅黑" panose="020B0503020204020204" pitchFamily="34" charset="-122"/>
              </a:rPr>
              <a:t>service_class_name</a:t>
            </a:r>
            <a:r>
              <a:rPr lang="en-US" altLang="zh-CN" sz="1400" b="0" dirty="0">
                <a:solidFill>
                  <a:srgbClr val="0070C0"/>
                </a:solidFill>
                <a:latin typeface="微软雅黑" panose="020B0503020204020204" pitchFamily="34" charset="-122"/>
                <a:ea typeface="微软雅黑" panose="020B0503020204020204" pitchFamily="34" charset="-122"/>
              </a:rPr>
              <a:t>&gt;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停止指定类的服务</a:t>
            </a:r>
          </a:p>
          <a:p>
            <a:pPr algn="l"/>
            <a:r>
              <a:rPr lang="en-US" altLang="zh-CN" sz="1400" b="0" dirty="0">
                <a:solidFill>
                  <a:srgbClr val="0070C0"/>
                </a:solidFill>
                <a:latin typeface="微软雅黑" panose="020B0503020204020204" pitchFamily="34" charset="-122"/>
                <a:ea typeface="微软雅黑" panose="020B0503020204020204" pitchFamily="34" charset="-122"/>
              </a:rPr>
              <a:t>start &lt;</a:t>
            </a:r>
            <a:r>
              <a:rPr lang="en-US" altLang="zh-CN" sz="1400" b="0" dirty="0" err="1">
                <a:solidFill>
                  <a:srgbClr val="0070C0"/>
                </a:solidFill>
                <a:latin typeface="微软雅黑" panose="020B0503020204020204" pitchFamily="34" charset="-122"/>
                <a:ea typeface="微软雅黑" panose="020B0503020204020204" pitchFamily="34" charset="-122"/>
              </a:rPr>
              <a:t>service_name</a:t>
            </a:r>
            <a:r>
              <a:rPr lang="en-US" altLang="zh-CN" sz="1400" b="0" dirty="0">
                <a:solidFill>
                  <a:srgbClr val="0070C0"/>
                </a:solidFill>
                <a:latin typeface="微软雅黑" panose="020B0503020204020204" pitchFamily="34" charset="-122"/>
                <a:ea typeface="微软雅黑" panose="020B0503020204020204" pitchFamily="34" charset="-122"/>
              </a:rPr>
              <a:t>&gt;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启动指定的服务，若已启动则跳过</a:t>
            </a:r>
          </a:p>
          <a:p>
            <a:pPr algn="l"/>
            <a:r>
              <a:rPr lang="en-US" altLang="zh-CN" sz="1400" b="0" dirty="0">
                <a:solidFill>
                  <a:srgbClr val="0070C0"/>
                </a:solidFill>
                <a:latin typeface="微软雅黑" panose="020B0503020204020204" pitchFamily="34" charset="-122"/>
                <a:ea typeface="微软雅黑" panose="020B0503020204020204" pitchFamily="34" charset="-122"/>
              </a:rPr>
              <a:t>stop &lt;</a:t>
            </a:r>
            <a:r>
              <a:rPr lang="en-US" altLang="zh-CN" sz="1400" b="0" dirty="0" err="1">
                <a:solidFill>
                  <a:srgbClr val="0070C0"/>
                </a:solidFill>
                <a:latin typeface="微软雅黑" panose="020B0503020204020204" pitchFamily="34" charset="-122"/>
                <a:ea typeface="微软雅黑" panose="020B0503020204020204" pitchFamily="34" charset="-122"/>
              </a:rPr>
              <a:t>service_name</a:t>
            </a:r>
            <a:r>
              <a:rPr lang="en-US" altLang="zh-CN" sz="1400" b="0" dirty="0">
                <a:solidFill>
                  <a:srgbClr val="0070C0"/>
                </a:solidFill>
                <a:latin typeface="微软雅黑" panose="020B0503020204020204" pitchFamily="34" charset="-122"/>
                <a:ea typeface="微软雅黑" panose="020B0503020204020204" pitchFamily="34" charset="-122"/>
              </a:rPr>
              <a:t>&gt;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停止正在运行的服务</a:t>
            </a:r>
          </a:p>
          <a:p>
            <a:pPr algn="l"/>
            <a:r>
              <a:rPr lang="en-US" altLang="zh-CN" sz="1400" b="0" dirty="0">
                <a:solidFill>
                  <a:srgbClr val="0070C0"/>
                </a:solidFill>
                <a:latin typeface="微软雅黑" panose="020B0503020204020204" pitchFamily="34" charset="-122"/>
                <a:ea typeface="微软雅黑" panose="020B0503020204020204" pitchFamily="34" charset="-122"/>
              </a:rPr>
              <a:t>restart &lt;</a:t>
            </a:r>
            <a:r>
              <a:rPr lang="en-US" altLang="zh-CN" sz="1400" b="0" dirty="0" err="1">
                <a:solidFill>
                  <a:srgbClr val="0070C0"/>
                </a:solidFill>
                <a:latin typeface="微软雅黑" panose="020B0503020204020204" pitchFamily="34" charset="-122"/>
                <a:ea typeface="微软雅黑" panose="020B0503020204020204" pitchFamily="34" charset="-122"/>
              </a:rPr>
              <a:t>service_name</a:t>
            </a:r>
            <a:r>
              <a:rPr lang="en-US" altLang="zh-CN" sz="1400" b="0" dirty="0">
                <a:solidFill>
                  <a:srgbClr val="0070C0"/>
                </a:solidFill>
                <a:latin typeface="微软雅黑" panose="020B0503020204020204" pitchFamily="34" charset="-122"/>
                <a:ea typeface="微软雅黑" panose="020B0503020204020204" pitchFamily="34" charset="-122"/>
              </a:rPr>
              <a:t>&gt;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重启指定的服务</a:t>
            </a:r>
          </a:p>
          <a:p>
            <a:pPr algn="l"/>
            <a:r>
              <a:rPr lang="en-US" altLang="zh-CN" sz="1400" b="0" dirty="0" err="1">
                <a:solidFill>
                  <a:srgbClr val="0070C0"/>
                </a:solidFill>
                <a:latin typeface="微软雅黑" panose="020B0503020204020204" pitchFamily="34" charset="-122"/>
                <a:ea typeface="微软雅黑" panose="020B0503020204020204" pitchFamily="34" charset="-122"/>
              </a:rPr>
              <a:t>setprop</a:t>
            </a:r>
            <a:r>
              <a:rPr lang="en-US" altLang="zh-CN" sz="1400" b="0" dirty="0">
                <a:solidFill>
                  <a:srgbClr val="0070C0"/>
                </a:solidFill>
                <a:latin typeface="微软雅黑" panose="020B0503020204020204" pitchFamily="34" charset="-122"/>
                <a:ea typeface="微软雅黑" panose="020B0503020204020204" pitchFamily="34" charset="-122"/>
              </a:rPr>
              <a:t> &lt;name&gt; &lt;value&gt;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设置属性值</a:t>
            </a:r>
          </a:p>
          <a:p>
            <a:pPr algn="l"/>
            <a:r>
              <a:rPr lang="en-US" altLang="zh-CN" sz="1400" b="0" dirty="0" err="1">
                <a:solidFill>
                  <a:srgbClr val="0070C0"/>
                </a:solidFill>
                <a:latin typeface="微软雅黑" panose="020B0503020204020204" pitchFamily="34" charset="-122"/>
                <a:ea typeface="微软雅黑" panose="020B0503020204020204" pitchFamily="34" charset="-122"/>
              </a:rPr>
              <a:t>mkdir</a:t>
            </a:r>
            <a:r>
              <a:rPr lang="en-US" altLang="zh-CN" sz="1400" b="0" dirty="0">
                <a:solidFill>
                  <a:srgbClr val="0070C0"/>
                </a:solidFill>
                <a:latin typeface="微软雅黑" panose="020B0503020204020204" pitchFamily="34" charset="-122"/>
                <a:ea typeface="微软雅黑" panose="020B0503020204020204" pitchFamily="34" charset="-122"/>
              </a:rPr>
              <a:t> &lt;path&gt;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创建指定目录</a:t>
            </a:r>
          </a:p>
          <a:p>
            <a:pPr algn="l"/>
            <a:r>
              <a:rPr lang="en-US" altLang="zh-CN" sz="1400" b="0" dirty="0" err="1">
                <a:solidFill>
                  <a:srgbClr val="0070C0"/>
                </a:solidFill>
                <a:latin typeface="微软雅黑" panose="020B0503020204020204" pitchFamily="34" charset="-122"/>
                <a:ea typeface="微软雅黑" panose="020B0503020204020204" pitchFamily="34" charset="-122"/>
              </a:rPr>
              <a:t>chown</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修改一个目录或文件的用户和用户组</a:t>
            </a:r>
          </a:p>
          <a:p>
            <a:pPr algn="l"/>
            <a:r>
              <a:rPr lang="en-US" altLang="zh-CN" sz="1400" b="0" dirty="0" err="1">
                <a:solidFill>
                  <a:srgbClr val="0070C0"/>
                </a:solidFill>
                <a:latin typeface="微软雅黑" panose="020B0503020204020204" pitchFamily="34" charset="-122"/>
                <a:ea typeface="微软雅黑" panose="020B0503020204020204" pitchFamily="34" charset="-122"/>
              </a:rPr>
              <a:t>chmod</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修改一个目录或文件的访问权限</a:t>
            </a:r>
          </a:p>
          <a:p>
            <a:pPr algn="l"/>
            <a:r>
              <a:rPr lang="en-US" altLang="zh-CN" sz="1400" b="0" dirty="0" err="1">
                <a:solidFill>
                  <a:srgbClr val="0070C0"/>
                </a:solidFill>
                <a:latin typeface="微软雅黑" panose="020B0503020204020204" pitchFamily="34" charset="-122"/>
                <a:ea typeface="微软雅黑" panose="020B0503020204020204" pitchFamily="34" charset="-122"/>
              </a:rPr>
              <a:t>symlink</a:t>
            </a:r>
            <a:r>
              <a:rPr lang="en-US" altLang="zh-CN" sz="1400" b="0" dirty="0">
                <a:solidFill>
                  <a:srgbClr val="0070C0"/>
                </a:solidFill>
                <a:latin typeface="微软雅黑" panose="020B0503020204020204" pitchFamily="34" charset="-122"/>
                <a:ea typeface="微软雅黑" panose="020B0503020204020204" pitchFamily="34" charset="-122"/>
              </a:rPr>
              <a:t> &lt;target&gt; &lt;</a:t>
            </a:r>
            <a:r>
              <a:rPr lang="en-US" altLang="zh-CN" sz="1400" b="0" dirty="0" err="1">
                <a:solidFill>
                  <a:srgbClr val="0070C0"/>
                </a:solidFill>
                <a:latin typeface="微软雅黑" panose="020B0503020204020204" pitchFamily="34" charset="-122"/>
                <a:ea typeface="微软雅黑" panose="020B0503020204020204" pitchFamily="34" charset="-122"/>
              </a:rPr>
              <a:t>sym_link</a:t>
            </a:r>
            <a:r>
              <a:rPr lang="en-US" altLang="zh-CN" sz="1400" b="0" dirty="0">
                <a:solidFill>
                  <a:srgbClr val="0070C0"/>
                </a:solidFill>
                <a:latin typeface="微软雅黑" panose="020B0503020204020204" pitchFamily="34" charset="-122"/>
                <a:ea typeface="微软雅黑" panose="020B0503020204020204" pitchFamily="34" charset="-122"/>
              </a:rPr>
              <a:t>&gt;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创建连接到</a:t>
            </a:r>
            <a:r>
              <a:rPr lang="en-US" altLang="zh-CN" sz="1400" b="0" dirty="0">
                <a:solidFill>
                  <a:srgbClr val="FF0000"/>
                </a:solidFill>
                <a:latin typeface="微软雅黑" panose="020B0503020204020204" pitchFamily="34" charset="-122"/>
                <a:ea typeface="微软雅黑" panose="020B0503020204020204" pitchFamily="34" charset="-122"/>
              </a:rPr>
              <a:t>&lt;target&gt;</a:t>
            </a:r>
            <a:r>
              <a:rPr lang="zh-CN" altLang="en-US" sz="1400" b="0" dirty="0">
                <a:solidFill>
                  <a:srgbClr val="FF0000"/>
                </a:solidFill>
                <a:latin typeface="微软雅黑" panose="020B0503020204020204" pitchFamily="34" charset="-122"/>
                <a:ea typeface="微软雅黑" panose="020B0503020204020204" pitchFamily="34" charset="-122"/>
              </a:rPr>
              <a:t>的</a:t>
            </a:r>
            <a:r>
              <a:rPr lang="en-US" altLang="zh-CN" sz="1400" b="0" dirty="0">
                <a:solidFill>
                  <a:srgbClr val="FF0000"/>
                </a:solidFill>
                <a:latin typeface="微软雅黑" panose="020B0503020204020204" pitchFamily="34" charset="-122"/>
                <a:ea typeface="微软雅黑" panose="020B0503020204020204" pitchFamily="34" charset="-122"/>
              </a:rPr>
              <a:t>&lt;</a:t>
            </a:r>
            <a:r>
              <a:rPr lang="en-US" altLang="zh-CN" sz="1400" b="0" dirty="0" err="1">
                <a:solidFill>
                  <a:srgbClr val="FF0000"/>
                </a:solidFill>
                <a:latin typeface="微软雅黑" panose="020B0503020204020204" pitchFamily="34" charset="-122"/>
                <a:ea typeface="微软雅黑" panose="020B0503020204020204" pitchFamily="34" charset="-122"/>
              </a:rPr>
              <a:t>sym_link</a:t>
            </a:r>
            <a:r>
              <a:rPr lang="en-US" altLang="zh-CN" sz="1400" b="0" dirty="0">
                <a:solidFill>
                  <a:srgbClr val="FF0000"/>
                </a:solidFill>
                <a:latin typeface="微软雅黑" panose="020B0503020204020204" pitchFamily="34" charset="-122"/>
                <a:ea typeface="微软雅黑" panose="020B0503020204020204" pitchFamily="34" charset="-122"/>
              </a:rPr>
              <a:t>&gt;</a:t>
            </a:r>
            <a:r>
              <a:rPr lang="zh-CN" altLang="en-US" sz="1400" b="0" dirty="0">
                <a:solidFill>
                  <a:srgbClr val="FF0000"/>
                </a:solidFill>
                <a:latin typeface="微软雅黑" panose="020B0503020204020204" pitchFamily="34" charset="-122"/>
                <a:ea typeface="微软雅黑" panose="020B0503020204020204" pitchFamily="34" charset="-122"/>
              </a:rPr>
              <a:t>符号</a:t>
            </a:r>
            <a:r>
              <a:rPr lang="zh-CN" altLang="en-US" sz="1400" b="0" dirty="0" smtClean="0">
                <a:solidFill>
                  <a:srgbClr val="FF0000"/>
                </a:solidFill>
                <a:latin typeface="微软雅黑" panose="020B0503020204020204" pitchFamily="34" charset="-122"/>
                <a:ea typeface="微软雅黑" panose="020B0503020204020204" pitchFamily="34" charset="-122"/>
              </a:rPr>
              <a:t>链接</a:t>
            </a:r>
            <a:endParaRPr lang="en-US" altLang="zh-CN" sz="1400" b="0" dirty="0" smtClean="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109296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970865"/>
          </a:xfrm>
          <a:prstGeom prst="rect">
            <a:avLst/>
          </a:prstGeom>
          <a:noFill/>
        </p:spPr>
        <p:txBody>
          <a:bodyPr wrap="square" rtlCol="0">
            <a:spAutoFit/>
          </a:bodyPr>
          <a:lstStyle/>
          <a:p>
            <a:pPr algn="l"/>
            <a:r>
              <a:rPr lang="en-US" altLang="zh-CN" sz="1400" b="0" dirty="0" smtClean="0">
                <a:solidFill>
                  <a:srgbClr val="0070C0"/>
                </a:solidFill>
                <a:latin typeface="微软雅黑" panose="020B0503020204020204" pitchFamily="34" charset="-122"/>
                <a:ea typeface="微软雅黑" panose="020B0503020204020204" pitchFamily="34" charset="-122"/>
              </a:rPr>
              <a:t>write &lt;path&gt; &lt;string&gt;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向文件</a:t>
            </a:r>
            <a:r>
              <a:rPr lang="en-US" altLang="zh-CN" sz="1400" b="0" dirty="0" smtClean="0">
                <a:solidFill>
                  <a:srgbClr val="FF0000"/>
                </a:solidFill>
                <a:latin typeface="微软雅黑" panose="020B0503020204020204" pitchFamily="34" charset="-122"/>
                <a:ea typeface="微软雅黑" panose="020B0503020204020204" pitchFamily="34" charset="-122"/>
              </a:rPr>
              <a:t>path</a:t>
            </a:r>
            <a:r>
              <a:rPr lang="zh-CN" altLang="en-US" sz="1400" b="0" dirty="0" smtClean="0">
                <a:solidFill>
                  <a:srgbClr val="FF0000"/>
                </a:solidFill>
                <a:latin typeface="微软雅黑" panose="020B0503020204020204" pitchFamily="34" charset="-122"/>
                <a:ea typeface="微软雅黑" panose="020B0503020204020204" pitchFamily="34" charset="-122"/>
              </a:rPr>
              <a:t>中写入字符串</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exec  </a:t>
            </a:r>
            <a:r>
              <a:rPr lang="en-US" altLang="zh-CN" sz="1400" b="0" dirty="0" smtClean="0">
                <a:solidFill>
                  <a:srgbClr val="FF0000"/>
                </a:solidFill>
                <a:latin typeface="微软雅黑" panose="020B0503020204020204" pitchFamily="34" charset="-122"/>
                <a:ea typeface="微软雅黑" panose="020B0503020204020204" pitchFamily="34" charset="-122"/>
              </a:rPr>
              <a:t>//fork</a:t>
            </a:r>
            <a:r>
              <a:rPr lang="zh-CN" altLang="en-US" sz="1400" b="0" dirty="0" smtClean="0">
                <a:solidFill>
                  <a:srgbClr val="FF0000"/>
                </a:solidFill>
                <a:latin typeface="微软雅黑" panose="020B0503020204020204" pitchFamily="34" charset="-122"/>
                <a:ea typeface="微软雅黑" panose="020B0503020204020204" pitchFamily="34" charset="-122"/>
              </a:rPr>
              <a:t>并执行，会阻塞</a:t>
            </a:r>
            <a:r>
              <a:rPr lang="en-US" altLang="zh-CN" sz="1400" b="0" dirty="0" err="1" smtClean="0">
                <a:solidFill>
                  <a:srgbClr val="FF0000"/>
                </a:solidFill>
                <a:latin typeface="微软雅黑" panose="020B0503020204020204" pitchFamily="34" charset="-122"/>
                <a:ea typeface="微软雅黑" panose="020B0503020204020204" pitchFamily="34" charset="-122"/>
              </a:rPr>
              <a:t>init</a:t>
            </a:r>
            <a:r>
              <a:rPr lang="zh-CN" altLang="en-US" sz="1400" b="0" dirty="0" smtClean="0">
                <a:solidFill>
                  <a:srgbClr val="FF0000"/>
                </a:solidFill>
                <a:latin typeface="微软雅黑" panose="020B0503020204020204" pitchFamily="34" charset="-122"/>
                <a:ea typeface="微软雅黑" panose="020B0503020204020204" pitchFamily="34" charset="-122"/>
              </a:rPr>
              <a:t>进程直到程序完毕</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export &lt;name&gt; &lt;name&gt;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设定环境变量</a:t>
            </a:r>
          </a:p>
          <a:p>
            <a:pPr algn="l"/>
            <a:r>
              <a:rPr lang="en-US" altLang="zh-CN" sz="1400" b="0" dirty="0" err="1" smtClean="0">
                <a:solidFill>
                  <a:srgbClr val="0070C0"/>
                </a:solidFill>
                <a:latin typeface="微软雅黑" panose="020B0503020204020204" pitchFamily="34" charset="-122"/>
                <a:ea typeface="微软雅黑" panose="020B0503020204020204" pitchFamily="34" charset="-122"/>
              </a:rPr>
              <a:t>loglevel</a:t>
            </a:r>
            <a:r>
              <a:rPr lang="en-US" altLang="zh-CN" sz="1400" b="0" dirty="0" smtClean="0">
                <a:solidFill>
                  <a:srgbClr val="0070C0"/>
                </a:solidFill>
                <a:latin typeface="微软雅黑" panose="020B0503020204020204" pitchFamily="34" charset="-122"/>
                <a:ea typeface="微软雅黑" panose="020B0503020204020204" pitchFamily="34" charset="-122"/>
              </a:rPr>
              <a:t> &lt;level&gt;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设置</a:t>
            </a:r>
            <a:r>
              <a:rPr lang="en-US" altLang="zh-CN" sz="1400" b="0" dirty="0" smtClean="0">
                <a:solidFill>
                  <a:srgbClr val="FF0000"/>
                </a:solidFill>
                <a:latin typeface="微软雅黑" panose="020B0503020204020204" pitchFamily="34" charset="-122"/>
                <a:ea typeface="微软雅黑" panose="020B0503020204020204" pitchFamily="34" charset="-122"/>
              </a:rPr>
              <a:t>log</a:t>
            </a:r>
            <a:r>
              <a:rPr lang="zh-CN" altLang="en-US" sz="1400" b="0" dirty="0" smtClean="0">
                <a:solidFill>
                  <a:srgbClr val="FF0000"/>
                </a:solidFill>
                <a:latin typeface="微软雅黑" panose="020B0503020204020204" pitchFamily="34" charset="-122"/>
                <a:ea typeface="微软雅黑" panose="020B0503020204020204" pitchFamily="34" charset="-122"/>
              </a:rPr>
              <a:t>级别</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hostname &lt;name&gt;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设置主机名</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import &lt;filename&gt;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导入一个额外的</a:t>
            </a:r>
            <a:r>
              <a:rPr lang="en-US" altLang="zh-CN" sz="1400" b="0" dirty="0" err="1" smtClean="0">
                <a:solidFill>
                  <a:srgbClr val="FF0000"/>
                </a:solidFill>
                <a:latin typeface="微软雅黑" panose="020B0503020204020204" pitchFamily="34" charset="-122"/>
                <a:ea typeface="微软雅黑" panose="020B0503020204020204" pitchFamily="34" charset="-122"/>
              </a:rPr>
              <a:t>init</a:t>
            </a:r>
            <a:r>
              <a:rPr lang="zh-CN" altLang="en-US" sz="1400" b="0" dirty="0" smtClean="0">
                <a:solidFill>
                  <a:srgbClr val="FF0000"/>
                </a:solidFill>
                <a:latin typeface="微软雅黑" panose="020B0503020204020204" pitchFamily="34" charset="-122"/>
                <a:ea typeface="微软雅黑" panose="020B0503020204020204" pitchFamily="34" charset="-122"/>
              </a:rPr>
              <a:t>配置文件</a:t>
            </a:r>
            <a:endParaRPr lang="en-US" altLang="zh-CN" sz="1400" b="0" dirty="0" smtClean="0">
              <a:solidFill>
                <a:srgbClr val="FF0000"/>
              </a:solidFill>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a:t>
            </a:r>
          </a:p>
          <a:p>
            <a:pPr algn="l"/>
            <a:r>
              <a:rPr lang="zh-CN" altLang="en-US" sz="1600" b="0" dirty="0">
                <a:latin typeface="微软雅黑" panose="020B0503020204020204" pitchFamily="34" charset="-122"/>
                <a:ea typeface="微软雅黑" panose="020B0503020204020204" pitchFamily="34" charset="-122"/>
              </a:rPr>
              <a:t>以</a:t>
            </a:r>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开头，由</a:t>
            </a:r>
            <a:r>
              <a:rPr lang="en-US" altLang="zh-CN" sz="1600" b="0" dirty="0" err="1">
                <a:latin typeface="微软雅黑" panose="020B0503020204020204" pitchFamily="34" charset="-122"/>
                <a:ea typeface="微软雅黑" panose="020B0503020204020204" pitchFamily="34" charset="-122"/>
              </a:rPr>
              <a:t>init</a:t>
            </a:r>
            <a:r>
              <a:rPr lang="zh-CN" altLang="en-US" sz="1600" b="0" dirty="0">
                <a:latin typeface="微软雅黑" panose="020B0503020204020204" pitchFamily="34" charset="-122"/>
                <a:ea typeface="微软雅黑" panose="020B0503020204020204" pitchFamily="34" charset="-122"/>
              </a:rPr>
              <a:t>进程启动，在启动时会通过</a:t>
            </a:r>
            <a:r>
              <a:rPr lang="en-US" altLang="zh-CN" sz="1600" b="0" dirty="0">
                <a:latin typeface="微软雅黑" panose="020B0503020204020204" pitchFamily="34" charset="-122"/>
                <a:ea typeface="微软雅黑" panose="020B0503020204020204" pitchFamily="34" charset="-122"/>
              </a:rPr>
              <a:t>fork</a:t>
            </a:r>
            <a:r>
              <a:rPr lang="zh-CN" altLang="en-US" sz="1600" b="0" dirty="0">
                <a:latin typeface="微软雅黑" panose="020B0503020204020204" pitchFamily="34" charset="-122"/>
                <a:ea typeface="微软雅黑" panose="020B0503020204020204" pitchFamily="34" charset="-122"/>
              </a:rPr>
              <a:t>方式生成子进程，所以启动</a:t>
            </a:r>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前需要判断对应的可执行文件是否存在。</a:t>
            </a:r>
          </a:p>
          <a:p>
            <a:pPr algn="l"/>
            <a:r>
              <a:rPr lang="zh-CN" altLang="en-US" sz="1600" b="0" dirty="0">
                <a:latin typeface="微软雅黑" panose="020B0503020204020204" pitchFamily="34" charset="-122"/>
                <a:ea typeface="微软雅黑" panose="020B0503020204020204" pitchFamily="34" charset="-122"/>
              </a:rPr>
              <a:t>命令</a:t>
            </a:r>
            <a:r>
              <a:rPr lang="zh-CN" altLang="en-US" sz="1600" b="0" dirty="0" smtClean="0">
                <a:latin typeface="微软雅黑" panose="020B0503020204020204" pitchFamily="34" charset="-122"/>
                <a:ea typeface="微软雅黑" panose="020B0503020204020204" pitchFamily="34" charset="-122"/>
              </a:rPr>
              <a:t>：</a:t>
            </a:r>
            <a:r>
              <a:rPr lang="en-US" altLang="zh-CN" sz="1600" b="0" dirty="0" smtClean="0">
                <a:latin typeface="微软雅黑" panose="020B0503020204020204" pitchFamily="34" charset="-122"/>
                <a:ea typeface="微软雅黑" panose="020B0503020204020204" pitchFamily="34" charset="-122"/>
              </a:rPr>
              <a:t>service </a:t>
            </a:r>
            <a:r>
              <a:rPr lang="en-US" altLang="zh-CN" sz="1600" b="0" dirty="0">
                <a:latin typeface="微软雅黑" panose="020B0503020204020204" pitchFamily="34" charset="-122"/>
                <a:ea typeface="微软雅黑" panose="020B0503020204020204" pitchFamily="34" charset="-122"/>
              </a:rPr>
              <a:t>&lt;name&gt;&lt;pathname&gt; [ &lt;argument&gt; ]* &lt;option&gt; &lt;option&gt;</a:t>
            </a:r>
          </a:p>
          <a:p>
            <a:pPr algn="l"/>
            <a:r>
              <a:rPr lang="en-US" altLang="zh-CN" sz="1400" b="0" dirty="0">
                <a:solidFill>
                  <a:srgbClr val="005A9E"/>
                </a:solidFill>
                <a:latin typeface="微软雅黑" panose="020B0503020204020204" pitchFamily="34" charset="-122"/>
                <a:ea typeface="微软雅黑" panose="020B0503020204020204" pitchFamily="34" charset="-122"/>
              </a:rPr>
              <a:t>&lt;name&gt;</a:t>
            </a:r>
            <a:r>
              <a:rPr lang="zh-CN" altLang="en-US" sz="1400" b="0" dirty="0">
                <a:solidFill>
                  <a:srgbClr val="005A9E"/>
                </a:solidFill>
                <a:latin typeface="微软雅黑" panose="020B0503020204020204" pitchFamily="34" charset="-122"/>
                <a:ea typeface="微软雅黑" panose="020B0503020204020204" pitchFamily="34" charset="-122"/>
              </a:rPr>
              <a:t>：表示 </a:t>
            </a:r>
            <a:r>
              <a:rPr lang="en-US" altLang="zh-CN" sz="1400" b="0" dirty="0">
                <a:solidFill>
                  <a:srgbClr val="005A9E"/>
                </a:solidFill>
                <a:latin typeface="微软雅黑" panose="020B0503020204020204" pitchFamily="34" charset="-122"/>
                <a:ea typeface="微软雅黑" panose="020B0503020204020204" pitchFamily="34" charset="-122"/>
              </a:rPr>
              <a:t>service </a:t>
            </a:r>
            <a:r>
              <a:rPr lang="zh-CN" altLang="en-US" sz="1400" b="0" dirty="0">
                <a:solidFill>
                  <a:srgbClr val="005A9E"/>
                </a:solidFill>
                <a:latin typeface="微软雅黑" panose="020B0503020204020204" pitchFamily="34" charset="-122"/>
                <a:ea typeface="微软雅黑" panose="020B0503020204020204" pitchFamily="34" charset="-122"/>
              </a:rPr>
              <a:t>的名称</a:t>
            </a:r>
          </a:p>
          <a:p>
            <a:pPr algn="l"/>
            <a:r>
              <a:rPr lang="en-US" altLang="zh-CN" sz="1400" b="0" dirty="0">
                <a:solidFill>
                  <a:srgbClr val="005A9E"/>
                </a:solidFill>
                <a:latin typeface="微软雅黑" panose="020B0503020204020204" pitchFamily="34" charset="-122"/>
                <a:ea typeface="微软雅黑" panose="020B0503020204020204" pitchFamily="34" charset="-122"/>
              </a:rPr>
              <a:t>&lt;pathname&gt;</a:t>
            </a:r>
            <a:r>
              <a:rPr lang="zh-CN" altLang="en-US" sz="1400" b="0" dirty="0">
                <a:solidFill>
                  <a:srgbClr val="005A9E"/>
                </a:solidFill>
                <a:latin typeface="微软雅黑" panose="020B0503020204020204" pitchFamily="34" charset="-122"/>
                <a:ea typeface="微软雅黑" panose="020B0503020204020204" pitchFamily="34" charset="-122"/>
              </a:rPr>
              <a:t>：表示此 </a:t>
            </a:r>
            <a:r>
              <a:rPr lang="en-US" altLang="zh-CN" sz="1400" b="0" dirty="0">
                <a:solidFill>
                  <a:srgbClr val="005A9E"/>
                </a:solidFill>
                <a:latin typeface="微软雅黑" panose="020B0503020204020204" pitchFamily="34" charset="-122"/>
                <a:ea typeface="微软雅黑" panose="020B0503020204020204" pitchFamily="34" charset="-122"/>
              </a:rPr>
              <a:t>service </a:t>
            </a:r>
            <a:r>
              <a:rPr lang="zh-CN" altLang="en-US" sz="1400" b="0" dirty="0">
                <a:solidFill>
                  <a:srgbClr val="005A9E"/>
                </a:solidFill>
                <a:latin typeface="微软雅黑" panose="020B0503020204020204" pitchFamily="34" charset="-122"/>
                <a:ea typeface="微软雅黑" panose="020B0503020204020204" pitchFamily="34" charset="-122"/>
              </a:rPr>
              <a:t>所在的路径（ </a:t>
            </a:r>
            <a:r>
              <a:rPr lang="en-US" altLang="zh-CN" sz="1400" b="0" dirty="0">
                <a:solidFill>
                  <a:srgbClr val="005A9E"/>
                </a:solidFill>
                <a:latin typeface="微软雅黑" panose="020B0503020204020204" pitchFamily="34" charset="-122"/>
                <a:ea typeface="微软雅黑" panose="020B0503020204020204" pitchFamily="34" charset="-122"/>
              </a:rPr>
              <a:t>service </a:t>
            </a:r>
            <a:r>
              <a:rPr lang="zh-CN" altLang="en-US" sz="1400" b="0" dirty="0">
                <a:solidFill>
                  <a:srgbClr val="005A9E"/>
                </a:solidFill>
                <a:latin typeface="微软雅黑" panose="020B0503020204020204" pitchFamily="34" charset="-122"/>
                <a:ea typeface="微软雅黑" panose="020B0503020204020204" pitchFamily="34" charset="-122"/>
              </a:rPr>
              <a:t>为可执行文件，所以存在存储路径）</a:t>
            </a:r>
          </a:p>
          <a:p>
            <a:pPr algn="l"/>
            <a:r>
              <a:rPr lang="en-US" altLang="zh-CN" sz="1400" b="0" dirty="0">
                <a:solidFill>
                  <a:srgbClr val="005A9E"/>
                </a:solidFill>
                <a:latin typeface="微软雅黑" panose="020B0503020204020204" pitchFamily="34" charset="-122"/>
                <a:ea typeface="微软雅黑" panose="020B0503020204020204" pitchFamily="34" charset="-122"/>
              </a:rPr>
              <a:t>&lt;argument&gt;</a:t>
            </a:r>
            <a:r>
              <a:rPr lang="zh-CN" altLang="en-US" sz="1400" b="0" dirty="0">
                <a:solidFill>
                  <a:srgbClr val="005A9E"/>
                </a:solidFill>
                <a:latin typeface="微软雅黑" panose="020B0503020204020204" pitchFamily="34" charset="-122"/>
                <a:ea typeface="微软雅黑" panose="020B0503020204020204" pitchFamily="34" charset="-122"/>
              </a:rPr>
              <a:t>：表示启动 </a:t>
            </a:r>
            <a:r>
              <a:rPr lang="en-US" altLang="zh-CN" sz="1400" b="0" dirty="0">
                <a:solidFill>
                  <a:srgbClr val="005A9E"/>
                </a:solidFill>
                <a:latin typeface="微软雅黑" panose="020B0503020204020204" pitchFamily="34" charset="-122"/>
                <a:ea typeface="微软雅黑" panose="020B0503020204020204" pitchFamily="34" charset="-122"/>
              </a:rPr>
              <a:t>service </a:t>
            </a:r>
            <a:r>
              <a:rPr lang="zh-CN" altLang="en-US" sz="1400" b="0" dirty="0">
                <a:solidFill>
                  <a:srgbClr val="005A9E"/>
                </a:solidFill>
                <a:latin typeface="微软雅黑" panose="020B0503020204020204" pitchFamily="34" charset="-122"/>
                <a:ea typeface="微软雅黑" panose="020B0503020204020204" pitchFamily="34" charset="-122"/>
              </a:rPr>
              <a:t>所带的参数</a:t>
            </a:r>
          </a:p>
          <a:p>
            <a:pPr algn="l"/>
            <a:r>
              <a:rPr lang="en-US" altLang="zh-CN" sz="1400" b="0" dirty="0">
                <a:solidFill>
                  <a:srgbClr val="005A9E"/>
                </a:solidFill>
                <a:latin typeface="微软雅黑" panose="020B0503020204020204" pitchFamily="34" charset="-122"/>
                <a:ea typeface="微软雅黑" panose="020B0503020204020204" pitchFamily="34" charset="-122"/>
              </a:rPr>
              <a:t>&lt;option&gt;</a:t>
            </a:r>
            <a:r>
              <a:rPr lang="zh-CN" altLang="en-US" sz="1400" b="0" dirty="0">
                <a:solidFill>
                  <a:srgbClr val="005A9E"/>
                </a:solidFill>
                <a:latin typeface="微软雅黑" panose="020B0503020204020204" pitchFamily="34" charset="-122"/>
                <a:ea typeface="微软雅黑" panose="020B0503020204020204" pitchFamily="34" charset="-122"/>
              </a:rPr>
              <a:t>：表示对此 </a:t>
            </a:r>
            <a:r>
              <a:rPr lang="en-US" altLang="zh-CN" sz="1400" b="0" dirty="0">
                <a:solidFill>
                  <a:srgbClr val="005A9E"/>
                </a:solidFill>
                <a:latin typeface="微软雅黑" panose="020B0503020204020204" pitchFamily="34" charset="-122"/>
                <a:ea typeface="微软雅黑" panose="020B0503020204020204" pitchFamily="34" charset="-122"/>
              </a:rPr>
              <a:t>service </a:t>
            </a:r>
            <a:r>
              <a:rPr lang="zh-CN" altLang="en-US" sz="1400" b="0" dirty="0">
                <a:solidFill>
                  <a:srgbClr val="005A9E"/>
                </a:solidFill>
                <a:latin typeface="微软雅黑" panose="020B0503020204020204" pitchFamily="34" charset="-122"/>
                <a:ea typeface="微软雅黑" panose="020B0503020204020204" pitchFamily="34" charset="-122"/>
              </a:rPr>
              <a:t>的约束选项</a:t>
            </a:r>
            <a:endParaRPr lang="en-US" altLang="zh-CN" sz="1400" b="0" dirty="0">
              <a:solidFill>
                <a:srgbClr val="005A9E"/>
              </a:solidFill>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Option</a:t>
            </a:r>
            <a:r>
              <a:rPr lang="zh-CN" altLang="en-US" sz="1600" b="0" dirty="0">
                <a:latin typeface="微软雅黑" panose="020B0503020204020204" pitchFamily="34" charset="-122"/>
                <a:ea typeface="微软雅黑" panose="020B0503020204020204" pitchFamily="34" charset="-122"/>
              </a:rPr>
              <a:t>：</a:t>
            </a:r>
          </a:p>
          <a:p>
            <a:pPr algn="l"/>
            <a:r>
              <a:rPr lang="en-US" altLang="zh-CN" sz="1600" b="0" dirty="0">
                <a:latin typeface="微软雅黑" panose="020B0503020204020204" pitchFamily="34" charset="-122"/>
                <a:ea typeface="微软雅黑" panose="020B0503020204020204" pitchFamily="34" charset="-122"/>
              </a:rPr>
              <a:t>Option</a:t>
            </a:r>
            <a:r>
              <a:rPr lang="zh-CN" altLang="en-US" sz="1600" b="0" dirty="0">
                <a:latin typeface="微软雅黑" panose="020B0503020204020204" pitchFamily="34" charset="-122"/>
                <a:ea typeface="微软雅黑" panose="020B0503020204020204" pitchFamily="34" charset="-122"/>
              </a:rPr>
              <a:t>是</a:t>
            </a:r>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的可选项，与</a:t>
            </a:r>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配合</a:t>
            </a:r>
            <a:r>
              <a:rPr lang="zh-CN" altLang="en-US" sz="1600" b="0" dirty="0" smtClean="0">
                <a:latin typeface="微软雅黑" panose="020B0503020204020204" pitchFamily="34" charset="-122"/>
                <a:ea typeface="微软雅黑" panose="020B0503020204020204" pitchFamily="34" charset="-122"/>
              </a:rPr>
              <a:t>使用</a:t>
            </a:r>
            <a:endParaRPr lang="zh-CN" altLang="en-US" sz="1400" b="0" dirty="0">
              <a:latin typeface="微软雅黑" panose="020B0503020204020204" pitchFamily="34" charset="-122"/>
              <a:ea typeface="微软雅黑" panose="020B0503020204020204" pitchFamily="34" charset="-122"/>
            </a:endParaRPr>
          </a:p>
          <a:p>
            <a:pPr algn="l"/>
            <a:r>
              <a:rPr lang="en-US" altLang="zh-CN" sz="1400" b="0" dirty="0">
                <a:solidFill>
                  <a:srgbClr val="005A9E"/>
                </a:solidFill>
                <a:latin typeface="微软雅黑" panose="020B0503020204020204" pitchFamily="34" charset="-122"/>
                <a:ea typeface="微软雅黑" panose="020B0503020204020204" pitchFamily="34" charset="-122"/>
              </a:rPr>
              <a:t>disabled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不随</a:t>
            </a:r>
            <a:r>
              <a:rPr lang="en-US" altLang="zh-CN" sz="1400" b="0" dirty="0">
                <a:solidFill>
                  <a:srgbClr val="FF0000"/>
                </a:solidFill>
                <a:latin typeface="微软雅黑" panose="020B0503020204020204" pitchFamily="34" charset="-122"/>
                <a:ea typeface="微软雅黑" panose="020B0503020204020204" pitchFamily="34" charset="-122"/>
              </a:rPr>
              <a:t>class</a:t>
            </a:r>
            <a:r>
              <a:rPr lang="zh-CN" altLang="en-US" sz="1400" b="0" dirty="0">
                <a:solidFill>
                  <a:srgbClr val="FF0000"/>
                </a:solidFill>
                <a:latin typeface="微软雅黑" panose="020B0503020204020204" pitchFamily="34" charset="-122"/>
                <a:ea typeface="微软雅黑" panose="020B0503020204020204" pitchFamily="34" charset="-122"/>
              </a:rPr>
              <a:t>自动启动，只有根据</a:t>
            </a:r>
            <a:r>
              <a:rPr lang="en-US" altLang="zh-CN" sz="1400" b="0" dirty="0">
                <a:solidFill>
                  <a:srgbClr val="FF0000"/>
                </a:solidFill>
                <a:latin typeface="微软雅黑" panose="020B0503020204020204" pitchFamily="34" charset="-122"/>
                <a:ea typeface="微软雅黑" panose="020B0503020204020204" pitchFamily="34" charset="-122"/>
              </a:rPr>
              <a:t>service</a:t>
            </a:r>
            <a:r>
              <a:rPr lang="zh-CN" altLang="en-US" sz="1400" b="0" dirty="0">
                <a:solidFill>
                  <a:srgbClr val="FF0000"/>
                </a:solidFill>
                <a:latin typeface="微软雅黑" panose="020B0503020204020204" pitchFamily="34" charset="-122"/>
                <a:ea typeface="微软雅黑" panose="020B0503020204020204" pitchFamily="34" charset="-122"/>
              </a:rPr>
              <a:t>名才</a:t>
            </a:r>
            <a:r>
              <a:rPr lang="zh-CN" altLang="en-US" sz="1400" b="0" dirty="0" smtClean="0">
                <a:solidFill>
                  <a:srgbClr val="FF0000"/>
                </a:solidFill>
                <a:latin typeface="微软雅黑" panose="020B0503020204020204" pitchFamily="34" charset="-122"/>
                <a:ea typeface="微软雅黑" panose="020B0503020204020204" pitchFamily="34" charset="-122"/>
              </a:rPr>
              <a:t>启动，模式是</a:t>
            </a:r>
            <a:r>
              <a:rPr lang="en-US" altLang="zh-CN" sz="1400" b="0" dirty="0" smtClean="0">
                <a:solidFill>
                  <a:srgbClr val="FF0000"/>
                </a:solidFill>
                <a:latin typeface="微软雅黑" panose="020B0503020204020204" pitchFamily="34" charset="-122"/>
                <a:ea typeface="微软雅黑" panose="020B0503020204020204" pitchFamily="34" charset="-122"/>
              </a:rPr>
              <a:t>false</a:t>
            </a:r>
            <a:endParaRPr lang="zh-CN" altLang="en-US"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err="1">
                <a:solidFill>
                  <a:srgbClr val="005A9E"/>
                </a:solidFill>
                <a:latin typeface="微软雅黑" panose="020B0503020204020204" pitchFamily="34" charset="-122"/>
                <a:ea typeface="微软雅黑" panose="020B0503020204020204" pitchFamily="34" charset="-122"/>
              </a:rPr>
              <a:t>oneshot</a:t>
            </a:r>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//service</a:t>
            </a:r>
            <a:r>
              <a:rPr lang="zh-CN" altLang="en-US" sz="1400" b="0" dirty="0">
                <a:solidFill>
                  <a:srgbClr val="FF0000"/>
                </a:solidFill>
                <a:latin typeface="微软雅黑" panose="020B0503020204020204" pitchFamily="34" charset="-122"/>
                <a:ea typeface="微软雅黑" panose="020B0503020204020204" pitchFamily="34" charset="-122"/>
              </a:rPr>
              <a:t>退出后不再重</a:t>
            </a:r>
            <a:r>
              <a:rPr lang="zh-CN" altLang="en-US" sz="1400" b="0" dirty="0" smtClean="0">
                <a:solidFill>
                  <a:srgbClr val="FF0000"/>
                </a:solidFill>
                <a:latin typeface="微软雅黑" panose="020B0503020204020204" pitchFamily="34" charset="-122"/>
                <a:ea typeface="微软雅黑" panose="020B0503020204020204" pitchFamily="34" charset="-122"/>
              </a:rPr>
              <a:t>启，默认是</a:t>
            </a:r>
            <a:r>
              <a:rPr lang="en-US" altLang="zh-CN" sz="1400" b="0" dirty="0" smtClean="0">
                <a:solidFill>
                  <a:srgbClr val="FF0000"/>
                </a:solidFill>
                <a:latin typeface="微软雅黑" panose="020B0503020204020204" pitchFamily="34" charset="-122"/>
                <a:ea typeface="微软雅黑" panose="020B0503020204020204" pitchFamily="34" charset="-122"/>
              </a:rPr>
              <a:t>false</a:t>
            </a:r>
            <a:endParaRPr lang="zh-CN" altLang="en-US"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5A9E"/>
                </a:solidFill>
                <a:latin typeface="微软雅黑" panose="020B0503020204020204" pitchFamily="34" charset="-122"/>
                <a:ea typeface="微软雅黑" panose="020B0503020204020204" pitchFamily="34" charset="-122"/>
              </a:rPr>
              <a:t>user/group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设置执行服务的用户</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用户组，默认都是</a:t>
            </a:r>
            <a:r>
              <a:rPr lang="en-US" altLang="zh-CN" sz="1400" b="0" dirty="0" smtClean="0">
                <a:solidFill>
                  <a:srgbClr val="FF0000"/>
                </a:solidFill>
                <a:latin typeface="微软雅黑" panose="020B0503020204020204" pitchFamily="34" charset="-122"/>
                <a:ea typeface="微软雅黑" panose="020B0503020204020204" pitchFamily="34" charset="-122"/>
              </a:rPr>
              <a:t>root</a:t>
            </a:r>
            <a:endParaRPr lang="zh-CN" altLang="en-US"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5A9E"/>
                </a:solidFill>
                <a:latin typeface="微软雅黑" panose="020B0503020204020204" pitchFamily="34" charset="-122"/>
                <a:ea typeface="微软雅黑" panose="020B0503020204020204" pitchFamily="34" charset="-122"/>
              </a:rPr>
              <a:t>class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设置所属的类名，当所属类启动</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退出时，服务也启动</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停止，默认为</a:t>
            </a:r>
            <a:r>
              <a:rPr lang="en-US" altLang="zh-CN" sz="1400" b="0" dirty="0" smtClean="0">
                <a:solidFill>
                  <a:srgbClr val="FF0000"/>
                </a:solidFill>
                <a:latin typeface="微软雅黑" panose="020B0503020204020204" pitchFamily="34" charset="-122"/>
                <a:ea typeface="微软雅黑" panose="020B0503020204020204" pitchFamily="34" charset="-122"/>
              </a:rPr>
              <a:t>default</a:t>
            </a:r>
            <a:endParaRPr lang="zh-CN" altLang="en-US"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err="1">
                <a:solidFill>
                  <a:srgbClr val="005A9E"/>
                </a:solidFill>
                <a:latin typeface="微软雅黑" panose="020B0503020204020204" pitchFamily="34" charset="-122"/>
                <a:ea typeface="微软雅黑" panose="020B0503020204020204" pitchFamily="34" charset="-122"/>
              </a:rPr>
              <a:t>onrestart</a:t>
            </a:r>
            <a:r>
              <a:rPr lang="en-US" altLang="zh-CN" sz="1400" b="0" dirty="0">
                <a:solidFill>
                  <a:srgbClr val="005A9E"/>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当服务重启时执行相应</a:t>
            </a:r>
            <a:r>
              <a:rPr lang="zh-CN" altLang="en-US" sz="1400" b="0" dirty="0" smtClean="0">
                <a:solidFill>
                  <a:srgbClr val="FF0000"/>
                </a:solidFill>
                <a:latin typeface="微软雅黑" panose="020B0503020204020204" pitchFamily="34" charset="-122"/>
                <a:ea typeface="微软雅黑" panose="020B0503020204020204" pitchFamily="34" charset="-122"/>
              </a:rPr>
              <a:t>命令</a:t>
            </a:r>
            <a:endParaRPr lang="zh-CN" altLang="en-US"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5A9E"/>
                </a:solidFill>
                <a:latin typeface="微软雅黑" panose="020B0503020204020204" pitchFamily="34" charset="-122"/>
                <a:ea typeface="微软雅黑" panose="020B0503020204020204" pitchFamily="34" charset="-122"/>
              </a:rPr>
              <a:t>socket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在</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en-US" altLang="zh-CN" sz="1400" b="0" dirty="0">
                <a:solidFill>
                  <a:srgbClr val="FF0000"/>
                </a:solidFill>
                <a:latin typeface="微软雅黑" panose="020B0503020204020204" pitchFamily="34" charset="-122"/>
                <a:ea typeface="微软雅黑" panose="020B0503020204020204" pitchFamily="34" charset="-122"/>
              </a:rPr>
              <a:t>dev/socket</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目录</a:t>
            </a:r>
            <a:r>
              <a:rPr lang="zh-CN" altLang="en-US" sz="1400" b="0" dirty="0">
                <a:solidFill>
                  <a:srgbClr val="FF0000"/>
                </a:solidFill>
                <a:latin typeface="微软雅黑" panose="020B0503020204020204" pitchFamily="34" charset="-122"/>
                <a:ea typeface="微软雅黑" panose="020B0503020204020204" pitchFamily="34" charset="-122"/>
              </a:rPr>
              <a:t>创建一</a:t>
            </a:r>
            <a:r>
              <a:rPr lang="zh-CN" altLang="en-US" sz="1400" b="0" dirty="0" smtClean="0">
                <a:solidFill>
                  <a:srgbClr val="FF0000"/>
                </a:solidFill>
                <a:latin typeface="微软雅黑" panose="020B0503020204020204" pitchFamily="34" charset="-122"/>
                <a:ea typeface="微软雅黑" panose="020B0503020204020204" pitchFamily="34" charset="-122"/>
              </a:rPr>
              <a:t>个</a:t>
            </a:r>
            <a:r>
              <a:rPr lang="en-US" altLang="zh-CN" sz="1400" b="0" dirty="0" smtClean="0">
                <a:solidFill>
                  <a:srgbClr val="FF0000"/>
                </a:solidFill>
                <a:latin typeface="微软雅黑" panose="020B0503020204020204" pitchFamily="34" charset="-122"/>
                <a:ea typeface="微软雅黑" panose="020B0503020204020204" pitchFamily="34" charset="-122"/>
              </a:rPr>
              <a:t>socket</a:t>
            </a:r>
            <a:r>
              <a:rPr lang="zh-CN" altLang="en-US" sz="1400" b="0" dirty="0">
                <a:solidFill>
                  <a:srgbClr val="FF0000"/>
                </a:solidFill>
                <a:latin typeface="微软雅黑" panose="020B0503020204020204" pitchFamily="34" charset="-122"/>
                <a:ea typeface="微软雅黑" panose="020B0503020204020204" pitchFamily="34" charset="-122"/>
              </a:rPr>
              <a:t>文件</a:t>
            </a:r>
            <a:r>
              <a:rPr lang="zh-CN" altLang="en-US"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然后把它的</a:t>
            </a:r>
            <a:r>
              <a:rPr lang="en-US" altLang="zh-CN" sz="1400" b="0" dirty="0" err="1">
                <a:solidFill>
                  <a:srgbClr val="FF0000"/>
                </a:solidFill>
                <a:latin typeface="微软雅黑" panose="020B0503020204020204" pitchFamily="34" charset="-122"/>
                <a:ea typeface="微软雅黑" panose="020B0503020204020204" pitchFamily="34" charset="-122"/>
              </a:rPr>
              <a:t>fd</a:t>
            </a:r>
            <a:r>
              <a:rPr lang="zh-CN" altLang="en-US" sz="1400" b="0" dirty="0">
                <a:solidFill>
                  <a:srgbClr val="FF0000"/>
                </a:solidFill>
                <a:latin typeface="微软雅黑" panose="020B0503020204020204" pitchFamily="34" charset="-122"/>
                <a:ea typeface="微软雅黑" panose="020B0503020204020204" pitchFamily="34" charset="-122"/>
              </a:rPr>
              <a:t>传给</a:t>
            </a:r>
            <a:r>
              <a:rPr lang="zh-CN" altLang="en-US" sz="1400" b="0" dirty="0" smtClean="0">
                <a:solidFill>
                  <a:srgbClr val="FF0000"/>
                </a:solidFill>
                <a:latin typeface="微软雅黑" panose="020B0503020204020204" pitchFamily="34" charset="-122"/>
                <a:ea typeface="微软雅黑" panose="020B0503020204020204" pitchFamily="34" charset="-122"/>
              </a:rPr>
              <a:t>启动程序</a:t>
            </a:r>
            <a:endParaRPr lang="en-US" altLang="zh-CN" sz="1400" b="0" dirty="0" smtClean="0">
              <a:solidFill>
                <a:srgbClr val="FF000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5A9E"/>
                </a:solidFill>
                <a:latin typeface="微软雅黑" panose="020B0503020204020204" pitchFamily="34" charset="-122"/>
                <a:ea typeface="微软雅黑" panose="020B0503020204020204" pitchFamily="34" charset="-122"/>
              </a:rPr>
              <a:t>critical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在规定时间内该</a:t>
            </a:r>
            <a:r>
              <a:rPr lang="en-US" altLang="zh-CN" sz="1400" b="0" dirty="0">
                <a:solidFill>
                  <a:srgbClr val="FF0000"/>
                </a:solidFill>
                <a:latin typeface="微软雅黑" panose="020B0503020204020204" pitchFamily="34" charset="-122"/>
                <a:ea typeface="微软雅黑" panose="020B0503020204020204" pitchFamily="34" charset="-122"/>
              </a:rPr>
              <a:t>service</a:t>
            </a:r>
            <a:r>
              <a:rPr lang="zh-CN" altLang="en-US" sz="1400" b="0" dirty="0">
                <a:solidFill>
                  <a:srgbClr val="FF0000"/>
                </a:solidFill>
                <a:latin typeface="微软雅黑" panose="020B0503020204020204" pitchFamily="34" charset="-122"/>
                <a:ea typeface="微软雅黑" panose="020B0503020204020204" pitchFamily="34" charset="-122"/>
              </a:rPr>
              <a:t>不断重启，则系统会重启并进入恢复</a:t>
            </a:r>
            <a:r>
              <a:rPr lang="zh-CN" altLang="en-US" sz="1400" b="0" dirty="0" smtClean="0">
                <a:solidFill>
                  <a:srgbClr val="FF0000"/>
                </a:solidFill>
                <a:latin typeface="微软雅黑" panose="020B0503020204020204" pitchFamily="34" charset="-122"/>
                <a:ea typeface="微软雅黑" panose="020B0503020204020204" pitchFamily="34" charset="-122"/>
              </a:rPr>
              <a:t>模式，默认是</a:t>
            </a:r>
            <a:r>
              <a:rPr lang="en-US" altLang="zh-CN" sz="1400" b="0" dirty="0" smtClean="0">
                <a:solidFill>
                  <a:srgbClr val="FF0000"/>
                </a:solidFill>
                <a:latin typeface="微软雅黑" panose="020B0503020204020204" pitchFamily="34" charset="-122"/>
                <a:ea typeface="微软雅黑" panose="020B0503020204020204" pitchFamily="34" charset="-122"/>
              </a:rPr>
              <a:t>false</a:t>
            </a:r>
          </a:p>
          <a:p>
            <a:pPr algn="l"/>
            <a:r>
              <a:rPr lang="en-US" altLang="zh-CN" sz="1600" b="0" dirty="0">
                <a:latin typeface="微软雅黑" panose="020B0503020204020204" pitchFamily="34" charset="-122"/>
                <a:ea typeface="微软雅黑" panose="020B0503020204020204" pitchFamily="34" charset="-122"/>
              </a:rPr>
              <a:t>Import</a:t>
            </a:r>
          </a:p>
          <a:p>
            <a:pPr algn="l"/>
            <a:r>
              <a:rPr lang="zh-CN" altLang="en-US" sz="1600" b="0" dirty="0">
                <a:latin typeface="微软雅黑" panose="020B0503020204020204" pitchFamily="34" charset="-122"/>
                <a:ea typeface="微软雅黑" panose="020B0503020204020204" pitchFamily="34" charset="-122"/>
              </a:rPr>
              <a:t>用来导入其他</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err="1" smtClean="0">
                <a:latin typeface="微软雅黑" panose="020B0503020204020204" pitchFamily="34" charset="-122"/>
                <a:ea typeface="微软雅黑" panose="020B0503020204020204" pitchFamily="34" charset="-122"/>
              </a:rPr>
              <a:t>rc</a:t>
            </a:r>
            <a:r>
              <a:rPr lang="zh-CN" altLang="en-US" sz="1600" b="0" dirty="0" smtClean="0">
                <a:latin typeface="微软雅黑" panose="020B0503020204020204" pitchFamily="34" charset="-122"/>
                <a:ea typeface="微软雅黑" panose="020B0503020204020204" pitchFamily="34" charset="-122"/>
              </a:rPr>
              <a:t>文件</a:t>
            </a:r>
            <a:endParaRPr lang="zh-CN" altLang="en-US"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命令</a:t>
            </a:r>
            <a:r>
              <a:rPr lang="zh-CN" altLang="en-US" sz="1600" b="0" dirty="0" smtClean="0">
                <a:latin typeface="微软雅黑" panose="020B0503020204020204" pitchFamily="34" charset="-122"/>
                <a:ea typeface="微软雅黑" panose="020B0503020204020204" pitchFamily="34" charset="-122"/>
              </a:rPr>
              <a:t>：</a:t>
            </a:r>
            <a:r>
              <a:rPr lang="en-US" altLang="zh-CN" sz="1600" b="0" dirty="0" smtClean="0">
                <a:latin typeface="微软雅黑" panose="020B0503020204020204" pitchFamily="34" charset="-122"/>
                <a:ea typeface="微软雅黑" panose="020B0503020204020204" pitchFamily="34" charset="-122"/>
              </a:rPr>
              <a:t>import </a:t>
            </a:r>
            <a:r>
              <a:rPr lang="en-US" altLang="zh-CN" sz="1600" b="0" dirty="0">
                <a:latin typeface="微软雅黑" panose="020B0503020204020204" pitchFamily="34" charset="-122"/>
                <a:ea typeface="微软雅黑" panose="020B0503020204020204" pitchFamily="34" charset="-122"/>
              </a:rPr>
              <a:t>&lt;filename&gt;</a:t>
            </a:r>
            <a:endParaRPr lang="en-US" altLang="zh-CN"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637727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338554"/>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Init.rc</a:t>
            </a:r>
            <a:r>
              <a:rPr lang="zh-CN" altLang="en-US" sz="1600" b="0" dirty="0" smtClean="0">
                <a:latin typeface="微软雅黑" panose="020B0503020204020204" pitchFamily="34" charset="-122"/>
                <a:ea typeface="微软雅黑" panose="020B0503020204020204" pitchFamily="34" charset="-122"/>
              </a:rPr>
              <a:t>文件一般结构如下：</a:t>
            </a:r>
            <a:endParaRPr lang="en-US" altLang="zh-CN" sz="16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1619672" y="1190130"/>
            <a:ext cx="5137857" cy="5335214"/>
          </a:xfrm>
          <a:prstGeom prst="rect">
            <a:avLst/>
          </a:prstGeom>
        </p:spPr>
      </p:pic>
    </p:spTree>
    <p:extLst>
      <p:ext uri="{BB962C8B-B14F-4D97-AF65-F5344CB8AC3E}">
        <p14:creationId xmlns:p14="http://schemas.microsoft.com/office/powerpoint/2010/main" val="33593110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830997"/>
          </a:xfrm>
          <a:prstGeom prst="rect">
            <a:avLst/>
          </a:prstGeom>
          <a:noFill/>
        </p:spPr>
        <p:txBody>
          <a:bodyPr wrap="square" rtlCol="0">
            <a:spAutoFit/>
          </a:bodyPr>
          <a:lstStyle/>
          <a:p>
            <a:pPr algn="l"/>
            <a:r>
              <a:rPr lang="en-US" altLang="zh-CN" sz="1600" b="0" dirty="0" err="1">
                <a:latin typeface="微软雅黑" panose="020B0503020204020204" pitchFamily="34" charset="-122"/>
                <a:ea typeface="微软雅黑" panose="020B0503020204020204" pitchFamily="34" charset="-122"/>
              </a:rPr>
              <a:t>rc</a:t>
            </a:r>
            <a:r>
              <a:rPr lang="zh-CN" altLang="en-US" sz="1600" b="0" dirty="0">
                <a:latin typeface="微软雅黑" panose="020B0503020204020204" pitchFamily="34" charset="-122"/>
                <a:ea typeface="微软雅黑" panose="020B0503020204020204" pitchFamily="34" charset="-122"/>
              </a:rPr>
              <a:t>文件的加载顺序</a:t>
            </a:r>
          </a:p>
          <a:p>
            <a:pPr algn="l"/>
            <a:r>
              <a:rPr lang="en-US" altLang="zh-CN" sz="1600" b="0" dirty="0" err="1">
                <a:latin typeface="微软雅黑" panose="020B0503020204020204" pitchFamily="34" charset="-122"/>
                <a:ea typeface="微软雅黑" panose="020B0503020204020204" pitchFamily="34" charset="-122"/>
              </a:rPr>
              <a:t>rc</a:t>
            </a:r>
            <a:r>
              <a:rPr lang="zh-CN" altLang="en-US" sz="1600" b="0" dirty="0">
                <a:latin typeface="微软雅黑" panose="020B0503020204020204" pitchFamily="34" charset="-122"/>
                <a:ea typeface="微软雅黑" panose="020B0503020204020204" pitchFamily="34" charset="-122"/>
              </a:rPr>
              <a:t>文件的加载是在</a:t>
            </a:r>
            <a:r>
              <a:rPr lang="en-US" altLang="zh-CN" sz="1600" b="0" dirty="0">
                <a:latin typeface="微软雅黑" panose="020B0503020204020204" pitchFamily="34" charset="-122"/>
                <a:ea typeface="微软雅黑" panose="020B0503020204020204" pitchFamily="34" charset="-122"/>
              </a:rPr>
              <a:t>system/core/</a:t>
            </a:r>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/init.cpp</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LoadBootScripts</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函数中实现的，在整个启动流程中，</a:t>
            </a:r>
            <a:r>
              <a:rPr lang="en-US" altLang="zh-CN" sz="1600" b="0" dirty="0" err="1">
                <a:latin typeface="微软雅黑" panose="020B0503020204020204" pitchFamily="34" charset="-122"/>
                <a:ea typeface="微软雅黑" panose="020B0503020204020204" pitchFamily="34" charset="-122"/>
              </a:rPr>
              <a:t>rc</a:t>
            </a:r>
            <a:r>
              <a:rPr lang="zh-CN" altLang="en-US" sz="1600" b="0" dirty="0">
                <a:latin typeface="微软雅黑" panose="020B0503020204020204" pitchFamily="34" charset="-122"/>
                <a:ea typeface="微软雅黑" panose="020B0503020204020204" pitchFamily="34" charset="-122"/>
              </a:rPr>
              <a:t>文件加载是在</a:t>
            </a:r>
            <a:r>
              <a:rPr lang="en-US" altLang="zh-CN" sz="1600" b="0" dirty="0">
                <a:latin typeface="微软雅黑" panose="020B0503020204020204" pitchFamily="34" charset="-122"/>
                <a:ea typeface="微软雅黑" panose="020B0503020204020204" pitchFamily="34" charset="-122"/>
              </a:rPr>
              <a:t>property</a:t>
            </a:r>
            <a:r>
              <a:rPr lang="zh-CN" altLang="en-US" sz="1600" b="0" dirty="0">
                <a:latin typeface="微软雅黑" panose="020B0503020204020204" pitchFamily="34" charset="-122"/>
                <a:ea typeface="微软雅黑" panose="020B0503020204020204" pitchFamily="34" charset="-122"/>
              </a:rPr>
              <a:t>文件加载之后</a:t>
            </a:r>
            <a:r>
              <a:rPr lang="zh-CN" altLang="en-US" sz="1600" b="0" dirty="0" smtClean="0">
                <a:latin typeface="微软雅黑" panose="020B0503020204020204" pitchFamily="34" charset="-122"/>
                <a:ea typeface="微软雅黑" panose="020B0503020204020204" pitchFamily="34" charset="-122"/>
              </a:rPr>
              <a:t>的，加载顺序如下图：</a:t>
            </a:r>
            <a:endParaRPr lang="en-US" altLang="zh-CN" sz="1600" b="0" dirty="0" smtClean="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0" y="1608849"/>
            <a:ext cx="9144000" cy="3640301"/>
          </a:xfrm>
          <a:prstGeom prst="rect">
            <a:avLst/>
          </a:prstGeom>
        </p:spPr>
      </p:pic>
    </p:spTree>
    <p:extLst>
      <p:ext uri="{BB962C8B-B14F-4D97-AF65-F5344CB8AC3E}">
        <p14:creationId xmlns:p14="http://schemas.microsoft.com/office/powerpoint/2010/main" val="35133143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init</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3293209"/>
          </a:xfrm>
          <a:prstGeom prst="rect">
            <a:avLst/>
          </a:prstGeom>
          <a:noFill/>
        </p:spPr>
        <p:txBody>
          <a:bodyPr wrap="square" rtlCol="0">
            <a:spAutoFit/>
          </a:bodyPr>
          <a:lstStyle/>
          <a:p>
            <a:pPr algn="l"/>
            <a:r>
              <a:rPr lang="en-US" altLang="zh-CN" sz="1600" b="0" dirty="0">
                <a:latin typeface="微软雅黑" panose="020B0503020204020204" pitchFamily="34" charset="-122"/>
                <a:ea typeface="微软雅黑" panose="020B0503020204020204" pitchFamily="34" charset="-122"/>
              </a:rPr>
              <a:t>Action</a:t>
            </a:r>
            <a:r>
              <a:rPr lang="zh-CN" altLang="en-US" sz="1600" b="0" dirty="0">
                <a:latin typeface="微软雅黑" panose="020B0503020204020204" pitchFamily="34" charset="-122"/>
                <a:ea typeface="微软雅黑" panose="020B0503020204020204" pitchFamily="34" charset="-122"/>
              </a:rPr>
              <a:t>的执行顺序与常用的</a:t>
            </a:r>
            <a:r>
              <a:rPr lang="en-US" altLang="zh-CN" sz="1600" b="0" dirty="0">
                <a:latin typeface="微软雅黑" panose="020B0503020204020204" pitchFamily="34" charset="-122"/>
                <a:ea typeface="微软雅黑" panose="020B0503020204020204" pitchFamily="34" charset="-122"/>
              </a:rPr>
              <a:t>class</a:t>
            </a:r>
            <a:r>
              <a:rPr lang="zh-CN" altLang="en-US" sz="1600" b="0" dirty="0">
                <a:latin typeface="微软雅黑" panose="020B0503020204020204" pitchFamily="34" charset="-122"/>
                <a:ea typeface="微软雅黑" panose="020B0503020204020204" pitchFamily="34" charset="-122"/>
              </a:rPr>
              <a:t>阶段设置</a:t>
            </a:r>
          </a:p>
          <a:p>
            <a:pPr algn="l"/>
            <a:r>
              <a:rPr lang="zh-CN" altLang="en-US" sz="1600" b="0" dirty="0">
                <a:latin typeface="微软雅黑" panose="020B0503020204020204" pitchFamily="34" charset="-122"/>
                <a:ea typeface="微软雅黑" panose="020B0503020204020204" pitchFamily="34" charset="-122"/>
              </a:rPr>
              <a:t>在自定义</a:t>
            </a:r>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时，可以通过声明</a:t>
            </a:r>
            <a:r>
              <a:rPr lang="en-US" altLang="zh-CN" sz="1600" b="0" dirty="0">
                <a:latin typeface="微软雅黑" panose="020B0503020204020204" pitchFamily="34" charset="-122"/>
                <a:ea typeface="微软雅黑" panose="020B0503020204020204" pitchFamily="34" charset="-122"/>
              </a:rPr>
              <a:t>class xxx</a:t>
            </a:r>
            <a:r>
              <a:rPr lang="zh-CN" altLang="en-US" sz="1600" b="0" dirty="0">
                <a:latin typeface="微软雅黑" panose="020B0503020204020204" pitchFamily="34" charset="-122"/>
                <a:ea typeface="微软雅黑" panose="020B0503020204020204" pitchFamily="34" charset="-122"/>
              </a:rPr>
              <a:t>来指定</a:t>
            </a:r>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的启动阶段。目前系统常用的</a:t>
            </a:r>
            <a:r>
              <a:rPr lang="en-US" altLang="zh-CN" sz="1600" b="0" dirty="0">
                <a:latin typeface="微软雅黑" panose="020B0503020204020204" pitchFamily="34" charset="-122"/>
                <a:ea typeface="微软雅黑" panose="020B0503020204020204" pitchFamily="34" charset="-122"/>
              </a:rPr>
              <a:t>class</a:t>
            </a:r>
            <a:r>
              <a:rPr lang="zh-CN" altLang="en-US" sz="1600" b="0" dirty="0">
                <a:latin typeface="微软雅黑" panose="020B0503020204020204" pitchFamily="34" charset="-122"/>
                <a:ea typeface="微软雅黑" panose="020B0503020204020204" pitchFamily="34" charset="-122"/>
              </a:rPr>
              <a:t>阶段按顺序执行流程如下</a:t>
            </a:r>
            <a:r>
              <a:rPr lang="zh-CN" altLang="en-US" sz="1600" b="0" dirty="0" smtClean="0">
                <a:latin typeface="微软雅黑" panose="020B0503020204020204" pitchFamily="34" charset="-122"/>
                <a:ea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1.early_hal</a:t>
            </a:r>
            <a:r>
              <a:rPr lang="zh-CN" altLang="en-US" sz="1600" b="0" dirty="0">
                <a:latin typeface="微软雅黑" panose="020B0503020204020204" pitchFamily="34" charset="-122"/>
                <a:ea typeface="微软雅黑" panose="020B0503020204020204" pitchFamily="34" charset="-122"/>
              </a:rPr>
              <a:t>（加密存储分区解锁之前，即未装载</a:t>
            </a:r>
            <a:r>
              <a:rPr lang="en-US" altLang="zh-CN" sz="1600" b="0" dirty="0">
                <a:latin typeface="微软雅黑" panose="020B0503020204020204" pitchFamily="34" charset="-122"/>
                <a:ea typeface="微软雅黑" panose="020B0503020204020204" pitchFamily="34" charset="-122"/>
              </a:rPr>
              <a:t>/data</a:t>
            </a:r>
            <a:r>
              <a:rPr lang="zh-CN" altLang="en-US" sz="1600" b="0" dirty="0">
                <a:latin typeface="微软雅黑" panose="020B0503020204020204" pitchFamily="34" charset="-122"/>
                <a:ea typeface="微软雅黑" panose="020B0503020204020204" pitchFamily="34" charset="-122"/>
              </a:rPr>
              <a:t>分区之前</a:t>
            </a:r>
            <a:r>
              <a:rPr lang="zh-CN" altLang="en-US" sz="1600" b="0" dirty="0" smtClean="0">
                <a:latin typeface="微软雅黑" panose="020B0503020204020204" pitchFamily="34" charset="-122"/>
                <a:ea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2.hal</a:t>
            </a:r>
            <a:r>
              <a:rPr lang="zh-CN" altLang="en-US" sz="1600" b="0" dirty="0" smtClean="0">
                <a:latin typeface="微软雅黑" panose="020B0503020204020204" pitchFamily="34" charset="-122"/>
                <a:ea typeface="微软雅黑" panose="020B0503020204020204" pitchFamily="34" charset="-122"/>
              </a:rPr>
              <a:t>（普通</a:t>
            </a:r>
            <a:r>
              <a:rPr lang="en-US" altLang="zh-CN" sz="1600" b="0" dirty="0" err="1" smtClean="0">
                <a:latin typeface="微软雅黑" panose="020B0503020204020204" pitchFamily="34" charset="-122"/>
                <a:ea typeface="微软雅黑" panose="020B0503020204020204" pitchFamily="34" charset="-122"/>
              </a:rPr>
              <a:t>hal</a:t>
            </a:r>
            <a:r>
              <a:rPr lang="zh-CN" altLang="en-US" sz="1600" b="0" dirty="0" smtClean="0">
                <a:latin typeface="微软雅黑" panose="020B0503020204020204" pitchFamily="34" charset="-122"/>
                <a:ea typeface="微软雅黑" panose="020B0503020204020204" pitchFamily="34" charset="-122"/>
              </a:rPr>
              <a:t>服务）</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3.core</a:t>
            </a:r>
            <a:r>
              <a:rPr lang="zh-CN" altLang="en-US" sz="1600" b="0" dirty="0" smtClean="0">
                <a:latin typeface="微软雅黑" panose="020B0503020204020204" pitchFamily="34" charset="-122"/>
                <a:ea typeface="微软雅黑" panose="020B0503020204020204" pitchFamily="34" charset="-122"/>
              </a:rPr>
              <a:t>（系统核心基础服务）</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4.main</a:t>
            </a:r>
            <a:r>
              <a:rPr lang="zh-CN" altLang="en-US" sz="1600" b="0" dirty="0" smtClean="0">
                <a:latin typeface="微软雅黑" panose="020B0503020204020204" pitchFamily="34" charset="-122"/>
                <a:ea typeface="微软雅黑" panose="020B0503020204020204" pitchFamily="34" charset="-122"/>
              </a:rPr>
              <a:t>（系统普通服务）</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5.late_start</a:t>
            </a:r>
            <a:r>
              <a:rPr lang="zh-CN" altLang="en-US" sz="1600" b="0" dirty="0" smtClean="0">
                <a:latin typeface="微软雅黑" panose="020B0503020204020204" pitchFamily="34" charset="-122"/>
                <a:ea typeface="微软雅黑" panose="020B0503020204020204" pitchFamily="34" charset="-122"/>
              </a:rPr>
              <a:t>（当系统资源全部加载完成后才运行的服务）</a:t>
            </a:r>
            <a:endParaRPr lang="zh-CN" altLang="en-US"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其启动的时序与</a:t>
            </a:r>
            <a:r>
              <a:rPr lang="en-US" altLang="zh-CN" sz="1600" b="0" dirty="0">
                <a:latin typeface="微软雅黑" panose="020B0503020204020204" pitchFamily="34" charset="-122"/>
                <a:ea typeface="微软雅黑" panose="020B0503020204020204" pitchFamily="34" charset="-122"/>
              </a:rPr>
              <a:t>action</a:t>
            </a:r>
            <a:r>
              <a:rPr lang="zh-CN" altLang="en-US" sz="1600" b="0" dirty="0">
                <a:latin typeface="微软雅黑" panose="020B0503020204020204" pitchFamily="34" charset="-122"/>
                <a:ea typeface="微软雅黑" panose="020B0503020204020204" pitchFamily="34" charset="-122"/>
              </a:rPr>
              <a:t>的执行对应关系如下图：</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250259" y="3284984"/>
            <a:ext cx="8659103" cy="2880320"/>
          </a:xfrm>
          <a:prstGeom prst="rect">
            <a:avLst/>
          </a:prstGeom>
        </p:spPr>
      </p:pic>
    </p:spTree>
    <p:extLst>
      <p:ext uri="{BB962C8B-B14F-4D97-AF65-F5344CB8AC3E}">
        <p14:creationId xmlns:p14="http://schemas.microsoft.com/office/powerpoint/2010/main" val="22750919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zygote</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4770537"/>
          </a:xfrm>
          <a:prstGeom prst="rect">
            <a:avLst/>
          </a:prstGeom>
          <a:noFill/>
        </p:spPr>
        <p:txBody>
          <a:bodyPr wrap="square" rtlCol="0">
            <a:spAutoFit/>
          </a:bodyPr>
          <a:lstStyle/>
          <a:p>
            <a:pPr algn="l"/>
            <a:r>
              <a:rPr lang="en-US" altLang="zh-CN" sz="1600" b="0" dirty="0" smtClean="0">
                <a:latin typeface="微软雅黑" panose="020B0503020204020204" pitchFamily="34" charset="-122"/>
                <a:ea typeface="微软雅黑" panose="020B0503020204020204" pitchFamily="34" charset="-122"/>
              </a:rPr>
              <a:t>Zygote</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init</a:t>
            </a:r>
            <a:r>
              <a:rPr lang="zh-CN" altLang="en-US" sz="1600" b="0" dirty="0" smtClean="0">
                <a:latin typeface="微软雅黑" panose="020B0503020204020204" pitchFamily="34" charset="-122"/>
                <a:ea typeface="微软雅黑" panose="020B0503020204020204" pitchFamily="34" charset="-122"/>
              </a:rPr>
              <a:t>进程运行时，</a:t>
            </a:r>
            <a:r>
              <a:rPr lang="zh-CN" altLang="en-US" sz="1600" b="0" dirty="0">
                <a:latin typeface="微软雅黑" panose="020B0503020204020204" pitchFamily="34" charset="-122"/>
                <a:ea typeface="微软雅黑" panose="020B0503020204020204" pitchFamily="34" charset="-122"/>
              </a:rPr>
              <a:t>最重要的一</a:t>
            </a:r>
            <a:r>
              <a:rPr lang="zh-CN" altLang="en-US" sz="1600" b="0" dirty="0" smtClean="0">
                <a:latin typeface="微软雅黑" panose="020B0503020204020204" pitchFamily="34" charset="-122"/>
                <a:ea typeface="微软雅黑" panose="020B0503020204020204" pitchFamily="34" charset="-122"/>
              </a:rPr>
              <a:t>个</a:t>
            </a:r>
            <a:r>
              <a:rPr lang="en-US" altLang="zh-CN" sz="1600" b="0" dirty="0">
                <a:latin typeface="微软雅黑" panose="020B0503020204020204" pitchFamily="34" charset="-122"/>
                <a:ea typeface="微软雅黑" panose="020B0503020204020204" pitchFamily="34" charset="-122"/>
              </a:rPr>
              <a:t>Action</a:t>
            </a:r>
            <a:r>
              <a:rPr lang="zh-CN" altLang="en-US" sz="1600" b="0" dirty="0" smtClean="0">
                <a:latin typeface="微软雅黑" panose="020B0503020204020204" pitchFamily="34" charset="-122"/>
                <a:ea typeface="微软雅黑" panose="020B0503020204020204" pitchFamily="34" charset="-122"/>
              </a:rPr>
              <a:t>就是</a:t>
            </a:r>
            <a:r>
              <a:rPr lang="en-US" altLang="zh-CN" sz="1600" b="0" dirty="0" smtClean="0">
                <a:latin typeface="微软雅黑" panose="020B0503020204020204" pitchFamily="34" charset="-122"/>
                <a:ea typeface="微软雅黑" panose="020B0503020204020204" pitchFamily="34" charset="-122"/>
              </a:rPr>
              <a:t>Zygote</a:t>
            </a:r>
            <a:r>
              <a:rPr lang="zh-CN" altLang="en-US" sz="1600" b="0" dirty="0" smtClean="0">
                <a:latin typeface="微软雅黑" panose="020B0503020204020204" pitchFamily="34" charset="-122"/>
                <a:ea typeface="微软雅黑" panose="020B0503020204020204" pitchFamily="34" charset="-122"/>
              </a:rPr>
              <a:t>进程的启动，</a:t>
            </a:r>
            <a:r>
              <a:rPr lang="en-US" altLang="zh-CN" sz="1600" b="0" dirty="0" smtClean="0">
                <a:latin typeface="微软雅黑" panose="020B0503020204020204" pitchFamily="34" charset="-122"/>
                <a:ea typeface="微软雅黑" panose="020B0503020204020204" pitchFamily="34" charset="-122"/>
              </a:rPr>
              <a:t>Zygote</a:t>
            </a:r>
            <a:r>
              <a:rPr lang="zh-CN" altLang="en-US" sz="1600" b="0" dirty="0" smtClean="0">
                <a:latin typeface="微软雅黑" panose="020B0503020204020204" pitchFamily="34" charset="-122"/>
                <a:ea typeface="微软雅黑" panose="020B0503020204020204" pitchFamily="34" charset="-122"/>
              </a:rPr>
              <a:t>是</a:t>
            </a:r>
            <a:r>
              <a:rPr lang="zh-CN" altLang="en-US" sz="1600" b="0" dirty="0">
                <a:latin typeface="微软雅黑" panose="020B0503020204020204" pitchFamily="34" charset="-122"/>
                <a:ea typeface="微软雅黑" panose="020B0503020204020204" pitchFamily="34" charset="-122"/>
              </a:rPr>
              <a:t>所有应用的</a:t>
            </a:r>
            <a:r>
              <a:rPr lang="zh-CN" altLang="en-US" sz="1600" b="0" dirty="0" smtClean="0">
                <a:latin typeface="微软雅黑" panose="020B0503020204020204" pitchFamily="34" charset="-122"/>
                <a:ea typeface="微软雅黑" panose="020B0503020204020204" pitchFamily="34" charset="-122"/>
              </a:rPr>
              <a:t>鼻祖。</a:t>
            </a:r>
            <a:r>
              <a:rPr lang="en-US" altLang="zh-CN" sz="1600" b="0" dirty="0" err="1" smtClean="0">
                <a:latin typeface="微软雅黑" panose="020B0503020204020204" pitchFamily="34" charset="-122"/>
                <a:ea typeface="微软雅黑" panose="020B0503020204020204" pitchFamily="34" charset="-122"/>
              </a:rPr>
              <a:t>SystemServer</a:t>
            </a:r>
            <a:r>
              <a:rPr lang="zh-CN" altLang="en-US" sz="1600" b="0" dirty="0" smtClean="0">
                <a:latin typeface="微软雅黑" panose="020B0503020204020204" pitchFamily="34" charset="-122"/>
                <a:ea typeface="微软雅黑" panose="020B0503020204020204" pitchFamily="34" charset="-122"/>
              </a:rPr>
              <a:t>和</a:t>
            </a:r>
            <a:r>
              <a:rPr lang="zh-CN" altLang="en-US" sz="1600" b="0" dirty="0">
                <a:latin typeface="微软雅黑" panose="020B0503020204020204" pitchFamily="34" charset="-122"/>
                <a:ea typeface="微软雅黑" panose="020B0503020204020204" pitchFamily="34" charset="-122"/>
              </a:rPr>
              <a:t>其他</a:t>
            </a:r>
            <a:r>
              <a:rPr lang="zh-CN" altLang="en-US" sz="1600" b="0" dirty="0" smtClean="0">
                <a:latin typeface="微软雅黑" panose="020B0503020204020204" pitchFamily="34" charset="-122"/>
                <a:ea typeface="微软雅黑" panose="020B0503020204020204" pitchFamily="34" charset="-122"/>
              </a:rPr>
              <a:t>所有</a:t>
            </a:r>
            <a:r>
              <a:rPr lang="en-US" altLang="zh-CN" sz="1600" b="0" dirty="0" err="1" smtClean="0">
                <a:latin typeface="微软雅黑" panose="020B0503020204020204" pitchFamily="34" charset="-122"/>
                <a:ea typeface="微软雅黑" panose="020B0503020204020204" pitchFamily="34" charset="-122"/>
              </a:rPr>
              <a:t>Dalivik</a:t>
            </a:r>
            <a:r>
              <a:rPr lang="zh-CN" altLang="en-US" sz="1600" b="0" dirty="0" smtClean="0">
                <a:latin typeface="微软雅黑" panose="020B0503020204020204" pitchFamily="34" charset="-122"/>
                <a:ea typeface="微软雅黑" panose="020B0503020204020204" pitchFamily="34" charset="-122"/>
              </a:rPr>
              <a:t>虚拟机</a:t>
            </a:r>
            <a:r>
              <a:rPr lang="zh-CN" altLang="en-US" sz="1600" b="0" dirty="0">
                <a:latin typeface="微软雅黑" panose="020B0503020204020204" pitchFamily="34" charset="-122"/>
                <a:ea typeface="微软雅黑" panose="020B0503020204020204" pitchFamily="34" charset="-122"/>
              </a:rPr>
              <a:t>进程都是</a:t>
            </a:r>
            <a:r>
              <a:rPr lang="zh-CN" altLang="en-US" sz="1600" b="0" dirty="0" smtClean="0">
                <a:latin typeface="微软雅黑" panose="020B0503020204020204" pitchFamily="34" charset="-122"/>
                <a:ea typeface="微软雅黑" panose="020B0503020204020204" pitchFamily="34" charset="-122"/>
              </a:rPr>
              <a:t>由</a:t>
            </a:r>
            <a:r>
              <a:rPr lang="en-US" altLang="zh-CN" sz="1600" b="0" dirty="0" smtClean="0">
                <a:latin typeface="微软雅黑" panose="020B0503020204020204" pitchFamily="34" charset="-122"/>
                <a:ea typeface="微软雅黑" panose="020B0503020204020204" pitchFamily="34" charset="-122"/>
              </a:rPr>
              <a:t>Zygote fork</a:t>
            </a:r>
            <a:r>
              <a:rPr lang="zh-CN" altLang="en-US" sz="1600" b="0" dirty="0" smtClean="0">
                <a:latin typeface="微软雅黑" panose="020B0503020204020204" pitchFamily="34" charset="-122"/>
                <a:ea typeface="微软雅黑" panose="020B0503020204020204" pitchFamily="34" charset="-122"/>
              </a:rPr>
              <a:t>而</a:t>
            </a:r>
            <a:r>
              <a:rPr lang="zh-CN" altLang="en-US" sz="1600" b="0" dirty="0">
                <a:latin typeface="微软雅黑" panose="020B0503020204020204" pitchFamily="34" charset="-122"/>
                <a:ea typeface="微软雅黑" panose="020B0503020204020204" pitchFamily="34" charset="-122"/>
              </a:rPr>
              <a:t>来。 </a:t>
            </a:r>
          </a:p>
          <a:p>
            <a:pPr algn="l"/>
            <a:r>
              <a:rPr lang="en-US" altLang="zh-CN" sz="1600" b="0" dirty="0" smtClean="0">
                <a:latin typeface="微软雅黑" panose="020B0503020204020204" pitchFamily="34" charset="-122"/>
                <a:ea typeface="微软雅黑" panose="020B0503020204020204" pitchFamily="34" charset="-122"/>
              </a:rPr>
              <a:t>Zygote</a:t>
            </a:r>
            <a:r>
              <a:rPr lang="zh-CN" altLang="en-US" sz="1600" b="0" dirty="0" smtClean="0">
                <a:latin typeface="微软雅黑" panose="020B0503020204020204" pitchFamily="34" charset="-122"/>
                <a:ea typeface="微软雅黑" panose="020B0503020204020204" pitchFamily="34" charset="-122"/>
              </a:rPr>
              <a:t>进程由</a:t>
            </a:r>
            <a:r>
              <a:rPr lang="en-US" altLang="zh-CN" sz="1600" b="0" dirty="0" err="1" smtClean="0">
                <a:latin typeface="微软雅黑" panose="020B0503020204020204" pitchFamily="34" charset="-122"/>
                <a:ea typeface="微软雅黑" panose="020B0503020204020204" pitchFamily="34" charset="-122"/>
              </a:rPr>
              <a:t>app_process</a:t>
            </a:r>
            <a:r>
              <a:rPr lang="zh-CN" altLang="en-US" sz="1600" b="0" dirty="0" smtClean="0">
                <a:latin typeface="微软雅黑" panose="020B0503020204020204" pitchFamily="34" charset="-122"/>
                <a:ea typeface="微软雅黑" panose="020B0503020204020204" pitchFamily="34" charset="-122"/>
              </a:rPr>
              <a:t>启动</a:t>
            </a:r>
            <a:r>
              <a:rPr lang="zh-CN" altLang="en-US" sz="1600" b="0" dirty="0">
                <a:latin typeface="微软雅黑" panose="020B0503020204020204" pitchFamily="34" charset="-122"/>
                <a:ea typeface="微软雅黑" panose="020B0503020204020204" pitchFamily="34" charset="-122"/>
              </a:rPr>
              <a:t>，</a:t>
            </a:r>
            <a:r>
              <a:rPr lang="en-US" altLang="zh-CN" sz="1600" b="0" dirty="0" smtClean="0">
                <a:latin typeface="微软雅黑" panose="020B0503020204020204" pitchFamily="34" charset="-122"/>
                <a:ea typeface="微软雅黑" panose="020B0503020204020204" pitchFamily="34" charset="-122"/>
              </a:rPr>
              <a:t>Zygote</a:t>
            </a:r>
            <a:r>
              <a:rPr lang="zh-CN" altLang="en-US" sz="1600" b="0" dirty="0" smtClean="0">
                <a:latin typeface="微软雅黑" panose="020B0503020204020204" pitchFamily="34" charset="-122"/>
                <a:ea typeface="微软雅黑" panose="020B0503020204020204" pitchFamily="34" charset="-122"/>
              </a:rPr>
              <a:t>是</a:t>
            </a:r>
            <a:r>
              <a:rPr lang="zh-CN" altLang="en-US" sz="1600" b="0" dirty="0">
                <a:latin typeface="微软雅黑" panose="020B0503020204020204" pitchFamily="34" charset="-122"/>
                <a:ea typeface="微软雅黑" panose="020B0503020204020204" pitchFamily="34" charset="-122"/>
              </a:rPr>
              <a:t>一</a:t>
            </a:r>
            <a:r>
              <a:rPr lang="zh-CN" altLang="en-US" sz="1600" b="0" dirty="0" smtClean="0">
                <a:latin typeface="微软雅黑" panose="020B0503020204020204" pitchFamily="34" charset="-122"/>
                <a:ea typeface="微软雅黑" panose="020B0503020204020204" pitchFamily="34" charset="-122"/>
              </a:rPr>
              <a:t>个</a:t>
            </a:r>
            <a:r>
              <a:rPr lang="en-US" altLang="zh-CN" sz="1600" b="0" dirty="0" smtClean="0">
                <a:latin typeface="微软雅黑" panose="020B0503020204020204" pitchFamily="34" charset="-122"/>
                <a:ea typeface="微软雅黑" panose="020B0503020204020204" pitchFamily="34" charset="-122"/>
              </a:rPr>
              <a:t>C/S</a:t>
            </a:r>
            <a:r>
              <a:rPr lang="zh-CN" altLang="en-US" sz="1600" b="0" dirty="0" smtClean="0">
                <a:latin typeface="微软雅黑" panose="020B0503020204020204" pitchFamily="34" charset="-122"/>
                <a:ea typeface="微软雅黑" panose="020B0503020204020204" pitchFamily="34" charset="-122"/>
              </a:rPr>
              <a:t>模型</a:t>
            </a:r>
            <a:r>
              <a:rPr lang="zh-CN" altLang="en-US" sz="1600" b="0" dirty="0">
                <a:latin typeface="微软雅黑" panose="020B0503020204020204" pitchFamily="34" charset="-122"/>
                <a:ea typeface="微软雅黑" panose="020B0503020204020204" pitchFamily="34" charset="-122"/>
              </a:rPr>
              <a:t>，</a:t>
            </a:r>
            <a:r>
              <a:rPr lang="en-US" altLang="zh-CN" sz="1600" b="0" dirty="0" smtClean="0">
                <a:latin typeface="微软雅黑" panose="020B0503020204020204" pitchFamily="34" charset="-122"/>
                <a:ea typeface="微软雅黑" panose="020B0503020204020204" pitchFamily="34" charset="-122"/>
              </a:rPr>
              <a:t>Zygote</a:t>
            </a:r>
            <a:r>
              <a:rPr lang="zh-CN" altLang="en-US" sz="1600" b="0" dirty="0" smtClean="0">
                <a:latin typeface="微软雅黑" panose="020B0503020204020204" pitchFamily="34" charset="-122"/>
                <a:ea typeface="微软雅黑" panose="020B0503020204020204" pitchFamily="34" charset="-122"/>
              </a:rPr>
              <a:t>进程</a:t>
            </a:r>
            <a:r>
              <a:rPr lang="zh-CN" altLang="en-US" sz="1600" b="0" dirty="0">
                <a:latin typeface="微软雅黑" panose="020B0503020204020204" pitchFamily="34" charset="-122"/>
                <a:ea typeface="微软雅黑" panose="020B0503020204020204" pitchFamily="34" charset="-122"/>
              </a:rPr>
              <a:t>作为服务端，其他进程作为</a:t>
            </a:r>
            <a:r>
              <a:rPr lang="zh-CN" altLang="en-US" sz="1600" b="0" dirty="0" smtClean="0">
                <a:latin typeface="微软雅黑" panose="020B0503020204020204" pitchFamily="34" charset="-122"/>
                <a:ea typeface="微软雅黑" panose="020B0503020204020204" pitchFamily="34" charset="-122"/>
              </a:rPr>
              <a:t>客户端向</a:t>
            </a:r>
            <a:r>
              <a:rPr lang="zh-CN" altLang="en-US" sz="1600" b="0" dirty="0">
                <a:latin typeface="微软雅黑" panose="020B0503020204020204" pitchFamily="34" charset="-122"/>
                <a:ea typeface="微软雅黑" panose="020B0503020204020204" pitchFamily="34" charset="-122"/>
              </a:rPr>
              <a:t>它发出“孵化</a:t>
            </a:r>
            <a:r>
              <a:rPr lang="en-US" altLang="zh-CN" sz="1600" b="0" dirty="0">
                <a:latin typeface="微软雅黑" panose="020B0503020204020204" pitchFamily="34" charset="-122"/>
                <a:ea typeface="微软雅黑" panose="020B0503020204020204" pitchFamily="34" charset="-122"/>
              </a:rPr>
              <a:t>-fork”</a:t>
            </a:r>
            <a:r>
              <a:rPr lang="zh-CN" altLang="en-US" sz="1600" b="0" dirty="0">
                <a:latin typeface="微软雅黑" panose="020B0503020204020204" pitchFamily="34" charset="-122"/>
                <a:ea typeface="微软雅黑" panose="020B0503020204020204" pitchFamily="34" charset="-122"/>
              </a:rPr>
              <a:t>请求</a:t>
            </a:r>
            <a:r>
              <a:rPr lang="zh-CN" altLang="en-US" sz="1600" b="0" dirty="0" smtClean="0">
                <a:latin typeface="微软雅黑" panose="020B0503020204020204" pitchFamily="34" charset="-122"/>
                <a:ea typeface="微软雅黑" panose="020B0503020204020204" pitchFamily="34" charset="-122"/>
              </a:rPr>
              <a:t>，</a:t>
            </a:r>
            <a:r>
              <a:rPr lang="en-US" altLang="zh-CN" sz="1600" b="0" dirty="0" smtClean="0">
                <a:latin typeface="微软雅黑" panose="020B0503020204020204" pitchFamily="34" charset="-122"/>
                <a:ea typeface="微软雅黑" panose="020B0503020204020204" pitchFamily="34" charset="-122"/>
              </a:rPr>
              <a:t>Zygote</a:t>
            </a:r>
            <a:r>
              <a:rPr lang="zh-CN" altLang="en-US" sz="1600" b="0" dirty="0" smtClean="0">
                <a:latin typeface="微软雅黑" panose="020B0503020204020204" pitchFamily="34" charset="-122"/>
                <a:ea typeface="微软雅黑" panose="020B0503020204020204" pitchFamily="34" charset="-122"/>
              </a:rPr>
              <a:t>接收</a:t>
            </a:r>
            <a:r>
              <a:rPr lang="zh-CN" altLang="en-US" sz="1600" b="0" dirty="0">
                <a:latin typeface="微软雅黑" panose="020B0503020204020204" pitchFamily="34" charset="-122"/>
                <a:ea typeface="微软雅黑" panose="020B0503020204020204" pitchFamily="34" charset="-122"/>
              </a:rPr>
              <a:t>到这个请求后就“孵化</a:t>
            </a:r>
            <a:r>
              <a:rPr lang="en-US" altLang="zh-CN" sz="1600" b="0" dirty="0">
                <a:latin typeface="微软雅黑" panose="020B0503020204020204" pitchFamily="34" charset="-122"/>
                <a:ea typeface="微软雅黑" panose="020B0503020204020204" pitchFamily="34" charset="-122"/>
              </a:rPr>
              <a:t>-fork”</a:t>
            </a:r>
            <a:r>
              <a:rPr lang="zh-CN" altLang="en-US" sz="1600" b="0" dirty="0">
                <a:latin typeface="微软雅黑" panose="020B0503020204020204" pitchFamily="34" charset="-122"/>
                <a:ea typeface="微软雅黑" panose="020B0503020204020204" pitchFamily="34" charset="-122"/>
              </a:rPr>
              <a:t>出一个新的进程</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的启动过程：</a:t>
            </a:r>
          </a:p>
          <a:p>
            <a:pPr algn="l"/>
            <a:r>
              <a:rPr lang="zh-CN" altLang="en-US" sz="1600" b="0" dirty="0">
                <a:latin typeface="微软雅黑" panose="020B0503020204020204" pitchFamily="34" charset="-122"/>
                <a:ea typeface="微软雅黑" panose="020B0503020204020204" pitchFamily="34" charset="-122"/>
              </a:rPr>
              <a:t>一般来说，在系统的</a:t>
            </a:r>
            <a:r>
              <a:rPr lang="en-US" altLang="zh-CN" sz="1600" b="0" dirty="0" err="1">
                <a:latin typeface="微软雅黑" panose="020B0503020204020204" pitchFamily="34" charset="-122"/>
                <a:ea typeface="微软雅黑" panose="020B0503020204020204" pitchFamily="34" charset="-122"/>
              </a:rPr>
              <a:t>init.rc</a:t>
            </a:r>
            <a:r>
              <a:rPr lang="zh-CN" altLang="en-US" sz="1600" b="0" dirty="0">
                <a:latin typeface="微软雅黑" panose="020B0503020204020204" pitchFamily="34" charset="-122"/>
                <a:ea typeface="微软雅黑" panose="020B0503020204020204" pitchFamily="34" charset="-122"/>
              </a:rPr>
              <a:t>中，通过如下引用来</a:t>
            </a:r>
            <a:r>
              <a:rPr lang="en-US" altLang="zh-CN" sz="1600" b="0" dirty="0">
                <a:latin typeface="微软雅黑" panose="020B0503020204020204" pitchFamily="34" charset="-122"/>
                <a:ea typeface="微软雅黑" panose="020B0503020204020204" pitchFamily="34" charset="-122"/>
              </a:rPr>
              <a:t>load Zygote</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rc</a:t>
            </a:r>
            <a:r>
              <a:rPr lang="zh-CN" altLang="en-US" sz="1600" b="0" dirty="0">
                <a:latin typeface="微软雅黑" panose="020B0503020204020204" pitchFamily="34" charset="-122"/>
                <a:ea typeface="微软雅黑" panose="020B0503020204020204" pitchFamily="34" charset="-122"/>
              </a:rPr>
              <a:t>： </a:t>
            </a:r>
          </a:p>
          <a:p>
            <a:pPr algn="l"/>
            <a:r>
              <a:rPr lang="en-US" altLang="zh-CN" sz="1600" b="0" dirty="0">
                <a:latin typeface="微软雅黑" panose="020B0503020204020204" pitchFamily="34" charset="-122"/>
                <a:ea typeface="微软雅黑" panose="020B0503020204020204" pitchFamily="34" charset="-122"/>
              </a:rPr>
              <a:t>import /system/</a:t>
            </a:r>
            <a:r>
              <a:rPr lang="en-US" altLang="zh-CN" sz="1600" b="0" dirty="0" err="1">
                <a:latin typeface="微软雅黑" panose="020B0503020204020204" pitchFamily="34" charset="-122"/>
                <a:ea typeface="微软雅黑" panose="020B0503020204020204" pitchFamily="34" charset="-122"/>
              </a:rPr>
              <a:t>etc</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hw</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init.</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ro.zygote</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rc</a:t>
            </a:r>
            <a:r>
              <a:rPr lang="en-US" altLang="zh-CN" sz="1600" b="0" dirty="0">
                <a:latin typeface="微软雅黑" panose="020B0503020204020204" pitchFamily="34" charset="-122"/>
                <a:ea typeface="微软雅黑" panose="020B0503020204020204" pitchFamily="34" charset="-122"/>
              </a:rPr>
              <a:t> </a:t>
            </a:r>
          </a:p>
          <a:p>
            <a:pPr algn="l"/>
            <a:r>
              <a:rPr lang="zh-CN" altLang="en-US" sz="1600" b="0" dirty="0">
                <a:latin typeface="微软雅黑" panose="020B0503020204020204" pitchFamily="34" charset="-122"/>
                <a:ea typeface="微软雅黑" panose="020B0503020204020204" pitchFamily="34" charset="-122"/>
              </a:rPr>
              <a:t>其中</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ro.zygote</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由各个厂家使用，现在的主流厂家基本使用</a:t>
            </a:r>
            <a:r>
              <a:rPr lang="en-US" altLang="zh-CN" sz="1600" b="0" dirty="0">
                <a:latin typeface="微软雅黑" panose="020B0503020204020204" pitchFamily="34" charset="-122"/>
                <a:ea typeface="微软雅黑" panose="020B0503020204020204" pitchFamily="34" charset="-122"/>
              </a:rPr>
              <a:t>zygote64_32</a:t>
            </a:r>
            <a:r>
              <a:rPr lang="zh-CN" altLang="en-US" sz="1600" b="0" dirty="0">
                <a:latin typeface="微软雅黑" panose="020B0503020204020204" pitchFamily="34" charset="-122"/>
                <a:ea typeface="微软雅黑" panose="020B0503020204020204" pitchFamily="34" charset="-122"/>
              </a:rPr>
              <a:t>，因此，一般来说</a:t>
            </a:r>
            <a:r>
              <a:rPr lang="en-US" altLang="zh-CN" sz="1600" b="0" dirty="0" err="1">
                <a:latin typeface="微软雅黑" panose="020B0503020204020204" pitchFamily="34" charset="-122"/>
                <a:ea typeface="微软雅黑" panose="020B0503020204020204" pitchFamily="34" charset="-122"/>
              </a:rPr>
              <a:t>rc</a:t>
            </a:r>
            <a:r>
              <a:rPr lang="zh-CN" altLang="en-US" sz="1600" b="0" dirty="0">
                <a:latin typeface="微软雅黑" panose="020B0503020204020204" pitchFamily="34" charset="-122"/>
                <a:ea typeface="微软雅黑" panose="020B0503020204020204" pitchFamily="34" charset="-122"/>
              </a:rPr>
              <a:t>文件为</a:t>
            </a:r>
            <a:r>
              <a:rPr lang="en-US" altLang="zh-CN" sz="1600" b="0" dirty="0" smtClean="0">
                <a:latin typeface="微软雅黑" panose="020B0503020204020204" pitchFamily="34" charset="-122"/>
                <a:ea typeface="微软雅黑" panose="020B0503020204020204" pitchFamily="34" charset="-122"/>
              </a:rPr>
              <a:t>init.zygote64_32.rc</a:t>
            </a:r>
          </a:p>
          <a:p>
            <a:pPr algn="l"/>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这里会启动</a:t>
            </a:r>
            <a:r>
              <a:rPr lang="en-US" altLang="zh-CN" sz="1600" b="0" dirty="0" smtClean="0">
                <a:latin typeface="微软雅黑" panose="020B0503020204020204" pitchFamily="34" charset="-122"/>
                <a:ea typeface="微软雅黑" panose="020B0503020204020204" pitchFamily="34" charset="-122"/>
              </a:rPr>
              <a:t>2</a:t>
            </a:r>
            <a:r>
              <a:rPr lang="zh-CN" altLang="en-US" sz="1600" b="0" dirty="0" smtClean="0">
                <a:latin typeface="微软雅黑" panose="020B0503020204020204" pitchFamily="34" charset="-122"/>
                <a:ea typeface="微软雅黑" panose="020B0503020204020204" pitchFamily="34" charset="-122"/>
              </a:rPr>
              <a:t>个</a:t>
            </a:r>
            <a:r>
              <a:rPr lang="en-US" altLang="zh-CN" sz="1600" b="0" dirty="0" smtClean="0">
                <a:latin typeface="微软雅黑" panose="020B0503020204020204" pitchFamily="34" charset="-122"/>
                <a:ea typeface="微软雅黑" panose="020B0503020204020204" pitchFamily="34" charset="-122"/>
              </a:rPr>
              <a:t>zygote</a:t>
            </a:r>
            <a:r>
              <a:rPr lang="zh-CN" altLang="en-US" sz="1600" b="0" dirty="0" smtClean="0">
                <a:latin typeface="微软雅黑" panose="020B0503020204020204" pitchFamily="34" charset="-122"/>
                <a:ea typeface="微软雅黑" panose="020B0503020204020204" pitchFamily="34" charset="-122"/>
              </a:rPr>
              <a:t>进程：</a:t>
            </a:r>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第一个</a:t>
            </a:r>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进程：</a:t>
            </a:r>
          </a:p>
          <a:p>
            <a:pPr algn="l"/>
            <a:r>
              <a:rPr lang="zh-CN" altLang="en-US" sz="1600" b="0" dirty="0">
                <a:latin typeface="微软雅黑" panose="020B0503020204020204" pitchFamily="34" charset="-122"/>
                <a:ea typeface="微软雅黑" panose="020B0503020204020204" pitchFamily="34" charset="-122"/>
              </a:rPr>
              <a:t>进程名：</a:t>
            </a:r>
            <a:r>
              <a:rPr lang="en-US" altLang="zh-CN" sz="1600" b="0" dirty="0">
                <a:latin typeface="微软雅黑" panose="020B0503020204020204" pitchFamily="34" charset="-122"/>
                <a:ea typeface="微软雅黑" panose="020B0503020204020204" pitchFamily="34" charset="-122"/>
              </a:rPr>
              <a:t>zygote</a:t>
            </a:r>
          </a:p>
          <a:p>
            <a:pPr algn="l"/>
            <a:r>
              <a:rPr lang="zh-CN" altLang="en-US" sz="1600" b="0" dirty="0">
                <a:latin typeface="微软雅黑" panose="020B0503020204020204" pitchFamily="34" charset="-122"/>
                <a:ea typeface="微软雅黑" panose="020B0503020204020204" pitchFamily="34" charset="-122"/>
              </a:rPr>
              <a:t>进程通过</a:t>
            </a:r>
            <a:r>
              <a:rPr lang="en-US" altLang="zh-CN" sz="1600" b="0" dirty="0">
                <a:latin typeface="微软雅黑" panose="020B0503020204020204" pitchFamily="34" charset="-122"/>
                <a:ea typeface="微软雅黑" panose="020B0503020204020204" pitchFamily="34" charset="-122"/>
              </a:rPr>
              <a:t>/system/bin/app_process64</a:t>
            </a:r>
            <a:r>
              <a:rPr lang="zh-CN" altLang="en-US" sz="1600" b="0" dirty="0">
                <a:latin typeface="微软雅黑" panose="020B0503020204020204" pitchFamily="34" charset="-122"/>
                <a:ea typeface="微软雅黑" panose="020B0503020204020204" pitchFamily="34" charset="-122"/>
              </a:rPr>
              <a:t>来启动。</a:t>
            </a:r>
          </a:p>
          <a:p>
            <a:pPr algn="l"/>
            <a:r>
              <a:rPr lang="zh-CN" altLang="en-US" sz="1600" b="0" dirty="0">
                <a:latin typeface="微软雅黑" panose="020B0503020204020204" pitchFamily="34" charset="-122"/>
                <a:ea typeface="微软雅黑" panose="020B0503020204020204" pitchFamily="34" charset="-122"/>
              </a:rPr>
              <a:t>启动参数：</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Xzygote</a:t>
            </a:r>
            <a:r>
              <a:rPr lang="en-US" altLang="zh-CN" sz="1600" b="0" dirty="0">
                <a:latin typeface="微软雅黑" panose="020B0503020204020204" pitchFamily="34" charset="-122"/>
                <a:ea typeface="微软雅黑" panose="020B0503020204020204" pitchFamily="34" charset="-122"/>
              </a:rPr>
              <a:t> /system/bin --zygote --start-system-server --socket-name=zygote</a:t>
            </a:r>
          </a:p>
          <a:p>
            <a:pPr algn="l"/>
            <a:r>
              <a:rPr lang="en-US" altLang="zh-CN" sz="1600" b="0" dirty="0">
                <a:latin typeface="微软雅黑" panose="020B0503020204020204" pitchFamily="34" charset="-122"/>
                <a:ea typeface="微软雅黑" panose="020B0503020204020204" pitchFamily="34" charset="-122"/>
              </a:rPr>
              <a:t>socket</a:t>
            </a:r>
            <a:r>
              <a:rPr lang="zh-CN" altLang="en-US" sz="1600" b="0" dirty="0">
                <a:latin typeface="微软雅黑" panose="020B0503020204020204" pitchFamily="34" charset="-122"/>
                <a:ea typeface="微软雅黑" panose="020B0503020204020204" pitchFamily="34" charset="-122"/>
              </a:rPr>
              <a:t>的名称：</a:t>
            </a:r>
            <a:r>
              <a:rPr lang="en-US" altLang="zh-CN" sz="1600" b="0" dirty="0" smtClean="0">
                <a:latin typeface="微软雅黑" panose="020B0503020204020204" pitchFamily="34" charset="-122"/>
                <a:ea typeface="微软雅黑" panose="020B0503020204020204" pitchFamily="34" charset="-122"/>
              </a:rPr>
              <a:t>zygote</a:t>
            </a:r>
          </a:p>
        </p:txBody>
      </p:sp>
    </p:spTree>
    <p:extLst>
      <p:ext uri="{BB962C8B-B14F-4D97-AF65-F5344CB8AC3E}">
        <p14:creationId xmlns:p14="http://schemas.microsoft.com/office/powerpoint/2010/main" val="37686915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zygote</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909310"/>
          </a:xfrm>
          <a:prstGeom prst="rect">
            <a:avLst/>
          </a:prstGeom>
          <a:noFill/>
        </p:spPr>
        <p:txBody>
          <a:bodyPr wrap="square" rtlCol="0">
            <a:spAutoFit/>
          </a:bodyPr>
          <a:lstStyle/>
          <a:p>
            <a:pPr algn="l"/>
            <a:r>
              <a:rPr lang="en-US" altLang="zh-CN" sz="1400" b="0" dirty="0">
                <a:solidFill>
                  <a:srgbClr val="0070C0"/>
                </a:solidFill>
                <a:latin typeface="微软雅黑" panose="020B0503020204020204" pitchFamily="34" charset="-122"/>
                <a:ea typeface="微软雅黑" panose="020B0503020204020204" pitchFamily="34" charset="-122"/>
              </a:rPr>
              <a:t>service zygote /system/bin/app_process64 -</a:t>
            </a:r>
            <a:r>
              <a:rPr lang="en-US" altLang="zh-CN" sz="1400" b="0" dirty="0" err="1">
                <a:solidFill>
                  <a:srgbClr val="0070C0"/>
                </a:solidFill>
                <a:latin typeface="微软雅黑" panose="020B0503020204020204" pitchFamily="34" charset="-122"/>
                <a:ea typeface="微软雅黑" panose="020B0503020204020204" pitchFamily="34" charset="-122"/>
              </a:rPr>
              <a:t>Xzygote</a:t>
            </a:r>
            <a:r>
              <a:rPr lang="en-US" altLang="zh-CN" sz="1400" b="0" dirty="0">
                <a:solidFill>
                  <a:srgbClr val="0070C0"/>
                </a:solidFill>
                <a:latin typeface="微软雅黑" panose="020B0503020204020204" pitchFamily="34" charset="-122"/>
                <a:ea typeface="微软雅黑" panose="020B0503020204020204" pitchFamily="34" charset="-122"/>
              </a:rPr>
              <a:t> /system/bin --zygote --start-system-server --socket-name=zygote</a:t>
            </a:r>
          </a:p>
          <a:p>
            <a:pPr algn="l"/>
            <a:r>
              <a:rPr lang="en-US" altLang="zh-CN" sz="1400" b="0" dirty="0">
                <a:solidFill>
                  <a:srgbClr val="0070C0"/>
                </a:solidFill>
                <a:latin typeface="微软雅黑" panose="020B0503020204020204" pitchFamily="34" charset="-122"/>
                <a:ea typeface="微软雅黑" panose="020B0503020204020204" pitchFamily="34" charset="-122"/>
              </a:rPr>
              <a:t>    class main</a:t>
            </a:r>
          </a:p>
          <a:p>
            <a:pPr algn="l"/>
            <a:r>
              <a:rPr lang="en-US" altLang="zh-CN" sz="1400" b="0" dirty="0">
                <a:solidFill>
                  <a:srgbClr val="0070C0"/>
                </a:solidFill>
                <a:latin typeface="微软雅黑" panose="020B0503020204020204" pitchFamily="34" charset="-122"/>
                <a:ea typeface="微软雅黑" panose="020B0503020204020204" pitchFamily="34" charset="-122"/>
              </a:rPr>
              <a:t>    priority -20</a:t>
            </a:r>
          </a:p>
          <a:p>
            <a:pPr algn="l"/>
            <a:r>
              <a:rPr lang="en-US" altLang="zh-CN" sz="1400" b="0" dirty="0">
                <a:solidFill>
                  <a:srgbClr val="0070C0"/>
                </a:solidFill>
                <a:latin typeface="微软雅黑" panose="020B0503020204020204" pitchFamily="34" charset="-122"/>
                <a:ea typeface="微软雅黑" panose="020B0503020204020204" pitchFamily="34" charset="-122"/>
              </a:rPr>
              <a:t>    user root</a:t>
            </a:r>
          </a:p>
          <a:p>
            <a:pPr algn="l"/>
            <a:r>
              <a:rPr lang="en-US" altLang="zh-CN" sz="1400" b="0" dirty="0">
                <a:solidFill>
                  <a:srgbClr val="0070C0"/>
                </a:solidFill>
                <a:latin typeface="微软雅黑" panose="020B0503020204020204" pitchFamily="34" charset="-122"/>
                <a:ea typeface="微软雅黑" panose="020B0503020204020204" pitchFamily="34" charset="-122"/>
              </a:rPr>
              <a:t>    group root </a:t>
            </a:r>
            <a:r>
              <a:rPr lang="en-US" altLang="zh-CN" sz="1400" b="0" dirty="0" err="1">
                <a:solidFill>
                  <a:srgbClr val="0070C0"/>
                </a:solidFill>
                <a:latin typeface="微软雅黑" panose="020B0503020204020204" pitchFamily="34" charset="-122"/>
                <a:ea typeface="微软雅黑" panose="020B0503020204020204" pitchFamily="34" charset="-122"/>
              </a:rPr>
              <a:t>readproc</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reserved_disk</a:t>
            </a:r>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创建一</a:t>
            </a:r>
            <a:r>
              <a:rPr lang="zh-CN" altLang="en-US" sz="1400" b="0" dirty="0" smtClean="0">
                <a:solidFill>
                  <a:srgbClr val="FF0000"/>
                </a:solidFill>
                <a:latin typeface="微软雅黑" panose="020B0503020204020204" pitchFamily="34" charset="-122"/>
                <a:ea typeface="微软雅黑" panose="020B0503020204020204" pitchFamily="34" charset="-122"/>
              </a:rPr>
              <a:t>个</a:t>
            </a:r>
            <a:r>
              <a:rPr lang="en-US" altLang="zh-CN" sz="1400" b="0" dirty="0" err="1" smtClean="0">
                <a:solidFill>
                  <a:srgbClr val="FF0000"/>
                </a:solidFill>
                <a:latin typeface="微软雅黑" panose="020B0503020204020204" pitchFamily="34" charset="-122"/>
                <a:ea typeface="微软雅黑" panose="020B0503020204020204" pitchFamily="34" charset="-122"/>
              </a:rPr>
              <a:t>socke</a:t>
            </a:r>
            <a:r>
              <a:rPr lang="zh-CN" altLang="en-US" sz="1400" b="0" dirty="0" smtClean="0">
                <a:solidFill>
                  <a:srgbClr val="FF0000"/>
                </a:solidFill>
                <a:latin typeface="微软雅黑" panose="020B0503020204020204" pitchFamily="34" charset="-122"/>
                <a:ea typeface="微软雅黑" panose="020B0503020204020204" pitchFamily="34" charset="-122"/>
              </a:rPr>
              <a:t>叫</a:t>
            </a:r>
            <a:r>
              <a:rPr lang="en-US" altLang="zh-CN" sz="1400" b="0" dirty="0" smtClean="0">
                <a:solidFill>
                  <a:srgbClr val="FF0000"/>
                </a:solidFill>
                <a:latin typeface="微软雅黑" panose="020B0503020204020204" pitchFamily="34" charset="-122"/>
                <a:ea typeface="微软雅黑" panose="020B0503020204020204" pitchFamily="34" charset="-122"/>
              </a:rPr>
              <a:t>zygote</a:t>
            </a:r>
            <a:r>
              <a:rPr lang="zh-CN" altLang="en-US" sz="1400" b="0" dirty="0" smtClean="0">
                <a:solidFill>
                  <a:srgbClr val="FF0000"/>
                </a:solidFill>
                <a:latin typeface="微软雅黑" panose="020B0503020204020204" pitchFamily="34" charset="-122"/>
                <a:ea typeface="微软雅黑" panose="020B0503020204020204" pitchFamily="34" charset="-122"/>
              </a:rPr>
              <a:t>，可以</a:t>
            </a:r>
            <a:r>
              <a:rPr lang="zh-CN" altLang="en-US" sz="1400" b="0" dirty="0">
                <a:solidFill>
                  <a:srgbClr val="FF0000"/>
                </a:solidFill>
                <a:latin typeface="微软雅黑" panose="020B0503020204020204" pitchFamily="34" charset="-122"/>
                <a:ea typeface="微软雅黑" panose="020B0503020204020204" pitchFamily="34" charset="-122"/>
              </a:rPr>
              <a:t>在</a:t>
            </a:r>
            <a:r>
              <a:rPr lang="en-US" altLang="zh-CN" sz="1400" b="0" dirty="0">
                <a:solidFill>
                  <a:srgbClr val="FF0000"/>
                </a:solidFill>
                <a:latin typeface="微软雅黑" panose="020B0503020204020204" pitchFamily="34" charset="-122"/>
                <a:ea typeface="微软雅黑" panose="020B0503020204020204" pitchFamily="34" charset="-122"/>
              </a:rPr>
              <a:t>/</a:t>
            </a:r>
            <a:r>
              <a:rPr lang="en-US" altLang="zh-CN" sz="1400" b="0" dirty="0" smtClean="0">
                <a:solidFill>
                  <a:srgbClr val="FF0000"/>
                </a:solidFill>
                <a:latin typeface="微软雅黑" panose="020B0503020204020204" pitchFamily="34" charset="-122"/>
                <a:ea typeface="微软雅黑" panose="020B0503020204020204" pitchFamily="34" charset="-122"/>
              </a:rPr>
              <a:t>dev/socket</a:t>
            </a:r>
            <a:r>
              <a:rPr lang="zh-CN" altLang="en-US" sz="1400" b="0" dirty="0" smtClean="0">
                <a:solidFill>
                  <a:srgbClr val="FF0000"/>
                </a:solidFill>
                <a:latin typeface="微软雅黑" panose="020B0503020204020204" pitchFamily="34" charset="-122"/>
                <a:ea typeface="微软雅黑" panose="020B0503020204020204" pitchFamily="34" charset="-122"/>
              </a:rPr>
              <a:t>中</a:t>
            </a:r>
            <a:r>
              <a:rPr lang="zh-CN" altLang="en-US" sz="1400" b="0" dirty="0">
                <a:solidFill>
                  <a:srgbClr val="FF0000"/>
                </a:solidFill>
                <a:latin typeface="微软雅黑" panose="020B0503020204020204" pitchFamily="34" charset="-122"/>
                <a:ea typeface="微软雅黑" panose="020B0503020204020204" pitchFamily="34" charset="-122"/>
              </a:rPr>
              <a:t>看到一个 </a:t>
            </a:r>
            <a:r>
              <a:rPr lang="en-US" altLang="zh-CN" sz="1400" b="0" dirty="0" smtClean="0">
                <a:solidFill>
                  <a:srgbClr val="FF0000"/>
                </a:solidFill>
                <a:latin typeface="微软雅黑" panose="020B0503020204020204" pitchFamily="34" charset="-122"/>
                <a:ea typeface="微软雅黑" panose="020B0503020204020204" pitchFamily="34" charset="-122"/>
              </a:rPr>
              <a:t>zygote</a:t>
            </a:r>
            <a:r>
              <a:rPr lang="zh-CN" altLang="en-US" sz="1400" b="0" dirty="0" smtClean="0">
                <a:solidFill>
                  <a:srgbClr val="FF0000"/>
                </a:solidFill>
                <a:latin typeface="微软雅黑" panose="020B0503020204020204" pitchFamily="34" charset="-122"/>
                <a:ea typeface="微软雅黑" panose="020B0503020204020204" pitchFamily="34" charset="-122"/>
              </a:rPr>
              <a:t>的</a:t>
            </a:r>
            <a:r>
              <a:rPr lang="en-US" altLang="zh-CN" sz="1400" b="0" dirty="0" smtClean="0">
                <a:solidFill>
                  <a:srgbClr val="FF0000"/>
                </a:solidFill>
                <a:latin typeface="微软雅黑" panose="020B0503020204020204" pitchFamily="34" charset="-122"/>
                <a:ea typeface="微软雅黑" panose="020B0503020204020204" pitchFamily="34" charset="-122"/>
              </a:rPr>
              <a:t>socket</a:t>
            </a:r>
            <a:endParaRPr lang="en-US" altLang="zh-CN" sz="1400" b="0" dirty="0">
              <a:solidFill>
                <a:srgbClr val="FF000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socket zygote stream 660 root </a:t>
            </a:r>
            <a:r>
              <a:rPr lang="en-US" altLang="zh-CN" sz="1400" b="0" dirty="0" smtClean="0">
                <a:solidFill>
                  <a:srgbClr val="0070C0"/>
                </a:solidFill>
                <a:latin typeface="微软雅黑" panose="020B0503020204020204" pitchFamily="34" charset="-122"/>
                <a:ea typeface="微软雅黑" panose="020B0503020204020204" pitchFamily="34" charset="-122"/>
              </a:rPr>
              <a:t>system</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socket </a:t>
            </a:r>
            <a:r>
              <a:rPr lang="en-US" altLang="zh-CN" sz="1400" b="0" dirty="0" err="1">
                <a:solidFill>
                  <a:srgbClr val="0070C0"/>
                </a:solidFill>
                <a:latin typeface="微软雅黑" panose="020B0503020204020204" pitchFamily="34" charset="-122"/>
                <a:ea typeface="微软雅黑" panose="020B0503020204020204" pitchFamily="34" charset="-122"/>
              </a:rPr>
              <a:t>usap_pool_primary</a:t>
            </a:r>
            <a:r>
              <a:rPr lang="en-US" altLang="zh-CN" sz="1400" b="0" dirty="0">
                <a:solidFill>
                  <a:srgbClr val="0070C0"/>
                </a:solidFill>
                <a:latin typeface="微软雅黑" panose="020B0503020204020204" pitchFamily="34" charset="-122"/>
                <a:ea typeface="微软雅黑" panose="020B0503020204020204" pitchFamily="34" charset="-122"/>
              </a:rPr>
              <a:t> stream 660 root system</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onrestart</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exec_background</a:t>
            </a:r>
            <a:r>
              <a:rPr lang="en-US" altLang="zh-CN" sz="1400" b="0" dirty="0">
                <a:solidFill>
                  <a:srgbClr val="0070C0"/>
                </a:solidFill>
                <a:latin typeface="微软雅黑" panose="020B0503020204020204" pitchFamily="34" charset="-122"/>
                <a:ea typeface="微软雅黑" panose="020B0503020204020204" pitchFamily="34" charset="-122"/>
              </a:rPr>
              <a:t> - system </a:t>
            </a:r>
            <a:r>
              <a:rPr lang="en-US" altLang="zh-CN" sz="1400" b="0" dirty="0" err="1">
                <a:solidFill>
                  <a:srgbClr val="0070C0"/>
                </a:solidFill>
                <a:latin typeface="微软雅黑" panose="020B0503020204020204" pitchFamily="34" charset="-122"/>
                <a:ea typeface="微软雅黑" panose="020B0503020204020204" pitchFamily="34" charset="-122"/>
              </a:rPr>
              <a:t>system</a:t>
            </a:r>
            <a:r>
              <a:rPr lang="en-US" altLang="zh-CN" sz="1400" b="0" dirty="0">
                <a:solidFill>
                  <a:srgbClr val="0070C0"/>
                </a:solidFill>
                <a:latin typeface="微软雅黑" panose="020B0503020204020204" pitchFamily="34" charset="-122"/>
                <a:ea typeface="微软雅黑" panose="020B0503020204020204" pitchFamily="34" charset="-122"/>
              </a:rPr>
              <a:t> -- /system/bin/</a:t>
            </a:r>
            <a:r>
              <a:rPr lang="en-US" altLang="zh-CN" sz="1400" b="0" dirty="0" err="1">
                <a:solidFill>
                  <a:srgbClr val="0070C0"/>
                </a:solidFill>
                <a:latin typeface="微软雅黑" panose="020B0503020204020204" pitchFamily="34" charset="-122"/>
                <a:ea typeface="微软雅黑" panose="020B0503020204020204" pitchFamily="34" charset="-122"/>
              </a:rPr>
              <a:t>vdc</a:t>
            </a:r>
            <a:r>
              <a:rPr lang="en-US" altLang="zh-CN" sz="1400" b="0" dirty="0">
                <a:solidFill>
                  <a:srgbClr val="0070C0"/>
                </a:solidFill>
                <a:latin typeface="微软雅黑" panose="020B0503020204020204" pitchFamily="34" charset="-122"/>
                <a:ea typeface="微软雅黑" panose="020B0503020204020204" pitchFamily="34" charset="-122"/>
              </a:rPr>
              <a:t> volume </a:t>
            </a:r>
            <a:r>
              <a:rPr lang="en-US" altLang="zh-CN" sz="1400" b="0" dirty="0" err="1" smtClean="0">
                <a:solidFill>
                  <a:srgbClr val="0070C0"/>
                </a:solidFill>
                <a:latin typeface="微软雅黑" panose="020B0503020204020204" pitchFamily="34" charset="-122"/>
                <a:ea typeface="微软雅黑" panose="020B0503020204020204" pitchFamily="34" charset="-122"/>
              </a:rPr>
              <a:t>abort_fuse</a:t>
            </a:r>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en-US" altLang="zh-CN" sz="1400" b="0" dirty="0" err="1" smtClean="0">
                <a:solidFill>
                  <a:srgbClr val="FF0000"/>
                </a:solidFill>
                <a:latin typeface="微软雅黑" panose="020B0503020204020204" pitchFamily="34" charset="-122"/>
                <a:ea typeface="微软雅黑" panose="020B0503020204020204" pitchFamily="34" charset="-122"/>
              </a:rPr>
              <a:t>onrestart</a:t>
            </a:r>
            <a:r>
              <a:rPr lang="zh-CN" altLang="en-US" sz="1400" b="0" dirty="0" smtClean="0">
                <a:solidFill>
                  <a:srgbClr val="FF0000"/>
                </a:solidFill>
                <a:latin typeface="微软雅黑" panose="020B0503020204020204" pitchFamily="34" charset="-122"/>
                <a:ea typeface="微软雅黑" panose="020B0503020204020204" pitchFamily="34" charset="-122"/>
              </a:rPr>
              <a:t>指当进程重启时执行后面的命令</a:t>
            </a:r>
            <a:endParaRPr lang="en-US" altLang="zh-CN" sz="1400" b="0" dirty="0" smtClean="0">
              <a:solidFill>
                <a:srgbClr val="FF000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onrestart</a:t>
            </a:r>
            <a:r>
              <a:rPr lang="en-US" altLang="zh-CN" sz="1400" b="0" dirty="0" smtClean="0">
                <a:solidFill>
                  <a:srgbClr val="0070C0"/>
                </a:solidFill>
                <a:latin typeface="微软雅黑" panose="020B0503020204020204" pitchFamily="34" charset="-122"/>
                <a:ea typeface="微软雅黑" panose="020B0503020204020204" pitchFamily="34" charset="-122"/>
              </a:rPr>
              <a:t> write /sys/power/state on</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onrestart</a:t>
            </a:r>
            <a:r>
              <a:rPr lang="en-US" altLang="zh-CN" sz="1400" b="0" dirty="0">
                <a:solidFill>
                  <a:srgbClr val="0070C0"/>
                </a:solidFill>
                <a:latin typeface="微软雅黑" panose="020B0503020204020204" pitchFamily="34" charset="-122"/>
                <a:ea typeface="微软雅黑" panose="020B0503020204020204" pitchFamily="34" charset="-122"/>
              </a:rPr>
              <a:t> restart </a:t>
            </a:r>
            <a:r>
              <a:rPr lang="en-US" altLang="zh-CN" sz="1400" b="0" dirty="0" err="1">
                <a:solidFill>
                  <a:srgbClr val="0070C0"/>
                </a:solidFill>
                <a:latin typeface="微软雅黑" panose="020B0503020204020204" pitchFamily="34" charset="-122"/>
                <a:ea typeface="微软雅黑" panose="020B0503020204020204" pitchFamily="34" charset="-122"/>
              </a:rPr>
              <a:t>audioserver</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onrestart</a:t>
            </a:r>
            <a:r>
              <a:rPr lang="en-US" altLang="zh-CN" sz="1400" b="0" dirty="0">
                <a:solidFill>
                  <a:srgbClr val="0070C0"/>
                </a:solidFill>
                <a:latin typeface="微软雅黑" panose="020B0503020204020204" pitchFamily="34" charset="-122"/>
                <a:ea typeface="微软雅黑" panose="020B0503020204020204" pitchFamily="34" charset="-122"/>
              </a:rPr>
              <a:t> restart </a:t>
            </a:r>
            <a:r>
              <a:rPr lang="en-US" altLang="zh-CN" sz="1400" b="0" dirty="0" err="1">
                <a:solidFill>
                  <a:srgbClr val="0070C0"/>
                </a:solidFill>
                <a:latin typeface="微软雅黑" panose="020B0503020204020204" pitchFamily="34" charset="-122"/>
                <a:ea typeface="微软雅黑" panose="020B0503020204020204" pitchFamily="34" charset="-122"/>
              </a:rPr>
              <a:t>cameraserver</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onrestart</a:t>
            </a:r>
            <a:r>
              <a:rPr lang="en-US" altLang="zh-CN" sz="1400" b="0" dirty="0">
                <a:solidFill>
                  <a:srgbClr val="0070C0"/>
                </a:solidFill>
                <a:latin typeface="微软雅黑" panose="020B0503020204020204" pitchFamily="34" charset="-122"/>
                <a:ea typeface="微软雅黑" panose="020B0503020204020204" pitchFamily="34" charset="-122"/>
              </a:rPr>
              <a:t> restart media</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onrestart</a:t>
            </a:r>
            <a:r>
              <a:rPr lang="en-US" altLang="zh-CN" sz="1400" b="0" dirty="0">
                <a:solidFill>
                  <a:srgbClr val="0070C0"/>
                </a:solidFill>
                <a:latin typeface="微软雅黑" panose="020B0503020204020204" pitchFamily="34" charset="-122"/>
                <a:ea typeface="微软雅黑" panose="020B0503020204020204" pitchFamily="34" charset="-122"/>
              </a:rPr>
              <a:t> restart </a:t>
            </a:r>
            <a:r>
              <a:rPr lang="en-US" altLang="zh-CN" sz="1400" b="0" dirty="0" err="1">
                <a:solidFill>
                  <a:srgbClr val="0070C0"/>
                </a:solidFill>
                <a:latin typeface="微软雅黑" panose="020B0503020204020204" pitchFamily="34" charset="-122"/>
                <a:ea typeface="微软雅黑" panose="020B0503020204020204" pitchFamily="34" charset="-122"/>
              </a:rPr>
              <a:t>netd</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onrestart</a:t>
            </a:r>
            <a:r>
              <a:rPr lang="en-US" altLang="zh-CN" sz="1400" b="0" dirty="0">
                <a:solidFill>
                  <a:srgbClr val="0070C0"/>
                </a:solidFill>
                <a:latin typeface="微软雅黑" panose="020B0503020204020204" pitchFamily="34" charset="-122"/>
                <a:ea typeface="微软雅黑" panose="020B0503020204020204" pitchFamily="34" charset="-122"/>
              </a:rPr>
              <a:t> restart </a:t>
            </a:r>
            <a:r>
              <a:rPr lang="en-US" altLang="zh-CN" sz="1400" b="0" dirty="0" err="1">
                <a:solidFill>
                  <a:srgbClr val="0070C0"/>
                </a:solidFill>
                <a:latin typeface="微软雅黑" panose="020B0503020204020204" pitchFamily="34" charset="-122"/>
                <a:ea typeface="微软雅黑" panose="020B0503020204020204" pitchFamily="34" charset="-122"/>
              </a:rPr>
              <a:t>wificond</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task_profiles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ProcessCapacityHigh</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MaxPerformance</a:t>
            </a:r>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第二个</a:t>
            </a:r>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进程：</a:t>
            </a:r>
          </a:p>
          <a:p>
            <a:pPr algn="l"/>
            <a:r>
              <a:rPr lang="zh-CN" altLang="en-US" sz="1600" b="0" dirty="0">
                <a:latin typeface="微软雅黑" panose="020B0503020204020204" pitchFamily="34" charset="-122"/>
                <a:ea typeface="微软雅黑" panose="020B0503020204020204" pitchFamily="34" charset="-122"/>
              </a:rPr>
              <a:t>进程名：</a:t>
            </a:r>
            <a:r>
              <a:rPr lang="en-US" altLang="zh-CN" sz="1600" b="0" dirty="0" err="1">
                <a:latin typeface="微软雅黑" panose="020B0503020204020204" pitchFamily="34" charset="-122"/>
                <a:ea typeface="微软雅黑" panose="020B0503020204020204" pitchFamily="34" charset="-122"/>
              </a:rPr>
              <a:t>zygote_secondary</a:t>
            </a:r>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进程通过</a:t>
            </a:r>
            <a:r>
              <a:rPr lang="en-US" altLang="zh-CN" sz="1600" b="0" dirty="0">
                <a:latin typeface="微软雅黑" panose="020B0503020204020204" pitchFamily="34" charset="-122"/>
                <a:ea typeface="微软雅黑" panose="020B0503020204020204" pitchFamily="34" charset="-122"/>
              </a:rPr>
              <a:t>/system/bin/app_process32</a:t>
            </a:r>
            <a:r>
              <a:rPr lang="zh-CN" altLang="en-US" sz="1600" b="0" dirty="0">
                <a:latin typeface="微软雅黑" panose="020B0503020204020204" pitchFamily="34" charset="-122"/>
                <a:ea typeface="微软雅黑" panose="020B0503020204020204" pitchFamily="34" charset="-122"/>
              </a:rPr>
              <a:t>来启动。</a:t>
            </a:r>
          </a:p>
          <a:p>
            <a:pPr algn="l"/>
            <a:r>
              <a:rPr lang="zh-CN" altLang="en-US" sz="1600" b="0" dirty="0">
                <a:latin typeface="微软雅黑" panose="020B0503020204020204" pitchFamily="34" charset="-122"/>
                <a:ea typeface="微软雅黑" panose="020B0503020204020204" pitchFamily="34" charset="-122"/>
              </a:rPr>
              <a:t>启动参数：</a:t>
            </a:r>
            <a:r>
              <a:rPr lang="en-US" altLang="zh-CN" sz="1600" b="0" dirty="0">
                <a:latin typeface="微软雅黑" panose="020B0503020204020204" pitchFamily="34" charset="-122"/>
                <a:ea typeface="微软雅黑" panose="020B0503020204020204" pitchFamily="34" charset="-122"/>
              </a:rPr>
              <a:t>-</a:t>
            </a:r>
            <a:r>
              <a:rPr lang="en-US" altLang="zh-CN" sz="1600" b="0" dirty="0" err="1">
                <a:latin typeface="微软雅黑" panose="020B0503020204020204" pitchFamily="34" charset="-122"/>
                <a:ea typeface="微软雅黑" panose="020B0503020204020204" pitchFamily="34" charset="-122"/>
              </a:rPr>
              <a:t>Xzygote</a:t>
            </a:r>
            <a:r>
              <a:rPr lang="en-US" altLang="zh-CN" sz="1600" b="0" dirty="0">
                <a:latin typeface="微软雅黑" panose="020B0503020204020204" pitchFamily="34" charset="-122"/>
                <a:ea typeface="微软雅黑" panose="020B0503020204020204" pitchFamily="34" charset="-122"/>
              </a:rPr>
              <a:t> /system/bin --zygote --socket-name=</a:t>
            </a:r>
            <a:r>
              <a:rPr lang="en-US" altLang="zh-CN" sz="1600" b="0" dirty="0" err="1">
                <a:latin typeface="微软雅黑" panose="020B0503020204020204" pitchFamily="34" charset="-122"/>
                <a:ea typeface="微软雅黑" panose="020B0503020204020204" pitchFamily="34" charset="-122"/>
              </a:rPr>
              <a:t>zygote_secondary</a:t>
            </a:r>
            <a:r>
              <a:rPr lang="en-US" altLang="zh-CN" sz="1600" b="0" dirty="0">
                <a:latin typeface="微软雅黑" panose="020B0503020204020204" pitchFamily="34" charset="-122"/>
                <a:ea typeface="微软雅黑" panose="020B0503020204020204" pitchFamily="34" charset="-122"/>
              </a:rPr>
              <a:t> --enable-lazy-preload</a:t>
            </a:r>
          </a:p>
          <a:p>
            <a:pPr algn="l"/>
            <a:r>
              <a:rPr lang="en-US" altLang="zh-CN" sz="1600" b="0" dirty="0">
                <a:latin typeface="微软雅黑" panose="020B0503020204020204" pitchFamily="34" charset="-122"/>
                <a:ea typeface="微软雅黑" panose="020B0503020204020204" pitchFamily="34" charset="-122"/>
              </a:rPr>
              <a:t>socket</a:t>
            </a:r>
            <a:r>
              <a:rPr lang="zh-CN" altLang="en-US" sz="1600" b="0" dirty="0">
                <a:latin typeface="微软雅黑" panose="020B0503020204020204" pitchFamily="34" charset="-122"/>
                <a:ea typeface="微软雅黑" panose="020B0503020204020204" pitchFamily="34" charset="-122"/>
              </a:rPr>
              <a:t>的名称：</a:t>
            </a:r>
            <a:r>
              <a:rPr lang="en-US" altLang="zh-CN" sz="1600" b="0" dirty="0" err="1">
                <a:latin typeface="微软雅黑" panose="020B0503020204020204" pitchFamily="34" charset="-122"/>
                <a:ea typeface="微软雅黑" panose="020B0503020204020204" pitchFamily="34" charset="-122"/>
              </a:rPr>
              <a:t>zygote_secondary</a:t>
            </a:r>
            <a:endParaRPr lang="en-US" altLang="zh-CN" sz="1600" b="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121598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zygote</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416868"/>
          </a:xfrm>
          <a:prstGeom prst="rect">
            <a:avLst/>
          </a:prstGeom>
          <a:noFill/>
        </p:spPr>
        <p:txBody>
          <a:bodyPr wrap="square" rtlCol="0">
            <a:spAutoFit/>
          </a:bodyPr>
          <a:lstStyle/>
          <a:p>
            <a:pPr algn="l"/>
            <a:r>
              <a:rPr lang="en-US" altLang="zh-CN" sz="1400" b="0" dirty="0">
                <a:solidFill>
                  <a:srgbClr val="0070C0"/>
                </a:solidFill>
                <a:latin typeface="微软雅黑" panose="020B0503020204020204" pitchFamily="34" charset="-122"/>
                <a:ea typeface="微软雅黑" panose="020B0503020204020204" pitchFamily="34" charset="-122"/>
              </a:rPr>
              <a:t>service </a:t>
            </a:r>
            <a:r>
              <a:rPr lang="en-US" altLang="zh-CN" sz="1400" b="0" dirty="0" err="1">
                <a:solidFill>
                  <a:srgbClr val="0070C0"/>
                </a:solidFill>
                <a:latin typeface="微软雅黑" panose="020B0503020204020204" pitchFamily="34" charset="-122"/>
                <a:ea typeface="微软雅黑" panose="020B0503020204020204" pitchFamily="34" charset="-122"/>
              </a:rPr>
              <a:t>zygote_secondary</a:t>
            </a:r>
            <a:r>
              <a:rPr lang="en-US" altLang="zh-CN" sz="1400" b="0" dirty="0">
                <a:solidFill>
                  <a:srgbClr val="0070C0"/>
                </a:solidFill>
                <a:latin typeface="微软雅黑" panose="020B0503020204020204" pitchFamily="34" charset="-122"/>
                <a:ea typeface="微软雅黑" panose="020B0503020204020204" pitchFamily="34" charset="-122"/>
              </a:rPr>
              <a:t> /system/bin/app_process32 -</a:t>
            </a:r>
            <a:r>
              <a:rPr lang="en-US" altLang="zh-CN" sz="1400" b="0" dirty="0" err="1">
                <a:solidFill>
                  <a:srgbClr val="0070C0"/>
                </a:solidFill>
                <a:latin typeface="微软雅黑" panose="020B0503020204020204" pitchFamily="34" charset="-122"/>
                <a:ea typeface="微软雅黑" panose="020B0503020204020204" pitchFamily="34" charset="-122"/>
              </a:rPr>
              <a:t>Xzygote</a:t>
            </a:r>
            <a:r>
              <a:rPr lang="en-US" altLang="zh-CN" sz="1400" b="0" dirty="0">
                <a:solidFill>
                  <a:srgbClr val="0070C0"/>
                </a:solidFill>
                <a:latin typeface="微软雅黑" panose="020B0503020204020204" pitchFamily="34" charset="-122"/>
                <a:ea typeface="微软雅黑" panose="020B0503020204020204" pitchFamily="34" charset="-122"/>
              </a:rPr>
              <a:t> /system/bin --zygote --socket-name=</a:t>
            </a:r>
            <a:r>
              <a:rPr lang="en-US" altLang="zh-CN" sz="1400" b="0" dirty="0" err="1">
                <a:solidFill>
                  <a:srgbClr val="0070C0"/>
                </a:solidFill>
                <a:latin typeface="微软雅黑" panose="020B0503020204020204" pitchFamily="34" charset="-122"/>
                <a:ea typeface="微软雅黑" panose="020B0503020204020204" pitchFamily="34" charset="-122"/>
              </a:rPr>
              <a:t>zygote_secondary</a:t>
            </a:r>
            <a:r>
              <a:rPr lang="en-US" altLang="zh-CN" sz="1400" b="0" dirty="0">
                <a:solidFill>
                  <a:srgbClr val="0070C0"/>
                </a:solidFill>
                <a:latin typeface="微软雅黑" panose="020B0503020204020204" pitchFamily="34" charset="-122"/>
                <a:ea typeface="微软雅黑" panose="020B0503020204020204" pitchFamily="34" charset="-122"/>
              </a:rPr>
              <a:t> --enable-lazy-preload</a:t>
            </a:r>
          </a:p>
          <a:p>
            <a:pPr algn="l"/>
            <a:r>
              <a:rPr lang="en-US" altLang="zh-CN" sz="1400" b="0" dirty="0">
                <a:solidFill>
                  <a:srgbClr val="0070C0"/>
                </a:solidFill>
                <a:latin typeface="微软雅黑" panose="020B0503020204020204" pitchFamily="34" charset="-122"/>
                <a:ea typeface="微软雅黑" panose="020B0503020204020204" pitchFamily="34" charset="-122"/>
              </a:rPr>
              <a:t>    class main</a:t>
            </a:r>
          </a:p>
          <a:p>
            <a:pPr algn="l"/>
            <a:r>
              <a:rPr lang="en-US" altLang="zh-CN" sz="1400" b="0" dirty="0">
                <a:solidFill>
                  <a:srgbClr val="0070C0"/>
                </a:solidFill>
                <a:latin typeface="微软雅黑" panose="020B0503020204020204" pitchFamily="34" charset="-122"/>
                <a:ea typeface="微软雅黑" panose="020B0503020204020204" pitchFamily="34" charset="-122"/>
              </a:rPr>
              <a:t>    priority -20</a:t>
            </a:r>
          </a:p>
          <a:p>
            <a:pPr algn="l"/>
            <a:r>
              <a:rPr lang="en-US" altLang="zh-CN" sz="1400" b="0" dirty="0">
                <a:solidFill>
                  <a:srgbClr val="0070C0"/>
                </a:solidFill>
                <a:latin typeface="微软雅黑" panose="020B0503020204020204" pitchFamily="34" charset="-122"/>
                <a:ea typeface="微软雅黑" panose="020B0503020204020204" pitchFamily="34" charset="-122"/>
              </a:rPr>
              <a:t>    user root</a:t>
            </a:r>
          </a:p>
          <a:p>
            <a:pPr algn="l"/>
            <a:r>
              <a:rPr lang="en-US" altLang="zh-CN" sz="1400" b="0" dirty="0">
                <a:solidFill>
                  <a:srgbClr val="0070C0"/>
                </a:solidFill>
                <a:latin typeface="微软雅黑" panose="020B0503020204020204" pitchFamily="34" charset="-122"/>
                <a:ea typeface="微软雅黑" panose="020B0503020204020204" pitchFamily="34" charset="-122"/>
              </a:rPr>
              <a:t>    group root </a:t>
            </a:r>
            <a:r>
              <a:rPr lang="en-US" altLang="zh-CN" sz="1400" b="0" dirty="0" err="1">
                <a:solidFill>
                  <a:srgbClr val="0070C0"/>
                </a:solidFill>
                <a:latin typeface="微软雅黑" panose="020B0503020204020204" pitchFamily="34" charset="-122"/>
                <a:ea typeface="微软雅黑" panose="020B0503020204020204" pitchFamily="34" charset="-122"/>
              </a:rPr>
              <a:t>readproc</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reserved_disk</a:t>
            </a:r>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创建一个</a:t>
            </a:r>
            <a:r>
              <a:rPr lang="en-US" altLang="zh-CN" sz="1400" b="0" dirty="0" smtClean="0">
                <a:solidFill>
                  <a:srgbClr val="FF0000"/>
                </a:solidFill>
                <a:latin typeface="微软雅黑" panose="020B0503020204020204" pitchFamily="34" charset="-122"/>
                <a:ea typeface="微软雅黑" panose="020B0503020204020204" pitchFamily="34" charset="-122"/>
              </a:rPr>
              <a:t>socket</a:t>
            </a:r>
            <a:r>
              <a:rPr lang="zh-CN" altLang="en-US" sz="1400" b="0" dirty="0" smtClean="0">
                <a:solidFill>
                  <a:srgbClr val="FF0000"/>
                </a:solidFill>
                <a:latin typeface="微软雅黑" panose="020B0503020204020204" pitchFamily="34" charset="-122"/>
                <a:ea typeface="微软雅黑" panose="020B0503020204020204" pitchFamily="34" charset="-122"/>
              </a:rPr>
              <a:t>叫</a:t>
            </a:r>
            <a:r>
              <a:rPr lang="en-US" altLang="zh-CN" sz="1400" b="0" dirty="0" err="1">
                <a:solidFill>
                  <a:srgbClr val="FF0000"/>
                </a:solidFill>
                <a:latin typeface="微软雅黑" panose="020B0503020204020204" pitchFamily="34" charset="-122"/>
                <a:ea typeface="微软雅黑" panose="020B0503020204020204" pitchFamily="34" charset="-122"/>
              </a:rPr>
              <a:t>zygote_secondary</a:t>
            </a:r>
            <a:r>
              <a:rPr lang="zh-CN" altLang="en-US" sz="1400" b="0" dirty="0">
                <a:solidFill>
                  <a:srgbClr val="FF0000"/>
                </a:solidFill>
                <a:latin typeface="微软雅黑" panose="020B0503020204020204" pitchFamily="34" charset="-122"/>
                <a:ea typeface="微软雅黑" panose="020B0503020204020204" pitchFamily="34" charset="-122"/>
              </a:rPr>
              <a:t>，可以在</a:t>
            </a:r>
            <a:r>
              <a:rPr lang="en-US" altLang="zh-CN" sz="1400" b="0" dirty="0">
                <a:solidFill>
                  <a:srgbClr val="FF0000"/>
                </a:solidFill>
                <a:latin typeface="微软雅黑" panose="020B0503020204020204" pitchFamily="34" charset="-122"/>
                <a:ea typeface="微软雅黑" panose="020B0503020204020204" pitchFamily="34" charset="-122"/>
              </a:rPr>
              <a:t>/dev/socket</a:t>
            </a:r>
            <a:r>
              <a:rPr lang="zh-CN" altLang="en-US" sz="1400" b="0" dirty="0">
                <a:solidFill>
                  <a:srgbClr val="FF0000"/>
                </a:solidFill>
                <a:latin typeface="微软雅黑" panose="020B0503020204020204" pitchFamily="34" charset="-122"/>
                <a:ea typeface="微软雅黑" panose="020B0503020204020204" pitchFamily="34" charset="-122"/>
              </a:rPr>
              <a:t>中看到一个</a:t>
            </a:r>
            <a:r>
              <a:rPr lang="en-US" altLang="zh-CN" sz="1400" b="0" dirty="0" err="1">
                <a:solidFill>
                  <a:srgbClr val="FF0000"/>
                </a:solidFill>
                <a:latin typeface="微软雅黑" panose="020B0503020204020204" pitchFamily="34" charset="-122"/>
                <a:ea typeface="微软雅黑" panose="020B0503020204020204" pitchFamily="34" charset="-122"/>
              </a:rPr>
              <a:t>zygote_secondary</a:t>
            </a:r>
            <a:r>
              <a:rPr lang="zh-CN" altLang="en-US" sz="1400" b="0" dirty="0">
                <a:solidFill>
                  <a:srgbClr val="FF0000"/>
                </a:solidFill>
                <a:latin typeface="微软雅黑" panose="020B0503020204020204" pitchFamily="34" charset="-122"/>
                <a:ea typeface="微软雅黑" panose="020B0503020204020204" pitchFamily="34" charset="-122"/>
              </a:rPr>
              <a:t>的</a:t>
            </a:r>
            <a:r>
              <a:rPr lang="en-US" altLang="zh-CN" sz="1400" b="0" dirty="0">
                <a:solidFill>
                  <a:srgbClr val="FF0000"/>
                </a:solidFill>
                <a:latin typeface="微软雅黑" panose="020B0503020204020204" pitchFamily="34" charset="-122"/>
                <a:ea typeface="微软雅黑" panose="020B0503020204020204" pitchFamily="34" charset="-122"/>
              </a:rPr>
              <a:t>socket</a:t>
            </a:r>
          </a:p>
          <a:p>
            <a:pPr algn="l"/>
            <a:r>
              <a:rPr lang="en-US" altLang="zh-CN" sz="1400" b="0" dirty="0">
                <a:solidFill>
                  <a:srgbClr val="0070C0"/>
                </a:solidFill>
                <a:latin typeface="微软雅黑" panose="020B0503020204020204" pitchFamily="34" charset="-122"/>
                <a:ea typeface="微软雅黑" panose="020B0503020204020204" pitchFamily="34" charset="-122"/>
              </a:rPr>
              <a:t>    socket </a:t>
            </a:r>
            <a:r>
              <a:rPr lang="en-US" altLang="zh-CN" sz="1400" b="0" dirty="0" err="1">
                <a:solidFill>
                  <a:srgbClr val="0070C0"/>
                </a:solidFill>
                <a:latin typeface="微软雅黑" panose="020B0503020204020204" pitchFamily="34" charset="-122"/>
                <a:ea typeface="微软雅黑" panose="020B0503020204020204" pitchFamily="34" charset="-122"/>
              </a:rPr>
              <a:t>zygote_secondary</a:t>
            </a:r>
            <a:r>
              <a:rPr lang="en-US" altLang="zh-CN" sz="1400" b="0" dirty="0">
                <a:solidFill>
                  <a:srgbClr val="0070C0"/>
                </a:solidFill>
                <a:latin typeface="微软雅黑" panose="020B0503020204020204" pitchFamily="34" charset="-122"/>
                <a:ea typeface="微软雅黑" panose="020B0503020204020204" pitchFamily="34" charset="-122"/>
              </a:rPr>
              <a:t> stream 660 root system</a:t>
            </a:r>
          </a:p>
          <a:p>
            <a:pPr algn="l"/>
            <a:r>
              <a:rPr lang="en-US" altLang="zh-CN" sz="1400" b="0" dirty="0">
                <a:solidFill>
                  <a:srgbClr val="0070C0"/>
                </a:solidFill>
                <a:latin typeface="微软雅黑" panose="020B0503020204020204" pitchFamily="34" charset="-122"/>
                <a:ea typeface="微软雅黑" panose="020B0503020204020204" pitchFamily="34" charset="-122"/>
              </a:rPr>
              <a:t>    socket </a:t>
            </a:r>
            <a:r>
              <a:rPr lang="en-US" altLang="zh-CN" sz="1400" b="0" dirty="0" err="1">
                <a:solidFill>
                  <a:srgbClr val="0070C0"/>
                </a:solidFill>
                <a:latin typeface="微软雅黑" panose="020B0503020204020204" pitchFamily="34" charset="-122"/>
                <a:ea typeface="微软雅黑" panose="020B0503020204020204" pitchFamily="34" charset="-122"/>
              </a:rPr>
              <a:t>usap_pool_secondary</a:t>
            </a:r>
            <a:r>
              <a:rPr lang="en-US" altLang="zh-CN" sz="1400" b="0" dirty="0">
                <a:solidFill>
                  <a:srgbClr val="0070C0"/>
                </a:solidFill>
                <a:latin typeface="微软雅黑" panose="020B0503020204020204" pitchFamily="34" charset="-122"/>
                <a:ea typeface="微软雅黑" panose="020B0503020204020204" pitchFamily="34" charset="-122"/>
              </a:rPr>
              <a:t> stream 660 root system</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onrestart</a:t>
            </a:r>
            <a:r>
              <a:rPr lang="en-US" altLang="zh-CN" sz="1400" b="0" dirty="0">
                <a:solidFill>
                  <a:srgbClr val="0070C0"/>
                </a:solidFill>
                <a:latin typeface="微软雅黑" panose="020B0503020204020204" pitchFamily="34" charset="-122"/>
                <a:ea typeface="微软雅黑" panose="020B0503020204020204" pitchFamily="34" charset="-122"/>
              </a:rPr>
              <a:t> restart zygote</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task_profiles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ProcessCapacityHigh</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MaxPerformance</a:t>
            </a:r>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进程被重启的情况：</a:t>
            </a:r>
          </a:p>
          <a:p>
            <a:pPr algn="l"/>
            <a:r>
              <a:rPr lang="zh-CN" altLang="en-US" sz="1600" b="0" dirty="0">
                <a:latin typeface="微软雅黑" panose="020B0503020204020204" pitchFamily="34" charset="-122"/>
                <a:ea typeface="微软雅黑" panose="020B0503020204020204" pitchFamily="34" charset="-122"/>
              </a:rPr>
              <a:t>查看所有</a:t>
            </a:r>
            <a:r>
              <a:rPr lang="en-US" altLang="zh-CN" sz="1600" b="0" dirty="0" err="1">
                <a:latin typeface="微软雅黑" panose="020B0503020204020204" pitchFamily="34" charset="-122"/>
                <a:ea typeface="微软雅黑" panose="020B0503020204020204" pitchFamily="34" charset="-122"/>
              </a:rPr>
              <a:t>rc</a:t>
            </a:r>
            <a:r>
              <a:rPr lang="zh-CN" altLang="en-US" sz="1600" b="0" dirty="0">
                <a:latin typeface="微软雅黑" panose="020B0503020204020204" pitchFamily="34" charset="-122"/>
                <a:ea typeface="微软雅黑" panose="020B0503020204020204" pitchFamily="34" charset="-122"/>
              </a:rPr>
              <a:t>文件，发现有些</a:t>
            </a:r>
            <a:r>
              <a:rPr lang="en-US" altLang="zh-CN" sz="1600" b="0" dirty="0" err="1">
                <a:latin typeface="微软雅黑" panose="020B0503020204020204" pitchFamily="34" charset="-122"/>
                <a:ea typeface="微软雅黑" panose="020B0503020204020204" pitchFamily="34" charset="-122"/>
              </a:rPr>
              <a:t>rc</a:t>
            </a:r>
            <a:r>
              <a:rPr lang="zh-CN" altLang="en-US" sz="1600" b="0" dirty="0">
                <a:latin typeface="微软雅黑" panose="020B0503020204020204" pitchFamily="34" charset="-122"/>
                <a:ea typeface="微软雅黑" panose="020B0503020204020204" pitchFamily="34" charset="-122"/>
              </a:rPr>
              <a:t>文件中的</a:t>
            </a:r>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含有</a:t>
            </a:r>
            <a:r>
              <a:rPr lang="en-US" altLang="zh-CN" sz="1600" b="0" dirty="0">
                <a:latin typeface="微软雅黑" panose="020B0503020204020204" pitchFamily="34" charset="-122"/>
                <a:ea typeface="微软雅黑" panose="020B0503020204020204" pitchFamily="34" charset="-122"/>
              </a:rPr>
              <a:t>"restart zygote"</a:t>
            </a:r>
            <a:r>
              <a:rPr lang="zh-CN" altLang="en-US" sz="1600" b="0" dirty="0">
                <a:latin typeface="微软雅黑" panose="020B0503020204020204" pitchFamily="34" charset="-122"/>
                <a:ea typeface="微软雅黑" panose="020B0503020204020204" pitchFamily="34" charset="-122"/>
              </a:rPr>
              <a:t>字样，说明该</a:t>
            </a:r>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出现异常时候会导致</a:t>
            </a:r>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重启，如以下</a:t>
            </a:r>
            <a:r>
              <a:rPr lang="en-US" altLang="zh-CN" sz="1600" b="0" dirty="0" err="1">
                <a:latin typeface="微软雅黑" panose="020B0503020204020204" pitchFamily="34" charset="-122"/>
                <a:ea typeface="微软雅黑" panose="020B0503020204020204" pitchFamily="34" charset="-122"/>
              </a:rPr>
              <a:t>rc</a:t>
            </a:r>
            <a:r>
              <a:rPr lang="zh-CN" altLang="en-US" sz="1600" b="0" dirty="0">
                <a:latin typeface="微软雅黑" panose="020B0503020204020204" pitchFamily="34" charset="-122"/>
                <a:ea typeface="微软雅黑" panose="020B0503020204020204" pitchFamily="34" charset="-122"/>
              </a:rPr>
              <a:t>文件： </a:t>
            </a:r>
          </a:p>
          <a:p>
            <a:pPr algn="l"/>
            <a:r>
              <a:rPr lang="en-US" altLang="zh-CN" sz="1400" b="0" dirty="0">
                <a:solidFill>
                  <a:srgbClr val="0070C0"/>
                </a:solidFill>
                <a:latin typeface="微软雅黑" panose="020B0503020204020204" pitchFamily="34" charset="-122"/>
                <a:ea typeface="微软雅黑" panose="020B0503020204020204" pitchFamily="34" charset="-122"/>
              </a:rPr>
              <a:t>frameworks/native/</a:t>
            </a:r>
            <a:r>
              <a:rPr lang="en-US" altLang="zh-CN" sz="1400" b="0" dirty="0" err="1">
                <a:solidFill>
                  <a:srgbClr val="0070C0"/>
                </a:solidFill>
                <a:latin typeface="微软雅黑" panose="020B0503020204020204" pitchFamily="34" charset="-122"/>
                <a:ea typeface="微软雅黑" panose="020B0503020204020204" pitchFamily="34" charset="-122"/>
              </a:rPr>
              <a:t>cmds</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servicemanager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servicemanager.rc</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对应进程：</a:t>
            </a:r>
            <a:r>
              <a:rPr lang="en-US" altLang="zh-CN" sz="1400" b="0" dirty="0" err="1">
                <a:solidFill>
                  <a:srgbClr val="0070C0"/>
                </a:solidFill>
                <a:latin typeface="微软雅黑" panose="020B0503020204020204" pitchFamily="34" charset="-122"/>
                <a:ea typeface="微软雅黑" panose="020B0503020204020204" pitchFamily="34" charset="-122"/>
              </a:rPr>
              <a:t>servicemanager</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system/</a:t>
            </a:r>
            <a:r>
              <a:rPr lang="en-US" altLang="zh-CN" sz="1400" b="0" dirty="0" err="1">
                <a:solidFill>
                  <a:srgbClr val="0070C0"/>
                </a:solidFill>
                <a:latin typeface="微软雅黑" panose="020B0503020204020204" pitchFamily="34" charset="-122"/>
                <a:ea typeface="微软雅黑" panose="020B0503020204020204" pitchFamily="34" charset="-122"/>
              </a:rPr>
              <a:t>netd</a:t>
            </a:r>
            <a:r>
              <a:rPr lang="en-US" altLang="zh-CN" sz="1400" b="0" dirty="0">
                <a:solidFill>
                  <a:srgbClr val="0070C0"/>
                </a:solidFill>
                <a:latin typeface="微软雅黑" panose="020B0503020204020204" pitchFamily="34" charset="-122"/>
                <a:ea typeface="微软雅黑" panose="020B0503020204020204" pitchFamily="34" charset="-122"/>
              </a:rPr>
              <a:t>/server/</a:t>
            </a:r>
            <a:r>
              <a:rPr lang="en-US" altLang="zh-CN" sz="1400" b="0" dirty="0" err="1">
                <a:solidFill>
                  <a:srgbClr val="0070C0"/>
                </a:solidFill>
                <a:latin typeface="微软雅黑" panose="020B0503020204020204" pitchFamily="34" charset="-122"/>
                <a:ea typeface="微软雅黑" panose="020B0503020204020204" pitchFamily="34" charset="-122"/>
              </a:rPr>
              <a:t>netd.rc</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对应进程：</a:t>
            </a:r>
            <a:r>
              <a:rPr lang="en-US" altLang="zh-CN" sz="1400" b="0" dirty="0" err="1">
                <a:solidFill>
                  <a:srgbClr val="0070C0"/>
                </a:solidFill>
                <a:latin typeface="微软雅黑" panose="020B0503020204020204" pitchFamily="34" charset="-122"/>
                <a:ea typeface="微软雅黑" panose="020B0503020204020204" pitchFamily="34" charset="-122"/>
              </a:rPr>
              <a:t>netd</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frameworks/native/services/</a:t>
            </a:r>
            <a:r>
              <a:rPr lang="en-US" altLang="zh-CN" sz="1400" b="0" dirty="0" err="1">
                <a:solidFill>
                  <a:srgbClr val="0070C0"/>
                </a:solidFill>
                <a:latin typeface="微软雅黑" panose="020B0503020204020204" pitchFamily="34" charset="-122"/>
                <a:ea typeface="微软雅黑" panose="020B0503020204020204" pitchFamily="34" charset="-122"/>
              </a:rPr>
              <a:t>surfaceflinger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surfaceflinger.rc</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对应进程：</a:t>
            </a:r>
            <a:r>
              <a:rPr lang="en-US" altLang="zh-CN" sz="1400" b="0" dirty="0" err="1">
                <a:solidFill>
                  <a:srgbClr val="0070C0"/>
                </a:solidFill>
                <a:latin typeface="微软雅黑" panose="020B0503020204020204" pitchFamily="34" charset="-122"/>
                <a:ea typeface="微软雅黑" panose="020B0503020204020204" pitchFamily="34" charset="-122"/>
              </a:rPr>
              <a:t>surfaceflinger</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zh-CN" altLang="en-US" sz="1600" b="0" dirty="0">
                <a:latin typeface="微软雅黑" panose="020B0503020204020204" pitchFamily="34" charset="-122"/>
                <a:ea typeface="微软雅黑" panose="020B0503020204020204" pitchFamily="34" charset="-122"/>
              </a:rPr>
              <a:t>通过上面的文件可知，</a:t>
            </a:r>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进程能够重启的时机： </a:t>
            </a:r>
          </a:p>
          <a:p>
            <a:pPr algn="l"/>
            <a:r>
              <a:rPr lang="en-US" altLang="zh-CN" sz="1400" b="0" dirty="0" err="1" smtClean="0">
                <a:solidFill>
                  <a:srgbClr val="0070C0"/>
                </a:solidFill>
                <a:latin typeface="微软雅黑" panose="020B0503020204020204" pitchFamily="34" charset="-122"/>
                <a:ea typeface="微软雅黑" panose="020B0503020204020204" pitchFamily="34" charset="-122"/>
              </a:rPr>
              <a:t>servicemanager</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进程终止（</a:t>
            </a:r>
            <a:r>
              <a:rPr lang="en-US" altLang="zh-CN" sz="1400" b="0" dirty="0" err="1">
                <a:solidFill>
                  <a:srgbClr val="0070C0"/>
                </a:solidFill>
                <a:latin typeface="微软雅黑" panose="020B0503020204020204" pitchFamily="34" charset="-122"/>
                <a:ea typeface="微软雅黑" panose="020B0503020204020204" pitchFamily="34" charset="-122"/>
              </a:rPr>
              <a:t>onrestart</a:t>
            </a:r>
            <a:r>
              <a:rPr lang="zh-CN" altLang="en-US"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err="1">
                <a:solidFill>
                  <a:srgbClr val="0070C0"/>
                </a:solidFill>
                <a:latin typeface="微软雅黑" panose="020B0503020204020204" pitchFamily="34" charset="-122"/>
                <a:ea typeface="微软雅黑" panose="020B0503020204020204" pitchFamily="34" charset="-122"/>
              </a:rPr>
              <a:t>surfaceflinger</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进程终止（</a:t>
            </a:r>
            <a:r>
              <a:rPr lang="en-US" altLang="zh-CN" sz="1400" b="0" dirty="0" err="1">
                <a:solidFill>
                  <a:srgbClr val="0070C0"/>
                </a:solidFill>
                <a:latin typeface="微软雅黑" panose="020B0503020204020204" pitchFamily="34" charset="-122"/>
                <a:ea typeface="微软雅黑" panose="020B0503020204020204" pitchFamily="34" charset="-122"/>
              </a:rPr>
              <a:t>onrestart</a:t>
            </a:r>
            <a:r>
              <a:rPr lang="zh-CN" altLang="en-US"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err="1">
                <a:solidFill>
                  <a:srgbClr val="0070C0"/>
                </a:solidFill>
                <a:latin typeface="微软雅黑" panose="020B0503020204020204" pitchFamily="34" charset="-122"/>
                <a:ea typeface="微软雅黑" panose="020B0503020204020204" pitchFamily="34" charset="-122"/>
              </a:rPr>
              <a:t>netd</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进程终止（</a:t>
            </a:r>
            <a:r>
              <a:rPr lang="en-US" altLang="zh-CN" sz="1400" b="0" dirty="0" err="1">
                <a:solidFill>
                  <a:srgbClr val="0070C0"/>
                </a:solidFill>
                <a:latin typeface="微软雅黑" panose="020B0503020204020204" pitchFamily="34" charset="-122"/>
                <a:ea typeface="微软雅黑" panose="020B0503020204020204" pitchFamily="34" charset="-122"/>
              </a:rPr>
              <a:t>onrestart</a:t>
            </a:r>
            <a:r>
              <a:rPr lang="zh-CN" altLang="en-US"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zygote </a:t>
            </a:r>
            <a:r>
              <a:rPr lang="zh-CN" altLang="en-US" sz="1400" b="0" dirty="0">
                <a:solidFill>
                  <a:srgbClr val="0070C0"/>
                </a:solidFill>
                <a:latin typeface="微软雅黑" panose="020B0503020204020204" pitchFamily="34" charset="-122"/>
                <a:ea typeface="微软雅黑" panose="020B0503020204020204" pitchFamily="34" charset="-122"/>
              </a:rPr>
              <a:t>进程终止</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oneshot</a:t>
            </a:r>
            <a:r>
              <a:rPr lang="en-US" altLang="zh-CN" sz="1400" b="0" dirty="0">
                <a:solidFill>
                  <a:srgbClr val="0070C0"/>
                </a:solidFill>
                <a:latin typeface="微软雅黑" panose="020B0503020204020204" pitchFamily="34" charset="-122"/>
                <a:ea typeface="微软雅黑" panose="020B0503020204020204" pitchFamily="34" charset="-122"/>
              </a:rPr>
              <a:t>=false) </a:t>
            </a:r>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r>
              <a:rPr lang="en-US" altLang="zh-CN" sz="1400" b="0" dirty="0" err="1">
                <a:solidFill>
                  <a:srgbClr val="0070C0"/>
                </a:solidFill>
                <a:latin typeface="微软雅黑" panose="020B0503020204020204" pitchFamily="34" charset="-122"/>
                <a:ea typeface="微软雅黑" panose="020B0503020204020204" pitchFamily="34" charset="-122"/>
              </a:rPr>
              <a:t>system_server</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进程终止（</a:t>
            </a:r>
            <a:r>
              <a:rPr lang="en-US" altLang="zh-CN" sz="1400" b="0" dirty="0" err="1">
                <a:solidFill>
                  <a:srgbClr val="0070C0"/>
                </a:solidFill>
                <a:latin typeface="微软雅黑" panose="020B0503020204020204" pitchFamily="34" charset="-122"/>
                <a:ea typeface="微软雅黑" panose="020B0503020204020204" pitchFamily="34" charset="-122"/>
              </a:rPr>
              <a:t>waitpid</a:t>
            </a:r>
            <a:r>
              <a:rPr lang="zh-CN" altLang="en-US"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zh-CN" altLang="en-US" sz="1400" b="0" dirty="0" smtClean="0">
                <a:solidFill>
                  <a:srgbClr val="0070C0"/>
                </a:solidFill>
                <a:latin typeface="微软雅黑" panose="020B0503020204020204" pitchFamily="34" charset="-122"/>
                <a:ea typeface="微软雅黑" panose="020B0503020204020204" pitchFamily="34" charset="-122"/>
              </a:rPr>
              <a:t>这个不是</a:t>
            </a:r>
            <a:r>
              <a:rPr lang="en-US" altLang="zh-CN" sz="1400" b="0" dirty="0" err="1" smtClean="0">
                <a:solidFill>
                  <a:srgbClr val="0070C0"/>
                </a:solidFill>
                <a:latin typeface="微软雅黑" panose="020B0503020204020204" pitchFamily="34" charset="-122"/>
                <a:ea typeface="微软雅黑" panose="020B0503020204020204" pitchFamily="34" charset="-122"/>
              </a:rPr>
              <a:t>rc</a:t>
            </a:r>
            <a:r>
              <a:rPr lang="zh-CN" altLang="en-US" sz="1400" b="0" dirty="0" smtClean="0">
                <a:solidFill>
                  <a:srgbClr val="0070C0"/>
                </a:solidFill>
                <a:latin typeface="微软雅黑" panose="020B0503020204020204" pitchFamily="34" charset="-122"/>
                <a:ea typeface="微软雅黑" panose="020B0503020204020204" pitchFamily="34" charset="-122"/>
              </a:rPr>
              <a:t>配置的，是</a:t>
            </a:r>
            <a:r>
              <a:rPr lang="en-US" altLang="zh-CN" sz="1400" b="0" dirty="0" smtClean="0">
                <a:solidFill>
                  <a:srgbClr val="0070C0"/>
                </a:solidFill>
                <a:latin typeface="微软雅黑" panose="020B0503020204020204" pitchFamily="34" charset="-122"/>
                <a:ea typeface="微软雅黑" panose="020B0503020204020204" pitchFamily="34" charset="-122"/>
              </a:rPr>
              <a:t>Zygote</a:t>
            </a:r>
            <a:r>
              <a:rPr lang="zh-CN" altLang="en-US" sz="1400" b="0" dirty="0" smtClean="0">
                <a:solidFill>
                  <a:srgbClr val="0070C0"/>
                </a:solidFill>
                <a:latin typeface="微软雅黑" panose="020B0503020204020204" pitchFamily="34" charset="-122"/>
                <a:ea typeface="微软雅黑" panose="020B0503020204020204" pitchFamily="34" charset="-122"/>
              </a:rPr>
              <a:t>程序处理的</a:t>
            </a:r>
            <a:endParaRPr lang="en-US" altLang="zh-CN" sz="1400" b="0" dirty="0" smtClean="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513288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zygote</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1323439"/>
          </a:xfrm>
          <a:prstGeom prst="rect">
            <a:avLst/>
          </a:prstGeom>
          <a:noFill/>
        </p:spPr>
        <p:txBody>
          <a:bodyPr wrap="square" rtlCol="0">
            <a:spAutoFit/>
          </a:bodyPr>
          <a:lstStyle/>
          <a:p>
            <a:pPr algn="l"/>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启动后的工作内容：</a:t>
            </a:r>
          </a:p>
          <a:p>
            <a:pPr algn="l"/>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是所有</a:t>
            </a:r>
            <a:r>
              <a:rPr lang="en-US" altLang="zh-CN" sz="1600" b="0" dirty="0">
                <a:latin typeface="微软雅黑" panose="020B0503020204020204" pitchFamily="34" charset="-122"/>
                <a:ea typeface="微软雅黑" panose="020B0503020204020204" pitchFamily="34" charset="-122"/>
              </a:rPr>
              <a:t>android java</a:t>
            </a:r>
            <a:r>
              <a:rPr lang="zh-CN" altLang="en-US" sz="1600" b="0" dirty="0">
                <a:latin typeface="微软雅黑" panose="020B0503020204020204" pitchFamily="34" charset="-122"/>
                <a:ea typeface="微软雅黑" panose="020B0503020204020204" pitchFamily="34" charset="-122"/>
              </a:rPr>
              <a:t>进程的父进程，是</a:t>
            </a:r>
            <a:r>
              <a:rPr lang="en-US" altLang="zh-CN" sz="1600" b="0" dirty="0">
                <a:latin typeface="微软雅黑" panose="020B0503020204020204" pitchFamily="34" charset="-122"/>
                <a:ea typeface="微软雅黑" panose="020B0503020204020204" pitchFamily="34" charset="-122"/>
              </a:rPr>
              <a:t>java</a:t>
            </a:r>
            <a:r>
              <a:rPr lang="zh-CN" altLang="en-US" sz="1600" b="0" dirty="0">
                <a:latin typeface="微软雅黑" panose="020B0503020204020204" pitchFamily="34" charset="-122"/>
                <a:ea typeface="微软雅黑" panose="020B0503020204020204" pitchFamily="34" charset="-122"/>
              </a:rPr>
              <a:t>世界的入口，调用时序图如下</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971600" y="1484784"/>
            <a:ext cx="6624736" cy="5100601"/>
          </a:xfrm>
          <a:prstGeom prst="rect">
            <a:avLst/>
          </a:prstGeom>
        </p:spPr>
      </p:pic>
    </p:spTree>
    <p:extLst>
      <p:ext uri="{BB962C8B-B14F-4D97-AF65-F5344CB8AC3E}">
        <p14:creationId xmlns:p14="http://schemas.microsoft.com/office/powerpoint/2010/main" val="1513065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zygote</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293757"/>
          </a:xfrm>
          <a:prstGeom prst="rect">
            <a:avLst/>
          </a:prstGeom>
          <a:noFill/>
        </p:spPr>
        <p:txBody>
          <a:bodyPr wrap="square" rtlCol="0">
            <a:spAutoFit/>
          </a:bodyPr>
          <a:lstStyle/>
          <a:p>
            <a:pPr algn="l"/>
            <a:r>
              <a:rPr lang="en-US" altLang="zh-CN" sz="1400" b="0" dirty="0" smtClean="0">
                <a:solidFill>
                  <a:srgbClr val="0070C0"/>
                </a:solidFill>
                <a:latin typeface="微软雅黑" panose="020B0503020204020204" pitchFamily="34" charset="-122"/>
                <a:ea typeface="微软雅黑" panose="020B0503020204020204" pitchFamily="34" charset="-122"/>
                <a:sym typeface="Wingdings 2" panose="05020102010507070707" pitchFamily="18" charset="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startVM</a:t>
            </a:r>
            <a:r>
              <a:rPr lang="en-US" altLang="zh-CN" sz="1400" b="0" dirty="0">
                <a:solidFill>
                  <a:srgbClr val="0070C0"/>
                </a:solidFill>
                <a:latin typeface="微软雅黑" panose="020B0503020204020204" pitchFamily="34" charset="-122"/>
                <a:ea typeface="微软雅黑" panose="020B0503020204020204" pitchFamily="34" charset="-122"/>
              </a:rPr>
              <a:t>()</a:t>
            </a:r>
            <a:r>
              <a:rPr lang="zh-CN" altLang="en-US" sz="1400" b="0" dirty="0">
                <a:solidFill>
                  <a:srgbClr val="0070C0"/>
                </a:solidFill>
                <a:latin typeface="微软雅黑" panose="020B0503020204020204" pitchFamily="34" charset="-122"/>
                <a:ea typeface="微软雅黑" panose="020B0503020204020204" pitchFamily="34" charset="-122"/>
              </a:rPr>
              <a:t>：该函数中主要是初始化 </a:t>
            </a:r>
            <a:r>
              <a:rPr lang="en-US" altLang="zh-CN" sz="1400" b="0" dirty="0">
                <a:solidFill>
                  <a:srgbClr val="0070C0"/>
                </a:solidFill>
                <a:latin typeface="微软雅黑" panose="020B0503020204020204" pitchFamily="34" charset="-122"/>
                <a:ea typeface="微软雅黑" panose="020B0503020204020204" pitchFamily="34" charset="-122"/>
              </a:rPr>
              <a:t>VM </a:t>
            </a:r>
            <a:r>
              <a:rPr lang="zh-CN" altLang="en-US" sz="1400" b="0" dirty="0">
                <a:solidFill>
                  <a:srgbClr val="0070C0"/>
                </a:solidFill>
                <a:latin typeface="微软雅黑" panose="020B0503020204020204" pitchFamily="34" charset="-122"/>
                <a:ea typeface="微软雅黑" panose="020B0503020204020204" pitchFamily="34" charset="-122"/>
              </a:rPr>
              <a:t>的参数。需要重点关注其中 </a:t>
            </a:r>
            <a:r>
              <a:rPr lang="en-US" altLang="zh-CN" sz="1400" b="0" dirty="0" err="1">
                <a:solidFill>
                  <a:srgbClr val="0070C0"/>
                </a:solidFill>
                <a:latin typeface="微软雅黑" panose="020B0503020204020204" pitchFamily="34" charset="-122"/>
                <a:ea typeface="微软雅黑" panose="020B0503020204020204" pitchFamily="34" charset="-122"/>
              </a:rPr>
              <a:t>dalvik</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heapsize</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的初始化，如果没</a:t>
            </a:r>
          </a:p>
          <a:p>
            <a:pPr algn="l"/>
            <a:r>
              <a:rPr lang="zh-CN" altLang="en-US" sz="1400" b="0" dirty="0">
                <a:solidFill>
                  <a:srgbClr val="0070C0"/>
                </a:solidFill>
                <a:latin typeface="微软雅黑" panose="020B0503020204020204" pitchFamily="34" charset="-122"/>
                <a:ea typeface="微软雅黑" panose="020B0503020204020204" pitchFamily="34" charset="-122"/>
              </a:rPr>
              <a:t>有配置正确的参数或者使用默认的参数很有可能导致手机无法进入 </a:t>
            </a:r>
            <a:r>
              <a:rPr lang="en-US" altLang="zh-CN" sz="1400" b="0" dirty="0">
                <a:solidFill>
                  <a:srgbClr val="0070C0"/>
                </a:solidFill>
                <a:latin typeface="微软雅黑" panose="020B0503020204020204" pitchFamily="34" charset="-122"/>
                <a:ea typeface="微软雅黑" panose="020B0503020204020204" pitchFamily="34" charset="-122"/>
              </a:rPr>
              <a:t>Launcher</a:t>
            </a:r>
            <a:r>
              <a:rPr lang="zh-CN" altLang="en-US" sz="1400" b="0" dirty="0">
                <a:solidFill>
                  <a:srgbClr val="0070C0"/>
                </a:solidFill>
                <a:latin typeface="微软雅黑" panose="020B0503020204020204" pitchFamily="34" charset="-122"/>
                <a:ea typeface="微软雅黑" panose="020B0503020204020204" pitchFamily="34" charset="-122"/>
              </a:rPr>
              <a:t>。因为目前 </a:t>
            </a:r>
            <a:r>
              <a:rPr lang="en-US" altLang="zh-CN" sz="1400" b="0" dirty="0">
                <a:solidFill>
                  <a:srgbClr val="0070C0"/>
                </a:solidFill>
                <a:latin typeface="微软雅黑" panose="020B0503020204020204" pitchFamily="34" charset="-122"/>
                <a:ea typeface="微软雅黑" panose="020B0503020204020204" pitchFamily="34" charset="-122"/>
              </a:rPr>
              <a:t>APP </a:t>
            </a:r>
            <a:r>
              <a:rPr lang="zh-CN" altLang="en-US" sz="1400" b="0" dirty="0">
                <a:solidFill>
                  <a:srgbClr val="0070C0"/>
                </a:solidFill>
                <a:latin typeface="微软雅黑" panose="020B0503020204020204" pitchFamily="34" charset="-122"/>
                <a:ea typeface="微软雅黑" panose="020B0503020204020204" pitchFamily="34" charset="-122"/>
              </a:rPr>
              <a:t>占用的</a:t>
            </a:r>
          </a:p>
          <a:p>
            <a:pPr algn="l"/>
            <a:r>
              <a:rPr lang="en-US" altLang="zh-CN" sz="1400" b="0" dirty="0" err="1">
                <a:solidFill>
                  <a:srgbClr val="0070C0"/>
                </a:solidFill>
                <a:latin typeface="微软雅黑" panose="020B0503020204020204" pitchFamily="34" charset="-122"/>
                <a:ea typeface="微软雅黑" panose="020B0503020204020204" pitchFamily="34" charset="-122"/>
              </a:rPr>
              <a:t>heapsize</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都比较大，使用默认参数很容易出现内存不足，导致应用不断重启</a:t>
            </a:r>
            <a:r>
              <a:rPr lang="zh-CN" altLang="en-US" sz="1400" b="0" dirty="0" smtClean="0">
                <a:solidFill>
                  <a:srgbClr val="0070C0"/>
                </a:solidFill>
                <a:latin typeface="微软雅黑" panose="020B0503020204020204" pitchFamily="34" charset="-122"/>
                <a:ea typeface="微软雅黑" panose="020B0503020204020204" pitchFamily="34" charset="-122"/>
              </a:rPr>
              <a:t>。</a:t>
            </a:r>
            <a:endParaRPr lang="zh-CN" altLang="en-US"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sym typeface="Wingdings 2" panose="05020102010507070707" pitchFamily="18" charset="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startReg</a:t>
            </a:r>
            <a:r>
              <a:rPr lang="en-US" altLang="zh-CN" sz="1400" b="0" dirty="0">
                <a:solidFill>
                  <a:srgbClr val="0070C0"/>
                </a:solidFill>
                <a:latin typeface="微软雅黑" panose="020B0503020204020204" pitchFamily="34" charset="-122"/>
                <a:ea typeface="微软雅黑" panose="020B0503020204020204" pitchFamily="34" charset="-122"/>
              </a:rPr>
              <a:t>()</a:t>
            </a:r>
            <a:r>
              <a:rPr lang="zh-CN" altLang="en-US" sz="1400" b="0" dirty="0">
                <a:solidFill>
                  <a:srgbClr val="0070C0"/>
                </a:solidFill>
                <a:latin typeface="微软雅黑" panose="020B0503020204020204" pitchFamily="34" charset="-122"/>
                <a:ea typeface="微软雅黑" panose="020B0503020204020204" pitchFamily="34" charset="-122"/>
              </a:rPr>
              <a:t>：注册 </a:t>
            </a:r>
            <a:r>
              <a:rPr lang="en-US" altLang="zh-CN" sz="1400" b="0" dirty="0">
                <a:solidFill>
                  <a:srgbClr val="0070C0"/>
                </a:solidFill>
                <a:latin typeface="微软雅黑" panose="020B0503020204020204" pitchFamily="34" charset="-122"/>
                <a:ea typeface="微软雅黑" panose="020B0503020204020204" pitchFamily="34" charset="-122"/>
              </a:rPr>
              <a:t>JNI </a:t>
            </a:r>
            <a:r>
              <a:rPr lang="zh-CN" altLang="en-US" sz="1400" b="0" dirty="0">
                <a:solidFill>
                  <a:srgbClr val="0070C0"/>
                </a:solidFill>
                <a:latin typeface="微软雅黑" panose="020B0503020204020204" pitchFamily="34" charset="-122"/>
                <a:ea typeface="微软雅黑" panose="020B0503020204020204" pitchFamily="34" charset="-122"/>
              </a:rPr>
              <a:t>函数，遍历 </a:t>
            </a:r>
            <a:r>
              <a:rPr lang="en-US" altLang="zh-CN" sz="1400" b="0" dirty="0" err="1">
                <a:solidFill>
                  <a:srgbClr val="0070C0"/>
                </a:solidFill>
                <a:latin typeface="微软雅黑" panose="020B0503020204020204" pitchFamily="34" charset="-122"/>
                <a:ea typeface="微软雅黑" panose="020B0503020204020204" pitchFamily="34" charset="-122"/>
              </a:rPr>
              <a:t>gRegJNI</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数组中 </a:t>
            </a:r>
            <a:r>
              <a:rPr lang="en-US" altLang="zh-CN" sz="1400" b="0" dirty="0">
                <a:solidFill>
                  <a:srgbClr val="0070C0"/>
                </a:solidFill>
                <a:latin typeface="微软雅黑" panose="020B0503020204020204" pitchFamily="34" charset="-122"/>
                <a:ea typeface="微软雅黑" panose="020B0503020204020204" pitchFamily="34" charset="-122"/>
              </a:rPr>
              <a:t>JNI register </a:t>
            </a:r>
            <a:r>
              <a:rPr lang="zh-CN" altLang="en-US" sz="1400" b="0" dirty="0">
                <a:solidFill>
                  <a:srgbClr val="0070C0"/>
                </a:solidFill>
                <a:latin typeface="微软雅黑" panose="020B0503020204020204" pitchFamily="34" charset="-122"/>
                <a:ea typeface="微软雅黑" panose="020B0503020204020204" pitchFamily="34" charset="-122"/>
              </a:rPr>
              <a:t>方法注册 </a:t>
            </a:r>
            <a:r>
              <a:rPr lang="en-US" altLang="zh-CN" sz="1400" b="0" dirty="0">
                <a:solidFill>
                  <a:srgbClr val="0070C0"/>
                </a:solidFill>
                <a:latin typeface="微软雅黑" panose="020B0503020204020204" pitchFamily="34" charset="-122"/>
                <a:ea typeface="微软雅黑" panose="020B0503020204020204" pitchFamily="34" charset="-122"/>
              </a:rPr>
              <a:t>JNI method</a:t>
            </a:r>
            <a:r>
              <a:rPr lang="zh-CN" altLang="en-US" sz="1400" b="0" dirty="0">
                <a:solidFill>
                  <a:srgbClr val="0070C0"/>
                </a:solidFill>
                <a:latin typeface="微软雅黑" panose="020B0503020204020204" pitchFamily="34" charset="-122"/>
                <a:ea typeface="微软雅黑" panose="020B0503020204020204" pitchFamily="34" charset="-122"/>
              </a:rPr>
              <a:t>。注册 </a:t>
            </a:r>
            <a:r>
              <a:rPr lang="en-US" altLang="zh-CN" sz="1400" b="0" dirty="0">
                <a:solidFill>
                  <a:srgbClr val="0070C0"/>
                </a:solidFill>
                <a:latin typeface="微软雅黑" panose="020B0503020204020204" pitchFamily="34" charset="-122"/>
                <a:ea typeface="微软雅黑" panose="020B0503020204020204" pitchFamily="34" charset="-122"/>
              </a:rPr>
              <a:t>JNI </a:t>
            </a:r>
            <a:r>
              <a:rPr lang="zh-CN" altLang="en-US" sz="1400" b="0" dirty="0">
                <a:solidFill>
                  <a:srgbClr val="0070C0"/>
                </a:solidFill>
                <a:latin typeface="微软雅黑" panose="020B0503020204020204" pitchFamily="34" charset="-122"/>
                <a:ea typeface="微软雅黑" panose="020B0503020204020204" pitchFamily="34" charset="-122"/>
              </a:rPr>
              <a:t>后，会</a:t>
            </a:r>
          </a:p>
          <a:p>
            <a:pPr algn="l"/>
            <a:r>
              <a:rPr lang="zh-CN" altLang="en-US" sz="1400" b="0" dirty="0">
                <a:solidFill>
                  <a:srgbClr val="0070C0"/>
                </a:solidFill>
                <a:latin typeface="微软雅黑" panose="020B0503020204020204" pitchFamily="34" charset="-122"/>
                <a:ea typeface="微软雅黑" panose="020B0503020204020204" pitchFamily="34" charset="-122"/>
              </a:rPr>
              <a:t>通过 </a:t>
            </a:r>
            <a:r>
              <a:rPr lang="en-US" altLang="zh-CN" sz="1400" b="0" dirty="0">
                <a:solidFill>
                  <a:srgbClr val="0070C0"/>
                </a:solidFill>
                <a:latin typeface="微软雅黑" panose="020B0503020204020204" pitchFamily="34" charset="-122"/>
                <a:ea typeface="微软雅黑" panose="020B0503020204020204" pitchFamily="34" charset="-122"/>
              </a:rPr>
              <a:t>JNI </a:t>
            </a:r>
            <a:r>
              <a:rPr lang="zh-CN" altLang="en-US" sz="1400" b="0" dirty="0">
                <a:solidFill>
                  <a:srgbClr val="0070C0"/>
                </a:solidFill>
                <a:latin typeface="微软雅黑" panose="020B0503020204020204" pitchFamily="34" charset="-122"/>
                <a:ea typeface="微软雅黑" panose="020B0503020204020204" pitchFamily="34" charset="-122"/>
              </a:rPr>
              <a:t>调用 </a:t>
            </a:r>
            <a:r>
              <a:rPr lang="en-US" altLang="zh-CN" sz="1400" b="0" dirty="0">
                <a:solidFill>
                  <a:srgbClr val="0070C0"/>
                </a:solidFill>
                <a:latin typeface="微软雅黑" panose="020B0503020204020204" pitchFamily="34" charset="-122"/>
                <a:ea typeface="微软雅黑" panose="020B0503020204020204" pitchFamily="34" charset="-122"/>
              </a:rPr>
              <a:t>java class</a:t>
            </a:r>
            <a:r>
              <a:rPr lang="zh-CN" altLang="en-US"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zygoteInit</a:t>
            </a:r>
            <a:r>
              <a:rPr lang="zh-CN" altLang="en-US" sz="1400" b="0" dirty="0">
                <a:solidFill>
                  <a:srgbClr val="0070C0"/>
                </a:solidFill>
                <a:latin typeface="微软雅黑" panose="020B0503020204020204" pitchFamily="34" charset="-122"/>
                <a:ea typeface="微软雅黑" panose="020B0503020204020204" pitchFamily="34" charset="-122"/>
              </a:rPr>
              <a:t>）的 </a:t>
            </a:r>
            <a:r>
              <a:rPr lang="en-US" altLang="zh-CN" sz="1400" b="0" dirty="0">
                <a:solidFill>
                  <a:srgbClr val="0070C0"/>
                </a:solidFill>
                <a:latin typeface="微软雅黑" panose="020B0503020204020204" pitchFamily="34" charset="-122"/>
                <a:ea typeface="微软雅黑" panose="020B0503020204020204" pitchFamily="34" charset="-122"/>
              </a:rPr>
              <a:t>main </a:t>
            </a:r>
            <a:r>
              <a:rPr lang="zh-CN" altLang="en-US" sz="1400" b="0" dirty="0">
                <a:solidFill>
                  <a:srgbClr val="0070C0"/>
                </a:solidFill>
                <a:latin typeface="微软雅黑" panose="020B0503020204020204" pitchFamily="34" charset="-122"/>
                <a:ea typeface="微软雅黑" panose="020B0503020204020204" pitchFamily="34" charset="-122"/>
              </a:rPr>
              <a:t>函数进入 </a:t>
            </a:r>
            <a:r>
              <a:rPr lang="en-US" altLang="zh-CN" sz="1400" b="0" dirty="0">
                <a:solidFill>
                  <a:srgbClr val="0070C0"/>
                </a:solidFill>
                <a:latin typeface="微软雅黑" panose="020B0503020204020204" pitchFamily="34" charset="-122"/>
                <a:ea typeface="微软雅黑" panose="020B0503020204020204" pitchFamily="34" charset="-122"/>
              </a:rPr>
              <a:t>java </a:t>
            </a:r>
            <a:r>
              <a:rPr lang="zh-CN" altLang="en-US" sz="1400" b="0" dirty="0">
                <a:solidFill>
                  <a:srgbClr val="0070C0"/>
                </a:solidFill>
                <a:latin typeface="微软雅黑" panose="020B0503020204020204" pitchFamily="34" charset="-122"/>
                <a:ea typeface="微软雅黑" panose="020B0503020204020204" pitchFamily="34" charset="-122"/>
              </a:rPr>
              <a:t>世界</a:t>
            </a:r>
            <a:r>
              <a:rPr lang="zh-CN" altLang="en-US" sz="1400" b="0" dirty="0" smtClean="0">
                <a:solidFill>
                  <a:srgbClr val="0070C0"/>
                </a:solidFill>
                <a:latin typeface="微软雅黑" panose="020B0503020204020204" pitchFamily="34" charset="-122"/>
                <a:ea typeface="微软雅黑" panose="020B0503020204020204" pitchFamily="34" charset="-122"/>
              </a:rPr>
              <a:t>。</a:t>
            </a:r>
            <a:endParaRPr lang="zh-CN" altLang="en-US"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sym typeface="Wingdings 2" panose="05020102010507070707" pitchFamily="18" charset="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registerServerSocket</a:t>
            </a:r>
            <a:r>
              <a:rPr lang="en-US" altLang="zh-CN" sz="1400" b="0" dirty="0">
                <a:solidFill>
                  <a:srgbClr val="0070C0"/>
                </a:solidFill>
                <a:latin typeface="微软雅黑" panose="020B0503020204020204" pitchFamily="34" charset="-122"/>
                <a:ea typeface="微软雅黑" panose="020B0503020204020204" pitchFamily="34" charset="-122"/>
              </a:rPr>
              <a:t>()</a:t>
            </a:r>
            <a:r>
              <a:rPr lang="zh-CN" altLang="en-US" sz="1400" b="0" dirty="0">
                <a:solidFill>
                  <a:srgbClr val="0070C0"/>
                </a:solidFill>
                <a:latin typeface="微软雅黑" panose="020B0503020204020204" pitchFamily="34" charset="-122"/>
                <a:ea typeface="微软雅黑" panose="020B0503020204020204" pitchFamily="34" charset="-122"/>
              </a:rPr>
              <a:t>：通过获取环境变量值得到 </a:t>
            </a:r>
            <a:r>
              <a:rPr lang="en-US" altLang="zh-CN" sz="1400" b="0" dirty="0">
                <a:solidFill>
                  <a:srgbClr val="0070C0"/>
                </a:solidFill>
                <a:latin typeface="微软雅黑" panose="020B0503020204020204" pitchFamily="34" charset="-122"/>
                <a:ea typeface="微软雅黑" panose="020B0503020204020204" pitchFamily="34" charset="-122"/>
              </a:rPr>
              <a:t>Zygote </a:t>
            </a:r>
            <a:r>
              <a:rPr lang="zh-CN" altLang="en-US" sz="1400" b="0" dirty="0">
                <a:solidFill>
                  <a:srgbClr val="0070C0"/>
                </a:solidFill>
                <a:latin typeface="微软雅黑" panose="020B0503020204020204" pitchFamily="34" charset="-122"/>
                <a:ea typeface="微软雅黑" panose="020B0503020204020204" pitchFamily="34" charset="-122"/>
              </a:rPr>
              <a:t>文件描述符，根据该文件描述符创建</a:t>
            </a:r>
          </a:p>
          <a:p>
            <a:pPr algn="l"/>
            <a:r>
              <a:rPr lang="en-US" altLang="zh-CN" sz="1400" b="0" dirty="0">
                <a:solidFill>
                  <a:srgbClr val="0070C0"/>
                </a:solidFill>
                <a:latin typeface="微软雅黑" panose="020B0503020204020204" pitchFamily="34" charset="-122"/>
                <a:ea typeface="微软雅黑" panose="020B0503020204020204" pitchFamily="34" charset="-122"/>
              </a:rPr>
              <a:t>socket</a:t>
            </a:r>
            <a:r>
              <a:rPr lang="zh-CN" altLang="en-US" sz="1400" b="0" dirty="0">
                <a:solidFill>
                  <a:srgbClr val="0070C0"/>
                </a:solidFill>
                <a:latin typeface="微软雅黑" panose="020B0503020204020204" pitchFamily="34" charset="-122"/>
                <a:ea typeface="微软雅黑" panose="020B0503020204020204" pitchFamily="34" charset="-122"/>
              </a:rPr>
              <a:t>，用来和 </a:t>
            </a:r>
            <a:r>
              <a:rPr lang="en-US" altLang="zh-CN" sz="1400" b="0" dirty="0" err="1">
                <a:solidFill>
                  <a:srgbClr val="0070C0"/>
                </a:solidFill>
                <a:latin typeface="微软雅黑" panose="020B0503020204020204" pitchFamily="34" charset="-122"/>
                <a:ea typeface="微软雅黑" panose="020B0503020204020204" pitchFamily="34" charset="-122"/>
              </a:rPr>
              <a:t>ActivityManagerService</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通信。</a:t>
            </a:r>
            <a:r>
              <a:rPr lang="en-US" altLang="zh-CN" sz="1400" b="0" dirty="0">
                <a:solidFill>
                  <a:srgbClr val="0070C0"/>
                </a:solidFill>
                <a:latin typeface="微软雅黑" panose="020B0503020204020204" pitchFamily="34" charset="-122"/>
                <a:ea typeface="微软雅黑" panose="020B0503020204020204" pitchFamily="34" charset="-122"/>
              </a:rPr>
              <a:t>AMS </a:t>
            </a:r>
            <a:r>
              <a:rPr lang="zh-CN" altLang="en-US" sz="1400" b="0" dirty="0">
                <a:solidFill>
                  <a:srgbClr val="0070C0"/>
                </a:solidFill>
                <a:latin typeface="微软雅黑" panose="020B0503020204020204" pitchFamily="34" charset="-122"/>
                <a:ea typeface="微软雅黑" panose="020B0503020204020204" pitchFamily="34" charset="-122"/>
              </a:rPr>
              <a:t>通过 </a:t>
            </a:r>
            <a:r>
              <a:rPr lang="en-US" altLang="zh-CN" sz="1400" b="0" dirty="0" err="1">
                <a:solidFill>
                  <a:srgbClr val="0070C0"/>
                </a:solidFill>
                <a:latin typeface="微软雅黑" panose="020B0503020204020204" pitchFamily="34" charset="-122"/>
                <a:ea typeface="微软雅黑" panose="020B0503020204020204" pitchFamily="34" charset="-122"/>
              </a:rPr>
              <a:t>Process.start</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来创建新的进程，而</a:t>
            </a:r>
          </a:p>
          <a:p>
            <a:pPr algn="l"/>
            <a:r>
              <a:rPr lang="en-US" altLang="zh-CN" sz="1400" b="0" dirty="0" err="1" smtClean="0">
                <a:solidFill>
                  <a:srgbClr val="0070C0"/>
                </a:solidFill>
                <a:latin typeface="微软雅黑" panose="020B0503020204020204" pitchFamily="34" charset="-122"/>
                <a:ea typeface="微软雅黑" panose="020B0503020204020204" pitchFamily="34" charset="-122"/>
              </a:rPr>
              <a:t>Process.start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zh-CN" altLang="en-US" sz="1400" b="0" dirty="0" smtClean="0">
                <a:solidFill>
                  <a:srgbClr val="0070C0"/>
                </a:solidFill>
                <a:latin typeface="微软雅黑" panose="020B0503020204020204" pitchFamily="34" charset="-122"/>
                <a:ea typeface="微软雅黑" panose="020B0503020204020204" pitchFamily="34" charset="-122"/>
              </a:rPr>
              <a:t>会</a:t>
            </a:r>
            <a:r>
              <a:rPr lang="zh-CN" altLang="en-US" sz="1400" b="0" dirty="0">
                <a:solidFill>
                  <a:srgbClr val="0070C0"/>
                </a:solidFill>
                <a:latin typeface="微软雅黑" panose="020B0503020204020204" pitchFamily="34" charset="-122"/>
                <a:ea typeface="微软雅黑" panose="020B0503020204020204" pitchFamily="34" charset="-122"/>
              </a:rPr>
              <a:t>先通过 </a:t>
            </a:r>
            <a:r>
              <a:rPr lang="en-US" altLang="zh-CN" sz="1400" b="0" dirty="0">
                <a:solidFill>
                  <a:srgbClr val="0070C0"/>
                </a:solidFill>
                <a:latin typeface="微软雅黑" panose="020B0503020204020204" pitchFamily="34" charset="-122"/>
                <a:ea typeface="微软雅黑" panose="020B0503020204020204" pitchFamily="34" charset="-122"/>
              </a:rPr>
              <a:t>socket </a:t>
            </a:r>
            <a:r>
              <a:rPr lang="zh-CN" altLang="en-US" sz="1400" b="0" dirty="0">
                <a:solidFill>
                  <a:srgbClr val="0070C0"/>
                </a:solidFill>
                <a:latin typeface="微软雅黑" panose="020B0503020204020204" pitchFamily="34" charset="-122"/>
                <a:ea typeface="微软雅黑" panose="020B0503020204020204" pitchFamily="34" charset="-122"/>
              </a:rPr>
              <a:t>连接到 </a:t>
            </a:r>
            <a:r>
              <a:rPr lang="en-US" altLang="zh-CN" sz="1400" b="0" dirty="0">
                <a:solidFill>
                  <a:srgbClr val="0070C0"/>
                </a:solidFill>
                <a:latin typeface="微软雅黑" panose="020B0503020204020204" pitchFamily="34" charset="-122"/>
                <a:ea typeface="微软雅黑" panose="020B0503020204020204" pitchFamily="34" charset="-122"/>
              </a:rPr>
              <a:t>Zygote </a:t>
            </a:r>
            <a:r>
              <a:rPr lang="zh-CN" altLang="en-US" sz="1400" b="0" dirty="0">
                <a:solidFill>
                  <a:srgbClr val="0070C0"/>
                </a:solidFill>
                <a:latin typeface="微软雅黑" panose="020B0503020204020204" pitchFamily="34" charset="-122"/>
                <a:ea typeface="微软雅黑" panose="020B0503020204020204" pitchFamily="34" charset="-122"/>
              </a:rPr>
              <a:t>进程，并最终由 </a:t>
            </a:r>
            <a:r>
              <a:rPr lang="en-US" altLang="zh-CN" sz="1400" b="0" dirty="0">
                <a:solidFill>
                  <a:srgbClr val="0070C0"/>
                </a:solidFill>
                <a:latin typeface="微软雅黑" panose="020B0503020204020204" pitchFamily="34" charset="-122"/>
                <a:ea typeface="微软雅黑" panose="020B0503020204020204" pitchFamily="34" charset="-122"/>
              </a:rPr>
              <a:t>Zygote </a:t>
            </a:r>
            <a:r>
              <a:rPr lang="zh-CN" altLang="en-US" sz="1400" b="0" dirty="0">
                <a:solidFill>
                  <a:srgbClr val="0070C0"/>
                </a:solidFill>
                <a:latin typeface="微软雅黑" panose="020B0503020204020204" pitchFamily="34" charset="-122"/>
                <a:ea typeface="微软雅黑" panose="020B0503020204020204" pitchFamily="34" charset="-122"/>
              </a:rPr>
              <a:t>完成进程创建</a:t>
            </a:r>
            <a:r>
              <a:rPr lang="zh-CN" altLang="en-US" sz="1400" b="0" dirty="0" smtClean="0">
                <a:solidFill>
                  <a:srgbClr val="0070C0"/>
                </a:solidFill>
                <a:latin typeface="微软雅黑" panose="020B0503020204020204" pitchFamily="34" charset="-122"/>
                <a:ea typeface="微软雅黑" panose="020B0503020204020204" pitchFamily="34" charset="-122"/>
              </a:rPr>
              <a:t>。</a:t>
            </a:r>
            <a:endParaRPr lang="zh-CN" altLang="en-US"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a:solidFill>
                  <a:srgbClr val="0070C0"/>
                </a:solidFill>
                <a:latin typeface="微软雅黑" panose="020B0503020204020204" pitchFamily="34" charset="-122"/>
                <a:ea typeface="微软雅黑" panose="020B0503020204020204" pitchFamily="34" charset="-122"/>
                <a:sym typeface="Wingdings 2" panose="05020102010507070707" pitchFamily="18" charset="2"/>
              </a:rPr>
              <a:t> </a:t>
            </a:r>
            <a:r>
              <a:rPr lang="en-US" altLang="zh-CN" sz="1400" b="0" dirty="0" smtClean="0">
                <a:solidFill>
                  <a:srgbClr val="0070C0"/>
                </a:solidFill>
                <a:latin typeface="微软雅黑" panose="020B0503020204020204" pitchFamily="34" charset="-122"/>
                <a:ea typeface="微软雅黑" panose="020B0503020204020204" pitchFamily="34" charset="-122"/>
              </a:rPr>
              <a:t>Preload</a:t>
            </a:r>
            <a:r>
              <a:rPr lang="en-US" altLang="zh-CN" sz="1400" b="0" dirty="0">
                <a:solidFill>
                  <a:srgbClr val="0070C0"/>
                </a:solidFill>
                <a:latin typeface="微软雅黑" panose="020B0503020204020204" pitchFamily="34" charset="-122"/>
                <a:ea typeface="微软雅黑" panose="020B0503020204020204" pitchFamily="34" charset="-122"/>
              </a:rPr>
              <a:t>()</a:t>
            </a:r>
            <a:r>
              <a:rPr lang="zh-CN" altLang="en-US" sz="1400" b="0" dirty="0">
                <a:solidFill>
                  <a:srgbClr val="0070C0"/>
                </a:solidFill>
                <a:latin typeface="微软雅黑" panose="020B0503020204020204" pitchFamily="34" charset="-122"/>
                <a:ea typeface="微软雅黑" panose="020B0503020204020204" pitchFamily="34" charset="-122"/>
              </a:rPr>
              <a:t>：预加载类和资源，</a:t>
            </a:r>
            <a:r>
              <a:rPr lang="en-US" altLang="zh-CN" sz="1400" b="0" dirty="0">
                <a:solidFill>
                  <a:srgbClr val="0070C0"/>
                </a:solidFill>
                <a:latin typeface="微软雅黑" panose="020B0503020204020204" pitchFamily="34" charset="-122"/>
                <a:ea typeface="微软雅黑" panose="020B0503020204020204" pitchFamily="34" charset="-122"/>
              </a:rPr>
              <a:t>Zygote </a:t>
            </a:r>
            <a:r>
              <a:rPr lang="zh-CN" altLang="en-US" sz="1400" b="0" dirty="0">
                <a:solidFill>
                  <a:srgbClr val="0070C0"/>
                </a:solidFill>
                <a:latin typeface="微软雅黑" panose="020B0503020204020204" pitchFamily="34" charset="-122"/>
                <a:ea typeface="微软雅黑" panose="020B0503020204020204" pitchFamily="34" charset="-122"/>
              </a:rPr>
              <a:t>通过预加载类和资源可以加快子进程的执行速度和优化内存。因</a:t>
            </a:r>
          </a:p>
          <a:p>
            <a:pPr algn="l"/>
            <a:r>
              <a:rPr lang="zh-CN" altLang="en-US" sz="1400" b="0" dirty="0">
                <a:solidFill>
                  <a:srgbClr val="0070C0"/>
                </a:solidFill>
                <a:latin typeface="微软雅黑" panose="020B0503020204020204" pitchFamily="34" charset="-122"/>
                <a:ea typeface="微软雅黑" panose="020B0503020204020204" pitchFamily="34" charset="-122"/>
              </a:rPr>
              <a:t>为预加载的类和资源较多，在开机优化过程中也需要重点关注 </a:t>
            </a:r>
            <a:r>
              <a:rPr lang="en-US" altLang="zh-CN" sz="1400" b="0" dirty="0">
                <a:solidFill>
                  <a:srgbClr val="0070C0"/>
                </a:solidFill>
                <a:latin typeface="微软雅黑" panose="020B0503020204020204" pitchFamily="34" charset="-122"/>
                <a:ea typeface="微软雅黑" panose="020B0503020204020204" pitchFamily="34" charset="-122"/>
              </a:rPr>
              <a:t>preload </a:t>
            </a:r>
            <a:r>
              <a:rPr lang="zh-CN" altLang="en-US" sz="1400" b="0" dirty="0">
                <a:solidFill>
                  <a:srgbClr val="0070C0"/>
                </a:solidFill>
                <a:latin typeface="微软雅黑" panose="020B0503020204020204" pitchFamily="34" charset="-122"/>
                <a:ea typeface="微软雅黑" panose="020B0503020204020204" pitchFamily="34" charset="-122"/>
              </a:rPr>
              <a:t>的</a:t>
            </a:r>
            <a:r>
              <a:rPr lang="zh-CN" altLang="en-US" sz="1400" b="0" dirty="0" smtClean="0">
                <a:solidFill>
                  <a:srgbClr val="0070C0"/>
                </a:solidFill>
                <a:latin typeface="微软雅黑" panose="020B0503020204020204" pitchFamily="34" charset="-122"/>
                <a:ea typeface="微软雅黑" panose="020B0503020204020204" pitchFamily="34" charset="-122"/>
              </a:rPr>
              <a:t>耗时。</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Class </a:t>
            </a:r>
            <a:r>
              <a:rPr lang="zh-CN" altLang="en-US" sz="1400" b="0" dirty="0">
                <a:solidFill>
                  <a:srgbClr val="0070C0"/>
                </a:solidFill>
                <a:latin typeface="微软雅黑" panose="020B0503020204020204" pitchFamily="34" charset="-122"/>
                <a:ea typeface="微软雅黑" panose="020B0503020204020204" pitchFamily="34" charset="-122"/>
              </a:rPr>
              <a:t>预加载文件路径：</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smtClean="0">
                <a:solidFill>
                  <a:srgbClr val="0070C0"/>
                </a:solidFill>
                <a:latin typeface="微软雅黑" panose="020B0503020204020204" pitchFamily="34" charset="-122"/>
                <a:ea typeface="微软雅黑" panose="020B0503020204020204" pitchFamily="34" charset="-122"/>
              </a:rPr>
              <a:t>system/</a:t>
            </a:r>
            <a:r>
              <a:rPr lang="en-US" altLang="zh-CN" sz="1400" b="0" dirty="0" err="1" smtClean="0">
                <a:solidFill>
                  <a:srgbClr val="0070C0"/>
                </a:solidFill>
                <a:latin typeface="微软雅黑" panose="020B0503020204020204" pitchFamily="34" charset="-122"/>
                <a:ea typeface="微软雅黑" panose="020B0503020204020204" pitchFamily="34" charset="-122"/>
              </a:rPr>
              <a:t>etc</a:t>
            </a:r>
            <a:r>
              <a:rPr lang="en-US" altLang="zh-CN" sz="1400" b="0" dirty="0" smtClean="0">
                <a:solidFill>
                  <a:srgbClr val="0070C0"/>
                </a:solidFill>
                <a:latin typeface="微软雅黑" panose="020B0503020204020204" pitchFamily="34" charset="-122"/>
                <a:ea typeface="微软雅黑" panose="020B0503020204020204" pitchFamily="34" charset="-122"/>
              </a:rPr>
              <a:t>/preloaded-classes</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resource </a:t>
            </a:r>
            <a:r>
              <a:rPr lang="zh-CN" altLang="en-US" sz="1400" b="0" dirty="0">
                <a:solidFill>
                  <a:srgbClr val="0070C0"/>
                </a:solidFill>
                <a:latin typeface="微软雅黑" panose="020B0503020204020204" pitchFamily="34" charset="-122"/>
                <a:ea typeface="微软雅黑" panose="020B0503020204020204" pitchFamily="34" charset="-122"/>
              </a:rPr>
              <a:t>预加载文件路径：</a:t>
            </a:r>
            <a:r>
              <a:rPr lang="en-US" altLang="zh-CN" sz="1400" b="0" dirty="0" smtClean="0">
                <a:solidFill>
                  <a:srgbClr val="0070C0"/>
                </a:solidFill>
                <a:latin typeface="微软雅黑" panose="020B0503020204020204" pitchFamily="34" charset="-122"/>
                <a:ea typeface="微软雅黑" panose="020B0503020204020204" pitchFamily="34" charset="-122"/>
              </a:rPr>
              <a:t>frameworks/base/core/res/res/values/arrays.xml</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sym typeface="Wingdings 2" panose="05020102010507070707" pitchFamily="18" charset="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forkSystemServer</a:t>
            </a:r>
            <a:r>
              <a:rPr lang="en-US" altLang="zh-CN" sz="1400" b="0" dirty="0" smtClean="0">
                <a:solidFill>
                  <a:srgbClr val="0070C0"/>
                </a:solidFill>
                <a:latin typeface="微软雅黑" panose="020B0503020204020204" pitchFamily="34" charset="-122"/>
                <a:ea typeface="微软雅黑" panose="020B0503020204020204" pitchFamily="34" charset="-122"/>
              </a:rPr>
              <a:t>()</a:t>
            </a:r>
            <a:r>
              <a:rPr lang="zh-CN" altLang="en-US" sz="1400" b="0" dirty="0" smtClean="0">
                <a:solidFill>
                  <a:srgbClr val="0070C0"/>
                </a:solidFill>
                <a:latin typeface="微软雅黑" panose="020B0503020204020204" pitchFamily="34" charset="-122"/>
                <a:ea typeface="微软雅黑" panose="020B0503020204020204" pitchFamily="34" charset="-122"/>
              </a:rPr>
              <a:t>：启动 </a:t>
            </a:r>
            <a:r>
              <a:rPr lang="en-US" altLang="zh-CN" sz="1400" b="0" dirty="0" err="1">
                <a:solidFill>
                  <a:srgbClr val="0070C0"/>
                </a:solidFill>
                <a:latin typeface="微软雅黑" panose="020B0503020204020204" pitchFamily="34" charset="-122"/>
                <a:ea typeface="微软雅黑" panose="020B0503020204020204" pitchFamily="34" charset="-122"/>
              </a:rPr>
              <a:t>system_server</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进程，</a:t>
            </a:r>
            <a:r>
              <a:rPr lang="en-US" altLang="zh-CN" sz="1400" b="0" dirty="0">
                <a:solidFill>
                  <a:srgbClr val="0070C0"/>
                </a:solidFill>
                <a:latin typeface="微软雅黑" panose="020B0503020204020204" pitchFamily="34" charset="-122"/>
                <a:ea typeface="微软雅黑" panose="020B0503020204020204" pitchFamily="34" charset="-122"/>
              </a:rPr>
              <a:t>android </a:t>
            </a:r>
            <a:r>
              <a:rPr lang="en-US" altLang="zh-CN" sz="1400" b="0" dirty="0" smtClean="0">
                <a:solidFill>
                  <a:srgbClr val="0070C0"/>
                </a:solidFill>
                <a:latin typeface="微软雅黑" panose="020B0503020204020204" pitchFamily="34" charset="-122"/>
                <a:ea typeface="微软雅黑" panose="020B0503020204020204" pitchFamily="34" charset="-122"/>
              </a:rPr>
              <a:t>java</a:t>
            </a:r>
            <a:r>
              <a:rPr lang="zh-CN" altLang="en-US" sz="1400" b="0" dirty="0" smtClean="0">
                <a:solidFill>
                  <a:srgbClr val="0070C0"/>
                </a:solidFill>
                <a:latin typeface="微软雅黑" panose="020B0503020204020204" pitchFamily="34" charset="-122"/>
                <a:ea typeface="微软雅黑" panose="020B0503020204020204" pitchFamily="34" charset="-122"/>
              </a:rPr>
              <a:t>系统</a:t>
            </a:r>
            <a:r>
              <a:rPr lang="zh-CN" altLang="en-US" sz="1400" b="0" dirty="0">
                <a:solidFill>
                  <a:srgbClr val="0070C0"/>
                </a:solidFill>
                <a:latin typeface="微软雅黑" panose="020B0503020204020204" pitchFamily="34" charset="-122"/>
                <a:ea typeface="微软雅黑" panose="020B0503020204020204" pitchFamily="34" charset="-122"/>
              </a:rPr>
              <a:t>服务都将驻留在该进程中，是 </a:t>
            </a:r>
            <a:r>
              <a:rPr lang="en-US" altLang="zh-CN" sz="1400" b="0" dirty="0">
                <a:solidFill>
                  <a:srgbClr val="0070C0"/>
                </a:solidFill>
                <a:latin typeface="微软雅黑" panose="020B0503020204020204" pitchFamily="34" charset="-122"/>
                <a:ea typeface="微软雅黑" panose="020B0503020204020204" pitchFamily="34" charset="-122"/>
              </a:rPr>
              <a:t>android </a:t>
            </a:r>
            <a:r>
              <a:rPr lang="en-US" altLang="zh-CN" sz="1400" b="0" dirty="0" smtClean="0">
                <a:solidFill>
                  <a:srgbClr val="0070C0"/>
                </a:solidFill>
                <a:latin typeface="微软雅黑" panose="020B0503020204020204" pitchFamily="34" charset="-122"/>
                <a:ea typeface="微软雅黑" panose="020B0503020204020204" pitchFamily="34" charset="-122"/>
              </a:rPr>
              <a:t>framework</a:t>
            </a:r>
            <a:r>
              <a:rPr lang="zh-CN" altLang="en-US" sz="1400" b="0" dirty="0" smtClean="0">
                <a:solidFill>
                  <a:srgbClr val="0070C0"/>
                </a:solidFill>
                <a:latin typeface="微软雅黑" panose="020B0503020204020204" pitchFamily="34" charset="-122"/>
                <a:ea typeface="微软雅黑" panose="020B0503020204020204" pitchFamily="34" charset="-122"/>
              </a:rPr>
              <a:t>核心</a:t>
            </a:r>
            <a:r>
              <a:rPr lang="zh-CN" altLang="en-US" sz="1400" b="0" dirty="0">
                <a:solidFill>
                  <a:srgbClr val="0070C0"/>
                </a:solidFill>
                <a:latin typeface="微软雅黑" panose="020B0503020204020204" pitchFamily="34" charset="-122"/>
                <a:ea typeface="微软雅黑" panose="020B0503020204020204" pitchFamily="34" charset="-122"/>
              </a:rPr>
              <a:t>。设置 </a:t>
            </a:r>
            <a:r>
              <a:rPr lang="en-US" altLang="zh-CN" sz="1400" b="0" dirty="0" err="1">
                <a:solidFill>
                  <a:srgbClr val="0070C0"/>
                </a:solidFill>
                <a:latin typeface="微软雅黑" panose="020B0503020204020204" pitchFamily="34" charset="-122"/>
                <a:ea typeface="微软雅黑" panose="020B0503020204020204" pitchFamily="34" charset="-122"/>
              </a:rPr>
              <a:t>systemserver</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进程 </a:t>
            </a:r>
            <a:r>
              <a:rPr lang="en-US" altLang="zh-CN" sz="1400" b="0" dirty="0" err="1">
                <a:solidFill>
                  <a:srgbClr val="0070C0"/>
                </a:solidFill>
                <a:latin typeface="微软雅黑" panose="020B0503020204020204" pitchFamily="34" charset="-122"/>
                <a:ea typeface="微软雅黑" panose="020B0503020204020204" pitchFamily="34" charset="-122"/>
              </a:rPr>
              <a:t>uid</a:t>
            </a:r>
            <a:r>
              <a:rPr lang="en-US" altLang="zh-CN" sz="1400" b="0" dirty="0">
                <a:solidFill>
                  <a:srgbClr val="0070C0"/>
                </a:solidFill>
                <a:latin typeface="微软雅黑" panose="020B0503020204020204" pitchFamily="34" charset="-122"/>
                <a:ea typeface="微软雅黑" panose="020B0503020204020204" pitchFamily="34" charset="-122"/>
              </a:rPr>
              <a:t> </a:t>
            </a:r>
            <a:r>
              <a:rPr lang="zh-CN" altLang="en-US" sz="1400" b="0" dirty="0">
                <a:solidFill>
                  <a:srgbClr val="0070C0"/>
                </a:solidFill>
                <a:latin typeface="微软雅黑" panose="020B0503020204020204" pitchFamily="34" charset="-122"/>
                <a:ea typeface="微软雅黑" panose="020B0503020204020204" pitchFamily="34" charset="-122"/>
              </a:rPr>
              <a:t>和 </a:t>
            </a:r>
            <a:r>
              <a:rPr lang="en-US" altLang="zh-CN" sz="1400" b="0" dirty="0" err="1">
                <a:solidFill>
                  <a:srgbClr val="0070C0"/>
                </a:solidFill>
                <a:latin typeface="微软雅黑" panose="020B0503020204020204" pitchFamily="34" charset="-122"/>
                <a:ea typeface="微软雅黑" panose="020B0503020204020204" pitchFamily="34" charset="-122"/>
              </a:rPr>
              <a:t>gid</a:t>
            </a:r>
            <a:r>
              <a:rPr lang="zh-CN" altLang="en-US" sz="1400" b="0" dirty="0">
                <a:solidFill>
                  <a:srgbClr val="0070C0"/>
                </a:solidFill>
                <a:latin typeface="微软雅黑" panose="020B0503020204020204" pitchFamily="34" charset="-122"/>
                <a:ea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rPr>
              <a:t>process name</a:t>
            </a:r>
            <a:r>
              <a:rPr lang="zh-CN" altLang="en-US" sz="1400" b="0" dirty="0">
                <a:solidFill>
                  <a:srgbClr val="0070C0"/>
                </a:solidFill>
                <a:latin typeface="微软雅黑" panose="020B0503020204020204" pitchFamily="34" charset="-122"/>
                <a:ea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rPr>
              <a:t>class name</a:t>
            </a:r>
            <a:r>
              <a:rPr lang="zh-CN" altLang="en-US"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为何要通过</a:t>
            </a:r>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来孵化程序，而不是由其他进程直接创建</a:t>
            </a:r>
          </a:p>
          <a:p>
            <a:pPr algn="l"/>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缩短应用的启动时间</a:t>
            </a:r>
          </a:p>
          <a:p>
            <a:pPr algn="l"/>
            <a:r>
              <a:rPr lang="zh-CN" altLang="en-US" sz="1600" b="0" dirty="0">
                <a:latin typeface="微软雅黑" panose="020B0503020204020204" pitchFamily="34" charset="-122"/>
                <a:ea typeface="微软雅黑" panose="020B0503020204020204" pitchFamily="34" charset="-122"/>
              </a:rPr>
              <a:t>无论哪个</a:t>
            </a:r>
            <a:r>
              <a:rPr lang="en-US" altLang="zh-CN" sz="1600" b="0" dirty="0">
                <a:latin typeface="微软雅黑" panose="020B0503020204020204" pitchFamily="34" charset="-122"/>
                <a:ea typeface="微软雅黑" panose="020B0503020204020204" pitchFamily="34" charset="-122"/>
              </a:rPr>
              <a:t>app</a:t>
            </a:r>
            <a:r>
              <a:rPr lang="zh-CN" altLang="en-US" sz="1600" b="0" dirty="0">
                <a:latin typeface="微软雅黑" panose="020B0503020204020204" pitchFamily="34" charset="-122"/>
                <a:ea typeface="微软雅黑" panose="020B0503020204020204" pitchFamily="34" charset="-122"/>
              </a:rPr>
              <a:t>，所有的虚拟机都必须按照某种一样的而且是确定的方式初始化。</a:t>
            </a:r>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预加载了各种资源，创建了虚拟机。由</a:t>
            </a:r>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创建的进程能够继承这些资源，不用再重新创建</a:t>
            </a:r>
            <a:r>
              <a:rPr lang="zh-CN" altLang="en-US" sz="1600" b="0" dirty="0" smtClean="0">
                <a:latin typeface="微软雅黑" panose="020B0503020204020204" pitchFamily="34" charset="-122"/>
                <a:ea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优化共享内存</a:t>
            </a:r>
          </a:p>
          <a:p>
            <a:pPr algn="l"/>
            <a:r>
              <a:rPr lang="zh-CN" altLang="en-US" sz="1600" b="0" dirty="0">
                <a:latin typeface="微软雅黑" panose="020B0503020204020204" pitchFamily="34" charset="-122"/>
                <a:ea typeface="微软雅黑" panose="020B0503020204020204" pitchFamily="34" charset="-122"/>
              </a:rPr>
              <a:t>所有虚拟机都是从</a:t>
            </a:r>
            <a:r>
              <a:rPr lang="en-US" altLang="zh-CN" sz="1600" b="0" dirty="0">
                <a:latin typeface="微软雅黑" panose="020B0503020204020204" pitchFamily="34" charset="-122"/>
                <a:ea typeface="微软雅黑" panose="020B0503020204020204" pitchFamily="34" charset="-122"/>
              </a:rPr>
              <a:t>Zygote fork</a:t>
            </a:r>
            <a:r>
              <a:rPr lang="zh-CN" altLang="en-US" sz="1600" b="0" dirty="0">
                <a:latin typeface="微软雅黑" panose="020B0503020204020204" pitchFamily="34" charset="-122"/>
                <a:ea typeface="微软雅黑" panose="020B0503020204020204" pitchFamily="34" charset="-122"/>
              </a:rPr>
              <a:t>出来的，</a:t>
            </a:r>
            <a:r>
              <a:rPr lang="zh-CN" altLang="en-US" sz="1600" b="0" dirty="0" smtClean="0">
                <a:latin typeface="微软雅黑" panose="020B0503020204020204" pitchFamily="34" charset="-122"/>
                <a:ea typeface="微软雅黑" panose="020B0503020204020204" pitchFamily="34" charset="-122"/>
              </a:rPr>
              <a:t>所以能够</a:t>
            </a:r>
            <a:r>
              <a:rPr lang="zh-CN" altLang="en-US" sz="1600" b="0" dirty="0">
                <a:latin typeface="微软雅黑" panose="020B0503020204020204" pitchFamily="34" charset="-122"/>
                <a:ea typeface="微软雅黑" panose="020B0503020204020204" pitchFamily="34" charset="-122"/>
              </a:rPr>
              <a:t>享受到由内核实现的内存共享的优势。比如</a:t>
            </a:r>
            <a:r>
              <a:rPr lang="en-US" altLang="zh-CN" sz="1600" b="0" dirty="0">
                <a:latin typeface="微软雅黑" panose="020B0503020204020204" pitchFamily="34" charset="-122"/>
                <a:ea typeface="微软雅黑" panose="020B0503020204020204" pitchFamily="34" charset="-122"/>
              </a:rPr>
              <a:t>Zygote</a:t>
            </a:r>
            <a:r>
              <a:rPr lang="zh-CN" altLang="en-US" sz="1600" b="0" dirty="0">
                <a:latin typeface="微软雅黑" panose="020B0503020204020204" pitchFamily="34" charset="-122"/>
                <a:ea typeface="微软雅黑" panose="020B0503020204020204" pitchFamily="34" charset="-122"/>
              </a:rPr>
              <a:t>预加载的各类资源，比如</a:t>
            </a:r>
            <a:r>
              <a:rPr lang="en-US" altLang="zh-CN" sz="1600" b="0" dirty="0">
                <a:latin typeface="微软雅黑" panose="020B0503020204020204" pitchFamily="34" charset="-122"/>
                <a:ea typeface="微软雅黑" panose="020B0503020204020204" pitchFamily="34" charset="-122"/>
              </a:rPr>
              <a:t>theme</a:t>
            </a:r>
            <a:r>
              <a:rPr lang="zh-CN" altLang="en-US" sz="1600" b="0" dirty="0">
                <a:latin typeface="微软雅黑" panose="020B0503020204020204" pitchFamily="34" charset="-122"/>
                <a:ea typeface="微软雅黑" panose="020B0503020204020204" pitchFamily="34" charset="-122"/>
              </a:rPr>
              <a:t>主题图片，所有的进程都是共享的，在物理内存中只需要保存一份。</a:t>
            </a:r>
            <a:endParaRPr lang="en-US" altLang="zh-CN" sz="1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024712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SystemServer</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6063198"/>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SystemServer</a:t>
            </a:r>
            <a:r>
              <a:rPr lang="zh-CN" altLang="en-US" sz="1600" b="0" dirty="0">
                <a:latin typeface="微软雅黑" panose="020B0503020204020204" pitchFamily="34" charset="-122"/>
                <a:ea typeface="微软雅黑" panose="020B0503020204020204" pitchFamily="34" charset="-122"/>
              </a:rPr>
              <a:t>是</a:t>
            </a:r>
            <a:r>
              <a:rPr lang="en-US" altLang="zh-CN" sz="1600" b="0" dirty="0">
                <a:latin typeface="微软雅黑" panose="020B0503020204020204" pitchFamily="34" charset="-122"/>
                <a:ea typeface="微软雅黑" panose="020B0503020204020204" pitchFamily="34" charset="-122"/>
              </a:rPr>
              <a:t>Android</a:t>
            </a:r>
            <a:r>
              <a:rPr lang="zh-CN" altLang="en-US" sz="1600" b="0" dirty="0">
                <a:latin typeface="微软雅黑" panose="020B0503020204020204" pitchFamily="34" charset="-122"/>
                <a:ea typeface="微软雅黑" panose="020B0503020204020204" pitchFamily="34" charset="-122"/>
              </a:rPr>
              <a:t>系统中重要的进程</a:t>
            </a:r>
            <a:r>
              <a:rPr lang="zh-CN" altLang="en-US" sz="1600" b="0" dirty="0" smtClean="0">
                <a:latin typeface="微软雅黑" panose="020B0503020204020204" pitchFamily="34" charset="-122"/>
                <a:ea typeface="微软雅黑" panose="020B0503020204020204" pitchFamily="34" charset="-122"/>
              </a:rPr>
              <a:t>，此</a:t>
            </a:r>
            <a:r>
              <a:rPr lang="zh-CN" altLang="en-US" sz="1600" b="0" dirty="0">
                <a:latin typeface="微软雅黑" panose="020B0503020204020204" pitchFamily="34" charset="-122"/>
                <a:ea typeface="微软雅黑" panose="020B0503020204020204" pitchFamily="34" charset="-122"/>
              </a:rPr>
              <a:t>进程在系统中的名称</a:t>
            </a:r>
            <a:r>
              <a:rPr lang="zh-CN" altLang="en-US" sz="1600" b="0" dirty="0" smtClean="0">
                <a:latin typeface="微软雅黑" panose="020B0503020204020204" pitchFamily="34" charset="-122"/>
                <a:ea typeface="微软雅黑" panose="020B0503020204020204" pitchFamily="34" charset="-122"/>
              </a:rPr>
              <a:t>为</a:t>
            </a:r>
            <a:r>
              <a:rPr lang="en-US" altLang="zh-CN" sz="1600" b="0" dirty="0" smtClean="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system_server</a:t>
            </a:r>
            <a:r>
              <a:rPr lang="en-US" altLang="zh-CN" sz="1600" b="0" dirty="0" smtClean="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a:t>
            </a:r>
            <a:r>
              <a:rPr lang="en-US" altLang="zh-CN" sz="1600" b="0" dirty="0" err="1" smtClean="0">
                <a:latin typeface="微软雅黑" panose="020B0503020204020204" pitchFamily="34" charset="-122"/>
                <a:ea typeface="微软雅黑" panose="020B0503020204020204" pitchFamily="34" charset="-122"/>
              </a:rPr>
              <a:t>SystemSever</a:t>
            </a:r>
            <a:r>
              <a:rPr lang="zh-CN" altLang="en-US" sz="1600" b="0" dirty="0">
                <a:latin typeface="微软雅黑" panose="020B0503020204020204" pitchFamily="34" charset="-122"/>
                <a:ea typeface="微软雅黑" panose="020B0503020204020204" pitchFamily="34" charset="-122"/>
              </a:rPr>
              <a:t>负责启动系统的各项服务，是</a:t>
            </a:r>
            <a:r>
              <a:rPr lang="en-US" altLang="zh-CN" sz="1600" b="0" dirty="0">
                <a:latin typeface="微软雅黑" panose="020B0503020204020204" pitchFamily="34" charset="-122"/>
                <a:ea typeface="微软雅黑" panose="020B0503020204020204" pitchFamily="34" charset="-122"/>
              </a:rPr>
              <a:t>Android</a:t>
            </a:r>
            <a:r>
              <a:rPr lang="zh-CN" altLang="en-US" sz="1600" b="0" dirty="0">
                <a:latin typeface="微软雅黑" panose="020B0503020204020204" pitchFamily="34" charset="-122"/>
                <a:ea typeface="微软雅黑" panose="020B0503020204020204" pitchFamily="34" charset="-122"/>
              </a:rPr>
              <a:t>系统中</a:t>
            </a:r>
            <a:r>
              <a:rPr lang="en-US" altLang="zh-CN" sz="1600" b="0" dirty="0">
                <a:latin typeface="微软雅黑" panose="020B0503020204020204" pitchFamily="34" charset="-122"/>
                <a:ea typeface="微软雅黑" panose="020B0503020204020204" pitchFamily="34" charset="-122"/>
              </a:rPr>
              <a:t>Java</a:t>
            </a:r>
            <a:r>
              <a:rPr lang="zh-CN" altLang="en-US" sz="1600" b="0" dirty="0">
                <a:latin typeface="微软雅黑" panose="020B0503020204020204" pitchFamily="34" charset="-122"/>
                <a:ea typeface="微软雅黑" panose="020B0503020204020204" pitchFamily="34" charset="-122"/>
              </a:rPr>
              <a:t>世界的核心。系统</a:t>
            </a:r>
            <a:r>
              <a:rPr lang="en-US" altLang="zh-CN" sz="1600" b="0" dirty="0">
                <a:latin typeface="微软雅黑" panose="020B0503020204020204" pitchFamily="34" charset="-122"/>
                <a:ea typeface="微软雅黑" panose="020B0503020204020204" pitchFamily="34" charset="-122"/>
              </a:rPr>
              <a:t>Service</a:t>
            </a:r>
            <a:r>
              <a:rPr lang="zh-CN" altLang="en-US" sz="1600" b="0" dirty="0">
                <a:latin typeface="微软雅黑" panose="020B0503020204020204" pitchFamily="34" charset="-122"/>
                <a:ea typeface="微软雅黑" panose="020B0503020204020204" pitchFamily="34" charset="-122"/>
              </a:rPr>
              <a:t>都在这里</a:t>
            </a:r>
            <a:r>
              <a:rPr lang="zh-CN" altLang="en-US" sz="1600" b="0" dirty="0" smtClean="0">
                <a:latin typeface="微软雅黑" panose="020B0503020204020204" pitchFamily="34" charset="-122"/>
                <a:ea typeface="微软雅黑" panose="020B0503020204020204" pitchFamily="34" charset="-122"/>
              </a:rPr>
              <a:t>启动，为</a:t>
            </a:r>
            <a:r>
              <a:rPr lang="zh-CN" altLang="en-US" sz="1600" b="0" dirty="0">
                <a:latin typeface="微软雅黑" panose="020B0503020204020204" pitchFamily="34" charset="-122"/>
                <a:ea typeface="微软雅黑" panose="020B0503020204020204" pitchFamily="34" charset="-122"/>
              </a:rPr>
              <a:t>防止应用进程随意访问修改底层服务数据，应用只能通过</a:t>
            </a:r>
            <a:r>
              <a:rPr lang="en-US" altLang="zh-CN" sz="1600" b="0" dirty="0">
                <a:latin typeface="微软雅黑" panose="020B0503020204020204" pitchFamily="34" charset="-122"/>
                <a:ea typeface="微软雅黑" panose="020B0503020204020204" pitchFamily="34" charset="-122"/>
              </a:rPr>
              <a:t>binder</a:t>
            </a:r>
            <a:r>
              <a:rPr lang="zh-CN" altLang="en-US" sz="1600" b="0" dirty="0">
                <a:latin typeface="微软雅黑" panose="020B0503020204020204" pitchFamily="34" charset="-122"/>
                <a:ea typeface="微软雅黑" panose="020B0503020204020204" pitchFamily="34" charset="-122"/>
              </a:rPr>
              <a:t>来进行系统服务访问从而跟底层数据交互。</a:t>
            </a:r>
          </a:p>
          <a:p>
            <a:pPr algn="l"/>
            <a:r>
              <a:rPr lang="zh-CN" altLang="en-US" sz="1600" b="0" dirty="0">
                <a:latin typeface="微软雅黑" panose="020B0503020204020204" pitchFamily="34" charset="-122"/>
                <a:ea typeface="微软雅黑" panose="020B0503020204020204" pitchFamily="34" charset="-122"/>
              </a:rPr>
              <a:t>源码路径</a:t>
            </a:r>
            <a:r>
              <a:rPr lang="zh-CN" altLang="en-US" sz="1600" b="0" dirty="0" smtClean="0">
                <a:latin typeface="微软雅黑" panose="020B0503020204020204" pitchFamily="34" charset="-122"/>
                <a:ea typeface="微软雅黑" panose="020B0503020204020204" pitchFamily="34" charset="-122"/>
              </a:rPr>
              <a:t>：</a:t>
            </a:r>
            <a:r>
              <a:rPr lang="en-US" altLang="zh-CN" sz="1600" b="0" dirty="0" smtClean="0">
                <a:solidFill>
                  <a:srgbClr val="7030A0"/>
                </a:solidFill>
                <a:latin typeface="微软雅黑" panose="020B0503020204020204" pitchFamily="34" charset="-122"/>
                <a:ea typeface="微软雅黑" panose="020B0503020204020204" pitchFamily="34" charset="-122"/>
              </a:rPr>
              <a:t>frameworks/base/services/java/com/android/server/SystemServer.java</a:t>
            </a:r>
            <a:endParaRPr lang="en-US" altLang="zh-CN" sz="1600" b="0" dirty="0">
              <a:solidFill>
                <a:srgbClr val="7030A0"/>
              </a:solidFill>
              <a:latin typeface="微软雅黑" panose="020B0503020204020204" pitchFamily="34" charset="-122"/>
              <a:ea typeface="微软雅黑" panose="020B0503020204020204" pitchFamily="34" charset="-122"/>
            </a:endParaRPr>
          </a:p>
          <a:p>
            <a:pPr algn="l"/>
            <a:r>
              <a:rPr lang="en-US" altLang="zh-CN" sz="1400" b="0" dirty="0" smtClean="0">
                <a:solidFill>
                  <a:srgbClr val="FF0000"/>
                </a:solidFill>
                <a:latin typeface="微软雅黑" panose="020B0503020204020204" pitchFamily="34" charset="-122"/>
                <a:ea typeface="微软雅黑" panose="020B0503020204020204" pitchFamily="34" charset="-122"/>
              </a:rPr>
              <a:t>//zygote</a:t>
            </a:r>
            <a:r>
              <a:rPr lang="zh-CN" altLang="en-US" sz="1400" b="0" dirty="0" smtClean="0">
                <a:solidFill>
                  <a:srgbClr val="FF0000"/>
                </a:solidFill>
                <a:latin typeface="微软雅黑" panose="020B0503020204020204" pitchFamily="34" charset="-122"/>
                <a:ea typeface="微软雅黑" panose="020B0503020204020204" pitchFamily="34" charset="-122"/>
              </a:rPr>
              <a:t>在</a:t>
            </a:r>
            <a:r>
              <a:rPr lang="en-US" altLang="zh-CN" sz="1400" b="0" dirty="0" smtClean="0">
                <a:solidFill>
                  <a:srgbClr val="FF0000"/>
                </a:solidFill>
                <a:latin typeface="微软雅黑" panose="020B0503020204020204" pitchFamily="34" charset="-122"/>
                <a:ea typeface="微软雅黑" panose="020B0503020204020204" pitchFamily="34" charset="-122"/>
              </a:rPr>
              <a:t>fork </a:t>
            </a:r>
            <a:r>
              <a:rPr lang="en-US" altLang="zh-CN" sz="1400" b="0" dirty="0" err="1" smtClean="0">
                <a:solidFill>
                  <a:srgbClr val="FF0000"/>
                </a:solidFill>
                <a:latin typeface="微软雅黑" panose="020B0503020204020204" pitchFamily="34" charset="-122"/>
                <a:ea typeface="微软雅黑" panose="020B0503020204020204" pitchFamily="34" charset="-122"/>
              </a:rPr>
              <a:t>SystemServer</a:t>
            </a:r>
            <a:r>
              <a:rPr lang="zh-CN" altLang="en-US" sz="1400" b="0" dirty="0" smtClean="0">
                <a:solidFill>
                  <a:srgbClr val="FF0000"/>
                </a:solidFill>
                <a:latin typeface="微软雅黑" panose="020B0503020204020204" pitchFamily="34" charset="-122"/>
                <a:ea typeface="微软雅黑" panose="020B0503020204020204" pitchFamily="34" charset="-122"/>
              </a:rPr>
              <a:t>进程后，会通过反射调用</a:t>
            </a:r>
            <a:r>
              <a:rPr lang="en-US" altLang="zh-CN" sz="1400" b="0" dirty="0" smtClean="0">
                <a:solidFill>
                  <a:srgbClr val="FF0000"/>
                </a:solidFill>
                <a:latin typeface="微软雅黑" panose="020B0503020204020204" pitchFamily="34" charset="-122"/>
                <a:ea typeface="微软雅黑" panose="020B0503020204020204" pitchFamily="34" charset="-122"/>
              </a:rPr>
              <a:t>SystemServer.java</a:t>
            </a:r>
            <a:r>
              <a:rPr lang="zh-CN" altLang="en-US" sz="1400" b="0" dirty="0" smtClean="0">
                <a:solidFill>
                  <a:srgbClr val="FF0000"/>
                </a:solidFill>
                <a:latin typeface="微软雅黑" panose="020B0503020204020204" pitchFamily="34" charset="-122"/>
                <a:ea typeface="微软雅黑" panose="020B0503020204020204" pitchFamily="34" charset="-122"/>
              </a:rPr>
              <a:t>的</a:t>
            </a:r>
            <a:r>
              <a:rPr lang="en-US" altLang="zh-CN" sz="1400" b="0" dirty="0" smtClean="0">
                <a:solidFill>
                  <a:srgbClr val="FF0000"/>
                </a:solidFill>
                <a:latin typeface="微软雅黑" panose="020B0503020204020204" pitchFamily="34" charset="-122"/>
                <a:ea typeface="微软雅黑" panose="020B0503020204020204" pitchFamily="34" charset="-122"/>
              </a:rPr>
              <a:t>main</a:t>
            </a:r>
            <a:r>
              <a:rPr lang="zh-CN" altLang="en-US" sz="1400" b="0" dirty="0" smtClean="0">
                <a:solidFill>
                  <a:srgbClr val="FF0000"/>
                </a:solidFill>
                <a:latin typeface="微软雅黑" panose="020B0503020204020204" pitchFamily="34" charset="-122"/>
                <a:ea typeface="微软雅黑" panose="020B0503020204020204" pitchFamily="34" charset="-122"/>
              </a:rPr>
              <a:t>方法</a:t>
            </a:r>
            <a:endParaRPr lang="en-US" altLang="zh-CN" sz="1400" b="0" dirty="0" smtClean="0">
              <a:solidFill>
                <a:srgbClr val="FF000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public </a:t>
            </a:r>
            <a:r>
              <a:rPr lang="en-US" altLang="zh-CN" sz="1400" b="0" dirty="0">
                <a:solidFill>
                  <a:srgbClr val="0070C0"/>
                </a:solidFill>
                <a:latin typeface="微软雅黑" panose="020B0503020204020204" pitchFamily="34" charset="-122"/>
                <a:ea typeface="微软雅黑" panose="020B0503020204020204" pitchFamily="34" charset="-122"/>
              </a:rPr>
              <a:t>static void main(String[] </a:t>
            </a:r>
            <a:r>
              <a:rPr lang="en-US" altLang="zh-CN" sz="1400" b="0" dirty="0" err="1">
                <a:solidFill>
                  <a:srgbClr val="0070C0"/>
                </a:solidFill>
                <a:latin typeface="微软雅黑" panose="020B0503020204020204" pitchFamily="34" charset="-122"/>
                <a:ea typeface="微软雅黑" panose="020B0503020204020204" pitchFamily="34" charset="-122"/>
              </a:rPr>
              <a:t>args</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new </a:t>
            </a:r>
            <a:r>
              <a:rPr lang="en-US" altLang="zh-CN" sz="1400" b="0" dirty="0" err="1">
                <a:solidFill>
                  <a:srgbClr val="0070C0"/>
                </a:solidFill>
                <a:latin typeface="微软雅黑" panose="020B0503020204020204" pitchFamily="34" charset="-122"/>
                <a:ea typeface="微软雅黑" panose="020B0503020204020204" pitchFamily="34" charset="-122"/>
              </a:rPr>
              <a:t>SystemServer</a:t>
            </a:r>
            <a:r>
              <a:rPr lang="en-US" altLang="zh-CN" sz="1400" b="0" dirty="0">
                <a:solidFill>
                  <a:srgbClr val="0070C0"/>
                </a:solidFill>
                <a:latin typeface="微软雅黑" panose="020B0503020204020204" pitchFamily="34" charset="-122"/>
                <a:ea typeface="微软雅黑" panose="020B0503020204020204" pitchFamily="34" charset="-122"/>
              </a:rPr>
              <a:t>().run();</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private void run()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//1.</a:t>
            </a:r>
            <a:r>
              <a:rPr lang="zh-CN" altLang="en-US" sz="1400" b="0" dirty="0" smtClean="0">
                <a:solidFill>
                  <a:srgbClr val="FF0000"/>
                </a:solidFill>
                <a:latin typeface="微软雅黑" panose="020B0503020204020204" pitchFamily="34" charset="-122"/>
                <a:ea typeface="微软雅黑" panose="020B0503020204020204" pitchFamily="34" charset="-122"/>
              </a:rPr>
              <a:t>创建</a:t>
            </a:r>
            <a:r>
              <a:rPr lang="en-US" altLang="zh-CN" sz="1400" b="0" dirty="0" err="1">
                <a:solidFill>
                  <a:srgbClr val="FF0000"/>
                </a:solidFill>
                <a:latin typeface="微软雅黑" panose="020B0503020204020204" pitchFamily="34" charset="-122"/>
                <a:ea typeface="微软雅黑" panose="020B0503020204020204" pitchFamily="34" charset="-122"/>
              </a:rPr>
              <a:t>SystemServer</a:t>
            </a:r>
            <a:r>
              <a:rPr lang="zh-CN" altLang="en-US" sz="1400" b="0" dirty="0">
                <a:solidFill>
                  <a:srgbClr val="FF0000"/>
                </a:solidFill>
                <a:latin typeface="微软雅黑" panose="020B0503020204020204" pitchFamily="34" charset="-122"/>
                <a:ea typeface="微软雅黑" panose="020B0503020204020204" pitchFamily="34" charset="-122"/>
              </a:rPr>
              <a:t>系统上下文用于获取系统服务和系统资源</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createSystemContext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//2.</a:t>
            </a:r>
            <a:r>
              <a:rPr lang="zh-CN" altLang="en-US" sz="1400" b="0" dirty="0" smtClean="0">
                <a:solidFill>
                  <a:srgbClr val="FF0000"/>
                </a:solidFill>
                <a:latin typeface="微软雅黑" panose="020B0503020204020204" pitchFamily="34" charset="-122"/>
                <a:ea typeface="微软雅黑" panose="020B0503020204020204" pitchFamily="34" charset="-122"/>
              </a:rPr>
              <a:t>构建</a:t>
            </a:r>
            <a:r>
              <a:rPr lang="en-US" altLang="zh-CN" sz="1400" b="0" dirty="0" err="1">
                <a:solidFill>
                  <a:srgbClr val="FF0000"/>
                </a:solidFill>
                <a:latin typeface="微软雅黑" panose="020B0503020204020204" pitchFamily="34" charset="-122"/>
                <a:ea typeface="微软雅黑" panose="020B0503020204020204" pitchFamily="34" charset="-122"/>
              </a:rPr>
              <a:t>SystemServiceManager</a:t>
            </a:r>
            <a:r>
              <a:rPr lang="zh-CN" altLang="en-US" sz="1400" b="0" dirty="0">
                <a:solidFill>
                  <a:srgbClr val="FF0000"/>
                </a:solidFill>
                <a:latin typeface="微软雅黑" panose="020B0503020204020204" pitchFamily="34" charset="-122"/>
                <a:ea typeface="微软雅黑" panose="020B0503020204020204" pitchFamily="34" charset="-122"/>
              </a:rPr>
              <a:t>对象</a:t>
            </a:r>
            <a:r>
              <a:rPr lang="zh-CN" altLang="en-US" sz="1400" b="0" dirty="0" smtClean="0">
                <a:solidFill>
                  <a:srgbClr val="FF0000"/>
                </a:solidFill>
                <a:latin typeface="微软雅黑" panose="020B0503020204020204" pitchFamily="34" charset="-122"/>
                <a:ea typeface="微软雅黑" panose="020B0503020204020204" pitchFamily="34" charset="-122"/>
              </a:rPr>
              <a:t>，并将该对象</a:t>
            </a:r>
            <a:r>
              <a:rPr lang="zh-CN" altLang="en-US" sz="1400" b="0" dirty="0">
                <a:solidFill>
                  <a:srgbClr val="FF0000"/>
                </a:solidFill>
                <a:latin typeface="微软雅黑" panose="020B0503020204020204" pitchFamily="34" charset="-122"/>
                <a:ea typeface="微软雅黑" panose="020B0503020204020204" pitchFamily="34" charset="-122"/>
              </a:rPr>
              <a:t>添加到</a:t>
            </a:r>
            <a:r>
              <a:rPr lang="en-US" altLang="zh-CN" sz="1400" b="0" dirty="0" err="1">
                <a:solidFill>
                  <a:srgbClr val="FF0000"/>
                </a:solidFill>
                <a:latin typeface="微软雅黑" panose="020B0503020204020204" pitchFamily="34" charset="-122"/>
                <a:ea typeface="微软雅黑" panose="020B0503020204020204" pitchFamily="34" charset="-122"/>
              </a:rPr>
              <a:t>ArrayMap</a:t>
            </a:r>
            <a:r>
              <a:rPr lang="zh-CN" altLang="en-US" sz="1400" b="0" dirty="0">
                <a:solidFill>
                  <a:srgbClr val="FF0000"/>
                </a:solidFill>
                <a:latin typeface="微软雅黑" panose="020B0503020204020204" pitchFamily="34" charset="-122"/>
                <a:ea typeface="微软雅黑" panose="020B0503020204020204" pitchFamily="34" charset="-122"/>
              </a:rPr>
              <a:t>中管理</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mSystemServiceManager</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SystemServiceManager</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mSystemContext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mSystemServiceManager.setStartInfo</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mRuntimeRestart</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mRuntimeStartElapsedTime</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mRuntimeStartUptime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LocalServices.addService</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SystemServiceManager.class</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mSystemServiceManager</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//3.</a:t>
            </a:r>
            <a:r>
              <a:rPr lang="zh-CN" altLang="en-US" sz="1400" b="0" dirty="0" smtClean="0">
                <a:solidFill>
                  <a:srgbClr val="FF0000"/>
                </a:solidFill>
                <a:latin typeface="微软雅黑" panose="020B0503020204020204" pitchFamily="34" charset="-122"/>
                <a:ea typeface="微软雅黑" panose="020B0503020204020204" pitchFamily="34" charset="-122"/>
              </a:rPr>
              <a:t>启动</a:t>
            </a:r>
            <a:r>
              <a:rPr lang="zh-CN" altLang="en-US" sz="1400" b="0" dirty="0">
                <a:solidFill>
                  <a:srgbClr val="FF0000"/>
                </a:solidFill>
                <a:latin typeface="微软雅黑" panose="020B0503020204020204" pitchFamily="34" charset="-122"/>
                <a:ea typeface="微软雅黑" panose="020B0503020204020204" pitchFamily="34" charset="-122"/>
              </a:rPr>
              <a:t>系统</a:t>
            </a:r>
            <a:r>
              <a:rPr lang="zh-CN" altLang="en-US" sz="1400" b="0" dirty="0" smtClean="0">
                <a:solidFill>
                  <a:srgbClr val="FF0000"/>
                </a:solidFill>
                <a:latin typeface="微软雅黑" panose="020B0503020204020204" pitchFamily="34" charset="-122"/>
                <a:ea typeface="微软雅黑" panose="020B0503020204020204" pitchFamily="34" charset="-122"/>
              </a:rPr>
              <a:t>服务</a:t>
            </a:r>
            <a:endParaRPr lang="en-US" altLang="zh-CN" sz="1400" b="0" dirty="0" smtClean="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startBootstrapServices</a:t>
            </a:r>
            <a:r>
              <a:rPr lang="en-US" altLang="zh-CN" sz="1400" b="0" dirty="0" smtClean="0">
                <a:solidFill>
                  <a:srgbClr val="0070C0"/>
                </a:solidFill>
                <a:latin typeface="微软雅黑" panose="020B0503020204020204" pitchFamily="34" charset="-122"/>
                <a:ea typeface="微软雅黑" panose="020B0503020204020204" pitchFamily="34" charset="-122"/>
              </a:rPr>
              <a:t>(t);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startCoreServices</a:t>
            </a:r>
            <a:r>
              <a:rPr lang="en-US" altLang="zh-CN" sz="1400" b="0" dirty="0" smtClean="0">
                <a:solidFill>
                  <a:srgbClr val="0070C0"/>
                </a:solidFill>
                <a:latin typeface="微软雅黑" panose="020B0503020204020204" pitchFamily="34" charset="-122"/>
                <a:ea typeface="微软雅黑" panose="020B0503020204020204" pitchFamily="34" charset="-122"/>
              </a:rPr>
              <a:t>(t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startOtherServices</a:t>
            </a:r>
            <a:r>
              <a:rPr lang="en-US" altLang="zh-CN" sz="1400" b="0" dirty="0" smtClean="0">
                <a:solidFill>
                  <a:srgbClr val="0070C0"/>
                </a:solidFill>
                <a:latin typeface="微软雅黑" panose="020B0503020204020204" pitchFamily="34" charset="-122"/>
                <a:ea typeface="微软雅黑" panose="020B0503020204020204" pitchFamily="34" charset="-122"/>
              </a:rPr>
              <a:t>(t);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en-US" altLang="zh-CN" sz="1400" b="0" dirty="0">
                <a:solidFill>
                  <a:srgbClr val="FF0000"/>
                </a:solidFill>
                <a:latin typeface="微软雅黑" panose="020B0503020204020204" pitchFamily="34" charset="-122"/>
                <a:ea typeface="微软雅黑" panose="020B0503020204020204" pitchFamily="34" charset="-122"/>
              </a:rPr>
              <a:t>4.</a:t>
            </a:r>
            <a:r>
              <a:rPr lang="zh-CN" altLang="en-US" sz="1400" b="0" dirty="0">
                <a:solidFill>
                  <a:srgbClr val="FF0000"/>
                </a:solidFill>
                <a:latin typeface="微软雅黑" panose="020B0503020204020204" pitchFamily="34" charset="-122"/>
                <a:ea typeface="微软雅黑" panose="020B0503020204020204" pitchFamily="34" charset="-122"/>
              </a:rPr>
              <a:t>循环处理消息</a:t>
            </a: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Looper.loop</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throw new </a:t>
            </a:r>
            <a:r>
              <a:rPr lang="en-US" altLang="zh-CN" sz="1400" b="0" dirty="0" err="1">
                <a:solidFill>
                  <a:srgbClr val="0070C0"/>
                </a:solidFill>
                <a:latin typeface="微软雅黑" panose="020B0503020204020204" pitchFamily="34" charset="-122"/>
                <a:ea typeface="微软雅黑" panose="020B0503020204020204" pitchFamily="34" charset="-122"/>
              </a:rPr>
              <a:t>RuntimeException</a:t>
            </a:r>
            <a:r>
              <a:rPr lang="en-US" altLang="zh-CN" sz="1400" b="0" dirty="0">
                <a:solidFill>
                  <a:srgbClr val="0070C0"/>
                </a:solidFill>
                <a:latin typeface="微软雅黑" panose="020B0503020204020204" pitchFamily="34" charset="-122"/>
                <a:ea typeface="微软雅黑" panose="020B0503020204020204" pitchFamily="34" charset="-122"/>
              </a:rPr>
              <a:t>("Main thread loop unexpectedly exited");</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5090755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SystemServer</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6155531"/>
          </a:xfrm>
          <a:prstGeom prst="rect">
            <a:avLst/>
          </a:prstGeom>
          <a:noFill/>
        </p:spPr>
        <p:txBody>
          <a:bodyPr wrap="square" rtlCol="0">
            <a:spAutoFit/>
          </a:bodyPr>
          <a:lstStyle/>
          <a:p>
            <a:pPr algn="l"/>
            <a:r>
              <a:rPr lang="en-US" altLang="zh-CN" sz="1600" b="0" dirty="0" smtClean="0">
                <a:latin typeface="微软雅黑" panose="020B0503020204020204" pitchFamily="34" charset="-122"/>
                <a:ea typeface="微软雅黑" panose="020B0503020204020204" pitchFamily="34" charset="-122"/>
              </a:rPr>
              <a:t>1</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创建</a:t>
            </a:r>
            <a:r>
              <a:rPr lang="en-US" altLang="zh-CN" sz="1600" b="0" dirty="0" err="1">
                <a:latin typeface="微软雅黑" panose="020B0503020204020204" pitchFamily="34" charset="-122"/>
                <a:ea typeface="微软雅黑" panose="020B0503020204020204" pitchFamily="34" charset="-122"/>
              </a:rPr>
              <a:t>SystemServer</a:t>
            </a:r>
            <a:r>
              <a:rPr lang="zh-CN" altLang="en-US" sz="1600" b="0" dirty="0">
                <a:latin typeface="微软雅黑" panose="020B0503020204020204" pitchFamily="34" charset="-122"/>
                <a:ea typeface="微软雅黑" panose="020B0503020204020204" pitchFamily="34" charset="-122"/>
              </a:rPr>
              <a:t>系统上下文用于获取系统服务和系统资源</a:t>
            </a:r>
          </a:p>
          <a:p>
            <a:pPr algn="l"/>
            <a:r>
              <a:rPr lang="en-US" altLang="zh-CN" sz="1400" b="0" dirty="0">
                <a:solidFill>
                  <a:srgbClr val="0070C0"/>
                </a:solidFill>
                <a:latin typeface="微软雅黑" panose="020B0503020204020204" pitchFamily="34" charset="-122"/>
                <a:ea typeface="微软雅黑" panose="020B0503020204020204" pitchFamily="34" charset="-122"/>
              </a:rPr>
              <a:t>private void </a:t>
            </a:r>
            <a:r>
              <a:rPr lang="en-US" altLang="zh-CN" sz="1400" b="0" dirty="0" err="1">
                <a:solidFill>
                  <a:srgbClr val="0070C0"/>
                </a:solidFill>
                <a:latin typeface="微软雅黑" panose="020B0503020204020204" pitchFamily="34" charset="-122"/>
                <a:ea typeface="微软雅黑" panose="020B0503020204020204" pitchFamily="34" charset="-122"/>
              </a:rPr>
              <a:t>createSystemContext</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获取</a:t>
            </a:r>
            <a:r>
              <a:rPr lang="en-US" altLang="zh-CN" sz="1400" b="0" dirty="0" err="1">
                <a:solidFill>
                  <a:srgbClr val="FF0000"/>
                </a:solidFill>
                <a:latin typeface="微软雅黑" panose="020B0503020204020204" pitchFamily="34" charset="-122"/>
                <a:ea typeface="微软雅黑" panose="020B0503020204020204" pitchFamily="34" charset="-122"/>
              </a:rPr>
              <a:t>ActivityThread</a:t>
            </a:r>
            <a:r>
              <a:rPr lang="zh-CN" altLang="en-US" sz="1400" b="0" dirty="0">
                <a:solidFill>
                  <a:srgbClr val="FF0000"/>
                </a:solidFill>
                <a:latin typeface="微软雅黑" panose="020B0503020204020204" pitchFamily="34" charset="-122"/>
                <a:ea typeface="微软雅黑" panose="020B0503020204020204" pitchFamily="34" charset="-122"/>
              </a:rPr>
              <a:t>对象</a:t>
            </a:r>
          </a:p>
          <a:p>
            <a:pPr algn="l"/>
            <a:r>
              <a:rPr lang="zh-CN" altLang="en-US"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ActivityThread</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activityThread</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ActivityThread.systemMain</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获取系统的</a:t>
            </a:r>
            <a:r>
              <a:rPr lang="en-US" altLang="zh-CN" sz="1400" b="0" dirty="0">
                <a:solidFill>
                  <a:srgbClr val="FF0000"/>
                </a:solidFill>
                <a:latin typeface="微软雅黑" panose="020B0503020204020204" pitchFamily="34" charset="-122"/>
                <a:ea typeface="微软雅黑" panose="020B0503020204020204" pitchFamily="34" charset="-122"/>
              </a:rPr>
              <a:t>Context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mSystemContext</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activityThread.getSystemContext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mSystemContext.setTheme</a:t>
            </a:r>
            <a:r>
              <a:rPr lang="en-US" altLang="zh-CN" sz="1400" b="0" dirty="0" smtClean="0">
                <a:solidFill>
                  <a:srgbClr val="0070C0"/>
                </a:solidFill>
                <a:latin typeface="微软雅黑" panose="020B0503020204020204" pitchFamily="34" charset="-122"/>
                <a:ea typeface="微软雅黑" panose="020B0503020204020204" pitchFamily="34" charset="-122"/>
              </a:rPr>
              <a:t>(DEFAULT_SYSTEM_THEME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获取</a:t>
            </a:r>
            <a:r>
              <a:rPr lang="en-US" altLang="zh-CN" sz="1400" b="0" dirty="0" err="1">
                <a:solidFill>
                  <a:srgbClr val="FF0000"/>
                </a:solidFill>
                <a:latin typeface="微软雅黑" panose="020B0503020204020204" pitchFamily="34" charset="-122"/>
                <a:ea typeface="微软雅黑" panose="020B0503020204020204" pitchFamily="34" charset="-122"/>
              </a:rPr>
              <a:t>SystemUI</a:t>
            </a:r>
            <a:r>
              <a:rPr lang="zh-CN" altLang="en-US" sz="1400" b="0" dirty="0">
                <a:solidFill>
                  <a:srgbClr val="FF0000"/>
                </a:solidFill>
                <a:latin typeface="微软雅黑" panose="020B0503020204020204" pitchFamily="34" charset="-122"/>
                <a:ea typeface="微软雅黑" panose="020B0503020204020204" pitchFamily="34" charset="-122"/>
              </a:rPr>
              <a:t>的</a:t>
            </a:r>
            <a:r>
              <a:rPr lang="en-US" altLang="zh-CN" sz="1400" b="0" dirty="0">
                <a:solidFill>
                  <a:srgbClr val="FF0000"/>
                </a:solidFill>
                <a:latin typeface="微软雅黑" panose="020B0503020204020204" pitchFamily="34" charset="-122"/>
                <a:ea typeface="微软雅黑" panose="020B0503020204020204" pitchFamily="34" charset="-122"/>
              </a:rPr>
              <a:t>Context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final </a:t>
            </a:r>
            <a:r>
              <a:rPr lang="en-US" altLang="zh-CN" sz="1400" b="0" dirty="0">
                <a:solidFill>
                  <a:srgbClr val="0070C0"/>
                </a:solidFill>
                <a:latin typeface="微软雅黑" panose="020B0503020204020204" pitchFamily="34" charset="-122"/>
                <a:ea typeface="微软雅黑" panose="020B0503020204020204" pitchFamily="34" charset="-122"/>
              </a:rPr>
              <a:t>Context </a:t>
            </a:r>
            <a:r>
              <a:rPr lang="en-US" altLang="zh-CN" sz="1400" b="0" dirty="0" err="1">
                <a:solidFill>
                  <a:srgbClr val="0070C0"/>
                </a:solidFill>
                <a:latin typeface="微软雅黑" panose="020B0503020204020204" pitchFamily="34" charset="-122"/>
                <a:ea typeface="微软雅黑" panose="020B0503020204020204" pitchFamily="34" charset="-122"/>
              </a:rPr>
              <a:t>systemUiContext</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activityThread.getSystemUiContext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systemUiContext.setTheme</a:t>
            </a:r>
            <a:r>
              <a:rPr lang="en-US" altLang="zh-CN" sz="1400" b="0" dirty="0" smtClean="0">
                <a:solidFill>
                  <a:srgbClr val="0070C0"/>
                </a:solidFill>
                <a:latin typeface="微软雅黑" panose="020B0503020204020204" pitchFamily="34" charset="-122"/>
                <a:ea typeface="微软雅黑" panose="020B0503020204020204" pitchFamily="34" charset="-122"/>
              </a:rPr>
              <a:t>(DEFAULT_SYSTEM_THEME</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public static </a:t>
            </a:r>
            <a:r>
              <a:rPr lang="en-US" altLang="zh-CN" sz="1400" b="0" dirty="0" err="1">
                <a:solidFill>
                  <a:srgbClr val="0070C0"/>
                </a:solidFill>
                <a:latin typeface="微软雅黑" panose="020B0503020204020204" pitchFamily="34" charset="-122"/>
                <a:ea typeface="微软雅黑" panose="020B0503020204020204" pitchFamily="34" charset="-122"/>
              </a:rPr>
              <a:t>ActivityThread</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systemMain</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ThreadedRenderer.initForSystemProcess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en-US" altLang="zh-CN" sz="1400" b="0" dirty="0" err="1">
                <a:solidFill>
                  <a:srgbClr val="FF0000"/>
                </a:solidFill>
                <a:latin typeface="微软雅黑" panose="020B0503020204020204" pitchFamily="34" charset="-122"/>
                <a:ea typeface="微软雅黑" panose="020B0503020204020204" pitchFamily="34" charset="-122"/>
              </a:rPr>
              <a:t>ActivityThread</a:t>
            </a:r>
            <a:r>
              <a:rPr lang="zh-CN" altLang="en-US" sz="1400" b="0" dirty="0">
                <a:solidFill>
                  <a:srgbClr val="FF0000"/>
                </a:solidFill>
                <a:latin typeface="微软雅黑" panose="020B0503020204020204" pitchFamily="34" charset="-122"/>
                <a:ea typeface="微软雅黑" panose="020B0503020204020204" pitchFamily="34" charset="-122"/>
              </a:rPr>
              <a:t>对象直接</a:t>
            </a:r>
            <a:r>
              <a:rPr lang="en-US" altLang="zh-CN" sz="1400" b="0" dirty="0">
                <a:solidFill>
                  <a:srgbClr val="FF0000"/>
                </a:solidFill>
                <a:latin typeface="微软雅黑" panose="020B0503020204020204" pitchFamily="34" charset="-122"/>
                <a:ea typeface="微软雅黑" panose="020B0503020204020204" pitchFamily="34" charset="-122"/>
              </a:rPr>
              <a:t>new</a:t>
            </a:r>
            <a:r>
              <a:rPr lang="zh-CN" altLang="en-US" sz="1400" b="0" dirty="0">
                <a:solidFill>
                  <a:srgbClr val="FF0000"/>
                </a:solidFill>
                <a:latin typeface="微软雅黑" panose="020B0503020204020204" pitchFamily="34" charset="-122"/>
                <a:ea typeface="微软雅黑" panose="020B0503020204020204" pitchFamily="34" charset="-122"/>
              </a:rPr>
              <a:t>出来的</a:t>
            </a:r>
          </a:p>
          <a:p>
            <a:pPr algn="l"/>
            <a:r>
              <a:rPr lang="zh-CN" altLang="en-US"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ActivityThread</a:t>
            </a:r>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a:solidFill>
                  <a:srgbClr val="0070C0"/>
                </a:solidFill>
                <a:latin typeface="微软雅黑" panose="020B0503020204020204" pitchFamily="34" charset="-122"/>
                <a:ea typeface="微软雅黑" panose="020B0503020204020204" pitchFamily="34" charset="-122"/>
              </a:rPr>
              <a:t>thread = new </a:t>
            </a:r>
            <a:r>
              <a:rPr lang="en-US" altLang="zh-CN" sz="1400" b="0" dirty="0" err="1">
                <a:solidFill>
                  <a:srgbClr val="0070C0"/>
                </a:solidFill>
                <a:latin typeface="微软雅黑" panose="020B0503020204020204" pitchFamily="34" charset="-122"/>
                <a:ea typeface="微软雅黑" panose="020B0503020204020204" pitchFamily="34" charset="-122"/>
              </a:rPr>
              <a:t>ActivityThread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a:solidFill>
                  <a:srgbClr val="FF0000"/>
                </a:solidFill>
                <a:latin typeface="微软雅黑" panose="020B0503020204020204" pitchFamily="34" charset="-122"/>
                <a:ea typeface="微软雅黑" panose="020B0503020204020204" pitchFamily="34" charset="-122"/>
              </a:rPr>
              <a:t>会创建</a:t>
            </a:r>
            <a:r>
              <a:rPr lang="en-US" altLang="zh-CN" sz="1400" b="0" dirty="0" err="1">
                <a:solidFill>
                  <a:srgbClr val="FF0000"/>
                </a:solidFill>
                <a:latin typeface="微软雅黑" panose="020B0503020204020204" pitchFamily="34" charset="-122"/>
                <a:ea typeface="微软雅黑" panose="020B0503020204020204" pitchFamily="34" charset="-122"/>
              </a:rPr>
              <a:t>ActivityThread</a:t>
            </a:r>
            <a:r>
              <a:rPr lang="zh-CN" altLang="en-US" sz="1400" b="0" dirty="0">
                <a:solidFill>
                  <a:srgbClr val="FF0000"/>
                </a:solidFill>
                <a:latin typeface="微软雅黑" panose="020B0503020204020204" pitchFamily="34" charset="-122"/>
                <a:ea typeface="微软雅黑" panose="020B0503020204020204" pitchFamily="34" charset="-122"/>
              </a:rPr>
              <a:t>内部的</a:t>
            </a:r>
            <a:r>
              <a:rPr lang="en-US" altLang="zh-CN" sz="1400" b="0" dirty="0">
                <a:solidFill>
                  <a:srgbClr val="FF0000"/>
                </a:solidFill>
                <a:latin typeface="微软雅黑" panose="020B0503020204020204" pitchFamily="34" charset="-122"/>
                <a:ea typeface="微软雅黑" panose="020B0503020204020204" pitchFamily="34" charset="-122"/>
              </a:rPr>
              <a:t>Context</a:t>
            </a:r>
            <a:r>
              <a:rPr lang="zh-CN" altLang="en-US" sz="1400" b="0" dirty="0">
                <a:solidFill>
                  <a:srgbClr val="FF0000"/>
                </a:solidFill>
                <a:latin typeface="微软雅黑" panose="020B0503020204020204" pitchFamily="34" charset="-122"/>
                <a:ea typeface="微软雅黑" panose="020B0503020204020204" pitchFamily="34" charset="-122"/>
              </a:rPr>
              <a:t>，提供环境变量、</a:t>
            </a:r>
            <a:r>
              <a:rPr lang="en-US" altLang="zh-CN" sz="1400" b="0" dirty="0">
                <a:solidFill>
                  <a:srgbClr val="FF0000"/>
                </a:solidFill>
                <a:latin typeface="微软雅黑" panose="020B0503020204020204" pitchFamily="34" charset="-122"/>
                <a:ea typeface="微软雅黑" panose="020B0503020204020204" pitchFamily="34" charset="-122"/>
              </a:rPr>
              <a:t>Res</a:t>
            </a:r>
            <a:r>
              <a:rPr lang="zh-CN" altLang="en-US" sz="1400" b="0" dirty="0">
                <a:solidFill>
                  <a:srgbClr val="FF0000"/>
                </a:solidFill>
                <a:latin typeface="微软雅黑" panose="020B0503020204020204" pitchFamily="34" charset="-122"/>
                <a:ea typeface="微软雅黑" panose="020B0503020204020204" pitchFamily="34" charset="-122"/>
              </a:rPr>
              <a:t>资源等的访问能力</a:t>
            </a:r>
          </a:p>
          <a:p>
            <a:pPr algn="l"/>
            <a:r>
              <a:rPr lang="zh-CN" altLang="en-US"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err="1" smtClean="0">
                <a:solidFill>
                  <a:srgbClr val="0070C0"/>
                </a:solidFill>
                <a:latin typeface="微软雅黑" panose="020B0503020204020204" pitchFamily="34" charset="-122"/>
                <a:ea typeface="微软雅黑" panose="020B0503020204020204" pitchFamily="34" charset="-122"/>
              </a:rPr>
              <a:t>thread.attach</a:t>
            </a:r>
            <a:r>
              <a:rPr lang="en-US" altLang="zh-CN" sz="1400" b="0" dirty="0" smtClean="0">
                <a:solidFill>
                  <a:srgbClr val="0070C0"/>
                </a:solidFill>
                <a:latin typeface="微软雅黑" panose="020B0503020204020204" pitchFamily="34" charset="-122"/>
                <a:ea typeface="微软雅黑" panose="020B0503020204020204" pitchFamily="34" charset="-122"/>
              </a:rPr>
              <a:t>(true</a:t>
            </a:r>
            <a:r>
              <a:rPr lang="en-US" altLang="zh-CN" sz="1400" b="0" dirty="0">
                <a:solidFill>
                  <a:srgbClr val="0070C0"/>
                </a:solidFill>
                <a:latin typeface="微软雅黑" panose="020B0503020204020204" pitchFamily="34" charset="-122"/>
                <a:ea typeface="微软雅黑" panose="020B0503020204020204" pitchFamily="34" charset="-122"/>
              </a:rPr>
              <a:t>, 0);</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return </a:t>
            </a:r>
            <a:r>
              <a:rPr lang="en-US" altLang="zh-CN" sz="1400" b="0" dirty="0">
                <a:solidFill>
                  <a:srgbClr val="0070C0"/>
                </a:solidFill>
                <a:latin typeface="微软雅黑" panose="020B0503020204020204" pitchFamily="34" charset="-122"/>
                <a:ea typeface="微软雅黑" panose="020B0503020204020204" pitchFamily="34" charset="-122"/>
              </a:rPr>
              <a:t>thread;</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public </a:t>
            </a:r>
            <a:r>
              <a:rPr lang="en-US" altLang="zh-CN" sz="1400" b="0" dirty="0" err="1">
                <a:solidFill>
                  <a:srgbClr val="0070C0"/>
                </a:solidFill>
                <a:latin typeface="微软雅黑" panose="020B0503020204020204" pitchFamily="34" charset="-122"/>
                <a:ea typeface="微软雅黑" panose="020B0503020204020204" pitchFamily="34" charset="-122"/>
              </a:rPr>
              <a:t>ContextImpl</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getSystemContext</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synchronized (this) {</a:t>
            </a:r>
          </a:p>
          <a:p>
            <a:pPr algn="l"/>
            <a:r>
              <a:rPr lang="en-US" altLang="zh-CN" sz="1400" b="0" dirty="0">
                <a:solidFill>
                  <a:srgbClr val="0070C0"/>
                </a:solidFill>
                <a:latin typeface="微软雅黑" panose="020B0503020204020204" pitchFamily="34" charset="-122"/>
                <a:ea typeface="微软雅黑" panose="020B0503020204020204" pitchFamily="34" charset="-122"/>
              </a:rPr>
              <a:t>        if (</a:t>
            </a:r>
            <a:r>
              <a:rPr lang="en-US" altLang="zh-CN" sz="1400" b="0" dirty="0" err="1">
                <a:solidFill>
                  <a:srgbClr val="0070C0"/>
                </a:solidFill>
                <a:latin typeface="微软雅黑" panose="020B0503020204020204" pitchFamily="34" charset="-122"/>
                <a:ea typeface="微软雅黑" panose="020B0503020204020204" pitchFamily="34" charset="-122"/>
              </a:rPr>
              <a:t>mSystemContext</a:t>
            </a:r>
            <a:r>
              <a:rPr lang="en-US" altLang="zh-CN" sz="1400" b="0" dirty="0">
                <a:solidFill>
                  <a:srgbClr val="0070C0"/>
                </a:solidFill>
                <a:latin typeface="微软雅黑" panose="020B0503020204020204" pitchFamily="34" charset="-122"/>
                <a:ea typeface="微软雅黑" panose="020B0503020204020204" pitchFamily="34" charset="-122"/>
              </a:rPr>
              <a:t> == null) {</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mSystemContext</a:t>
            </a:r>
            <a:r>
              <a:rPr lang="en-US" altLang="zh-CN" sz="1400" b="0" dirty="0">
                <a:solidFill>
                  <a:srgbClr val="0070C0"/>
                </a:solidFill>
                <a:latin typeface="微软雅黑" panose="020B0503020204020204" pitchFamily="34" charset="-122"/>
                <a:ea typeface="微软雅黑" panose="020B0503020204020204" pitchFamily="34" charset="-122"/>
              </a:rPr>
              <a:t> = </a:t>
            </a:r>
            <a:r>
              <a:rPr lang="en-US" altLang="zh-CN" sz="1400" b="0" dirty="0" err="1">
                <a:solidFill>
                  <a:srgbClr val="0070C0"/>
                </a:solidFill>
                <a:latin typeface="微软雅黑" panose="020B0503020204020204" pitchFamily="34" charset="-122"/>
                <a:ea typeface="微软雅黑" panose="020B0503020204020204" pitchFamily="34" charset="-122"/>
              </a:rPr>
              <a:t>ContextImpl.createSystemContext</a:t>
            </a:r>
            <a:r>
              <a:rPr lang="en-US" altLang="zh-CN" sz="1400" b="0" dirty="0">
                <a:solidFill>
                  <a:srgbClr val="0070C0"/>
                </a:solidFill>
                <a:latin typeface="微软雅黑" panose="020B0503020204020204" pitchFamily="34" charset="-122"/>
                <a:ea typeface="微软雅黑" panose="020B0503020204020204" pitchFamily="34" charset="-122"/>
              </a:rPr>
              <a:t>(this);</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a:t>
            </a:r>
            <a:r>
              <a:rPr lang="en-US" altLang="zh-CN" sz="1400" b="0" dirty="0" err="1">
                <a:solidFill>
                  <a:srgbClr val="0070C0"/>
                </a:solidFill>
                <a:latin typeface="微软雅黑" panose="020B0503020204020204" pitchFamily="34" charset="-122"/>
                <a:ea typeface="微软雅黑" panose="020B0503020204020204" pitchFamily="34" charset="-122"/>
              </a:rPr>
              <a:t>mSystemContext</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265751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SystemServer</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5847755"/>
          </a:xfrm>
          <a:prstGeom prst="rect">
            <a:avLst/>
          </a:prstGeom>
          <a:noFill/>
        </p:spPr>
        <p:txBody>
          <a:bodyPr wrap="square" rtlCol="0">
            <a:spAutoFit/>
          </a:bodyPr>
          <a:lstStyle/>
          <a:p>
            <a:pPr algn="l"/>
            <a:r>
              <a:rPr lang="en-US" altLang="zh-CN" sz="1400" b="0" dirty="0" smtClean="0">
                <a:solidFill>
                  <a:srgbClr val="0070C0"/>
                </a:solidFill>
                <a:latin typeface="微软雅黑" panose="020B0503020204020204" pitchFamily="34" charset="-122"/>
                <a:ea typeface="微软雅黑" panose="020B0503020204020204" pitchFamily="34" charset="-122"/>
              </a:rPr>
              <a:t>static </a:t>
            </a:r>
            <a:r>
              <a:rPr lang="en-US" altLang="zh-CN" sz="1400" b="0" dirty="0" err="1">
                <a:solidFill>
                  <a:srgbClr val="0070C0"/>
                </a:solidFill>
                <a:latin typeface="微软雅黑" panose="020B0503020204020204" pitchFamily="34" charset="-122"/>
                <a:ea typeface="微软雅黑" panose="020B0503020204020204" pitchFamily="34" charset="-122"/>
              </a:rPr>
              <a:t>ContextImpl</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createSystemContext</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ActivityThread</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mainThread</a:t>
            </a:r>
            <a:r>
              <a:rPr lang="en-US" altLang="zh-CN" sz="1400" b="0" dirty="0">
                <a:solidFill>
                  <a:srgbClr val="0070C0"/>
                </a:solidFill>
                <a:latin typeface="微软雅黑" panose="020B0503020204020204" pitchFamily="34" charset="-122"/>
                <a:ea typeface="微软雅黑" panose="020B0503020204020204" pitchFamily="34" charset="-122"/>
              </a:rPr>
              <a:t>) {</a:t>
            </a:r>
          </a:p>
          <a:p>
            <a:pPr algn="l"/>
            <a:r>
              <a:rPr lang="en-US" altLang="zh-CN" sz="1400" b="0" dirty="0">
                <a:solidFill>
                  <a:srgbClr val="FF000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1</a:t>
            </a:r>
            <a:r>
              <a:rPr lang="en-US" altLang="zh-CN" sz="1400" b="0" dirty="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创建</a:t>
            </a:r>
            <a:r>
              <a:rPr lang="en-US" altLang="zh-CN" sz="1400" b="0" dirty="0" err="1">
                <a:solidFill>
                  <a:srgbClr val="FF0000"/>
                </a:solidFill>
                <a:latin typeface="微软雅黑" panose="020B0503020204020204" pitchFamily="34" charset="-122"/>
                <a:ea typeface="微软雅黑" panose="020B0503020204020204" pitchFamily="34" charset="-122"/>
              </a:rPr>
              <a:t>LoadedApk</a:t>
            </a:r>
            <a:r>
              <a:rPr lang="zh-CN" altLang="en-US" sz="1400" b="0" dirty="0">
                <a:solidFill>
                  <a:srgbClr val="FF0000"/>
                </a:solidFill>
                <a:latin typeface="微软雅黑" panose="020B0503020204020204" pitchFamily="34" charset="-122"/>
                <a:ea typeface="微软雅黑" panose="020B0503020204020204" pitchFamily="34" charset="-122"/>
              </a:rPr>
              <a:t>对象</a:t>
            </a:r>
          </a:p>
          <a:p>
            <a:pPr algn="l"/>
            <a:r>
              <a:rPr lang="zh-CN" altLang="en-US" sz="1400" b="0" dirty="0">
                <a:solidFill>
                  <a:srgbClr val="FF000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en-US" altLang="zh-CN" sz="1400" b="0" dirty="0" smtClean="0">
                <a:solidFill>
                  <a:srgbClr val="FF0000"/>
                </a:solidFill>
                <a:latin typeface="微软雅黑" panose="020B0503020204020204" pitchFamily="34" charset="-122"/>
                <a:ea typeface="微软雅黑" panose="020B0503020204020204" pitchFamily="34" charset="-122"/>
              </a:rPr>
              <a:t>2.</a:t>
            </a:r>
            <a:r>
              <a:rPr lang="zh-CN" altLang="en-US" sz="1400" b="0" dirty="0" smtClean="0">
                <a:solidFill>
                  <a:srgbClr val="FF0000"/>
                </a:solidFill>
                <a:latin typeface="微软雅黑" panose="020B0503020204020204" pitchFamily="34" charset="-122"/>
                <a:ea typeface="微软雅黑" panose="020B0503020204020204" pitchFamily="34" charset="-122"/>
              </a:rPr>
              <a:t>创建</a:t>
            </a:r>
            <a:r>
              <a:rPr lang="zh-CN" altLang="en-US" sz="1400" b="0" dirty="0">
                <a:solidFill>
                  <a:srgbClr val="FF0000"/>
                </a:solidFill>
                <a:latin typeface="微软雅黑" panose="020B0503020204020204" pitchFamily="34" charset="-122"/>
                <a:ea typeface="微软雅黑" panose="020B0503020204020204" pitchFamily="34" charset="-122"/>
              </a:rPr>
              <a:t>系统上下文</a:t>
            </a:r>
          </a:p>
          <a:p>
            <a:pPr algn="l"/>
            <a:r>
              <a:rPr lang="zh-CN" altLang="en-US" sz="1400" b="0" dirty="0">
                <a:solidFill>
                  <a:srgbClr val="FF0000"/>
                </a:solidFill>
                <a:latin typeface="微软雅黑" panose="020B0503020204020204" pitchFamily="34" charset="-122"/>
                <a:ea typeface="微软雅黑" panose="020B0503020204020204" pitchFamily="34" charset="-122"/>
              </a:rPr>
              <a:t>    </a:t>
            </a:r>
            <a:r>
              <a:rPr lang="en-US" altLang="zh-CN" sz="1400" b="0" dirty="0">
                <a:solidFill>
                  <a:srgbClr val="FF0000"/>
                </a:solidFill>
                <a:latin typeface="微软雅黑" panose="020B0503020204020204" pitchFamily="34" charset="-122"/>
                <a:ea typeface="微软雅黑" panose="020B0503020204020204" pitchFamily="34" charset="-122"/>
              </a:rPr>
              <a:t>//</a:t>
            </a:r>
            <a:r>
              <a:rPr lang="en-US" altLang="zh-CN" sz="1400" b="0" dirty="0" smtClean="0">
                <a:solidFill>
                  <a:srgbClr val="FF0000"/>
                </a:solidFill>
                <a:latin typeface="微软雅黑" panose="020B0503020204020204" pitchFamily="34" charset="-122"/>
                <a:ea typeface="微软雅黑" panose="020B0503020204020204" pitchFamily="34" charset="-122"/>
              </a:rPr>
              <a:t>3.</a:t>
            </a:r>
            <a:r>
              <a:rPr lang="zh-CN" altLang="en-US" sz="1400" b="0" dirty="0" smtClean="0">
                <a:solidFill>
                  <a:srgbClr val="FF0000"/>
                </a:solidFill>
                <a:latin typeface="微软雅黑" panose="020B0503020204020204" pitchFamily="34" charset="-122"/>
                <a:ea typeface="微软雅黑" panose="020B0503020204020204" pitchFamily="34" charset="-122"/>
              </a:rPr>
              <a:t>系统</a:t>
            </a:r>
            <a:r>
              <a:rPr lang="zh-CN" altLang="en-US" sz="1400" b="0" dirty="0">
                <a:solidFill>
                  <a:srgbClr val="FF0000"/>
                </a:solidFill>
                <a:latin typeface="微软雅黑" panose="020B0503020204020204" pitchFamily="34" charset="-122"/>
                <a:ea typeface="微软雅黑" panose="020B0503020204020204" pitchFamily="34" charset="-122"/>
              </a:rPr>
              <a:t>上下文设置</a:t>
            </a:r>
            <a:r>
              <a:rPr lang="zh-CN" altLang="en-US" sz="1400" b="0" dirty="0" smtClean="0">
                <a:solidFill>
                  <a:srgbClr val="FF0000"/>
                </a:solidFill>
                <a:latin typeface="微软雅黑" panose="020B0503020204020204" pitchFamily="34" charset="-122"/>
                <a:ea typeface="微软雅黑" panose="020B0503020204020204" pitchFamily="34" charset="-122"/>
              </a:rPr>
              <a:t>资源，</a:t>
            </a:r>
            <a:r>
              <a:rPr lang="en-US" altLang="zh-CN" sz="1400" b="0" dirty="0" smtClean="0">
                <a:solidFill>
                  <a:srgbClr val="FF0000"/>
                </a:solidFill>
                <a:latin typeface="微软雅黑" panose="020B0503020204020204" pitchFamily="34" charset="-122"/>
                <a:ea typeface="微软雅黑" panose="020B0503020204020204" pitchFamily="34" charset="-122"/>
              </a:rPr>
              <a:t>PMS</a:t>
            </a:r>
            <a:r>
              <a:rPr lang="zh-CN" altLang="en-US" sz="1400" b="0" dirty="0" smtClean="0">
                <a:solidFill>
                  <a:srgbClr val="FF0000"/>
                </a:solidFill>
                <a:latin typeface="微软雅黑" panose="020B0503020204020204" pitchFamily="34" charset="-122"/>
                <a:ea typeface="微软雅黑" panose="020B0503020204020204" pitchFamily="34" charset="-122"/>
              </a:rPr>
              <a:t>启动时，会加载</a:t>
            </a:r>
            <a:r>
              <a:rPr lang="en-US" altLang="zh-CN" sz="1400" b="0" dirty="0" smtClean="0">
                <a:solidFill>
                  <a:srgbClr val="FF0000"/>
                </a:solidFill>
                <a:latin typeface="微软雅黑" panose="020B0503020204020204" pitchFamily="34" charset="-122"/>
                <a:ea typeface="微软雅黑" panose="020B0503020204020204" pitchFamily="34" charset="-122"/>
              </a:rPr>
              <a:t>framework-</a:t>
            </a:r>
            <a:r>
              <a:rPr lang="en-US" altLang="zh-CN" sz="1400" b="0" dirty="0" err="1" smtClean="0">
                <a:solidFill>
                  <a:srgbClr val="FF0000"/>
                </a:solidFill>
                <a:latin typeface="微软雅黑" panose="020B0503020204020204" pitchFamily="34" charset="-122"/>
                <a:ea typeface="微软雅黑" panose="020B0503020204020204" pitchFamily="34" charset="-122"/>
              </a:rPr>
              <a:t>res.apk</a:t>
            </a:r>
            <a:r>
              <a:rPr lang="zh-CN" altLang="en-US" sz="1400" b="0" dirty="0" smtClean="0">
                <a:solidFill>
                  <a:srgbClr val="FF0000"/>
                </a:solidFill>
                <a:latin typeface="微软雅黑" panose="020B0503020204020204" pitchFamily="34" charset="-122"/>
                <a:ea typeface="微软雅黑" panose="020B0503020204020204" pitchFamily="34" charset="-122"/>
              </a:rPr>
              <a:t>的资源</a:t>
            </a:r>
            <a:endParaRPr lang="zh-CN" altLang="en-US" sz="1400" b="0" dirty="0">
              <a:solidFill>
                <a:srgbClr val="FF0000"/>
              </a:solidFill>
              <a:latin typeface="微软雅黑" panose="020B0503020204020204" pitchFamily="34" charset="-122"/>
              <a:ea typeface="微软雅黑" panose="020B0503020204020204" pitchFamily="34" charset="-122"/>
            </a:endParaRPr>
          </a:p>
          <a:p>
            <a:pPr algn="l"/>
            <a:r>
              <a:rPr lang="zh-CN" altLang="en-US"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LoadedApk</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packageInfo</a:t>
            </a:r>
            <a:r>
              <a:rPr lang="en-US" altLang="zh-CN" sz="1400" b="0" dirty="0">
                <a:solidFill>
                  <a:srgbClr val="0070C0"/>
                </a:solidFill>
                <a:latin typeface="微软雅黑" panose="020B0503020204020204" pitchFamily="34" charset="-122"/>
                <a:ea typeface="微软雅黑" panose="020B0503020204020204" pitchFamily="34" charset="-122"/>
              </a:rPr>
              <a:t> = new </a:t>
            </a:r>
            <a:r>
              <a:rPr lang="en-US" altLang="zh-CN" sz="1400" b="0" dirty="0" err="1">
                <a:solidFill>
                  <a:srgbClr val="0070C0"/>
                </a:solidFill>
                <a:latin typeface="微软雅黑" panose="020B0503020204020204" pitchFamily="34" charset="-122"/>
                <a:ea typeface="微软雅黑" panose="020B0503020204020204" pitchFamily="34" charset="-122"/>
              </a:rPr>
              <a:t>LoadedApk</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mainThread</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ContextImpl</a:t>
            </a:r>
            <a:r>
              <a:rPr lang="en-US" altLang="zh-CN" sz="1400" b="0" dirty="0">
                <a:solidFill>
                  <a:srgbClr val="0070C0"/>
                </a:solidFill>
                <a:latin typeface="微软雅黑" panose="020B0503020204020204" pitchFamily="34" charset="-122"/>
                <a:ea typeface="微软雅黑" panose="020B0503020204020204" pitchFamily="34" charset="-122"/>
              </a:rPr>
              <a:t> context = new </a:t>
            </a:r>
            <a:r>
              <a:rPr lang="en-US" altLang="zh-CN" sz="1400" b="0" dirty="0" err="1">
                <a:solidFill>
                  <a:srgbClr val="0070C0"/>
                </a:solidFill>
                <a:latin typeface="微软雅黑" panose="020B0503020204020204" pitchFamily="34" charset="-122"/>
                <a:ea typeface="微软雅黑" panose="020B0503020204020204" pitchFamily="34" charset="-122"/>
              </a:rPr>
              <a:t>ContextImpl</a:t>
            </a:r>
            <a:r>
              <a:rPr lang="en-US" altLang="zh-CN" sz="1400" b="0" dirty="0">
                <a:solidFill>
                  <a:srgbClr val="0070C0"/>
                </a:solidFill>
                <a:latin typeface="微软雅黑" panose="020B0503020204020204" pitchFamily="34" charset="-122"/>
                <a:ea typeface="微软雅黑" panose="020B0503020204020204" pitchFamily="34" charset="-122"/>
              </a:rPr>
              <a:t>(null, </a:t>
            </a:r>
            <a:r>
              <a:rPr lang="en-US" altLang="zh-CN" sz="1400" b="0" dirty="0" err="1">
                <a:solidFill>
                  <a:srgbClr val="0070C0"/>
                </a:solidFill>
                <a:latin typeface="微软雅黑" panose="020B0503020204020204" pitchFamily="34" charset="-122"/>
                <a:ea typeface="微软雅黑" panose="020B0503020204020204" pitchFamily="34" charset="-122"/>
              </a:rPr>
              <a:t>mainThread</a:t>
            </a:r>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packageInfo</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ContextParams.EMPTY</a:t>
            </a:r>
            <a:r>
              <a:rPr lang="en-US" altLang="zh-CN" sz="1400" b="0" dirty="0">
                <a:solidFill>
                  <a:srgbClr val="0070C0"/>
                </a:solidFill>
                <a:latin typeface="微软雅黑" panose="020B0503020204020204" pitchFamily="34" charset="-122"/>
                <a:ea typeface="微软雅黑" panose="020B0503020204020204" pitchFamily="34" charset="-122"/>
              </a:rPr>
              <a:t>, null, null, null, null, null, 0, null, null);</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context.setResources</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packageInfo.getResources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context.mResources.updateConfiguration</a:t>
            </a:r>
            <a:r>
              <a:rPr lang="en-US" altLang="zh-CN" sz="1400" b="0" dirty="0">
                <a:solidFill>
                  <a:srgbClr val="0070C0"/>
                </a:solidFill>
                <a:latin typeface="微软雅黑" panose="020B0503020204020204" pitchFamily="34" charset="-122"/>
                <a:ea typeface="微软雅黑" panose="020B0503020204020204" pitchFamily="34" charset="-122"/>
              </a:rPr>
              <a:t>(</a:t>
            </a:r>
            <a:r>
              <a:rPr lang="en-US" altLang="zh-CN" sz="1400" b="0" dirty="0" err="1">
                <a:solidFill>
                  <a:srgbClr val="0070C0"/>
                </a:solidFill>
                <a:latin typeface="微软雅黑" panose="020B0503020204020204" pitchFamily="34" charset="-122"/>
                <a:ea typeface="微软雅黑" panose="020B0503020204020204" pitchFamily="34" charset="-122"/>
              </a:rPr>
              <a:t>context.mResourcesManager.getConfiguration</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context.mResourcesManager.getDisplayMetrics</a:t>
            </a:r>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400" b="0" dirty="0">
                <a:solidFill>
                  <a:srgbClr val="0070C0"/>
                </a:solidFill>
                <a:latin typeface="微软雅黑" panose="020B0503020204020204" pitchFamily="34" charset="-122"/>
                <a:ea typeface="微软雅黑" panose="020B0503020204020204" pitchFamily="34" charset="-122"/>
              </a:rPr>
              <a:t>    </a:t>
            </a:r>
            <a:r>
              <a:rPr lang="en-US" altLang="zh-CN" sz="1400" b="0" dirty="0" err="1">
                <a:solidFill>
                  <a:srgbClr val="0070C0"/>
                </a:solidFill>
                <a:latin typeface="微软雅黑" panose="020B0503020204020204" pitchFamily="34" charset="-122"/>
                <a:ea typeface="微软雅黑" panose="020B0503020204020204" pitchFamily="34" charset="-122"/>
              </a:rPr>
              <a:t>context.mContextType</a:t>
            </a:r>
            <a:r>
              <a:rPr lang="en-US" altLang="zh-CN" sz="1400" b="0" dirty="0">
                <a:solidFill>
                  <a:srgbClr val="0070C0"/>
                </a:solidFill>
                <a:latin typeface="微软雅黑" panose="020B0503020204020204" pitchFamily="34" charset="-122"/>
                <a:ea typeface="微软雅黑" panose="020B0503020204020204" pitchFamily="34" charset="-122"/>
              </a:rPr>
              <a:t> = CONTEXT_TYPE_SYSTEM_OR_SYSTEM_UI;</a:t>
            </a:r>
          </a:p>
          <a:p>
            <a:pPr algn="l"/>
            <a:r>
              <a:rPr lang="en-US" altLang="zh-CN" sz="1400" b="0" dirty="0">
                <a:solidFill>
                  <a:srgbClr val="0070C0"/>
                </a:solidFill>
                <a:latin typeface="微软雅黑" panose="020B0503020204020204" pitchFamily="34" charset="-122"/>
                <a:ea typeface="微软雅黑" panose="020B0503020204020204" pitchFamily="34" charset="-122"/>
              </a:rPr>
              <a:t>    return context;</a:t>
            </a:r>
          </a:p>
          <a:p>
            <a:pPr algn="l"/>
            <a:r>
              <a:rPr lang="en-US" altLang="zh-CN" sz="1400" b="0" dirty="0">
                <a:solidFill>
                  <a:srgbClr val="0070C0"/>
                </a:solidFill>
                <a:latin typeface="微软雅黑" panose="020B0503020204020204" pitchFamily="34" charset="-122"/>
                <a:ea typeface="微软雅黑" panose="020B0503020204020204" pitchFamily="34" charset="-122"/>
              </a:rPr>
              <a:t>}</a:t>
            </a:r>
          </a:p>
          <a:p>
            <a:pPr algn="l"/>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构建</a:t>
            </a:r>
            <a:r>
              <a:rPr lang="en-US" altLang="zh-CN" sz="1600" b="0" dirty="0" err="1">
                <a:latin typeface="微软雅黑" panose="020B0503020204020204" pitchFamily="34" charset="-122"/>
                <a:ea typeface="微软雅黑" panose="020B0503020204020204" pitchFamily="34" charset="-122"/>
              </a:rPr>
              <a:t>SystemServiceManager</a:t>
            </a:r>
            <a:r>
              <a:rPr lang="zh-CN" altLang="en-US" sz="1600" b="0" dirty="0">
                <a:latin typeface="微软雅黑" panose="020B0503020204020204" pitchFamily="34" charset="-122"/>
                <a:ea typeface="微软雅黑" panose="020B0503020204020204" pitchFamily="34" charset="-122"/>
              </a:rPr>
              <a:t>对象，并将该对象添加到</a:t>
            </a:r>
            <a:r>
              <a:rPr lang="en-US" altLang="zh-CN" sz="1600" b="0" dirty="0" err="1">
                <a:latin typeface="微软雅黑" panose="020B0503020204020204" pitchFamily="34" charset="-122"/>
                <a:ea typeface="微软雅黑" panose="020B0503020204020204" pitchFamily="34" charset="-122"/>
              </a:rPr>
              <a:t>ArrayMap</a:t>
            </a:r>
            <a:r>
              <a:rPr lang="zh-CN" altLang="en-US" sz="1600" b="0" dirty="0">
                <a:latin typeface="微软雅黑" panose="020B0503020204020204" pitchFamily="34" charset="-122"/>
                <a:ea typeface="微软雅黑" panose="020B0503020204020204" pitchFamily="34" charset="-122"/>
              </a:rPr>
              <a:t>中管理</a:t>
            </a:r>
          </a:p>
          <a:p>
            <a:pPr algn="l"/>
            <a:r>
              <a:rPr lang="en-US" altLang="zh-CN" sz="1600" b="0" dirty="0" err="1" smtClean="0">
                <a:latin typeface="微软雅黑" panose="020B0503020204020204" pitchFamily="34" charset="-122"/>
                <a:ea typeface="微软雅黑" panose="020B0503020204020204" pitchFamily="34" charset="-122"/>
              </a:rPr>
              <a:t>SystemServiceManager</a:t>
            </a:r>
            <a:r>
              <a:rPr lang="zh-CN" altLang="en-US" sz="1600" b="0" dirty="0" smtClean="0">
                <a:latin typeface="微软雅黑" panose="020B0503020204020204" pitchFamily="34" charset="-122"/>
                <a:ea typeface="微软雅黑" panose="020B0503020204020204" pitchFamily="34" charset="-122"/>
              </a:rPr>
              <a:t>的作用主要有</a:t>
            </a:r>
            <a:r>
              <a:rPr lang="en-US" altLang="zh-CN" sz="1600" b="0" dirty="0" smtClean="0">
                <a:latin typeface="微软雅黑" panose="020B0503020204020204" pitchFamily="34" charset="-122"/>
                <a:ea typeface="微软雅黑" panose="020B0503020204020204" pitchFamily="34" charset="-122"/>
              </a:rPr>
              <a:t>2</a:t>
            </a:r>
            <a:r>
              <a:rPr lang="zh-CN" altLang="en-US" sz="1600" b="0" dirty="0" smtClean="0">
                <a:latin typeface="微软雅黑" panose="020B0503020204020204" pitchFamily="34" charset="-122"/>
                <a:ea typeface="微软雅黑" panose="020B0503020204020204" pitchFamily="34" charset="-122"/>
              </a:rPr>
              <a:t>个：</a:t>
            </a:r>
            <a:endParaRPr lang="en-US" altLang="zh-CN" sz="1600" b="0" dirty="0" smtClean="0">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en-US" altLang="zh-CN" sz="1600" b="0" dirty="0" err="1">
                <a:latin typeface="微软雅黑" panose="020B0503020204020204" pitchFamily="34" charset="-122"/>
                <a:ea typeface="微软雅黑" panose="020B0503020204020204" pitchFamily="34" charset="-122"/>
              </a:rPr>
              <a:t>startService</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通过反射创建相关服务，并且调用对应服务的</a:t>
            </a:r>
            <a:r>
              <a:rPr lang="en-US" altLang="zh-CN" sz="1600" b="0" dirty="0" err="1">
                <a:latin typeface="微软雅黑" panose="020B0503020204020204" pitchFamily="34" charset="-122"/>
                <a:ea typeface="微软雅黑" panose="020B0503020204020204" pitchFamily="34" charset="-122"/>
              </a:rPr>
              <a:t>onStart</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方法来开启服务</a:t>
            </a:r>
          </a:p>
          <a:p>
            <a:pPr marL="285750" indent="-285750" algn="l">
              <a:buFont typeface="Arial" panose="020B0604020202020204" pitchFamily="34" charset="0"/>
              <a:buChar char="•"/>
            </a:pPr>
            <a:r>
              <a:rPr lang="en-US" altLang="zh-CN" sz="1600" b="0" dirty="0" err="1">
                <a:latin typeface="微软雅黑" panose="020B0503020204020204" pitchFamily="34" charset="-122"/>
                <a:ea typeface="微软雅黑" panose="020B0503020204020204" pitchFamily="34" charset="-122"/>
              </a:rPr>
              <a:t>startBootPhase</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开启特殊的启动阶段节点</a:t>
            </a:r>
            <a:r>
              <a:rPr lang="zh-CN" altLang="en-US" sz="1600" b="0" dirty="0" smtClean="0">
                <a:latin typeface="微软雅黑" panose="020B0503020204020204" pitchFamily="34" charset="-122"/>
                <a:ea typeface="微软雅黑" panose="020B0503020204020204" pitchFamily="34" charset="-122"/>
              </a:rPr>
              <a:t>，调用服务的</a:t>
            </a:r>
            <a:r>
              <a:rPr lang="en-US" altLang="zh-CN" sz="1600" b="0" dirty="0" err="1" smtClean="0">
                <a:latin typeface="微软雅黑" panose="020B0503020204020204" pitchFamily="34" charset="-122"/>
                <a:ea typeface="微软雅黑" panose="020B0503020204020204" pitchFamily="34" charset="-122"/>
              </a:rPr>
              <a:t>onBootPhase</a:t>
            </a:r>
            <a:r>
              <a:rPr lang="en-US" altLang="zh-CN" sz="1600" b="0" dirty="0" smtClean="0">
                <a:latin typeface="微软雅黑" panose="020B0503020204020204" pitchFamily="34" charset="-122"/>
                <a:ea typeface="微软雅黑" panose="020B0503020204020204" pitchFamily="34" charset="-122"/>
              </a:rPr>
              <a:t>(phase)</a:t>
            </a:r>
            <a:r>
              <a:rPr lang="zh-CN" altLang="en-US" sz="1600" b="0" dirty="0" smtClean="0">
                <a:latin typeface="微软雅黑" panose="020B0503020204020204" pitchFamily="34" charset="-122"/>
                <a:ea typeface="微软雅黑" panose="020B0503020204020204" pitchFamily="34" charset="-122"/>
              </a:rPr>
              <a:t>各项服务</a:t>
            </a:r>
            <a:r>
              <a:rPr lang="zh-CN" altLang="en-US" sz="1600" b="0" dirty="0">
                <a:latin typeface="微软雅黑" panose="020B0503020204020204" pitchFamily="34" charset="-122"/>
                <a:ea typeface="微软雅黑" panose="020B0503020204020204" pitchFamily="34" charset="-122"/>
              </a:rPr>
              <a:t>会根据不同的阶段节点执行不同的逻辑。</a:t>
            </a:r>
            <a:endParaRPr lang="en-US" altLang="zh-CN" sz="1600" b="0" dirty="0">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en-US" altLang="zh-CN" sz="1400" b="0" dirty="0" smtClean="0">
                <a:solidFill>
                  <a:srgbClr val="FF0000"/>
                </a:solidFill>
                <a:latin typeface="微软雅黑" panose="020B0503020204020204" pitchFamily="34" charset="-122"/>
                <a:ea typeface="微软雅黑" panose="020B0503020204020204" pitchFamily="34" charset="-122"/>
              </a:rPr>
              <a:t>//</a:t>
            </a:r>
            <a:r>
              <a:rPr lang="zh-CN" altLang="en-US" sz="1400" b="0" dirty="0" smtClean="0">
                <a:solidFill>
                  <a:srgbClr val="FF0000"/>
                </a:solidFill>
                <a:latin typeface="微软雅黑" panose="020B0503020204020204" pitchFamily="34" charset="-122"/>
                <a:ea typeface="微软雅黑" panose="020B0503020204020204" pitchFamily="34" charset="-122"/>
              </a:rPr>
              <a:t>启动</a:t>
            </a:r>
            <a:r>
              <a:rPr lang="zh-CN" altLang="en-US" sz="1400" b="0" dirty="0">
                <a:solidFill>
                  <a:srgbClr val="FF0000"/>
                </a:solidFill>
                <a:latin typeface="微软雅黑" panose="020B0503020204020204" pitchFamily="34" charset="-122"/>
                <a:ea typeface="微软雅黑" panose="020B0503020204020204" pitchFamily="34" charset="-122"/>
              </a:rPr>
              <a:t>阶段，初始化一些默认展示</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public </a:t>
            </a:r>
            <a:r>
              <a:rPr lang="en-US" altLang="zh-CN" sz="1400" b="0" dirty="0">
                <a:solidFill>
                  <a:srgbClr val="0070C0"/>
                </a:solidFill>
                <a:latin typeface="微软雅黑" panose="020B0503020204020204" pitchFamily="34" charset="-122"/>
                <a:ea typeface="微软雅黑" panose="020B0503020204020204" pitchFamily="34" charset="-122"/>
              </a:rPr>
              <a:t>static final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PHASE_WAIT_FOR_DEFAULT_DISPLAY = 100;</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zh-CN" altLang="en-US" sz="1400" b="0" dirty="0" smtClean="0">
                <a:solidFill>
                  <a:srgbClr val="0070C0"/>
                </a:solidFill>
                <a:latin typeface="微软雅黑" panose="020B0503020204020204" pitchFamily="34" charset="-122"/>
                <a:ea typeface="微软雅黑" panose="020B0503020204020204" pitchFamily="34" charset="-122"/>
              </a:rPr>
              <a:t>该</a:t>
            </a:r>
            <a:r>
              <a:rPr lang="zh-CN" altLang="en-US" sz="1400" b="0" dirty="0">
                <a:solidFill>
                  <a:srgbClr val="0070C0"/>
                </a:solidFill>
                <a:latin typeface="微软雅黑" panose="020B0503020204020204" pitchFamily="34" charset="-122"/>
                <a:ea typeface="微软雅黑" panose="020B0503020204020204" pitchFamily="34" charset="-122"/>
              </a:rPr>
              <a:t>启动阶段将会锁定</a:t>
            </a:r>
            <a:r>
              <a:rPr lang="en-US" altLang="zh-CN" sz="1400" b="0" dirty="0">
                <a:solidFill>
                  <a:srgbClr val="0070C0"/>
                </a:solidFill>
                <a:latin typeface="微软雅黑" panose="020B0503020204020204" pitchFamily="34" charset="-122"/>
                <a:ea typeface="微软雅黑" panose="020B0503020204020204" pitchFamily="34" charset="-122"/>
              </a:rPr>
              <a:t>setting</a:t>
            </a:r>
            <a:r>
              <a:rPr lang="zh-CN" altLang="en-US" sz="1400" b="0" dirty="0">
                <a:solidFill>
                  <a:srgbClr val="0070C0"/>
                </a:solidFill>
                <a:latin typeface="微软雅黑" panose="020B0503020204020204" pitchFamily="34" charset="-122"/>
                <a:ea typeface="微软雅黑" panose="020B0503020204020204" pitchFamily="34" charset="-122"/>
              </a:rPr>
              <a:t>数据</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public </a:t>
            </a:r>
            <a:r>
              <a:rPr lang="en-US" altLang="zh-CN" sz="1400" b="0" dirty="0">
                <a:solidFill>
                  <a:srgbClr val="0070C0"/>
                </a:solidFill>
                <a:latin typeface="微软雅黑" panose="020B0503020204020204" pitchFamily="34" charset="-122"/>
                <a:ea typeface="微软雅黑" panose="020B0503020204020204" pitchFamily="34" charset="-122"/>
              </a:rPr>
              <a:t>static final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PHASE_LOCK_SETTINGS_READY = 480;</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zh-CN" altLang="en-US" sz="1400" b="0" dirty="0" smtClean="0">
                <a:solidFill>
                  <a:srgbClr val="0070C0"/>
                </a:solidFill>
                <a:latin typeface="微软雅黑" panose="020B0503020204020204" pitchFamily="34" charset="-122"/>
                <a:ea typeface="微软雅黑" panose="020B0503020204020204" pitchFamily="34" charset="-122"/>
              </a:rPr>
              <a:t>该</a:t>
            </a:r>
            <a:r>
              <a:rPr lang="zh-CN" altLang="en-US" sz="1400" b="0" dirty="0">
                <a:solidFill>
                  <a:srgbClr val="0070C0"/>
                </a:solidFill>
                <a:latin typeface="微软雅黑" panose="020B0503020204020204" pitchFamily="34" charset="-122"/>
                <a:ea typeface="微软雅黑" panose="020B0503020204020204" pitchFamily="34" charset="-122"/>
              </a:rPr>
              <a:t>启动阶段将会调用核心的</a:t>
            </a:r>
            <a:r>
              <a:rPr lang="en-US" altLang="zh-CN" sz="1400" b="0" dirty="0">
                <a:solidFill>
                  <a:srgbClr val="0070C0"/>
                </a:solidFill>
                <a:latin typeface="微软雅黑" panose="020B0503020204020204" pitchFamily="34" charset="-122"/>
                <a:ea typeface="微软雅黑" panose="020B0503020204020204" pitchFamily="34" charset="-122"/>
              </a:rPr>
              <a:t>system services</a:t>
            </a:r>
            <a:r>
              <a:rPr lang="zh-CN" altLang="en-US" sz="1400" b="0" dirty="0">
                <a:solidFill>
                  <a:srgbClr val="0070C0"/>
                </a:solidFill>
                <a:latin typeface="微软雅黑" panose="020B0503020204020204" pitchFamily="34" charset="-122"/>
                <a:ea typeface="微软雅黑" panose="020B0503020204020204" pitchFamily="34" charset="-122"/>
              </a:rPr>
              <a:t>，例如</a:t>
            </a:r>
            <a:r>
              <a:rPr lang="en-US" altLang="zh-CN" sz="1400" b="0" dirty="0" err="1">
                <a:solidFill>
                  <a:srgbClr val="0070C0"/>
                </a:solidFill>
                <a:latin typeface="微软雅黑" panose="020B0503020204020204" pitchFamily="34" charset="-122"/>
                <a:ea typeface="微软雅黑" panose="020B0503020204020204" pitchFamily="34" charset="-122"/>
              </a:rPr>
              <a:t>PowerManager</a:t>
            </a:r>
            <a:r>
              <a:rPr lang="zh-CN" altLang="en-US" sz="1400" b="0" dirty="0">
                <a:solidFill>
                  <a:srgbClr val="0070C0"/>
                </a:solidFill>
                <a:latin typeface="微软雅黑" panose="020B0503020204020204" pitchFamily="34" charset="-122"/>
                <a:ea typeface="微软雅黑" panose="020B0503020204020204" pitchFamily="34" charset="-122"/>
              </a:rPr>
              <a:t>与</a:t>
            </a:r>
            <a:r>
              <a:rPr lang="en-US" altLang="zh-CN" sz="1400" b="0" dirty="0" err="1">
                <a:solidFill>
                  <a:srgbClr val="0070C0"/>
                </a:solidFill>
                <a:latin typeface="微软雅黑" panose="020B0503020204020204" pitchFamily="34" charset="-122"/>
                <a:ea typeface="微软雅黑" panose="020B0503020204020204" pitchFamily="34" charset="-122"/>
              </a:rPr>
              <a:t>PackageManager</a:t>
            </a:r>
            <a:endParaRPr lang="en-US" altLang="zh-CN" sz="1400" b="0" dirty="0">
              <a:solidFill>
                <a:srgbClr val="0070C0"/>
              </a:solidFill>
              <a:latin typeface="微软雅黑" panose="020B0503020204020204" pitchFamily="34" charset="-122"/>
              <a:ea typeface="微软雅黑" panose="020B0503020204020204" pitchFamily="34" charset="-122"/>
            </a:endParaRP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public </a:t>
            </a:r>
            <a:r>
              <a:rPr lang="en-US" altLang="zh-CN" sz="1400" b="0" dirty="0">
                <a:solidFill>
                  <a:srgbClr val="0070C0"/>
                </a:solidFill>
                <a:latin typeface="微软雅黑" panose="020B0503020204020204" pitchFamily="34" charset="-122"/>
                <a:ea typeface="微软雅黑" panose="020B0503020204020204" pitchFamily="34" charset="-122"/>
              </a:rPr>
              <a:t>static final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PHASE_SYSTEM_SERVICES_READY = 500;</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a:t>
            </a:r>
            <a:r>
              <a:rPr lang="zh-CN" altLang="en-US" sz="1400" b="0" dirty="0" smtClean="0">
                <a:solidFill>
                  <a:srgbClr val="0070C0"/>
                </a:solidFill>
                <a:latin typeface="微软雅黑" panose="020B0503020204020204" pitchFamily="34" charset="-122"/>
                <a:ea typeface="微软雅黑" panose="020B0503020204020204" pitchFamily="34" charset="-122"/>
              </a:rPr>
              <a:t>该</a:t>
            </a:r>
            <a:r>
              <a:rPr lang="zh-CN" altLang="en-US" sz="1400" b="0" dirty="0">
                <a:solidFill>
                  <a:srgbClr val="0070C0"/>
                </a:solidFill>
                <a:latin typeface="微软雅黑" panose="020B0503020204020204" pitchFamily="34" charset="-122"/>
                <a:ea typeface="微软雅黑" panose="020B0503020204020204" pitchFamily="34" charset="-122"/>
              </a:rPr>
              <a:t>启动阶段将会调用设备特殊服务</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public </a:t>
            </a:r>
            <a:r>
              <a:rPr lang="en-US" altLang="zh-CN" sz="1400" b="0" dirty="0">
                <a:solidFill>
                  <a:srgbClr val="0070C0"/>
                </a:solidFill>
                <a:latin typeface="微软雅黑" panose="020B0503020204020204" pitchFamily="34" charset="-122"/>
                <a:ea typeface="微软雅黑" panose="020B0503020204020204" pitchFamily="34" charset="-122"/>
              </a:rPr>
              <a:t>static final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PHASE_DEVICE_SPECIFIC_SERVICES_READY = 520</a:t>
            </a:r>
            <a:r>
              <a:rPr lang="en-US" altLang="zh-CN" sz="1400" b="0" dirty="0" smtClean="0">
                <a:solidFill>
                  <a:srgbClr val="0070C0"/>
                </a:solidFill>
                <a:latin typeface="微软雅黑" panose="020B0503020204020204" pitchFamily="34" charset="-122"/>
                <a:ea typeface="微软雅黑" panose="020B0503020204020204" pitchFamily="34" charset="-122"/>
              </a:rPr>
              <a:t>;</a:t>
            </a:r>
            <a:endParaRPr lang="en-US" altLang="zh-CN" sz="1400" b="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08837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SystemServer</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87323" y="836712"/>
            <a:ext cx="8784976" cy="3847207"/>
          </a:xfrm>
          <a:prstGeom prst="rect">
            <a:avLst/>
          </a:prstGeom>
          <a:noFill/>
        </p:spPr>
        <p:txBody>
          <a:bodyPr wrap="square" rtlCol="0">
            <a:spAutoFit/>
          </a:bodyPr>
          <a:lstStyle/>
          <a:p>
            <a:pPr algn="l"/>
            <a:r>
              <a:rPr lang="en-US" altLang="zh-CN" sz="1400" b="0" dirty="0" smtClean="0">
                <a:solidFill>
                  <a:srgbClr val="0070C0"/>
                </a:solidFill>
                <a:latin typeface="微软雅黑" panose="020B0503020204020204" pitchFamily="34" charset="-122"/>
                <a:ea typeface="微软雅黑" panose="020B0503020204020204" pitchFamily="34" charset="-122"/>
              </a:rPr>
              <a:t>      // </a:t>
            </a:r>
            <a:r>
              <a:rPr lang="zh-CN" altLang="en-US" sz="1400" b="0" dirty="0">
                <a:solidFill>
                  <a:srgbClr val="0070C0"/>
                </a:solidFill>
                <a:latin typeface="微软雅黑" panose="020B0503020204020204" pitchFamily="34" charset="-122"/>
                <a:ea typeface="微软雅黑" panose="020B0503020204020204" pitchFamily="34" charset="-122"/>
              </a:rPr>
              <a:t>该启动阶段将会将会发送服务广播</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public </a:t>
            </a:r>
            <a:r>
              <a:rPr lang="en-US" altLang="zh-CN" sz="1400" b="0" dirty="0">
                <a:solidFill>
                  <a:srgbClr val="0070C0"/>
                </a:solidFill>
                <a:latin typeface="微软雅黑" panose="020B0503020204020204" pitchFamily="34" charset="-122"/>
                <a:ea typeface="微软雅黑" panose="020B0503020204020204" pitchFamily="34" charset="-122"/>
              </a:rPr>
              <a:t>static final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PHASE_ACTIVITY_MANAGER_READY = 550;</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 </a:t>
            </a:r>
            <a:r>
              <a:rPr lang="zh-CN" altLang="en-US" sz="1400" b="0" dirty="0">
                <a:solidFill>
                  <a:srgbClr val="0070C0"/>
                </a:solidFill>
                <a:latin typeface="微软雅黑" panose="020B0503020204020204" pitchFamily="34" charset="-122"/>
                <a:ea typeface="微软雅黑" panose="020B0503020204020204" pitchFamily="34" charset="-122"/>
              </a:rPr>
              <a:t>该启动阶段将会启动不绑定三方</a:t>
            </a:r>
            <a:r>
              <a:rPr lang="en-US" altLang="zh-CN" sz="1400" b="0" dirty="0">
                <a:solidFill>
                  <a:srgbClr val="0070C0"/>
                </a:solidFill>
                <a:latin typeface="微软雅黑" panose="020B0503020204020204" pitchFamily="34" charset="-122"/>
                <a:ea typeface="微软雅黑" panose="020B0503020204020204" pitchFamily="34" charset="-122"/>
              </a:rPr>
              <a:t>app</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public </a:t>
            </a:r>
            <a:r>
              <a:rPr lang="en-US" altLang="zh-CN" sz="1400" b="0" dirty="0">
                <a:solidFill>
                  <a:srgbClr val="0070C0"/>
                </a:solidFill>
                <a:latin typeface="微软雅黑" panose="020B0503020204020204" pitchFamily="34" charset="-122"/>
                <a:ea typeface="微软雅黑" panose="020B0503020204020204" pitchFamily="34" charset="-122"/>
              </a:rPr>
              <a:t>static final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PHASE_THIRD_PARTY_APPS_CAN_START = 600;</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 </a:t>
            </a:r>
            <a:r>
              <a:rPr lang="zh-CN" altLang="en-US" sz="1400" b="0" dirty="0">
                <a:solidFill>
                  <a:srgbClr val="0070C0"/>
                </a:solidFill>
                <a:latin typeface="微软雅黑" panose="020B0503020204020204" pitchFamily="34" charset="-122"/>
                <a:ea typeface="微软雅黑" panose="020B0503020204020204" pitchFamily="34" charset="-122"/>
              </a:rPr>
              <a:t>该启动阶段标志着启动完成，用户可以进行设备交互，应用桌面已经启动</a:t>
            </a:r>
          </a:p>
          <a:p>
            <a:pPr algn="l"/>
            <a:r>
              <a:rPr lang="en-US" altLang="zh-CN" sz="1400" b="0" dirty="0" smtClean="0">
                <a:solidFill>
                  <a:srgbClr val="0070C0"/>
                </a:solidFill>
                <a:latin typeface="微软雅黑" panose="020B0503020204020204" pitchFamily="34" charset="-122"/>
                <a:ea typeface="微软雅黑" panose="020B0503020204020204" pitchFamily="34" charset="-122"/>
              </a:rPr>
              <a:t>      public </a:t>
            </a:r>
            <a:r>
              <a:rPr lang="en-US" altLang="zh-CN" sz="1400" b="0" dirty="0">
                <a:solidFill>
                  <a:srgbClr val="0070C0"/>
                </a:solidFill>
                <a:latin typeface="微软雅黑" panose="020B0503020204020204" pitchFamily="34" charset="-122"/>
                <a:ea typeface="微软雅黑" panose="020B0503020204020204" pitchFamily="34" charset="-122"/>
              </a:rPr>
              <a:t>static final </a:t>
            </a:r>
            <a:r>
              <a:rPr lang="en-US" altLang="zh-CN" sz="1400" b="0" dirty="0" err="1">
                <a:solidFill>
                  <a:srgbClr val="0070C0"/>
                </a:solidFill>
                <a:latin typeface="微软雅黑" panose="020B0503020204020204" pitchFamily="34" charset="-122"/>
                <a:ea typeface="微软雅黑" panose="020B0503020204020204" pitchFamily="34" charset="-122"/>
              </a:rPr>
              <a:t>int</a:t>
            </a:r>
            <a:r>
              <a:rPr lang="en-US" altLang="zh-CN" sz="1400" b="0" dirty="0">
                <a:solidFill>
                  <a:srgbClr val="0070C0"/>
                </a:solidFill>
                <a:latin typeface="微软雅黑" panose="020B0503020204020204" pitchFamily="34" charset="-122"/>
                <a:ea typeface="微软雅黑" panose="020B0503020204020204" pitchFamily="34" charset="-122"/>
              </a:rPr>
              <a:t> PHASE_BOOT_COMPLETED = 1000</a:t>
            </a:r>
            <a:r>
              <a:rPr lang="en-US" altLang="zh-CN" sz="1400" b="0" dirty="0" smtClean="0">
                <a:solidFill>
                  <a:srgbClr val="0070C0"/>
                </a:solidFill>
                <a:latin typeface="微软雅黑" panose="020B0503020204020204" pitchFamily="34" charset="-122"/>
                <a:ea typeface="微软雅黑" panose="020B0503020204020204" pitchFamily="34" charset="-122"/>
              </a:rPr>
              <a:t>;</a:t>
            </a:r>
          </a:p>
          <a:p>
            <a:pPr algn="l"/>
            <a:r>
              <a:rPr lang="zh-CN" altLang="en-US" sz="1600" b="0" dirty="0">
                <a:latin typeface="微软雅黑" panose="020B0503020204020204" pitchFamily="34" charset="-122"/>
                <a:ea typeface="微软雅黑" panose="020B0503020204020204" pitchFamily="34" charset="-122"/>
              </a:rPr>
              <a:t>这些启动阶段会穿插在各项的服务启动序列中，每一个启动阶段节点的插入，都会伴随着该启动阶段节点之前的服务执行相关逻辑。</a:t>
            </a:r>
          </a:p>
          <a:p>
            <a:pPr algn="l"/>
            <a:r>
              <a:rPr lang="zh-CN" altLang="en-US" sz="1600" b="0" dirty="0">
                <a:latin typeface="微软雅黑" panose="020B0503020204020204" pitchFamily="34" charset="-122"/>
                <a:ea typeface="微软雅黑" panose="020B0503020204020204" pitchFamily="34" charset="-122"/>
              </a:rPr>
              <a:t>所以这里启动阶段节点相对于标识或者说依赖关系，即后续的启动阶段需要依赖于前面某些服务的特色处理逻辑之后才能进行</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启动系统</a:t>
            </a:r>
            <a:r>
              <a:rPr lang="zh-CN" altLang="en-US" sz="1600" b="0" dirty="0" smtClean="0">
                <a:latin typeface="微软雅黑" panose="020B0503020204020204" pitchFamily="34" charset="-122"/>
                <a:ea typeface="微软雅黑" panose="020B0503020204020204" pitchFamily="34" charset="-122"/>
              </a:rPr>
              <a:t>服务</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大致分为</a:t>
            </a:r>
            <a:r>
              <a:rPr lang="en-US" altLang="zh-CN" sz="1600" b="0" dirty="0" smtClean="0">
                <a:latin typeface="微软雅黑" panose="020B0503020204020204" pitchFamily="34" charset="-122"/>
                <a:ea typeface="微软雅黑" panose="020B0503020204020204" pitchFamily="34" charset="-122"/>
              </a:rPr>
              <a:t>3</a:t>
            </a:r>
            <a:r>
              <a:rPr lang="zh-CN" altLang="en-US" sz="1600" b="0" dirty="0" smtClean="0">
                <a:latin typeface="微软雅黑" panose="020B0503020204020204" pitchFamily="34" charset="-122"/>
                <a:ea typeface="微软雅黑" panose="020B0503020204020204" pitchFamily="34" charset="-122"/>
              </a:rPr>
              <a:t>类：</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引导</a:t>
            </a:r>
            <a:r>
              <a:rPr lang="zh-CN" altLang="en-US" sz="1600" b="0" dirty="0" smtClean="0">
                <a:latin typeface="微软雅黑" panose="020B0503020204020204" pitchFamily="34" charset="-122"/>
                <a:ea typeface="微软雅黑" panose="020B0503020204020204" pitchFamily="34" charset="-122"/>
              </a:rPr>
              <a:t>服务（</a:t>
            </a:r>
            <a:r>
              <a:rPr lang="en-US" altLang="zh-CN" sz="1600" b="0" dirty="0" err="1" smtClean="0">
                <a:solidFill>
                  <a:srgbClr val="0070C0"/>
                </a:solidFill>
                <a:latin typeface="微软雅黑" panose="020B0503020204020204" pitchFamily="34" charset="-122"/>
                <a:ea typeface="微软雅黑" panose="020B0503020204020204" pitchFamily="34" charset="-122"/>
              </a:rPr>
              <a:t>BootstrapServices</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核心服务（</a:t>
            </a:r>
            <a:r>
              <a:rPr lang="en-US" altLang="zh-CN" sz="1600" b="0" dirty="0" err="1">
                <a:solidFill>
                  <a:srgbClr val="0070C0"/>
                </a:solidFill>
                <a:latin typeface="微软雅黑" panose="020B0503020204020204" pitchFamily="34" charset="-122"/>
                <a:ea typeface="微软雅黑" panose="020B0503020204020204" pitchFamily="34" charset="-122"/>
              </a:rPr>
              <a:t>CoreServices</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其他服务（</a:t>
            </a:r>
            <a:r>
              <a:rPr lang="en-US" altLang="zh-CN" sz="1600" b="0" dirty="0" err="1">
                <a:solidFill>
                  <a:srgbClr val="0070C0"/>
                </a:solidFill>
                <a:latin typeface="微软雅黑" panose="020B0503020204020204" pitchFamily="34" charset="-122"/>
                <a:ea typeface="微软雅黑" panose="020B0503020204020204" pitchFamily="34" charset="-122"/>
              </a:rPr>
              <a:t>OtherServices</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其中穿插启动阶段，简图如下：</a:t>
            </a:r>
            <a:endParaRPr lang="en-US" altLang="zh-CN" sz="1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1781805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SystemServer</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79512" y="785794"/>
            <a:ext cx="8784976" cy="5755422"/>
          </a:xfrm>
          <a:prstGeom prst="rect">
            <a:avLst/>
          </a:prstGeom>
          <a:noFill/>
        </p:spPr>
        <p:txBody>
          <a:bodyPr wrap="square" rtlCol="0">
            <a:spAutoFit/>
          </a:bodyPr>
          <a:lstStyle/>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BootPhase</a:t>
            </a:r>
            <a:r>
              <a:rPr lang="zh-CN" altLang="en-US" sz="1600" b="0" dirty="0" smtClean="0">
                <a:latin typeface="微软雅黑" panose="020B0503020204020204" pitchFamily="34" charset="-122"/>
                <a:ea typeface="微软雅黑" panose="020B0503020204020204" pitchFamily="34" charset="-122"/>
              </a:rPr>
              <a:t>最后阶段</a:t>
            </a:r>
            <a:r>
              <a:rPr lang="en-US" altLang="zh-CN" sz="1600" b="0" dirty="0" smtClean="0">
                <a:latin typeface="微软雅黑" panose="020B0503020204020204" pitchFamily="34" charset="-122"/>
                <a:ea typeface="微软雅黑" panose="020B0503020204020204" pitchFamily="34" charset="-122"/>
              </a:rPr>
              <a:t>PHASE_BOOT_COMPLETED</a:t>
            </a:r>
            <a:r>
              <a:rPr lang="zh-CN" altLang="en-US" sz="1600" b="0" dirty="0" smtClean="0">
                <a:latin typeface="微软雅黑" panose="020B0503020204020204" pitchFamily="34" charset="-122"/>
                <a:ea typeface="微软雅黑" panose="020B0503020204020204" pitchFamily="34" charset="-122"/>
              </a:rPr>
              <a:t>是开机动画结束后，在</a:t>
            </a:r>
            <a:r>
              <a:rPr lang="en-US" altLang="zh-CN" sz="1600" b="0" dirty="0" err="1" smtClean="0">
                <a:latin typeface="微软雅黑" panose="020B0503020204020204" pitchFamily="34" charset="-122"/>
                <a:ea typeface="微软雅黑" panose="020B0503020204020204" pitchFamily="34" charset="-122"/>
              </a:rPr>
              <a:t>AMS.finishBooting</a:t>
            </a:r>
            <a:r>
              <a:rPr lang="zh-CN" altLang="en-US" sz="1600" b="0" dirty="0" smtClean="0">
                <a:latin typeface="微软雅黑" panose="020B0503020204020204" pitchFamily="34" charset="-122"/>
                <a:ea typeface="微软雅黑" panose="020B0503020204020204" pitchFamily="34" charset="-122"/>
              </a:rPr>
              <a:t>方法中调用的，然后系统会发送开机广播</a:t>
            </a:r>
            <a:r>
              <a:rPr lang="en-US" altLang="zh-CN" sz="1600" b="0" dirty="0" smtClean="0">
                <a:latin typeface="微软雅黑" panose="020B0503020204020204" pitchFamily="34" charset="-122"/>
                <a:ea typeface="微软雅黑" panose="020B0503020204020204" pitchFamily="34" charset="-122"/>
              </a:rPr>
              <a:t>ACTION_BOOT_COMPLETED</a:t>
            </a:r>
            <a:endParaRPr lang="en-US" altLang="zh-CN" sz="16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08720"/>
            <a:ext cx="9144000" cy="4884244"/>
          </a:xfrm>
          <a:prstGeom prst="rect">
            <a:avLst/>
          </a:prstGeom>
        </p:spPr>
      </p:pic>
    </p:spTree>
    <p:extLst>
      <p:ext uri="{BB962C8B-B14F-4D97-AF65-F5344CB8AC3E}">
        <p14:creationId xmlns:p14="http://schemas.microsoft.com/office/powerpoint/2010/main" val="36923695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SystemServer</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79512" y="785794"/>
            <a:ext cx="8784976" cy="338554"/>
          </a:xfrm>
          <a:prstGeom prst="rect">
            <a:avLst/>
          </a:prstGeom>
          <a:noFill/>
        </p:spPr>
        <p:txBody>
          <a:bodyPr wrap="square" rtlCol="0">
            <a:spAutoFit/>
          </a:bodyPr>
          <a:lstStyle/>
          <a:p>
            <a:pPr algn="l"/>
            <a:r>
              <a:rPr lang="en-US" altLang="zh-CN" sz="1600" b="0" dirty="0" err="1" smtClean="0">
                <a:latin typeface="微软雅黑" panose="020B0503020204020204" pitchFamily="34" charset="-122"/>
                <a:ea typeface="微软雅黑" panose="020B0503020204020204" pitchFamily="34" charset="-122"/>
              </a:rPr>
              <a:t>SystemServer</a:t>
            </a:r>
            <a:r>
              <a:rPr lang="zh-CN" altLang="en-US" sz="1600" b="0" dirty="0" smtClean="0">
                <a:latin typeface="微软雅黑" panose="020B0503020204020204" pitchFamily="34" charset="-122"/>
                <a:ea typeface="微软雅黑" panose="020B0503020204020204" pitchFamily="34" charset="-122"/>
              </a:rPr>
              <a:t>创建启动系统服务整体启动流程图：</a:t>
            </a:r>
            <a:endParaRPr lang="en-US" altLang="zh-CN" sz="1600" b="0"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1166778" y="1119780"/>
            <a:ext cx="6645582" cy="5487431"/>
          </a:xfrm>
          <a:prstGeom prst="rect">
            <a:avLst/>
          </a:prstGeom>
        </p:spPr>
      </p:pic>
    </p:spTree>
    <p:extLst>
      <p:ext uri="{BB962C8B-B14F-4D97-AF65-F5344CB8AC3E}">
        <p14:creationId xmlns:p14="http://schemas.microsoft.com/office/powerpoint/2010/main" val="398287164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AMS</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Launcher</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79512" y="785794"/>
            <a:ext cx="8784976" cy="5755422"/>
          </a:xfrm>
          <a:prstGeom prst="rect">
            <a:avLst/>
          </a:prstGeom>
          <a:noFill/>
        </p:spPr>
        <p:txBody>
          <a:bodyPr wrap="square" rtlCol="0">
            <a:spAutoFit/>
          </a:bodyPr>
          <a:lstStyle/>
          <a:p>
            <a:pPr algn="l"/>
            <a:r>
              <a:rPr lang="zh-CN" altLang="en-US" sz="1600" b="0" dirty="0">
                <a:latin typeface="微软雅黑" panose="020B0503020204020204" pitchFamily="34" charset="-122"/>
                <a:ea typeface="微软雅黑" panose="020B0503020204020204" pitchFamily="34" charset="-122"/>
              </a:rPr>
              <a:t>前面</a:t>
            </a:r>
            <a:r>
              <a:rPr lang="en-US" altLang="zh-CN" sz="1600" b="0" dirty="0" err="1">
                <a:latin typeface="微软雅黑" panose="020B0503020204020204" pitchFamily="34" charset="-122"/>
                <a:ea typeface="微软雅黑" panose="020B0503020204020204" pitchFamily="34" charset="-122"/>
              </a:rPr>
              <a:t>SystemServer</a:t>
            </a:r>
            <a:r>
              <a:rPr lang="zh-CN" altLang="en-US" sz="1600" b="0" dirty="0">
                <a:latin typeface="微软雅黑" panose="020B0503020204020204" pitchFamily="34" charset="-122"/>
                <a:ea typeface="微软雅黑" panose="020B0503020204020204" pitchFamily="34" charset="-122"/>
              </a:rPr>
              <a:t>启动</a:t>
            </a:r>
            <a:r>
              <a:rPr lang="zh-CN" altLang="en-US" sz="1600" b="0" dirty="0" smtClean="0">
                <a:latin typeface="微软雅黑" panose="020B0503020204020204" pitchFamily="34" charset="-122"/>
                <a:ea typeface="微软雅黑" panose="020B0503020204020204" pitchFamily="34" charset="-122"/>
              </a:rPr>
              <a:t>流程中，</a:t>
            </a:r>
            <a:r>
              <a:rPr lang="zh-CN" altLang="en-US" sz="1600" b="0" dirty="0">
                <a:latin typeface="微软雅黑" panose="020B0503020204020204" pitchFamily="34" charset="-122"/>
                <a:ea typeface="微软雅黑" panose="020B0503020204020204" pitchFamily="34" charset="-122"/>
              </a:rPr>
              <a:t>在</a:t>
            </a:r>
            <a:r>
              <a:rPr lang="en-US" altLang="zh-CN" sz="1600" b="0" dirty="0" err="1">
                <a:latin typeface="微软雅黑" panose="020B0503020204020204" pitchFamily="34" charset="-122"/>
                <a:ea typeface="微软雅黑" panose="020B0503020204020204" pitchFamily="34" charset="-122"/>
              </a:rPr>
              <a:t>startOtherServices</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方法调用到了</a:t>
            </a:r>
            <a:r>
              <a:rPr lang="en-US" altLang="zh-CN" sz="1600" b="0" dirty="0">
                <a:latin typeface="微软雅黑" panose="020B0503020204020204" pitchFamily="34" charset="-122"/>
                <a:ea typeface="微软雅黑" panose="020B0503020204020204" pitchFamily="34" charset="-122"/>
              </a:rPr>
              <a:t>AMS</a:t>
            </a:r>
            <a:r>
              <a:rPr lang="zh-CN" altLang="en-US" sz="1600" b="0" dirty="0">
                <a:latin typeface="微软雅黑" panose="020B0503020204020204" pitchFamily="34" charset="-122"/>
                <a:ea typeface="微软雅黑" panose="020B0503020204020204" pitchFamily="34" charset="-122"/>
              </a:rPr>
              <a:t>的</a:t>
            </a:r>
            <a:r>
              <a:rPr lang="en-US" altLang="zh-CN" sz="1600" b="0" dirty="0" err="1">
                <a:latin typeface="微软雅黑" panose="020B0503020204020204" pitchFamily="34" charset="-122"/>
                <a:ea typeface="微软雅黑" panose="020B0503020204020204" pitchFamily="34" charset="-122"/>
              </a:rPr>
              <a:t>systemReady</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方法</a:t>
            </a:r>
            <a:r>
              <a:rPr lang="zh-CN" altLang="en-US" sz="1600" b="0" dirty="0" smtClean="0">
                <a:latin typeface="微软雅黑" panose="020B0503020204020204" pitchFamily="34" charset="-122"/>
                <a:ea typeface="微软雅黑" panose="020B0503020204020204" pitchFamily="34" charset="-122"/>
              </a:rPr>
              <a:t>，这里调用</a:t>
            </a:r>
            <a:r>
              <a:rPr lang="en-US" altLang="zh-CN" sz="1600" b="0" dirty="0" err="1" smtClean="0">
                <a:latin typeface="微软雅黑" panose="020B0503020204020204" pitchFamily="34" charset="-122"/>
                <a:ea typeface="微软雅黑" panose="020B0503020204020204" pitchFamily="34" charset="-122"/>
              </a:rPr>
              <a:t>startHomeOnAllDisplays</a:t>
            </a:r>
            <a:r>
              <a:rPr lang="zh-CN" altLang="en-US" sz="1600" b="0" dirty="0" smtClean="0">
                <a:latin typeface="微软雅黑" panose="020B0503020204020204" pitchFamily="34" charset="-122"/>
                <a:ea typeface="微软雅黑" panose="020B0503020204020204" pitchFamily="34" charset="-122"/>
              </a:rPr>
              <a:t>方法：</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最终调用到</a:t>
            </a:r>
            <a:r>
              <a:rPr lang="en-US" altLang="zh-CN" sz="1600" b="0" dirty="0" smtClean="0">
                <a:latin typeface="微软雅黑" panose="020B0503020204020204" pitchFamily="34" charset="-122"/>
                <a:ea typeface="微软雅黑" panose="020B0503020204020204" pitchFamily="34" charset="-122"/>
              </a:rPr>
              <a:t>RootWindowContainer.java</a:t>
            </a:r>
            <a:r>
              <a:rPr lang="zh-CN" altLang="en-US" sz="1600" b="0" dirty="0" smtClean="0">
                <a:latin typeface="微软雅黑" panose="020B0503020204020204" pitchFamily="34" charset="-122"/>
                <a:ea typeface="微软雅黑" panose="020B0503020204020204" pitchFamily="34" charset="-122"/>
              </a:rPr>
              <a:t>中的</a:t>
            </a:r>
            <a:r>
              <a:rPr lang="en-US" altLang="zh-CN" sz="1600" b="0" dirty="0" err="1">
                <a:latin typeface="微软雅黑" panose="020B0503020204020204" pitchFamily="34" charset="-122"/>
                <a:ea typeface="微软雅黑" panose="020B0503020204020204" pitchFamily="34" charset="-122"/>
              </a:rPr>
              <a:t>startHomeOnAllDisplays</a:t>
            </a:r>
            <a:r>
              <a:rPr lang="zh-CN" altLang="en-US" sz="1600" b="0" dirty="0" smtClean="0">
                <a:latin typeface="微软雅黑" panose="020B0503020204020204" pitchFamily="34" charset="-122"/>
                <a:ea typeface="微软雅黑" panose="020B0503020204020204" pitchFamily="34" charset="-122"/>
              </a:rPr>
              <a:t>方法，这里会循环所有</a:t>
            </a:r>
            <a:r>
              <a:rPr lang="en-US" altLang="zh-CN" sz="1600" b="0" dirty="0" smtClean="0">
                <a:latin typeface="微软雅黑" panose="020B0503020204020204" pitchFamily="34" charset="-122"/>
                <a:ea typeface="微软雅黑" panose="020B0503020204020204" pitchFamily="34" charset="-122"/>
              </a:rPr>
              <a:t>Display</a:t>
            </a:r>
            <a:r>
              <a:rPr lang="zh-CN" altLang="en-US" sz="1600" b="0" dirty="0" smtClean="0">
                <a:latin typeface="微软雅黑" panose="020B0503020204020204" pitchFamily="34" charset="-122"/>
                <a:ea typeface="微软雅黑" panose="020B0503020204020204" pitchFamily="34" charset="-122"/>
              </a:rPr>
              <a:t>设备，启动对应的</a:t>
            </a:r>
            <a:r>
              <a:rPr lang="en-US" altLang="zh-CN" sz="1600" b="0" dirty="0" smtClean="0">
                <a:latin typeface="微软雅黑" panose="020B0503020204020204" pitchFamily="34" charset="-122"/>
                <a:ea typeface="微软雅黑" panose="020B0503020204020204" pitchFamily="34" charset="-122"/>
              </a:rPr>
              <a:t>Home</a:t>
            </a:r>
            <a:r>
              <a:rPr lang="zh-CN" altLang="en-US" sz="1600" b="0" dirty="0" smtClean="0">
                <a:latin typeface="微软雅黑" panose="020B0503020204020204" pitchFamily="34" charset="-122"/>
                <a:ea typeface="微软雅黑" panose="020B0503020204020204" pitchFamily="34" charset="-122"/>
              </a:rPr>
              <a:t>界面：</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最后会调用到</a:t>
            </a:r>
            <a:r>
              <a:rPr lang="en-US" altLang="zh-CN" sz="1600" b="0" dirty="0" err="1" smtClean="0">
                <a:latin typeface="微软雅黑" panose="020B0503020204020204" pitchFamily="34" charset="-122"/>
                <a:ea typeface="微软雅黑" panose="020B0503020204020204" pitchFamily="34" charset="-122"/>
              </a:rPr>
              <a:t>startHomeOnTaskDisplayArea</a:t>
            </a:r>
            <a:r>
              <a:rPr lang="zh-CN" altLang="en-US" sz="1600" b="0" dirty="0" smtClean="0">
                <a:latin typeface="微软雅黑" panose="020B0503020204020204" pitchFamily="34" charset="-122"/>
                <a:ea typeface="微软雅黑" panose="020B0503020204020204" pitchFamily="34" charset="-122"/>
              </a:rPr>
              <a:t>方法，这里去</a:t>
            </a:r>
            <a:r>
              <a:rPr lang="en-US" altLang="zh-CN" sz="1600" b="0" dirty="0" smtClean="0">
                <a:latin typeface="微软雅黑" panose="020B0503020204020204" pitchFamily="34" charset="-122"/>
                <a:ea typeface="微软雅黑" panose="020B0503020204020204" pitchFamily="34" charset="-122"/>
              </a:rPr>
              <a:t>resolve</a:t>
            </a:r>
            <a:r>
              <a:rPr lang="zh-CN" altLang="en-US" sz="1600" b="0" dirty="0" smtClean="0">
                <a:latin typeface="微软雅黑" panose="020B0503020204020204" pitchFamily="34" charset="-122"/>
                <a:ea typeface="微软雅黑" panose="020B0503020204020204" pitchFamily="34" charset="-122"/>
              </a:rPr>
              <a:t>对应</a:t>
            </a:r>
            <a:r>
              <a:rPr lang="en-US" altLang="zh-CN" sz="1600" b="0" dirty="0" smtClean="0">
                <a:latin typeface="微软雅黑" panose="020B0503020204020204" pitchFamily="34" charset="-122"/>
                <a:ea typeface="微软雅黑" panose="020B0503020204020204" pitchFamily="34" charset="-122"/>
              </a:rPr>
              <a:t>Display</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Home Intent</a:t>
            </a:r>
            <a:r>
              <a:rPr lang="zh-CN" altLang="en-US" sz="1600" b="0" dirty="0" smtClean="0">
                <a:latin typeface="微软雅黑" panose="020B0503020204020204" pitchFamily="34" charset="-122"/>
                <a:ea typeface="微软雅黑" panose="020B0503020204020204" pitchFamily="34" charset="-122"/>
              </a:rPr>
              <a:t>，然后调用</a:t>
            </a:r>
            <a:r>
              <a:rPr lang="en-US" altLang="zh-CN" sz="1600" b="0" dirty="0" smtClean="0">
                <a:latin typeface="微软雅黑" panose="020B0503020204020204" pitchFamily="34" charset="-122"/>
                <a:ea typeface="微软雅黑" panose="020B0503020204020204" pitchFamily="34" charset="-122"/>
              </a:rPr>
              <a:t>ActivityStartController.java</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err="1" smtClean="0">
                <a:latin typeface="微软雅黑" panose="020B0503020204020204" pitchFamily="34" charset="-122"/>
                <a:ea typeface="微软雅黑" panose="020B0503020204020204" pitchFamily="34" charset="-122"/>
              </a:rPr>
              <a:t>startHomeActivity</a:t>
            </a:r>
            <a:r>
              <a:rPr lang="zh-CN" altLang="en-US" sz="1600" b="0" dirty="0" smtClean="0">
                <a:latin typeface="微软雅黑" panose="020B0503020204020204" pitchFamily="34" charset="-122"/>
                <a:ea typeface="微软雅黑" panose="020B0503020204020204" pitchFamily="34" charset="-122"/>
              </a:rPr>
              <a:t>方法，最后会调用</a:t>
            </a:r>
            <a:r>
              <a:rPr lang="en-US" altLang="zh-CN" sz="1600" b="0" dirty="0" err="1" smtClean="0">
                <a:latin typeface="微软雅黑" panose="020B0503020204020204" pitchFamily="34" charset="-122"/>
                <a:ea typeface="微软雅黑" panose="020B0503020204020204" pitchFamily="34" charset="-122"/>
              </a:rPr>
              <a:t>ActivityStarter</a:t>
            </a:r>
            <a:r>
              <a:rPr lang="zh-CN" altLang="en-US" sz="1600" b="0" dirty="0" smtClean="0">
                <a:latin typeface="微软雅黑" panose="020B0503020204020204" pitchFamily="34" charset="-122"/>
                <a:ea typeface="微软雅黑" panose="020B0503020204020204" pitchFamily="34" charset="-122"/>
              </a:rPr>
              <a:t>启动</a:t>
            </a:r>
            <a:r>
              <a:rPr lang="en-US" altLang="zh-CN" sz="1600" b="0" dirty="0" smtClean="0">
                <a:latin typeface="微软雅黑" panose="020B0503020204020204" pitchFamily="34" charset="-122"/>
                <a:ea typeface="微软雅黑" panose="020B0503020204020204" pitchFamily="34" charset="-122"/>
              </a:rPr>
              <a:t>Activity</a:t>
            </a:r>
            <a:r>
              <a:rPr lang="zh-CN" altLang="en-US" sz="1600" b="0" dirty="0" smtClean="0">
                <a:latin typeface="微软雅黑" panose="020B0503020204020204" pitchFamily="34" charset="-122"/>
                <a:ea typeface="微软雅黑" panose="020B0503020204020204" pitchFamily="34" charset="-122"/>
              </a:rPr>
              <a:t>，就到</a:t>
            </a:r>
            <a:r>
              <a:rPr lang="en-US" altLang="zh-CN" sz="1600" b="0" dirty="0" smtClean="0">
                <a:latin typeface="微软雅黑" panose="020B0503020204020204" pitchFamily="34" charset="-122"/>
                <a:ea typeface="微软雅黑" panose="020B0503020204020204" pitchFamily="34" charset="-122"/>
              </a:rPr>
              <a:t>Activity</a:t>
            </a:r>
            <a:r>
              <a:rPr lang="zh-CN" altLang="en-US" sz="1600" b="0" dirty="0" smtClean="0">
                <a:latin typeface="微软雅黑" panose="020B0503020204020204" pitchFamily="34" charset="-122"/>
                <a:ea typeface="微软雅黑" panose="020B0503020204020204" pitchFamily="34" charset="-122"/>
              </a:rPr>
              <a:t>启动的流程了。</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这里要注意的是，在</a:t>
            </a:r>
            <a:r>
              <a:rPr lang="en-US" altLang="zh-CN" sz="1600" b="0" dirty="0" smtClean="0">
                <a:latin typeface="微软雅黑" panose="020B0503020204020204" pitchFamily="34" charset="-122"/>
                <a:ea typeface="微软雅黑" panose="020B0503020204020204" pitchFamily="34" charset="-122"/>
              </a:rPr>
              <a:t>Android 11</a:t>
            </a:r>
            <a:r>
              <a:rPr lang="zh-CN" altLang="en-US" sz="1600" b="0" dirty="0" smtClean="0">
                <a:latin typeface="微软雅黑" panose="020B0503020204020204" pitchFamily="34" charset="-122"/>
                <a:ea typeface="微软雅黑" panose="020B0503020204020204" pitchFamily="34" charset="-122"/>
              </a:rPr>
              <a:t>主屏的第一个</a:t>
            </a:r>
            <a:r>
              <a:rPr lang="en-US" altLang="zh-CN" sz="1600" b="0" dirty="0" smtClean="0">
                <a:latin typeface="微软雅黑" panose="020B0503020204020204" pitchFamily="34" charset="-122"/>
                <a:ea typeface="微软雅黑" panose="020B0503020204020204" pitchFamily="34" charset="-122"/>
              </a:rPr>
              <a:t>Home</a:t>
            </a:r>
            <a:r>
              <a:rPr lang="zh-CN" altLang="en-US" sz="1600" b="0" dirty="0" smtClean="0">
                <a:latin typeface="微软雅黑" panose="020B0503020204020204" pitchFamily="34" charset="-122"/>
                <a:ea typeface="微软雅黑" panose="020B0503020204020204" pitchFamily="34" charset="-122"/>
              </a:rPr>
              <a:t>界面不是</a:t>
            </a:r>
            <a:r>
              <a:rPr lang="en-US" altLang="zh-CN" sz="1600" b="0" dirty="0" smtClean="0">
                <a:latin typeface="微软雅黑" panose="020B0503020204020204" pitchFamily="34" charset="-122"/>
                <a:ea typeface="微软雅黑" panose="020B0503020204020204" pitchFamily="34" charset="-122"/>
              </a:rPr>
              <a:t>Launcher</a:t>
            </a:r>
            <a:r>
              <a:rPr lang="zh-CN" altLang="en-US" sz="1600" b="0" dirty="0" smtClean="0">
                <a:latin typeface="微软雅黑" panose="020B0503020204020204" pitchFamily="34" charset="-122"/>
                <a:ea typeface="微软雅黑" panose="020B0503020204020204" pitchFamily="34" charset="-122"/>
              </a:rPr>
              <a:t>，而是</a:t>
            </a:r>
            <a:r>
              <a:rPr lang="en-US" altLang="zh-CN" sz="1600" b="0" dirty="0" err="1" smtClean="0">
                <a:latin typeface="微软雅黑" panose="020B0503020204020204" pitchFamily="34" charset="-122"/>
                <a:ea typeface="微软雅黑" panose="020B0503020204020204" pitchFamily="34" charset="-122"/>
              </a:rPr>
              <a:t>FallbackHome</a:t>
            </a:r>
            <a:r>
              <a:rPr lang="zh-CN" altLang="en-US" sz="1600" b="0" dirty="0" smtClean="0">
                <a:latin typeface="微软雅黑" panose="020B0503020204020204" pitchFamily="34" charset="-122"/>
                <a:ea typeface="微软雅黑" panose="020B0503020204020204" pitchFamily="34" charset="-122"/>
              </a:rPr>
              <a:t>，这个</a:t>
            </a:r>
            <a:r>
              <a:rPr lang="en-US" altLang="zh-CN" sz="1600" b="0" dirty="0" smtClean="0">
                <a:latin typeface="微软雅黑" panose="020B0503020204020204" pitchFamily="34" charset="-122"/>
                <a:ea typeface="微软雅黑" panose="020B0503020204020204" pitchFamily="34" charset="-122"/>
              </a:rPr>
              <a:t>Activity</a:t>
            </a:r>
            <a:r>
              <a:rPr lang="zh-CN" altLang="en-US" sz="1600" b="0" dirty="0" smtClean="0">
                <a:latin typeface="微软雅黑" panose="020B0503020204020204" pitchFamily="34" charset="-122"/>
                <a:ea typeface="微软雅黑" panose="020B0503020204020204" pitchFamily="34" charset="-122"/>
              </a:rPr>
              <a:t>在</a:t>
            </a:r>
            <a:r>
              <a:rPr lang="en-US" altLang="zh-CN" sz="1600" b="0" dirty="0" smtClean="0">
                <a:latin typeface="微软雅黑" panose="020B0503020204020204" pitchFamily="34" charset="-122"/>
                <a:ea typeface="微软雅黑" panose="020B0503020204020204" pitchFamily="34" charset="-122"/>
              </a:rPr>
              <a:t>Settings</a:t>
            </a:r>
            <a:r>
              <a:rPr lang="zh-CN" altLang="en-US" sz="1600" b="0" dirty="0" smtClean="0">
                <a:latin typeface="微软雅黑" panose="020B0503020204020204" pitchFamily="34" charset="-122"/>
                <a:ea typeface="微软雅黑" panose="020B0503020204020204" pitchFamily="34" charset="-122"/>
              </a:rPr>
              <a:t>中（车载在</a:t>
            </a:r>
            <a:r>
              <a:rPr lang="en-US" altLang="zh-CN" sz="1600" b="0" dirty="0" err="1" smtClean="0">
                <a:latin typeface="微软雅黑" panose="020B0503020204020204" pitchFamily="34" charset="-122"/>
                <a:ea typeface="微软雅黑" panose="020B0503020204020204" pitchFamily="34" charset="-122"/>
              </a:rPr>
              <a:t>CarSettings</a:t>
            </a:r>
            <a:r>
              <a:rPr lang="zh-CN" altLang="en-US" sz="1600" b="0" dirty="0" smtClean="0">
                <a:latin typeface="微软雅黑" panose="020B0503020204020204" pitchFamily="34" charset="-122"/>
                <a:ea typeface="微软雅黑" panose="020B0503020204020204" pitchFamily="34" charset="-122"/>
              </a:rPr>
              <a:t>中</a:t>
            </a:r>
            <a:r>
              <a:rPr lang="en-US" altLang="zh-CN" sz="1600" b="0" dirty="0" err="1" smtClean="0">
                <a:latin typeface="微软雅黑" panose="020B0503020204020204" pitchFamily="34" charset="-122"/>
                <a:ea typeface="微软雅黑" panose="020B0503020204020204" pitchFamily="34" charset="-122"/>
              </a:rPr>
              <a:t>com.android.car.settings.FallbackHome</a:t>
            </a:r>
            <a:r>
              <a:rPr lang="zh-CN" altLang="en-US" sz="1600" b="0" dirty="0" smtClean="0">
                <a:latin typeface="微软雅黑" panose="020B0503020204020204" pitchFamily="34" charset="-122"/>
                <a:ea typeface="微软雅黑" panose="020B0503020204020204" pitchFamily="34" charset="-122"/>
              </a:rPr>
              <a:t>），为何第一个</a:t>
            </a:r>
            <a:r>
              <a:rPr lang="en-US" altLang="zh-CN" sz="1600" b="0" dirty="0" smtClean="0">
                <a:latin typeface="微软雅黑" panose="020B0503020204020204" pitchFamily="34" charset="-122"/>
                <a:ea typeface="微软雅黑" panose="020B0503020204020204" pitchFamily="34" charset="-122"/>
              </a:rPr>
              <a:t>resolve</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Home</a:t>
            </a:r>
            <a:r>
              <a:rPr lang="zh-CN" altLang="en-US" sz="1600" b="0" dirty="0" smtClean="0">
                <a:latin typeface="微软雅黑" panose="020B0503020204020204" pitchFamily="34" charset="-122"/>
                <a:ea typeface="微软雅黑" panose="020B0503020204020204" pitchFamily="34" charset="-122"/>
              </a:rPr>
              <a:t>是</a:t>
            </a:r>
            <a:r>
              <a:rPr lang="en-US" altLang="zh-CN" sz="1600" b="0" dirty="0" err="1" smtClean="0">
                <a:latin typeface="微软雅黑" panose="020B0503020204020204" pitchFamily="34" charset="-122"/>
                <a:ea typeface="微软雅黑" panose="020B0503020204020204" pitchFamily="34" charset="-122"/>
              </a:rPr>
              <a:t>FallbackHome</a:t>
            </a:r>
            <a:r>
              <a:rPr lang="zh-CN" altLang="en-US" sz="1600" b="0" dirty="0" smtClean="0">
                <a:latin typeface="微软雅黑" panose="020B0503020204020204" pitchFamily="34" charset="-122"/>
                <a:ea typeface="微软雅黑" panose="020B0503020204020204" pitchFamily="34" charset="-122"/>
              </a:rPr>
              <a:t>，这和</a:t>
            </a:r>
            <a:r>
              <a:rPr lang="en-US" altLang="zh-CN" sz="1600" b="0" dirty="0" smtClean="0">
                <a:latin typeface="微软雅黑" panose="020B0503020204020204" pitchFamily="34" charset="-122"/>
                <a:ea typeface="微软雅黑" panose="020B0503020204020204" pitchFamily="34" charset="-122"/>
              </a:rPr>
              <a:t>Google</a:t>
            </a:r>
            <a:r>
              <a:rPr lang="zh-CN" altLang="en-US" sz="1600" b="0" dirty="0" smtClean="0">
                <a:latin typeface="微软雅黑" panose="020B0503020204020204" pitchFamily="34" charset="-122"/>
                <a:ea typeface="微软雅黑" panose="020B0503020204020204" pitchFamily="34" charset="-122"/>
              </a:rPr>
              <a:t>推出的</a:t>
            </a:r>
            <a:r>
              <a:rPr lang="en-US" altLang="zh-CN" sz="1600" b="0" dirty="0">
                <a:latin typeface="微软雅黑" panose="020B0503020204020204" pitchFamily="34" charset="-122"/>
                <a:ea typeface="微软雅黑" panose="020B0503020204020204" pitchFamily="34" charset="-122"/>
              </a:rPr>
              <a:t>Direct Boot </a:t>
            </a:r>
            <a:r>
              <a:rPr lang="en-US" altLang="zh-CN" sz="1600" b="0" dirty="0" smtClean="0">
                <a:latin typeface="微软雅黑" panose="020B0503020204020204" pitchFamily="34" charset="-122"/>
                <a:ea typeface="微软雅黑" panose="020B0503020204020204" pitchFamily="34" charset="-122"/>
              </a:rPr>
              <a:t>Mode</a:t>
            </a:r>
            <a:r>
              <a:rPr lang="zh-CN" altLang="en-US" sz="1600" b="0" dirty="0">
                <a:latin typeface="微软雅黑" panose="020B0503020204020204" pitchFamily="34" charset="-122"/>
                <a:ea typeface="微软雅黑" panose="020B0503020204020204" pitchFamily="34" charset="-122"/>
              </a:rPr>
              <a:t>有关</a:t>
            </a:r>
            <a:r>
              <a:rPr lang="zh-CN" altLang="en-US" sz="1600" b="0" dirty="0" smtClean="0">
                <a:latin typeface="微软雅黑" panose="020B0503020204020204" pitchFamily="34" charset="-122"/>
                <a:ea typeface="微软雅黑" panose="020B0503020204020204" pitchFamily="34" charset="-122"/>
              </a:rPr>
              <a:t>，是开机</a:t>
            </a:r>
            <a:r>
              <a:rPr lang="zh-CN" altLang="en-US" sz="1600" b="0" dirty="0">
                <a:latin typeface="微软雅黑" panose="020B0503020204020204" pitchFamily="34" charset="-122"/>
                <a:ea typeface="微软雅黑" panose="020B0503020204020204" pitchFamily="34" charset="-122"/>
              </a:rPr>
              <a:t>之后但是用户未解锁</a:t>
            </a:r>
            <a:r>
              <a:rPr lang="zh-CN" altLang="en-US" sz="1600" b="0" dirty="0" smtClean="0">
                <a:latin typeface="微软雅黑" panose="020B0503020204020204" pitchFamily="34" charset="-122"/>
                <a:ea typeface="微软雅黑" panose="020B0503020204020204" pitchFamily="34" charset="-122"/>
              </a:rPr>
              <a:t>的这个阶段，这个阶段对没有标识为</a:t>
            </a:r>
            <a:r>
              <a:rPr lang="en-US" altLang="zh-CN" sz="1600" b="0" dirty="0" err="1" smtClean="0">
                <a:latin typeface="微软雅黑" panose="020B0503020204020204" pitchFamily="34" charset="-122"/>
                <a:ea typeface="微软雅黑" panose="020B0503020204020204" pitchFamily="34" charset="-122"/>
              </a:rPr>
              <a:t>directBootAeare</a:t>
            </a:r>
            <a:r>
              <a:rPr lang="en-US" altLang="zh-CN" sz="1600" b="0" dirty="0" smtClean="0">
                <a:latin typeface="微软雅黑" panose="020B0503020204020204" pitchFamily="34" charset="-122"/>
                <a:ea typeface="微软雅黑" panose="020B0503020204020204" pitchFamily="34" charset="-122"/>
              </a:rPr>
              <a:t>=”true”</a:t>
            </a:r>
            <a:r>
              <a:rPr lang="zh-CN" altLang="en-US" sz="1600" b="0" dirty="0" smtClean="0">
                <a:latin typeface="微软雅黑" panose="020B0503020204020204" pitchFamily="34" charset="-122"/>
                <a:ea typeface="微软雅黑" panose="020B0503020204020204" pitchFamily="34" charset="-122"/>
              </a:rPr>
              <a:t>应用是不启动的，而</a:t>
            </a:r>
            <a:r>
              <a:rPr lang="en-US" altLang="zh-CN" sz="1600" b="0" dirty="0" err="1" smtClean="0">
                <a:latin typeface="微软雅黑" panose="020B0503020204020204" pitchFamily="34" charset="-122"/>
                <a:ea typeface="微软雅黑" panose="020B0503020204020204" pitchFamily="34" charset="-122"/>
              </a:rPr>
              <a:t>FallbackHome</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Application</a:t>
            </a:r>
            <a:r>
              <a:rPr lang="zh-CN" altLang="en-US" sz="1600" b="0" dirty="0" smtClean="0">
                <a:latin typeface="微软雅黑" panose="020B0503020204020204" pitchFamily="34" charset="-122"/>
                <a:ea typeface="微软雅黑" panose="020B0503020204020204" pitchFamily="34" charset="-122"/>
              </a:rPr>
              <a:t>是被标识为</a:t>
            </a:r>
            <a:r>
              <a:rPr lang="en-US" altLang="zh-CN" sz="1600" b="0" dirty="0" err="1" smtClean="0">
                <a:latin typeface="微软雅黑" panose="020B0503020204020204" pitchFamily="34" charset="-122"/>
                <a:ea typeface="微软雅黑" panose="020B0503020204020204" pitchFamily="34" charset="-122"/>
              </a:rPr>
              <a:t>directBootAeare</a:t>
            </a:r>
            <a:r>
              <a:rPr lang="en-US" altLang="zh-CN" sz="1600" b="0" dirty="0" smtClean="0">
                <a:latin typeface="微软雅黑" panose="020B0503020204020204" pitchFamily="34" charset="-122"/>
                <a:ea typeface="微软雅黑" panose="020B0503020204020204" pitchFamily="34" charset="-122"/>
              </a:rPr>
              <a:t>=”true”</a:t>
            </a:r>
            <a:r>
              <a:rPr lang="zh-CN" altLang="en-US" sz="1600" b="0" dirty="0" smtClean="0">
                <a:latin typeface="微软雅黑" panose="020B0503020204020204" pitchFamily="34" charset="-122"/>
                <a:ea typeface="微软雅黑" panose="020B0503020204020204" pitchFamily="34" charset="-122"/>
              </a:rPr>
              <a:t>的。</a:t>
            </a:r>
            <a:endParaRPr lang="en-US" altLang="zh-CN" sz="16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251520" y="1340768"/>
            <a:ext cx="6225104" cy="697882"/>
          </a:xfrm>
          <a:prstGeom prst="rect">
            <a:avLst/>
          </a:prstGeom>
        </p:spPr>
      </p:pic>
      <p:pic>
        <p:nvPicPr>
          <p:cNvPr id="5" name="图片 4"/>
          <p:cNvPicPr>
            <a:picLocks noChangeAspect="1"/>
          </p:cNvPicPr>
          <p:nvPr/>
        </p:nvPicPr>
        <p:blipFill>
          <a:blip r:embed="rId3"/>
          <a:stretch>
            <a:fillRect/>
          </a:stretch>
        </p:blipFill>
        <p:spPr>
          <a:xfrm>
            <a:off x="250384" y="2549407"/>
            <a:ext cx="5900826" cy="1887705"/>
          </a:xfrm>
          <a:prstGeom prst="rect">
            <a:avLst/>
          </a:prstGeom>
        </p:spPr>
      </p:pic>
    </p:spTree>
    <p:extLst>
      <p:ext uri="{BB962C8B-B14F-4D97-AF65-F5344CB8AC3E}">
        <p14:creationId xmlns:p14="http://schemas.microsoft.com/office/powerpoint/2010/main" val="295042624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AMS</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Launcher</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79512" y="785794"/>
            <a:ext cx="8784976" cy="5755422"/>
          </a:xfrm>
          <a:prstGeom prst="rect">
            <a:avLst/>
          </a:prstGeom>
          <a:noFill/>
        </p:spPr>
        <p:txBody>
          <a:bodyPr wrap="square" rtlCol="0">
            <a:spAutoFit/>
          </a:bodyPr>
          <a:lstStyle/>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因此系统在调用</a:t>
            </a:r>
            <a:r>
              <a:rPr lang="en-US" altLang="zh-CN" sz="1600" b="0" dirty="0" err="1" smtClean="0">
                <a:latin typeface="微软雅黑" panose="020B0503020204020204" pitchFamily="34" charset="-122"/>
                <a:ea typeface="微软雅黑" panose="020B0503020204020204" pitchFamily="34" charset="-122"/>
              </a:rPr>
              <a:t>startHomeOnTaskDisplayArea</a:t>
            </a:r>
            <a:r>
              <a:rPr lang="zh-CN" altLang="en-US" sz="1600" b="0" dirty="0" smtClean="0">
                <a:latin typeface="微软雅黑" panose="020B0503020204020204" pitchFamily="34" charset="-122"/>
                <a:ea typeface="微软雅黑" panose="020B0503020204020204" pitchFamily="34" charset="-122"/>
              </a:rPr>
              <a:t>方法时，对于主屏调用</a:t>
            </a:r>
            <a:r>
              <a:rPr lang="en-US" altLang="zh-CN" sz="1600" b="0" dirty="0" err="1" smtClean="0">
                <a:latin typeface="微软雅黑" panose="020B0503020204020204" pitchFamily="34" charset="-122"/>
                <a:ea typeface="微软雅黑" panose="020B0503020204020204" pitchFamily="34" charset="-122"/>
              </a:rPr>
              <a:t>resolveHomeActivity</a:t>
            </a:r>
            <a:r>
              <a:rPr lang="zh-CN" altLang="en-US" sz="1600" b="0" dirty="0" smtClean="0">
                <a:latin typeface="微软雅黑" panose="020B0503020204020204" pitchFamily="34" charset="-122"/>
                <a:ea typeface="微软雅黑" panose="020B0503020204020204" pitchFamily="34" charset="-122"/>
              </a:rPr>
              <a:t>方法获取到的</a:t>
            </a:r>
            <a:r>
              <a:rPr lang="en-US" altLang="zh-CN" sz="1600" b="0" dirty="0" smtClean="0">
                <a:latin typeface="微软雅黑" panose="020B0503020204020204" pitchFamily="34" charset="-122"/>
                <a:ea typeface="微软雅黑" panose="020B0503020204020204" pitchFamily="34" charset="-122"/>
              </a:rPr>
              <a:t>Activity</a:t>
            </a:r>
            <a:r>
              <a:rPr lang="zh-CN" altLang="en-US" sz="1600" b="0" dirty="0" smtClean="0">
                <a:latin typeface="微软雅黑" panose="020B0503020204020204" pitchFamily="34" charset="-122"/>
                <a:ea typeface="微软雅黑" panose="020B0503020204020204" pitchFamily="34" charset="-122"/>
              </a:rPr>
              <a:t>就是</a:t>
            </a:r>
            <a:r>
              <a:rPr lang="en-US" altLang="zh-CN" sz="1600" b="0" dirty="0" err="1" smtClean="0">
                <a:latin typeface="微软雅黑" panose="020B0503020204020204" pitchFamily="34" charset="-122"/>
                <a:ea typeface="微软雅黑" panose="020B0503020204020204" pitchFamily="34" charset="-122"/>
              </a:rPr>
              <a:t>FallbackHome</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a:latin typeface="微软雅黑" panose="020B0503020204020204" pitchFamily="34" charset="-122"/>
                <a:ea typeface="微软雅黑" panose="020B0503020204020204" pitchFamily="34" charset="-122"/>
              </a:rPr>
              <a:t>FallbackHome</a:t>
            </a:r>
            <a:r>
              <a:rPr lang="zh-CN" altLang="en-US" sz="1600" b="0" dirty="0" smtClean="0">
                <a:latin typeface="微软雅黑" panose="020B0503020204020204" pitchFamily="34" charset="-122"/>
                <a:ea typeface="微软雅黑" panose="020B0503020204020204" pitchFamily="34" charset="-122"/>
              </a:rPr>
              <a:t>退出的流程：</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1.</a:t>
            </a:r>
            <a:r>
              <a:rPr lang="zh-CN" altLang="en-US" sz="1600" b="0" dirty="0" smtClean="0">
                <a:latin typeface="微软雅黑" panose="020B0503020204020204" pitchFamily="34" charset="-122"/>
                <a:ea typeface="微软雅黑" panose="020B0503020204020204" pitchFamily="34" charset="-122"/>
              </a:rPr>
              <a:t>监听</a:t>
            </a:r>
            <a:r>
              <a:rPr lang="en-US" altLang="zh-CN" sz="1600" b="0" dirty="0">
                <a:latin typeface="微软雅黑" panose="020B0503020204020204" pitchFamily="34" charset="-122"/>
                <a:ea typeface="微软雅黑" panose="020B0503020204020204" pitchFamily="34" charset="-122"/>
              </a:rPr>
              <a:t>ACTION_USER_UNLOCKED</a:t>
            </a:r>
            <a:r>
              <a:rPr lang="zh-CN" altLang="en-US" sz="1600" b="0" dirty="0" smtClean="0">
                <a:latin typeface="微软雅黑" panose="020B0503020204020204" pitchFamily="34" charset="-122"/>
                <a:ea typeface="微软雅黑" panose="020B0503020204020204" pitchFamily="34" charset="-122"/>
              </a:rPr>
              <a:t>广播，判断是否解锁</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2.</a:t>
            </a:r>
            <a:r>
              <a:rPr lang="zh-CN" altLang="en-US" sz="1600" b="0" dirty="0" smtClean="0">
                <a:latin typeface="微软雅黑" panose="020B0503020204020204" pitchFamily="34" charset="-122"/>
                <a:ea typeface="微软雅黑" panose="020B0503020204020204" pitchFamily="34" charset="-122"/>
              </a:rPr>
              <a:t>如果已解锁，则</a:t>
            </a:r>
            <a:r>
              <a:rPr lang="en-US" altLang="zh-CN" sz="1600" b="0" dirty="0" smtClean="0">
                <a:latin typeface="微软雅黑" panose="020B0503020204020204" pitchFamily="34" charset="-122"/>
                <a:ea typeface="微软雅黑" panose="020B0503020204020204" pitchFamily="34" charset="-122"/>
              </a:rPr>
              <a:t>500ms</a:t>
            </a:r>
            <a:r>
              <a:rPr lang="zh-CN" altLang="en-US" sz="1600" b="0" dirty="0" smtClean="0">
                <a:latin typeface="微软雅黑" panose="020B0503020204020204" pitchFamily="34" charset="-122"/>
                <a:ea typeface="微软雅黑" panose="020B0503020204020204" pitchFamily="34" charset="-122"/>
              </a:rPr>
              <a:t>周期查找</a:t>
            </a:r>
            <a:r>
              <a:rPr lang="en-US" altLang="zh-CN" sz="1600" b="0" dirty="0" smtClean="0">
                <a:latin typeface="微软雅黑" panose="020B0503020204020204" pitchFamily="34" charset="-122"/>
                <a:ea typeface="微软雅黑" panose="020B0503020204020204" pitchFamily="34" charset="-122"/>
              </a:rPr>
              <a:t>Home</a:t>
            </a:r>
            <a:r>
              <a:rPr lang="zh-CN" altLang="en-US" sz="1600" b="0" dirty="0" smtClean="0">
                <a:latin typeface="微软雅黑" panose="020B0503020204020204" pitchFamily="34" charset="-122"/>
                <a:ea typeface="微软雅黑" panose="020B0503020204020204" pitchFamily="34" charset="-122"/>
              </a:rPr>
              <a:t>界面，如果不是</a:t>
            </a:r>
            <a:r>
              <a:rPr lang="en-US" altLang="zh-CN" sz="1600" b="0" dirty="0" err="1" smtClean="0">
                <a:latin typeface="微软雅黑" panose="020B0503020204020204" pitchFamily="34" charset="-122"/>
                <a:ea typeface="微软雅黑" panose="020B0503020204020204" pitchFamily="34" charset="-122"/>
              </a:rPr>
              <a:t>FallbackHome</a:t>
            </a:r>
            <a:r>
              <a:rPr lang="zh-CN" altLang="en-US" sz="1600" b="0" dirty="0" smtClean="0">
                <a:latin typeface="微软雅黑" panose="020B0503020204020204" pitchFamily="34" charset="-122"/>
                <a:ea typeface="微软雅黑" panose="020B0503020204020204" pitchFamily="34" charset="-122"/>
              </a:rPr>
              <a:t>，则</a:t>
            </a:r>
            <a:r>
              <a:rPr lang="en-US" altLang="zh-CN" sz="1600" b="0" dirty="0" smtClean="0">
                <a:latin typeface="微软雅黑" panose="020B0503020204020204" pitchFamily="34" charset="-122"/>
                <a:ea typeface="微软雅黑" panose="020B0503020204020204" pitchFamily="34" charset="-122"/>
              </a:rPr>
              <a:t>finish</a:t>
            </a:r>
            <a:r>
              <a:rPr lang="zh-CN" altLang="en-US" sz="1600" b="0" dirty="0" smtClean="0">
                <a:latin typeface="微软雅黑" panose="020B0503020204020204" pitchFamily="34" charset="-122"/>
                <a:ea typeface="微软雅黑" panose="020B0503020204020204" pitchFamily="34" charset="-122"/>
              </a:rPr>
              <a:t>自己</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FallbackHome</a:t>
            </a:r>
            <a:r>
              <a:rPr lang="zh-CN" altLang="en-US" sz="1600" b="0" dirty="0" smtClean="0">
                <a:latin typeface="微软雅黑" panose="020B0503020204020204" pitchFamily="34" charset="-122"/>
                <a:ea typeface="微软雅黑" panose="020B0503020204020204" pitchFamily="34" charset="-122"/>
              </a:rPr>
              <a:t>退出后，系统发现</a:t>
            </a:r>
            <a:r>
              <a:rPr lang="en-US" altLang="zh-CN" sz="1600" b="0" dirty="0" smtClean="0">
                <a:latin typeface="微软雅黑" panose="020B0503020204020204" pitchFamily="34" charset="-122"/>
                <a:ea typeface="微软雅黑" panose="020B0503020204020204" pitchFamily="34" charset="-122"/>
              </a:rPr>
              <a:t>Home Activity</a:t>
            </a:r>
            <a:r>
              <a:rPr lang="zh-CN" altLang="en-US" sz="1600" b="0" dirty="0" smtClean="0">
                <a:latin typeface="微软雅黑" panose="020B0503020204020204" pitchFamily="34" charset="-122"/>
                <a:ea typeface="微软雅黑" panose="020B0503020204020204" pitchFamily="34" charset="-122"/>
              </a:rPr>
              <a:t>没有了，会尝试再次启动</a:t>
            </a:r>
            <a:r>
              <a:rPr lang="en-US" altLang="zh-CN" sz="1600" b="0" dirty="0" smtClean="0">
                <a:latin typeface="微软雅黑" panose="020B0503020204020204" pitchFamily="34" charset="-122"/>
                <a:ea typeface="微软雅黑" panose="020B0503020204020204" pitchFamily="34" charset="-122"/>
              </a:rPr>
              <a:t>Home</a:t>
            </a:r>
            <a:r>
              <a:rPr lang="zh-CN" altLang="en-US" sz="1600" b="0" dirty="0" smtClean="0">
                <a:latin typeface="微软雅黑" panose="020B0503020204020204" pitchFamily="34" charset="-122"/>
                <a:ea typeface="微软雅黑" panose="020B0503020204020204" pitchFamily="34" charset="-122"/>
              </a:rPr>
              <a:t>，这时</a:t>
            </a:r>
            <a:r>
              <a:rPr lang="en-US" altLang="zh-CN" sz="1600" b="0" dirty="0" smtClean="0">
                <a:latin typeface="微软雅黑" panose="020B0503020204020204" pitchFamily="34" charset="-122"/>
                <a:ea typeface="微软雅黑" panose="020B0503020204020204" pitchFamily="34" charset="-122"/>
              </a:rPr>
              <a:t>resolve</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Home Activity</a:t>
            </a:r>
            <a:r>
              <a:rPr lang="zh-CN" altLang="en-US" sz="1600" b="0" dirty="0" smtClean="0">
                <a:latin typeface="微软雅黑" panose="020B0503020204020204" pitchFamily="34" charset="-122"/>
                <a:ea typeface="微软雅黑" panose="020B0503020204020204" pitchFamily="34" charset="-122"/>
              </a:rPr>
              <a:t>就是</a:t>
            </a:r>
            <a:r>
              <a:rPr lang="en-US" altLang="zh-CN" sz="1600" b="0" dirty="0" smtClean="0">
                <a:latin typeface="微软雅黑" panose="020B0503020204020204" pitchFamily="34" charset="-122"/>
                <a:ea typeface="微软雅黑" panose="020B0503020204020204" pitchFamily="34" charset="-122"/>
              </a:rPr>
              <a:t>Launcher</a:t>
            </a:r>
            <a:r>
              <a:rPr lang="zh-CN" altLang="en-US" sz="1600" b="0" dirty="0" smtClean="0">
                <a:latin typeface="微软雅黑" panose="020B0503020204020204" pitchFamily="34" charset="-122"/>
                <a:ea typeface="微软雅黑" panose="020B0503020204020204" pitchFamily="34" charset="-122"/>
              </a:rPr>
              <a:t>了。</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为何系统启动到一定阶段，</a:t>
            </a:r>
            <a:r>
              <a:rPr lang="en-US" altLang="zh-CN" sz="1600" b="0" dirty="0" err="1" smtClean="0">
                <a:latin typeface="微软雅黑" panose="020B0503020204020204" pitchFamily="34" charset="-122"/>
                <a:ea typeface="微软雅黑" panose="020B0503020204020204" pitchFamily="34" charset="-122"/>
              </a:rPr>
              <a:t>resolveIntent</a:t>
            </a:r>
            <a:r>
              <a:rPr lang="zh-CN" altLang="en-US" sz="1600" b="0" dirty="0" smtClean="0">
                <a:latin typeface="微软雅黑" panose="020B0503020204020204" pitchFamily="34" charset="-122"/>
                <a:ea typeface="微软雅黑" panose="020B0503020204020204" pitchFamily="34" charset="-122"/>
              </a:rPr>
              <a:t>获取到的</a:t>
            </a:r>
            <a:r>
              <a:rPr lang="en-US" altLang="zh-CN" sz="1600" b="0" dirty="0" smtClean="0">
                <a:latin typeface="微软雅黑" panose="020B0503020204020204" pitchFamily="34" charset="-122"/>
                <a:ea typeface="微软雅黑" panose="020B0503020204020204" pitchFamily="34" charset="-122"/>
              </a:rPr>
              <a:t>Home</a:t>
            </a:r>
            <a:r>
              <a:rPr lang="zh-CN" altLang="en-US" sz="1600" b="0" dirty="0" smtClean="0">
                <a:latin typeface="微软雅黑" panose="020B0503020204020204" pitchFamily="34" charset="-122"/>
                <a:ea typeface="微软雅黑" panose="020B0503020204020204" pitchFamily="34" charset="-122"/>
              </a:rPr>
              <a:t>会变化？</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resolveIntent</a:t>
            </a:r>
            <a:r>
              <a:rPr lang="zh-CN" altLang="en-US" sz="1600" b="0" dirty="0" smtClean="0">
                <a:latin typeface="微软雅黑" panose="020B0503020204020204" pitchFamily="34" charset="-122"/>
                <a:ea typeface="微软雅黑" panose="020B0503020204020204" pitchFamily="34" charset="-122"/>
              </a:rPr>
              <a:t>有</a:t>
            </a:r>
            <a:r>
              <a:rPr lang="en-US" altLang="zh-CN" sz="1600" b="0" dirty="0" smtClean="0">
                <a:latin typeface="微软雅黑" panose="020B0503020204020204" pitchFamily="34" charset="-122"/>
                <a:ea typeface="微软雅黑" panose="020B0503020204020204" pitchFamily="34" charset="-122"/>
              </a:rPr>
              <a:t>2</a:t>
            </a:r>
            <a:r>
              <a:rPr lang="zh-CN" altLang="en-US" sz="1600" b="0" dirty="0" smtClean="0">
                <a:latin typeface="微软雅黑" panose="020B0503020204020204" pitchFamily="34" charset="-122"/>
                <a:ea typeface="微软雅黑" panose="020B0503020204020204" pitchFamily="34" charset="-122"/>
              </a:rPr>
              <a:t>个功能：</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1.</a:t>
            </a:r>
            <a:r>
              <a:rPr lang="zh-CN" altLang="en-US" sz="1600" b="0" dirty="0" smtClean="0">
                <a:latin typeface="微软雅黑" panose="020B0503020204020204" pitchFamily="34" charset="-122"/>
                <a:ea typeface="微软雅黑" panose="020B0503020204020204" pitchFamily="34" charset="-122"/>
              </a:rPr>
              <a:t>获取符合</a:t>
            </a:r>
            <a:r>
              <a:rPr lang="en-US" altLang="zh-CN" sz="1600" b="0" dirty="0" smtClean="0">
                <a:latin typeface="微软雅黑" panose="020B0503020204020204" pitchFamily="34" charset="-122"/>
                <a:ea typeface="微软雅黑" panose="020B0503020204020204" pitchFamily="34" charset="-122"/>
              </a:rPr>
              <a:t>intent</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Activity</a:t>
            </a:r>
            <a:r>
              <a:rPr lang="zh-CN" altLang="en-US" sz="1600" b="0" dirty="0" smtClean="0">
                <a:latin typeface="微软雅黑" panose="020B0503020204020204" pitchFamily="34" charset="-122"/>
                <a:ea typeface="微软雅黑" panose="020B0503020204020204" pitchFamily="34" charset="-122"/>
              </a:rPr>
              <a:t>的</a:t>
            </a:r>
            <a:r>
              <a:rPr lang="en-US" altLang="zh-CN" sz="1600" b="0" dirty="0" smtClean="0">
                <a:latin typeface="微软雅黑" panose="020B0503020204020204" pitchFamily="34" charset="-122"/>
                <a:ea typeface="微软雅黑" panose="020B0503020204020204" pitchFamily="34" charset="-122"/>
              </a:rPr>
              <a:t>List</a:t>
            </a:r>
            <a:endParaRPr lang="en-US" altLang="zh-CN" sz="1600" b="0" dirty="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2.</a:t>
            </a:r>
            <a:r>
              <a:rPr lang="zh-CN" altLang="en-US" sz="1600" b="0" dirty="0" smtClean="0">
                <a:latin typeface="微软雅黑" panose="020B0503020204020204" pitchFamily="34" charset="-122"/>
                <a:ea typeface="微软雅黑" panose="020B0503020204020204" pitchFamily="34" charset="-122"/>
              </a:rPr>
              <a:t>获取最符合的条件的</a:t>
            </a:r>
            <a:r>
              <a:rPr lang="en-US" altLang="zh-CN" sz="1600" b="0" dirty="0" smtClean="0">
                <a:latin typeface="微软雅黑" panose="020B0503020204020204" pitchFamily="34" charset="-122"/>
                <a:ea typeface="微软雅黑" panose="020B0503020204020204" pitchFamily="34" charset="-122"/>
              </a:rPr>
              <a:t>Activity(</a:t>
            </a:r>
            <a:r>
              <a:rPr lang="en-US" altLang="zh-CN" sz="1600" b="0" dirty="0" err="1" smtClean="0">
                <a:latin typeface="微软雅黑" panose="020B0503020204020204" pitchFamily="34" charset="-122"/>
                <a:ea typeface="微软雅黑" panose="020B0503020204020204" pitchFamily="34" charset="-122"/>
              </a:rPr>
              <a:t>chooseBestActivity</a:t>
            </a:r>
            <a:r>
              <a:rPr lang="en-US" altLang="zh-CN" sz="1600" b="0" dirty="0" smtClean="0">
                <a:latin typeface="微软雅黑" panose="020B0503020204020204" pitchFamily="34" charset="-122"/>
                <a:ea typeface="微软雅黑" panose="020B0503020204020204" pitchFamily="34" charset="-122"/>
              </a:rPr>
              <a:t>)</a:t>
            </a:r>
          </a:p>
          <a:p>
            <a:pPr algn="l"/>
            <a:r>
              <a:rPr lang="en-US" altLang="zh-CN" sz="1600" b="0" dirty="0" err="1" smtClean="0">
                <a:latin typeface="微软雅黑" panose="020B0503020204020204" pitchFamily="34" charset="-122"/>
                <a:ea typeface="微软雅黑" panose="020B0503020204020204" pitchFamily="34" charset="-122"/>
              </a:rPr>
              <a:t>DirectBoot</a:t>
            </a:r>
            <a:r>
              <a:rPr lang="zh-CN" altLang="en-US" sz="1600" b="0" dirty="0" smtClean="0">
                <a:latin typeface="微软雅黑" panose="020B0503020204020204" pitchFamily="34" charset="-122"/>
                <a:ea typeface="微软雅黑" panose="020B0503020204020204" pitchFamily="34" charset="-122"/>
              </a:rPr>
              <a:t>阶段，系统获取的符合</a:t>
            </a:r>
            <a:r>
              <a:rPr lang="en-US" altLang="zh-CN" sz="1600" b="0" dirty="0" smtClean="0">
                <a:latin typeface="微软雅黑" panose="020B0503020204020204" pitchFamily="34" charset="-122"/>
                <a:ea typeface="微软雅黑" panose="020B0503020204020204" pitchFamily="34" charset="-122"/>
              </a:rPr>
              <a:t>Home</a:t>
            </a:r>
            <a:r>
              <a:rPr lang="zh-CN" altLang="en-US" sz="1600" b="0" dirty="0" smtClean="0">
                <a:latin typeface="微软雅黑" panose="020B0503020204020204" pitchFamily="34" charset="-122"/>
                <a:ea typeface="微软雅黑" panose="020B0503020204020204" pitchFamily="34" charset="-122"/>
              </a:rPr>
              <a:t>条件的</a:t>
            </a:r>
            <a:r>
              <a:rPr lang="en-US" altLang="zh-CN" sz="1600" b="0" dirty="0" smtClean="0">
                <a:latin typeface="微软雅黑" panose="020B0503020204020204" pitchFamily="34" charset="-122"/>
                <a:ea typeface="微软雅黑" panose="020B0503020204020204" pitchFamily="34" charset="-122"/>
              </a:rPr>
              <a:t>List</a:t>
            </a:r>
            <a:r>
              <a:rPr lang="zh-CN" altLang="en-US" sz="1600" b="0" dirty="0" smtClean="0">
                <a:latin typeface="微软雅黑" panose="020B0503020204020204" pitchFamily="34" charset="-122"/>
                <a:ea typeface="微软雅黑" panose="020B0503020204020204" pitchFamily="34" charset="-122"/>
              </a:rPr>
              <a:t>只有</a:t>
            </a:r>
            <a:r>
              <a:rPr lang="en-US" altLang="zh-CN" sz="1600" b="0" dirty="0" err="1" smtClean="0">
                <a:latin typeface="微软雅黑" panose="020B0503020204020204" pitchFamily="34" charset="-122"/>
                <a:ea typeface="微软雅黑" panose="020B0503020204020204" pitchFamily="34" charset="-122"/>
              </a:rPr>
              <a:t>FallbackHome</a:t>
            </a:r>
            <a:r>
              <a:rPr lang="zh-CN" altLang="en-US" sz="1600" b="0" dirty="0">
                <a:latin typeface="微软雅黑" panose="020B0503020204020204" pitchFamily="34" charset="-122"/>
                <a:ea typeface="微软雅黑" panose="020B0503020204020204" pitchFamily="34" charset="-122"/>
              </a:rPr>
              <a:t>一</a:t>
            </a:r>
            <a:r>
              <a:rPr lang="zh-CN" altLang="en-US" sz="1600" b="0" dirty="0" smtClean="0">
                <a:latin typeface="微软雅黑" panose="020B0503020204020204" pitchFamily="34" charset="-122"/>
                <a:ea typeface="微软雅黑" panose="020B0503020204020204" pitchFamily="34" charset="-122"/>
              </a:rPr>
              <a:t>个，当</a:t>
            </a:r>
            <a:r>
              <a:rPr lang="en-US" altLang="zh-CN" sz="1600" b="0" dirty="0" err="1">
                <a:latin typeface="微软雅黑" panose="020B0503020204020204" pitchFamily="34" charset="-122"/>
                <a:ea typeface="微软雅黑" panose="020B0503020204020204" pitchFamily="34" charset="-122"/>
              </a:rPr>
              <a:t>DirectBoot</a:t>
            </a:r>
            <a:r>
              <a:rPr lang="zh-CN" altLang="en-US" sz="1600" b="0" dirty="0" smtClean="0">
                <a:latin typeface="微软雅黑" panose="020B0503020204020204" pitchFamily="34" charset="-122"/>
                <a:ea typeface="微软雅黑" panose="020B0503020204020204" pitchFamily="34" charset="-122"/>
              </a:rPr>
              <a:t>阶段结束后，</a:t>
            </a:r>
            <a:r>
              <a:rPr lang="zh-CN" altLang="en-US" sz="1600" b="0" dirty="0">
                <a:latin typeface="微软雅黑" panose="020B0503020204020204" pitchFamily="34" charset="-122"/>
                <a:ea typeface="微软雅黑" panose="020B0503020204020204" pitchFamily="34" charset="-122"/>
              </a:rPr>
              <a:t>符合</a:t>
            </a:r>
            <a:r>
              <a:rPr lang="en-US" altLang="zh-CN" sz="1600" b="0" dirty="0">
                <a:latin typeface="微软雅黑" panose="020B0503020204020204" pitchFamily="34" charset="-122"/>
                <a:ea typeface="微软雅黑" panose="020B0503020204020204" pitchFamily="34" charset="-122"/>
              </a:rPr>
              <a:t>Home</a:t>
            </a:r>
            <a:r>
              <a:rPr lang="zh-CN" altLang="en-US" sz="1600" b="0" dirty="0" smtClean="0">
                <a:latin typeface="微软雅黑" panose="020B0503020204020204" pitchFamily="34" charset="-122"/>
                <a:ea typeface="微软雅黑" panose="020B0503020204020204" pitchFamily="34" charset="-122"/>
              </a:rPr>
              <a:t>条件的</a:t>
            </a:r>
            <a:r>
              <a:rPr lang="en-US" altLang="zh-CN" sz="1600" b="0" dirty="0" smtClean="0">
                <a:latin typeface="微软雅黑" panose="020B0503020204020204" pitchFamily="34" charset="-122"/>
                <a:ea typeface="微软雅黑" panose="020B0503020204020204" pitchFamily="34" charset="-122"/>
              </a:rPr>
              <a:t>List</a:t>
            </a:r>
            <a:r>
              <a:rPr lang="zh-CN" altLang="en-US" sz="1600" b="0" dirty="0" smtClean="0">
                <a:latin typeface="微软雅黑" panose="020B0503020204020204" pitchFamily="34" charset="-122"/>
                <a:ea typeface="微软雅黑" panose="020B0503020204020204" pitchFamily="34" charset="-122"/>
              </a:rPr>
              <a:t>除了</a:t>
            </a:r>
            <a:r>
              <a:rPr lang="en-US" altLang="zh-CN" sz="1600" b="0" dirty="0" err="1" smtClean="0">
                <a:latin typeface="微软雅黑" panose="020B0503020204020204" pitchFamily="34" charset="-122"/>
                <a:ea typeface="微软雅黑" panose="020B0503020204020204" pitchFamily="34" charset="-122"/>
              </a:rPr>
              <a:t>FallbackHome</a:t>
            </a:r>
            <a:r>
              <a:rPr lang="zh-CN" altLang="en-US" sz="1600" b="0" dirty="0" smtClean="0">
                <a:latin typeface="微软雅黑" panose="020B0503020204020204" pitchFamily="34" charset="-122"/>
                <a:ea typeface="微软雅黑" panose="020B0503020204020204" pitchFamily="34" charset="-122"/>
              </a:rPr>
              <a:t>，还有真正的</a:t>
            </a:r>
            <a:r>
              <a:rPr lang="en-US" altLang="zh-CN" sz="1600" b="0" dirty="0" smtClean="0">
                <a:latin typeface="微软雅黑" panose="020B0503020204020204" pitchFamily="34" charset="-122"/>
                <a:ea typeface="微软雅黑" panose="020B0503020204020204" pitchFamily="34" charset="-122"/>
              </a:rPr>
              <a:t>Launcher</a:t>
            </a:r>
            <a:r>
              <a:rPr lang="zh-CN" altLang="en-US" sz="1600" b="0" dirty="0" smtClean="0">
                <a:latin typeface="微软雅黑" panose="020B0503020204020204" pitchFamily="34" charset="-122"/>
                <a:ea typeface="微软雅黑" panose="020B0503020204020204" pitchFamily="34" charset="-122"/>
              </a:rPr>
              <a:t>。</a:t>
            </a:r>
            <a:endParaRPr lang="en-US" altLang="zh-CN" sz="1600" b="0" dirty="0" smtClean="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251520" y="785794"/>
            <a:ext cx="5772150" cy="2371725"/>
          </a:xfrm>
          <a:prstGeom prst="rect">
            <a:avLst/>
          </a:prstGeom>
        </p:spPr>
      </p:pic>
    </p:spTree>
    <p:extLst>
      <p:ext uri="{BB962C8B-B14F-4D97-AF65-F5344CB8AC3E}">
        <p14:creationId xmlns:p14="http://schemas.microsoft.com/office/powerpoint/2010/main" val="43557711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a:latin typeface="微软雅黑" panose="020B0503020204020204" pitchFamily="34" charset="-122"/>
                <a:ea typeface="微软雅黑" panose="020B0503020204020204" pitchFamily="34" charset="-122"/>
              </a:rPr>
              <a:t>AMS</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Launcher</a:t>
            </a:r>
            <a:r>
              <a:rPr lang="zh-CN" altLang="en-US" sz="2400" b="0" dirty="0">
                <a:latin typeface="微软雅黑" panose="020B0503020204020204" pitchFamily="34" charset="-122"/>
                <a:ea typeface="微软雅黑" panose="020B0503020204020204" pitchFamily="34" charset="-122"/>
              </a:rPr>
              <a:t>启动流程</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79512" y="785794"/>
            <a:ext cx="8784976" cy="830997"/>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查看</a:t>
            </a:r>
            <a:r>
              <a:rPr lang="en-US" altLang="zh-CN" sz="1600" b="0" dirty="0" err="1" smtClean="0">
                <a:latin typeface="微软雅黑" panose="020B0503020204020204" pitchFamily="34" charset="-122"/>
                <a:ea typeface="微软雅黑" panose="020B0503020204020204" pitchFamily="34" charset="-122"/>
              </a:rPr>
              <a:t>FallBackHome</a:t>
            </a:r>
            <a:r>
              <a:rPr lang="zh-CN" altLang="en-US" sz="1600" b="0" dirty="0" smtClean="0">
                <a:latin typeface="微软雅黑" panose="020B0503020204020204" pitchFamily="34" charset="-122"/>
                <a:ea typeface="微软雅黑" panose="020B0503020204020204" pitchFamily="34" charset="-122"/>
              </a:rPr>
              <a:t>的配置，可以看到优先级是</a:t>
            </a:r>
            <a:r>
              <a:rPr lang="en-US" altLang="zh-CN" sz="1600" b="0" dirty="0" smtClean="0">
                <a:latin typeface="微软雅黑" panose="020B0503020204020204" pitchFamily="34" charset="-122"/>
                <a:ea typeface="微软雅黑" panose="020B0503020204020204" pitchFamily="34" charset="-122"/>
              </a:rPr>
              <a:t>-900</a:t>
            </a:r>
            <a:r>
              <a:rPr lang="zh-CN" altLang="en-US" sz="1600" b="0" dirty="0" smtClean="0">
                <a:latin typeface="微软雅黑" panose="020B0503020204020204" pitchFamily="34" charset="-122"/>
                <a:ea typeface="微软雅黑" panose="020B0503020204020204" pitchFamily="34" charset="-122"/>
              </a:rPr>
              <a:t>，普通</a:t>
            </a:r>
            <a:r>
              <a:rPr lang="en-US" altLang="zh-CN" sz="1600" b="0" dirty="0" smtClean="0">
                <a:latin typeface="微软雅黑" panose="020B0503020204020204" pitchFamily="34" charset="-122"/>
                <a:ea typeface="微软雅黑" panose="020B0503020204020204" pitchFamily="34" charset="-122"/>
              </a:rPr>
              <a:t>Launcher</a:t>
            </a:r>
            <a:r>
              <a:rPr lang="zh-CN" altLang="en-US" sz="1600" b="0" dirty="0" smtClean="0">
                <a:latin typeface="微软雅黑" panose="020B0503020204020204" pitchFamily="34" charset="-122"/>
                <a:ea typeface="微软雅黑" panose="020B0503020204020204" pitchFamily="34" charset="-122"/>
              </a:rPr>
              <a:t>不会配置此属性，因此，</a:t>
            </a:r>
            <a:r>
              <a:rPr lang="zh-CN" altLang="en-US" sz="1600" b="0" dirty="0">
                <a:latin typeface="微软雅黑" panose="020B0503020204020204" pitchFamily="34" charset="-122"/>
                <a:ea typeface="微软雅黑" panose="020B0503020204020204" pitchFamily="34" charset="-122"/>
              </a:rPr>
              <a:t>获取最</a:t>
            </a:r>
            <a:r>
              <a:rPr lang="zh-CN" altLang="en-US" sz="1600" b="0" dirty="0" smtClean="0">
                <a:latin typeface="微软雅黑" panose="020B0503020204020204" pitchFamily="34" charset="-122"/>
                <a:ea typeface="微软雅黑" panose="020B0503020204020204" pitchFamily="34" charset="-122"/>
              </a:rPr>
              <a:t>符合</a:t>
            </a:r>
            <a:r>
              <a:rPr lang="en-US" altLang="zh-CN" sz="1600" b="0" dirty="0" smtClean="0">
                <a:latin typeface="微软雅黑" panose="020B0503020204020204" pitchFamily="34" charset="-122"/>
                <a:ea typeface="微软雅黑" panose="020B0503020204020204" pitchFamily="34" charset="-122"/>
              </a:rPr>
              <a:t>Home</a:t>
            </a:r>
            <a:r>
              <a:rPr lang="zh-CN" altLang="en-US" sz="1600" b="0" dirty="0" smtClean="0">
                <a:latin typeface="微软雅黑" panose="020B0503020204020204" pitchFamily="34" charset="-122"/>
                <a:ea typeface="微软雅黑" panose="020B0503020204020204" pitchFamily="34" charset="-122"/>
              </a:rPr>
              <a:t>的</a:t>
            </a:r>
            <a:r>
              <a:rPr lang="zh-CN" altLang="en-US" sz="1600" b="0" dirty="0">
                <a:latin typeface="微软雅黑" panose="020B0503020204020204" pitchFamily="34" charset="-122"/>
                <a:ea typeface="微软雅黑" panose="020B0503020204020204" pitchFamily="34" charset="-122"/>
              </a:rPr>
              <a:t>条件的</a:t>
            </a:r>
            <a:r>
              <a:rPr lang="en-US" altLang="zh-CN" sz="1600" b="0" dirty="0" smtClean="0">
                <a:latin typeface="微软雅黑" panose="020B0503020204020204" pitchFamily="34" charset="-122"/>
                <a:ea typeface="微软雅黑" panose="020B0503020204020204" pitchFamily="34" charset="-122"/>
              </a:rPr>
              <a:t>Activity</a:t>
            </a:r>
            <a:r>
              <a:rPr lang="zh-CN" altLang="en-US" sz="1600" b="0" dirty="0" smtClean="0">
                <a:latin typeface="微软雅黑" panose="020B0503020204020204" pitchFamily="34" charset="-122"/>
                <a:ea typeface="微软雅黑" panose="020B0503020204020204" pitchFamily="34" charset="-122"/>
              </a:rPr>
              <a:t>就变成了</a:t>
            </a:r>
            <a:r>
              <a:rPr lang="en-US" altLang="zh-CN" sz="1600" b="0" dirty="0" smtClean="0">
                <a:latin typeface="微软雅黑" panose="020B0503020204020204" pitchFamily="34" charset="-122"/>
                <a:ea typeface="微软雅黑" panose="020B0503020204020204" pitchFamily="34" charset="-122"/>
              </a:rPr>
              <a:t>Launcher</a:t>
            </a:r>
          </a:p>
          <a:p>
            <a:pPr algn="l"/>
            <a:endParaRPr lang="en-US" altLang="zh-CN" sz="1600" b="0" dirty="0" smtClean="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233537" y="1340768"/>
            <a:ext cx="7328812" cy="3816423"/>
          </a:xfrm>
          <a:prstGeom prst="rect">
            <a:avLst/>
          </a:prstGeom>
        </p:spPr>
      </p:pic>
    </p:spTree>
    <p:extLst>
      <p:ext uri="{BB962C8B-B14F-4D97-AF65-F5344CB8AC3E}">
        <p14:creationId xmlns:p14="http://schemas.microsoft.com/office/powerpoint/2010/main" val="144765760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BootChart</a:t>
            </a:r>
            <a:r>
              <a:rPr lang="zh-CN" altLang="en-US" sz="2400" b="0" dirty="0">
                <a:latin typeface="微软雅黑" panose="020B0503020204020204" pitchFamily="34" charset="-122"/>
                <a:ea typeface="微软雅黑" panose="020B0503020204020204" pitchFamily="34" charset="-122"/>
              </a:rPr>
              <a:t>工具使用方法</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79512" y="785794"/>
            <a:ext cx="8784976" cy="5509200"/>
          </a:xfrm>
          <a:prstGeom prst="rect">
            <a:avLst/>
          </a:prstGeom>
          <a:noFill/>
        </p:spPr>
        <p:txBody>
          <a:bodyPr wrap="square" rtlCol="0">
            <a:spAutoFit/>
          </a:bodyPr>
          <a:lstStyle/>
          <a:p>
            <a:pPr algn="l"/>
            <a:r>
              <a:rPr lang="en-US" altLang="zh-CN" sz="1600" b="0" dirty="0" err="1">
                <a:latin typeface="微软雅黑" panose="020B0503020204020204" pitchFamily="34" charset="-122"/>
                <a:ea typeface="微软雅黑" panose="020B0503020204020204" pitchFamily="34" charset="-122"/>
              </a:rPr>
              <a:t>bootchart</a:t>
            </a:r>
            <a:r>
              <a:rPr lang="zh-CN" altLang="en-US" sz="1600" b="0" dirty="0" smtClean="0">
                <a:latin typeface="微软雅黑" panose="020B0503020204020204" pitchFamily="34" charset="-122"/>
                <a:ea typeface="微软雅黑" panose="020B0503020204020204" pitchFamily="34" charset="-122"/>
              </a:rPr>
              <a:t>简介：</a:t>
            </a:r>
            <a:endParaRPr lang="zh-CN" altLang="en-US" sz="1600" b="0" dirty="0">
              <a:latin typeface="微软雅黑" panose="020B0503020204020204" pitchFamily="34" charset="-122"/>
              <a:ea typeface="微软雅黑" panose="020B0503020204020204" pitchFamily="34" charset="-122"/>
            </a:endParaRPr>
          </a:p>
          <a:p>
            <a:pPr algn="l"/>
            <a:r>
              <a:rPr lang="en-US" altLang="zh-CN" sz="1600" b="0" dirty="0" err="1" smtClean="0">
                <a:latin typeface="微软雅黑" panose="020B0503020204020204" pitchFamily="34" charset="-122"/>
                <a:ea typeface="微软雅黑" panose="020B0503020204020204" pitchFamily="34" charset="-122"/>
              </a:rPr>
              <a:t>bootchart</a:t>
            </a:r>
            <a:r>
              <a:rPr lang="zh-CN" altLang="en-US" sz="1600" b="0" dirty="0" smtClean="0">
                <a:latin typeface="微软雅黑" panose="020B0503020204020204" pitchFamily="34" charset="-122"/>
                <a:ea typeface="微软雅黑" panose="020B0503020204020204" pitchFamily="34" charset="-122"/>
              </a:rPr>
              <a:t>可</a:t>
            </a:r>
            <a:r>
              <a:rPr lang="zh-CN" altLang="en-US" sz="1600" b="0" dirty="0">
                <a:latin typeface="微软雅黑" panose="020B0503020204020204" pitchFamily="34" charset="-122"/>
                <a:ea typeface="微软雅黑" panose="020B0503020204020204" pitchFamily="34" charset="-122"/>
              </a:rPr>
              <a:t>为整个系统提供所有进程的 </a:t>
            </a:r>
            <a:r>
              <a:rPr lang="en-US" altLang="zh-CN" sz="1600" b="0" dirty="0">
                <a:latin typeface="微软雅黑" panose="020B0503020204020204" pitchFamily="34" charset="-122"/>
                <a:ea typeface="微软雅黑" panose="020B0503020204020204" pitchFamily="34" charset="-122"/>
              </a:rPr>
              <a:t>CPU </a:t>
            </a:r>
            <a:r>
              <a:rPr lang="zh-CN" altLang="en-US" sz="1600" b="0" dirty="0">
                <a:latin typeface="微软雅黑" panose="020B0503020204020204" pitchFamily="34" charset="-122"/>
                <a:ea typeface="微软雅黑" panose="020B0503020204020204" pitchFamily="34" charset="-122"/>
              </a:rPr>
              <a:t>和 </a:t>
            </a:r>
            <a:r>
              <a:rPr lang="en-US" altLang="zh-CN" sz="1600" b="0" dirty="0">
                <a:latin typeface="微软雅黑" panose="020B0503020204020204" pitchFamily="34" charset="-122"/>
                <a:ea typeface="微软雅黑" panose="020B0503020204020204" pitchFamily="34" charset="-122"/>
              </a:rPr>
              <a:t>I/O </a:t>
            </a:r>
            <a:r>
              <a:rPr lang="zh-CN" altLang="en-US" sz="1600" b="0" dirty="0">
                <a:latin typeface="微软雅黑" panose="020B0503020204020204" pitchFamily="34" charset="-122"/>
                <a:ea typeface="微软雅黑" panose="020B0503020204020204" pitchFamily="34" charset="-122"/>
              </a:rPr>
              <a:t>负载细分。该工具不需要重建系统映像，可以用作</a:t>
            </a:r>
            <a:r>
              <a:rPr lang="zh-CN" altLang="en-US" sz="1600" b="0" dirty="0" smtClean="0">
                <a:latin typeface="微软雅黑" panose="020B0503020204020204" pitchFamily="34" charset="-122"/>
                <a:ea typeface="微软雅黑" panose="020B0503020204020204" pitchFamily="34" charset="-122"/>
              </a:rPr>
              <a:t>进入</a:t>
            </a:r>
            <a:r>
              <a:rPr lang="en-US" altLang="zh-CN" sz="1600" b="0" dirty="0" err="1" smtClean="0">
                <a:latin typeface="微软雅黑" panose="020B0503020204020204" pitchFamily="34" charset="-122"/>
                <a:ea typeface="微软雅黑" panose="020B0503020204020204" pitchFamily="34" charset="-122"/>
              </a:rPr>
              <a:t>systrace</a:t>
            </a:r>
            <a:r>
              <a:rPr lang="zh-CN" altLang="en-US" sz="1600" b="0" dirty="0" smtClean="0">
                <a:latin typeface="微软雅黑" panose="020B0503020204020204" pitchFamily="34" charset="-122"/>
                <a:ea typeface="微软雅黑" panose="020B0503020204020204" pitchFamily="34" charset="-122"/>
              </a:rPr>
              <a:t>之前</a:t>
            </a:r>
            <a:r>
              <a:rPr lang="zh-CN" altLang="en-US" sz="1600" b="0" dirty="0">
                <a:latin typeface="微软雅黑" panose="020B0503020204020204" pitchFamily="34" charset="-122"/>
                <a:ea typeface="微软雅黑" panose="020B0503020204020204" pitchFamily="34" charset="-122"/>
              </a:rPr>
              <a:t>的快速健全性检查。</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err="1">
                <a:latin typeface="微软雅黑" panose="020B0503020204020204" pitchFamily="34" charset="-122"/>
                <a:ea typeface="微软雅黑" panose="020B0503020204020204" pitchFamily="34" charset="-122"/>
              </a:rPr>
              <a:t>Bootchart</a:t>
            </a:r>
            <a:r>
              <a:rPr lang="zh-CN" altLang="en-US" sz="1600" b="0" dirty="0">
                <a:latin typeface="微软雅黑" panose="020B0503020204020204" pitchFamily="34" charset="-122"/>
                <a:ea typeface="微软雅黑" panose="020B0503020204020204" pitchFamily="34" charset="-122"/>
              </a:rPr>
              <a:t>和</a:t>
            </a:r>
            <a:r>
              <a:rPr lang="en-US" altLang="zh-CN" sz="1600" b="0" dirty="0">
                <a:latin typeface="微软雅黑" panose="020B0503020204020204" pitchFamily="34" charset="-122"/>
                <a:ea typeface="微软雅黑" panose="020B0503020204020204" pitchFamily="34" charset="-122"/>
              </a:rPr>
              <a:t>Android</a:t>
            </a:r>
            <a:r>
              <a:rPr lang="zh-CN" altLang="en-US" sz="1600" b="0" dirty="0">
                <a:latin typeface="微软雅黑" panose="020B0503020204020204" pitchFamily="34" charset="-122"/>
                <a:ea typeface="微软雅黑" panose="020B0503020204020204" pitchFamily="34" charset="-122"/>
              </a:rPr>
              <a:t>关系：</a:t>
            </a:r>
          </a:p>
          <a:p>
            <a:pPr algn="l"/>
            <a:r>
              <a:rPr lang="en-US" altLang="zh-CN" sz="1600" b="0" dirty="0">
                <a:latin typeface="微软雅黑" panose="020B0503020204020204" pitchFamily="34" charset="-122"/>
                <a:ea typeface="微软雅黑" panose="020B0503020204020204" pitchFamily="34" charset="-122"/>
              </a:rPr>
              <a:t>Android</a:t>
            </a:r>
            <a:r>
              <a:rPr lang="zh-CN" altLang="en-US" sz="1600" b="0" dirty="0">
                <a:latin typeface="微软雅黑" panose="020B0503020204020204" pitchFamily="34" charset="-122"/>
                <a:ea typeface="微软雅黑" panose="020B0503020204020204" pitchFamily="34" charset="-122"/>
              </a:rPr>
              <a:t>中包含了</a:t>
            </a:r>
            <a:r>
              <a:rPr lang="en-US" altLang="zh-CN" sz="1600" b="0" dirty="0" err="1">
                <a:latin typeface="微软雅黑" panose="020B0503020204020204" pitchFamily="34" charset="-122"/>
                <a:ea typeface="微软雅黑" panose="020B0503020204020204" pitchFamily="34" charset="-122"/>
              </a:rPr>
              <a:t>bootchart</a:t>
            </a:r>
            <a:r>
              <a:rPr lang="zh-CN" altLang="en-US" sz="1600" b="0" dirty="0">
                <a:latin typeface="微软雅黑" panose="020B0503020204020204" pitchFamily="34" charset="-122"/>
                <a:ea typeface="微软雅黑" panose="020B0503020204020204" pitchFamily="34" charset="-122"/>
              </a:rPr>
              <a:t>的源码实现，路径在</a:t>
            </a:r>
            <a:r>
              <a:rPr lang="en-US" altLang="zh-CN" sz="1600" b="0" dirty="0">
                <a:solidFill>
                  <a:srgbClr val="7030A0"/>
                </a:solidFill>
                <a:latin typeface="微软雅黑" panose="020B0503020204020204" pitchFamily="34" charset="-122"/>
                <a:ea typeface="微软雅黑" panose="020B0503020204020204" pitchFamily="34" charset="-122"/>
              </a:rPr>
              <a:t>system/core/</a:t>
            </a:r>
            <a:r>
              <a:rPr lang="en-US" altLang="zh-CN" sz="1600" b="0" dirty="0" err="1">
                <a:solidFill>
                  <a:srgbClr val="7030A0"/>
                </a:solidFill>
                <a:latin typeface="微软雅黑" panose="020B0503020204020204" pitchFamily="34" charset="-122"/>
                <a:ea typeface="微软雅黑" panose="020B0503020204020204" pitchFamily="34" charset="-122"/>
              </a:rPr>
              <a:t>init</a:t>
            </a:r>
            <a:r>
              <a:rPr lang="en-US" altLang="zh-CN" sz="1600" b="0" dirty="0">
                <a:solidFill>
                  <a:srgbClr val="7030A0"/>
                </a:solidFill>
                <a:latin typeface="微软雅黑" panose="020B0503020204020204" pitchFamily="34" charset="-122"/>
                <a:ea typeface="微软雅黑" panose="020B0503020204020204" pitchFamily="34" charset="-122"/>
              </a:rPr>
              <a:t>/bootchart.cpp</a:t>
            </a:r>
            <a:r>
              <a:rPr lang="zh-CN" altLang="en-US" sz="1600" b="0" dirty="0">
                <a:latin typeface="微软雅黑" panose="020B0503020204020204" pitchFamily="34" charset="-122"/>
                <a:ea typeface="微软雅黑" panose="020B0503020204020204" pitchFamily="34" charset="-122"/>
              </a:rPr>
              <a:t>中</a:t>
            </a:r>
            <a:r>
              <a:rPr lang="en-US" altLang="zh-CN" sz="1600" b="0" dirty="0">
                <a:latin typeface="微软雅黑" panose="020B0503020204020204" pitchFamily="34" charset="-122"/>
                <a:ea typeface="微软雅黑" panose="020B0503020204020204" pitchFamily="34" charset="-122"/>
              </a:rPr>
              <a:t>, </a:t>
            </a:r>
            <a:r>
              <a:rPr lang="en-US" altLang="zh-CN" sz="1600" b="0" dirty="0" err="1">
                <a:latin typeface="微软雅黑" panose="020B0503020204020204" pitchFamily="34" charset="-122"/>
                <a:ea typeface="微软雅黑" panose="020B0503020204020204" pitchFamily="34" charset="-122"/>
              </a:rPr>
              <a:t>bootchart</a:t>
            </a:r>
            <a:r>
              <a:rPr lang="zh-CN" altLang="en-US" sz="1600" b="0" dirty="0">
                <a:latin typeface="微软雅黑" panose="020B0503020204020204" pitchFamily="34" charset="-122"/>
                <a:ea typeface="微软雅黑" panose="020B0503020204020204" pitchFamily="34" charset="-122"/>
              </a:rPr>
              <a:t>通过内嵌在</a:t>
            </a:r>
            <a:r>
              <a:rPr lang="en-US" altLang="zh-CN" sz="1600" b="0" dirty="0" err="1">
                <a:latin typeface="微软雅黑" panose="020B0503020204020204" pitchFamily="34" charset="-122"/>
                <a:ea typeface="微软雅黑" panose="020B0503020204020204" pitchFamily="34" charset="-122"/>
              </a:rPr>
              <a:t>init</a:t>
            </a:r>
            <a:r>
              <a:rPr lang="zh-CN" altLang="en-US" sz="1600" b="0" dirty="0">
                <a:latin typeface="微软雅黑" panose="020B0503020204020204" pitchFamily="34" charset="-122"/>
                <a:ea typeface="微软雅黑" panose="020B0503020204020204" pitchFamily="34" charset="-122"/>
              </a:rPr>
              <a:t>进程中实现，在后台执行。</a:t>
            </a:r>
          </a:p>
          <a:p>
            <a:pPr algn="l"/>
            <a:r>
              <a:rPr lang="zh-CN" altLang="en-US" sz="1600" b="0" dirty="0">
                <a:latin typeface="微软雅黑" panose="020B0503020204020204" pitchFamily="34" charset="-122"/>
                <a:ea typeface="微软雅黑" panose="020B0503020204020204" pitchFamily="34" charset="-122"/>
              </a:rPr>
              <a:t>注意：</a:t>
            </a:r>
            <a:r>
              <a:rPr lang="en-US" altLang="zh-CN" sz="1600" b="0" dirty="0" err="1" smtClean="0">
                <a:latin typeface="微软雅黑" panose="020B0503020204020204" pitchFamily="34" charset="-122"/>
                <a:ea typeface="微软雅黑" panose="020B0503020204020204" pitchFamily="34" charset="-122"/>
              </a:rPr>
              <a:t>bootchart</a:t>
            </a:r>
            <a:r>
              <a:rPr lang="zh-CN" altLang="en-US" sz="1600" b="0" dirty="0" smtClean="0">
                <a:latin typeface="微软雅黑" panose="020B0503020204020204" pitchFamily="34" charset="-122"/>
                <a:ea typeface="微软雅黑" panose="020B0503020204020204" pitchFamily="34" charset="-122"/>
              </a:rPr>
              <a:t>的</a:t>
            </a:r>
            <a:r>
              <a:rPr lang="zh-CN" altLang="en-US" sz="1600" b="0" dirty="0">
                <a:latin typeface="微软雅黑" panose="020B0503020204020204" pitchFamily="34" charset="-122"/>
                <a:ea typeface="微软雅黑" panose="020B0503020204020204" pitchFamily="34" charset="-122"/>
              </a:rPr>
              <a:t>测量时段是</a:t>
            </a:r>
            <a:r>
              <a:rPr lang="en-US" altLang="zh-CN" sz="1600" b="0" dirty="0" err="1">
                <a:latin typeface="微软雅黑" panose="020B0503020204020204" pitchFamily="34" charset="-122"/>
                <a:ea typeface="微软雅黑" panose="020B0503020204020204" pitchFamily="34" charset="-122"/>
              </a:rPr>
              <a:t>init</a:t>
            </a:r>
            <a:r>
              <a:rPr lang="zh-CN" altLang="en-US" sz="1600" b="0" dirty="0">
                <a:latin typeface="微软雅黑" panose="020B0503020204020204" pitchFamily="34" charset="-122"/>
                <a:ea typeface="微软雅黑" panose="020B0503020204020204" pitchFamily="34" charset="-122"/>
              </a:rPr>
              <a:t>进程启动之后，不包含</a:t>
            </a:r>
            <a:r>
              <a:rPr lang="en-US" altLang="zh-CN" sz="1600" b="0" dirty="0">
                <a:latin typeface="微软雅黑" panose="020B0503020204020204" pitchFamily="34" charset="-122"/>
                <a:ea typeface="微软雅黑" panose="020B0503020204020204" pitchFamily="34" charset="-122"/>
              </a:rPr>
              <a:t>bootloader</a:t>
            </a:r>
            <a:r>
              <a:rPr lang="zh-CN" altLang="en-US" sz="1600" b="0" dirty="0">
                <a:latin typeface="微软雅黑" panose="020B0503020204020204" pitchFamily="34" charset="-122"/>
                <a:ea typeface="微软雅黑" panose="020B0503020204020204" pitchFamily="34" charset="-122"/>
              </a:rPr>
              <a:t>和</a:t>
            </a:r>
            <a:r>
              <a:rPr lang="en-US" altLang="zh-CN" sz="1600" b="0" dirty="0">
                <a:latin typeface="微软雅黑" panose="020B0503020204020204" pitchFamily="34" charset="-122"/>
                <a:ea typeface="微软雅黑" panose="020B0503020204020204" pitchFamily="34" charset="-122"/>
              </a:rPr>
              <a:t>kernel</a:t>
            </a:r>
            <a:r>
              <a:rPr lang="zh-CN" altLang="en-US" sz="1600" b="0" dirty="0">
                <a:latin typeface="微软雅黑" panose="020B0503020204020204" pitchFamily="34" charset="-122"/>
                <a:ea typeface="微软雅黑" panose="020B0503020204020204" pitchFamily="34" charset="-122"/>
              </a:rPr>
              <a:t>的启动时间。</a:t>
            </a: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在</a:t>
            </a:r>
            <a:r>
              <a:rPr lang="en-US" altLang="zh-CN" sz="1600" b="0" dirty="0">
                <a:latin typeface="微软雅黑" panose="020B0503020204020204" pitchFamily="34" charset="-122"/>
                <a:ea typeface="微软雅黑" panose="020B0503020204020204" pitchFamily="34" charset="-122"/>
              </a:rPr>
              <a:t>Android</a:t>
            </a:r>
            <a:r>
              <a:rPr lang="zh-CN" altLang="en-US" sz="1600" b="0" dirty="0" smtClean="0">
                <a:latin typeface="微软雅黑" panose="020B0503020204020204" pitchFamily="34" charset="-122"/>
                <a:ea typeface="微软雅黑" panose="020B0503020204020204" pitchFamily="34" charset="-122"/>
              </a:rPr>
              <a:t>上使用</a:t>
            </a:r>
            <a:r>
              <a:rPr lang="en-US" altLang="zh-CN" sz="1600" b="0" dirty="0" err="1">
                <a:latin typeface="微软雅黑" panose="020B0503020204020204" pitchFamily="34" charset="-122"/>
                <a:ea typeface="微软雅黑" panose="020B0503020204020204" pitchFamily="34" charset="-122"/>
              </a:rPr>
              <a:t>bootchart</a:t>
            </a:r>
            <a:r>
              <a:rPr lang="en-US" altLang="zh-CN" sz="1600" b="0" dirty="0">
                <a:latin typeface="微软雅黑" panose="020B0503020204020204" pitchFamily="34" charset="-122"/>
                <a:ea typeface="微软雅黑" panose="020B0503020204020204" pitchFamily="34" charset="-122"/>
              </a:rPr>
              <a:t> </a:t>
            </a:r>
            <a:r>
              <a:rPr lang="zh-CN" altLang="en-US" sz="1600" b="0" dirty="0" smtClean="0">
                <a:latin typeface="微软雅黑" panose="020B0503020204020204" pitchFamily="34" charset="-122"/>
                <a:ea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要生成</a:t>
            </a:r>
            <a:r>
              <a:rPr lang="en-US" altLang="zh-CN" sz="1600" b="0" dirty="0" err="1" smtClean="0">
                <a:latin typeface="微软雅黑" panose="020B0503020204020204" pitchFamily="34" charset="-122"/>
                <a:ea typeface="微软雅黑" panose="020B0503020204020204" pitchFamily="34" charset="-122"/>
              </a:rPr>
              <a:t>bootchart</a:t>
            </a:r>
            <a:r>
              <a:rPr lang="zh-CN" altLang="en-US" sz="1600" b="0" dirty="0" smtClean="0">
                <a:latin typeface="微软雅黑" panose="020B0503020204020204" pitchFamily="34" charset="-122"/>
                <a:ea typeface="微软雅黑" panose="020B0503020204020204" pitchFamily="34" charset="-122"/>
              </a:rPr>
              <a:t>原始文件，需要在</a:t>
            </a:r>
            <a:r>
              <a:rPr lang="en-US" altLang="zh-CN" sz="1600" b="0" dirty="0" smtClean="0">
                <a:latin typeface="微软雅黑" panose="020B0503020204020204" pitchFamily="34" charset="-122"/>
                <a:ea typeface="微软雅黑" panose="020B0503020204020204" pitchFamily="34" charset="-122"/>
              </a:rPr>
              <a:t>/data/</a:t>
            </a:r>
            <a:r>
              <a:rPr lang="en-US" altLang="zh-CN" sz="1600" b="0" dirty="0" err="1" smtClean="0">
                <a:latin typeface="微软雅黑" panose="020B0503020204020204" pitchFamily="34" charset="-122"/>
                <a:ea typeface="微软雅黑" panose="020B0503020204020204" pitchFamily="34" charset="-122"/>
              </a:rPr>
              <a:t>bootchart</a:t>
            </a:r>
            <a:r>
              <a:rPr lang="en-US" altLang="zh-CN" sz="1600" b="0" dirty="0" smtClean="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目录创建</a:t>
            </a:r>
            <a:r>
              <a:rPr lang="en-US" altLang="zh-CN" sz="1600" b="0" dirty="0">
                <a:latin typeface="微软雅黑" panose="020B0503020204020204" pitchFamily="34" charset="-122"/>
                <a:ea typeface="微软雅黑" panose="020B0503020204020204" pitchFamily="34" charset="-122"/>
              </a:rPr>
              <a:t>enabled</a:t>
            </a:r>
            <a:r>
              <a:rPr lang="zh-CN" altLang="en-US" sz="1600" b="0" dirty="0" smtClean="0">
                <a:latin typeface="微软雅黑" panose="020B0503020204020204" pitchFamily="34" charset="-122"/>
                <a:ea typeface="微软雅黑" panose="020B0503020204020204" pitchFamily="34" charset="-122"/>
              </a:rPr>
              <a:t>文件，然后重启机器。</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06915" y="2564904"/>
            <a:ext cx="4029075" cy="2314575"/>
          </a:xfrm>
          <a:prstGeom prst="rect">
            <a:avLst/>
          </a:prstGeom>
        </p:spPr>
      </p:pic>
      <p:pic>
        <p:nvPicPr>
          <p:cNvPr id="6" name="图片 5"/>
          <p:cNvPicPr>
            <a:picLocks noChangeAspect="1"/>
          </p:cNvPicPr>
          <p:nvPr/>
        </p:nvPicPr>
        <p:blipFill>
          <a:blip r:embed="rId3"/>
          <a:stretch>
            <a:fillRect/>
          </a:stretch>
        </p:blipFill>
        <p:spPr>
          <a:xfrm>
            <a:off x="285750" y="5517232"/>
            <a:ext cx="4286250" cy="885825"/>
          </a:xfrm>
          <a:prstGeom prst="rect">
            <a:avLst/>
          </a:prstGeom>
        </p:spPr>
      </p:pic>
    </p:spTree>
    <p:extLst>
      <p:ext uri="{BB962C8B-B14F-4D97-AF65-F5344CB8AC3E}">
        <p14:creationId xmlns:p14="http://schemas.microsoft.com/office/powerpoint/2010/main" val="347853313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BootChart</a:t>
            </a:r>
            <a:r>
              <a:rPr lang="zh-CN" altLang="en-US" sz="2400" b="0" dirty="0">
                <a:latin typeface="微软雅黑" panose="020B0503020204020204" pitchFamily="34" charset="-122"/>
                <a:ea typeface="微软雅黑" panose="020B0503020204020204" pitchFamily="34" charset="-122"/>
              </a:rPr>
              <a:t>工具使用方法</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79512" y="785794"/>
            <a:ext cx="8784976" cy="5262979"/>
          </a:xfrm>
          <a:prstGeom prst="rect">
            <a:avLst/>
          </a:prstGeom>
          <a:noFill/>
        </p:spPr>
        <p:txBody>
          <a:bodyPr wrap="square" rtlCol="0">
            <a:spAutoFit/>
          </a:bodyPr>
          <a:lstStyle/>
          <a:p>
            <a:pPr algn="l"/>
            <a:r>
              <a:rPr lang="zh-CN" altLang="en-US" sz="1600" b="0" dirty="0" smtClean="0">
                <a:latin typeface="微软雅黑" panose="020B0503020204020204" pitchFamily="34" charset="-122"/>
                <a:ea typeface="微软雅黑" panose="020B0503020204020204" pitchFamily="34" charset="-122"/>
              </a:rPr>
              <a:t>机器重启后，重新进入</a:t>
            </a:r>
            <a:r>
              <a:rPr lang="en-US" altLang="zh-CN" sz="1600" b="0" dirty="0" smtClean="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data/</a:t>
            </a:r>
            <a:r>
              <a:rPr lang="en-US" altLang="zh-CN" sz="1600" b="0" dirty="0" err="1">
                <a:latin typeface="微软雅黑" panose="020B0503020204020204" pitchFamily="34" charset="-122"/>
                <a:ea typeface="微软雅黑" panose="020B0503020204020204" pitchFamily="34" charset="-122"/>
              </a:rPr>
              <a:t>bootchart</a:t>
            </a:r>
            <a:r>
              <a:rPr lang="en-US" altLang="zh-CN" sz="1600" b="0" dirty="0">
                <a:latin typeface="微软雅黑" panose="020B0503020204020204" pitchFamily="34" charset="-122"/>
                <a:ea typeface="微软雅黑" panose="020B0503020204020204" pitchFamily="34" charset="-122"/>
              </a:rPr>
              <a:t>/</a:t>
            </a:r>
            <a:r>
              <a:rPr lang="zh-CN" altLang="en-US" sz="1600" b="0" dirty="0" smtClean="0">
                <a:latin typeface="微软雅黑" panose="020B0503020204020204" pitchFamily="34" charset="-122"/>
                <a:ea typeface="微软雅黑" panose="020B0503020204020204" pitchFamily="34" charset="-122"/>
              </a:rPr>
              <a:t>目录，可以发现系统已经生成了</a:t>
            </a:r>
            <a:r>
              <a:rPr lang="en-US" altLang="zh-CN" sz="1600" b="0" dirty="0" err="1" smtClean="0">
                <a:latin typeface="微软雅黑" panose="020B0503020204020204" pitchFamily="34" charset="-122"/>
                <a:ea typeface="微软雅黑" panose="020B0503020204020204" pitchFamily="34" charset="-122"/>
              </a:rPr>
              <a:t>bootchart</a:t>
            </a:r>
            <a:r>
              <a:rPr lang="zh-CN" altLang="en-US" sz="1600" b="0" dirty="0" smtClean="0">
                <a:latin typeface="微软雅黑" panose="020B0503020204020204" pitchFamily="34" charset="-122"/>
                <a:ea typeface="微软雅黑" panose="020B0503020204020204" pitchFamily="34" charset="-122"/>
              </a:rPr>
              <a:t>的原始文件：</a:t>
            </a:r>
            <a:endParaRPr lang="zh-CN" altLang="en-US"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使用如下命令打包日志文件：</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solidFill>
                  <a:srgbClr val="0070C0"/>
                </a:solidFill>
                <a:latin typeface="微软雅黑" panose="020B0503020204020204" pitchFamily="34" charset="-122"/>
                <a:ea typeface="微软雅黑" panose="020B0503020204020204" pitchFamily="34" charset="-122"/>
              </a:rPr>
              <a:t>tar </a:t>
            </a:r>
            <a:r>
              <a:rPr lang="en-US" altLang="zh-CN" sz="1600" b="0" dirty="0">
                <a:solidFill>
                  <a:srgbClr val="0070C0"/>
                </a:solidFill>
                <a:latin typeface="微软雅黑" panose="020B0503020204020204" pitchFamily="34" charset="-122"/>
                <a:ea typeface="微软雅黑" panose="020B0503020204020204" pitchFamily="34" charset="-122"/>
              </a:rPr>
              <a:t>-</a:t>
            </a:r>
            <a:r>
              <a:rPr lang="en-US" altLang="zh-CN" sz="1600" b="0" dirty="0" err="1">
                <a:solidFill>
                  <a:srgbClr val="0070C0"/>
                </a:solidFill>
                <a:latin typeface="微软雅黑" panose="020B0503020204020204" pitchFamily="34" charset="-122"/>
                <a:ea typeface="微软雅黑" panose="020B0503020204020204" pitchFamily="34" charset="-122"/>
              </a:rPr>
              <a:t>czf</a:t>
            </a:r>
            <a:r>
              <a:rPr lang="en-US" altLang="zh-CN" sz="1600" b="0" dirty="0">
                <a:solidFill>
                  <a:srgbClr val="0070C0"/>
                </a:solidFill>
                <a:latin typeface="微软雅黑" panose="020B0503020204020204" pitchFamily="34" charset="-122"/>
                <a:ea typeface="微软雅黑" panose="020B0503020204020204" pitchFamily="34" charset="-122"/>
              </a:rPr>
              <a:t> bootchart.tgz header *.log</a:t>
            </a:r>
            <a:endParaRPr lang="en-US" altLang="zh-CN" sz="1600" b="0" dirty="0" smtClean="0">
              <a:solidFill>
                <a:srgbClr val="0070C0"/>
              </a:solidFill>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导出</a:t>
            </a:r>
            <a:r>
              <a:rPr lang="en-US" altLang="zh-CN" sz="1600" b="0" dirty="0" smtClean="0">
                <a:latin typeface="微软雅黑" panose="020B0503020204020204" pitchFamily="34" charset="-122"/>
                <a:ea typeface="微软雅黑" panose="020B0503020204020204" pitchFamily="34" charset="-122"/>
              </a:rPr>
              <a:t>bootchar.tgz</a:t>
            </a:r>
            <a:r>
              <a:rPr lang="zh-CN" altLang="en-US" sz="1600" b="0" dirty="0" smtClean="0">
                <a:latin typeface="微软雅黑" panose="020B0503020204020204" pitchFamily="34" charset="-122"/>
                <a:ea typeface="微软雅黑" panose="020B0503020204020204" pitchFamily="34" charset="-122"/>
              </a:rPr>
              <a:t>，在</a:t>
            </a:r>
            <a:r>
              <a:rPr lang="en-US" altLang="zh-CN" sz="1600" b="0" dirty="0" err="1" smtClean="0">
                <a:latin typeface="微软雅黑" panose="020B0503020204020204" pitchFamily="34" charset="-122"/>
                <a:ea typeface="微软雅黑" panose="020B0503020204020204" pitchFamily="34" charset="-122"/>
              </a:rPr>
              <a:t>ubuntu</a:t>
            </a:r>
            <a:r>
              <a:rPr lang="zh-CN" altLang="en-US" sz="1600" b="0" dirty="0" smtClean="0">
                <a:latin typeface="微软雅黑" panose="020B0503020204020204" pitchFamily="34" charset="-122"/>
                <a:ea typeface="微软雅黑" panose="020B0503020204020204" pitchFamily="34" charset="-122"/>
              </a:rPr>
              <a:t>系统使用如下命令生成</a:t>
            </a:r>
            <a:r>
              <a:rPr lang="en-US" altLang="zh-CN" sz="1600" b="0" dirty="0" smtClean="0">
                <a:latin typeface="微软雅黑" panose="020B0503020204020204" pitchFamily="34" charset="-122"/>
                <a:ea typeface="微软雅黑" panose="020B0503020204020204" pitchFamily="34" charset="-122"/>
              </a:rPr>
              <a:t>bootchart.png</a:t>
            </a:r>
            <a:r>
              <a:rPr lang="zh-CN" altLang="en-US" sz="1600" b="0" dirty="0" smtClean="0">
                <a:latin typeface="微软雅黑" panose="020B0503020204020204" pitchFamily="34" charset="-122"/>
                <a:ea typeface="微软雅黑" panose="020B0503020204020204" pitchFamily="34" charset="-122"/>
              </a:rPr>
              <a:t>分析图片</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a:solidFill>
                  <a:srgbClr val="0070C0"/>
                </a:solidFill>
                <a:latin typeface="微软雅黑" panose="020B0503020204020204" pitchFamily="34" charset="-122"/>
                <a:ea typeface="微软雅黑" panose="020B0503020204020204" pitchFamily="34" charset="-122"/>
              </a:rPr>
              <a:t>java -jar bootchart.jar boochart.tgz</a:t>
            </a:r>
          </a:p>
          <a:p>
            <a:pPr algn="l"/>
            <a:r>
              <a:rPr lang="en-US" altLang="zh-CN" sz="1600" b="0" dirty="0" smtClean="0">
                <a:latin typeface="微软雅黑" panose="020B0503020204020204" pitchFamily="34" charset="-122"/>
                <a:ea typeface="微软雅黑" panose="020B0503020204020204" pitchFamily="34" charset="-122"/>
              </a:rPr>
              <a:t>bootchart.jar</a:t>
            </a:r>
            <a:r>
              <a:rPr lang="zh-CN" altLang="en-US" sz="1600" b="0" dirty="0" smtClean="0">
                <a:latin typeface="微软雅黑" panose="020B0503020204020204" pitchFamily="34" charset="-122"/>
                <a:ea typeface="微软雅黑" panose="020B0503020204020204" pitchFamily="34" charset="-122"/>
              </a:rPr>
              <a:t>如果没有，可自己编译，方法如下：</a:t>
            </a:r>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a:latin typeface="微软雅黑" panose="020B0503020204020204" pitchFamily="34" charset="-122"/>
                <a:ea typeface="微软雅黑" panose="020B0503020204020204" pitchFamily="34" charset="-122"/>
              </a:rPr>
              <a:t>在</a:t>
            </a:r>
            <a:r>
              <a:rPr lang="en-US" altLang="zh-CN" sz="1600" b="0" dirty="0">
                <a:latin typeface="微软雅黑" panose="020B0503020204020204" pitchFamily="34" charset="-122"/>
                <a:ea typeface="微软雅黑" panose="020B0503020204020204" pitchFamily="34" charset="-122"/>
              </a:rPr>
              <a:t>https://github.com/xrmx/bootchart</a:t>
            </a:r>
            <a:r>
              <a:rPr lang="zh-CN" altLang="en-US" sz="1600" b="0" dirty="0">
                <a:latin typeface="微软雅黑" panose="020B0503020204020204" pitchFamily="34" charset="-122"/>
                <a:ea typeface="微软雅黑" panose="020B0503020204020204" pitchFamily="34" charset="-122"/>
              </a:rPr>
              <a:t>上下载</a:t>
            </a:r>
            <a:r>
              <a:rPr lang="en-US" altLang="zh-CN" sz="1600" b="0" dirty="0" err="1">
                <a:latin typeface="微软雅黑" panose="020B0503020204020204" pitchFamily="34" charset="-122"/>
                <a:ea typeface="微软雅黑" panose="020B0503020204020204" pitchFamily="34" charset="-122"/>
              </a:rPr>
              <a:t>bootchart</a:t>
            </a:r>
            <a:r>
              <a:rPr lang="zh-CN" altLang="en-US" sz="1600" b="0" dirty="0">
                <a:latin typeface="微软雅黑" panose="020B0503020204020204" pitchFamily="34" charset="-122"/>
                <a:ea typeface="微软雅黑" panose="020B0503020204020204" pitchFamily="34" charset="-122"/>
              </a:rPr>
              <a:t>的源码，迁移到</a:t>
            </a:r>
            <a:r>
              <a:rPr lang="en-US" altLang="zh-CN" sz="1600" b="0" dirty="0" err="1">
                <a:latin typeface="微软雅黑" panose="020B0503020204020204" pitchFamily="34" charset="-122"/>
                <a:ea typeface="微软雅黑" panose="020B0503020204020204" pitchFamily="34" charset="-122"/>
              </a:rPr>
              <a:t>ubuntu</a:t>
            </a:r>
            <a:r>
              <a:rPr lang="zh-CN" altLang="en-US" sz="1600" b="0" dirty="0">
                <a:latin typeface="微软雅黑" panose="020B0503020204020204" pitchFamily="34" charset="-122"/>
                <a:ea typeface="微软雅黑" panose="020B0503020204020204" pitchFamily="34" charset="-122"/>
              </a:rPr>
              <a:t>系统，</a:t>
            </a:r>
            <a:r>
              <a:rPr lang="zh-CN" altLang="en-US" sz="1600" b="0" dirty="0" smtClean="0">
                <a:latin typeface="微软雅黑" panose="020B0503020204020204" pitchFamily="34" charset="-122"/>
                <a:ea typeface="微软雅黑" panose="020B0503020204020204" pitchFamily="34" charset="-122"/>
              </a:rPr>
              <a:t>安装</a:t>
            </a:r>
            <a:r>
              <a:rPr lang="en-US" altLang="zh-CN" sz="1600" b="0" dirty="0">
                <a:latin typeface="微软雅黑" panose="020B0503020204020204" pitchFamily="34" charset="-122"/>
                <a:ea typeface="微软雅黑" panose="020B0503020204020204" pitchFamily="34" charset="-122"/>
              </a:rPr>
              <a:t>jdk1.8</a:t>
            </a:r>
            <a:r>
              <a:rPr lang="zh-CN" altLang="en-US" sz="1600" b="0" dirty="0">
                <a:latin typeface="微软雅黑" panose="020B0503020204020204" pitchFamily="34" charset="-122"/>
                <a:ea typeface="微软雅黑" panose="020B0503020204020204" pitchFamily="34" charset="-122"/>
              </a:rPr>
              <a:t>和</a:t>
            </a:r>
            <a:r>
              <a:rPr lang="en-US" altLang="zh-CN" sz="1600" b="0" dirty="0">
                <a:latin typeface="微软雅黑" panose="020B0503020204020204" pitchFamily="34" charset="-122"/>
                <a:ea typeface="微软雅黑" panose="020B0503020204020204" pitchFamily="34" charset="-122"/>
              </a:rPr>
              <a:t>ant</a:t>
            </a:r>
            <a:r>
              <a:rPr lang="zh-CN" altLang="en-US" sz="1600" b="0" dirty="0">
                <a:latin typeface="微软雅黑" panose="020B0503020204020204" pitchFamily="34" charset="-122"/>
                <a:ea typeface="微软雅黑" panose="020B0503020204020204" pitchFamily="34" charset="-122"/>
              </a:rPr>
              <a:t>，在源码目录直接</a:t>
            </a:r>
            <a:r>
              <a:rPr lang="en-US" altLang="zh-CN" sz="1600" b="0" dirty="0">
                <a:latin typeface="微软雅黑" panose="020B0503020204020204" pitchFamily="34" charset="-122"/>
                <a:ea typeface="微软雅黑" panose="020B0503020204020204" pitchFamily="34" charset="-122"/>
              </a:rPr>
              <a:t>ant</a:t>
            </a:r>
            <a:r>
              <a:rPr lang="zh-CN" altLang="en-US" sz="1600" b="0" dirty="0">
                <a:latin typeface="微软雅黑" panose="020B0503020204020204" pitchFamily="34" charset="-122"/>
                <a:ea typeface="微软雅黑" panose="020B0503020204020204" pitchFamily="34" charset="-122"/>
              </a:rPr>
              <a:t>就可以编译生成</a:t>
            </a:r>
            <a:r>
              <a:rPr lang="en-US" altLang="zh-CN" sz="1600" b="0" dirty="0">
                <a:latin typeface="微软雅黑" panose="020B0503020204020204" pitchFamily="34" charset="-122"/>
                <a:ea typeface="微软雅黑" panose="020B0503020204020204" pitchFamily="34" charset="-122"/>
              </a:rPr>
              <a:t>bootchart.jar</a:t>
            </a:r>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从</a:t>
            </a:r>
            <a:r>
              <a:rPr lang="en-US" altLang="zh-CN" sz="1600" b="0" dirty="0" err="1" smtClean="0">
                <a:latin typeface="微软雅黑" panose="020B0503020204020204" pitchFamily="34" charset="-122"/>
                <a:ea typeface="微软雅黑" panose="020B0503020204020204" pitchFamily="34" charset="-122"/>
              </a:rPr>
              <a:t>init.rc</a:t>
            </a:r>
            <a:r>
              <a:rPr lang="zh-CN" altLang="en-US" sz="1600" b="0" dirty="0" smtClean="0">
                <a:latin typeface="微软雅黑" panose="020B0503020204020204" pitchFamily="34" charset="-122"/>
                <a:ea typeface="微软雅黑" panose="020B0503020204020204" pitchFamily="34" charset="-122"/>
              </a:rPr>
              <a:t>的配置可知，当</a:t>
            </a:r>
            <a:r>
              <a:rPr lang="en-US" altLang="zh-CN" sz="1600" b="0" dirty="0" err="1" smtClean="0">
                <a:latin typeface="微软雅黑" panose="020B0503020204020204" pitchFamily="34" charset="-122"/>
                <a:ea typeface="微软雅黑" panose="020B0503020204020204" pitchFamily="34" charset="-122"/>
              </a:rPr>
              <a:t>setprop</a:t>
            </a:r>
            <a:r>
              <a:rPr lang="en-US" altLang="zh-CN" sz="1600" b="0" dirty="0" smtClean="0">
                <a:latin typeface="微软雅黑" panose="020B0503020204020204" pitchFamily="34" charset="-122"/>
                <a:ea typeface="微软雅黑" panose="020B0503020204020204" pitchFamily="34" charset="-122"/>
              </a:rPr>
              <a:t> </a:t>
            </a:r>
            <a:r>
              <a:rPr lang="en-US" altLang="zh-CN" sz="1600" b="0" dirty="0" err="1" smtClean="0">
                <a:latin typeface="微软雅黑" panose="020B0503020204020204" pitchFamily="34" charset="-122"/>
                <a:ea typeface="微软雅黑" panose="020B0503020204020204" pitchFamily="34" charset="-122"/>
              </a:rPr>
              <a:t>sys.boot_completed</a:t>
            </a:r>
            <a:r>
              <a:rPr lang="en-US" altLang="zh-CN" sz="1600" b="0" dirty="0" smtClean="0">
                <a:latin typeface="微软雅黑" panose="020B0503020204020204" pitchFamily="34" charset="-122"/>
                <a:ea typeface="微软雅黑" panose="020B0503020204020204" pitchFamily="34" charset="-122"/>
              </a:rPr>
              <a:t> 1</a:t>
            </a:r>
            <a:r>
              <a:rPr lang="zh-CN" altLang="en-US" sz="1600" b="0" dirty="0" smtClean="0">
                <a:latin typeface="微软雅黑" panose="020B0503020204020204" pitchFamily="34" charset="-122"/>
                <a:ea typeface="微软雅黑" panose="020B0503020204020204" pitchFamily="34" charset="-122"/>
              </a:rPr>
              <a:t>时就会停止生成</a:t>
            </a:r>
            <a:r>
              <a:rPr lang="en-US" altLang="zh-CN" sz="1600" b="0" dirty="0" err="1" smtClean="0">
                <a:latin typeface="微软雅黑" panose="020B0503020204020204" pitchFamily="34" charset="-122"/>
                <a:ea typeface="微软雅黑" panose="020B0503020204020204" pitchFamily="34" charset="-122"/>
              </a:rPr>
              <a:t>bootchart</a:t>
            </a:r>
            <a:r>
              <a:rPr lang="zh-CN" altLang="en-US" sz="1600" b="0" dirty="0" smtClean="0">
                <a:latin typeface="微软雅黑" panose="020B0503020204020204" pitchFamily="34" charset="-122"/>
                <a:ea typeface="微软雅黑" panose="020B0503020204020204" pitchFamily="34" charset="-122"/>
              </a:rPr>
              <a:t>原始数据，如果需要录制更长时间的</a:t>
            </a:r>
            <a:r>
              <a:rPr lang="en-US" altLang="zh-CN" sz="1600" b="0" dirty="0" err="1" smtClean="0">
                <a:latin typeface="微软雅黑" panose="020B0503020204020204" pitchFamily="34" charset="-122"/>
                <a:ea typeface="微软雅黑" panose="020B0503020204020204" pitchFamily="34" charset="-122"/>
              </a:rPr>
              <a:t>bootchart</a:t>
            </a:r>
            <a:r>
              <a:rPr lang="zh-CN" altLang="en-US" sz="1600" b="0" dirty="0" smtClean="0">
                <a:latin typeface="微软雅黑" panose="020B0503020204020204" pitchFamily="34" charset="-122"/>
                <a:ea typeface="微软雅黑" panose="020B0503020204020204" pitchFamily="34" charset="-122"/>
              </a:rPr>
              <a:t>信息，可以使用如下方法：</a:t>
            </a:r>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251520" y="1124744"/>
            <a:ext cx="8077893" cy="2088232"/>
          </a:xfrm>
          <a:prstGeom prst="rect">
            <a:avLst/>
          </a:prstGeom>
        </p:spPr>
      </p:pic>
    </p:spTree>
    <p:extLst>
      <p:ext uri="{BB962C8B-B14F-4D97-AF65-F5344CB8AC3E}">
        <p14:creationId xmlns:p14="http://schemas.microsoft.com/office/powerpoint/2010/main" val="241683047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BootChart</a:t>
            </a:r>
            <a:r>
              <a:rPr lang="zh-CN" altLang="en-US" sz="2400" b="0" dirty="0">
                <a:latin typeface="微软雅黑" panose="020B0503020204020204" pitchFamily="34" charset="-122"/>
                <a:ea typeface="微软雅黑" panose="020B0503020204020204" pitchFamily="34" charset="-122"/>
              </a:rPr>
              <a:t>工具使用方法</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sp>
        <p:nvSpPr>
          <p:cNvPr id="4" name="文本框 3"/>
          <p:cNvSpPr txBox="1"/>
          <p:nvPr/>
        </p:nvSpPr>
        <p:spPr>
          <a:xfrm>
            <a:off x="179512" y="785794"/>
            <a:ext cx="8784976" cy="3785652"/>
          </a:xfrm>
          <a:prstGeom prst="rect">
            <a:avLst/>
          </a:prstGeom>
          <a:noFill/>
        </p:spPr>
        <p:txBody>
          <a:bodyPr wrap="square" rtlCol="0">
            <a:spAutoFit/>
          </a:bodyPr>
          <a:lstStyle/>
          <a:p>
            <a:pPr algn="l"/>
            <a:r>
              <a:rPr lang="en-US" altLang="zh-CN" sz="1600" b="0" dirty="0" smtClean="0">
                <a:latin typeface="微软雅黑" panose="020B0503020204020204" pitchFamily="34" charset="-122"/>
                <a:ea typeface="微软雅黑" panose="020B0503020204020204" pitchFamily="34" charset="-122"/>
              </a:rPr>
              <a:t>1.</a:t>
            </a:r>
            <a:r>
              <a:rPr lang="zh-CN" altLang="en-US" sz="1600" b="0" dirty="0" smtClean="0">
                <a:latin typeface="微软雅黑" panose="020B0503020204020204" pitchFamily="34" charset="-122"/>
                <a:ea typeface="微软雅黑" panose="020B0503020204020204" pitchFamily="34" charset="-122"/>
              </a:rPr>
              <a:t>去除</a:t>
            </a:r>
            <a:r>
              <a:rPr lang="en-US" altLang="zh-CN" sz="1600" b="0" dirty="0" err="1" smtClean="0">
                <a:latin typeface="微软雅黑" panose="020B0503020204020204" pitchFamily="34" charset="-122"/>
                <a:ea typeface="微软雅黑" panose="020B0503020204020204" pitchFamily="34" charset="-122"/>
              </a:rPr>
              <a:t>init.rc</a:t>
            </a:r>
            <a:r>
              <a:rPr lang="zh-CN" altLang="en-US" sz="1600" b="0" dirty="0" smtClean="0">
                <a:latin typeface="微软雅黑" panose="020B0503020204020204" pitchFamily="34" charset="-122"/>
                <a:ea typeface="微软雅黑" panose="020B0503020204020204" pitchFamily="34" charset="-122"/>
              </a:rPr>
              <a:t>里面</a:t>
            </a:r>
            <a:r>
              <a:rPr lang="en-US" altLang="zh-CN" sz="1600" b="0" dirty="0" err="1" smtClean="0">
                <a:latin typeface="微软雅黑" panose="020B0503020204020204" pitchFamily="34" charset="-122"/>
                <a:ea typeface="微软雅黑" panose="020B0503020204020204" pitchFamily="34" charset="-122"/>
              </a:rPr>
              <a:t>sys.completed</a:t>
            </a:r>
            <a:r>
              <a:rPr lang="zh-CN" altLang="en-US" sz="1600" b="0" dirty="0" smtClean="0">
                <a:latin typeface="微软雅黑" panose="020B0503020204020204" pitchFamily="34" charset="-122"/>
                <a:ea typeface="微软雅黑" panose="020B0503020204020204" pitchFamily="34" charset="-122"/>
              </a:rPr>
              <a:t>属性设置为</a:t>
            </a:r>
            <a:r>
              <a:rPr lang="en-US" altLang="zh-CN" sz="1600" b="0" dirty="0" smtClean="0">
                <a:latin typeface="微软雅黑" panose="020B0503020204020204" pitchFamily="34" charset="-122"/>
                <a:ea typeface="微软雅黑" panose="020B0503020204020204" pitchFamily="34" charset="-122"/>
              </a:rPr>
              <a:t>1</a:t>
            </a:r>
            <a:r>
              <a:rPr lang="zh-CN" altLang="en-US" sz="1600" b="0" dirty="0" smtClean="0">
                <a:latin typeface="微软雅黑" panose="020B0503020204020204" pitchFamily="34" charset="-122"/>
                <a:ea typeface="微软雅黑" panose="020B0503020204020204" pitchFamily="34" charset="-122"/>
              </a:rPr>
              <a:t>后停止</a:t>
            </a:r>
            <a:r>
              <a:rPr lang="en-US" altLang="zh-CN" sz="1600" b="0" dirty="0" err="1" smtClean="0">
                <a:latin typeface="微软雅黑" panose="020B0503020204020204" pitchFamily="34" charset="-122"/>
                <a:ea typeface="微软雅黑" panose="020B0503020204020204" pitchFamily="34" charset="-122"/>
              </a:rPr>
              <a:t>bootchart</a:t>
            </a:r>
            <a:r>
              <a:rPr lang="zh-CN" altLang="en-US" sz="1600" b="0" dirty="0" smtClean="0">
                <a:latin typeface="微软雅黑" panose="020B0503020204020204" pitchFamily="34" charset="-122"/>
                <a:ea typeface="微软雅黑" panose="020B0503020204020204" pitchFamily="34" charset="-122"/>
              </a:rPr>
              <a:t>的配置</a:t>
            </a:r>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endParaRPr lang="en-US" altLang="zh-CN" sz="1600" b="0" dirty="0">
              <a:latin typeface="微软雅黑" panose="020B0503020204020204" pitchFamily="34" charset="-122"/>
              <a:ea typeface="微软雅黑" panose="020B0503020204020204" pitchFamily="34" charset="-122"/>
            </a:endParaRPr>
          </a:p>
          <a:p>
            <a:pPr algn="l"/>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2.</a:t>
            </a:r>
            <a:r>
              <a:rPr lang="zh-CN" altLang="en-US" sz="1600" b="0" dirty="0" smtClean="0">
                <a:latin typeface="微软雅黑" panose="020B0503020204020204" pitchFamily="34" charset="-122"/>
                <a:ea typeface="微软雅黑" panose="020B0503020204020204" pitchFamily="34" charset="-122"/>
              </a:rPr>
              <a:t>可用如下命令配置</a:t>
            </a:r>
            <a:r>
              <a:rPr lang="en-US" altLang="zh-CN" sz="1600" b="0" dirty="0" err="1" smtClean="0">
                <a:latin typeface="微软雅黑" panose="020B0503020204020204" pitchFamily="34" charset="-122"/>
                <a:ea typeface="微软雅黑" panose="020B0503020204020204" pitchFamily="34" charset="-122"/>
              </a:rPr>
              <a:t>bootchart</a:t>
            </a:r>
            <a:r>
              <a:rPr lang="zh-CN" altLang="en-US" sz="1600" b="0" dirty="0">
                <a:latin typeface="微软雅黑" panose="020B0503020204020204" pitchFamily="34" charset="-122"/>
                <a:ea typeface="微软雅黑" panose="020B0503020204020204" pitchFamily="34" charset="-122"/>
              </a:rPr>
              <a:t>采集</a:t>
            </a:r>
            <a:r>
              <a:rPr lang="zh-CN" altLang="en-US" sz="1600" b="0" dirty="0" smtClean="0">
                <a:latin typeface="微软雅黑" panose="020B0503020204020204" pitchFamily="34" charset="-122"/>
                <a:ea typeface="微软雅黑" panose="020B0503020204020204" pitchFamily="34" charset="-122"/>
              </a:rPr>
              <a:t>数据的超时时间</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solidFill>
                  <a:srgbClr val="FF0000"/>
                </a:solidFill>
                <a:latin typeface="微软雅黑" panose="020B0503020204020204" pitchFamily="34" charset="-122"/>
                <a:ea typeface="微软雅黑" panose="020B0503020204020204" pitchFamily="34" charset="-122"/>
              </a:rPr>
              <a:t>//</a:t>
            </a:r>
            <a:r>
              <a:rPr lang="zh-CN" altLang="en-US" sz="1600" b="0" dirty="0" smtClean="0">
                <a:solidFill>
                  <a:srgbClr val="FF0000"/>
                </a:solidFill>
                <a:latin typeface="微软雅黑" panose="020B0503020204020204" pitchFamily="34" charset="-122"/>
                <a:ea typeface="微软雅黑" panose="020B0503020204020204" pitchFamily="34" charset="-122"/>
              </a:rPr>
              <a:t>配置超时时间为</a:t>
            </a:r>
            <a:r>
              <a:rPr lang="en-US" altLang="zh-CN" sz="1600" b="0" dirty="0" smtClean="0">
                <a:solidFill>
                  <a:srgbClr val="FF0000"/>
                </a:solidFill>
                <a:latin typeface="微软雅黑" panose="020B0503020204020204" pitchFamily="34" charset="-122"/>
                <a:ea typeface="微软雅黑" panose="020B0503020204020204" pitchFamily="34" charset="-122"/>
              </a:rPr>
              <a:t>120</a:t>
            </a:r>
            <a:r>
              <a:rPr lang="zh-CN" altLang="en-US" sz="1600" b="0" dirty="0" smtClean="0">
                <a:solidFill>
                  <a:srgbClr val="FF0000"/>
                </a:solidFill>
                <a:latin typeface="微软雅黑" panose="020B0503020204020204" pitchFamily="34" charset="-122"/>
                <a:ea typeface="微软雅黑" panose="020B0503020204020204" pitchFamily="34" charset="-122"/>
              </a:rPr>
              <a:t>秒</a:t>
            </a:r>
            <a:r>
              <a:rPr lang="en-US" altLang="zh-CN" sz="1600" b="0" dirty="0" smtClean="0">
                <a:solidFill>
                  <a:srgbClr val="FF0000"/>
                </a:solidFill>
                <a:latin typeface="微软雅黑" panose="020B0503020204020204" pitchFamily="34" charset="-122"/>
                <a:ea typeface="微软雅黑" panose="020B0503020204020204" pitchFamily="34" charset="-122"/>
              </a:rPr>
              <a:t>(120</a:t>
            </a:r>
            <a:r>
              <a:rPr lang="zh-CN" altLang="en-US" sz="1600" b="0" dirty="0" smtClean="0">
                <a:solidFill>
                  <a:srgbClr val="FF0000"/>
                </a:solidFill>
                <a:latin typeface="微软雅黑" panose="020B0503020204020204" pitchFamily="34" charset="-122"/>
                <a:ea typeface="微软雅黑" panose="020B0503020204020204" pitchFamily="34" charset="-122"/>
              </a:rPr>
              <a:t>秒后自动</a:t>
            </a:r>
            <a:r>
              <a:rPr lang="en-US" altLang="zh-CN" sz="1600" b="0" dirty="0" smtClean="0">
                <a:solidFill>
                  <a:srgbClr val="FF0000"/>
                </a:solidFill>
                <a:latin typeface="微软雅黑" panose="020B0503020204020204" pitchFamily="34" charset="-122"/>
                <a:ea typeface="微软雅黑" panose="020B0503020204020204" pitchFamily="34" charset="-122"/>
              </a:rPr>
              <a:t>stop)</a:t>
            </a:r>
            <a:r>
              <a:rPr lang="zh-CN" altLang="en-US" sz="1600" b="0" dirty="0" smtClean="0">
                <a:solidFill>
                  <a:srgbClr val="FF0000"/>
                </a:solidFill>
                <a:latin typeface="微软雅黑" panose="020B0503020204020204" pitchFamily="34" charset="-122"/>
                <a:ea typeface="微软雅黑" panose="020B0503020204020204" pitchFamily="34" charset="-122"/>
              </a:rPr>
              <a:t>，最多也是</a:t>
            </a:r>
            <a:r>
              <a:rPr lang="en-US" altLang="zh-CN" sz="1600" b="0" dirty="0" smtClean="0">
                <a:solidFill>
                  <a:srgbClr val="FF0000"/>
                </a:solidFill>
                <a:latin typeface="微软雅黑" panose="020B0503020204020204" pitchFamily="34" charset="-122"/>
                <a:ea typeface="微软雅黑" panose="020B0503020204020204" pitchFamily="34" charset="-122"/>
              </a:rPr>
              <a:t>120</a:t>
            </a:r>
            <a:r>
              <a:rPr lang="zh-CN" altLang="en-US" sz="1600" b="0" dirty="0" smtClean="0">
                <a:solidFill>
                  <a:srgbClr val="FF0000"/>
                </a:solidFill>
                <a:latin typeface="微软雅黑" panose="020B0503020204020204" pitchFamily="34" charset="-122"/>
                <a:ea typeface="微软雅黑" panose="020B0503020204020204" pitchFamily="34" charset="-122"/>
              </a:rPr>
              <a:t>秒</a:t>
            </a:r>
            <a:endParaRPr lang="en-US" altLang="zh-CN" sz="1600" b="0" dirty="0" smtClean="0">
              <a:solidFill>
                <a:srgbClr val="FF0000"/>
              </a:solidFill>
              <a:latin typeface="微软雅黑" panose="020B0503020204020204" pitchFamily="34" charset="-122"/>
              <a:ea typeface="微软雅黑" panose="020B0503020204020204" pitchFamily="34" charset="-122"/>
            </a:endParaRPr>
          </a:p>
          <a:p>
            <a:pPr algn="l"/>
            <a:r>
              <a:rPr lang="en-US" altLang="zh-CN" sz="1600" b="0" dirty="0" smtClean="0">
                <a:solidFill>
                  <a:srgbClr val="0070C0"/>
                </a:solidFill>
                <a:latin typeface="微软雅黑" panose="020B0503020204020204" pitchFamily="34" charset="-122"/>
                <a:ea typeface="微软雅黑" panose="020B0503020204020204" pitchFamily="34" charset="-122"/>
              </a:rPr>
              <a:t>echo 120 &gt; /data/</a:t>
            </a:r>
            <a:r>
              <a:rPr lang="en-US" altLang="zh-CN" sz="1600" b="0" dirty="0" err="1" smtClean="0">
                <a:solidFill>
                  <a:srgbClr val="0070C0"/>
                </a:solidFill>
                <a:latin typeface="微软雅黑" panose="020B0503020204020204" pitchFamily="34" charset="-122"/>
                <a:ea typeface="微软雅黑" panose="020B0503020204020204" pitchFamily="34" charset="-122"/>
              </a:rPr>
              <a:t>bootchart</a:t>
            </a:r>
            <a:r>
              <a:rPr lang="en-US" altLang="zh-CN" sz="1600" b="0" dirty="0" smtClean="0">
                <a:solidFill>
                  <a:srgbClr val="0070C0"/>
                </a:solidFill>
                <a:latin typeface="微软雅黑" panose="020B0503020204020204" pitchFamily="34" charset="-122"/>
                <a:ea typeface="微软雅黑" panose="020B0503020204020204" pitchFamily="34" charset="-122"/>
              </a:rPr>
              <a:t>/start</a:t>
            </a:r>
            <a:endParaRPr lang="en-US" altLang="zh-CN" sz="1600" b="0" dirty="0">
              <a:solidFill>
                <a:srgbClr val="0070C0"/>
              </a:solidFill>
              <a:latin typeface="微软雅黑" panose="020B0503020204020204" pitchFamily="34" charset="-122"/>
              <a:ea typeface="微软雅黑" panose="020B0503020204020204" pitchFamily="34" charset="-122"/>
            </a:endParaRPr>
          </a:p>
          <a:p>
            <a:pPr algn="l"/>
            <a:r>
              <a:rPr lang="en-US" altLang="zh-CN" sz="1600" b="0" dirty="0" smtClean="0">
                <a:latin typeface="微软雅黑" panose="020B0503020204020204" pitchFamily="34" charset="-122"/>
                <a:ea typeface="微软雅黑" panose="020B0503020204020204" pitchFamily="34" charset="-122"/>
              </a:rPr>
              <a:t>3.</a:t>
            </a:r>
            <a:r>
              <a:rPr lang="zh-CN" altLang="en-US" sz="1600" b="0" dirty="0" smtClean="0">
                <a:latin typeface="微软雅黑" panose="020B0503020204020204" pitchFamily="34" charset="-122"/>
                <a:ea typeface="微软雅黑" panose="020B0503020204020204" pitchFamily="34" charset="-122"/>
              </a:rPr>
              <a:t>可用如下命令主动停止</a:t>
            </a:r>
            <a:r>
              <a:rPr lang="en-US" altLang="zh-CN" sz="1600" b="0" dirty="0" err="1" smtClean="0">
                <a:latin typeface="微软雅黑" panose="020B0503020204020204" pitchFamily="34" charset="-122"/>
                <a:ea typeface="微软雅黑" panose="020B0503020204020204" pitchFamily="34" charset="-122"/>
              </a:rPr>
              <a:t>bootchart</a:t>
            </a:r>
            <a:r>
              <a:rPr lang="zh-CN" altLang="en-US" sz="1600" b="0" dirty="0">
                <a:latin typeface="微软雅黑" panose="020B0503020204020204" pitchFamily="34" charset="-122"/>
                <a:ea typeface="微软雅黑" panose="020B0503020204020204" pitchFamily="34" charset="-122"/>
              </a:rPr>
              <a:t>采集</a:t>
            </a:r>
            <a:r>
              <a:rPr lang="zh-CN" altLang="en-US" sz="1600" b="0" dirty="0" smtClean="0">
                <a:latin typeface="微软雅黑" panose="020B0503020204020204" pitchFamily="34" charset="-122"/>
                <a:ea typeface="微软雅黑" panose="020B0503020204020204" pitchFamily="34" charset="-122"/>
              </a:rPr>
              <a:t>数据</a:t>
            </a:r>
            <a:endParaRPr lang="en-US" altLang="zh-CN" sz="1600" b="0" dirty="0" smtClean="0">
              <a:latin typeface="微软雅黑" panose="020B0503020204020204" pitchFamily="34" charset="-122"/>
              <a:ea typeface="微软雅黑" panose="020B0503020204020204" pitchFamily="34" charset="-122"/>
            </a:endParaRPr>
          </a:p>
          <a:p>
            <a:pPr algn="l"/>
            <a:r>
              <a:rPr lang="en-US" altLang="zh-CN" sz="1600" b="0" dirty="0" smtClean="0">
                <a:solidFill>
                  <a:srgbClr val="FF0000"/>
                </a:solidFill>
                <a:latin typeface="微软雅黑" panose="020B0503020204020204" pitchFamily="34" charset="-122"/>
                <a:ea typeface="微软雅黑" panose="020B0503020204020204" pitchFamily="34" charset="-122"/>
              </a:rPr>
              <a:t>//</a:t>
            </a:r>
            <a:r>
              <a:rPr lang="zh-CN" altLang="en-US" sz="1600" b="0" dirty="0" smtClean="0">
                <a:solidFill>
                  <a:srgbClr val="FF0000"/>
                </a:solidFill>
                <a:latin typeface="微软雅黑" panose="020B0503020204020204" pitchFamily="34" charset="-122"/>
                <a:ea typeface="微软雅黑" panose="020B0503020204020204" pitchFamily="34" charset="-122"/>
              </a:rPr>
              <a:t>在</a:t>
            </a:r>
            <a:r>
              <a:rPr lang="en-US" altLang="zh-CN" sz="1600" b="0" dirty="0" smtClean="0">
                <a:solidFill>
                  <a:srgbClr val="FF0000"/>
                </a:solidFill>
                <a:latin typeface="微软雅黑" panose="020B0503020204020204" pitchFamily="34" charset="-122"/>
                <a:ea typeface="微软雅黑" panose="020B0503020204020204" pitchFamily="34" charset="-122"/>
              </a:rPr>
              <a:t>stop</a:t>
            </a:r>
            <a:r>
              <a:rPr lang="zh-CN" altLang="en-US" sz="1600" b="0" dirty="0" smtClean="0">
                <a:solidFill>
                  <a:srgbClr val="FF0000"/>
                </a:solidFill>
                <a:latin typeface="微软雅黑" panose="020B0503020204020204" pitchFamily="34" charset="-122"/>
                <a:ea typeface="微软雅黑" panose="020B0503020204020204" pitchFamily="34" charset="-122"/>
              </a:rPr>
              <a:t>中写入</a:t>
            </a:r>
            <a:r>
              <a:rPr lang="en-US" altLang="zh-CN" sz="1600" b="0" dirty="0" smtClean="0">
                <a:solidFill>
                  <a:srgbClr val="FF0000"/>
                </a:solidFill>
                <a:latin typeface="微软雅黑" panose="020B0503020204020204" pitchFamily="34" charset="-122"/>
                <a:ea typeface="微软雅黑" panose="020B0503020204020204" pitchFamily="34" charset="-122"/>
              </a:rPr>
              <a:t>1</a:t>
            </a:r>
            <a:r>
              <a:rPr lang="zh-CN" altLang="en-US" sz="1600" b="0" dirty="0" smtClean="0">
                <a:solidFill>
                  <a:srgbClr val="FF0000"/>
                </a:solidFill>
                <a:latin typeface="微软雅黑" panose="020B0503020204020204" pitchFamily="34" charset="-122"/>
                <a:ea typeface="微软雅黑" panose="020B0503020204020204" pitchFamily="34" charset="-122"/>
              </a:rPr>
              <a:t>，可停止</a:t>
            </a:r>
            <a:r>
              <a:rPr lang="en-US" altLang="zh-CN" sz="1600" b="0" dirty="0" err="1" smtClean="0">
                <a:solidFill>
                  <a:srgbClr val="FF0000"/>
                </a:solidFill>
                <a:latin typeface="微软雅黑" panose="020B0503020204020204" pitchFamily="34" charset="-122"/>
                <a:ea typeface="微软雅黑" panose="020B0503020204020204" pitchFamily="34" charset="-122"/>
              </a:rPr>
              <a:t>bootchart</a:t>
            </a:r>
            <a:r>
              <a:rPr lang="zh-CN" altLang="en-US" sz="1600" b="0" dirty="0" smtClean="0">
                <a:solidFill>
                  <a:srgbClr val="FF0000"/>
                </a:solidFill>
                <a:latin typeface="微软雅黑" panose="020B0503020204020204" pitchFamily="34" charset="-122"/>
                <a:ea typeface="微软雅黑" panose="020B0503020204020204" pitchFamily="34" charset="-122"/>
              </a:rPr>
              <a:t>采集数据</a:t>
            </a:r>
            <a:endParaRPr lang="en-US" altLang="zh-CN" sz="1600" b="0" dirty="0" smtClean="0">
              <a:solidFill>
                <a:srgbClr val="FF0000"/>
              </a:solidFill>
              <a:latin typeface="微软雅黑" panose="020B0503020204020204" pitchFamily="34" charset="-122"/>
              <a:ea typeface="微软雅黑" panose="020B0503020204020204" pitchFamily="34" charset="-122"/>
            </a:endParaRPr>
          </a:p>
          <a:p>
            <a:pPr algn="l"/>
            <a:r>
              <a:rPr lang="en-US" altLang="zh-CN" sz="1600" b="0" dirty="0" smtClean="0">
                <a:solidFill>
                  <a:srgbClr val="0070C0"/>
                </a:solidFill>
                <a:latin typeface="微软雅黑" panose="020B0503020204020204" pitchFamily="34" charset="-122"/>
                <a:ea typeface="微软雅黑" panose="020B0503020204020204" pitchFamily="34" charset="-122"/>
              </a:rPr>
              <a:t>echo 1 &gt; /data/</a:t>
            </a:r>
            <a:r>
              <a:rPr lang="en-US" altLang="zh-CN" sz="1600" b="0" dirty="0" err="1" smtClean="0">
                <a:solidFill>
                  <a:srgbClr val="0070C0"/>
                </a:solidFill>
                <a:latin typeface="微软雅黑" panose="020B0503020204020204" pitchFamily="34" charset="-122"/>
                <a:ea typeface="微软雅黑" panose="020B0503020204020204" pitchFamily="34" charset="-122"/>
              </a:rPr>
              <a:t>bootchart</a:t>
            </a:r>
            <a:r>
              <a:rPr lang="en-US" altLang="zh-CN" sz="1600" b="0" dirty="0" smtClean="0">
                <a:solidFill>
                  <a:srgbClr val="0070C0"/>
                </a:solidFill>
                <a:latin typeface="微软雅黑" panose="020B0503020204020204" pitchFamily="34" charset="-122"/>
                <a:ea typeface="微软雅黑" panose="020B0503020204020204" pitchFamily="34" charset="-122"/>
              </a:rPr>
              <a:t>/stop</a:t>
            </a:r>
          </a:p>
          <a:p>
            <a:pPr algn="l"/>
            <a:endParaRPr lang="en-US" altLang="zh-CN" sz="1600" b="0" dirty="0" smtClean="0">
              <a:latin typeface="微软雅黑" panose="020B0503020204020204" pitchFamily="34" charset="-122"/>
              <a:ea typeface="微软雅黑" panose="020B0503020204020204" pitchFamily="34" charset="-122"/>
            </a:endParaRPr>
          </a:p>
          <a:p>
            <a:pPr algn="l"/>
            <a:r>
              <a:rPr lang="zh-CN" altLang="en-US" sz="1600" b="0" dirty="0" smtClean="0">
                <a:latin typeface="微软雅黑" panose="020B0503020204020204" pitchFamily="34" charset="-122"/>
                <a:ea typeface="微软雅黑" panose="020B0503020204020204" pitchFamily="34" charset="-122"/>
              </a:rPr>
              <a:t>采集完数据后，需要清除</a:t>
            </a:r>
            <a:r>
              <a:rPr lang="en-US" altLang="zh-CN" sz="1600" b="0" dirty="0" smtClean="0">
                <a:latin typeface="微软雅黑" panose="020B0503020204020204" pitchFamily="34" charset="-122"/>
                <a:ea typeface="微软雅黑" panose="020B0503020204020204" pitchFamily="34" charset="-122"/>
              </a:rPr>
              <a:t>enabled</a:t>
            </a:r>
            <a:r>
              <a:rPr lang="zh-CN" altLang="en-US" sz="1600" b="0" dirty="0" smtClean="0">
                <a:latin typeface="微软雅黑" panose="020B0503020204020204" pitchFamily="34" charset="-122"/>
                <a:ea typeface="微软雅黑" panose="020B0503020204020204" pitchFamily="34" charset="-122"/>
              </a:rPr>
              <a:t>文件，避免采集数据影响开机启动时间。</a:t>
            </a:r>
            <a:endParaRPr lang="en-US" altLang="zh-CN" sz="1600" b="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51519" y="1104758"/>
            <a:ext cx="8529523" cy="1388138"/>
          </a:xfrm>
          <a:prstGeom prst="rect">
            <a:avLst/>
          </a:prstGeom>
        </p:spPr>
      </p:pic>
    </p:spTree>
    <p:extLst>
      <p:ext uri="{BB962C8B-B14F-4D97-AF65-F5344CB8AC3E}">
        <p14:creationId xmlns:p14="http://schemas.microsoft.com/office/powerpoint/2010/main" val="408002390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0" y="0"/>
            <a:ext cx="8715404" cy="785794"/>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lvl="0" indent="182563" algn="l" eaLnBrk="0" hangingPunct="0">
              <a:defRPr/>
            </a:pPr>
            <a:r>
              <a:rPr lang="en-US" altLang="zh-CN" sz="2400" b="0" dirty="0" err="1">
                <a:latin typeface="微软雅黑" panose="020B0503020204020204" pitchFamily="34" charset="-122"/>
                <a:ea typeface="微软雅黑" panose="020B0503020204020204" pitchFamily="34" charset="-122"/>
              </a:rPr>
              <a:t>BootChart</a:t>
            </a:r>
            <a:r>
              <a:rPr lang="zh-CN" altLang="en-US" sz="2400" b="0" dirty="0">
                <a:latin typeface="微软雅黑" panose="020B0503020204020204" pitchFamily="34" charset="-122"/>
                <a:ea typeface="微软雅黑" panose="020B0503020204020204" pitchFamily="34" charset="-122"/>
              </a:rPr>
              <a:t>工具使用方法</a:t>
            </a:r>
            <a:endParaRPr kumimoji="0" lang="en-US" altLang="zh-CN" sz="2400" b="1" i="0" u="none" strike="noStrike" kern="0" cap="none" spc="0" normalizeH="0" baseline="0" noProof="0" dirty="0">
              <a:ln>
                <a:noFill/>
              </a:ln>
              <a:solidFill>
                <a:schemeClr val="tx2"/>
              </a:solidFill>
              <a:effectLst/>
              <a:uLnTx/>
              <a:uFillTx/>
              <a:latin typeface="微软雅黑" pitchFamily="34" charset="-122"/>
              <a:ea typeface="微软雅黑" pitchFamily="34" charset="-122"/>
              <a:cs typeface="+mj-cs"/>
            </a:endParaRPr>
          </a:p>
        </p:txBody>
      </p:sp>
      <p:pic>
        <p:nvPicPr>
          <p:cNvPr id="9" name="图片 8"/>
          <p:cNvPicPr>
            <a:picLocks noChangeAspect="1"/>
          </p:cNvPicPr>
          <p:nvPr/>
        </p:nvPicPr>
        <p:blipFill>
          <a:blip r:embed="rId2"/>
          <a:stretch>
            <a:fillRect/>
          </a:stretch>
        </p:blipFill>
        <p:spPr>
          <a:xfrm>
            <a:off x="1624924" y="773816"/>
            <a:ext cx="5465556" cy="6036111"/>
          </a:xfrm>
          <a:prstGeom prst="rect">
            <a:avLst/>
          </a:prstGeom>
        </p:spPr>
      </p:pic>
    </p:spTree>
    <p:extLst>
      <p:ext uri="{BB962C8B-B14F-4D97-AF65-F5344CB8AC3E}">
        <p14:creationId xmlns:p14="http://schemas.microsoft.com/office/powerpoint/2010/main" val="95130609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915816" y="2636912"/>
            <a:ext cx="3262432" cy="1015663"/>
          </a:xfrm>
          <a:prstGeom prst="rect">
            <a:avLst/>
          </a:prstGeom>
          <a:noFill/>
        </p:spPr>
        <p:txBody>
          <a:bodyPr wrap="none" rtlCol="0">
            <a:spAutoFit/>
          </a:bodyPr>
          <a:lstStyle/>
          <a:p>
            <a:r>
              <a:rPr lang="zh-CN" altLang="en-US" sz="6000" smtClean="0">
                <a:solidFill>
                  <a:schemeClr val="tx1"/>
                </a:solidFill>
                <a:latin typeface="微软雅黑" panose="020B0503020204020204" pitchFamily="34" charset="-122"/>
                <a:ea typeface="微软雅黑" panose="020B0503020204020204" pitchFamily="34" charset="-122"/>
              </a:rPr>
              <a:t>谢谢大家</a:t>
            </a:r>
            <a:endParaRPr lang="zh-CN" altLang="en-US" sz="600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3601287"/>
      </p:ext>
    </p:extLst>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仿宋_GB2312"/>
        <a:ea typeface="仿宋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2"/>
            </a:solidFill>
            <a:effectLst/>
            <a:latin typeface="仿宋_GB2312" pitchFamily="49" charset="-122"/>
            <a:ea typeface="仿宋_GB2312" pitchFamily="49" charset="-122"/>
          </a:defRPr>
        </a:defPPr>
      </a:lstStyle>
    </a:spDef>
    <a:lnDef>
      <a:spPr bwMode="auto">
        <a:xfrm>
          <a:off x="0" y="0"/>
          <a:ext cx="1" cy="1"/>
        </a:xfrm>
        <a:custGeom>
          <a:avLst/>
          <a:gdLst/>
          <a:ahLst/>
          <a:cxnLst/>
          <a:rect l="0" t="0" r="0" b="0"/>
          <a:pathLst/>
        </a:custGeom>
        <a:no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2"/>
            </a:solidFill>
            <a:effectLst/>
            <a:latin typeface="仿宋_GB2312" pitchFamily="49" charset="-122"/>
            <a:ea typeface="仿宋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92009</TotalTime>
  <Words>5989</Words>
  <Application>Microsoft Office PowerPoint</Application>
  <PresentationFormat>全屏显示(4:3)</PresentationFormat>
  <Paragraphs>748</Paragraphs>
  <Slides>45</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0</vt:i4>
      </vt:variant>
      <vt:variant>
        <vt:lpstr>幻灯片标题</vt:lpstr>
      </vt:variant>
      <vt:variant>
        <vt:i4>45</vt:i4>
      </vt:variant>
    </vt:vector>
  </HeadingPairs>
  <TitlesOfParts>
    <vt:vector size="52" baseType="lpstr">
      <vt:lpstr>仿宋</vt:lpstr>
      <vt:lpstr>仿宋_GB2312</vt:lpstr>
      <vt:lpstr>宋体</vt:lpstr>
      <vt:lpstr>微软雅黑</vt:lpstr>
      <vt:lpstr>Arial</vt:lpstr>
      <vt:lpstr>Wingdings 2</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软件编写规范</dc:title>
  <dc:creator>刘少平</dc:creator>
  <dc:description>c/C++</dc:description>
  <cp:lastModifiedBy>Microsoft 帐户</cp:lastModifiedBy>
  <cp:revision>4237</cp:revision>
  <dcterms:created xsi:type="dcterms:W3CDTF">2011-06-07T03:21:09Z</dcterms:created>
  <dcterms:modified xsi:type="dcterms:W3CDTF">2024-07-26T06:50:59Z</dcterms:modified>
  <cp:category>编程</cp:category>
</cp:coreProperties>
</file>