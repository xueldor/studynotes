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4" r:id="rId4"/>
    <p:sldMasterId id="2147483676" r:id="rId5"/>
    <p:sldMasterId id="2147483688" r:id="rId6"/>
    <p:sldMasterId id="2147483700" r:id="rId7"/>
    <p:sldMasterId id="2147483712" r:id="rId8"/>
    <p:sldMasterId id="2147483724" r:id="rId9"/>
    <p:sldMasterId id="2147483736" r:id="rId10"/>
    <p:sldMasterId id="2147483748" r:id="rId11"/>
    <p:sldMasterId id="2147483760" r:id="rId12"/>
    <p:sldMasterId id="2147483772" r:id="rId13"/>
  </p:sldMasterIdLst>
  <p:notesMasterIdLst>
    <p:notesMasterId r:id="rId29"/>
  </p:notesMasterIdLst>
  <p:sldIdLst>
    <p:sldId id="256" r:id="rId14"/>
    <p:sldId id="257" r:id="rId15"/>
    <p:sldId id="292" r:id="rId16"/>
    <p:sldId id="282" r:id="rId17"/>
    <p:sldId id="281" r:id="rId18"/>
    <p:sldId id="280" r:id="rId19"/>
    <p:sldId id="261" r:id="rId20"/>
    <p:sldId id="286" r:id="rId21"/>
    <p:sldId id="288" r:id="rId22"/>
    <p:sldId id="284" r:id="rId23"/>
    <p:sldId id="289" r:id="rId24"/>
    <p:sldId id="290" r:id="rId25"/>
    <p:sldId id="291" r:id="rId26"/>
    <p:sldId id="275" r:id="rId27"/>
    <p:sldId id="276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3455"/>
    <a:srgbClr val="465F8B"/>
    <a:srgbClr val="5893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954" y="-432"/>
      </p:cViewPr>
      <p:guideLst>
        <p:guide orient="horz" pos="2194"/>
        <p:guide pos="3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9DBF1-C9AA-4368-9EF4-13E369C68E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6E517-BC0B-41AA-B9B3-DACA470573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6601" y="6173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6601" y="6173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6601" y="6173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6601" y="6173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6601" y="6173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6601" y="6173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6601" y="6173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6601" y="6173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6601" y="6173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6601" y="6173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6601" y="6173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4" Type="http://schemas.openxmlformats.org/officeDocument/2006/relationships/theme" Target="../theme/theme3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4" Type="http://schemas.openxmlformats.org/officeDocument/2006/relationships/theme" Target="../theme/theme4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4" Type="http://schemas.openxmlformats.org/officeDocument/2006/relationships/theme" Target="../theme/theme5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4" Type="http://schemas.openxmlformats.org/officeDocument/2006/relationships/theme" Target="../theme/theme6.xml"/><Relationship Id="rId13" Type="http://schemas.openxmlformats.org/officeDocument/2006/relationships/image" Target="../media/image5.sv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" Type="http://schemas.openxmlformats.org/officeDocument/2006/relationships/slideLayout" Target="../slideLayouts/slideLayout48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0.xml"/><Relationship Id="rId14" Type="http://schemas.openxmlformats.org/officeDocument/2006/relationships/theme" Target="../theme/theme7.xml"/><Relationship Id="rId13" Type="http://schemas.openxmlformats.org/officeDocument/2006/relationships/image" Target="../media/image6.sv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8.xml"/><Relationship Id="rId1" Type="http://schemas.openxmlformats.org/officeDocument/2006/relationships/slideLayout" Target="../slideLayouts/slideLayout59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1.xml"/><Relationship Id="rId14" Type="http://schemas.openxmlformats.org/officeDocument/2006/relationships/theme" Target="../theme/theme8.xml"/><Relationship Id="rId13" Type="http://schemas.openxmlformats.org/officeDocument/2006/relationships/image" Target="../media/image7.sv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0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9.xml"/><Relationship Id="rId8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4" Type="http://schemas.openxmlformats.org/officeDocument/2006/relationships/theme" Target="../theme/theme9.xml"/><Relationship Id="rId13" Type="http://schemas.openxmlformats.org/officeDocument/2006/relationships/image" Target="../media/image6.sv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1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99.xml"/><Relationship Id="rId7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3.xml"/><Relationship Id="rId14" Type="http://schemas.openxmlformats.org/officeDocument/2006/relationships/theme" Target="../theme/theme10.xml"/><Relationship Id="rId13" Type="http://schemas.openxmlformats.org/officeDocument/2006/relationships/image" Target="../media/image7.sv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92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4.xml"/><Relationship Id="rId14" Type="http://schemas.openxmlformats.org/officeDocument/2006/relationships/theme" Target="../theme/theme11.xml"/><Relationship Id="rId13" Type="http://schemas.openxmlformats.org/officeDocument/2006/relationships/image" Target="../media/image8.sv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03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2.xml"/><Relationship Id="rId8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15.xml"/><Relationship Id="rId14" Type="http://schemas.openxmlformats.org/officeDocument/2006/relationships/theme" Target="../theme/theme12.xml"/><Relationship Id="rId13" Type="http://schemas.openxmlformats.org/officeDocument/2006/relationships/image" Target="../media/image9.sv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C3935-6632-4725-8477-D23EA8D26E6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163FD-90D6-4F91-A00D-13A29EB9DF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79"/>
          <a:stretch>
            <a:fillRect/>
          </a:stretch>
        </p:blipFill>
        <p:spPr>
          <a:xfrm flipH="1">
            <a:off x="0" y="-27305"/>
            <a:ext cx="12192000" cy="685800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10257989" y="1471866"/>
            <a:ext cx="1667375" cy="1667375"/>
          </a:xfrm>
          <a:prstGeom prst="ellipse">
            <a:avLst/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65932" y="339658"/>
            <a:ext cx="15390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航盛</a:t>
            </a:r>
            <a:endParaRPr lang="zh-CN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78840" y="2494280"/>
            <a:ext cx="104336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仓耳渔阳体 W01" pitchFamily="18" charset="-122"/>
                <a:ea typeface="仓耳渔阳体 W01" pitchFamily="18" charset="-122"/>
                <a:sym typeface="Arial" panose="020B0604020202020204"/>
              </a:rPr>
              <a:t>Binder</a:t>
            </a: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仓耳渔阳体 W01" pitchFamily="18" charset="-122"/>
                <a:ea typeface="仓耳渔阳体 W01" pitchFamily="18" charset="-122"/>
                <a:sym typeface="Arial" panose="020B0604020202020204"/>
              </a:rPr>
              <a:t>风暴：从三次事故看系统资源雪崩的真相</a:t>
            </a:r>
            <a:endParaRPr lang="zh-CN" alt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仓耳渔阳体 W01" pitchFamily="18" charset="-122"/>
              <a:ea typeface="仓耳渔阳体 W01" pitchFamily="18" charset="-122"/>
              <a:sym typeface="Arial" panose="020B0604020202020204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784357" y="5505878"/>
            <a:ext cx="1359955" cy="418540"/>
            <a:chOff x="9208293" y="5197258"/>
            <a:chExt cx="1359954" cy="418540"/>
          </a:xfrm>
        </p:grpSpPr>
        <p:sp>
          <p:nvSpPr>
            <p:cNvPr id="20" name="矩形: 圆角 19"/>
            <p:cNvSpPr/>
            <p:nvPr/>
          </p:nvSpPr>
          <p:spPr>
            <a:xfrm>
              <a:off x="9264352" y="5197258"/>
              <a:ext cx="1303895" cy="4185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38100" dir="8100000" sx="101000" sy="101000" algn="tr" rotWithShape="0">
                <a:srgbClr val="0889AC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208293" y="5268029"/>
              <a:ext cx="13599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rgbClr val="3F345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汇报人</a:t>
              </a:r>
              <a:r>
                <a:rPr lang="zh-CN" altLang="en-US" sz="1100" dirty="0" smtClean="0">
                  <a:solidFill>
                    <a:srgbClr val="3F345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：第一</a:t>
              </a:r>
              <a:r>
                <a:rPr lang="en-US" altLang="zh-CN" sz="1100" dirty="0" smtClean="0">
                  <a:solidFill>
                    <a:srgbClr val="3F345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PPT</a:t>
              </a:r>
              <a:endParaRPr lang="zh-CN" altLang="en-US" sz="1100" dirty="0">
                <a:solidFill>
                  <a:srgbClr val="3F34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896225" y="3644900"/>
            <a:ext cx="318579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chemeClr val="bg1"/>
                </a:solidFill>
              </a:rPr>
              <a:t>三大场景会贯穿全篇：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</a:t>
            </a:r>
            <a:r>
              <a:rPr lang="en-US" altLang="zh-CN" sz="1600">
                <a:solidFill>
                  <a:schemeClr val="bg1"/>
                </a:solidFill>
              </a:rPr>
              <a:t>1️ CarPlay </a:t>
            </a:r>
            <a:r>
              <a:rPr lang="zh-CN" altLang="en-US" sz="1600">
                <a:solidFill>
                  <a:schemeClr val="bg1"/>
                </a:solidFill>
              </a:rPr>
              <a:t>黑屏 </a:t>
            </a:r>
            <a:r>
              <a:rPr lang="en-US" altLang="zh-CN" sz="1600">
                <a:solidFill>
                  <a:schemeClr val="bg1"/>
                </a:solidFill>
              </a:rPr>
              <a:t>&amp; </a:t>
            </a:r>
            <a:r>
              <a:rPr lang="zh-CN" altLang="en-US" sz="1600">
                <a:solidFill>
                  <a:schemeClr val="bg1"/>
                </a:solidFill>
              </a:rPr>
              <a:t>无响应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</a:t>
            </a:r>
            <a:r>
              <a:rPr lang="en-US" altLang="zh-CN" sz="1600">
                <a:solidFill>
                  <a:schemeClr val="bg1"/>
                </a:solidFill>
              </a:rPr>
              <a:t>2️ DeadSystemException </a:t>
            </a:r>
            <a:r>
              <a:rPr lang="zh-CN" altLang="en-US" sz="1600">
                <a:solidFill>
                  <a:schemeClr val="bg1"/>
                </a:solidFill>
              </a:rPr>
              <a:t>崩溃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</a:t>
            </a:r>
            <a:r>
              <a:rPr lang="en-US" altLang="zh-CN" sz="1600">
                <a:solidFill>
                  <a:schemeClr val="bg1"/>
                </a:solidFill>
              </a:rPr>
              <a:t>3️ </a:t>
            </a:r>
            <a:r>
              <a:rPr lang="zh-CN" altLang="en-US" sz="1600">
                <a:solidFill>
                  <a:schemeClr val="bg1"/>
                </a:solidFill>
              </a:rPr>
              <a:t>大灯闪退 </a:t>
            </a:r>
            <a:r>
              <a:rPr lang="en-US" altLang="zh-CN" sz="1600">
                <a:solidFill>
                  <a:schemeClr val="bg1"/>
                </a:solidFill>
              </a:rPr>
              <a:t>&amp; </a:t>
            </a:r>
            <a:r>
              <a:rPr lang="zh-CN" altLang="en-US" sz="1600">
                <a:solidFill>
                  <a:schemeClr val="bg1"/>
                </a:solidFill>
              </a:rPr>
              <a:t>仪表异常上电</a:t>
            </a:r>
            <a:endParaRPr lang="zh-CN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79"/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1192965" y="1548646"/>
            <a:ext cx="3580765" cy="534810"/>
            <a:chOff x="1338551" y="1737967"/>
            <a:chExt cx="3580765" cy="534810"/>
          </a:xfrm>
        </p:grpSpPr>
        <p:sp>
          <p:nvSpPr>
            <p:cNvPr id="4" name="圆角矩形 3"/>
            <p:cNvSpPr/>
            <p:nvPr>
              <p:custDataLst>
                <p:tags r:id="rId3"/>
              </p:custDataLst>
            </p:nvPr>
          </p:nvSpPr>
          <p:spPr>
            <a:xfrm>
              <a:off x="1763692" y="1737967"/>
              <a:ext cx="3127319" cy="53481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chemeClr val="bg1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4"/>
              </p:custDataLst>
            </p:nvPr>
          </p:nvSpPr>
          <p:spPr>
            <a:xfrm>
              <a:off x="1338551" y="1846199"/>
              <a:ext cx="318347" cy="3183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01600" dir="5400000" algn="ctr" rotWithShape="0">
                <a:srgbClr val="5877B6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6" name="TextBox 51"/>
            <p:cNvSpPr txBox="1"/>
            <p:nvPr>
              <p:custDataLst>
                <p:tags r:id="rId5"/>
              </p:custDataLst>
            </p:nvPr>
          </p:nvSpPr>
          <p:spPr>
            <a:xfrm>
              <a:off x="1976726" y="1774797"/>
              <a:ext cx="294259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3F3455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Binder</a:t>
              </a:r>
              <a:r>
                <a:rPr lang="zh-CN" altLang="en-US" sz="2400" b="1" dirty="0">
                  <a:solidFill>
                    <a:srgbClr val="3F3455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风暴是什么？</a:t>
              </a:r>
              <a:endParaRPr lang="zh-CN" altLang="en-US" sz="2400" b="1" dirty="0">
                <a:solidFill>
                  <a:srgbClr val="3F3455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6"/>
            </p:custDataLst>
          </p:nvPr>
        </p:nvGrpSpPr>
        <p:grpSpPr>
          <a:xfrm>
            <a:off x="1192965" y="2762333"/>
            <a:ext cx="5384165" cy="538480"/>
            <a:chOff x="1338551" y="2951654"/>
            <a:chExt cx="5384165" cy="538480"/>
          </a:xfrm>
        </p:grpSpPr>
        <p:sp>
          <p:nvSpPr>
            <p:cNvPr id="8" name="椭圆 7"/>
            <p:cNvSpPr/>
            <p:nvPr>
              <p:custDataLst>
                <p:tags r:id="rId7"/>
              </p:custDataLst>
            </p:nvPr>
          </p:nvSpPr>
          <p:spPr>
            <a:xfrm>
              <a:off x="1338551" y="3063786"/>
              <a:ext cx="318347" cy="3183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01600" dir="5400000" algn="ctr" rotWithShape="0">
                <a:srgbClr val="5877B6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9" name="圆角矩形 22"/>
            <p:cNvSpPr/>
            <p:nvPr>
              <p:custDataLst>
                <p:tags r:id="rId8"/>
              </p:custDataLst>
            </p:nvPr>
          </p:nvSpPr>
          <p:spPr>
            <a:xfrm>
              <a:off x="1764001" y="2955464"/>
              <a:ext cx="4958080" cy="53467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chemeClr val="bg1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10" name="TextBox 51"/>
            <p:cNvSpPr txBox="1"/>
            <p:nvPr>
              <p:custDataLst>
                <p:tags r:id="rId9"/>
              </p:custDataLst>
            </p:nvPr>
          </p:nvSpPr>
          <p:spPr>
            <a:xfrm>
              <a:off x="1892906" y="2951654"/>
              <a:ext cx="4829810" cy="4305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 b="1" dirty="0">
                  <a:solidFill>
                    <a:srgbClr val="3F3455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场景一：</a:t>
              </a:r>
              <a:r>
                <a:rPr lang="en-US" altLang="zh-CN" sz="2400" b="1" dirty="0">
                  <a:solidFill>
                    <a:srgbClr val="3F3455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CarPlay </a:t>
              </a:r>
              <a:r>
                <a:rPr lang="zh-CN" altLang="en-US" sz="2400" b="1" dirty="0">
                  <a:solidFill>
                    <a:srgbClr val="3F3455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黑屏与界面冻结</a:t>
              </a:r>
              <a:endParaRPr lang="zh-CN" altLang="en-US" sz="2400" b="1" dirty="0">
                <a:solidFill>
                  <a:srgbClr val="3F3455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1192965" y="3984155"/>
            <a:ext cx="6895465" cy="612140"/>
            <a:chOff x="1338551" y="4173475"/>
            <a:chExt cx="6895465" cy="612140"/>
          </a:xfrm>
        </p:grpSpPr>
        <p:sp>
          <p:nvSpPr>
            <p:cNvPr id="12" name="椭圆 11"/>
            <p:cNvSpPr/>
            <p:nvPr>
              <p:custDataLst>
                <p:tags r:id="rId11"/>
              </p:custDataLst>
            </p:nvPr>
          </p:nvSpPr>
          <p:spPr>
            <a:xfrm>
              <a:off x="1338551" y="4281373"/>
              <a:ext cx="318347" cy="3183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01600" dir="5400000" algn="ctr" rotWithShape="0">
                <a:srgbClr val="5877B6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3" name="圆角矩形 23"/>
            <p:cNvSpPr/>
            <p:nvPr>
              <p:custDataLst>
                <p:tags r:id="rId12"/>
              </p:custDataLst>
            </p:nvPr>
          </p:nvSpPr>
          <p:spPr>
            <a:xfrm>
              <a:off x="1764001" y="4173475"/>
              <a:ext cx="6210935" cy="53467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chemeClr val="bg1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14" name="TextBox 51"/>
            <p:cNvSpPr txBox="1"/>
            <p:nvPr>
              <p:custDataLst>
                <p:tags r:id="rId13"/>
              </p:custDataLst>
            </p:nvPr>
          </p:nvSpPr>
          <p:spPr>
            <a:xfrm>
              <a:off x="1976726" y="4174110"/>
              <a:ext cx="6257290" cy="6115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2400" b="1" dirty="0">
                  <a:solidFill>
                    <a:srgbClr val="3F3455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场景二：</a:t>
              </a:r>
              <a:r>
                <a:rPr lang="en-US" altLang="zh-CN" sz="2400" b="1" dirty="0">
                  <a:solidFill>
                    <a:srgbClr val="3F3455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DeadSystemException </a:t>
              </a:r>
              <a:r>
                <a:rPr lang="zh-CN" altLang="en-US" sz="2400" b="1" dirty="0">
                  <a:solidFill>
                    <a:srgbClr val="3F3455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崩溃泛滥</a:t>
              </a:r>
              <a:endParaRPr lang="zh-CN" altLang="en-US" sz="2400" b="1" dirty="0">
                <a:solidFill>
                  <a:srgbClr val="3F3455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14"/>
            </p:custDataLst>
          </p:nvPr>
        </p:nvGrpSpPr>
        <p:grpSpPr>
          <a:xfrm>
            <a:off x="1192965" y="5201907"/>
            <a:ext cx="5796280" cy="534670"/>
            <a:chOff x="1338551" y="5391228"/>
            <a:chExt cx="5796280" cy="534670"/>
          </a:xfrm>
        </p:grpSpPr>
        <p:sp>
          <p:nvSpPr>
            <p:cNvPr id="16" name="椭圆 15"/>
            <p:cNvSpPr/>
            <p:nvPr>
              <p:custDataLst>
                <p:tags r:id="rId15"/>
              </p:custDataLst>
            </p:nvPr>
          </p:nvSpPr>
          <p:spPr>
            <a:xfrm>
              <a:off x="1338551" y="5498959"/>
              <a:ext cx="318347" cy="3183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dist="101600" dir="5400000" algn="ctr" rotWithShape="0">
                <a:srgbClr val="5877B6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7" name="圆角矩形 24"/>
            <p:cNvSpPr/>
            <p:nvPr>
              <p:custDataLst>
                <p:tags r:id="rId16"/>
              </p:custDataLst>
            </p:nvPr>
          </p:nvSpPr>
          <p:spPr>
            <a:xfrm>
              <a:off x="1764001" y="5391228"/>
              <a:ext cx="4324985" cy="53467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3000">
                  <a:schemeClr val="bg1"/>
                </a:gs>
                <a:gs pos="100000">
                  <a:schemeClr val="bg1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18" name="TextBox 51"/>
            <p:cNvSpPr txBox="1"/>
            <p:nvPr>
              <p:custDataLst>
                <p:tags r:id="rId17"/>
              </p:custDataLst>
            </p:nvPr>
          </p:nvSpPr>
          <p:spPr>
            <a:xfrm>
              <a:off x="1993236" y="5428058"/>
              <a:ext cx="5141595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3F3455"/>
                  </a:solidFill>
                  <a:latin typeface="Arial" panose="020B0604020202020204"/>
                  <a:ea typeface="微软雅黑" panose="020B0503020204020204" pitchFamily="34" charset="-122"/>
                  <a:cs typeface="+mn-ea"/>
                  <a:sym typeface="Arial" panose="020B0604020202020204"/>
                </a:rPr>
                <a:t>场景三：大灯闪退与仪表上电</a:t>
              </a:r>
              <a:endParaRPr lang="zh-CN" altLang="en-US" sz="2400" b="1" dirty="0">
                <a:solidFill>
                  <a:srgbClr val="3F3455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cxnSp>
        <p:nvCxnSpPr>
          <p:cNvPr id="19" name="直接连接符 18"/>
          <p:cNvCxnSpPr/>
          <p:nvPr/>
        </p:nvCxnSpPr>
        <p:spPr>
          <a:xfrm>
            <a:off x="335280" y="747395"/>
            <a:ext cx="597662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7413786" y="1340770"/>
            <a:ext cx="1214503" cy="2284491"/>
            <a:chOff x="6362160" y="1111199"/>
            <a:chExt cx="1214502" cy="2284491"/>
          </a:xfrm>
        </p:grpSpPr>
        <p:grpSp>
          <p:nvGrpSpPr>
            <p:cNvPr id="25" name="组合 24"/>
            <p:cNvGrpSpPr/>
            <p:nvPr/>
          </p:nvGrpSpPr>
          <p:grpSpPr>
            <a:xfrm>
              <a:off x="6362160" y="1111199"/>
              <a:ext cx="752837" cy="2111760"/>
              <a:chOff x="6362160" y="1111199"/>
              <a:chExt cx="752837" cy="2111760"/>
            </a:xfrm>
          </p:grpSpPr>
          <p:sp>
            <p:nvSpPr>
              <p:cNvPr id="27" name="文本框 26"/>
              <p:cNvSpPr txBox="1"/>
              <p:nvPr/>
            </p:nvSpPr>
            <p:spPr>
              <a:xfrm>
                <a:off x="6362160" y="1111199"/>
                <a:ext cx="752837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66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pitchFamily="34" charset="-122"/>
                    <a:sym typeface="Arial" panose="020B0604020202020204"/>
                  </a:rPr>
                  <a:t>目</a:t>
                </a:r>
                <a:endParaRPr lang="zh-CN" altLang="en-US" sz="6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6362160" y="2114963"/>
                <a:ext cx="752837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66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/>
                    <a:ea typeface="微软雅黑" panose="020B0503020204020204" pitchFamily="34" charset="-122"/>
                    <a:sym typeface="Arial" panose="020B0604020202020204"/>
                  </a:rPr>
                  <a:t>录</a:t>
                </a:r>
                <a:endParaRPr lang="zh-CN" altLang="en-US" sz="6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7114997" y="1642357"/>
              <a:ext cx="461665" cy="17533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dist"/>
              <a:r>
                <a:rPr lang="en-US" altLang="zh-CN" dirty="0">
                  <a:solidFill>
                    <a:schemeClr val="bg1"/>
                  </a:solidFill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CONTENTES</a:t>
              </a:r>
              <a:endParaRPr lang="zh-CN" altLang="en-US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sp>
        <p:nvSpPr>
          <p:cNvPr id="31" name="TextBox 3"/>
          <p:cNvSpPr txBox="1"/>
          <p:nvPr/>
        </p:nvSpPr>
        <p:spPr>
          <a:xfrm>
            <a:off x="1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7805" y="476885"/>
            <a:ext cx="8414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Binder风暴是什么？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5377" y="535242"/>
            <a:ext cx="847711" cy="738664"/>
            <a:chOff x="1062186" y="887468"/>
            <a:chExt cx="912375" cy="795011"/>
          </a:xfrm>
        </p:grpSpPr>
        <p:sp>
          <p:nvSpPr>
            <p:cNvPr id="9" name="椭圆 8"/>
            <p:cNvSpPr/>
            <p:nvPr/>
          </p:nvSpPr>
          <p:spPr>
            <a:xfrm>
              <a:off x="1062186" y="887468"/>
              <a:ext cx="795011" cy="795011"/>
            </a:xfrm>
            <a:prstGeom prst="ellipse">
              <a:avLst/>
            </a:prstGeom>
            <a:solidFill>
              <a:srgbClr val="3F345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9691" y="1141640"/>
              <a:ext cx="514870" cy="5148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9425" y="1485265"/>
            <a:ext cx="4930140" cy="465264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noAutofit/>
          </a:bodyPr>
          <a:p>
            <a:r>
              <a:rPr lang="zh-CN" altLang="en-US" sz="1600" b="1"/>
              <a:t>一场从应用开始的系统雪崩</a:t>
            </a:r>
            <a:endParaRPr lang="zh-CN" altLang="en-US" sz="1600" b="1"/>
          </a:p>
          <a:p>
            <a:endParaRPr lang="en-US" altLang="zh-CN" sz="1600"/>
          </a:p>
          <a:p>
            <a:endParaRPr lang="en-US" altLang="zh-CN" sz="1600"/>
          </a:p>
          <a:p>
            <a:endParaRPr lang="en-US" altLang="zh-CN" sz="1600"/>
          </a:p>
          <a:p>
            <a:r>
              <a:rPr lang="zh-CN" altLang="en-US" sz="1400"/>
              <a:t>现象（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CarPlay 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黑屏与界面冻结，</a:t>
            </a:r>
            <a:r>
              <a:rPr lang="en-US" altLang="zh-CN" sz="14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WIFI ap</a:t>
            </a:r>
            <a:r>
              <a:rPr lang="zh-CN" altLang="en-US" sz="14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出现异常</a:t>
            </a:r>
            <a:r>
              <a:rPr lang="zh-CN" altLang="en-US" sz="1400"/>
              <a:t>）</a:t>
            </a:r>
            <a:endParaRPr lang="zh-CN" altLang="en-US" sz="1400"/>
          </a:p>
          <a:p>
            <a:endParaRPr lang="en-US" altLang="zh-CN" sz="1400"/>
          </a:p>
          <a:p>
            <a:endParaRPr lang="en-US" altLang="zh-CN" sz="1400"/>
          </a:p>
          <a:p>
            <a:r>
              <a:rPr lang="zh-CN" altLang="en-US" sz="1400"/>
              <a:t>我们以为是单一应用崩溃，结果发现是系统在经历一场</a:t>
            </a:r>
            <a:r>
              <a:rPr lang="en-US" altLang="zh-CN" sz="1400"/>
              <a:t>“Binder</a:t>
            </a:r>
            <a:r>
              <a:rPr lang="zh-CN" altLang="en-US" sz="1400"/>
              <a:t>风暴</a:t>
            </a:r>
            <a:r>
              <a:rPr lang="en-US" altLang="zh-CN" sz="1400"/>
              <a:t>”</a:t>
            </a:r>
            <a:r>
              <a:rPr lang="zh-CN" altLang="en-US" sz="1400"/>
              <a:t>。</a:t>
            </a:r>
            <a:endParaRPr lang="zh-CN" altLang="en-US" sz="1400"/>
          </a:p>
          <a:p>
            <a:endParaRPr lang="en-US" altLang="zh-CN" sz="1400"/>
          </a:p>
          <a:p>
            <a:endParaRPr lang="en-US" altLang="zh-CN" sz="1400"/>
          </a:p>
          <a:p>
            <a:r>
              <a:rPr lang="zh-CN" altLang="en-US" sz="1400"/>
              <a:t>当多个应用毫秒级频繁调用系统服务，</a:t>
            </a:r>
            <a:r>
              <a:rPr lang="en-US" altLang="zh-CN" sz="1400"/>
              <a:t>Binder</a:t>
            </a:r>
            <a:r>
              <a:rPr lang="zh-CN" altLang="en-US" sz="1400"/>
              <a:t>通信通道被占满，整个系统的心跳开始失控。</a:t>
            </a:r>
            <a:endParaRPr lang="zh-CN" altLang="en-US" sz="1400"/>
          </a:p>
        </p:txBody>
      </p:sp>
      <p:sp>
        <p:nvSpPr>
          <p:cNvPr id="3" name="文本框 2"/>
          <p:cNvSpPr txBox="1"/>
          <p:nvPr/>
        </p:nvSpPr>
        <p:spPr>
          <a:xfrm>
            <a:off x="5735955" y="1485265"/>
            <a:ext cx="5502275" cy="46316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tx1"/>
                </a:solidFill>
              </a:rPr>
              <a:t>Binder</a:t>
            </a:r>
            <a:r>
              <a:rPr lang="zh-CN" altLang="en-US" b="1">
                <a:solidFill>
                  <a:schemeClr val="tx1"/>
                </a:solidFill>
              </a:rPr>
              <a:t>风暴是什么？</a:t>
            </a:r>
            <a:endParaRPr lang="zh-CN" altLang="en-US" b="1">
              <a:solidFill>
                <a:schemeClr val="tx1"/>
              </a:solidFill>
            </a:endParaRPr>
          </a:p>
          <a:p>
            <a:endParaRPr lang="zh-CN" altLang="en-US" b="1">
              <a:solidFill>
                <a:schemeClr val="tx1"/>
              </a:solidFill>
            </a:endParaRPr>
          </a:p>
          <a:p>
            <a:r>
              <a:rPr lang="zh-CN" altLang="en-US" sz="1600"/>
              <a:t>当多个进程（特别是应用层）在极短时间内不断向</a:t>
            </a:r>
            <a:r>
              <a:rPr lang="en-US" altLang="zh-CN" sz="1600"/>
              <a:t> system_server </a:t>
            </a:r>
            <a:r>
              <a:rPr lang="zh-CN" altLang="en-US" sz="1600"/>
              <a:t>发起</a:t>
            </a:r>
            <a:r>
              <a:rPr lang="en-US" altLang="zh-CN" sz="1600"/>
              <a:t> Binder </a:t>
            </a:r>
            <a:r>
              <a:rPr lang="zh-CN" altLang="en-US" sz="1600"/>
              <a:t>调用，而</a:t>
            </a:r>
            <a:r>
              <a:rPr lang="en-US" altLang="zh-CN" sz="1600"/>
              <a:t> Binder </a:t>
            </a:r>
            <a:r>
              <a:rPr lang="zh-CN" altLang="en-US" sz="1600"/>
              <a:t>驱动无法及时处理时，会出现</a:t>
            </a:r>
            <a:r>
              <a:rPr lang="en-US" altLang="zh-CN" sz="1600"/>
              <a:t> Binder </a:t>
            </a:r>
            <a:r>
              <a:rPr lang="zh-CN" altLang="en-US" sz="1600"/>
              <a:t>队列积压、事务延迟、服务阻塞，最终导致系统出现</a:t>
            </a:r>
            <a:r>
              <a:rPr lang="en-US" altLang="zh-CN" sz="1600"/>
              <a:t> DeadSystemException</a:t>
            </a:r>
            <a:r>
              <a:rPr lang="zh-CN" altLang="en-US" sz="1600"/>
              <a:t>、</a:t>
            </a:r>
            <a:r>
              <a:rPr lang="en-US" altLang="zh-CN" sz="1600"/>
              <a:t>ANR</a:t>
            </a:r>
            <a:r>
              <a:rPr lang="zh-CN" altLang="en-US" sz="1600"/>
              <a:t>、黑屏、功能失效等现象。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App A / App B / App C / App D</a:t>
            </a:r>
            <a:endParaRPr lang="en-US" altLang="zh-CN" sz="1600"/>
          </a:p>
          <a:p>
            <a:r>
              <a:rPr lang="en-US" altLang="zh-CN" sz="1600"/>
              <a:t>       </a:t>
            </a:r>
            <a:r>
              <a:rPr lang="en-US" altLang="en-US" sz="1600"/>
              <a:t>↓</a:t>
            </a:r>
            <a:r>
              <a:rPr lang="en-US" altLang="zh-CN" sz="1600"/>
              <a:t>   </a:t>
            </a:r>
            <a:r>
              <a:rPr lang="en-US" altLang="en-US" sz="1600"/>
              <a:t>↓</a:t>
            </a:r>
            <a:r>
              <a:rPr lang="en-US" altLang="zh-CN" sz="1600"/>
              <a:t>   </a:t>
            </a:r>
            <a:r>
              <a:rPr lang="en-US" altLang="en-US" sz="1600"/>
              <a:t>↓</a:t>
            </a:r>
            <a:r>
              <a:rPr lang="en-US" altLang="zh-CN" sz="1600"/>
              <a:t>   </a:t>
            </a:r>
            <a:r>
              <a:rPr lang="en-US" altLang="en-US" sz="1600"/>
              <a:t>↓</a:t>
            </a:r>
            <a:endParaRPr lang="en-US" altLang="en-US" sz="1600"/>
          </a:p>
          <a:p>
            <a:r>
              <a:rPr lang="en-US" altLang="zh-CN" sz="1600"/>
              <a:t>         [NETd Service]</a:t>
            </a:r>
            <a:endParaRPr lang="en-US" altLang="zh-CN" sz="1600"/>
          </a:p>
          <a:p>
            <a:r>
              <a:rPr lang="en-US" altLang="zh-CN" sz="1600"/>
              <a:t>               </a:t>
            </a:r>
            <a:r>
              <a:rPr lang="en-US" altLang="en-US" sz="1600"/>
              <a:t>↓</a:t>
            </a:r>
            <a:endParaRPr lang="en-US" altLang="en-US" sz="1600"/>
          </a:p>
          <a:p>
            <a:r>
              <a:rPr lang="en-US" altLang="zh-CN" sz="1600"/>
              <a:t>          Binder Driver</a:t>
            </a:r>
            <a:endParaRPr lang="en-US" altLang="zh-CN" sz="1600"/>
          </a:p>
          <a:p>
            <a:r>
              <a:rPr lang="en-US" altLang="zh-CN" sz="1600"/>
              <a:t>               </a:t>
            </a:r>
            <a:r>
              <a:rPr lang="en-US" altLang="en-US" sz="1600"/>
              <a:t>↓</a:t>
            </a:r>
            <a:endParaRPr lang="en-US" altLang="en-US" sz="1600"/>
          </a:p>
          <a:p>
            <a:r>
              <a:rPr lang="en-US" altLang="zh-CN" sz="1600"/>
              <a:t>         system_server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就像网络中</a:t>
            </a:r>
            <a:r>
              <a:rPr lang="en-US" altLang="zh-CN" sz="1600"/>
              <a:t>“DDOS </a:t>
            </a:r>
            <a:r>
              <a:rPr lang="zh-CN" altLang="en-US" sz="1600"/>
              <a:t>攻击</a:t>
            </a:r>
            <a:r>
              <a:rPr lang="en-US" altLang="zh-CN" sz="1600"/>
              <a:t>”</a:t>
            </a:r>
            <a:r>
              <a:rPr lang="zh-CN" altLang="en-US" sz="1600"/>
              <a:t>，</a:t>
            </a:r>
            <a:r>
              <a:rPr lang="en-US" altLang="zh-CN" sz="1600"/>
              <a:t>Binder </a:t>
            </a:r>
            <a:r>
              <a:rPr lang="zh-CN" altLang="en-US" sz="1600"/>
              <a:t>风暴是系统内部的</a:t>
            </a:r>
            <a:r>
              <a:rPr lang="en-US" altLang="zh-CN" sz="1600"/>
              <a:t>“</a:t>
            </a:r>
            <a:r>
              <a:rPr lang="zh-CN" altLang="en-US" sz="1600"/>
              <a:t>自我阻塞型攻击</a:t>
            </a:r>
            <a:r>
              <a:rPr lang="en-US" altLang="zh-CN" sz="1600"/>
              <a:t>”</a:t>
            </a:r>
            <a:r>
              <a:rPr lang="zh-CN" altLang="en-US" sz="1600"/>
              <a:t>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7805" y="476885"/>
            <a:ext cx="70180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场景一：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CarPlay </a:t>
            </a:r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黑屏与界面冻结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5377" y="535242"/>
            <a:ext cx="847711" cy="738664"/>
            <a:chOff x="1062186" y="887468"/>
            <a:chExt cx="912375" cy="795011"/>
          </a:xfrm>
        </p:grpSpPr>
        <p:sp>
          <p:nvSpPr>
            <p:cNvPr id="9" name="椭圆 8"/>
            <p:cNvSpPr/>
            <p:nvPr/>
          </p:nvSpPr>
          <p:spPr>
            <a:xfrm>
              <a:off x="1062186" y="887468"/>
              <a:ext cx="795011" cy="795011"/>
            </a:xfrm>
            <a:prstGeom prst="ellipse">
              <a:avLst/>
            </a:prstGeom>
            <a:solidFill>
              <a:srgbClr val="3F345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9691" y="1141640"/>
              <a:ext cx="514870" cy="5148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622935" y="1772603"/>
            <a:ext cx="5080000" cy="403098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OBSQ-3525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【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0720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市场品质】秦皇岛佳浩 其他 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2025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年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9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月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7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日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7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点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30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分左右客户上车启动车辆后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carplay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无法连接出现黑屏，之后出现屏幕点击任何地方没反应，客户成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8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月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23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日也出现过同等故障后来自动恢复</a:t>
            </a:r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初步分析：</a:t>
            </a:r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根据日志分成两部分分析，一部分分析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ANR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，一部分分析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WIFI AP</a:t>
            </a:r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方向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1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：现有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LOG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找到的连接失败，全部是都是因为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WIFI AP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开启失败，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需要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WIFI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模块调查。</a:t>
            </a:r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endParaRPr lang="en-US" altLang="zh-CN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方向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2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：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CarPlay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未连接上，点击无反应应该与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CarPlay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无关，黑屏问题，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LOG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中有系统设置的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ANR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，先看下是否相关</a:t>
            </a:r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</p:txBody>
      </p:sp>
      <p:pic>
        <p:nvPicPr>
          <p:cNvPr id="32" name="图片 31" descr="image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855" y="1196340"/>
            <a:ext cx="5923803" cy="2376000"/>
          </a:xfrm>
          <a:prstGeom prst="rect">
            <a:avLst/>
          </a:prstGeom>
        </p:spPr>
      </p:pic>
      <p:pic>
        <p:nvPicPr>
          <p:cNvPr id="33" name="图片 32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755" y="4725035"/>
            <a:ext cx="5124450" cy="571500"/>
          </a:xfrm>
          <a:prstGeom prst="rect">
            <a:avLst/>
          </a:prstGeom>
        </p:spPr>
      </p:pic>
      <p:sp>
        <p:nvSpPr>
          <p:cNvPr id="35" name="左箭头 34"/>
          <p:cNvSpPr/>
          <p:nvPr/>
        </p:nvSpPr>
        <p:spPr>
          <a:xfrm rot="19200000">
            <a:off x="5323205" y="3363595"/>
            <a:ext cx="619125" cy="28765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左箭头 35"/>
          <p:cNvSpPr/>
          <p:nvPr/>
        </p:nvSpPr>
        <p:spPr>
          <a:xfrm rot="600000">
            <a:off x="5467985" y="4608830"/>
            <a:ext cx="619125" cy="28765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7805" y="476885"/>
            <a:ext cx="70180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场景一：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CarPlay </a:t>
            </a:r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黑屏与界面冻结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5377" y="535242"/>
            <a:ext cx="847711" cy="738664"/>
            <a:chOff x="1062186" y="887468"/>
            <a:chExt cx="912375" cy="795011"/>
          </a:xfrm>
        </p:grpSpPr>
        <p:sp>
          <p:nvSpPr>
            <p:cNvPr id="9" name="椭圆 8"/>
            <p:cNvSpPr/>
            <p:nvPr/>
          </p:nvSpPr>
          <p:spPr>
            <a:xfrm>
              <a:off x="1062186" y="887468"/>
              <a:ext cx="795011" cy="795011"/>
            </a:xfrm>
            <a:prstGeom prst="ellipse">
              <a:avLst/>
            </a:prstGeom>
            <a:solidFill>
              <a:srgbClr val="3F345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9691" y="1141640"/>
              <a:ext cx="514870" cy="5148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67080" y="1268730"/>
            <a:ext cx="5893435" cy="5133340"/>
          </a:xfrm>
          <a:prstGeom prst="rect">
            <a:avLst/>
          </a:prstGeom>
        </p:spPr>
        <p:txBody>
          <a:bodyPr wrap="square">
            <a:noAutofit/>
          </a:bodyPr>
          <a:p>
            <a:endParaRPr lang="zh-CN" altLang="en-US" sz="1600"/>
          </a:p>
          <a:p>
            <a:r>
              <a:rPr lang="zh-CN" altLang="en-US" sz="1600"/>
              <a:t>分析过程</a:t>
            </a:r>
            <a:endParaRPr lang="zh-CN" altLang="en-US" sz="1600"/>
          </a:p>
          <a:p>
            <a:r>
              <a:rPr lang="en-US" altLang="zh-CN" sz="1600"/>
              <a:t>:2  wifi </a:t>
            </a:r>
            <a:r>
              <a:rPr lang="zh-CN" altLang="en-US" sz="1600"/>
              <a:t>报错前就有</a:t>
            </a:r>
            <a:r>
              <a:rPr lang="zh-CN" altLang="en-US" sz="1600">
                <a:highlight>
                  <a:srgbClr val="FFFF00"/>
                </a:highlight>
              </a:rPr>
              <a:t>很多模块</a:t>
            </a:r>
            <a:r>
              <a:rPr lang="zh-CN" altLang="en-US" sz="1600"/>
              <a:t>报错，都是关于</a:t>
            </a:r>
            <a:r>
              <a:rPr lang="en-US" altLang="zh-CN" sz="1600">
                <a:highlight>
                  <a:srgbClr val="FFFF00"/>
                </a:highlight>
              </a:rPr>
              <a:t>binder</a:t>
            </a:r>
            <a:r>
              <a:rPr lang="zh-CN" altLang="en-US" sz="1600">
                <a:highlight>
                  <a:srgbClr val="FFFF00"/>
                </a:highlight>
              </a:rPr>
              <a:t>的调用出错</a:t>
            </a:r>
            <a:r>
              <a:rPr lang="zh-CN" altLang="en-US" sz="1600"/>
              <a:t>，看起来是相关资源占用，导致其他无法使用</a:t>
            </a:r>
            <a:endParaRPr lang="zh-CN" altLang="en-US" sz="1600"/>
          </a:p>
          <a:p>
            <a:r>
              <a:rPr lang="en-US" altLang="zh-CN" sz="1600"/>
              <a:t>3  wifi ap</a:t>
            </a:r>
            <a:r>
              <a:rPr lang="zh-CN" altLang="en-US" sz="1600"/>
              <a:t>只是因为</a:t>
            </a:r>
            <a:r>
              <a:rPr lang="en-US" altLang="zh-CN" sz="1600">
                <a:highlight>
                  <a:srgbClr val="FFFF00"/>
                </a:highlight>
              </a:rPr>
              <a:t>binder</a:t>
            </a:r>
            <a:r>
              <a:rPr lang="zh-CN" altLang="en-US" sz="1600">
                <a:highlight>
                  <a:srgbClr val="FFFF00"/>
                </a:highlight>
              </a:rPr>
              <a:t>出错的其中一个模块</a:t>
            </a:r>
            <a:r>
              <a:rPr lang="zh-CN" altLang="en-US" sz="1600"/>
              <a:t>，还请上层进一步分析，是那个模块最初导致的</a:t>
            </a:r>
            <a:r>
              <a:rPr lang="en-US" altLang="zh-CN" sz="1600"/>
              <a:t>binder</a:t>
            </a:r>
            <a:r>
              <a:rPr lang="zh-CN" altLang="en-US" sz="1600"/>
              <a:t>的问题。即使</a:t>
            </a:r>
            <a:r>
              <a:rPr lang="en-US" altLang="zh-CN" sz="1600"/>
              <a:t>ap</a:t>
            </a:r>
            <a:r>
              <a:rPr lang="zh-CN" altLang="en-US" sz="1600"/>
              <a:t>出错，应该也不会带来关联该问题的现象。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4 </a:t>
            </a:r>
            <a:r>
              <a:rPr lang="zh-CN" altLang="en-US" sz="1600"/>
              <a:t>只有</a:t>
            </a:r>
            <a:r>
              <a:rPr lang="en-US" altLang="zh-CN" sz="1600">
                <a:highlight>
                  <a:srgbClr val="FFFF00"/>
                </a:highlight>
              </a:rPr>
              <a:t>binder</a:t>
            </a:r>
            <a:r>
              <a:rPr lang="zh-CN" altLang="en-US" sz="1600">
                <a:highlight>
                  <a:srgbClr val="FFFF00"/>
                </a:highlight>
              </a:rPr>
              <a:t>事后现场</a:t>
            </a:r>
            <a:r>
              <a:rPr lang="zh-CN" altLang="en-US" sz="1600"/>
              <a:t>，事后现场之前只有系统设置发生</a:t>
            </a:r>
            <a:r>
              <a:rPr lang="en-US" altLang="zh-CN" sz="1600"/>
              <a:t>anr</a:t>
            </a:r>
            <a:r>
              <a:rPr lang="zh-CN" altLang="en-US" sz="1600"/>
              <a:t>，设置应用</a:t>
            </a:r>
            <a:r>
              <a:rPr lang="en-US" altLang="zh-CN" sz="1600"/>
              <a:t>anr</a:t>
            </a:r>
            <a:r>
              <a:rPr lang="zh-CN" altLang="en-US" sz="1600"/>
              <a:t>是卡在</a:t>
            </a:r>
            <a:r>
              <a:rPr lang="en-US" altLang="zh-CN" sz="1600"/>
              <a:t>wifi</a:t>
            </a:r>
            <a:r>
              <a:rPr lang="zh-CN" altLang="en-US" sz="1600"/>
              <a:t>打开操作上，源头是</a:t>
            </a:r>
            <a:r>
              <a:rPr lang="en-US" altLang="zh-CN" sz="1600"/>
              <a:t>wifi</a:t>
            </a:r>
            <a:r>
              <a:rPr lang="zh-CN" altLang="en-US" sz="1600"/>
              <a:t>问题。有很多</a:t>
            </a:r>
            <a:r>
              <a:rPr lang="en-US" altLang="zh-CN" sz="1600"/>
              <a:t>wifi hal</a:t>
            </a:r>
            <a:r>
              <a:rPr lang="zh-CN" altLang="en-US" sz="1600"/>
              <a:t>的墓碑日志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5 Wifi</a:t>
            </a:r>
            <a:r>
              <a:rPr lang="zh-CN" altLang="en-US" sz="1600"/>
              <a:t>发生</a:t>
            </a:r>
            <a:r>
              <a:rPr lang="en-US" altLang="zh-CN" sz="1600"/>
              <a:t>anr</a:t>
            </a:r>
            <a:r>
              <a:rPr lang="zh-CN" altLang="en-US" sz="1600"/>
              <a:t>是由于</a:t>
            </a:r>
            <a:r>
              <a:rPr lang="en-US" altLang="zh-CN" sz="1600">
                <a:highlight>
                  <a:srgbClr val="FFFF00"/>
                </a:highlight>
              </a:rPr>
              <a:t>keystore</a:t>
            </a:r>
            <a:r>
              <a:rPr lang="zh-CN" altLang="en-US" sz="1600">
                <a:highlight>
                  <a:srgbClr val="FFFF00"/>
                </a:highlight>
              </a:rPr>
              <a:t>导致</a:t>
            </a:r>
            <a:r>
              <a:rPr lang="en-US" altLang="zh-CN" sz="1600">
                <a:highlight>
                  <a:srgbClr val="FFFF00"/>
                </a:highlight>
              </a:rPr>
              <a:t>WifiHandlerThread</a:t>
            </a:r>
            <a:r>
              <a:rPr lang="zh-CN" altLang="en-US" sz="1600">
                <a:highlight>
                  <a:srgbClr val="FFFF00"/>
                </a:highlight>
              </a:rPr>
              <a:t>阻塞</a:t>
            </a:r>
            <a:r>
              <a:rPr lang="zh-CN" altLang="en-US" sz="1600"/>
              <a:t>，导致后续任务无法执行。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6 </a:t>
            </a:r>
            <a:r>
              <a:rPr lang="zh-CN" altLang="en-US" sz="1600"/>
              <a:t>推测根因</a:t>
            </a:r>
            <a:r>
              <a:rPr lang="en-US" altLang="zh-CN" sz="1600"/>
              <a:t> </a:t>
            </a:r>
            <a:r>
              <a:rPr lang="zh-CN" altLang="en-US" sz="1600"/>
              <a:t>是</a:t>
            </a:r>
            <a:r>
              <a:rPr lang="en-US" altLang="zh-CN" sz="1600"/>
              <a:t> binder spamming </a:t>
            </a:r>
            <a:r>
              <a:rPr lang="zh-CN" altLang="en-US" sz="1600"/>
              <a:t>引发的</a:t>
            </a:r>
            <a:r>
              <a:rPr lang="en-US" altLang="zh-CN" sz="1600"/>
              <a:t> binder </a:t>
            </a:r>
            <a:r>
              <a:rPr lang="zh-CN" altLang="en-US" sz="1600"/>
              <a:t>通道拥塞，导致</a:t>
            </a:r>
            <a:r>
              <a:rPr lang="en-US" altLang="zh-CN" sz="1600"/>
              <a:t>keystore</a:t>
            </a:r>
            <a:r>
              <a:rPr lang="zh-CN" altLang="en-US" sz="1600"/>
              <a:t>和</a:t>
            </a:r>
            <a:r>
              <a:rPr lang="en-US" altLang="zh-CN" sz="1600"/>
              <a:t>system_sever binder</a:t>
            </a:r>
            <a:r>
              <a:rPr lang="zh-CN" altLang="en-US" sz="1600"/>
              <a:t>通信阻塞，引发超时。分析见截图，</a:t>
            </a:r>
            <a:endParaRPr lang="zh-CN" altLang="en-US" sz="1600"/>
          </a:p>
          <a:p>
            <a:r>
              <a:rPr lang="zh-CN" altLang="en-US" sz="1600"/>
              <a:t>解决开机阶段的偶发</a:t>
            </a:r>
            <a:r>
              <a:rPr lang="en-US" altLang="zh-CN" sz="1600"/>
              <a:t>binder spamming</a:t>
            </a:r>
            <a:r>
              <a:rPr lang="zh-CN" altLang="en-US" sz="1600"/>
              <a:t>即可：</a:t>
            </a:r>
            <a:r>
              <a:rPr lang="en-US" altLang="zh-CN" sz="1600"/>
              <a:t>binder spamming</a:t>
            </a:r>
            <a:r>
              <a:rPr lang="zh-CN" altLang="en-US" sz="1600"/>
              <a:t>之前分析是由应用引发，在七夕版本上已对策。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7103745" y="3141345"/>
            <a:ext cx="3766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没有出问题的调回栈等信息</a:t>
            </a:r>
            <a:r>
              <a:rPr lang="en-US" altLang="zh-CN"/>
              <a:t>,</a:t>
            </a:r>
            <a:r>
              <a:rPr lang="zh-CN" altLang="en-US"/>
              <a:t>只有之后</a:t>
            </a:r>
            <a:r>
              <a:rPr lang="en-US" altLang="zh-CN"/>
              <a:t>binder</a:t>
            </a:r>
            <a:r>
              <a:rPr lang="zh-CN" altLang="en-US"/>
              <a:t>调用报错的信息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176135" y="4149090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keystore</a:t>
            </a:r>
            <a:r>
              <a:rPr lang="zh-CN" altLang="en-US" sz="1000"/>
              <a:t>是一个服务，也需要与</a:t>
            </a:r>
            <a:r>
              <a:rPr lang="en-US" altLang="zh-CN" sz="1000"/>
              <a:t>Binder</a:t>
            </a:r>
            <a:r>
              <a:rPr lang="zh-CN" altLang="en-US" sz="1000"/>
              <a:t>交互，卡死在</a:t>
            </a:r>
            <a:r>
              <a:rPr lang="en-US" altLang="zh-CN" sz="1000"/>
              <a:t>Binder</a:t>
            </a:r>
            <a:r>
              <a:rPr lang="zh-CN" altLang="en-US" sz="1000"/>
              <a:t>上面</a:t>
            </a:r>
            <a:endParaRPr lang="zh-CN" altLang="en-US" sz="1000"/>
          </a:p>
        </p:txBody>
      </p:sp>
      <p:pic>
        <p:nvPicPr>
          <p:cNvPr id="7" name="图片 6" descr="图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6135" y="4364990"/>
            <a:ext cx="4020820" cy="2005330"/>
          </a:xfrm>
          <a:prstGeom prst="rect">
            <a:avLst/>
          </a:prstGeom>
        </p:spPr>
      </p:pic>
      <p:pic>
        <p:nvPicPr>
          <p:cNvPr id="12" name="图片 11" descr="17575727583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175" y="1768475"/>
            <a:ext cx="4396740" cy="645160"/>
          </a:xfrm>
          <a:prstGeom prst="rect">
            <a:avLst/>
          </a:prstGeom>
        </p:spPr>
      </p:pic>
      <p:sp>
        <p:nvSpPr>
          <p:cNvPr id="13" name="左箭头 12"/>
          <p:cNvSpPr/>
          <p:nvPr/>
        </p:nvSpPr>
        <p:spPr>
          <a:xfrm rot="19680000">
            <a:off x="6410325" y="1922780"/>
            <a:ext cx="648335" cy="28765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左箭头 13"/>
          <p:cNvSpPr/>
          <p:nvPr/>
        </p:nvSpPr>
        <p:spPr>
          <a:xfrm>
            <a:off x="6625590" y="3289935"/>
            <a:ext cx="478155" cy="28765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左箭头 14"/>
          <p:cNvSpPr/>
          <p:nvPr/>
        </p:nvSpPr>
        <p:spPr>
          <a:xfrm rot="1860000">
            <a:off x="6510655" y="4272280"/>
            <a:ext cx="558800" cy="287655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7805" y="476885"/>
            <a:ext cx="70180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场景一：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CarPlay </a:t>
            </a:r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黑屏与界面冻结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5377" y="535242"/>
            <a:ext cx="847711" cy="738664"/>
            <a:chOff x="1062186" y="887468"/>
            <a:chExt cx="912375" cy="795011"/>
          </a:xfrm>
        </p:grpSpPr>
        <p:sp>
          <p:nvSpPr>
            <p:cNvPr id="9" name="椭圆 8"/>
            <p:cNvSpPr/>
            <p:nvPr/>
          </p:nvSpPr>
          <p:spPr>
            <a:xfrm>
              <a:off x="1062186" y="887468"/>
              <a:ext cx="795011" cy="795011"/>
            </a:xfrm>
            <a:prstGeom prst="ellipse">
              <a:avLst/>
            </a:prstGeom>
            <a:solidFill>
              <a:srgbClr val="3F345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9691" y="1141640"/>
              <a:ext cx="514870" cy="5148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713105" y="1899285"/>
            <a:ext cx="422910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01</a:t>
            </a:r>
            <a:endParaRPr lang="zh-CN" altLang="en-US" sz="1600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697230" y="3442970"/>
            <a:ext cx="45021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02</a:t>
            </a:r>
            <a:endParaRPr lang="zh-CN" altLang="en-US" sz="1600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696595" y="5071110"/>
            <a:ext cx="477520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03</a:t>
            </a:r>
            <a:endParaRPr lang="zh-CN" altLang="en-US" sz="1600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5965" y="1484630"/>
            <a:ext cx="11087735" cy="3432175"/>
          </a:xfrm>
          <a:prstGeom prst="rect">
            <a:avLst/>
          </a:prstGeom>
        </p:spPr>
        <p:txBody>
          <a:bodyPr wrap="square">
            <a:noAutofit/>
          </a:bodyPr>
          <a:p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WifiHandlerThread </a:t>
            </a:r>
            <a:r>
              <a:rPr lang="zh-CN" altLang="en-US" sz="1600"/>
              <a:t>阻塞在 </a:t>
            </a:r>
            <a:r>
              <a:rPr lang="en-US" altLang="zh-CN" sz="1600"/>
              <a:t>keystore </a:t>
            </a:r>
            <a:r>
              <a:rPr lang="zh-CN" altLang="en-US" sz="1600"/>
              <a:t>的 </a:t>
            </a:r>
            <a:r>
              <a:rPr lang="en-US" altLang="zh-CN" sz="1600"/>
              <a:t>Binder </a:t>
            </a:r>
            <a:r>
              <a:rPr lang="zh-CN" altLang="en-US" sz="1600"/>
              <a:t>调用上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Binder </a:t>
            </a:r>
            <a:r>
              <a:rPr lang="zh-CN" altLang="en-US" sz="1600"/>
              <a:t>队列未能及时响应 </a:t>
            </a:r>
            <a:r>
              <a:rPr lang="en-US" altLang="zh-CN" sz="1600"/>
              <a:t>→ ANR</a:t>
            </a:r>
            <a:endParaRPr lang="en-US" altLang="zh-CN" sz="1600"/>
          </a:p>
          <a:p>
            <a:r>
              <a:rPr lang="zh-CN" altLang="en-US" sz="1600"/>
              <a:t>📋 结论链条：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Binder </a:t>
            </a:r>
            <a:r>
              <a:rPr lang="zh-CN" altLang="en-US" sz="1600"/>
              <a:t>拥塞 </a:t>
            </a:r>
            <a:r>
              <a:rPr lang="en-US" altLang="zh-CN" sz="1600"/>
              <a:t>→ keystore </a:t>
            </a:r>
            <a:r>
              <a:rPr lang="zh-CN" altLang="en-US" sz="1600"/>
              <a:t>被阻塞 </a:t>
            </a:r>
            <a:r>
              <a:rPr lang="en-US" altLang="zh-CN" sz="1600"/>
              <a:t>→ WifiHandlerThread </a:t>
            </a:r>
            <a:r>
              <a:rPr lang="zh-CN" altLang="en-US" sz="1600"/>
              <a:t>无法执行 </a:t>
            </a:r>
            <a:r>
              <a:rPr lang="en-US" altLang="zh-CN" sz="1600"/>
              <a:t>→ Settings ANR → </a:t>
            </a:r>
            <a:r>
              <a:rPr lang="zh-CN" altLang="en-US" sz="1600"/>
              <a:t>黑屏</a:t>
            </a:r>
            <a:r>
              <a:rPr lang="en-US" altLang="zh-CN" sz="1600"/>
              <a:t>/</a:t>
            </a:r>
            <a:r>
              <a:rPr lang="zh-CN" altLang="en-US" sz="1600"/>
              <a:t>无响应
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7805" y="476885"/>
            <a:ext cx="9488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场景二：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DeadSystemException </a:t>
            </a:r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崩溃泛滥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5377" y="535242"/>
            <a:ext cx="847711" cy="738664"/>
            <a:chOff x="1062186" y="887468"/>
            <a:chExt cx="912375" cy="795011"/>
          </a:xfrm>
        </p:grpSpPr>
        <p:sp>
          <p:nvSpPr>
            <p:cNvPr id="9" name="椭圆 8"/>
            <p:cNvSpPr/>
            <p:nvPr/>
          </p:nvSpPr>
          <p:spPr>
            <a:xfrm>
              <a:off x="1062186" y="887468"/>
              <a:ext cx="795011" cy="795011"/>
            </a:xfrm>
            <a:prstGeom prst="ellipse">
              <a:avLst/>
            </a:prstGeom>
            <a:solidFill>
              <a:srgbClr val="3F345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9691" y="1141640"/>
              <a:ext cx="514870" cy="5148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622935" y="1772603"/>
            <a:ext cx="5080000" cy="304609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现象：</a:t>
            </a:r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OBSQ-2469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【实车】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crashdump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目录中发现大量崩溃日志文件，出现多次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java.lang.RuntimeException: android.os.DeadSystemException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异常，包括系统应用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android.ext.services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，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com.android.providers.media.module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等</a:t>
            </a:r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初步分析：</a:t>
            </a:r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看日志应该是开机后出现，只要调用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startservice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就有可能会出现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DeadSystemException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，出现大量</a:t>
            </a:r>
            <a:r>
              <a:rPr lang="en-US" altLang="zh-CN" sz="1600" b="0" i="0">
                <a:solidFill>
                  <a:schemeClr val="tx1"/>
                </a:solidFill>
                <a:ea typeface="+mn-lt"/>
                <a:cs typeface="+mn-lt"/>
              </a:rPr>
              <a:t>fail,crash</a:t>
            </a:r>
            <a:r>
              <a:rPr lang="zh-CN" altLang="en-US" sz="1600" b="0" i="0">
                <a:solidFill>
                  <a:schemeClr val="tx1"/>
                </a:solidFill>
                <a:ea typeface="+mn-lt"/>
                <a:cs typeface="+mn-lt"/>
              </a:rPr>
              <a:t>日志</a:t>
            </a:r>
            <a:endParaRPr lang="en-US" altLang="zh-CN" sz="1600" b="0" i="0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ea typeface="+mn-lt"/>
              <a:cs typeface="+mn-lt"/>
            </a:endParaRPr>
          </a:p>
        </p:txBody>
      </p:sp>
      <p:pic>
        <p:nvPicPr>
          <p:cNvPr id="39" name="图片 38" descr="image"/>
          <p:cNvPicPr>
            <a:picLocks noChangeAspect="1"/>
          </p:cNvPicPr>
          <p:nvPr/>
        </p:nvPicPr>
        <p:blipFill>
          <a:blip r:embed="rId1"/>
          <a:srcRect t="17454" r="315"/>
          <a:stretch>
            <a:fillRect/>
          </a:stretch>
        </p:blipFill>
        <p:spPr>
          <a:xfrm>
            <a:off x="6074410" y="1196975"/>
            <a:ext cx="4210685" cy="504253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40" name="左箭头 39"/>
          <p:cNvSpPr/>
          <p:nvPr/>
        </p:nvSpPr>
        <p:spPr>
          <a:xfrm rot="20640000">
            <a:off x="5330825" y="3441065"/>
            <a:ext cx="648335" cy="28829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7805" y="476885"/>
            <a:ext cx="87642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场景二：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DeadSystemException </a:t>
            </a:r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崩溃泛滥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5377" y="535242"/>
            <a:ext cx="847711" cy="738664"/>
            <a:chOff x="1062186" y="887468"/>
            <a:chExt cx="912375" cy="795011"/>
          </a:xfrm>
        </p:grpSpPr>
        <p:sp>
          <p:nvSpPr>
            <p:cNvPr id="9" name="椭圆 8"/>
            <p:cNvSpPr/>
            <p:nvPr/>
          </p:nvSpPr>
          <p:spPr>
            <a:xfrm>
              <a:off x="1062186" y="887468"/>
              <a:ext cx="795011" cy="795011"/>
            </a:xfrm>
            <a:prstGeom prst="ellipse">
              <a:avLst/>
            </a:prstGeom>
            <a:solidFill>
              <a:srgbClr val="3F345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9691" y="1141640"/>
              <a:ext cx="514870" cy="5148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055370" y="1412875"/>
            <a:ext cx="5503545" cy="506476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ts val="1125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0" i="0">
                <a:solidFill>
                  <a:srgbClr val="000000"/>
                </a:solidFill>
                <a:ea typeface="+mn-lt"/>
                <a:cs typeface="+mn-lt"/>
              </a:rPr>
              <a:t>按排查流程的总结（系统</a:t>
            </a:r>
            <a:r>
              <a:rPr lang="en-US" altLang="zh-CN" sz="1400" b="0" i="0">
                <a:solidFill>
                  <a:srgbClr val="000000"/>
                </a:solidFill>
                <a:ea typeface="+mn-lt"/>
                <a:cs typeface="+mn-lt"/>
              </a:rPr>
              <a:t>→</a:t>
            </a:r>
            <a:r>
              <a:rPr lang="zh-CN" altLang="en-US" sz="1400" b="0" i="0">
                <a:solidFill>
                  <a:srgbClr val="000000"/>
                </a:solidFill>
                <a:ea typeface="+mn-lt"/>
                <a:cs typeface="+mn-lt"/>
              </a:rPr>
              <a:t>网络</a:t>
            </a:r>
            <a:r>
              <a:rPr lang="en-US" altLang="zh-CN" sz="1400" b="0" i="0">
                <a:solidFill>
                  <a:srgbClr val="000000"/>
                </a:solidFill>
                <a:ea typeface="+mn-lt"/>
                <a:cs typeface="+mn-lt"/>
              </a:rPr>
              <a:t>→</a:t>
            </a:r>
            <a:r>
              <a:rPr lang="zh-CN" altLang="en-US" sz="1400" b="0" i="0">
                <a:solidFill>
                  <a:srgbClr val="000000"/>
                </a:solidFill>
                <a:ea typeface="+mn-lt"/>
                <a:cs typeface="+mn-lt"/>
              </a:rPr>
              <a:t>应用交互链路）</a:t>
            </a:r>
            <a:endParaRPr lang="zh-CN" altLang="en-US" sz="14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1015"/>
              </a:lnSpc>
              <a:spcBef>
                <a:spcPts val="500"/>
              </a:spcBef>
              <a:spcAft>
                <a:spcPct val="0"/>
              </a:spcAft>
            </a:pPr>
            <a:r>
              <a:rPr lang="en-US" altLang="zh-CN" sz="1200" b="0" i="0">
                <a:solidFill>
                  <a:srgbClr val="000000"/>
                </a:solidFill>
                <a:ea typeface="+mn-lt"/>
                <a:cs typeface="+mn-lt"/>
              </a:rPr>
              <a:t>1. </a:t>
            </a:r>
            <a:r>
              <a:rPr lang="zh-CN" altLang="en-US" sz="1200" b="0" i="0">
                <a:solidFill>
                  <a:srgbClr val="000000"/>
                </a:solidFill>
                <a:ea typeface="+mn-lt"/>
                <a:cs typeface="+mn-lt"/>
              </a:rPr>
              <a:t>系统侧初次分析：定位异常源头</a:t>
            </a:r>
            <a:endParaRPr lang="zh-CN" altLang="en-US" sz="12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现象：应用闪退、系统 “假死”，上层抛出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altLang="zh-CN" sz="900" b="1" i="0">
                <a:solidFill>
                  <a:srgbClr val="000000"/>
                </a:solidFill>
                <a:ea typeface="+mn-lt"/>
                <a:cs typeface="+mn-lt"/>
              </a:rPr>
              <a:t>DeadSystemException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结论：异常源于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altLang="zh-CN" sz="900" b="1" i="0">
                <a:solidFill>
                  <a:srgbClr val="000000"/>
                </a:solidFill>
                <a:ea typeface="+mn-lt"/>
                <a:cs typeface="+mn-lt"/>
              </a:rPr>
              <a:t>Binder </a:t>
            </a:r>
            <a:r>
              <a:rPr lang="zh-CN" altLang="en-US" sz="900" b="1" i="0">
                <a:solidFill>
                  <a:srgbClr val="000000"/>
                </a:solidFill>
                <a:ea typeface="+mn-lt"/>
                <a:cs typeface="+mn-lt"/>
              </a:rPr>
              <a:t>事务失败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，但具体原因需结合接口、数据结构、端侧状态综合分析，不能简单归因为系统服务问题，需进一步排查。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1015"/>
              </a:lnSpc>
              <a:spcBef>
                <a:spcPts val="500"/>
              </a:spcBef>
              <a:spcAft>
                <a:spcPct val="0"/>
              </a:spcAft>
            </a:pPr>
            <a:r>
              <a:rPr lang="en-US" altLang="zh-CN" sz="1200" b="0" i="0">
                <a:solidFill>
                  <a:srgbClr val="000000"/>
                </a:solidFill>
                <a:ea typeface="+mn-lt"/>
                <a:cs typeface="+mn-lt"/>
              </a:rPr>
              <a:t>2. </a:t>
            </a:r>
            <a:r>
              <a:rPr lang="zh-CN" altLang="en-US" sz="1200" b="0" i="0">
                <a:solidFill>
                  <a:srgbClr val="000000"/>
                </a:solidFill>
                <a:ea typeface="+mn-lt"/>
                <a:cs typeface="+mn-lt"/>
              </a:rPr>
              <a:t>系统网络侧再次分析：深挖中间链路问题</a:t>
            </a:r>
            <a:endParaRPr lang="zh-CN" altLang="en-US" sz="12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关键证据：从日志发现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netd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向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system_server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发送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zh-CN" altLang="en-US" sz="900" b="1" i="0">
                <a:solidFill>
                  <a:srgbClr val="000000"/>
                </a:solidFill>
                <a:ea typeface="+mn-lt"/>
                <a:cs typeface="+mn-lt"/>
              </a:rPr>
              <a:t>大量 </a:t>
            </a:r>
            <a:r>
              <a:rPr lang="en-US" altLang="zh-CN" sz="900" b="1" i="0">
                <a:solidFill>
                  <a:srgbClr val="000000"/>
                </a:solidFill>
                <a:ea typeface="+mn-lt"/>
                <a:cs typeface="+mn-lt"/>
              </a:rPr>
              <a:t>oneway Binder </a:t>
            </a:r>
            <a:r>
              <a:rPr lang="zh-CN" altLang="en-US" sz="900" b="1" i="0">
                <a:solidFill>
                  <a:srgbClr val="000000"/>
                </a:solidFill>
                <a:ea typeface="+mn-lt"/>
                <a:cs typeface="+mn-lt"/>
              </a:rPr>
              <a:t>调用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（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2095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个缓冲区，占用超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520KB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），且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lo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端口有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zh-CN" altLang="en-US" sz="900" b="1" i="0">
                <a:solidFill>
                  <a:srgbClr val="000000"/>
                </a:solidFill>
                <a:ea typeface="+mn-lt"/>
                <a:cs typeface="+mn-lt"/>
              </a:rPr>
              <a:t>海量本地 </a:t>
            </a:r>
            <a:r>
              <a:rPr lang="en-US" altLang="zh-CN" sz="900" b="1" i="0">
                <a:solidFill>
                  <a:srgbClr val="000000"/>
                </a:solidFill>
                <a:ea typeface="+mn-lt"/>
                <a:cs typeface="+mn-lt"/>
              </a:rPr>
              <a:t>TCP </a:t>
            </a:r>
            <a:r>
              <a:rPr lang="zh-CN" altLang="en-US" sz="900" b="1" i="0">
                <a:solidFill>
                  <a:srgbClr val="000000"/>
                </a:solidFill>
                <a:ea typeface="+mn-lt"/>
                <a:cs typeface="+mn-lt"/>
              </a:rPr>
              <a:t>连接被拒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（报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111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：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ECONNREFUSED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）。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推断：网络事件风暴（连接被拒）引发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netd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频繁转发事件，导致系统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Binder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资源紧张。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1015"/>
              </a:lnSpc>
              <a:spcBef>
                <a:spcPts val="500"/>
              </a:spcBef>
              <a:spcAft>
                <a:spcPct val="0"/>
              </a:spcAft>
            </a:pPr>
            <a:r>
              <a:rPr lang="en-US" altLang="zh-CN" sz="1200" b="0" i="0">
                <a:solidFill>
                  <a:srgbClr val="000000"/>
                </a:solidFill>
                <a:ea typeface="+mn-lt"/>
                <a:cs typeface="+mn-lt"/>
              </a:rPr>
              <a:t>3. </a:t>
            </a:r>
            <a:r>
              <a:rPr lang="zh-CN" altLang="en-US" sz="1200" b="0" i="0">
                <a:solidFill>
                  <a:srgbClr val="000000"/>
                </a:solidFill>
                <a:ea typeface="+mn-lt"/>
                <a:cs typeface="+mn-lt"/>
              </a:rPr>
              <a:t>应用端提问：聚焦 </a:t>
            </a:r>
            <a:r>
              <a:rPr lang="en-US" altLang="zh-CN" sz="1200" b="0" i="0">
                <a:solidFill>
                  <a:srgbClr val="000000"/>
                </a:solidFill>
                <a:ea typeface="+mn-lt"/>
                <a:cs typeface="+mn-lt"/>
              </a:rPr>
              <a:t>TCP </a:t>
            </a:r>
            <a:r>
              <a:rPr lang="zh-CN" altLang="en-US" sz="1200" b="0" i="0">
                <a:solidFill>
                  <a:srgbClr val="000000"/>
                </a:solidFill>
                <a:ea typeface="+mn-lt"/>
                <a:cs typeface="+mn-lt"/>
              </a:rPr>
              <a:t>连接失败疑问</a:t>
            </a:r>
            <a:endParaRPr lang="zh-CN" altLang="en-US" sz="12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应用侧困惑：为何会出现本地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TCP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连接失败？不确定是否是自己的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Socket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（如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127.0.0.1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连接）引发问题，希望提供排查方向（如事例代码）。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1015"/>
              </a:lnSpc>
              <a:spcBef>
                <a:spcPts val="500"/>
              </a:spcBef>
              <a:spcAft>
                <a:spcPct val="0"/>
              </a:spcAft>
            </a:pPr>
            <a:r>
              <a:rPr lang="en-US" altLang="zh-CN" sz="1200" b="0" i="0">
                <a:solidFill>
                  <a:srgbClr val="000000"/>
                </a:solidFill>
                <a:ea typeface="+mn-lt"/>
                <a:cs typeface="+mn-lt"/>
              </a:rPr>
              <a:t>4. </a:t>
            </a:r>
            <a:r>
              <a:rPr lang="zh-CN" altLang="en-US" sz="1200" b="0" i="0">
                <a:solidFill>
                  <a:srgbClr val="000000"/>
                </a:solidFill>
                <a:ea typeface="+mn-lt"/>
                <a:cs typeface="+mn-lt"/>
              </a:rPr>
              <a:t>网络侧回复：解答连接失败原因</a:t>
            </a:r>
            <a:endParaRPr lang="zh-CN" altLang="en-US" sz="12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直接原因：本地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TCP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连接被拒，是因为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zh-CN" altLang="en-US" sz="900" b="1" i="0">
                <a:solidFill>
                  <a:srgbClr val="000000"/>
                </a:solidFill>
                <a:ea typeface="+mn-lt"/>
                <a:cs typeface="+mn-lt"/>
              </a:rPr>
              <a:t>无对应服务端进程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或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zh-CN" altLang="en-US" sz="900" b="1" i="0">
                <a:solidFill>
                  <a:srgbClr val="000000"/>
                </a:solidFill>
                <a:ea typeface="+mn-lt"/>
                <a:cs typeface="+mn-lt"/>
              </a:rPr>
              <a:t>服务端未启动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补充：报文中无法识别具体发起连接的进程，但结合相似课题，可疑应用为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com.dfl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系列（如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usercenter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、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mall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）。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1015"/>
              </a:lnSpc>
              <a:spcBef>
                <a:spcPts val="500"/>
              </a:spcBef>
              <a:spcAft>
                <a:spcPct val="0"/>
              </a:spcAft>
            </a:pPr>
            <a:r>
              <a:rPr lang="en-US" altLang="zh-CN" sz="1200" b="0" i="0">
                <a:solidFill>
                  <a:srgbClr val="000000"/>
                </a:solidFill>
                <a:ea typeface="+mn-lt"/>
                <a:cs typeface="+mn-lt"/>
              </a:rPr>
              <a:t>5. </a:t>
            </a:r>
            <a:r>
              <a:rPr lang="zh-CN" altLang="en-US" sz="1200" b="0" i="0">
                <a:solidFill>
                  <a:srgbClr val="000000"/>
                </a:solidFill>
                <a:ea typeface="+mn-lt"/>
                <a:cs typeface="+mn-lt"/>
              </a:rPr>
              <a:t>系统侧回复：给出精准排查方向</a:t>
            </a:r>
            <a:endParaRPr lang="zh-CN" altLang="en-US" sz="12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排查结论：排除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Java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层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Socket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调用（系统已加日志验证无异常）。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关键提示：应用需重点检查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altLang="zh-CN" sz="900" b="1" i="0">
                <a:solidFill>
                  <a:srgbClr val="000000"/>
                </a:solidFill>
                <a:ea typeface="+mn-lt"/>
                <a:cs typeface="+mn-lt"/>
              </a:rPr>
              <a:t>Native </a:t>
            </a:r>
            <a:r>
              <a:rPr lang="zh-CN" altLang="en-US" sz="900" b="1" i="0">
                <a:solidFill>
                  <a:srgbClr val="000000"/>
                </a:solidFill>
                <a:ea typeface="+mn-lt"/>
                <a:cs typeface="+mn-lt"/>
              </a:rPr>
              <a:t>层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，存在大量未捕获的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Socket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连接调用。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1015"/>
              </a:lnSpc>
              <a:spcBef>
                <a:spcPts val="500"/>
              </a:spcBef>
              <a:spcAft>
                <a:spcPct val="0"/>
              </a:spcAft>
            </a:pPr>
            <a:r>
              <a:rPr lang="en-US" altLang="zh-CN" sz="1200" b="0" i="0">
                <a:solidFill>
                  <a:srgbClr val="000000"/>
                </a:solidFill>
                <a:ea typeface="+mn-lt"/>
                <a:cs typeface="+mn-lt"/>
              </a:rPr>
              <a:t>6. </a:t>
            </a:r>
            <a:r>
              <a:rPr lang="zh-CN" altLang="en-US" sz="1200" b="0" i="0">
                <a:solidFill>
                  <a:srgbClr val="000000"/>
                </a:solidFill>
                <a:ea typeface="+mn-lt"/>
                <a:cs typeface="+mn-lt"/>
              </a:rPr>
              <a:t>应用侧排查：逐步确认问题</a:t>
            </a:r>
            <a:endParaRPr lang="zh-CN" altLang="en-US" sz="12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过程：先反馈 “网络中间件用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Socket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，但非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127.0.0.1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，无法确认”；后按系统提示查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Native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层，锁定异常连接来源。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结果：确认是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zh-CN" altLang="en-US" sz="900" b="1" i="0">
                <a:solidFill>
                  <a:srgbClr val="000000"/>
                </a:solidFill>
                <a:ea typeface="+mn-lt"/>
                <a:cs typeface="+mn-lt"/>
              </a:rPr>
              <a:t>联友系应用的加固包版本问题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——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加固后触发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Native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层 异常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Socket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调用，导致连接风暴。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1015"/>
              </a:lnSpc>
              <a:spcBef>
                <a:spcPts val="500"/>
              </a:spcBef>
              <a:spcAft>
                <a:spcPct val="0"/>
              </a:spcAft>
            </a:pPr>
            <a:r>
              <a:rPr lang="en-US" altLang="zh-CN" sz="1200" b="0" i="0">
                <a:solidFill>
                  <a:srgbClr val="000000"/>
                </a:solidFill>
                <a:ea typeface="+mn-lt"/>
                <a:cs typeface="+mn-lt"/>
              </a:rPr>
              <a:t>7. </a:t>
            </a:r>
            <a:r>
              <a:rPr lang="zh-CN" altLang="en-US" sz="1200" b="0" i="0">
                <a:solidFill>
                  <a:srgbClr val="000000"/>
                </a:solidFill>
                <a:ea typeface="+mn-lt"/>
                <a:cs typeface="+mn-lt"/>
              </a:rPr>
              <a:t>最终解决方案</a:t>
            </a:r>
            <a:endParaRPr lang="zh-CN" altLang="en-US" sz="1200" b="0" i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lnSpc>
                <a:spcPts val="900"/>
              </a:lnSpc>
              <a:spcBef>
                <a:spcPts val="30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应用侧计划：下一个版本采用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zh-CN" altLang="en-US" sz="900" b="1" i="0">
                <a:solidFill>
                  <a:srgbClr val="000000"/>
                </a:solidFill>
                <a:ea typeface="+mn-lt"/>
                <a:cs typeface="+mn-lt"/>
              </a:rPr>
              <a:t>优化后的加固策略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，修复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Native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层 异常 </a:t>
            </a:r>
            <a:r>
              <a:rPr lang="en-US" altLang="zh-CN" sz="900" b="0" i="0">
                <a:solidFill>
                  <a:srgbClr val="000000"/>
                </a:solidFill>
                <a:ea typeface="+mn-lt"/>
                <a:cs typeface="+mn-lt"/>
              </a:rPr>
              <a:t>Socket </a:t>
            </a:r>
            <a:r>
              <a:rPr lang="zh-CN" altLang="en-US" sz="900" b="0" i="0">
                <a:solidFill>
                  <a:srgbClr val="000000"/>
                </a:solidFill>
                <a:ea typeface="+mn-lt"/>
                <a:cs typeface="+mn-lt"/>
              </a:rPr>
              <a:t>调用问题。</a:t>
            </a: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</p:txBody>
      </p:sp>
      <p:pic>
        <p:nvPicPr>
          <p:cNvPr id="4" name="图片 3" descr="企业微信截图_17576497002981"/>
          <p:cNvPicPr>
            <a:picLocks noChangeAspect="1"/>
          </p:cNvPicPr>
          <p:nvPr/>
        </p:nvPicPr>
        <p:blipFill>
          <a:blip r:embed="rId1"/>
          <a:srcRect l="17949" b="564"/>
          <a:stretch>
            <a:fillRect/>
          </a:stretch>
        </p:blipFill>
        <p:spPr>
          <a:xfrm>
            <a:off x="6769735" y="1273810"/>
            <a:ext cx="5039995" cy="1726565"/>
          </a:xfrm>
          <a:prstGeom prst="rect">
            <a:avLst/>
          </a:prstGeom>
        </p:spPr>
      </p:pic>
      <p:sp>
        <p:nvSpPr>
          <p:cNvPr id="5" name="左箭头 4"/>
          <p:cNvSpPr/>
          <p:nvPr/>
        </p:nvSpPr>
        <p:spPr>
          <a:xfrm rot="20040000">
            <a:off x="6034405" y="2135505"/>
            <a:ext cx="720090" cy="2159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image(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90" y="3140710"/>
            <a:ext cx="4080510" cy="2143760"/>
          </a:xfrm>
          <a:prstGeom prst="rect">
            <a:avLst/>
          </a:prstGeom>
        </p:spPr>
      </p:pic>
      <p:sp>
        <p:nvSpPr>
          <p:cNvPr id="11" name="左箭头 10"/>
          <p:cNvSpPr/>
          <p:nvPr/>
        </p:nvSpPr>
        <p:spPr>
          <a:xfrm rot="2100000">
            <a:off x="6080125" y="2886710"/>
            <a:ext cx="720090" cy="2159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7805" y="476885"/>
            <a:ext cx="87642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场景二：</a:t>
            </a:r>
            <a:r>
              <a:rPr lang="en-US" altLang="zh-CN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DeadSystemException </a:t>
            </a:r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崩溃泛滥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5377" y="535242"/>
            <a:ext cx="847711" cy="738664"/>
            <a:chOff x="1062186" y="887468"/>
            <a:chExt cx="912375" cy="795011"/>
          </a:xfrm>
        </p:grpSpPr>
        <p:sp>
          <p:nvSpPr>
            <p:cNvPr id="9" name="椭圆 8"/>
            <p:cNvSpPr/>
            <p:nvPr/>
          </p:nvSpPr>
          <p:spPr>
            <a:xfrm>
              <a:off x="1062186" y="887468"/>
              <a:ext cx="795011" cy="795011"/>
            </a:xfrm>
            <a:prstGeom prst="ellipse">
              <a:avLst/>
            </a:prstGeom>
            <a:solidFill>
              <a:srgbClr val="3F345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9691" y="1141640"/>
              <a:ext cx="514870" cy="5148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924560" y="1412875"/>
            <a:ext cx="5225415" cy="456882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ts val="1125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900" b="0" i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5965" y="1484630"/>
            <a:ext cx="11087735" cy="3432175"/>
          </a:xfrm>
          <a:prstGeom prst="rect">
            <a:avLst/>
          </a:prstGeom>
        </p:spPr>
        <p:txBody>
          <a:bodyPr wrap="square">
            <a:noAutofit/>
          </a:bodyPr>
          <a:p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大量</a:t>
            </a:r>
            <a:r>
              <a:rPr lang="en-US" altLang="zh-CN" sz="1600"/>
              <a:t>app</a:t>
            </a:r>
            <a:r>
              <a:rPr lang="zh-CN" altLang="en-US" sz="1600"/>
              <a:t>阻塞在 </a:t>
            </a:r>
            <a:r>
              <a:rPr lang="en-US" altLang="zh-CN" sz="1600"/>
              <a:t>Binder </a:t>
            </a:r>
            <a:r>
              <a:rPr lang="zh-CN" altLang="en-US" sz="1600"/>
              <a:t>调用上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Binder </a:t>
            </a:r>
            <a:r>
              <a:rPr lang="zh-CN" altLang="en-US" sz="1600"/>
              <a:t>队列未能及时响应 </a:t>
            </a:r>
            <a:r>
              <a:rPr lang="en-US" altLang="zh-CN" sz="1600"/>
              <a:t>→ </a:t>
            </a:r>
            <a:endParaRPr lang="en-US" altLang="zh-CN" sz="1600"/>
          </a:p>
          <a:p>
            <a:r>
              <a:rPr lang="zh-CN" altLang="en-US" sz="1600"/>
              <a:t>📋 结论链条：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网络事件风暴</a:t>
            </a:r>
            <a:r>
              <a:rPr lang="en-US" altLang="en-US" sz="1600"/>
              <a:t>→</a:t>
            </a:r>
            <a:r>
              <a:rPr lang="en-US" altLang="zh-CN" sz="1600"/>
              <a:t>netd </a:t>
            </a:r>
            <a:r>
              <a:rPr lang="zh-CN" altLang="en-US" sz="1600"/>
              <a:t>大量</a:t>
            </a:r>
            <a:r>
              <a:rPr lang="en-US" altLang="zh-CN" sz="1600"/>
              <a:t> Binder </a:t>
            </a:r>
            <a:r>
              <a:rPr lang="zh-CN" altLang="en-US" sz="1600"/>
              <a:t>调用</a:t>
            </a:r>
            <a:r>
              <a:rPr lang="en-US" altLang="en-US" sz="1600"/>
              <a:t>→</a:t>
            </a:r>
            <a:r>
              <a:rPr lang="en-US" altLang="zh-CN" sz="1600"/>
              <a:t>Binder </a:t>
            </a:r>
            <a:r>
              <a:rPr lang="zh-CN" altLang="en-US" sz="1600"/>
              <a:t>拥塞</a:t>
            </a:r>
            <a:r>
              <a:rPr lang="en-US" altLang="en-US" sz="1600"/>
              <a:t>→</a:t>
            </a:r>
            <a:r>
              <a:rPr lang="zh-CN" altLang="en-US" sz="1600"/>
              <a:t>大量</a:t>
            </a:r>
            <a:r>
              <a:rPr lang="en-US" altLang="zh-CN" sz="1600"/>
              <a:t>appbinder</a:t>
            </a:r>
            <a:r>
              <a:rPr lang="zh-CN" altLang="en-US" sz="1600"/>
              <a:t>调用出现问题</a:t>
            </a:r>
            <a:r>
              <a:rPr lang="en-US" altLang="en-US" sz="1600">
                <a:sym typeface="+mn-ea"/>
              </a:rPr>
              <a:t>→</a:t>
            </a:r>
            <a:r>
              <a:rPr lang="zh-CN" altLang="en-US" sz="1600">
                <a:sym typeface="+mn-ea"/>
              </a:rPr>
              <a:t>出现</a:t>
            </a:r>
            <a:r>
              <a:rPr lang="en-US" altLang="zh-CN" sz="1600">
                <a:sym typeface="+mn-ea"/>
              </a:rPr>
              <a:t>crash</a:t>
            </a:r>
            <a:r>
              <a:rPr lang="zh-CN" altLang="en-US" sz="1600"/>
              <a:t>
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7805" y="476885"/>
            <a:ext cx="8414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场景三：大灯闪退与仪表上电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5377" y="535242"/>
            <a:ext cx="847711" cy="738664"/>
            <a:chOff x="1062186" y="887468"/>
            <a:chExt cx="912375" cy="795011"/>
          </a:xfrm>
        </p:grpSpPr>
        <p:sp>
          <p:nvSpPr>
            <p:cNvPr id="9" name="椭圆 8"/>
            <p:cNvSpPr/>
            <p:nvPr/>
          </p:nvSpPr>
          <p:spPr>
            <a:xfrm>
              <a:off x="1062186" y="887468"/>
              <a:ext cx="795011" cy="795011"/>
            </a:xfrm>
            <a:prstGeom prst="ellipse">
              <a:avLst/>
            </a:prstGeom>
            <a:solidFill>
              <a:srgbClr val="3F345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9691" y="1141640"/>
              <a:ext cx="514870" cy="5148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273810" y="1395095"/>
            <a:ext cx="424624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现象：</a:t>
            </a:r>
            <a:r>
              <a:rPr lang="en-US" altLang="zh-CN"/>
              <a:t>OBSQ-2552</a:t>
            </a:r>
            <a:r>
              <a:rPr lang="zh-CN" altLang="en-US"/>
              <a:t>【工厂】</a:t>
            </a:r>
            <a:r>
              <a:rPr lang="en-US" altLang="zh-CN"/>
              <a:t>25E-PT-501122 </a:t>
            </a:r>
            <a:r>
              <a:rPr lang="zh-CN" altLang="en-US"/>
              <a:t>恢复出厂设置后</a:t>
            </a:r>
            <a:r>
              <a:rPr lang="en-US" altLang="zh-CN"/>
              <a:t>-</a:t>
            </a:r>
            <a:r>
              <a:rPr lang="zh-CN" altLang="en-US"/>
              <a:t>车辆控制</a:t>
            </a:r>
            <a:r>
              <a:rPr lang="en-US" altLang="zh-CN"/>
              <a:t>-</a:t>
            </a:r>
            <a:r>
              <a:rPr lang="zh-CN" altLang="en-US"/>
              <a:t>打开大灯闪退，下拉车辆下电后仪表自动上电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初步分析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车控闪退问题已依赖应用确认，航盛看下仪表下电不灭屏的问题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7805" y="476885"/>
            <a:ext cx="8414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场景三：大灯闪退与仪表上电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5377" y="535242"/>
            <a:ext cx="847711" cy="738664"/>
            <a:chOff x="1062186" y="887468"/>
            <a:chExt cx="912375" cy="795011"/>
          </a:xfrm>
        </p:grpSpPr>
        <p:sp>
          <p:nvSpPr>
            <p:cNvPr id="9" name="椭圆 8"/>
            <p:cNvSpPr/>
            <p:nvPr/>
          </p:nvSpPr>
          <p:spPr>
            <a:xfrm>
              <a:off x="1062186" y="887468"/>
              <a:ext cx="795011" cy="795011"/>
            </a:xfrm>
            <a:prstGeom prst="ellipse">
              <a:avLst/>
            </a:prstGeom>
            <a:solidFill>
              <a:srgbClr val="3F345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9691" y="1141640"/>
              <a:ext cx="514870" cy="5148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67080" y="1249997"/>
            <a:ext cx="5080000" cy="415417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1 bSP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侧分析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: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恢复出厂设置后，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FOTA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的文件被删除了，在下电后，会重新拉起高压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ACC</a:t>
            </a:r>
            <a:endParaRPr lang="en-US" altLang="zh-CN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endParaRPr lang="en-US" altLang="zh-CN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2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系统分析</a:t>
            </a:r>
            <a:endParaRPr lang="zh-CN" altLang="en-US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台上日志显示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003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次启动期间，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system_server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出现大量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Binder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调用。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netd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造成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sytem_server binder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风暴，</a:t>
            </a:r>
            <a:r>
              <a:rPr lang="zh-CN" altLang="en-US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向</a:t>
            </a:r>
            <a:r>
              <a:rPr lang="en-US" altLang="zh-CN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 system_server </a:t>
            </a:r>
            <a:r>
              <a:rPr lang="zh-CN" altLang="en-US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发送大量</a:t>
            </a:r>
            <a:r>
              <a:rPr lang="en-US" altLang="zh-CN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 oneway binder</a:t>
            </a:r>
            <a:r>
              <a:rPr lang="zh-CN" altLang="en-US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调用，导致缓冲区堆积，可能引起实际上</a:t>
            </a:r>
            <a:r>
              <a:rPr lang="en-US" altLang="zh-CN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system_server</a:t>
            </a:r>
            <a:r>
              <a:rPr lang="zh-CN" altLang="en-US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没死，但缓冲区资源被严重占用，造成系统</a:t>
            </a:r>
            <a:r>
              <a:rPr lang="en-US" altLang="zh-CN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 Binder </a:t>
            </a:r>
            <a:r>
              <a:rPr lang="zh-CN" altLang="en-US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通信资源紧张。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</a:t>
            </a:r>
            <a:endParaRPr lang="zh-CN" altLang="en-US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以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com.dfl.usercenter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（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pid:2712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）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为例，应用在启动初期以毫秒级频率向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netd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发起请求，引发频繁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DNS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解析和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Binder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交互。</a:t>
            </a:r>
            <a:r>
              <a:rPr lang="zh-CN" altLang="en-US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从而引发应用在访问</a:t>
            </a:r>
            <a:r>
              <a:rPr lang="en-US" altLang="zh-CN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Binder</a:t>
            </a:r>
            <a:r>
              <a:rPr lang="zh-CN" altLang="en-US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服务时无法分配缓冲区，抛出</a:t>
            </a:r>
            <a:r>
              <a:rPr lang="en-US" altLang="zh-CN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 DeadSystemException</a:t>
            </a:r>
            <a:r>
              <a:rPr lang="zh-CN" altLang="en-US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，表现为服务不可用或系统</a:t>
            </a:r>
            <a:r>
              <a:rPr lang="en-US" altLang="zh-CN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“</a:t>
            </a:r>
            <a:r>
              <a:rPr lang="zh-CN" altLang="en-US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假死</a:t>
            </a:r>
            <a:r>
              <a:rPr lang="en-US" altLang="zh-CN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”</a:t>
            </a:r>
            <a:r>
              <a:rPr lang="zh-CN" altLang="en-US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。</a:t>
            </a:r>
            <a:r>
              <a:rPr lang="en-US" altLang="zh-CN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---</a:t>
            </a:r>
            <a:r>
              <a:rPr lang="zh-CN" altLang="en-US" sz="1200">
                <a:solidFill>
                  <a:srgbClr val="262626"/>
                </a:solidFill>
                <a:ea typeface="+mn-lt"/>
                <a:cs typeface="+mn-lt"/>
                <a:sym typeface="+mn-ea"/>
              </a:rPr>
              <a:t>》</a:t>
            </a:r>
            <a:endParaRPr lang="zh-CN" altLang="en-US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麻烦转应用依次确认初始化流程中网络相关操作。</a:t>
            </a:r>
            <a:endParaRPr lang="zh-CN" altLang="en-US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endParaRPr lang="en-US" altLang="zh-CN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3 pid= 2527 com.dfl.usercenter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从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00:00:32.221 ~ 00:00:48.303 16s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内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6542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次</a:t>
            </a:r>
            <a:endParaRPr lang="zh-CN" altLang="en-US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pid= 3287 com.dfl.usercenter:pushservice 00:00:32.222 ~ 00:00:46.672 14s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内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5889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次</a:t>
            </a:r>
            <a:endParaRPr lang="zh-CN" altLang="en-US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pid= 3422 com.dfl.mall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从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00:00:32.221 ~ 00:00:50.034 18s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内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6994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次</a:t>
            </a:r>
            <a:endParaRPr lang="zh-CN" altLang="en-US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pid= 4199 com.dfl.mall 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从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00:00:32.222 ~ 00:00:50.035 18s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内</a:t>
            </a:r>
            <a:r>
              <a:rPr lang="en-US" altLang="zh-CN" sz="1200" b="0" i="0">
                <a:solidFill>
                  <a:srgbClr val="262626"/>
                </a:solidFill>
                <a:ea typeface="+mn-lt"/>
                <a:cs typeface="+mn-lt"/>
              </a:rPr>
              <a:t> 7077</a:t>
            </a:r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次</a:t>
            </a:r>
            <a:endParaRPr lang="zh-CN" altLang="en-US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endParaRPr lang="zh-CN" altLang="en-US" sz="1200" b="0" i="0">
              <a:solidFill>
                <a:srgbClr val="262626"/>
              </a:solidFill>
              <a:ea typeface="+mn-lt"/>
              <a:cs typeface="+mn-lt"/>
            </a:endParaRPr>
          </a:p>
          <a:p>
            <a:pPr marL="0" indent="0"/>
            <a:r>
              <a:rPr lang="zh-CN" altLang="en-US" sz="1200" b="0" i="0">
                <a:solidFill>
                  <a:srgbClr val="262626"/>
                </a:solidFill>
                <a:ea typeface="+mn-lt"/>
                <a:cs typeface="+mn-lt"/>
              </a:rPr>
              <a:t>应用侧分析：已优化安全加固策略，请使用七夕最新版本验证</a:t>
            </a:r>
            <a:endParaRPr lang="zh-CN" altLang="en-US" sz="1200" b="0" i="0">
              <a:solidFill>
                <a:srgbClr val="262626"/>
              </a:solidFill>
              <a:ea typeface="+mn-lt"/>
              <a:cs typeface="+mn-lt"/>
            </a:endParaRPr>
          </a:p>
        </p:txBody>
      </p:sp>
      <p:pic>
        <p:nvPicPr>
          <p:cNvPr id="3" name="图片 2" descr="image (5)"/>
          <p:cNvPicPr>
            <a:picLocks noChangeAspect="1"/>
          </p:cNvPicPr>
          <p:nvPr/>
        </p:nvPicPr>
        <p:blipFill>
          <a:blip r:embed="rId1"/>
          <a:srcRect l="17915" r="8971" b="17152"/>
          <a:stretch>
            <a:fillRect/>
          </a:stretch>
        </p:blipFill>
        <p:spPr>
          <a:xfrm>
            <a:off x="6167755" y="1125220"/>
            <a:ext cx="5328285" cy="1819275"/>
          </a:xfrm>
          <a:prstGeom prst="rect">
            <a:avLst/>
          </a:prstGeom>
        </p:spPr>
      </p:pic>
      <p:pic>
        <p:nvPicPr>
          <p:cNvPr id="4" name="图片 3" descr="image (3)"/>
          <p:cNvPicPr>
            <a:picLocks noChangeAspect="1"/>
          </p:cNvPicPr>
          <p:nvPr/>
        </p:nvPicPr>
        <p:blipFill>
          <a:blip r:embed="rId2"/>
          <a:srcRect l="19455" r="11189" b="73677"/>
          <a:stretch>
            <a:fillRect/>
          </a:stretch>
        </p:blipFill>
        <p:spPr>
          <a:xfrm>
            <a:off x="6167755" y="3009265"/>
            <a:ext cx="5621655" cy="1167765"/>
          </a:xfrm>
          <a:prstGeom prst="rect">
            <a:avLst/>
          </a:prstGeom>
        </p:spPr>
      </p:pic>
      <p:pic>
        <p:nvPicPr>
          <p:cNvPr id="5" name="图片 4" descr="image (1)"/>
          <p:cNvPicPr>
            <a:picLocks noChangeAspect="1"/>
          </p:cNvPicPr>
          <p:nvPr/>
        </p:nvPicPr>
        <p:blipFill>
          <a:blip r:embed="rId3"/>
          <a:srcRect l="19484" t="16911" r="9052" b="41"/>
          <a:stretch>
            <a:fillRect/>
          </a:stretch>
        </p:blipFill>
        <p:spPr>
          <a:xfrm>
            <a:off x="6240145" y="4220845"/>
            <a:ext cx="5020310" cy="2240915"/>
          </a:xfrm>
          <a:prstGeom prst="rect">
            <a:avLst/>
          </a:prstGeom>
        </p:spPr>
      </p:pic>
      <p:sp>
        <p:nvSpPr>
          <p:cNvPr id="7" name="左箭头 6"/>
          <p:cNvSpPr/>
          <p:nvPr/>
        </p:nvSpPr>
        <p:spPr>
          <a:xfrm rot="1200000">
            <a:off x="5643245" y="1492885"/>
            <a:ext cx="504190" cy="2159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左箭头 10"/>
          <p:cNvSpPr/>
          <p:nvPr/>
        </p:nvSpPr>
        <p:spPr>
          <a:xfrm rot="3300000">
            <a:off x="5593715" y="2677160"/>
            <a:ext cx="523875" cy="2159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左箭头 11"/>
          <p:cNvSpPr/>
          <p:nvPr/>
        </p:nvSpPr>
        <p:spPr>
          <a:xfrm rot="3720000">
            <a:off x="5387975" y="3785235"/>
            <a:ext cx="1101090" cy="21590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7805" y="476885"/>
            <a:ext cx="8414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场景三：大灯闪退与仪表上电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5377" y="535242"/>
            <a:ext cx="847711" cy="738664"/>
            <a:chOff x="1062186" y="887468"/>
            <a:chExt cx="912375" cy="795011"/>
          </a:xfrm>
        </p:grpSpPr>
        <p:sp>
          <p:nvSpPr>
            <p:cNvPr id="9" name="椭圆 8"/>
            <p:cNvSpPr/>
            <p:nvPr/>
          </p:nvSpPr>
          <p:spPr>
            <a:xfrm>
              <a:off x="1062186" y="887468"/>
              <a:ext cx="795011" cy="795011"/>
            </a:xfrm>
            <a:prstGeom prst="ellipse">
              <a:avLst/>
            </a:prstGeom>
            <a:solidFill>
              <a:srgbClr val="3F345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9691" y="1141640"/>
              <a:ext cx="514870" cy="5148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9425" y="1485265"/>
            <a:ext cx="11087735" cy="3432175"/>
          </a:xfrm>
          <a:prstGeom prst="rect">
            <a:avLst/>
          </a:prstGeom>
        </p:spPr>
        <p:txBody>
          <a:bodyPr wrap="square">
            <a:noAutofit/>
          </a:bodyPr>
          <a:p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zh-CN" altLang="en-US" sz="1600"/>
              <a:t>大量</a:t>
            </a:r>
            <a:r>
              <a:rPr lang="en-US" altLang="zh-CN" sz="1600"/>
              <a:t>app</a:t>
            </a:r>
            <a:r>
              <a:rPr lang="zh-CN" altLang="en-US" sz="1600"/>
              <a:t>阻塞在 </a:t>
            </a:r>
            <a:r>
              <a:rPr lang="en-US" altLang="zh-CN" sz="1600"/>
              <a:t>Binder </a:t>
            </a:r>
            <a:r>
              <a:rPr lang="zh-CN" altLang="en-US" sz="1600"/>
              <a:t>调用上</a:t>
            </a:r>
            <a:endParaRPr lang="zh-CN" altLang="en-US" sz="1600"/>
          </a:p>
          <a:p>
            <a:pPr>
              <a:buFont typeface="Arial" panose="020B0604020202020204"/>
              <a:buChar char="•"/>
            </a:pPr>
            <a:endParaRPr lang="zh-CN" altLang="en-US" sz="1600"/>
          </a:p>
          <a:p>
            <a:pPr>
              <a:buFont typeface="Arial" panose="020B0604020202020204"/>
              <a:buChar char="•"/>
            </a:pPr>
            <a:r>
              <a:rPr lang="en-US" altLang="zh-CN" sz="1600"/>
              <a:t>Binder </a:t>
            </a:r>
            <a:r>
              <a:rPr lang="zh-CN" altLang="en-US" sz="1600"/>
              <a:t>队列未能及时响应 </a:t>
            </a:r>
            <a:endParaRPr lang="en-US" altLang="zh-CN" sz="1600"/>
          </a:p>
          <a:p>
            <a:pPr>
              <a:buFont typeface="Arial" panose="020B0604020202020204"/>
              <a:buChar char="•"/>
            </a:pPr>
            <a:endParaRPr lang="en-US" altLang="zh-CN" sz="1600"/>
          </a:p>
          <a:p>
            <a:r>
              <a:rPr lang="zh-CN" altLang="en-US" sz="1600"/>
              <a:t>📋 结论链条：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网络事件风暴</a:t>
            </a:r>
            <a:r>
              <a:rPr lang="en-US" altLang="en-US" sz="1600"/>
              <a:t>→</a:t>
            </a:r>
            <a:r>
              <a:rPr lang="en-US" altLang="zh-CN" sz="1600"/>
              <a:t>netd </a:t>
            </a:r>
            <a:r>
              <a:rPr lang="zh-CN" altLang="en-US" sz="1600"/>
              <a:t>大量</a:t>
            </a:r>
            <a:r>
              <a:rPr lang="en-US" altLang="zh-CN" sz="1600"/>
              <a:t> Binder </a:t>
            </a:r>
            <a:r>
              <a:rPr lang="zh-CN" altLang="en-US" sz="1600"/>
              <a:t>调用</a:t>
            </a:r>
            <a:r>
              <a:rPr lang="en-US" altLang="en-US" sz="1600"/>
              <a:t>→</a:t>
            </a:r>
            <a:r>
              <a:rPr lang="en-US" altLang="zh-CN" sz="1600"/>
              <a:t>Binder </a:t>
            </a:r>
            <a:r>
              <a:rPr lang="zh-CN" altLang="en-US" sz="1600"/>
              <a:t>拥塞</a:t>
            </a:r>
            <a:r>
              <a:rPr lang="en-US" altLang="en-US" sz="1600"/>
              <a:t>→</a:t>
            </a:r>
            <a:r>
              <a:rPr lang="zh-CN" altLang="en-US" sz="1600">
                <a:sym typeface="+mn-ea"/>
              </a:rPr>
              <a:t>应用在访问</a:t>
            </a:r>
            <a:r>
              <a:rPr lang="en-US" altLang="zh-CN" sz="1600">
                <a:sym typeface="+mn-ea"/>
              </a:rPr>
              <a:t>Binder</a:t>
            </a:r>
            <a:r>
              <a:rPr lang="zh-CN" altLang="en-US" sz="1600">
                <a:sym typeface="+mn-ea"/>
              </a:rPr>
              <a:t>服务时无法分配缓冲区</a:t>
            </a:r>
            <a:r>
              <a:rPr lang="en-US" altLang="en-US" sz="1600">
                <a:sym typeface="+mn-ea"/>
              </a:rPr>
              <a:t>→</a:t>
            </a:r>
            <a:r>
              <a:rPr lang="zh-CN" altLang="en-US" sz="1600">
                <a:solidFill>
                  <a:srgbClr val="262626"/>
                </a:solidFill>
                <a:ea typeface="+mn-lt"/>
                <a:cs typeface="+mn-lt"/>
                <a:sym typeface="+mn-ea"/>
              </a:rPr>
              <a:t>服务不可用或系统</a:t>
            </a:r>
            <a:r>
              <a:rPr lang="en-US" altLang="zh-CN" sz="1600">
                <a:solidFill>
                  <a:srgbClr val="262626"/>
                </a:solidFill>
                <a:ea typeface="+mn-lt"/>
                <a:cs typeface="+mn-lt"/>
                <a:sym typeface="+mn-ea"/>
              </a:rPr>
              <a:t>“</a:t>
            </a:r>
            <a:r>
              <a:rPr lang="zh-CN" altLang="en-US" sz="1600">
                <a:solidFill>
                  <a:srgbClr val="262626"/>
                </a:solidFill>
                <a:ea typeface="+mn-lt"/>
                <a:cs typeface="+mn-lt"/>
                <a:sym typeface="+mn-ea"/>
              </a:rPr>
              <a:t>假死</a:t>
            </a:r>
            <a:r>
              <a:rPr lang="en-US" altLang="zh-CN" sz="1600">
                <a:solidFill>
                  <a:srgbClr val="262626"/>
                </a:solidFill>
                <a:ea typeface="+mn-lt"/>
                <a:cs typeface="+mn-lt"/>
                <a:sym typeface="+mn-ea"/>
              </a:rPr>
              <a:t>”</a:t>
            </a:r>
            <a:r>
              <a:rPr lang="zh-CN" altLang="en-US" sz="1600"/>
              <a:t>
</a:t>
            </a:r>
            <a:endParaRPr lang="zh-CN" altLang="en-US" sz="1600"/>
          </a:p>
          <a:p>
            <a:endParaRPr lang="zh-CN" altLang="en-US" sz="1600"/>
          </a:p>
          <a:p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87805" y="476885"/>
            <a:ext cx="8414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prstClr val="black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总结</a:t>
            </a:r>
            <a:endParaRPr lang="zh-CN" altLang="en-US" sz="32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5377" y="535242"/>
            <a:ext cx="847711" cy="738664"/>
            <a:chOff x="1062186" y="887468"/>
            <a:chExt cx="912375" cy="795011"/>
          </a:xfrm>
        </p:grpSpPr>
        <p:sp>
          <p:nvSpPr>
            <p:cNvPr id="9" name="椭圆 8"/>
            <p:cNvSpPr/>
            <p:nvPr/>
          </p:nvSpPr>
          <p:spPr>
            <a:xfrm>
              <a:off x="1062186" y="887468"/>
              <a:ext cx="795011" cy="795011"/>
            </a:xfrm>
            <a:prstGeom prst="ellipse">
              <a:avLst/>
            </a:prstGeom>
            <a:solidFill>
              <a:srgbClr val="3F345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9691" y="1141640"/>
              <a:ext cx="514870" cy="51487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924560" y="1713230"/>
            <a:ext cx="11087735" cy="343217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600" b="1"/>
              <a:t>从</a:t>
            </a:r>
            <a:r>
              <a:rPr lang="en-US" altLang="zh-CN" sz="1600" b="1"/>
              <a:t> Binder </a:t>
            </a:r>
            <a:r>
              <a:rPr lang="zh-CN" altLang="en-US" sz="1600" b="1"/>
              <a:t>风暴看系统鲁棒性设计</a:t>
            </a:r>
            <a:endParaRPr lang="zh-CN" altLang="en-US" sz="1600" b="1"/>
          </a:p>
          <a:p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应用行为也能触发系统级风险（</a:t>
            </a:r>
            <a:r>
              <a:rPr lang="en-US" altLang="zh-CN" sz="1600"/>
              <a:t>Binder</a:t>
            </a:r>
            <a:r>
              <a:rPr lang="zh-CN" altLang="en-US" sz="1600"/>
              <a:t>资源不是无限的）</a:t>
            </a:r>
            <a:endParaRPr lang="zh-CN" altLang="en-US" sz="1600"/>
          </a:p>
          <a:p>
            <a:endParaRPr lang="en-US" altLang="zh-CN" sz="1600"/>
          </a:p>
          <a:p>
            <a:r>
              <a:rPr lang="zh-CN" altLang="en-US" sz="1600"/>
              <a:t>日志是风暴的雷达</a:t>
            </a:r>
            <a:r>
              <a:rPr lang="en-US" altLang="zh-CN" sz="1600"/>
              <a:t>——</a:t>
            </a:r>
            <a:r>
              <a:rPr lang="zh-CN" altLang="en-US" sz="1600"/>
              <a:t>通过</a:t>
            </a:r>
            <a:r>
              <a:rPr lang="en-US" altLang="zh-CN" sz="1600"/>
              <a:t>binder trace</a:t>
            </a:r>
            <a:r>
              <a:rPr lang="zh-CN" altLang="en-US" sz="1600"/>
              <a:t>、</a:t>
            </a:r>
            <a:r>
              <a:rPr lang="en-US" altLang="zh-CN" sz="1600"/>
              <a:t>transaction</a:t>
            </a:r>
            <a:r>
              <a:rPr lang="zh-CN" altLang="en-US" sz="1600"/>
              <a:t>统计可提前预警</a:t>
            </a:r>
            <a:endParaRPr lang="zh-CN" altLang="en-US" sz="1600"/>
          </a:p>
          <a:p>
            <a:endParaRPr lang="en-US" altLang="zh-CN" sz="1600"/>
          </a:p>
          <a:p>
            <a:r>
              <a:rPr lang="en-US" altLang="zh-CN" sz="1600"/>
              <a:t>“Binder</a:t>
            </a:r>
            <a:r>
              <a:rPr lang="zh-CN" altLang="en-US" sz="1600"/>
              <a:t>风暴</a:t>
            </a:r>
            <a:r>
              <a:rPr lang="en-US" altLang="zh-CN" sz="1600"/>
              <a:t>”</a:t>
            </a:r>
            <a:r>
              <a:rPr lang="zh-CN" altLang="en-US" sz="1600"/>
              <a:t>让我意识到：系统稳定，不仅靠内核，更靠每一个应用的自律。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一个问题可能一时解决不了，但是可以进行对应的策略，比如在怀疑的地方加日志。等到发生的次数多了，就可以有分析的头绪了。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79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10294531" y="1282434"/>
            <a:ext cx="1667375" cy="1667375"/>
          </a:xfrm>
          <a:prstGeom prst="ellipse">
            <a:avLst/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86095" y="2865722"/>
            <a:ext cx="64722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仓耳渔阳体 W01" pitchFamily="18" charset="-122"/>
                <a:ea typeface="仓耳渔阳体 W01" pitchFamily="18" charset="-122"/>
                <a:sym typeface="Arial" panose="020B0604020202020204"/>
              </a:rPr>
              <a:t>谢谢观看</a:t>
            </a:r>
            <a:endParaRPr lang="zh-CN" altLang="en-US" sz="8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仓耳渔阳体 W01" pitchFamily="18" charset="-122"/>
              <a:ea typeface="仓耳渔阳体 W01" pitchFamily="18" charset="-122"/>
              <a:sym typeface="Arial" panose="020B0604020202020204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9840418" y="5505878"/>
            <a:ext cx="1303895" cy="418540"/>
            <a:chOff x="9264352" y="5197258"/>
            <a:chExt cx="1303895" cy="418540"/>
          </a:xfrm>
        </p:grpSpPr>
        <p:sp>
          <p:nvSpPr>
            <p:cNvPr id="20" name="矩形: 圆角 19"/>
            <p:cNvSpPr/>
            <p:nvPr/>
          </p:nvSpPr>
          <p:spPr>
            <a:xfrm>
              <a:off x="9264352" y="5197258"/>
              <a:ext cx="1303895" cy="41854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" dist="38100" dir="8100000" sx="101000" sy="101000" algn="tr" rotWithShape="0">
                <a:srgbClr val="0889AC">
                  <a:alpha val="3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264352" y="5268029"/>
              <a:ext cx="13038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rgbClr val="3F345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汇报人</a:t>
              </a:r>
              <a:r>
                <a:rPr lang="zh-CN" altLang="en-US" sz="1100" dirty="0" smtClean="0">
                  <a:solidFill>
                    <a:srgbClr val="3F345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：第一</a:t>
              </a:r>
              <a:r>
                <a:rPr lang="en-US" altLang="zh-CN" sz="1100" dirty="0" smtClean="0">
                  <a:solidFill>
                    <a:srgbClr val="3F3455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PPT</a:t>
              </a:r>
              <a:endParaRPr lang="zh-CN" altLang="en-US" sz="1100" dirty="0">
                <a:solidFill>
                  <a:srgbClr val="3F34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9425" y="692785"/>
            <a:ext cx="88798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参考课题：</a:t>
            </a:r>
            <a:endParaRPr lang="zh-CN" altLang="en-US"/>
          </a:p>
          <a:p>
            <a:r>
              <a:rPr lang="en-US" altLang="zh-CN"/>
              <a:t>OBSQ-3525</a:t>
            </a:r>
            <a:endParaRPr lang="zh-CN" altLang="en-US"/>
          </a:p>
          <a:p>
            <a:r>
              <a:rPr lang="en-US" altLang="zh-CN"/>
              <a:t>OBSQ-2469</a:t>
            </a:r>
            <a:endParaRPr lang="en-US" altLang="zh-CN"/>
          </a:p>
          <a:p>
            <a:r>
              <a:rPr lang="en-US" altLang="zh-CN"/>
              <a:t>OBSQ-2552</a:t>
            </a:r>
            <a:endParaRPr lang="en-US" altLang="zh-CN"/>
          </a:p>
          <a:p>
            <a:r>
              <a:rPr lang="en-US" altLang="zh-CN"/>
              <a:t>OBSQ-2537</a:t>
            </a:r>
            <a:endParaRPr lang="en-US" altLang="zh-CN"/>
          </a:p>
          <a:p>
            <a:r>
              <a:rPr lang="en-US" altLang="zh-CN"/>
              <a:t>MWLZ-410</a:t>
            </a:r>
            <a:endParaRPr lang="en-US" altLang="zh-CN"/>
          </a:p>
          <a:p>
            <a:r>
              <a:rPr lang="en-US" altLang="zh-CN"/>
              <a:t>JPOH-3974</a:t>
            </a:r>
            <a:endParaRPr lang="en-US" altLang="zh-CN"/>
          </a:p>
          <a:p>
            <a:r>
              <a:rPr lang="en-US" altLang="zh-CN"/>
              <a:t>1ASOP-1627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2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3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4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5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6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7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8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9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10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11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12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13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14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15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16.xml><?xml version="1.0" encoding="utf-8"?>
<p:tagLst xmlns:p="http://schemas.openxmlformats.org/presentationml/2006/main">
  <p:tag name="KSO_WM_DIAGRAM_VIRTUALLY_FRAME" val="{&quot;height&quot;:384.9583464566931,&quot;left&quot;:93.93425196850394,&quot;top&quot;:121.94062992125984,&quot;width&quot;:565.95}"/>
</p:tagLst>
</file>

<file path=ppt/tags/tag17.xml><?xml version="1.0" encoding="utf-8"?>
<p:tagLst xmlns:p="http://schemas.openxmlformats.org/presentationml/2006/main">
  <p:tag name="KSO_WM_DIAGRAM_VIRTUALLY_FRAME" val="{&quot;height&quot;:348.8305511811024,&quot;left&quot;:54.005669291338585,&quot;top&quot;:124.09173228346455,&quot;width&quot;:411.95921259842527}"/>
</p:tagLst>
</file>

<file path=ppt/tags/tag18.xml><?xml version="1.0" encoding="utf-8"?>
<p:tagLst xmlns:p="http://schemas.openxmlformats.org/presentationml/2006/main">
  <p:tag name="KSO_WM_DIAGRAM_VIRTUALLY_FRAME" val="{&quot;height&quot;:348.8305511811024,&quot;left&quot;:54.005669291338585,&quot;top&quot;:124.09173228346455,&quot;width&quot;:411.95921259842527}"/>
</p:tagLst>
</file>

<file path=ppt/tags/tag19.xml><?xml version="1.0" encoding="utf-8"?>
<p:tagLst xmlns:p="http://schemas.openxmlformats.org/presentationml/2006/main">
  <p:tag name="KSO_WM_DIAGRAM_VIRTUALLY_FRAME" val="{&quot;height&quot;:348.8305511811024,&quot;left&quot;:54.005669291338585,&quot;top&quot;:124.09173228346455,&quot;width&quot;:411.95921259842527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4156</Words>
  <Application>WPS 演示</Application>
  <PresentationFormat>自定义</PresentationFormat>
  <Paragraphs>208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15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Arial</vt:lpstr>
      <vt:lpstr>仓耳渔阳体 W01</vt:lpstr>
      <vt:lpstr>等线</vt:lpstr>
      <vt:lpstr>Arial Unicode MS</vt:lpstr>
      <vt:lpstr>等线 Light</vt:lpstr>
      <vt:lpstr>Calibri</vt:lpstr>
      <vt:lpstr>第一PPT，www.1ppt.com</vt:lpstr>
      <vt:lpstr>自定义设计方案</vt:lpstr>
      <vt:lpstr>3_第一PPT，www.1ppt.com</vt:lpstr>
      <vt:lpstr>4_第一PPT，www.1ppt.com</vt:lpstr>
      <vt:lpstr>1_第一PPT，www.1ppt.com</vt:lpstr>
      <vt:lpstr>5_第一PPT，www.1ppt.com</vt:lpstr>
      <vt:lpstr>2_第一PPT，www.1ppt.com</vt:lpstr>
      <vt:lpstr>8_第一PPT，www.1ppt.com</vt:lpstr>
      <vt:lpstr>7_第一PPT，www.1ppt.com</vt:lpstr>
      <vt:lpstr>9_第一PPT，www.1ppt.com</vt:lpstr>
      <vt:lpstr>10_第一PPT，www.1ppt.com</vt:lpstr>
      <vt:lpstr>11_第一PPT，www.1ppt.com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用户yy7890</cp:lastModifiedBy>
  <cp:revision>9</cp:revision>
  <dcterms:created xsi:type="dcterms:W3CDTF">2022-03-05T00:58:00Z</dcterms:created>
  <dcterms:modified xsi:type="dcterms:W3CDTF">2025-10-23T09:32:51Z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8CCC7A64BC2E4DD28517AD27970DD6DD_12</vt:lpwstr>
  </property>
  <property fmtid="{D5CDD505-2E9C-101B-9397-08002B2CF9AE}" pid="3" name="KSOProductBuildVer">
    <vt:lpwstr>2052-12.1.0.22525</vt:lpwstr>
  </property>
</Properties>
</file>