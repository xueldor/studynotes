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566" r:id="rId2"/>
    <p:sldId id="994" r:id="rId3"/>
    <p:sldId id="995" r:id="rId4"/>
    <p:sldId id="997" r:id="rId5"/>
    <p:sldId id="998" r:id="rId6"/>
    <p:sldId id="999" r:id="rId7"/>
    <p:sldId id="1000" r:id="rId8"/>
    <p:sldId id="1001" r:id="rId9"/>
    <p:sldId id="1002" r:id="rId10"/>
    <p:sldId id="1003" r:id="rId11"/>
    <p:sldId id="1004" r:id="rId12"/>
    <p:sldId id="996" r:id="rId13"/>
    <p:sldId id="1005" r:id="rId14"/>
    <p:sldId id="1006" r:id="rId15"/>
    <p:sldId id="1007" r:id="rId16"/>
    <p:sldId id="1008" r:id="rId17"/>
    <p:sldId id="1022" r:id="rId18"/>
    <p:sldId id="1009" r:id="rId19"/>
    <p:sldId id="1010" r:id="rId20"/>
    <p:sldId id="1011" r:id="rId21"/>
    <p:sldId id="1012" r:id="rId22"/>
    <p:sldId id="1013" r:id="rId23"/>
    <p:sldId id="1014" r:id="rId24"/>
    <p:sldId id="1015" r:id="rId25"/>
    <p:sldId id="1021" r:id="rId26"/>
    <p:sldId id="1016" r:id="rId27"/>
    <p:sldId id="1018" r:id="rId28"/>
    <p:sldId id="1017" r:id="rId29"/>
    <p:sldId id="1019" r:id="rId30"/>
    <p:sldId id="1020" r:id="rId31"/>
    <p:sldId id="969" r:id="rId32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2"/>
        </a:solidFill>
        <a:latin typeface="仿宋_GB2312" pitchFamily="49" charset="-122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E"/>
    <a:srgbClr val="D60000"/>
    <a:srgbClr val="EE0000"/>
    <a:srgbClr val="DEC92A"/>
    <a:srgbClr val="C09200"/>
    <a:srgbClr val="85C8CD"/>
    <a:srgbClr val="77C78A"/>
    <a:srgbClr val="DAEDEF"/>
    <a:srgbClr val="98E0AB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8942" autoAdjust="0"/>
  </p:normalViewPr>
  <p:slideViewPr>
    <p:cSldViewPr>
      <p:cViewPr varScale="1">
        <p:scale>
          <a:sx n="116" d="100"/>
          <a:sy n="116" d="100"/>
        </p:scale>
        <p:origin x="138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82"/>
    </p:cViewPr>
  </p:sorterViewPr>
  <p:notesViewPr>
    <p:cSldViewPr>
      <p:cViewPr varScale="1">
        <p:scale>
          <a:sx n="57" d="100"/>
          <a:sy n="57" d="100"/>
        </p:scale>
        <p:origin x="-260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5900E12B-3E03-4C16-A562-2C038B3EB4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731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1FAF5E0-AD62-43B9-9D20-DCBCFD5FE5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9740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FAF5E0-AD62-43B9-9D20-DCBCFD5FE5A6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95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8" descr="页眉二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9" descr="公司logo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6659563" y="19050"/>
            <a:ext cx="2255837" cy="54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仿宋_GB2312" pitchFamily="49" charset="-122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宋体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32" y="0"/>
            <a:ext cx="9144032" cy="6858000"/>
            <a:chOff x="0" y="0"/>
            <a:chExt cx="9286940" cy="6858000"/>
          </a:xfrm>
        </p:grpSpPr>
        <p:pic>
          <p:nvPicPr>
            <p:cNvPr id="14" name="Picture 2" descr="大楼背景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0"/>
              <a:ext cx="9144000" cy="4524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3" descr="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42940" y="3573463"/>
              <a:ext cx="9144000" cy="3284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1026" name="Object 129"/>
          <p:cNvGraphicFramePr>
            <a:graphicFrameLocks noChangeAspect="1"/>
          </p:cNvGraphicFramePr>
          <p:nvPr/>
        </p:nvGraphicFramePr>
        <p:xfrm>
          <a:off x="5678488" y="5935663"/>
          <a:ext cx="285432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" r:id="rId6" imgW="2767320" imgH="602280" progId="">
                  <p:embed/>
                </p:oleObj>
              </mc:Choice>
              <mc:Fallback>
                <p:oleObj r:id="rId6" imgW="2767320" imgH="602280" progId="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488" y="5935663"/>
                        <a:ext cx="2854325" cy="588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0" name="Picture 6" descr="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5288" y="6165850"/>
            <a:ext cx="25209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 descr="条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4365625"/>
            <a:ext cx="370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130"/>
          <p:cNvSpPr txBox="1">
            <a:spLocks noChangeArrowheads="1"/>
          </p:cNvSpPr>
          <p:nvPr/>
        </p:nvSpPr>
        <p:spPr bwMode="auto">
          <a:xfrm>
            <a:off x="3347973" y="351645"/>
            <a:ext cx="5802851" cy="412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endParaRPr lang="en-US" altLang="zh-CN" b="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基于高通</a:t>
            </a:r>
            <a:r>
              <a:rPr lang="en-US" altLang="zh-CN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8155</a:t>
            </a:r>
            <a:r>
              <a:rPr lang="zh-CN" altLang="en-US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平台</a:t>
            </a:r>
            <a:r>
              <a:rPr lang="en-US" altLang="zh-CN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Android R</a:t>
            </a:r>
            <a:r>
              <a:rPr lang="zh-CN" altLang="en-US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版本的</a:t>
            </a:r>
            <a:r>
              <a:rPr lang="en-US" altLang="zh-CN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简介及调试方法</a:t>
            </a:r>
            <a:endParaRPr lang="en-US" altLang="zh-CN" sz="36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50000"/>
              </a:spcBef>
            </a:pPr>
            <a:endParaRPr lang="en-US" altLang="zh-CN" sz="2400" b="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Android</a:t>
            </a:r>
            <a:r>
              <a:rPr lang="zh-CN" altLang="en-US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系统服务</a:t>
            </a:r>
            <a:r>
              <a:rPr lang="en-US" altLang="zh-CN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姚鑫</a:t>
            </a:r>
            <a:endParaRPr lang="en-US" altLang="zh-CN" sz="2400" b="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2025-4-10</a:t>
            </a:r>
            <a:endParaRPr lang="en-US" altLang="zh-CN" sz="2400" b="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57158" y="4786322"/>
            <a:ext cx="396044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square">
            <a:spAutoFit/>
          </a:bodyPr>
          <a:lstStyle/>
          <a:p>
            <a:pPr algn="just"/>
            <a:r>
              <a:rPr lang="zh-CN" altLang="en-US" sz="2000">
                <a:solidFill>
                  <a:schemeClr val="tx1"/>
                </a:solidFill>
                <a:latin typeface="仿宋" pitchFamily="49" charset="-122"/>
                <a:ea typeface="仿宋" pitchFamily="49" charset="-122"/>
              </a:rPr>
              <a:t>航盛</a:t>
            </a:r>
            <a:r>
              <a:rPr lang="zh-CN" altLang="en-US" sz="2000" smtClean="0">
                <a:solidFill>
                  <a:schemeClr val="tx1"/>
                </a:solidFill>
                <a:latin typeface="仿宋" pitchFamily="49" charset="-122"/>
                <a:ea typeface="仿宋" pitchFamily="49" charset="-122"/>
              </a:rPr>
              <a:t>电子武汉技术</a:t>
            </a:r>
            <a:r>
              <a:rPr lang="zh-CN" altLang="en-US" sz="2000">
                <a:solidFill>
                  <a:schemeClr val="tx1"/>
                </a:solidFill>
                <a:latin typeface="仿宋" pitchFamily="49" charset="-122"/>
                <a:ea typeface="仿宋" pitchFamily="49" charset="-122"/>
              </a:rPr>
              <a:t>中心</a:t>
            </a:r>
            <a:endParaRPr lang="en-US" altLang="zh-CN" sz="2000">
              <a:solidFill>
                <a:schemeClr val="tx1"/>
              </a:solidFill>
              <a:latin typeface="仿宋" pitchFamily="49" charset="-122"/>
              <a:ea typeface="仿宋" pitchFamily="49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zh-CN" altLang="en-US" sz="3600" kern="0">
                <a:latin typeface="微软雅黑" pitchFamily="34" charset="-122"/>
                <a:ea typeface="微软雅黑" pitchFamily="34" charset="-122"/>
                <a:cs typeface="+mj-cs"/>
              </a:rPr>
              <a:t>目录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6112" y="1124744"/>
            <a:ext cx="83198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AutoNum type="arabicPeriod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的休眠机制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FontTx/>
              <a:buAutoNum type="arabicPeriod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的休眠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FontTx/>
              <a:buAutoNum type="arabicPeriod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异常处理设计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FontTx/>
              <a:buAutoNum type="arabicPeriod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AutoNum type="arabicPeriod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各模块功能事项介绍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930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的休眠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7323" y="836712"/>
            <a:ext cx="87849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休眠的主要意义在于省电，休眠是内核的核心工作，大部分工作已经由平台支持并实现。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休眠根据不同实现方式，一般分为以下四种模式：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Freeze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这是一种通用、纯软件、轻量级、低功耗的省电模式。通过冻结用户空间，使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不处理用户空间的应用来节省更多的电力，并将所有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设备置于低功耗状态（可能低于运行时可用的功率），使得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可以花更多的时间在空闲状态下。此模式可用于没有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Standby/STR/STD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支持的平台，它还可以在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时使用以减少恢复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延迟。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Standby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提供了最小的运行功率，同时提供了返回到工作系统的非常低的延迟转换。没有丢失任何操作状态（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保留电源），因此系统可以轻松地从中断的地方重新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启动。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Suspend to RAM(STR)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这种状态可以显著节省电源，因为系统中的所有设备都处于低功耗状态，但内存除外，内存处于自刷新模式以保留其内容。在大多数情况下，所有外围总线在进入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时都会断电，因此设备必须能够处理返回到正常状态的转换。一般来说，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需要一些最小的引导绑定代码才能从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Suspend to disk(STD)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这种状态可以最大程度地节省电源。此状态的操作类似于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，但最后一步会将内存内容写入磁盘。在恢复时，它被读取，内存被恢复到其预挂起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状态。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356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的休眠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可以通过以下指令查询系统支持的休眠模式：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 /</a:t>
            </a:r>
            <a:r>
              <a:rPr lang="en-US" altLang="zh-CN" sz="16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sys/power/state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在高通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系统中执行指令，可以看到系统支持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freeze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mem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中模式。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可以用系统支持的模式，运行如下命令，让系统进入响应的休眠：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</a:t>
            </a:r>
            <a:r>
              <a:rPr lang="en-US" altLang="zh-CN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</a:t>
            </a:r>
            <a:r>
              <a:rPr lang="en-US" altLang="zh-CN" sz="16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&gt; /sys/power/state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/sys/power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目录下，还有其他文件，比较重要的如下：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1./sys/power/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soc_sleep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/stats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系统从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唤醒后，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aosd,cxsd,ddr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Count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应增加，可作为是否成功进入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的验证。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78" y="1672712"/>
            <a:ext cx="3524250" cy="466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02" y="3573016"/>
            <a:ext cx="3330485" cy="299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7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的休眠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./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sys/power/</a:t>
            </a:r>
            <a:r>
              <a:rPr lang="en-US" altLang="zh-CN" sz="18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rpmh_stats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master_stats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rpmh_stats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指资源和电源管理总线（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Resource and Power Management Bus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）的统计信息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ADSP,CDSP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唤醒后会变化。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./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sys/power/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pm_freeze_timeout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用于配置系统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在用户空间冻结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）进入省电状态时的超时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时间，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通默认配置为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20000(20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22" y="1675435"/>
            <a:ext cx="4099562" cy="344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0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的休眠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4./sys/power/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pm_debug_messages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是否输出电源管理的调试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消息，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：不输出，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：输出，默认为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5./sys/power/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wake_lock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存储或管理与唤醒锁相关的信息的文件或路径。可能包括唤醒锁的状态、持有者、持有时间等。通过获取唤醒锁，应用程序或系统可以阻止设备进入休眠，以便完成需要持续运行的任务，如播放音乐、下载文件或进行实时通信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实际车载使用的是强制进入休眠接口，不会读取和处理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wake_lock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6.sys/power/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mem_sleep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了内存休眠的配置选项，用于控制设备在深睡眠状态下内存的休眠方式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高通默认为 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s2idle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[deep]</a:t>
            </a: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33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817802"/>
            <a:ext cx="6363010" cy="578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8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520" y="785794"/>
            <a:ext cx="87849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休眠分为以下几个阶段：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1.Freeze Tasks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（任务冻结）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冻结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进程包括冻结用户空间进程和内核线程，用户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空间进程通常在内核线程之前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冻结。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2.Device Suspend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（设备休眠）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遍历所有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，并调用他们相关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driver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指针。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调用的先后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次序为：当执行</a:t>
            </a:r>
            <a:r>
              <a:rPr lang="en-US" altLang="zh-CN" sz="18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device_add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的时候，这些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会被加到一个</a:t>
            </a:r>
            <a:r>
              <a:rPr lang="en-US" altLang="zh-CN" sz="18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dpm_list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而且后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会出现在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的靠前位置。也就是说，早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会晚一点被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，最后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会第一个被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28695"/>
            <a:ext cx="6984776" cy="267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63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520" y="785794"/>
            <a:ext cx="87849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3.Nonboot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Offline</a:t>
            </a: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休眠时，会保留一个核去响应唤醒，被称为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Boot CPU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，因此这里的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Nonboot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CPU Offline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即把所有非用于唤醒的核停止工作。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4.Disable 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irqs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（关闭中断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关闭核心中断，禁止后，中断无法打断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5.System Core Suspend</a:t>
            </a: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，主要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clock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关闭及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大部分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的驱动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最后，如果系统成功进入休眠，会拉高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25m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项目为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PMM855_SLEEP_TO_MCU_3V3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引脚。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监控到引脚变化后，则会关闭外设的使能并使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进入低功耗状态。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776831"/>
            <a:ext cx="6544380" cy="221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2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520" y="785794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唤醒分为以下几个阶段：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在收到唤醒报文或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ACC ON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信号后，会拉高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25m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项目配置的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MCU_TO_SOC_GPIO_10_S4A_1P8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唤醒流程基本与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是颠倒对应的：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1.System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Core 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，重新开启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clock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驱动。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2.Enable 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irqs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（启用中断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开启核心中断。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3.Nonboot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Online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唤醒所有非用于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唤醒的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4.Device 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（设备唤醒）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遍历所有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，并调用他们相关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driver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函数指针。和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相反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会最后一个被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5.Restart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Tasks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解冻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先解冻内核线程，再解冻用户空间进程。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771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520" y="785794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唤醒分为以下几个阶段：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在收到唤醒报文或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ACC ON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信号后，会拉高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25m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项目配置的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MCU_TO_SOC_GPIO_10_S4A_1P8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唤醒流程基本与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是颠倒对应的：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1.System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Core 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，重新开启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clock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驱动。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2.Enable 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irqs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（启用中断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开启核心中断。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3.Nonboot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Online</a:t>
            </a: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唤醒所有非用于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唤醒的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4.Device 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（设备唤醒）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遍历所有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，并调用他们相关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driver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函数指针。和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相反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会最后一个被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5.Restart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Tasks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解冻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先解冻内核线程，再解冻用户空间进程。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926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唤醒流程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原生车载系统中，进入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CarService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中调用：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mICarServiceHelper.forceSuspend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(SUSPEND_TRY_TIMEOUT_MS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/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调用时序图如下：</a:t>
            </a:r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如果再</a:t>
            </a:r>
            <a:r>
              <a:rPr lang="en-US" altLang="zh-CN" sz="1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HAL</a:t>
            </a:r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层，可以直接调用</a:t>
            </a:r>
            <a:r>
              <a:rPr lang="en-US" altLang="zh-CN" sz="1800" b="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autosuspend.c</a:t>
            </a:r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中的方法即可进入</a:t>
            </a:r>
            <a:r>
              <a:rPr lang="en-US" altLang="zh-CN" sz="1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647569"/>
            <a:ext cx="8437145" cy="444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4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异常处理设计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基本会涉及到系统大部分模块，因此需要对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进行异常处理设计：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流程中，主要异常处理有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次。该设计主要用于处理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freeze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tasks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失败，设备暂时繁忙等异常，偶尔无法进入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，可尝试再次进入。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96752"/>
            <a:ext cx="870442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7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异常处理设计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2.MCU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检测到车身报文停发，会给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发可以进入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的消息，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同时开启一个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分钟的计时器，如果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分钟内未收到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成功或失败的消息，则认为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处于异常状态，直接给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下电，然后自身进入低功耗模式。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3.MCU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拉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时，会同时开启一个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15s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的计时器，如果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秒内未收到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握手消息，则认为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处于异常状态，直接给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复位重启。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117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硬件：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为了调试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，需要飞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根线如下：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PMM855_SLEEP_TO_MCU_3V3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：可以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后测量电压是否拉高（根据硬件设计可能不同）到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3.3V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，确认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是否成功进入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MCU_TO_SOC_GPIO_10_S4A_1P8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：用于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异常时，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没收到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的通知，无法唤醒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，可以用这个引脚唤醒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PMIC</a:t>
            </a:r>
            <a:r>
              <a:rPr lang="zh-CN" altLang="en-US" sz="18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3.3V</a:t>
            </a:r>
            <a:r>
              <a:rPr lang="zh-CN" altLang="en-US" sz="18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电压引脚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：用于配合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MCU_TO_SOC_GPIO_10_S4A_1P8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日志需要唤醒后才能全部输出，因此飞线是很有必要的。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软件：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命令手动进入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的方法如下：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svc 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disable //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svc 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bluetooth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disable //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关闭蓝牙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 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audiod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//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停止音频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none &gt; /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sys/bus/platform/devices/a600000.ssusb/mode //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禁用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settings put secure 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location_mode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//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</a:p>
          <a:p>
            <a:pPr algn="l"/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mem &gt; /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sys/power/state //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，进入休眠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678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命令打开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调试日志：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/d/tracing/events/power/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suspend_resume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/enable</a:t>
            </a: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/sys/module/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msm_show_resume_irq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/parameters/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debug_mask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debug_suspend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trace_clocks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/sys/kernel/debug/tracing/trace</a:t>
            </a: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/sys/kernel/debug/tracing/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tracing_on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/sys/module/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printk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/parameters/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ignore_loglevel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dummy &gt; /sys/power/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wake_lock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dummy &gt; /sys/power/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wake_unlock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"" &gt; /sys/kernel/debug/tracing/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set_event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90000 &gt; /sys/kernel/debug/tracing/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buffer_size_kb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"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power:suspend_resume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&gt; /sys/kernel/debug/tracing/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set_event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msm_bus:bus_update_request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&gt; /sys/kernel/debug/tracing/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set_event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/sys/kernel/debug/tracing/events/power/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suspend_resume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/enable</a:t>
            </a: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/sys/module/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msm_show_resume_irq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/parameters/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debug_mask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debug_suspend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trace_clocks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/sys/power/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pm_debug_messages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/d/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debug_suspend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mount -t 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debugfs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none /sys/kernel/debug mv</a:t>
            </a: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/sys/kernel/debug/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debug_suspend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32 &gt; /sys/module/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msm_pm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/parameters/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debug_mask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8 &gt; /sys/module/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mpm_of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/parameters/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debug_mask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8 4 1 7 &gt; /proc/sys/kernel/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printk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867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禁用控制台休眠，以便输出完整的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日志：</a:t>
            </a: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禁用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控制台休眠后，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一定无法拉高引脚通知到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，也就是说会进入假休眠。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配合修改：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超时机制，避免出现冷启动无法查看日志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2.ACC ON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后尝试拉起一次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wake up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脚，唤醒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</a:p>
          <a:p>
            <a:pPr algn="l"/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此方案的目的是自动化测试时，可以使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前的日志输出完整，避免因日志没有正常输出导致无法定位问题。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端的修改如下：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kernel/msm-5.4/kernel/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printk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printk.c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5922"/>
            <a:ext cx="9144000" cy="260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8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后卡住，串口不能输入输出，给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通知的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没有通知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操作及分析：手动唤醒机器，发现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/sys/power/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soc_sleep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/stats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计数没有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失败了，查看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kenrel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日志如下：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[ 136.013002] PM: suspend entry (deep)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[ 136.041440] Filesystems sync: 0.024 seconds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[ 136.045880] Freezing user space processes ... (elapsed 0.009 seconds) done.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[ 136.063094] OOM killer disabled.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[ 136.066454] Freezing remaining freezable tasks ... (elapsed 0.004 seconds) done</a:t>
            </a:r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l"/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[ 136.104128] CAM_INFO: CAM-SENSOR: </a:t>
            </a:r>
            <a:r>
              <a:rPr lang="en-US" altLang="zh-CN" sz="1200" b="0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cam_sensor_driver_cmd</a:t>
            </a:r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1080 sensor i2c power down start</a:t>
            </a:r>
          </a:p>
          <a:p>
            <a:pPr algn="l"/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136.121032] CAM_INFO: CAM-SENSOR: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cam_sensor_driver_cmd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1080 sensor i2c power down start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[ 136.131096]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msm_geni_serial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c8c000.qcom,qup_uart: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msm_geni_serial_sys_suspend:Active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userspace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vote;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ioctl_cnt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[ 136.141594] PM: </a:t>
            </a:r>
            <a:r>
              <a:rPr lang="en-US" altLang="zh-CN" sz="1200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dpm_run_callback</a:t>
            </a:r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(): platform_pm_suspend.cfi_jt+0x0/0x4 returns -16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[ 136.149396] PM: Device c8c000.qcom,qup_uart failed to suspend: error -16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[ 136.156306] PM: Some devices failed to suspend, or early wake event detected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[ 136.163817] CAM_INFO: CAM-SENSOR: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cam_sensor_driver_cmd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1073 sensor i2c power up start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[ 136.163966] 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drm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]max96755_bridge_mode_valid@217:[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hsae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enter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[ 136.172544] CAM_INFO: CAM-CPAS: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cam_cpas_hw_start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1093 AXI client=[4][cci][0] comp[1024],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comp_ab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[1024],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uncomp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[1024]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[ 136.177930] 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drm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]max96755_bridge_mode_valid@89:[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hsae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enter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[ 136.189626] CAM_INFO: CAM-SENSOR: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cam_sensor_driver_cmd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1073 sensor i2c power up start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[ 136.197002] 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drm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]max96755_bridge_mode_set@246:[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hsae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 [ 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136.238670] OOM killer enabled.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[ 136.241932] Restarting tasks ... done.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[ 136.252525] Abort: Callback failed on c8c000.qcom,qup_uart in platform_pm_suspend.cfi_jt+0x0/0x4 returned -16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[ 136.262851] PM: suspend </a:t>
            </a:r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exit</a:t>
            </a:r>
          </a:p>
          <a:p>
            <a:pPr algn="l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如果是某一个模块阻止了休眠，一般会有如上类似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打印，排查这类问题就需要根据模块和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device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的信息查找对应的模块，也可以找驱动人员协助。比如这个例子中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c8c000.qcom,qup_uart 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模块导致的。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795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后卡住，串口不能输入输出，给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通知的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没有通知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操作及分析：手动唤醒机器，发现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/sys/power/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soc_sleep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/stats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计数没有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失败了，查看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kenrel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日志如下：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[ 88.672737] PM: suspend entry (deep)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[ 88.701234] Filesystems sync: 0.024 seconds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[ 88.706084] Freezing user space processes ... (elapsed 0.039 seconds) done.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[ 88.752704] OOM killer disabled.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[ 88.757508] Freezing remaining freezable tasks ... (elapsed 0.004 seconds) done.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[ 88.959320] CPU: 0 PID: 0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swapper/0 Tainted: G S W 5.4.86-qgki-debug-00035-g11e8f75d97d8-dirty #11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[ 88.970210] Hardware name: ADP-STAR (DT</a:t>
            </a:r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[ 89.048253] Disabling non-boot CPUs ...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[ 89.052233] Wakeup pending. Abort CPU freeze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[ 89.056704] Non-boot CPUs are not disabled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[ 89.093566] 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drm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]max96755_bridge_mode_valid@217:[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hsae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enter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[ 89.094434] CAM_INFO: CAM-SENSOR: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cam_sensor_driver_cmd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1073 sensor i2c power up start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[ 89.099434] 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drm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]max96755_bridge_mode_valid@89:[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hsae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enter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[ 89.108376] CAM_INFO: CAM-CPAS: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cam_cpas_hw_start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1093 AXI client=[4][cci][0] comp[1024],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comp_ab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[1024],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uncomp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[1024</a:t>
            </a:r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l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该错误的原因是在休眠的过程中，发现已经有唤醒的中断触发了，从而休眠过程被终止。可以在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中增加调试信息来判断是哪个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中断触发的。最后根据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中打印的中断号，使用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 /proc/interrupts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来查询对应的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，以便修改外设驱动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5065424"/>
            <a:ext cx="7272808" cy="160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3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后卡住一段时间（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20s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autosuspend_force_suspend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方法返回失败。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操作及分析：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/sys/power/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soc_sleep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/stats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计数没有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kenrel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日志如下：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PM: suspend entry (shallow)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PM: Syncing filesystems ... done.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Freezing user space processes ...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Freezing of tasks failed after 20.003 seconds (1 tasks refusing to freeze, </a:t>
            </a:r>
            <a:r>
              <a:rPr lang="en-US" altLang="zh-CN" sz="1200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wq_busy</a:t>
            </a:r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=0):</a:t>
            </a: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可以发现还是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Freeze Tasks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阶段有进程阻止了休眠，需要进一步错误信息，可以做如下修改增加信息输出：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信息输出后，重现问题，可以输出错误详细信息如下：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6" y="2729333"/>
            <a:ext cx="5364088" cy="314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7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2700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是进程号，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3157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线程号，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该线程阻止了休眠，线程名称是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SDKEngineSub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。查看进程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2700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，发现是百度地图进程，用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-A -T | grep 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“2700”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查看具体线程如下：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可以发现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3157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线程，线程名也一致。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具体是调用了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fuse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request_wait_anwer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导致无法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freeze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该线程。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修改方案是合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入了芯驰的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补丁，在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fuse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处于空闲时检测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状态，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阻塞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fuse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操作，避免卡住。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08720"/>
            <a:ext cx="5472608" cy="30341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7" y="4437112"/>
            <a:ext cx="7708473" cy="115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2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后卡住，串口不能输入输出，给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通知的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没有通知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操作及分析：手动唤醒机器，发现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/sys/power/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soc_sleep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/stats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计数没有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失败了，查看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kenrel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日志，无任何异常输出。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类异常一般为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时钟停止异常，需要打开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日志如下：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然后编译系统刷写后，还需要输入如下指令，输出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的日志：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sys/kernel/debug/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debug_suspend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&gt; /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sys/kernel/debug/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trace_clocks</a:t>
            </a:r>
            <a:endParaRPr lang="en-US" altLang="zh-CN" sz="14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&gt; /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sys/kernel/debug/tracing/trace</a:t>
            </a:r>
          </a:p>
          <a:p>
            <a:pPr algn="l"/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echo 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&gt; /</a:t>
            </a:r>
            <a:r>
              <a:rPr lang="en-US" altLang="zh-CN" sz="1400" b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sys/kernel/debug/tracing/</a:t>
            </a:r>
            <a:r>
              <a:rPr lang="en-US" altLang="zh-CN" sz="1400" b="0" dirty="0" err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tracing_on</a:t>
            </a:r>
            <a:endParaRPr lang="en-US" altLang="zh-CN" sz="1600" b="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重现问题，手动唤醒机器，查看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日志，出现如下异常：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6" y="1844824"/>
            <a:ext cx="7725048" cy="211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2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91.959342] CPU7: shutdown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91.959440]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psci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CPU7 killed (polled 0 </a:t>
            </a:r>
            <a:r>
              <a:rPr lang="en-US" altLang="zh-CN" sz="12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Enabled clocks: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npu_cc_xo_clk:1:1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disp_cc_xo_clk:1:1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cam_cc_gdsc_clk:1:1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video_cc_xo_clk:1:1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gpu_cc_ahb_clk:1:1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gcc_video_xo_clk:1:1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gcc_video_ahb_clk:2:2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gcc_sys_noc_cpuss_ahb_clk:1:1 [19200000] -&gt; gcc_cpuss_ahb_clk_src:2:2 [19200000, 1] -&gt; bi_tcxo_ao:1:1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gcc_pcie_phy_refgen_clk_src:1:1 [19200000, 1] -&gt; bi_tcxo:3:3 [19200000] -&gt; xo_board:2:2 [38400000</a:t>
            </a:r>
            <a:r>
              <a:rPr lang="en-US" altLang="zh-CN" sz="12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l"/>
            <a:r>
              <a:rPr lang="en-US" altLang="zh-CN" sz="12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</a:t>
            </a:r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91.963231]     	gcc_pcie_phy_aux_clk:1:1 [19200000] -&gt; gcc_pcie_0_aux_clk_src:2:2 [19200000, 1] -&gt; bi_tcxo:3:3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gcc_pcie_0_slv_q2a_axi_clk:1:1 [0]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gcc_pcie_0_slv_axi_clk:1:1 [0]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gcc_pcie_0_pipe_clk:1:1 [0]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gcc_pcie_0_mstr_axi_clk:1:1 [0]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gcc_pcie_0_clkref_clk:1:1 [0]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gcc_pcie_0_cfg_ahb_clk:1:1 [0]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gcc_pcie_0_aux_clk_src:2:2 [19200000, 1] -&gt; bi_tcxo:3:3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gcc_pcie_0_aux_clk:1:1 [19200000] -&gt; gcc_pcie_0_aux_clk_src:2:2 [19200000, 1] -&gt; bi_tcxo:3:3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gcc_pcie0_phy_refgen_clk:1:1 [19200000] -&gt; gcc_pcie_phy_refgen_clk_src:1:1 [19200000, 1] -&gt; bi_tcxo:3:3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gcc_npu_cfg_ahb_clk:1:1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gcc_gpu_cfg_ahb_clk:1:1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gcc_disp_xo_clk:1:1 [0</a:t>
            </a:r>
            <a:r>
              <a:rPr lang="en-US" altLang="zh-CN" sz="1200" b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438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gcc_disp_ahb_clk:2:2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gcc_cpuss_gnoc_clk:1:1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gcc_cpuss_dvm_bus_clk:1:1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gcc_cpuss_ahb_clk_src:2:2 [19200000, 1] -&gt; bi_tcxo_ao:1:1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gcc_cpuss_ahb_clk:1:1 [19200000] -&gt; gcc_cpuss_ahb_clk_src:2:2 [19200000, 1] -&gt; bi_tcxo_ao:1:1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gcc_camera_xo_clk:1:1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gcc_camera_ahb_clk:2:2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gcc_aggre_noc_pcie_tbu_clk:1:1 [0]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bi_tcxo_ao:1:1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bi_tcxo:3:3 [19200000] -&gt; xo_board:2:2 [38400000]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qdss_qmp_clk:10:10 [1]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    	xo_board:2:2 [38400000]</a:t>
            </a:r>
          </a:p>
          <a:p>
            <a:pPr algn="l"/>
            <a:r>
              <a:rPr lang="en-US" altLang="zh-CN" sz="12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 91.963231] Enabled clock count: 34</a:t>
            </a: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这里从日志就可以看出是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pcie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的问题，可以交给驱动处理。驱动后面定位为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模块的问题，联系供应商修复了。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目前此类问题发现的还有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camera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未关闭时，也会报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时钟错误。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383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后卡住，串口不能输入输出，给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通知的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没有通知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操作及分析：手动唤醒机器，发现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/sys/power/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soc_sleep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/stats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计数没有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失败了，查看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kenrel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日志，无任何异常输出。打开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时钟日志，还是没有发现异常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此问题当时必现，经过多次复现，发现这种假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，使用如下指令：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 /sys/power/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rpmh_stats</a:t>
            </a:r>
            <a:r>
              <a:rPr lang="en-US" altLang="zh-CN" sz="1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b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master_stats</a:t>
            </a:r>
            <a:endParaRPr lang="en-US" altLang="zh-CN" sz="1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ADSP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计数没有变化。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由此判断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失败和音频有关，后来发现是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a2b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前没有关闭导致。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该类问题目前没有找到更好的日志定位方法，此实例仅供参考。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259825"/>
            <a:ext cx="7200800" cy="292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1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唤醒后死机：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和高通死机问题一样，需要按如下步骤处理：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编译版本中的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vmlinux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文件需要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预先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保存下来，否则高通无法分析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out/target/product/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msmnile_au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obj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/kernel/msm-5.4/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vmlinux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IPC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，否则无法分析出比较具体的原因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QPST Configuration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后会自动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dump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内存，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dump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完成后机器会自动重启，文件通常保存在如下路径：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C:\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ProgramData\Qualcomm\QPST\Sahara\</a:t>
            </a:r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dump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出来的数据和内存一致，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25m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项目是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，该内容目前我们自己无法分析，需要交给高通使用内部工具解析。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8" y="3798580"/>
            <a:ext cx="2770581" cy="19359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58" y="2040606"/>
            <a:ext cx="7976854" cy="146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6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64096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唤醒后低概率系统卡顿，屏幕过一会儿黑屏：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logcat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日志，发现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AudioServer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AudioFlinger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反复崩溃，导致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system_server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进程卡顿，出现黑屏：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日志，发现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saf775c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唤醒后，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write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失败，后续一直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 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error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驱动分析为时序问题，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在唤醒后处于不可用状态，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saf775c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尝试初始化失败，需要添加重试机制。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 descr="http://39.108.56.240/biz/file-read-426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728976" cy="187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39.108.56.240/biz/file-read-426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00" y="3789041"/>
            <a:ext cx="6686472" cy="234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84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78497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25m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性能指标：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b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406787"/>
              </p:ext>
            </p:extLst>
          </p:nvPr>
        </p:nvGraphicFramePr>
        <p:xfrm>
          <a:off x="323528" y="1124744"/>
          <a:ext cx="8496945" cy="2865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32315"/>
                <a:gridCol w="2832315"/>
                <a:gridCol w="2832315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条目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性能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写入</a:t>
                      </a:r>
                      <a:r>
                        <a:rPr lang="en-US" altLang="zh-CN" dirty="0" smtClean="0"/>
                        <a:t>mem</a:t>
                      </a:r>
                      <a:r>
                        <a:rPr lang="zh-CN" altLang="en-US" dirty="0" smtClean="0"/>
                        <a:t>到进入</a:t>
                      </a:r>
                      <a:r>
                        <a:rPr lang="en-US" altLang="zh-CN" dirty="0" smtClean="0"/>
                        <a:t>STR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&lt;500ms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STR</a:t>
                      </a:r>
                      <a:r>
                        <a:rPr lang="zh-CN" altLang="en-US" dirty="0" smtClean="0"/>
                        <a:t>休眠后暗电流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8mA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</a:t>
                      </a:r>
                      <a:r>
                        <a:rPr lang="zh-CN" altLang="en-US" dirty="0" smtClean="0"/>
                        <a:t>℃室温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STR</a:t>
                      </a:r>
                      <a:r>
                        <a:rPr lang="zh-CN" altLang="en-US" dirty="0" smtClean="0"/>
                        <a:t>唤醒到热启动握手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&lt;1s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STR</a:t>
                      </a:r>
                      <a:r>
                        <a:rPr lang="zh-CN" altLang="en-US" dirty="0" smtClean="0"/>
                        <a:t>唤醒到亮屏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&lt;5s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依赖于</a:t>
                      </a:r>
                      <a:r>
                        <a:rPr lang="en-US" altLang="zh-CN" dirty="0" smtClean="0"/>
                        <a:t>display</a:t>
                      </a:r>
                      <a:r>
                        <a:rPr lang="zh-CN" altLang="en-US" dirty="0" smtClean="0"/>
                        <a:t>驱动优化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STR</a:t>
                      </a:r>
                      <a:r>
                        <a:rPr lang="zh-CN" altLang="en-US" dirty="0" smtClean="0"/>
                        <a:t>唤醒到可出声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&lt;4s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理论上还能更短，无此需求保证无</a:t>
                      </a:r>
                      <a:r>
                        <a:rPr lang="en-US" altLang="zh-CN" dirty="0" smtClean="0"/>
                        <a:t>pop</a:t>
                      </a:r>
                      <a:r>
                        <a:rPr lang="zh-CN" altLang="en-US" dirty="0" smtClean="0"/>
                        <a:t>音即可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STR</a:t>
                      </a:r>
                      <a:r>
                        <a:rPr lang="zh-CN" altLang="en-US" dirty="0" smtClean="0"/>
                        <a:t>休眠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唤醒稳定性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失败率</a:t>
                      </a:r>
                      <a:r>
                        <a:rPr lang="en-US" altLang="zh-CN" dirty="0" smtClean="0"/>
                        <a:t>&lt;1/10000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82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各模块功能事项介绍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6409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唤醒后低概率系统卡顿，屏幕过一会儿黑屏：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是一个系统性功能，模块主要事项为：</a:t>
            </a:r>
          </a:p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MCU 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(1)SOC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成功后，会拉高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 : PMM855_SLEEP_TO_MCU_3V3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需要在收到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信号后，再给外设掉电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休眠方式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给内存和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PMIC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掉电）。</a:t>
            </a:r>
          </a:p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(2)MCU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唤醒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，需要拉高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 : MCU_TO_SOC_GPIO_10_S4A_1P8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，这个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来配置。</a:t>
            </a:r>
          </a:p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失败或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超时，需要保护性掉电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/>
          <p:nvPr/>
        </p:nvPicPr>
        <p:blipFill>
          <a:blip r:embed="rId2"/>
          <a:stretch>
            <a:fillRect/>
          </a:stretch>
        </p:blipFill>
        <p:spPr>
          <a:xfrm>
            <a:off x="5691068" y="2924944"/>
            <a:ext cx="3024336" cy="365090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57216" y="2859579"/>
            <a:ext cx="52508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BSP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需要配置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 : MCU_TO_SOC_GPIO_10_S4A_1P8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，供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唤醒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(2)STR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休眠时会调用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driver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，唤醒时会调用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，对我们新增的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driver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，需要处理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suspend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0"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失败时，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dmesg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可以查看日志，是哪个设备使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失败了，需要定位原因和修复。</a:t>
            </a:r>
          </a:p>
        </p:txBody>
      </p:sp>
      <p:pic>
        <p:nvPicPr>
          <p:cNvPr id="17" name="图片 16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4439882"/>
            <a:ext cx="5184576" cy="136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7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715404" cy="7857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indent="182563" algn="l" eaLnBrk="0" hangingPunct="0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各模块功能事项介绍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785794"/>
            <a:ext cx="864096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Framework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状态管理，在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之前通知应用，应用保存重要数据或记录</a:t>
            </a:r>
          </a:p>
          <a:p>
            <a:pPr lvl="0" algn="l"/>
            <a:r>
              <a:rPr lang="en-US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(2)Android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有接口可以发起休眠</a:t>
            </a:r>
          </a:p>
          <a:p>
            <a:pPr algn="l"/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：可以调用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ICarServiceHelper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forceSuspend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：可以调用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autosuspend.c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autosuspend_force_suspend</a:t>
            </a:r>
            <a:r>
              <a:rPr lang="zh-CN" altLang="zh-CN" sz="16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休眠前，需要关闭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，蓝牙，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等，避免无法</a:t>
            </a:r>
            <a:r>
              <a:rPr lang="zh-CN" altLang="zh-CN" sz="1600" b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zh-CN" altLang="zh-CN" sz="1600" b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休眠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323528" y="1844824"/>
            <a:ext cx="4608512" cy="1872208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4046129"/>
            <a:ext cx="3672408" cy="21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8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15816" y="2636912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谢谢大家</a:t>
            </a:r>
            <a:endParaRPr lang="zh-CN" altLang="en-US" sz="6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360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仿宋_GB2312"/>
        <a:ea typeface="仿宋_GB2312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56398</TotalTime>
  <Words>3455</Words>
  <Application>Microsoft Office PowerPoint</Application>
  <PresentationFormat>全屏显示(4:3)</PresentationFormat>
  <Paragraphs>536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仿宋</vt:lpstr>
      <vt:lpstr>仿宋_GB2312</vt:lpstr>
      <vt:lpstr>宋体</vt:lpstr>
      <vt:lpstr>微软雅黑</vt:lpstr>
      <vt:lpstr>Arial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软件编写规范</dc:title>
  <dc:creator>刘少平</dc:creator>
  <dc:description>c/C++</dc:description>
  <cp:lastModifiedBy>Microsoft 帐户</cp:lastModifiedBy>
  <cp:revision>3869</cp:revision>
  <dcterms:created xsi:type="dcterms:W3CDTF">2011-06-07T03:21:09Z</dcterms:created>
  <dcterms:modified xsi:type="dcterms:W3CDTF">2025-04-21T06:35:51Z</dcterms:modified>
  <cp:category>编程</cp:category>
</cp:coreProperties>
</file>