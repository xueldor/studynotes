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35"/>
  </p:notesMasterIdLst>
  <p:handoutMasterIdLst>
    <p:handoutMasterId r:id="rId36"/>
  </p:handoutMasterIdLst>
  <p:sldIdLst>
    <p:sldId id="257" r:id="rId4"/>
    <p:sldId id="311" r:id="rId5"/>
    <p:sldId id="332" r:id="rId6"/>
    <p:sldId id="346" r:id="rId7"/>
    <p:sldId id="333" r:id="rId8"/>
    <p:sldId id="347" r:id="rId9"/>
    <p:sldId id="313" r:id="rId10"/>
    <p:sldId id="348" r:id="rId11"/>
    <p:sldId id="325" r:id="rId12"/>
    <p:sldId id="317" r:id="rId13"/>
    <p:sldId id="327" r:id="rId14"/>
    <p:sldId id="328" r:id="rId15"/>
    <p:sldId id="324" r:id="rId16"/>
    <p:sldId id="345" r:id="rId17"/>
    <p:sldId id="335" r:id="rId18"/>
    <p:sldId id="336" r:id="rId19"/>
    <p:sldId id="337" r:id="rId20"/>
    <p:sldId id="338" r:id="rId21"/>
    <p:sldId id="339" r:id="rId22"/>
    <p:sldId id="343" r:id="rId23"/>
    <p:sldId id="341" r:id="rId24"/>
    <p:sldId id="340" r:id="rId25"/>
    <p:sldId id="344" r:id="rId26"/>
    <p:sldId id="330" r:id="rId27"/>
    <p:sldId id="314" r:id="rId28"/>
    <p:sldId id="331" r:id="rId29"/>
    <p:sldId id="285" r:id="rId30"/>
    <p:sldId id="318" r:id="rId31"/>
    <p:sldId id="349" r:id="rId32"/>
    <p:sldId id="305" r:id="rId33"/>
    <p:sldId id="263" r:id="rId34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头" id="{BA868BC0-97A1-4EFF-A188-F6545622C863}">
          <p14:sldIdLst>
            <p14:sldId id="257"/>
            <p14:sldId id="311"/>
          </p14:sldIdLst>
        </p14:section>
        <p14:section name="目录" id="{976AFEB7-122E-4016-9810-78D7CF4D242D}">
          <p14:sldIdLst>
            <p14:sldId id="332"/>
          </p14:sldIdLst>
        </p14:section>
        <p14:section name="一、Perfetto 简介与使用场景" id="{1F3E32AC-41B3-4F85-96D2-268167F387D3}">
          <p14:sldIdLst>
            <p14:sldId id="346"/>
            <p14:sldId id="333"/>
            <p14:sldId id="347"/>
            <p14:sldId id="313"/>
          </p14:sldIdLst>
        </p14:section>
        <p14:section name="二、如何使用 Perfetto 抓 Trace" id="{688231A1-F1FA-4FAF-9EB9-88144D702160}">
          <p14:sldIdLst>
            <p14:sldId id="348"/>
            <p14:sldId id="325"/>
            <p14:sldId id="317"/>
            <p14:sldId id="327"/>
            <p14:sldId id="328"/>
          </p14:sldIdLst>
        </p14:section>
        <p14:section name="三、perfettoUI" id="{DFD92821-D9EC-4AC3-86EF-7F9BA6317545}">
          <p14:sldIdLst>
            <p14:sldId id="324"/>
            <p14:sldId id="345"/>
            <p14:sldId id="335"/>
            <p14:sldId id="336"/>
            <p14:sldId id="337"/>
            <p14:sldId id="338"/>
            <p14:sldId id="339"/>
            <p14:sldId id="343"/>
            <p14:sldId id="341"/>
            <p14:sldId id="340"/>
            <p14:sldId id="344"/>
          </p14:sldIdLst>
        </p14:section>
        <p14:section name="四、案例分享" id="{7C32081A-2FE0-40AE-9D68-1E3BEA3DA047}">
          <p14:sldIdLst>
            <p14:sldId id="330"/>
            <p14:sldId id="314"/>
            <p14:sldId id="331"/>
            <p14:sldId id="285"/>
            <p14:sldId id="318"/>
            <p14:sldId id="349"/>
          </p14:sldIdLst>
        </p14:section>
        <p14:section name="结尾" id="{778D646B-594F-4C91-A30E-331571C49F8C}">
          <p14:sldIdLst>
            <p14:sldId id="305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6" autoAdjust="0"/>
    <p:restoredTop sz="80470" autoAdjust="0"/>
  </p:normalViewPr>
  <p:slideViewPr>
    <p:cSldViewPr snapToGrid="0" showGuides="1">
      <p:cViewPr varScale="1">
        <p:scale>
          <a:sx n="91" d="100"/>
          <a:sy n="91" d="100"/>
        </p:scale>
        <p:origin x="1245" y="45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7" d="100"/>
          <a:sy n="127" d="100"/>
        </p:scale>
        <p:origin x="39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5C280-1B2D-4781-B707-4B0EC071CFB8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1CA09-FBF4-4941-B7E5-5E91EF28B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这次分享主要是我最近在项目里用 </a:t>
            </a:r>
            <a:r>
              <a:rPr lang="en-US" altLang="zh-CN" dirty="0" err="1" smtClean="0"/>
              <a:t>Perfetto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的一些理解和踩坑经验，算是一个入门整理，有不对的地方也欢迎大家补充。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471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0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393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702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637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615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  <a:spcAft>
                <a:spcPts val="1800"/>
              </a:spcAft>
              <a:buFont typeface="+mj-lt"/>
              <a:buNone/>
            </a:pPr>
            <a:endParaRPr lang="zh-CN" altLang="en-US" b="0" i="0" dirty="0" smtClean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644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304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375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32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  <a:spcAft>
                <a:spcPts val="1800"/>
              </a:spcAft>
              <a:buFont typeface="+mj-lt"/>
              <a:buNone/>
            </a:pPr>
            <a:endParaRPr lang="zh-CN" altLang="en-US" b="0" i="0" dirty="0" smtClean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32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zh-CN" altLang="en-US" b="0" i="0" dirty="0" smtClean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90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600"/>
              </a:spcBef>
              <a:spcAft>
                <a:spcPts val="1800"/>
              </a:spcAft>
              <a:buFont typeface="+mj-lt"/>
              <a:buNone/>
            </a:pPr>
            <a:endParaRPr lang="zh-CN" altLang="en-US" b="0" i="0" dirty="0" smtClean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61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835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604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399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643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7293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432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156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09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480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254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638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5294631" y="1931671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思源黑体" panose="020B05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534D5-ABFC-4AD4-8958-9371162AF869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14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9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0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1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6"/>
          <p:cNvSpPr/>
          <p:nvPr userDrawn="1"/>
        </p:nvSpPr>
        <p:spPr bwMode="auto">
          <a:xfrm>
            <a:off x="2522695" y="712470"/>
            <a:ext cx="9669305" cy="6487796"/>
          </a:xfrm>
          <a:custGeom>
            <a:avLst/>
            <a:gdLst>
              <a:gd name="T0" fmla="*/ 4653 w 4653"/>
              <a:gd name="T1" fmla="*/ 0 h 4322"/>
              <a:gd name="T2" fmla="*/ 2398 w 4653"/>
              <a:gd name="T3" fmla="*/ 0 h 4322"/>
              <a:gd name="T4" fmla="*/ 0 w 4653"/>
              <a:gd name="T5" fmla="*/ 4149 h 4322"/>
              <a:gd name="T6" fmla="*/ 100 w 4653"/>
              <a:gd name="T7" fmla="*/ 4322 h 4322"/>
              <a:gd name="T8" fmla="*/ 4653 w 4653"/>
              <a:gd name="T9" fmla="*/ 4322 h 4322"/>
              <a:gd name="T10" fmla="*/ 4653 w 4653"/>
              <a:gd name="T11" fmla="*/ 0 h 4322"/>
              <a:gd name="connsiteX0" fmla="*/ 10000 w 10000"/>
              <a:gd name="connsiteY0" fmla="*/ 0 h 10000"/>
              <a:gd name="connsiteX1" fmla="*/ 4967 w 10000"/>
              <a:gd name="connsiteY1" fmla="*/ 0 h 10000"/>
              <a:gd name="connsiteX2" fmla="*/ 0 w 10000"/>
              <a:gd name="connsiteY2" fmla="*/ 9600 h 10000"/>
              <a:gd name="connsiteX3" fmla="*/ 215 w 10000"/>
              <a:gd name="connsiteY3" fmla="*/ 10000 h 10000"/>
              <a:gd name="connsiteX4" fmla="*/ 10000 w 10000"/>
              <a:gd name="connsiteY4" fmla="*/ 10000 h 10000"/>
              <a:gd name="connsiteX5" fmla="*/ 10000 w 10000"/>
              <a:gd name="connsiteY5" fmla="*/ 0 h 10000"/>
              <a:gd name="connsiteX0-1" fmla="*/ 10000 w 10000"/>
              <a:gd name="connsiteY0-2" fmla="*/ 0 h 10000"/>
              <a:gd name="connsiteX1-3" fmla="*/ 4712 w 10000"/>
              <a:gd name="connsiteY1-4" fmla="*/ 0 h 10000"/>
              <a:gd name="connsiteX2-5" fmla="*/ 0 w 10000"/>
              <a:gd name="connsiteY2-6" fmla="*/ 9600 h 10000"/>
              <a:gd name="connsiteX3-7" fmla="*/ 215 w 10000"/>
              <a:gd name="connsiteY3-8" fmla="*/ 10000 h 10000"/>
              <a:gd name="connsiteX4-9" fmla="*/ 10000 w 10000"/>
              <a:gd name="connsiteY4-10" fmla="*/ 10000 h 10000"/>
              <a:gd name="connsiteX5-11" fmla="*/ 10000 w 10000"/>
              <a:gd name="connsiteY5-12" fmla="*/ 0 h 10000"/>
              <a:gd name="connsiteX0-13" fmla="*/ 10000 w 10000"/>
              <a:gd name="connsiteY0-14" fmla="*/ 0 h 10000"/>
              <a:gd name="connsiteX1-15" fmla="*/ 4464 w 10000"/>
              <a:gd name="connsiteY1-16" fmla="*/ 0 h 10000"/>
              <a:gd name="connsiteX2-17" fmla="*/ 0 w 10000"/>
              <a:gd name="connsiteY2-18" fmla="*/ 9600 h 10000"/>
              <a:gd name="connsiteX3-19" fmla="*/ 215 w 10000"/>
              <a:gd name="connsiteY3-20" fmla="*/ 10000 h 10000"/>
              <a:gd name="connsiteX4-21" fmla="*/ 10000 w 10000"/>
              <a:gd name="connsiteY4-22" fmla="*/ 10000 h 10000"/>
              <a:gd name="connsiteX5-23" fmla="*/ 10000 w 10000"/>
              <a:gd name="connsiteY5-24" fmla="*/ 0 h 10000"/>
              <a:gd name="connsiteX0-25" fmla="*/ 10000 w 10000"/>
              <a:gd name="connsiteY0-26" fmla="*/ 19 h 10019"/>
              <a:gd name="connsiteX1-27" fmla="*/ 4501 w 10000"/>
              <a:gd name="connsiteY1-28" fmla="*/ 0 h 10019"/>
              <a:gd name="connsiteX2-29" fmla="*/ 0 w 10000"/>
              <a:gd name="connsiteY2-30" fmla="*/ 9619 h 10019"/>
              <a:gd name="connsiteX3-31" fmla="*/ 215 w 10000"/>
              <a:gd name="connsiteY3-32" fmla="*/ 10019 h 10019"/>
              <a:gd name="connsiteX4-33" fmla="*/ 10000 w 10000"/>
              <a:gd name="connsiteY4-34" fmla="*/ 10019 h 10019"/>
              <a:gd name="connsiteX5-35" fmla="*/ 10000 w 10000"/>
              <a:gd name="connsiteY5-36" fmla="*/ 19 h 100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00" h="10019">
                <a:moveTo>
                  <a:pt x="10000" y="19"/>
                </a:moveTo>
                <a:lnTo>
                  <a:pt x="4501" y="0"/>
                </a:lnTo>
                <a:cubicBezTo>
                  <a:pt x="2930" y="3200"/>
                  <a:pt x="1571" y="6419"/>
                  <a:pt x="0" y="9619"/>
                </a:cubicBezTo>
                <a:cubicBezTo>
                  <a:pt x="72" y="9752"/>
                  <a:pt x="143" y="9886"/>
                  <a:pt x="215" y="10019"/>
                </a:cubicBezTo>
                <a:lnTo>
                  <a:pt x="10000" y="10019"/>
                </a:lnTo>
                <a:lnTo>
                  <a:pt x="10000" y="1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ea typeface="思源黑体" panose="020B0500000000000000" pitchFamily="34" charset="-122"/>
            </a:endParaRPr>
          </a:p>
        </p:txBody>
      </p:sp>
      <p:sp>
        <p:nvSpPr>
          <p:cNvPr id="8" name="123"/>
          <p:cNvSpPr/>
          <p:nvPr userDrawn="1">
            <p:custDataLst>
              <p:tags r:id="rId5"/>
            </p:custDataLst>
          </p:nvPr>
        </p:nvSpPr>
        <p:spPr>
          <a:xfrm>
            <a:off x="11153505" y="5897007"/>
            <a:ext cx="609166" cy="609166"/>
          </a:xfrm>
          <a:prstGeom prst="ellipse">
            <a:avLst/>
          </a:prstGeom>
          <a:solidFill>
            <a:srgbClr val="062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" panose="020B0500000000000000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3677174" y="5132000"/>
            <a:ext cx="3461275" cy="1726000"/>
            <a:chOff x="3471021" y="4985765"/>
            <a:chExt cx="2750572" cy="1872236"/>
          </a:xfrm>
        </p:grpSpPr>
        <p:sp>
          <p:nvSpPr>
            <p:cNvPr id="13" name="任意多边形: 形状 68"/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rgbClr val="7CBEE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4" name="Freeform 21"/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rgbClr val="CDE7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ea typeface="思源黑体" panose="020B05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5099159" y="1068265"/>
            <a:ext cx="7092843" cy="5792337"/>
            <a:chOff x="5867893" y="1209154"/>
            <a:chExt cx="6324107" cy="5164552"/>
          </a:xfrm>
          <a:solidFill>
            <a:srgbClr val="3992DB"/>
          </a:solidFill>
        </p:grpSpPr>
        <p:sp>
          <p:nvSpPr>
            <p:cNvPr id="17" name="任意多边形: 形状 77"/>
            <p:cNvSpPr/>
            <p:nvPr/>
          </p:nvSpPr>
          <p:spPr>
            <a:xfrm>
              <a:off x="5867893" y="1209154"/>
              <a:ext cx="6324107" cy="516214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8" name="任意多边形: 形状 79"/>
            <p:cNvSpPr/>
            <p:nvPr/>
          </p:nvSpPr>
          <p:spPr>
            <a:xfrm>
              <a:off x="9811247" y="4441668"/>
              <a:ext cx="2380752" cy="193203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0" name="任意多边形: 形状 35"/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思源黑体" panose="020B0500000000000000" pitchFamily="34" charset="-122"/>
              </a:endParaRPr>
            </a:p>
          </p:txBody>
        </p:sp>
        <p:sp>
          <p:nvSpPr>
            <p:cNvPr id="21" name="Freeform 11"/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3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5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7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ea typeface="思源黑体" panose="020B0500000000000000" pitchFamily="34" charset="-122"/>
                </a:rPr>
                <a:t>科   技   创   新  </a:t>
              </a:r>
              <a:r>
                <a:rPr lang="zh-CN" altLang="en-US" sz="900" baseline="0" dirty="0">
                  <a:solidFill>
                    <a:schemeClr val="bg1">
                      <a:lumMod val="50000"/>
                    </a:schemeClr>
                  </a:solidFill>
                  <a:ea typeface="思源黑体" panose="020B0500000000000000" pitchFamily="34" charset="-122"/>
                </a:rPr>
                <a:t>    </a:t>
              </a: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ea typeface="思源黑体" panose="020B0500000000000000" pitchFamily="34" charset="-122"/>
                </a:rPr>
                <a:t> 文   化   护   航</a:t>
              </a:r>
            </a:p>
          </p:txBody>
        </p:sp>
      </p:grpSp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1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</p:bldLst>
      </p:timing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sp>
        <p:nvSpPr>
          <p:cNvPr id="8" name="Freeform 16"/>
          <p:cNvSpPr/>
          <p:nvPr userDrawn="1"/>
        </p:nvSpPr>
        <p:spPr bwMode="auto">
          <a:xfrm>
            <a:off x="2522695" y="712470"/>
            <a:ext cx="9669305" cy="6487796"/>
          </a:xfrm>
          <a:custGeom>
            <a:avLst/>
            <a:gdLst>
              <a:gd name="T0" fmla="*/ 4653 w 4653"/>
              <a:gd name="T1" fmla="*/ 0 h 4322"/>
              <a:gd name="T2" fmla="*/ 2398 w 4653"/>
              <a:gd name="T3" fmla="*/ 0 h 4322"/>
              <a:gd name="T4" fmla="*/ 0 w 4653"/>
              <a:gd name="T5" fmla="*/ 4149 h 4322"/>
              <a:gd name="T6" fmla="*/ 100 w 4653"/>
              <a:gd name="T7" fmla="*/ 4322 h 4322"/>
              <a:gd name="T8" fmla="*/ 4653 w 4653"/>
              <a:gd name="T9" fmla="*/ 4322 h 4322"/>
              <a:gd name="T10" fmla="*/ 4653 w 4653"/>
              <a:gd name="T11" fmla="*/ 0 h 4322"/>
              <a:gd name="connsiteX0" fmla="*/ 10000 w 10000"/>
              <a:gd name="connsiteY0" fmla="*/ 0 h 10000"/>
              <a:gd name="connsiteX1" fmla="*/ 4967 w 10000"/>
              <a:gd name="connsiteY1" fmla="*/ 0 h 10000"/>
              <a:gd name="connsiteX2" fmla="*/ 0 w 10000"/>
              <a:gd name="connsiteY2" fmla="*/ 9600 h 10000"/>
              <a:gd name="connsiteX3" fmla="*/ 215 w 10000"/>
              <a:gd name="connsiteY3" fmla="*/ 10000 h 10000"/>
              <a:gd name="connsiteX4" fmla="*/ 10000 w 10000"/>
              <a:gd name="connsiteY4" fmla="*/ 10000 h 10000"/>
              <a:gd name="connsiteX5" fmla="*/ 10000 w 10000"/>
              <a:gd name="connsiteY5" fmla="*/ 0 h 10000"/>
              <a:gd name="connsiteX0-1" fmla="*/ 10000 w 10000"/>
              <a:gd name="connsiteY0-2" fmla="*/ 0 h 10000"/>
              <a:gd name="connsiteX1-3" fmla="*/ 4712 w 10000"/>
              <a:gd name="connsiteY1-4" fmla="*/ 0 h 10000"/>
              <a:gd name="connsiteX2-5" fmla="*/ 0 w 10000"/>
              <a:gd name="connsiteY2-6" fmla="*/ 9600 h 10000"/>
              <a:gd name="connsiteX3-7" fmla="*/ 215 w 10000"/>
              <a:gd name="connsiteY3-8" fmla="*/ 10000 h 10000"/>
              <a:gd name="connsiteX4-9" fmla="*/ 10000 w 10000"/>
              <a:gd name="connsiteY4-10" fmla="*/ 10000 h 10000"/>
              <a:gd name="connsiteX5-11" fmla="*/ 10000 w 10000"/>
              <a:gd name="connsiteY5-12" fmla="*/ 0 h 10000"/>
              <a:gd name="connsiteX0-13" fmla="*/ 10000 w 10000"/>
              <a:gd name="connsiteY0-14" fmla="*/ 0 h 10000"/>
              <a:gd name="connsiteX1-15" fmla="*/ 4464 w 10000"/>
              <a:gd name="connsiteY1-16" fmla="*/ 0 h 10000"/>
              <a:gd name="connsiteX2-17" fmla="*/ 0 w 10000"/>
              <a:gd name="connsiteY2-18" fmla="*/ 9600 h 10000"/>
              <a:gd name="connsiteX3-19" fmla="*/ 215 w 10000"/>
              <a:gd name="connsiteY3-20" fmla="*/ 10000 h 10000"/>
              <a:gd name="connsiteX4-21" fmla="*/ 10000 w 10000"/>
              <a:gd name="connsiteY4-22" fmla="*/ 10000 h 10000"/>
              <a:gd name="connsiteX5-23" fmla="*/ 10000 w 10000"/>
              <a:gd name="connsiteY5-24" fmla="*/ 0 h 10000"/>
              <a:gd name="connsiteX0-25" fmla="*/ 10000 w 10000"/>
              <a:gd name="connsiteY0-26" fmla="*/ 19 h 10019"/>
              <a:gd name="connsiteX1-27" fmla="*/ 4501 w 10000"/>
              <a:gd name="connsiteY1-28" fmla="*/ 0 h 10019"/>
              <a:gd name="connsiteX2-29" fmla="*/ 0 w 10000"/>
              <a:gd name="connsiteY2-30" fmla="*/ 9619 h 10019"/>
              <a:gd name="connsiteX3-31" fmla="*/ 215 w 10000"/>
              <a:gd name="connsiteY3-32" fmla="*/ 10019 h 10019"/>
              <a:gd name="connsiteX4-33" fmla="*/ 10000 w 10000"/>
              <a:gd name="connsiteY4-34" fmla="*/ 10019 h 10019"/>
              <a:gd name="connsiteX5-35" fmla="*/ 10000 w 10000"/>
              <a:gd name="connsiteY5-36" fmla="*/ 19 h 100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00" h="10019">
                <a:moveTo>
                  <a:pt x="10000" y="19"/>
                </a:moveTo>
                <a:lnTo>
                  <a:pt x="4501" y="0"/>
                </a:lnTo>
                <a:cubicBezTo>
                  <a:pt x="2930" y="3200"/>
                  <a:pt x="1571" y="6419"/>
                  <a:pt x="0" y="9619"/>
                </a:cubicBezTo>
                <a:cubicBezTo>
                  <a:pt x="72" y="9752"/>
                  <a:pt x="143" y="9886"/>
                  <a:pt x="215" y="10019"/>
                </a:cubicBezTo>
                <a:lnTo>
                  <a:pt x="10000" y="10019"/>
                </a:lnTo>
                <a:lnTo>
                  <a:pt x="10000" y="1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ea typeface="思源黑体" panose="020B0500000000000000" pitchFamily="34" charset="-122"/>
            </a:endParaRPr>
          </a:p>
        </p:txBody>
      </p:sp>
      <p:sp>
        <p:nvSpPr>
          <p:cNvPr id="9" name="123"/>
          <p:cNvSpPr/>
          <p:nvPr userDrawn="1">
            <p:custDataLst>
              <p:tags r:id="rId4"/>
            </p:custDataLst>
          </p:nvPr>
        </p:nvSpPr>
        <p:spPr>
          <a:xfrm>
            <a:off x="11153505" y="5897007"/>
            <a:ext cx="609166" cy="609166"/>
          </a:xfrm>
          <a:prstGeom prst="ellipse">
            <a:avLst/>
          </a:prstGeom>
          <a:solidFill>
            <a:srgbClr val="062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" panose="020B0500000000000000" pitchFamily="34" charset="-122"/>
              <a:cs typeface="+mn-cs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3677174" y="5132000"/>
            <a:ext cx="3461275" cy="1726000"/>
            <a:chOff x="3471021" y="4985765"/>
            <a:chExt cx="2750572" cy="1872236"/>
          </a:xfrm>
        </p:grpSpPr>
        <p:sp>
          <p:nvSpPr>
            <p:cNvPr id="14" name="任意多边形: 形状 68"/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rgbClr val="7CBEE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5" name="Freeform 21"/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rgbClr val="CDE7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ea typeface="思源黑体" panose="020B0500000000000000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5099159" y="1068265"/>
            <a:ext cx="7092843" cy="5792337"/>
            <a:chOff x="5867893" y="1209154"/>
            <a:chExt cx="6324107" cy="5164552"/>
          </a:xfrm>
          <a:solidFill>
            <a:srgbClr val="3992DB"/>
          </a:solidFill>
        </p:grpSpPr>
        <p:sp>
          <p:nvSpPr>
            <p:cNvPr id="17" name="任意多边形: 形状 77"/>
            <p:cNvSpPr/>
            <p:nvPr/>
          </p:nvSpPr>
          <p:spPr>
            <a:xfrm>
              <a:off x="5867893" y="1209154"/>
              <a:ext cx="6324107" cy="516214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8" name="任意多边形: 形状 79"/>
            <p:cNvSpPr/>
            <p:nvPr/>
          </p:nvSpPr>
          <p:spPr>
            <a:xfrm>
              <a:off x="9811247" y="4441668"/>
              <a:ext cx="2380752" cy="193203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4" name="任意多边形: 形状 35"/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思源黑体" panose="020B0500000000000000" pitchFamily="34" charset="-122"/>
              </a:endParaRPr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68" t="268" r="259" b="91725"/>
          <a:stretch>
            <a:fillRect/>
          </a:stretch>
        </p:blipFill>
        <p:spPr>
          <a:xfrm>
            <a:off x="9732579" y="41394"/>
            <a:ext cx="2459421" cy="549112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</p:bldLst>
      </p:timing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microsoft.com/office/2007/relationships/hdphoto" Target="../media/hdphoto1.wdp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i.perfetto.dev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23"/>
          <p:cNvSpPr/>
          <p:nvPr>
            <p:custDataLst>
              <p:tags r:id="rId1"/>
            </p:custDataLst>
          </p:nvPr>
        </p:nvSpPr>
        <p:spPr>
          <a:xfrm>
            <a:off x="5800435" y="1923713"/>
            <a:ext cx="58935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zh-CN" sz="4000" dirty="0">
                <a:solidFill>
                  <a:schemeClr val="bg2"/>
                </a:solidFill>
                <a:latin typeface="+mj-ea"/>
                <a:ea typeface="+mj-ea"/>
                <a:cs typeface="OPPOSans B" panose="00020600040101010101" pitchFamily="18" charset="-122"/>
                <a:sym typeface="思源黑体" panose="020B0500000000000000" pitchFamily="34" charset="-122"/>
              </a:rPr>
              <a:t>Android</a:t>
            </a:r>
            <a:r>
              <a:rPr lang="zh-CN" altLang="en-US" sz="4000" dirty="0">
                <a:solidFill>
                  <a:schemeClr val="bg2"/>
                </a:solidFill>
                <a:latin typeface="+mj-ea"/>
                <a:ea typeface="+mj-ea"/>
                <a:cs typeface="OPPOSans B" panose="00020600040101010101" pitchFamily="18" charset="-122"/>
                <a:sym typeface="思源黑体" panose="020B0500000000000000" pitchFamily="34" charset="-122"/>
              </a:rPr>
              <a:t>性能分析工具</a:t>
            </a:r>
            <a:r>
              <a:rPr lang="en-US" altLang="zh-CN" sz="4000" dirty="0" err="1">
                <a:solidFill>
                  <a:schemeClr val="bg2"/>
                </a:solidFill>
                <a:latin typeface="+mj-ea"/>
                <a:ea typeface="+mj-ea"/>
                <a:cs typeface="OPPOSans B" panose="00020600040101010101" pitchFamily="18" charset="-122"/>
                <a:sym typeface="思源黑体" panose="020B0500000000000000" pitchFamily="34" charset="-122"/>
              </a:rPr>
              <a:t>Prefetto</a:t>
            </a:r>
            <a:r>
              <a:rPr lang="zh-CN" altLang="en-US" sz="4000" dirty="0">
                <a:solidFill>
                  <a:schemeClr val="bg2"/>
                </a:solidFill>
                <a:latin typeface="+mj-ea"/>
                <a:ea typeface="+mj-ea"/>
                <a:cs typeface="OPPOSans B" panose="00020600040101010101" pitchFamily="18" charset="-122"/>
                <a:sym typeface="思源黑体" panose="020B0500000000000000" pitchFamily="34" charset="-122"/>
              </a:rPr>
              <a:t>使用入门与案例分享</a:t>
            </a:r>
            <a:endParaRPr kumimoji="0" lang="zh-CN" alt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59569" y="3862705"/>
            <a:ext cx="25537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部门：软件开发二部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讲师：</a:t>
            </a:r>
            <a:r>
              <a:rPr lang="zh-CN" altLang="en-US" sz="2000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陈晨</a:t>
            </a:r>
            <a:endParaRPr lang="en-US" altLang="zh-CN" sz="2000" b="1" dirty="0" smtClean="0">
              <a:solidFill>
                <a:schemeClr val="bg2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思源黑体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版本：</a:t>
            </a:r>
            <a:r>
              <a:rPr lang="en-US" altLang="zh-CN" sz="2000" b="1" dirty="0" smtClean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V1.0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日期：</a:t>
            </a:r>
            <a:r>
              <a:rPr lang="en-US" altLang="zh-CN" sz="2000" b="1" dirty="0" smtClean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20251117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40360" y="273050"/>
            <a:ext cx="6891655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ea"/>
              </a:rPr>
              <a:t>修订履历 </a:t>
            </a:r>
            <a:endParaRPr lang="zh-CN" altLang="en-US" sz="3600" b="1" cap="none" spc="0" dirty="0">
              <a:ln w="9525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1381232"/>
              </p:ext>
            </p:extLst>
          </p:nvPr>
        </p:nvGraphicFramePr>
        <p:xfrm>
          <a:off x="800100" y="1037590"/>
          <a:ext cx="10276840" cy="4813300"/>
        </p:xfrm>
        <a:graphic>
          <a:graphicData uri="http://schemas.openxmlformats.org/drawingml/2006/table">
            <a:tbl>
              <a:tblPr/>
              <a:tblGrid>
                <a:gridCol w="245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8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662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文档修订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记录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Document Change history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文档版本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Version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修订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人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Author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修订日期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Change 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date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修订描述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Change description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1" u="none" strike="noStrike" dirty="0" smtClean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V1.0</a:t>
                      </a:r>
                      <a:endParaRPr lang="zh-CN" alt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1" u="none" strike="noStrike" dirty="0" smtClean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陈晨</a:t>
                      </a:r>
                      <a:endParaRPr lang="zh-CN" alt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1" u="none" strike="noStrike" dirty="0" smtClean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2025.11.15</a:t>
                      </a:r>
                      <a:endParaRPr lang="zh-CN" alt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1" u="none" strike="noStrike" dirty="0" smtClean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初始版本</a:t>
                      </a:r>
                      <a:endParaRPr lang="zh-CN" alt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endParaRPr 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5" name="任意多边形: 形状 35"/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808811" y="450334"/>
            <a:ext cx="2778325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目 录</a:t>
            </a:r>
            <a:endParaRPr lang="zh-CN" altLang="en-US" sz="8800" b="1" dirty="0"/>
          </a:p>
        </p:txBody>
      </p:sp>
      <p:sp>
        <p:nvSpPr>
          <p:cNvPr id="28" name="文本框 45"/>
          <p:cNvSpPr>
            <a:spLocks noChangeArrowheads="1"/>
          </p:cNvSpPr>
          <p:nvPr/>
        </p:nvSpPr>
        <p:spPr bwMode="auto">
          <a:xfrm>
            <a:off x="905495" y="1709829"/>
            <a:ext cx="2613344" cy="769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471020" y="5029199"/>
            <a:ext cx="3667429" cy="1828801"/>
            <a:chOff x="3471021" y="4985765"/>
            <a:chExt cx="2750572" cy="1872236"/>
          </a:xfrm>
        </p:grpSpPr>
        <p:sp>
          <p:nvSpPr>
            <p:cNvPr id="30" name="任意多边形: 形状 29"/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1"/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6490340" y="1482723"/>
            <a:ext cx="4626018" cy="650877"/>
            <a:chOff x="6490340" y="1139823"/>
            <a:chExt cx="4626018" cy="650877"/>
          </a:xfrm>
        </p:grpSpPr>
        <p:sp>
          <p:nvSpPr>
            <p:cNvPr id="34" name="椭圆 1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490340" y="1139823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 smtClean="0">
                  <a:solidFill>
                    <a:srgbClr val="FFFFFF"/>
                  </a:solidFill>
                  <a:latin typeface="Calibri" panose="020F0502020204030204" pitchFamily="34" charset="0"/>
                </a:rPr>
                <a:t>1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11"/>
              </p:custDataLst>
            </p:nvPr>
          </p:nvSpPr>
          <p:spPr>
            <a:xfrm>
              <a:off x="7321729" y="1203651"/>
              <a:ext cx="379462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 smtClean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Perfetto</a:t>
              </a:r>
              <a:r>
                <a:rPr lang="en-US" altLang="zh-CN" sz="2800" b="1" dirty="0" smtClean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 </a:t>
              </a:r>
              <a:r>
                <a:rPr lang="zh-CN" altLang="en-US" sz="2800" b="1" dirty="0" smtClean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简介</a:t>
              </a:r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与使用场景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6490340" y="2258790"/>
            <a:ext cx="4326256" cy="650877"/>
            <a:chOff x="6490340" y="2844797"/>
            <a:chExt cx="4326256" cy="650877"/>
          </a:xfrm>
        </p:grpSpPr>
        <p:sp>
          <p:nvSpPr>
            <p:cNvPr id="40" name="椭圆 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 smtClean="0">
                  <a:solidFill>
                    <a:srgbClr val="FFFFFF"/>
                  </a:solidFill>
                  <a:latin typeface="Calibri" panose="020F0502020204030204" pitchFamily="34" charset="0"/>
                </a:rPr>
                <a:t>2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" name="矩形 40"/>
            <p:cNvSpPr/>
            <p:nvPr>
              <p:custDataLst>
                <p:tags r:id="rId9"/>
              </p:custDataLst>
            </p:nvPr>
          </p:nvSpPr>
          <p:spPr>
            <a:xfrm>
              <a:off x="7321729" y="2893581"/>
              <a:ext cx="34948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 smtClean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Perfetto</a:t>
              </a:r>
              <a:r>
                <a:rPr lang="en-US" altLang="zh-CN" sz="2800" b="1" dirty="0" smtClean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 Trace </a:t>
              </a:r>
              <a:r>
                <a:rPr lang="zh-CN" altLang="en-US" sz="2800" b="1" dirty="0" smtClean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采集</a:t>
              </a:r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方式</a:t>
              </a:r>
            </a:p>
          </p:txBody>
        </p:sp>
      </p:grpSp>
      <p:grpSp>
        <p:nvGrpSpPr>
          <p:cNvPr id="20" name="组合 19"/>
          <p:cNvGrpSpPr/>
          <p:nvPr>
            <p:custDataLst>
              <p:tags r:id="rId3"/>
            </p:custDataLst>
          </p:nvPr>
        </p:nvGrpSpPr>
        <p:grpSpPr>
          <a:xfrm>
            <a:off x="6490340" y="3111277"/>
            <a:ext cx="5018754" cy="650877"/>
            <a:chOff x="6490340" y="2844797"/>
            <a:chExt cx="5018754" cy="650877"/>
          </a:xfrm>
        </p:grpSpPr>
        <p:sp>
          <p:nvSpPr>
            <p:cNvPr id="21" name="椭圆 1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 smtClean="0">
                  <a:solidFill>
                    <a:srgbClr val="FFFFFF"/>
                  </a:solidFill>
                  <a:latin typeface="Calibri" panose="020F0502020204030204" pitchFamily="34" charset="0"/>
                </a:rPr>
                <a:t>3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7"/>
              </p:custDataLst>
            </p:nvPr>
          </p:nvSpPr>
          <p:spPr>
            <a:xfrm>
              <a:off x="7321729" y="2893581"/>
              <a:ext cx="41873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Perfetto</a:t>
              </a:r>
              <a:r>
                <a:rPr lang="en-US" altLang="zh-CN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 UI </a:t>
              </a:r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与基础分析方法</a:t>
              </a:r>
            </a:p>
          </p:txBody>
        </p:sp>
      </p:grpSp>
      <p:sp>
        <p:nvSpPr>
          <p:cNvPr id="23" name="椭圆 1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490340" y="3914519"/>
            <a:ext cx="659574" cy="650877"/>
          </a:xfrm>
          <a:prstGeom prst="ellipse">
            <a:avLst/>
          </a:prstGeom>
          <a:solidFill>
            <a:srgbClr val="3992DB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 smtClean="0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  <a:endParaRPr lang="zh-CN" altLang="en-US" sz="28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5"/>
            </p:custDataLst>
          </p:nvPr>
        </p:nvSpPr>
        <p:spPr>
          <a:xfrm>
            <a:off x="7321729" y="3963303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Perfetto</a:t>
            </a:r>
            <a:r>
              <a:rPr lang="en-US" altLang="zh-CN" sz="2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案例与实践分享</a:t>
            </a:r>
          </a:p>
        </p:txBody>
      </p:sp>
    </p:spTree>
    <p:extLst>
      <p:ext uri="{BB962C8B-B14F-4D97-AF65-F5344CB8AC3E}">
        <p14:creationId xmlns:p14="http://schemas.microsoft.com/office/powerpoint/2010/main" val="214312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/>
          <p:cNvSpPr txBox="1"/>
          <p:nvPr/>
        </p:nvSpPr>
        <p:spPr>
          <a:xfrm>
            <a:off x="4450112" y="2686634"/>
            <a:ext cx="5366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简介与使用场景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</a:t>
              </a:r>
              <a:r>
                <a:rPr lang="en-US" altLang="zh-CN" sz="50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1</a:t>
              </a:r>
              <a:endParaRPr lang="en-US" altLang="zh-CN" sz="5000" b="1" dirty="0">
                <a:solidFill>
                  <a:schemeClr val="bg1"/>
                </a:solidFill>
                <a:latin typeface="Calibri" panose="020F0502020204030204" pitchFamily="34" charset="0"/>
                <a:ea typeface="华文琥珀" panose="02010800040101010101" pitchFamily="2" charset="-122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4400" dirty="0" smtClean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  <a:endParaRPr lang="en-US" altLang="zh-CN" sz="4400" dirty="0">
                <a:solidFill>
                  <a:schemeClr val="bg1"/>
                </a:solidFill>
                <a:latin typeface="Calibri" panose="020F0502020204030204" pitchFamily="34" charset="0"/>
                <a:ea typeface="思源黑体" panose="020B0500000000000000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/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/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/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/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4524489" y="421464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endParaRPr lang="zh-CN" altLang="en-US" sz="1800" b="1" dirty="0">
              <a:solidFill>
                <a:srgbClr val="0070C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524489" y="4627909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endParaRPr lang="zh-CN" altLang="en-US" sz="1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89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2400" dirty="0" err="1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是什么？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695575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Google 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官方的系统级 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平台</a:t>
            </a:r>
            <a:endParaRPr lang="zh-CN" altLang="en-US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Android / Chrome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共用的一套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 &amp; profile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基础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设施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从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Android 10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起逐步替代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Systrace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/ 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TraceViewer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覆盖完整链路：采集 → 存储 → 分析 →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展示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后台守护进程：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多种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数据源：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内核调度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频率、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、帧渲染、内存、应用自定义事件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等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可视化工具：基于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Web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UI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93392"/>
            <a:ext cx="7931015" cy="382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7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noProof="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为什么要使用</a:t>
            </a:r>
            <a:r>
              <a:rPr lang="en-US" altLang="zh-CN" sz="2400" noProof="0" dirty="0" err="1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2400" noProof="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?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640111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低开销，可长时间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运行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基于共享内存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+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异步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flush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，写入路径非常轻量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支持几秒到几十秒，甚至分钟级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系统级视角，一图看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全局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同一条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里看：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App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SystemServer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SurfaceFlinger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、内核调度、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频率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特别适合排查 “多模块互相影响” 的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问题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1"/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数据结构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化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可以转成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SQLite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，支持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SQL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查询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Android 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官方支持，演进长期稳定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51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 err="1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的使用场景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10012677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是 </a:t>
            </a:r>
            <a:r>
              <a:rPr lang="en-US" altLang="zh-CN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Android </a:t>
            </a:r>
            <a:r>
              <a:rPr lang="zh-CN" altLang="en-US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以及</a:t>
            </a:r>
            <a:r>
              <a:rPr lang="en-US" altLang="zh-CN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Chrome </a:t>
            </a:r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浏览器</a:t>
            </a:r>
            <a:r>
              <a:rPr lang="zh-CN" altLang="en-US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的 “默认的</a:t>
            </a:r>
            <a:r>
              <a:rPr lang="zh-CN" altLang="en-US" sz="16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系统级标配追踪系统</a:t>
            </a:r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“，在</a:t>
            </a:r>
            <a:r>
              <a:rPr lang="en-US" altLang="zh-CN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</a:t>
            </a:r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平台</a:t>
            </a:r>
            <a:r>
              <a:rPr lang="zh-CN" altLang="en-US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上</a:t>
            </a:r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，官方重点支持以下用法：</a:t>
            </a:r>
            <a:endParaRPr lang="en-US" altLang="zh-CN" sz="16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系统 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：查 功能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性能 问题：</a:t>
            </a:r>
            <a:endParaRPr lang="en-US" altLang="zh-CN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系统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/APP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启动慢（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slow startups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）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掉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帧、卡顿（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dropped frames / 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jank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）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动画不顺滑、卡顿、闪一下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animation glitches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）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低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内存导致被杀（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low memory kills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）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以及其他一些“奇怪的系统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应用”行为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上的内存问题：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系统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/App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的高内存占用问题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 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分析：采样调用栈以定位高 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 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占用的函数或线程。</a:t>
            </a:r>
            <a:endParaRPr lang="en-US" altLang="zh-CN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除此以上对</a:t>
            </a:r>
            <a:r>
              <a:rPr lang="en-US" altLang="zh-CN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</a:t>
            </a:r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平台的重点之外，</a:t>
            </a:r>
            <a:r>
              <a:rPr lang="en-US" altLang="zh-CN" sz="16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6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也广泛用于</a:t>
            </a:r>
            <a:r>
              <a:rPr lang="zh-CN" altLang="en-US" sz="16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endParaRPr lang="en-US" altLang="zh-CN" sz="16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6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收集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和分析嵌入式系统或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Linux C/C++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应用的性能问题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；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分析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CPU/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内存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profiling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数据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；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兼容多种 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格式（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Chrome JSON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Firefox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Linux perf/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ftrace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macOS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Instruments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Fuchsia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等）；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可用于任意时间序列型（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trace-like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）数据的分析与可视化。</a:t>
            </a:r>
          </a:p>
        </p:txBody>
      </p:sp>
    </p:spTree>
    <p:extLst>
      <p:ext uri="{BB962C8B-B14F-4D97-AF65-F5344CB8AC3E}">
        <p14:creationId xmlns:p14="http://schemas.microsoft.com/office/powerpoint/2010/main" val="341452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/>
          <p:cNvSpPr txBox="1"/>
          <p:nvPr/>
        </p:nvSpPr>
        <p:spPr>
          <a:xfrm>
            <a:off x="4450112" y="2686634"/>
            <a:ext cx="5366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如何使用 </a:t>
            </a:r>
            <a:r>
              <a:rPr lang="en-US" altLang="zh-CN" sz="3600" b="1" dirty="0" err="1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抓 </a:t>
            </a:r>
            <a:r>
              <a:rPr lang="en-US" altLang="zh-CN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Trace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2</a:t>
              </a:r>
            </a:p>
            <a:p>
              <a:pPr algn="ctr"/>
              <a:r>
                <a:rPr lang="en-US" altLang="zh-CN" sz="4400" dirty="0" smtClean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  <a:endParaRPr lang="en-US" altLang="zh-CN" sz="4400" dirty="0">
                <a:solidFill>
                  <a:schemeClr val="bg1"/>
                </a:solidFill>
                <a:latin typeface="Calibri" panose="020F0502020204030204" pitchFamily="34" charset="0"/>
                <a:ea typeface="思源黑体" panose="020B0500000000000000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/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/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/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/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840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抓</a:t>
            </a:r>
            <a:r>
              <a:rPr lang="en-US" altLang="zh-CN" sz="2400" dirty="0" smtClean="0">
                <a:solidFill>
                  <a:srgbClr val="0070C0"/>
                </a:solidFill>
              </a:rPr>
              <a:t>Trace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104907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支持两种模式生成跟踪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记录：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轻量模式：只能选择一部分数据源，具体来说就是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和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frace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，此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模式可提供类似于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systrace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的接口。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      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类似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如下指令操作：</a:t>
            </a: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        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shell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–o /data/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misc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-traces/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trace_file.perfetto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-trace –t 20s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sched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freq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idle am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wm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gdx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view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binder_driver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hal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Dalvik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camera input res memory</a:t>
            </a:r>
          </a:p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普通模式：从协议缓冲区获取其配置，并允许更充分的利用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功能，可以使用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和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ftrace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之外的数据源。</a:t>
            </a:r>
          </a:p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      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通过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配置文件抓取，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配置文件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脚本如下：</a:t>
            </a:r>
          </a:p>
          <a:p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push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test.pdtx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/data/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misc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-traces</a:t>
            </a:r>
          </a:p>
          <a:p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shell “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--txt --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config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data/</a:t>
            </a:r>
            <a:r>
              <a:rPr lang="en-US" altLang="zh-CN" sz="1400" b="1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misc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b="1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-traces/</a:t>
            </a:r>
            <a:r>
              <a:rPr lang="en-US" altLang="zh-CN" sz="1400" b="1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test.pbtx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--out /data/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misc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-traces/trace”</a:t>
            </a:r>
          </a:p>
          <a:p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pull /data/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misc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-traces/trace %CURRENT_DATE_TIME_STAMP%/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9600" y="4734812"/>
            <a:ext cx="104907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Tips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在我们开始使用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之前，有个配置要注意一下，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是基于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的系统追踪服务，这个配置在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Android11(R)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之后是默认打开的。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但是如果你是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Android9/10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，那么就需要手动设置一下相应的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prop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属性：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shell 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setprop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persist.traced.enable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73966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思源黑体" panose="020B0500000000000000" pitchFamily="34" charset="-122"/>
                <a:ea typeface="思源黑体" panose="020B0500000000000000" pitchFamily="34" charset="-122"/>
                <a:cs typeface="+mj-cs"/>
              </a:rPr>
              <a:t>TraceConfig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2925" y="714951"/>
            <a:ext cx="828837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TraceConfig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是一个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Protobuf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消息，用来描述一次追踪会话的“配置”。主要包含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3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类信息：</a:t>
            </a: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1.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全局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行为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追踪的最长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持续时间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缓冲区数量和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大小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输出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文件的最大大小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等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2.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采集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哪些数据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启用哪些数据源（如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linux.ftrace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heap_profiler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等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）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各数据源的详细配置：要打开哪些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ftrace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事件、堆采样频率、目标进程名等</a:t>
            </a: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3.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数据源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写入到哪里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定义「数据源 → 缓冲区」的映射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关系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决定每个数据源写入哪个缓冲区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23602"/>
              </p:ext>
            </p:extLst>
          </p:nvPr>
        </p:nvGraphicFramePr>
        <p:xfrm>
          <a:off x="5808923" y="3608051"/>
          <a:ext cx="562259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937">
                  <a:extLst>
                    <a:ext uri="{9D8B030D-6E8A-4147-A177-3AD203B41FA5}">
                      <a16:colId xmlns:a16="http://schemas.microsoft.com/office/drawing/2014/main" val="1261641611"/>
                    </a:ext>
                  </a:extLst>
                </a:gridCol>
                <a:gridCol w="3983653">
                  <a:extLst>
                    <a:ext uri="{9D8B030D-6E8A-4147-A177-3AD203B41FA5}">
                      <a16:colId xmlns:a16="http://schemas.microsoft.com/office/drawing/2014/main" val="109167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字段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含义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05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duration_ms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整个 </a:t>
                      </a:r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trace </a:t>
                      </a: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的最长持续时间（毫秒）</a:t>
                      </a:r>
                      <a:endParaRPr lang="en-US" altLang="zh-CN" sz="1200" dirty="0" smtClean="0"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789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buffers#size_kb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单个缓冲区的大小（</a:t>
                      </a:r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KB</a:t>
                      </a: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）</a:t>
                      </a:r>
                      <a:endParaRPr lang="en-US" altLang="zh-CN" sz="1200" dirty="0" smtClean="0"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82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buffers#fill_policy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缓冲区写满后的策略：</a:t>
                      </a:r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RING_BUFFER / DISCARD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58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name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数据源名称（</a:t>
                      </a:r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Producer </a:t>
                      </a: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注册的固定名字），如：</a:t>
                      </a:r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linux.ftrace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217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target_buffer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当前数据源写入的缓冲区索引（上面 </a:t>
                      </a:r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buffers </a:t>
                      </a: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的下标）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822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ftrace_events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当前数据源要开启的 </a:t>
                      </a:r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ftrace</a:t>
                      </a:r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 </a:t>
                      </a: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事件列表</a:t>
                      </a:r>
                      <a:endParaRPr lang="en-US" altLang="zh-CN" sz="1200" dirty="0" smtClean="0"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44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atrace_categories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要开启的 </a:t>
                      </a:r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atrace</a:t>
                      </a:r>
                      <a:r>
                        <a:rPr lang="en-US" altLang="zh-CN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 </a:t>
                      </a:r>
                      <a:r>
                        <a:rPr lang="zh-CN" altLang="en-US" sz="1200" dirty="0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类，最终也会被转换成对应的 </a:t>
                      </a:r>
                      <a:r>
                        <a:rPr lang="en-US" altLang="zh-CN" sz="1200" dirty="0" err="1" smtClean="0"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ftrace_events</a:t>
                      </a:r>
                      <a:endParaRPr lang="en-US" altLang="zh-CN" sz="1200" dirty="0" smtClean="0"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332216"/>
                  </a:ext>
                </a:extLst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01" y="3722679"/>
            <a:ext cx="3783098" cy="26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9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抓</a:t>
            </a:r>
            <a:r>
              <a:rPr lang="en-US" altLang="zh-CN" sz="2400" dirty="0">
                <a:solidFill>
                  <a:srgbClr val="0070C0"/>
                </a:solidFill>
              </a:rPr>
              <a:t>B</a:t>
            </a:r>
            <a:r>
              <a:rPr lang="en-US" altLang="zh-CN" sz="2400" dirty="0" smtClean="0">
                <a:solidFill>
                  <a:srgbClr val="0070C0"/>
                </a:solidFill>
              </a:rPr>
              <a:t>oot Trace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104907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从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Android13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开始，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能够配置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成启动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时自动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抓取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操作步骤如下：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创建配置文件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boottrace.pbtxt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将配置文件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push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到设备此位置：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/data/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misc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perfetto-configs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boottrace.pbtxt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使能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perfetto_trace_on_boot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服务开机启动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1"/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shell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setprop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persist.debug.perfetto.boottrace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1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重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启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设备，取出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文件：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/data/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misc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-traces/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boottrace.perfetto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-trace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PS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: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属性在启动过程中会被重设，如果下次开机还需要录制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，重设该属性</a:t>
            </a:r>
          </a:p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495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抓</a:t>
            </a:r>
            <a:r>
              <a:rPr lang="en-US" altLang="zh-CN" sz="2400" dirty="0" smtClean="0">
                <a:solidFill>
                  <a:srgbClr val="0070C0"/>
                </a:solidFill>
              </a:rPr>
              <a:t>Boot Trace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104907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在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Android13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之前抓取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boot 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，操作步骤：</a:t>
            </a: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1.   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修改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设备中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./system/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etc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init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atrace.rc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文件，如</a:t>
            </a: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2.   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修改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atrace.rc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      on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property:persist.debug.atrace.boottrace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=1 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	start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      service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/system/bin/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--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async_start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-b 30720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gfx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input view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webview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wm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am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sm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audio video camera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hal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res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dalvik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rs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bionic power pm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ss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database network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vibrator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aidl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nnapi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rro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sched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irq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i2c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freq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idle disk mmc sync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workq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binder_lock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binder_driver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3.  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重启设备获取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    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root &amp;&amp;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shell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atrace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--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async_stop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-z -c -o /data/local/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tmp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boot_trace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    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pull /data/local/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tmp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boot_trace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ACA9D0-92B4-BD6D-210A-19309E0EC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76" y="1427701"/>
            <a:ext cx="3722858" cy="10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8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/>
          <p:cNvSpPr txBox="1"/>
          <p:nvPr/>
        </p:nvSpPr>
        <p:spPr>
          <a:xfrm>
            <a:off x="4450112" y="2686634"/>
            <a:ext cx="5366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UI </a:t>
            </a:r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与基础分析方法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</a:t>
              </a:r>
              <a:r>
                <a:rPr lang="en-US" altLang="zh-CN" sz="50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3</a:t>
              </a:r>
              <a:endParaRPr lang="en-US" altLang="zh-CN" sz="5000" b="1" dirty="0">
                <a:solidFill>
                  <a:schemeClr val="bg1"/>
                </a:solidFill>
                <a:latin typeface="Calibri" panose="020F0502020204030204" pitchFamily="34" charset="0"/>
                <a:ea typeface="华文琥珀" panose="02010800040101010101" pitchFamily="2" charset="-122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4400" dirty="0" smtClean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  <a:endParaRPr lang="en-US" altLang="zh-CN" sz="4400" dirty="0">
                <a:solidFill>
                  <a:schemeClr val="bg1"/>
                </a:solidFill>
                <a:latin typeface="Calibri" panose="020F0502020204030204" pitchFamily="34" charset="0"/>
                <a:ea typeface="思源黑体" panose="020B0500000000000000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/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/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/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/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274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解析网址</a:t>
            </a:r>
            <a:endParaRPr lang="zh-CN" altLang="en-US" sz="2400" dirty="0">
              <a:solidFill>
                <a:srgbClr val="0070C0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12182"/>
            <a:ext cx="109156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解析网址：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  <a:hlinkClick r:id="rId3"/>
              </a:rPr>
              <a:t>https://ui.perfetto.dev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  <a:hlinkClick r:id="rId3"/>
              </a:rPr>
              <a:t>/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常用快捷键：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W: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放大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S: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缩小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A: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左移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D: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右移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M: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高亮选中当前鼠标点击的段</a:t>
            </a:r>
            <a:endParaRPr lang="en-US" altLang="zh-CN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254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数据分析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线程运行状态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2925" y="912182"/>
            <a:ext cx="109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绿色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Running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（运行中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）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——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线程正在占用某个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核心执行指令</a:t>
            </a:r>
          </a:p>
          <a:p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状态作用：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① 通过测量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Running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时间长短判断判断某个方法在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上是否耗时长；② 可以进行竞品对比看看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能力如何；③ 对比大小核上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Running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时间，分析不同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核心对方法耗时的影响。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05A883-085F-5A45-B785-BBEC7EAFA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6289"/>
            <a:ext cx="8873578" cy="476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8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数据分析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线程运行状态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2925" y="912182"/>
            <a:ext cx="109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草绿色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Runnable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（运行中）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——Runnable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（就绪）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—— 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线程已就绪，可以立刻运行，但当前没有被调度到任何 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上。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状态作用：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① 点击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Runnable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这个块，下面的信息会显示当前线程唤醒者是谁，即可以清楚知道整个线程之间唤醒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逻辑；② 如果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Runnable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持续时间较长，通常说明：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总体比较比较忙（有很多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Running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线程抢）或线程优先级受限，调度不到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513F00-3F73-7BC8-2AEF-A2AB21465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6289"/>
            <a:ext cx="9699798" cy="478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2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数据分析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线程运行状态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2925" y="912182"/>
            <a:ext cx="109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白色：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Sleeping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（睡眠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中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/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可中断睡眠）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——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对应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Linux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中常见的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S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状态。</a:t>
            </a:r>
            <a:endParaRPr lang="zh-CN" altLang="en-US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400" b="1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状态作用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代表当前线程在等待时间（消息、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epoll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等），大部分时间在睡眠，唤醒后短时间处理完再继续睡。比如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UI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线程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Looper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线程大部分时间是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Sleeping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，只有有消息时才会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Running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75175"/>
            <a:ext cx="10293348" cy="38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3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数据分析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线程运行状态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2925" y="912182"/>
            <a:ext cx="10982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橘色：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Uninterruptible Sleep – IO Block 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（不可中断的睡眠状态）</a:t>
            </a:r>
          </a:p>
          <a:p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状态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作用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不可中断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的休眠状态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，在内核态等待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IO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结束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一般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是线程在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IO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操作上阻塞了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5464CB-9056-20DC-ED89-7CC10BF6B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6685"/>
            <a:ext cx="9302951" cy="49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5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数据分析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线程运行状态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2925" y="912182"/>
            <a:ext cx="10982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褐色：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Uninterruptible Sleep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Non IO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）</a:t>
            </a:r>
          </a:p>
          <a:p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状态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作用：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不可中断的休眠状态，非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IO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导致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，通常在等待某些内核内部的锁或条件（例如内存回收、驱动内部锁等）。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C8FE34A-E75A-EE04-3382-1235C6FF2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72326"/>
            <a:ext cx="10564336" cy="37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6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同步跨进程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binder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调用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05870" y="912182"/>
            <a:ext cx="39193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通过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可以清晰看到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调用端： 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binder transaction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，通过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 reply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可以快速跳转到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接收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端。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Running time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：调用端线程在整个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 transaction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期间自己在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上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Running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的时长（准备参数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+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调用前后的一点用户态代码）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Sleeping time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：调用端被阻塞等待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回复的时间。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19" y="967399"/>
            <a:ext cx="6854151" cy="518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5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异步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跨进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程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binder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调用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A0D7B4-C43E-4FF2-90B5-F733131F9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71" y="702233"/>
            <a:ext cx="6842549" cy="567013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605870" y="912182"/>
            <a:ext cx="39193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调用端发出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 transaction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async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后 不会阻塞等待返回，线程可以继续执行自己的逻辑；</a:t>
            </a: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服务端通过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async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rcv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接收请求，在自己的线程中异步处理；</a:t>
            </a: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中可以通过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Flow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binder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async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rcv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）把调用端和接收端对应起来。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098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使用率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9600" y="912182"/>
            <a:ext cx="10915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使用率可以通过标记小红旗，截取一段时间内的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段，如下图所示：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Selected range : 2s 1ms 842us  902ns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Wall duration (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ms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) : 3662.468097</a:t>
            </a:r>
          </a:p>
          <a:p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使用率</a:t>
            </a:r>
            <a:r>
              <a:rPr lang="en-US" altLang="zh-CN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=Wall duration/Selected range * 100% = 3662/2001 * 100% = 181%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6B6BB7-7132-48A9-44EF-D79F1E3E3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2015947"/>
            <a:ext cx="11149972" cy="413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自定义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Trace TAG</a:t>
            </a:r>
            <a:endParaRPr lang="zh-CN" altLang="en-US" sz="2400" dirty="0">
              <a:solidFill>
                <a:srgbClr val="0070C0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12182"/>
            <a:ext cx="10915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JAVA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层打桩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2925" y="3813038"/>
            <a:ext cx="10915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C++</a:t>
            </a:r>
            <a:r>
              <a:rPr lang="en-US" altLang="zh-CN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层打桩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6" y="4330175"/>
            <a:ext cx="3571901" cy="131922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10" y="1429319"/>
            <a:ext cx="5991269" cy="16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8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/>
          <p:cNvSpPr txBox="1"/>
          <p:nvPr/>
        </p:nvSpPr>
        <p:spPr>
          <a:xfrm>
            <a:off x="4450112" y="2686634"/>
            <a:ext cx="5366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案例分享</a:t>
            </a:r>
            <a:endParaRPr lang="en-US" altLang="zh-CN" sz="36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</a:t>
              </a:r>
              <a:r>
                <a:rPr lang="en-US" altLang="zh-CN" sz="50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4</a:t>
              </a:r>
              <a:endParaRPr lang="en-US" altLang="zh-CN" sz="5000" b="1" dirty="0">
                <a:solidFill>
                  <a:schemeClr val="bg1"/>
                </a:solidFill>
                <a:latin typeface="Calibri" panose="020F0502020204030204" pitchFamily="34" charset="0"/>
                <a:ea typeface="华文琥珀" panose="02010800040101010101" pitchFamily="2" charset="-122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4400" dirty="0" smtClean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  <a:endParaRPr lang="en-US" altLang="zh-CN" sz="4400" dirty="0">
                <a:solidFill>
                  <a:schemeClr val="bg1"/>
                </a:solidFill>
                <a:latin typeface="Calibri" panose="020F0502020204030204" pitchFamily="34" charset="0"/>
                <a:ea typeface="思源黑体" panose="020B0500000000000000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/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/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/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/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53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案例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分享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应用 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UI 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线程耗时引起卡顿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9" y="2014358"/>
            <a:ext cx="10521802" cy="215419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9600" y="830287"/>
            <a:ext cx="10875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问题描述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在下拉页编辑界面，点击“添加”按钮时，动效播放明显缓慢，伴随短暂卡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顿。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问题分析：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从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trace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可以看到，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SystemUI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主线程在该帧的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doFrame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流程中总耗时约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49ms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，远超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16.6ms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其中主要耗时集中在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buildDrawingCache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/ SW Layer for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ConstraintLayout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这段，导致当前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VSync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周期内无法完成上帧工作，引发严重掉帧。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2925" y="4574894"/>
            <a:ext cx="10875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根因：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结合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源码分析，当某个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View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layerType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被设置为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LAYER_TYPE_SOFTWARE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（关闭硬件绘制加速）时，会走到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buildDrawingCache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的软件缓存路径，触发较重的绘制开销。</a:t>
            </a:r>
          </a:p>
          <a:p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下拉编辑界面中，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DFL_SystemUI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的根布局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rootView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被配置为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LAYER_TYPE_SOFTWARE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，导致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UI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线程在每次动效触发时都执行耗时的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buildDrawingCache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，从而造成卡顿。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70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案例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分享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多屏显示引发的卡顿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830287"/>
            <a:ext cx="10875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问题描述：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C801 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项目在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多屏投屏场景（主屏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+ 2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副屏）下出现明显卡顿和掉帧现象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问题分析：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从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Perfetto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trace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可以看到，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SurfaceFlinger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主线程单帧合成耗时约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42ms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，远超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16.6ms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的刷新周期，属于严重掉帧。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23B6509-8144-E72C-93F9-3DA660A14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18" y="1678692"/>
            <a:ext cx="9823988" cy="395154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09599" y="5957317"/>
            <a:ext cx="10034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根因：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通过投屏功能连接多个屏幕时，即使两个副屏没有业务内容，系统仍默认镜像主屏内容，导致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SurfaceFlinger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每帧需要为多个屏幕合成与输出画面，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GPU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渲染负担和带宽占用显著增加，从而引发卡顿和掉帧。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23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案例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分享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多屏显示引发的卡顿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105386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处理</a:t>
            </a:r>
            <a:r>
              <a:rPr lang="zh-CN" altLang="en-US" sz="1400" b="1" dirty="0">
                <a:latin typeface="思源黑体" panose="020B0500000000000000" pitchFamily="34" charset="-122"/>
                <a:ea typeface="思源黑体" panose="020B0500000000000000" pitchFamily="34" charset="-122"/>
              </a:rPr>
              <a:t>措施</a:t>
            </a:r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调整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多显示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配置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：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当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副屏无内容输出时，不再镜像主屏，仅保留主屏合成与输出。优化后有效减少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了 渲染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开销，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SurfaceFlinger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单帧耗时恢复正常，卡顿现象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消失。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配置项：</a:t>
            </a:r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&lt;!--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When true, local displays that do not contain any of their own content will 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automatically mirror 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the content of the default display. --&gt; 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&lt;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bool name="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config_localDisplaysMirrorContent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"&gt;false&lt;/bool&gt;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7374B1-5111-06A7-C8D4-40753784D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31" y="2694948"/>
            <a:ext cx="8048310" cy="38723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案例分析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弹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窗点击失效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830287"/>
            <a:ext cx="10875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问题描述：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CCS-9057 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偶发一次，断电无法恢复（锁车休眠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2h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后恢复），方控重启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DA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后，语音权限弹窗一直显示在上方，无法关闭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问题分析：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从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Trace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上可以看到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，事件派发给了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GrantPermissionActivity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，并且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GrantPermissionController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ViewRootImpl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进行了处理，是进程内部拦截了事件。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94" y="3869888"/>
            <a:ext cx="7009812" cy="28706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62054"/>
            <a:ext cx="6586586" cy="215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4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案例分析</a:t>
            </a:r>
            <a:r>
              <a:rPr lang="en-US" altLang="zh-CN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弹</a:t>
            </a:r>
            <a:r>
              <a:rPr lang="zh-CN" altLang="en-US" sz="2400" dirty="0" smtClean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窗点击失效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830287"/>
            <a:ext cx="10875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根因：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CCS-9057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权限弹窗设置了</a:t>
            </a:r>
            <a:r>
              <a:rPr lang="en-US" altLang="zh-CN" sz="1400" dirty="0" err="1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filterTouchesWhenObscured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=true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，有</a:t>
            </a:r>
            <a:r>
              <a:rPr lang="en-US" altLang="zh-CN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window</a:t>
            </a:r>
            <a:r>
              <a:rPr lang="zh-CN" altLang="en-US" sz="1400" dirty="0" smtClean="0">
                <a:latin typeface="思源黑体" panose="020B0500000000000000" pitchFamily="34" charset="-122"/>
                <a:ea typeface="思源黑体" panose="020B0500000000000000" pitchFamily="34" charset="-122"/>
              </a:rPr>
              <a:t>在它的上方，它不会处理此事件。</a:t>
            </a:r>
            <a:endParaRPr lang="en-US" altLang="zh-CN" sz="1400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en-US" altLang="zh-CN" sz="1400" b="1" dirty="0" smtClean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196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273425" y="2372995"/>
            <a:ext cx="5645150" cy="2329815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/>
            <a:r>
              <a:rPr lang="en-US" altLang="zh-CN" sz="8800" b="1" cap="none" spc="0" dirty="0" smtClean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Q&amp;A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40640" y="272809"/>
            <a:ext cx="2054690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问答环节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657241" y="2900573"/>
            <a:ext cx="404532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 smtClean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感谢</a:t>
            </a:r>
            <a:r>
              <a:rPr lang="zh-CN" altLang="en-US" sz="6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参与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9004796" y="5939755"/>
            <a:ext cx="2016224" cy="432048"/>
            <a:chOff x="1125067" y="5445224"/>
            <a:chExt cx="3024336" cy="648072"/>
          </a:xfrm>
        </p:grpSpPr>
        <p:sp>
          <p:nvSpPr>
            <p:cNvPr id="9" name="椭圆 8"/>
            <p:cNvSpPr/>
            <p:nvPr/>
          </p:nvSpPr>
          <p:spPr>
            <a:xfrm>
              <a:off x="1125067" y="5445224"/>
              <a:ext cx="648072" cy="648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2349203" y="5445224"/>
              <a:ext cx="648072" cy="648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3501331" y="5445224"/>
              <a:ext cx="648072" cy="648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142"/>
            <p:cNvSpPr>
              <a:spLocks noEditPoints="1"/>
            </p:cNvSpPr>
            <p:nvPr/>
          </p:nvSpPr>
          <p:spPr bwMode="auto">
            <a:xfrm>
              <a:off x="1259558" y="5555332"/>
              <a:ext cx="425450" cy="404813"/>
            </a:xfrm>
            <a:custGeom>
              <a:avLst/>
              <a:gdLst>
                <a:gd name="T0" fmla="*/ 68 w 113"/>
                <a:gd name="T1" fmla="*/ 54 h 108"/>
                <a:gd name="T2" fmla="*/ 45 w 113"/>
                <a:gd name="T3" fmla="*/ 54 h 108"/>
                <a:gd name="T4" fmla="*/ 48 w 113"/>
                <a:gd name="T5" fmla="*/ 32 h 108"/>
                <a:gd name="T6" fmla="*/ 0 w 113"/>
                <a:gd name="T7" fmla="*/ 54 h 108"/>
                <a:gd name="T8" fmla="*/ 17 w 113"/>
                <a:gd name="T9" fmla="*/ 93 h 108"/>
                <a:gd name="T10" fmla="*/ 62 w 113"/>
                <a:gd name="T11" fmla="*/ 78 h 108"/>
                <a:gd name="T12" fmla="*/ 38 w 113"/>
                <a:gd name="T13" fmla="*/ 84 h 108"/>
                <a:gd name="T14" fmla="*/ 26 w 113"/>
                <a:gd name="T15" fmla="*/ 73 h 108"/>
                <a:gd name="T16" fmla="*/ 57 w 113"/>
                <a:gd name="T17" fmla="*/ 76 h 108"/>
                <a:gd name="T18" fmla="*/ 79 w 113"/>
                <a:gd name="T19" fmla="*/ 82 h 108"/>
                <a:gd name="T20" fmla="*/ 64 w 113"/>
                <a:gd name="T21" fmla="*/ 89 h 108"/>
                <a:gd name="T22" fmla="*/ 52 w 113"/>
                <a:gd name="T23" fmla="*/ 89 h 108"/>
                <a:gd name="T24" fmla="*/ 80 w 113"/>
                <a:gd name="T25" fmla="*/ 105 h 108"/>
                <a:gd name="T26" fmla="*/ 86 w 113"/>
                <a:gd name="T27" fmla="*/ 73 h 108"/>
                <a:gd name="T28" fmla="*/ 113 w 113"/>
                <a:gd name="T29" fmla="*/ 54 h 108"/>
                <a:gd name="T30" fmla="*/ 70 w 113"/>
                <a:gd name="T31" fmla="*/ 32 h 108"/>
                <a:gd name="T32" fmla="*/ 76 w 113"/>
                <a:gd name="T33" fmla="*/ 23 h 108"/>
                <a:gd name="T34" fmla="*/ 88 w 113"/>
                <a:gd name="T35" fmla="*/ 33 h 108"/>
                <a:gd name="T36" fmla="*/ 96 w 113"/>
                <a:gd name="T37" fmla="*/ 14 h 108"/>
                <a:gd name="T38" fmla="*/ 63 w 113"/>
                <a:gd name="T39" fmla="*/ 20 h 108"/>
                <a:gd name="T40" fmla="*/ 33 w 113"/>
                <a:gd name="T41" fmla="*/ 3 h 108"/>
                <a:gd name="T42" fmla="*/ 26 w 113"/>
                <a:gd name="T43" fmla="*/ 29 h 108"/>
                <a:gd name="T44" fmla="*/ 34 w 113"/>
                <a:gd name="T45" fmla="*/ 25 h 108"/>
                <a:gd name="T46" fmla="*/ 49 w 113"/>
                <a:gd name="T47" fmla="*/ 18 h 108"/>
                <a:gd name="T48" fmla="*/ 48 w 113"/>
                <a:gd name="T49" fmla="*/ 32 h 108"/>
                <a:gd name="T50" fmla="*/ 92 w 113"/>
                <a:gd name="T51" fmla="*/ 45 h 108"/>
                <a:gd name="T52" fmla="*/ 92 w 113"/>
                <a:gd name="T53" fmla="*/ 62 h 108"/>
                <a:gd name="T54" fmla="*/ 77 w 113"/>
                <a:gd name="T55" fmla="*/ 44 h 108"/>
                <a:gd name="T56" fmla="*/ 75 w 113"/>
                <a:gd name="T57" fmla="*/ 66 h 108"/>
                <a:gd name="T58" fmla="*/ 65 w 113"/>
                <a:gd name="T59" fmla="*/ 41 h 108"/>
                <a:gd name="T60" fmla="*/ 51 w 113"/>
                <a:gd name="T61" fmla="*/ 41 h 108"/>
                <a:gd name="T62" fmla="*/ 47 w 113"/>
                <a:gd name="T63" fmla="*/ 44 h 108"/>
                <a:gd name="T64" fmla="*/ 57 w 113"/>
                <a:gd name="T65" fmla="*/ 67 h 108"/>
                <a:gd name="T66" fmla="*/ 22 w 113"/>
                <a:gd name="T67" fmla="*/ 62 h 108"/>
                <a:gd name="T68" fmla="*/ 9 w 113"/>
                <a:gd name="T69" fmla="*/ 54 h 108"/>
                <a:gd name="T70" fmla="*/ 37 w 113"/>
                <a:gd name="T71" fmla="*/ 42 h 108"/>
                <a:gd name="T72" fmla="*/ 64 w 113"/>
                <a:gd name="T73" fmla="*/ 50 h 108"/>
                <a:gd name="T74" fmla="*/ 64 w 113"/>
                <a:gd name="T75" fmla="*/ 50 h 108"/>
                <a:gd name="T76" fmla="*/ 50 w 113"/>
                <a:gd name="T77" fmla="*/ 53 h 108"/>
                <a:gd name="T78" fmla="*/ 49 w 113"/>
                <a:gd name="T79" fmla="*/ 57 h 108"/>
                <a:gd name="T80" fmla="*/ 51 w 113"/>
                <a:gd name="T81" fmla="*/ 52 h 108"/>
                <a:gd name="T82" fmla="*/ 56 w 113"/>
                <a:gd name="T83" fmla="*/ 45 h 108"/>
                <a:gd name="T84" fmla="*/ 58 w 113"/>
                <a:gd name="T85" fmla="*/ 45 h 108"/>
                <a:gd name="T86" fmla="*/ 60 w 113"/>
                <a:gd name="T87" fmla="*/ 4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108">
                  <a:moveTo>
                    <a:pt x="57" y="42"/>
                  </a:moveTo>
                  <a:cubicBezTo>
                    <a:pt x="63" y="42"/>
                    <a:pt x="68" y="47"/>
                    <a:pt x="68" y="54"/>
                  </a:cubicBezTo>
                  <a:cubicBezTo>
                    <a:pt x="68" y="60"/>
                    <a:pt x="63" y="65"/>
                    <a:pt x="57" y="65"/>
                  </a:cubicBezTo>
                  <a:cubicBezTo>
                    <a:pt x="50" y="65"/>
                    <a:pt x="45" y="60"/>
                    <a:pt x="45" y="54"/>
                  </a:cubicBezTo>
                  <a:cubicBezTo>
                    <a:pt x="45" y="47"/>
                    <a:pt x="50" y="42"/>
                    <a:pt x="57" y="42"/>
                  </a:cubicBezTo>
                  <a:close/>
                  <a:moveTo>
                    <a:pt x="48" y="32"/>
                  </a:moveTo>
                  <a:cubicBezTo>
                    <a:pt x="36" y="32"/>
                    <a:pt x="26" y="34"/>
                    <a:pt x="19" y="37"/>
                  </a:cubicBezTo>
                  <a:cubicBezTo>
                    <a:pt x="7" y="41"/>
                    <a:pt x="0" y="47"/>
                    <a:pt x="0" y="54"/>
                  </a:cubicBezTo>
                  <a:cubicBezTo>
                    <a:pt x="0" y="60"/>
                    <a:pt x="7" y="66"/>
                    <a:pt x="17" y="70"/>
                  </a:cubicBezTo>
                  <a:cubicBezTo>
                    <a:pt x="13" y="80"/>
                    <a:pt x="12" y="89"/>
                    <a:pt x="17" y="93"/>
                  </a:cubicBezTo>
                  <a:cubicBezTo>
                    <a:pt x="22" y="98"/>
                    <a:pt x="31" y="98"/>
                    <a:pt x="42" y="92"/>
                  </a:cubicBezTo>
                  <a:cubicBezTo>
                    <a:pt x="48" y="89"/>
                    <a:pt x="55" y="84"/>
                    <a:pt x="62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4" y="81"/>
                    <a:pt x="41" y="83"/>
                    <a:pt x="38" y="84"/>
                  </a:cubicBezTo>
                  <a:cubicBezTo>
                    <a:pt x="31" y="88"/>
                    <a:pt x="25" y="89"/>
                    <a:pt x="23" y="87"/>
                  </a:cubicBezTo>
                  <a:cubicBezTo>
                    <a:pt x="21" y="85"/>
                    <a:pt x="23" y="80"/>
                    <a:pt x="26" y="73"/>
                  </a:cubicBezTo>
                  <a:cubicBezTo>
                    <a:pt x="26" y="73"/>
                    <a:pt x="26" y="73"/>
                    <a:pt x="26" y="73"/>
                  </a:cubicBezTo>
                  <a:cubicBezTo>
                    <a:pt x="35" y="75"/>
                    <a:pt x="45" y="76"/>
                    <a:pt x="57" y="76"/>
                  </a:cubicBezTo>
                  <a:cubicBezTo>
                    <a:pt x="64" y="76"/>
                    <a:pt x="71" y="75"/>
                    <a:pt x="77" y="74"/>
                  </a:cubicBezTo>
                  <a:cubicBezTo>
                    <a:pt x="78" y="77"/>
                    <a:pt x="78" y="80"/>
                    <a:pt x="79" y="82"/>
                  </a:cubicBezTo>
                  <a:cubicBezTo>
                    <a:pt x="79" y="90"/>
                    <a:pt x="79" y="95"/>
                    <a:pt x="76" y="96"/>
                  </a:cubicBezTo>
                  <a:cubicBezTo>
                    <a:pt x="74" y="98"/>
                    <a:pt x="69" y="95"/>
                    <a:pt x="64" y="89"/>
                  </a:cubicBezTo>
                  <a:cubicBezTo>
                    <a:pt x="62" y="88"/>
                    <a:pt x="61" y="86"/>
                    <a:pt x="60" y="84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54" y="91"/>
                    <a:pt x="56" y="93"/>
                    <a:pt x="57" y="95"/>
                  </a:cubicBezTo>
                  <a:cubicBezTo>
                    <a:pt x="65" y="104"/>
                    <a:pt x="74" y="108"/>
                    <a:pt x="80" y="105"/>
                  </a:cubicBezTo>
                  <a:cubicBezTo>
                    <a:pt x="86" y="102"/>
                    <a:pt x="89" y="93"/>
                    <a:pt x="88" y="81"/>
                  </a:cubicBezTo>
                  <a:cubicBezTo>
                    <a:pt x="87" y="79"/>
                    <a:pt x="87" y="76"/>
                    <a:pt x="86" y="73"/>
                  </a:cubicBezTo>
                  <a:cubicBezTo>
                    <a:pt x="89" y="72"/>
                    <a:pt x="92" y="71"/>
                    <a:pt x="95" y="70"/>
                  </a:cubicBezTo>
                  <a:cubicBezTo>
                    <a:pt x="106" y="67"/>
                    <a:pt x="113" y="61"/>
                    <a:pt x="113" y="54"/>
                  </a:cubicBezTo>
                  <a:cubicBezTo>
                    <a:pt x="113" y="47"/>
                    <a:pt x="106" y="41"/>
                    <a:pt x="95" y="37"/>
                  </a:cubicBezTo>
                  <a:cubicBezTo>
                    <a:pt x="88" y="35"/>
                    <a:pt x="80" y="33"/>
                    <a:pt x="70" y="32"/>
                  </a:cubicBezTo>
                  <a:cubicBezTo>
                    <a:pt x="69" y="31"/>
                    <a:pt x="69" y="29"/>
                    <a:pt x="68" y="28"/>
                  </a:cubicBezTo>
                  <a:cubicBezTo>
                    <a:pt x="70" y="26"/>
                    <a:pt x="73" y="24"/>
                    <a:pt x="76" y="23"/>
                  </a:cubicBezTo>
                  <a:cubicBezTo>
                    <a:pt x="83" y="20"/>
                    <a:pt x="88" y="18"/>
                    <a:pt x="90" y="20"/>
                  </a:cubicBezTo>
                  <a:cubicBezTo>
                    <a:pt x="92" y="22"/>
                    <a:pt x="91" y="27"/>
                    <a:pt x="88" y="33"/>
                  </a:cubicBezTo>
                  <a:cubicBezTo>
                    <a:pt x="97" y="35"/>
                    <a:pt x="97" y="35"/>
                    <a:pt x="97" y="35"/>
                  </a:cubicBezTo>
                  <a:cubicBezTo>
                    <a:pt x="101" y="26"/>
                    <a:pt x="101" y="18"/>
                    <a:pt x="96" y="14"/>
                  </a:cubicBezTo>
                  <a:cubicBezTo>
                    <a:pt x="91" y="9"/>
                    <a:pt x="82" y="10"/>
                    <a:pt x="72" y="15"/>
                  </a:cubicBezTo>
                  <a:cubicBezTo>
                    <a:pt x="69" y="16"/>
                    <a:pt x="66" y="18"/>
                    <a:pt x="63" y="20"/>
                  </a:cubicBezTo>
                  <a:cubicBezTo>
                    <a:pt x="60" y="17"/>
                    <a:pt x="58" y="15"/>
                    <a:pt x="56" y="12"/>
                  </a:cubicBezTo>
                  <a:cubicBezTo>
                    <a:pt x="48" y="4"/>
                    <a:pt x="39" y="0"/>
                    <a:pt x="33" y="3"/>
                  </a:cubicBezTo>
                  <a:cubicBezTo>
                    <a:pt x="27" y="6"/>
                    <a:pt x="24" y="14"/>
                    <a:pt x="26" y="26"/>
                  </a:cubicBezTo>
                  <a:cubicBezTo>
                    <a:pt x="26" y="27"/>
                    <a:pt x="26" y="28"/>
                    <a:pt x="26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7"/>
                    <a:pt x="35" y="26"/>
                    <a:pt x="34" y="25"/>
                  </a:cubicBezTo>
                  <a:cubicBezTo>
                    <a:pt x="34" y="17"/>
                    <a:pt x="34" y="12"/>
                    <a:pt x="37" y="11"/>
                  </a:cubicBezTo>
                  <a:cubicBezTo>
                    <a:pt x="39" y="10"/>
                    <a:pt x="44" y="13"/>
                    <a:pt x="49" y="18"/>
                  </a:cubicBezTo>
                  <a:cubicBezTo>
                    <a:pt x="51" y="20"/>
                    <a:pt x="53" y="23"/>
                    <a:pt x="55" y="25"/>
                  </a:cubicBezTo>
                  <a:cubicBezTo>
                    <a:pt x="53" y="27"/>
                    <a:pt x="50" y="30"/>
                    <a:pt x="48" y="32"/>
                  </a:cubicBezTo>
                  <a:close/>
                  <a:moveTo>
                    <a:pt x="75" y="42"/>
                  </a:moveTo>
                  <a:cubicBezTo>
                    <a:pt x="82" y="43"/>
                    <a:pt x="87" y="44"/>
                    <a:pt x="92" y="45"/>
                  </a:cubicBezTo>
                  <a:cubicBezTo>
                    <a:pt x="99" y="48"/>
                    <a:pt x="104" y="51"/>
                    <a:pt x="104" y="54"/>
                  </a:cubicBezTo>
                  <a:cubicBezTo>
                    <a:pt x="104" y="56"/>
                    <a:pt x="99" y="59"/>
                    <a:pt x="92" y="62"/>
                  </a:cubicBezTo>
                  <a:cubicBezTo>
                    <a:pt x="89" y="63"/>
                    <a:pt x="87" y="63"/>
                    <a:pt x="84" y="64"/>
                  </a:cubicBezTo>
                  <a:cubicBezTo>
                    <a:pt x="82" y="58"/>
                    <a:pt x="80" y="51"/>
                    <a:pt x="77" y="44"/>
                  </a:cubicBezTo>
                  <a:cubicBezTo>
                    <a:pt x="76" y="44"/>
                    <a:pt x="76" y="43"/>
                    <a:pt x="75" y="42"/>
                  </a:cubicBezTo>
                  <a:close/>
                  <a:moveTo>
                    <a:pt x="75" y="66"/>
                  </a:moveTo>
                  <a:cubicBezTo>
                    <a:pt x="73" y="60"/>
                    <a:pt x="71" y="54"/>
                    <a:pt x="69" y="48"/>
                  </a:cubicBezTo>
                  <a:cubicBezTo>
                    <a:pt x="67" y="46"/>
                    <a:pt x="66" y="43"/>
                    <a:pt x="65" y="41"/>
                  </a:cubicBezTo>
                  <a:cubicBezTo>
                    <a:pt x="62" y="41"/>
                    <a:pt x="59" y="41"/>
                    <a:pt x="57" y="41"/>
                  </a:cubicBezTo>
                  <a:cubicBezTo>
                    <a:pt x="55" y="41"/>
                    <a:pt x="53" y="41"/>
                    <a:pt x="51" y="41"/>
                  </a:cubicBezTo>
                  <a:cubicBezTo>
                    <a:pt x="50" y="42"/>
                    <a:pt x="49" y="43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1" y="51"/>
                    <a:pt x="35" y="58"/>
                    <a:pt x="31" y="64"/>
                  </a:cubicBezTo>
                  <a:cubicBezTo>
                    <a:pt x="38" y="66"/>
                    <a:pt x="47" y="67"/>
                    <a:pt x="57" y="67"/>
                  </a:cubicBezTo>
                  <a:cubicBezTo>
                    <a:pt x="63" y="67"/>
                    <a:pt x="69" y="66"/>
                    <a:pt x="75" y="66"/>
                  </a:cubicBezTo>
                  <a:close/>
                  <a:moveTo>
                    <a:pt x="22" y="62"/>
                  </a:moveTo>
                  <a:cubicBezTo>
                    <a:pt x="22" y="62"/>
                    <a:pt x="22" y="62"/>
                    <a:pt x="22" y="62"/>
                  </a:cubicBezTo>
                  <a:cubicBezTo>
                    <a:pt x="14" y="59"/>
                    <a:pt x="9" y="56"/>
                    <a:pt x="9" y="54"/>
                  </a:cubicBezTo>
                  <a:cubicBezTo>
                    <a:pt x="9" y="51"/>
                    <a:pt x="14" y="48"/>
                    <a:pt x="22" y="45"/>
                  </a:cubicBezTo>
                  <a:cubicBezTo>
                    <a:pt x="26" y="44"/>
                    <a:pt x="31" y="43"/>
                    <a:pt x="37" y="42"/>
                  </a:cubicBezTo>
                  <a:cubicBezTo>
                    <a:pt x="31" y="49"/>
                    <a:pt x="26" y="56"/>
                    <a:pt x="22" y="62"/>
                  </a:cubicBezTo>
                  <a:close/>
                  <a:moveTo>
                    <a:pt x="64" y="50"/>
                  </a:moveTo>
                  <a:cubicBezTo>
                    <a:pt x="63" y="55"/>
                    <a:pt x="61" y="59"/>
                    <a:pt x="57" y="62"/>
                  </a:cubicBezTo>
                  <a:cubicBezTo>
                    <a:pt x="63" y="62"/>
                    <a:pt x="66" y="55"/>
                    <a:pt x="64" y="50"/>
                  </a:cubicBezTo>
                  <a:close/>
                  <a:moveTo>
                    <a:pt x="49" y="57"/>
                  </a:moveTo>
                  <a:cubicBezTo>
                    <a:pt x="49" y="55"/>
                    <a:pt x="50" y="54"/>
                    <a:pt x="50" y="53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4"/>
                    <a:pt x="48" y="55"/>
                    <a:pt x="49" y="57"/>
                  </a:cubicBezTo>
                  <a:close/>
                  <a:moveTo>
                    <a:pt x="49" y="50"/>
                  </a:moveTo>
                  <a:cubicBezTo>
                    <a:pt x="51" y="52"/>
                    <a:pt x="51" y="52"/>
                    <a:pt x="51" y="52"/>
                  </a:cubicBezTo>
                  <a:cubicBezTo>
                    <a:pt x="53" y="50"/>
                    <a:pt x="55" y="49"/>
                    <a:pt x="57" y="47"/>
                  </a:cubicBezTo>
                  <a:cubicBezTo>
                    <a:pt x="56" y="45"/>
                    <a:pt x="56" y="45"/>
                    <a:pt x="56" y="45"/>
                  </a:cubicBezTo>
                  <a:cubicBezTo>
                    <a:pt x="53" y="45"/>
                    <a:pt x="50" y="47"/>
                    <a:pt x="49" y="50"/>
                  </a:cubicBezTo>
                  <a:close/>
                  <a:moveTo>
                    <a:pt x="58" y="45"/>
                  </a:moveTo>
                  <a:cubicBezTo>
                    <a:pt x="58" y="47"/>
                    <a:pt x="58" y="47"/>
                    <a:pt x="58" y="47"/>
                  </a:cubicBezTo>
                  <a:cubicBezTo>
                    <a:pt x="59" y="46"/>
                    <a:pt x="59" y="46"/>
                    <a:pt x="60" y="46"/>
                  </a:cubicBezTo>
                  <a:cubicBezTo>
                    <a:pt x="59" y="45"/>
                    <a:pt x="58" y="45"/>
                    <a:pt x="58" y="4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54"/>
            <p:cNvSpPr>
              <a:spLocks noEditPoints="1"/>
            </p:cNvSpPr>
            <p:nvPr/>
          </p:nvSpPr>
          <p:spPr bwMode="auto">
            <a:xfrm>
              <a:off x="2527127" y="5589240"/>
              <a:ext cx="341313" cy="349250"/>
            </a:xfrm>
            <a:custGeom>
              <a:avLst/>
              <a:gdLst>
                <a:gd name="T0" fmla="*/ 80 w 91"/>
                <a:gd name="T1" fmla="*/ 44 h 93"/>
                <a:gd name="T2" fmla="*/ 87 w 91"/>
                <a:gd name="T3" fmla="*/ 37 h 93"/>
                <a:gd name="T4" fmla="*/ 87 w 91"/>
                <a:gd name="T5" fmla="*/ 23 h 93"/>
                <a:gd name="T6" fmla="*/ 68 w 91"/>
                <a:gd name="T7" fmla="*/ 4 h 93"/>
                <a:gd name="T8" fmla="*/ 54 w 91"/>
                <a:gd name="T9" fmla="*/ 4 h 93"/>
                <a:gd name="T10" fmla="*/ 47 w 91"/>
                <a:gd name="T11" fmla="*/ 11 h 93"/>
                <a:gd name="T12" fmla="*/ 80 w 91"/>
                <a:gd name="T13" fmla="*/ 44 h 93"/>
                <a:gd name="T14" fmla="*/ 52 w 91"/>
                <a:gd name="T15" fmla="*/ 23 h 93"/>
                <a:gd name="T16" fmla="*/ 68 w 91"/>
                <a:gd name="T17" fmla="*/ 39 h 93"/>
                <a:gd name="T18" fmla="*/ 77 w 91"/>
                <a:gd name="T19" fmla="*/ 48 h 93"/>
                <a:gd name="T20" fmla="*/ 43 w 91"/>
                <a:gd name="T21" fmla="*/ 81 h 93"/>
                <a:gd name="T22" fmla="*/ 34 w 91"/>
                <a:gd name="T23" fmla="*/ 73 h 93"/>
                <a:gd name="T24" fmla="*/ 19 w 91"/>
                <a:gd name="T25" fmla="*/ 59 h 93"/>
                <a:gd name="T26" fmla="*/ 41 w 91"/>
                <a:gd name="T27" fmla="*/ 37 h 93"/>
                <a:gd name="T28" fmla="*/ 39 w 91"/>
                <a:gd name="T29" fmla="*/ 34 h 93"/>
                <a:gd name="T30" fmla="*/ 16 w 91"/>
                <a:gd name="T31" fmla="*/ 57 h 93"/>
                <a:gd name="T32" fmla="*/ 10 w 91"/>
                <a:gd name="T33" fmla="*/ 48 h 93"/>
                <a:gd name="T34" fmla="*/ 43 w 91"/>
                <a:gd name="T35" fmla="*/ 14 h 93"/>
                <a:gd name="T36" fmla="*/ 52 w 91"/>
                <a:gd name="T37" fmla="*/ 23 h 93"/>
                <a:gd name="T38" fmla="*/ 4 w 91"/>
                <a:gd name="T39" fmla="*/ 69 h 93"/>
                <a:gd name="T40" fmla="*/ 0 w 91"/>
                <a:gd name="T41" fmla="*/ 86 h 93"/>
                <a:gd name="T42" fmla="*/ 6 w 91"/>
                <a:gd name="T43" fmla="*/ 93 h 93"/>
                <a:gd name="T44" fmla="*/ 24 w 91"/>
                <a:gd name="T45" fmla="*/ 89 h 93"/>
                <a:gd name="T46" fmla="*/ 4 w 91"/>
                <a:gd name="T47" fmla="*/ 6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1" h="93">
                  <a:moveTo>
                    <a:pt x="80" y="44"/>
                  </a:moveTo>
                  <a:cubicBezTo>
                    <a:pt x="87" y="37"/>
                    <a:pt x="87" y="37"/>
                    <a:pt x="87" y="37"/>
                  </a:cubicBezTo>
                  <a:cubicBezTo>
                    <a:pt x="91" y="33"/>
                    <a:pt x="91" y="27"/>
                    <a:pt x="87" y="23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4" y="0"/>
                    <a:pt x="58" y="0"/>
                    <a:pt x="54" y="4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80" y="44"/>
                    <a:pt x="80" y="44"/>
                    <a:pt x="80" y="44"/>
                  </a:cubicBezTo>
                  <a:close/>
                  <a:moveTo>
                    <a:pt x="52" y="23"/>
                  </a:moveTo>
                  <a:cubicBezTo>
                    <a:pt x="68" y="39"/>
                    <a:pt x="68" y="39"/>
                    <a:pt x="68" y="3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35" y="83"/>
                    <a:pt x="33" y="79"/>
                    <a:pt x="34" y="73"/>
                  </a:cubicBezTo>
                  <a:cubicBezTo>
                    <a:pt x="26" y="72"/>
                    <a:pt x="20" y="68"/>
                    <a:pt x="19" y="59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0" y="58"/>
                    <a:pt x="9" y="54"/>
                    <a:pt x="10" y="48"/>
                  </a:cubicBezTo>
                  <a:cubicBezTo>
                    <a:pt x="21" y="37"/>
                    <a:pt x="32" y="26"/>
                    <a:pt x="43" y="14"/>
                  </a:cubicBezTo>
                  <a:cubicBezTo>
                    <a:pt x="52" y="23"/>
                    <a:pt x="52" y="23"/>
                    <a:pt x="52" y="23"/>
                  </a:cubicBezTo>
                  <a:close/>
                  <a:moveTo>
                    <a:pt x="4" y="69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24" y="89"/>
                    <a:pt x="24" y="89"/>
                    <a:pt x="24" y="89"/>
                  </a:cubicBezTo>
                  <a:lnTo>
                    <a:pt x="4" y="6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4" name="Freeform 190"/>
            <p:cNvSpPr>
              <a:spLocks noEditPoints="1"/>
            </p:cNvSpPr>
            <p:nvPr/>
          </p:nvSpPr>
          <p:spPr bwMode="auto">
            <a:xfrm>
              <a:off x="3645347" y="5589240"/>
              <a:ext cx="409575" cy="330200"/>
            </a:xfrm>
            <a:custGeom>
              <a:avLst/>
              <a:gdLst>
                <a:gd name="T0" fmla="*/ 86 w 109"/>
                <a:gd name="T1" fmla="*/ 88 h 88"/>
                <a:gd name="T2" fmla="*/ 84 w 109"/>
                <a:gd name="T3" fmla="*/ 44 h 88"/>
                <a:gd name="T4" fmla="*/ 80 w 109"/>
                <a:gd name="T5" fmla="*/ 71 h 88"/>
                <a:gd name="T6" fmla="*/ 109 w 109"/>
                <a:gd name="T7" fmla="*/ 0 h 88"/>
                <a:gd name="T8" fmla="*/ 92 w 109"/>
                <a:gd name="T9" fmla="*/ 33 h 88"/>
                <a:gd name="T10" fmla="*/ 80 w 109"/>
                <a:gd name="T11" fmla="*/ 25 h 88"/>
                <a:gd name="T12" fmla="*/ 67 w 109"/>
                <a:gd name="T13" fmla="*/ 68 h 88"/>
                <a:gd name="T14" fmla="*/ 37 w 109"/>
                <a:gd name="T15" fmla="*/ 73 h 88"/>
                <a:gd name="T16" fmla="*/ 19 w 109"/>
                <a:gd name="T17" fmla="*/ 63 h 88"/>
                <a:gd name="T18" fmla="*/ 0 w 109"/>
                <a:gd name="T19" fmla="*/ 56 h 88"/>
                <a:gd name="T20" fmla="*/ 25 w 109"/>
                <a:gd name="T21" fmla="*/ 48 h 88"/>
                <a:gd name="T22" fmla="*/ 30 w 109"/>
                <a:gd name="T23" fmla="*/ 57 h 88"/>
                <a:gd name="T24" fmla="*/ 44 w 109"/>
                <a:gd name="T25" fmla="*/ 29 h 88"/>
                <a:gd name="T26" fmla="*/ 66 w 109"/>
                <a:gd name="T27" fmla="*/ 50 h 88"/>
                <a:gd name="T28" fmla="*/ 68 w 109"/>
                <a:gd name="T29" fmla="*/ 18 h 88"/>
                <a:gd name="T30" fmla="*/ 78 w 109"/>
                <a:gd name="T31" fmla="*/ 12 h 88"/>
                <a:gd name="T32" fmla="*/ 90 w 109"/>
                <a:gd name="T33" fmla="*/ 1 h 88"/>
                <a:gd name="T34" fmla="*/ 22 w 109"/>
                <a:gd name="T35" fmla="*/ 88 h 88"/>
                <a:gd name="T36" fmla="*/ 29 w 109"/>
                <a:gd name="T37" fmla="*/ 80 h 88"/>
                <a:gd name="T38" fmla="*/ 22 w 109"/>
                <a:gd name="T39" fmla="*/ 79 h 88"/>
                <a:gd name="T40" fmla="*/ 11 w 109"/>
                <a:gd name="T41" fmla="*/ 88 h 88"/>
                <a:gd name="T42" fmla="*/ 17 w 109"/>
                <a:gd name="T43" fmla="*/ 71 h 88"/>
                <a:gd name="T44" fmla="*/ 11 w 109"/>
                <a:gd name="T45" fmla="*/ 73 h 88"/>
                <a:gd name="T46" fmla="*/ 34 w 109"/>
                <a:gd name="T47" fmla="*/ 88 h 88"/>
                <a:gd name="T48" fmla="*/ 40 w 109"/>
                <a:gd name="T49" fmla="*/ 79 h 88"/>
                <a:gd name="T50" fmla="*/ 34 w 109"/>
                <a:gd name="T51" fmla="*/ 80 h 88"/>
                <a:gd name="T52" fmla="*/ 45 w 109"/>
                <a:gd name="T53" fmla="*/ 88 h 88"/>
                <a:gd name="T54" fmla="*/ 52 w 109"/>
                <a:gd name="T55" fmla="*/ 63 h 88"/>
                <a:gd name="T56" fmla="*/ 45 w 109"/>
                <a:gd name="T57" fmla="*/ 69 h 88"/>
                <a:gd name="T58" fmla="*/ 57 w 109"/>
                <a:gd name="T59" fmla="*/ 88 h 88"/>
                <a:gd name="T60" fmla="*/ 63 w 109"/>
                <a:gd name="T61" fmla="*/ 73 h 88"/>
                <a:gd name="T62" fmla="*/ 57 w 109"/>
                <a:gd name="T63" fmla="*/ 88 h 88"/>
                <a:gd name="T64" fmla="*/ 75 w 109"/>
                <a:gd name="T65" fmla="*/ 88 h 88"/>
                <a:gd name="T66" fmla="*/ 68 w 109"/>
                <a:gd name="T67" fmla="*/ 7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9" h="88">
                  <a:moveTo>
                    <a:pt x="80" y="88"/>
                  </a:moveTo>
                  <a:cubicBezTo>
                    <a:pt x="86" y="88"/>
                    <a:pt x="86" y="88"/>
                    <a:pt x="86" y="88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4" y="44"/>
                    <a:pt x="84" y="44"/>
                    <a:pt x="84" y="44"/>
                  </a:cubicBezTo>
                  <a:cubicBezTo>
                    <a:pt x="82" y="70"/>
                    <a:pt x="82" y="70"/>
                    <a:pt x="82" y="70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88"/>
                    <a:pt x="80" y="88"/>
                    <a:pt x="80" y="88"/>
                  </a:cubicBezTo>
                  <a:close/>
                  <a:moveTo>
                    <a:pt x="109" y="0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92" y="33"/>
                    <a:pt x="92" y="33"/>
                    <a:pt x="92" y="33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77" y="64"/>
                    <a:pt x="77" y="64"/>
                    <a:pt x="77" y="64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26" y="73"/>
                    <a:pt x="26" y="73"/>
                    <a:pt x="26" y="7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109" y="0"/>
                    <a:pt x="109" y="0"/>
                    <a:pt x="109" y="0"/>
                  </a:cubicBezTo>
                  <a:close/>
                  <a:moveTo>
                    <a:pt x="22" y="88"/>
                  </a:moveTo>
                  <a:cubicBezTo>
                    <a:pt x="24" y="88"/>
                    <a:pt x="27" y="88"/>
                    <a:pt x="29" y="88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2" y="88"/>
                    <a:pt x="22" y="88"/>
                    <a:pt x="22" y="88"/>
                  </a:cubicBezTo>
                  <a:close/>
                  <a:moveTo>
                    <a:pt x="11" y="88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1" y="88"/>
                    <a:pt x="11" y="88"/>
                    <a:pt x="11" y="88"/>
                  </a:cubicBezTo>
                  <a:close/>
                  <a:moveTo>
                    <a:pt x="34" y="88"/>
                  </a:moveTo>
                  <a:cubicBezTo>
                    <a:pt x="36" y="88"/>
                    <a:pt x="38" y="88"/>
                    <a:pt x="40" y="88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4" y="88"/>
                    <a:pt x="34" y="88"/>
                    <a:pt x="34" y="88"/>
                  </a:cubicBezTo>
                  <a:close/>
                  <a:moveTo>
                    <a:pt x="45" y="88"/>
                  </a:moveTo>
                  <a:cubicBezTo>
                    <a:pt x="47" y="88"/>
                    <a:pt x="50" y="88"/>
                    <a:pt x="52" y="88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45" y="88"/>
                    <a:pt x="45" y="88"/>
                    <a:pt x="45" y="88"/>
                  </a:cubicBezTo>
                  <a:close/>
                  <a:moveTo>
                    <a:pt x="57" y="88"/>
                  </a:moveTo>
                  <a:cubicBezTo>
                    <a:pt x="59" y="88"/>
                    <a:pt x="61" y="88"/>
                    <a:pt x="63" y="88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57" y="67"/>
                    <a:pt x="57" y="67"/>
                    <a:pt x="57" y="67"/>
                  </a:cubicBezTo>
                  <a:cubicBezTo>
                    <a:pt x="57" y="88"/>
                    <a:pt x="57" y="88"/>
                    <a:pt x="57" y="88"/>
                  </a:cubicBezTo>
                  <a:close/>
                  <a:moveTo>
                    <a:pt x="68" y="88"/>
                  </a:moveTo>
                  <a:cubicBezTo>
                    <a:pt x="70" y="88"/>
                    <a:pt x="73" y="88"/>
                    <a:pt x="75" y="88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68" y="75"/>
                    <a:pt x="68" y="75"/>
                    <a:pt x="68" y="75"/>
                  </a:cubicBezTo>
                  <a:lnTo>
                    <a:pt x="68" y="8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grpId="0" nodeType="withEffect" p14:presetBounceEnd="6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2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2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3" fill="hold" nodeType="afterEffect" p14:presetBounceEnd="6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2000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2000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JiYTU0ODI5ZDk0ZWQ3NGI1NDJhOWI0YmI4Y2FiN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0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09*379"/>
  <p:tag name="TABLE_ENDDRAG_RECT" val="63*81*809*37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思源黑体"/>
        <a:cs typeface=""/>
      </a:majorFont>
      <a:minorFont>
        <a:latin typeface="Arial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思源黑体"/>
        <a:cs typeface=""/>
      </a:majorFont>
      <a:minorFont>
        <a:latin typeface="Arial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7941</TotalTime>
  <Words>2076</Words>
  <Application>Microsoft Office PowerPoint</Application>
  <PresentationFormat>宽屏</PresentationFormat>
  <Paragraphs>284</Paragraphs>
  <Slides>31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-apple-system</vt:lpstr>
      <vt:lpstr>OPPOSans B</vt:lpstr>
      <vt:lpstr>Roboto Light</vt:lpstr>
      <vt:lpstr>华文琥珀</vt:lpstr>
      <vt:lpstr>宋体</vt:lpstr>
      <vt:lpstr>微软雅黑</vt:lpstr>
      <vt:lpstr>思源黑体</vt:lpstr>
      <vt:lpstr>等线</vt:lpstr>
      <vt:lpstr>等线 Light</vt:lpstr>
      <vt:lpstr>黑体</vt:lpstr>
      <vt:lpstr>Arial</vt:lpstr>
      <vt:lpstr>Calibri</vt:lpstr>
      <vt:lpstr>Wingdings</vt:lpstr>
      <vt:lpstr>Office 主题​​</vt:lpstr>
      <vt:lpstr>封面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赵爽</dc:creator>
  <cp:lastModifiedBy>陈晨</cp:lastModifiedBy>
  <cp:revision>189</cp:revision>
  <dcterms:created xsi:type="dcterms:W3CDTF">2023-08-24T06:48:00Z</dcterms:created>
  <dcterms:modified xsi:type="dcterms:W3CDTF">2025-11-27T09:28:50Z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E8D327BD1DC44C898E30A2F7AC37211F_13</vt:lpwstr>
  </property>
  <property fmtid="{D5CDD505-2E9C-101B-9397-08002B2CF9AE}" pid="3" name="KSOProductBuildVer">
    <vt:lpwstr>2052-12.1.0.21915</vt:lpwstr>
  </property>
</Properties>
</file>