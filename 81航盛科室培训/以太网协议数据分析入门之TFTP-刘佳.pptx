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6"/>
  </p:notesMasterIdLst>
  <p:sldIdLst>
    <p:sldId id="256" r:id="rId3"/>
    <p:sldId id="273" r:id="rId4"/>
    <p:sldId id="283" r:id="rId5"/>
    <p:sldId id="313" r:id="rId7"/>
    <p:sldId id="320" r:id="rId8"/>
    <p:sldId id="314" r:id="rId9"/>
    <p:sldId id="316" r:id="rId10"/>
    <p:sldId id="318" r:id="rId11"/>
    <p:sldId id="303" r:id="rId12"/>
    <p:sldId id="304" r:id="rId13"/>
    <p:sldId id="305" r:id="rId14"/>
    <p:sldId id="308" r:id="rId15"/>
    <p:sldId id="309" r:id="rId16"/>
    <p:sldId id="310" r:id="rId17"/>
    <p:sldId id="311" r:id="rId18"/>
    <p:sldId id="312" r:id="rId19"/>
    <p:sldId id="270" r:id="rId20"/>
    <p:sldId id="272" r:id="rId21"/>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45" autoAdjust="0"/>
    <p:restoredTop sz="94660"/>
  </p:normalViewPr>
  <p:slideViewPr>
    <p:cSldViewPr snapToGrid="0">
      <p:cViewPr varScale="1">
        <p:scale>
          <a:sx n="81" d="100"/>
          <a:sy n="81" d="100"/>
        </p:scale>
        <p:origin x="132"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gs" Target="tags/tag5.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23C1A7-F5B7-4AA8-BE5C-3EBB4C325C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740759-6F8B-47D5-BFCB-CD419125BA7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740759-6F8B-47D5-BFCB-CD419125BA7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76B8B736-7EE7-46E3-9B3E-54F16E7B93B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6276E2-E6B6-4A88-9AB6-DEFA7A88BD04}"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6B8B736-7EE7-46E3-9B3E-54F16E7B93B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6276E2-E6B6-4A88-9AB6-DEFA7A88BD0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76B8B736-7EE7-46E3-9B3E-54F16E7B93B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6276E2-E6B6-4A88-9AB6-DEFA7A88BD0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6B8B736-7EE7-46E3-9B3E-54F16E7B93B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6276E2-E6B6-4A88-9AB6-DEFA7A88BD0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6B8B736-7EE7-46E3-9B3E-54F16E7B93B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16276E2-E6B6-4A88-9AB6-DEFA7A88BD0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B8B736-7EE7-46E3-9B3E-54F16E7B93B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16276E2-E6B6-4A88-9AB6-DEFA7A88BD0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B8B736-7EE7-46E3-9B3E-54F16E7B93B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16276E2-E6B6-4A88-9AB6-DEFA7A88BD0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76B8B736-7EE7-46E3-9B3E-54F16E7B93B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6276E2-E6B6-4A88-9AB6-DEFA7A88BD0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76B8B736-7EE7-46E3-9B3E-54F16E7B93B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6276E2-E6B6-4A88-9AB6-DEFA7A88BD0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6B8B736-7EE7-46E3-9B3E-54F16E7B93B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6276E2-E6B6-4A88-9AB6-DEFA7A88BD0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6B8B736-7EE7-46E3-9B3E-54F16E7B93B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6276E2-E6B6-4A88-9AB6-DEFA7A88BD0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B8B736-7EE7-46E3-9B3E-54F16E7B93B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6276E2-E6B6-4A88-9AB6-DEFA7A88BD0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834025" y="1399295"/>
            <a:ext cx="9144000" cy="2387600"/>
          </a:xfrm>
        </p:spPr>
        <p:txBody>
          <a:bodyPr>
            <a:normAutofit/>
          </a:bodyPr>
          <a:lstStyle/>
          <a:p>
            <a:r>
              <a:rPr lang="zh-CN" altLang="en-US" sz="4800" b="1" dirty="0" smtClean="0">
                <a:solidFill>
                  <a:srgbClr val="0070C0"/>
                </a:solidFill>
                <a:latin typeface="微软雅黑" panose="020B0503020204020204" pitchFamily="34" charset="-122"/>
                <a:ea typeface="微软雅黑" panose="020B0503020204020204" pitchFamily="34" charset="-122"/>
                <a:cs typeface="+mn-cs"/>
              </a:rPr>
              <a:t>以太网协议数据分析入门之</a:t>
            </a:r>
            <a:r>
              <a:rPr lang="en-US" altLang="zh-CN" sz="4800" b="1" dirty="0" smtClean="0">
                <a:solidFill>
                  <a:srgbClr val="0070C0"/>
                </a:solidFill>
                <a:latin typeface="微软雅黑" panose="020B0503020204020204" pitchFamily="34" charset="-122"/>
                <a:ea typeface="微软雅黑" panose="020B0503020204020204" pitchFamily="34" charset="-122"/>
                <a:cs typeface="+mn-cs"/>
              </a:rPr>
              <a:t>TFTP</a:t>
            </a:r>
            <a:endParaRPr lang="zh-CN" altLang="en-US" sz="4800" b="1" dirty="0">
              <a:solidFill>
                <a:srgbClr val="0070C0"/>
              </a:solidFill>
              <a:latin typeface="微软雅黑" panose="020B0503020204020204" pitchFamily="34" charset="-122"/>
              <a:ea typeface="微软雅黑" panose="020B0503020204020204" pitchFamily="34" charset="-122"/>
              <a:cs typeface="+mn-cs"/>
            </a:endParaRPr>
          </a:p>
        </p:txBody>
      </p:sp>
      <p:sp>
        <p:nvSpPr>
          <p:cNvPr id="3" name="矩形 2"/>
          <p:cNvSpPr/>
          <p:nvPr/>
        </p:nvSpPr>
        <p:spPr>
          <a:xfrm>
            <a:off x="9697034" y="5344008"/>
            <a:ext cx="1818973" cy="922020"/>
          </a:xfrm>
          <a:prstGeom prst="rect">
            <a:avLst/>
          </a:prstGeom>
        </p:spPr>
        <p:txBody>
          <a:bodyPr wrap="square">
            <a:spAutoFit/>
          </a:bodyPr>
          <a:lstStyle/>
          <a:p>
            <a:r>
              <a:rPr lang="zh-CN" altLang="en-US" dirty="0" smtClean="0">
                <a:solidFill>
                  <a:srgbClr val="303030"/>
                </a:solidFill>
                <a:latin typeface="+mn-ea"/>
                <a:cs typeface="+mn-ea"/>
              </a:rPr>
              <a:t>刘佳</a:t>
            </a:r>
            <a:endParaRPr lang="en-US" altLang="zh-CN" dirty="0" smtClean="0">
              <a:solidFill>
                <a:srgbClr val="303030"/>
              </a:solidFill>
              <a:latin typeface="+mn-ea"/>
              <a:cs typeface="+mn-ea"/>
            </a:endParaRPr>
          </a:p>
          <a:p>
            <a:r>
              <a:rPr lang="en-US" altLang="zh-CN" dirty="0" smtClean="0">
                <a:solidFill>
                  <a:srgbClr val="303030"/>
                </a:solidFill>
                <a:latin typeface="+mn-ea"/>
                <a:cs typeface="+mn-ea"/>
              </a:rPr>
              <a:t>2023.12</a:t>
            </a:r>
            <a:endParaRPr lang="en-US" altLang="zh-CN" dirty="0" smtClean="0">
              <a:solidFill>
                <a:srgbClr val="303030"/>
              </a:solidFill>
              <a:latin typeface="+mn-ea"/>
              <a:cs typeface="+mn-ea"/>
            </a:endParaRPr>
          </a:p>
          <a:p>
            <a:endParaRPr lang="en-US" altLang="zh-CN" dirty="0" smtClean="0">
              <a:solidFill>
                <a:srgbClr val="303030"/>
              </a:solidFill>
              <a:latin typeface="+mn-ea"/>
              <a:cs typeface="+mn-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73"/>
          <p:cNvSpPr txBox="1"/>
          <p:nvPr/>
        </p:nvSpPr>
        <p:spPr>
          <a:xfrm>
            <a:off x="4525330" y="2248327"/>
            <a:ext cx="5504355" cy="460375"/>
          </a:xfrm>
          <a:prstGeom prst="rect">
            <a:avLst/>
          </a:prstGeom>
          <a:noFill/>
        </p:spPr>
        <p:txBody>
          <a:bodyPr wrap="square" rtlCol="0">
            <a:spAutoFit/>
          </a:bodyPr>
          <a:lstStyle/>
          <a:p>
            <a:r>
              <a:rPr lang="en-US" altLang="zh-CN" sz="2400" b="1" dirty="0">
                <a:solidFill>
                  <a:schemeClr val="tx1">
                    <a:lumMod val="65000"/>
                    <a:lumOff val="35000"/>
                  </a:schemeClr>
                </a:solidFill>
                <a:latin typeface="+mn-ea"/>
                <a:cs typeface="+mn-ea"/>
              </a:rPr>
              <a:t>TFTP</a:t>
            </a:r>
            <a:r>
              <a:rPr lang="zh-CN" altLang="en-US" sz="2400" b="1" dirty="0">
                <a:solidFill>
                  <a:schemeClr val="tx1">
                    <a:lumMod val="65000"/>
                    <a:lumOff val="35000"/>
                  </a:schemeClr>
                </a:solidFill>
                <a:latin typeface="+mn-ea"/>
                <a:cs typeface="+mn-ea"/>
              </a:rPr>
              <a:t>工作</a:t>
            </a:r>
            <a:r>
              <a:rPr lang="zh-CN" altLang="en-US" sz="2400" b="1" dirty="0" smtClean="0">
                <a:solidFill>
                  <a:schemeClr val="tx1">
                    <a:lumMod val="65000"/>
                    <a:lumOff val="35000"/>
                  </a:schemeClr>
                </a:solidFill>
                <a:latin typeface="+mn-ea"/>
                <a:cs typeface="+mn-ea"/>
              </a:rPr>
              <a:t>流程</a:t>
            </a:r>
            <a:endParaRPr lang="zh-CN" altLang="en-US" sz="2400" b="1" dirty="0">
              <a:solidFill>
                <a:schemeClr val="tx1">
                  <a:lumMod val="65000"/>
                  <a:lumOff val="35000"/>
                </a:schemeClr>
              </a:solidFill>
              <a:latin typeface="+mn-ea"/>
              <a:cs typeface="+mn-ea"/>
            </a:endParaRPr>
          </a:p>
        </p:txBody>
      </p:sp>
      <p:sp>
        <p:nvSpPr>
          <p:cNvPr id="5" name="椭圆 4"/>
          <p:cNvSpPr/>
          <p:nvPr/>
        </p:nvSpPr>
        <p:spPr>
          <a:xfrm rot="10800000" flipV="1">
            <a:off x="3809083" y="1173647"/>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dirty="0">
                <a:latin typeface="+mn-ea"/>
              </a:rPr>
              <a:t>01</a:t>
            </a:r>
            <a:endParaRPr kumimoji="1" lang="en-US" altLang="zh-CN" sz="1600" b="1" dirty="0">
              <a:latin typeface="+mn-ea"/>
            </a:endParaRPr>
          </a:p>
        </p:txBody>
      </p:sp>
      <p:sp>
        <p:nvSpPr>
          <p:cNvPr id="7" name="椭圆 6"/>
          <p:cNvSpPr/>
          <p:nvPr/>
        </p:nvSpPr>
        <p:spPr>
          <a:xfrm rot="10800000" flipV="1">
            <a:off x="3809084" y="2257940"/>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dirty="0">
                <a:latin typeface="+mn-ea"/>
              </a:rPr>
              <a:t>02</a:t>
            </a:r>
            <a:endParaRPr kumimoji="1" lang="en-US" altLang="zh-CN" sz="1600" b="1" dirty="0">
              <a:latin typeface="+mn-ea"/>
            </a:endParaRPr>
          </a:p>
        </p:txBody>
      </p:sp>
      <p:sp>
        <p:nvSpPr>
          <p:cNvPr id="9" name="椭圆 8"/>
          <p:cNvSpPr/>
          <p:nvPr/>
        </p:nvSpPr>
        <p:spPr>
          <a:xfrm rot="10800000" flipV="1">
            <a:off x="3809084" y="3273429"/>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dirty="0">
                <a:latin typeface="+mn-ea"/>
              </a:rPr>
              <a:t>03</a:t>
            </a:r>
            <a:endParaRPr kumimoji="1" lang="en-US" altLang="zh-CN" sz="1600" b="1" dirty="0">
              <a:latin typeface="+mn-ea"/>
            </a:endParaRPr>
          </a:p>
        </p:txBody>
      </p:sp>
      <p:sp>
        <p:nvSpPr>
          <p:cNvPr id="12" name="TextBox 39"/>
          <p:cNvSpPr txBox="1"/>
          <p:nvPr/>
        </p:nvSpPr>
        <p:spPr>
          <a:xfrm>
            <a:off x="1909229" y="1867248"/>
            <a:ext cx="842013" cy="1569660"/>
          </a:xfrm>
          <a:prstGeom prst="rect">
            <a:avLst/>
          </a:prstGeom>
          <a:noFill/>
          <a:effectLst/>
        </p:spPr>
        <p:txBody>
          <a:bodyPr wrap="square" rtlCol="0">
            <a:spAutoFit/>
          </a:bodyPr>
          <a:lstStyle/>
          <a:p>
            <a:r>
              <a:rPr lang="zh-CN" altLang="en-US" sz="4800" b="1" dirty="0">
                <a:solidFill>
                  <a:srgbClr val="0070C0"/>
                </a:solidFill>
                <a:latin typeface="+mn-ea"/>
              </a:rPr>
              <a:t>目</a:t>
            </a:r>
            <a:endParaRPr lang="en-US" altLang="zh-CN" sz="4800" b="1" dirty="0">
              <a:solidFill>
                <a:srgbClr val="0070C0"/>
              </a:solidFill>
              <a:latin typeface="+mn-ea"/>
            </a:endParaRPr>
          </a:p>
          <a:p>
            <a:r>
              <a:rPr lang="zh-CN" altLang="en-US" sz="4800" b="1" dirty="0">
                <a:solidFill>
                  <a:srgbClr val="0070C0"/>
                </a:solidFill>
                <a:latin typeface="+mn-ea"/>
              </a:rPr>
              <a:t>录</a:t>
            </a:r>
            <a:endParaRPr lang="zh-CN" altLang="en-US" sz="4800" b="1" dirty="0">
              <a:solidFill>
                <a:srgbClr val="0070C0"/>
              </a:solidFill>
              <a:latin typeface="+mn-ea"/>
            </a:endParaRPr>
          </a:p>
        </p:txBody>
      </p:sp>
      <p:cxnSp>
        <p:nvCxnSpPr>
          <p:cNvPr id="13" name="直接连接符 12"/>
          <p:cNvCxnSpPr/>
          <p:nvPr/>
        </p:nvCxnSpPr>
        <p:spPr>
          <a:xfrm>
            <a:off x="3144407" y="1207803"/>
            <a:ext cx="45799" cy="3517341"/>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文本框 79"/>
          <p:cNvSpPr txBox="1"/>
          <p:nvPr/>
        </p:nvSpPr>
        <p:spPr>
          <a:xfrm>
            <a:off x="4446673" y="3325854"/>
            <a:ext cx="5504355" cy="461665"/>
          </a:xfrm>
          <a:prstGeom prst="rect">
            <a:avLst/>
          </a:prstGeom>
          <a:noFill/>
        </p:spPr>
        <p:txBody>
          <a:bodyPr wrap="square" rtlCol="0">
            <a:spAutoFit/>
          </a:bodyPr>
          <a:lstStyle/>
          <a:p>
            <a:r>
              <a:rPr lang="en-US" altLang="zh-CN" sz="2400" b="1" dirty="0">
                <a:solidFill>
                  <a:schemeClr val="tx1">
                    <a:lumMod val="65000"/>
                    <a:lumOff val="35000"/>
                  </a:schemeClr>
                </a:solidFill>
                <a:latin typeface="+mn-ea"/>
                <a:cs typeface="+mn-ea"/>
              </a:rPr>
              <a:t>TFTP</a:t>
            </a:r>
            <a:r>
              <a:rPr lang="zh-CN" altLang="en-US" sz="2400" b="1" dirty="0">
                <a:solidFill>
                  <a:schemeClr val="tx1">
                    <a:lumMod val="65000"/>
                    <a:lumOff val="35000"/>
                  </a:schemeClr>
                </a:solidFill>
                <a:latin typeface="+mn-ea"/>
                <a:cs typeface="+mn-ea"/>
              </a:rPr>
              <a:t>包格式</a:t>
            </a:r>
            <a:endParaRPr lang="zh-CN" altLang="en-US" sz="2400" b="1" dirty="0">
              <a:solidFill>
                <a:schemeClr val="tx1">
                  <a:lumMod val="65000"/>
                  <a:lumOff val="35000"/>
                </a:schemeClr>
              </a:solidFill>
              <a:latin typeface="+mn-ea"/>
              <a:cs typeface="+mn-ea"/>
            </a:endParaRPr>
          </a:p>
        </p:txBody>
      </p:sp>
      <p:sp>
        <p:nvSpPr>
          <p:cNvPr id="16" name="椭圆 15"/>
          <p:cNvSpPr/>
          <p:nvPr/>
        </p:nvSpPr>
        <p:spPr>
          <a:xfrm rot="10800000" flipV="1">
            <a:off x="3809082" y="4229022"/>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dirty="0" smtClean="0">
                <a:latin typeface="+mn-ea"/>
              </a:rPr>
              <a:t>04</a:t>
            </a:r>
            <a:endParaRPr kumimoji="1" lang="en-US" altLang="zh-CN" sz="1600" b="1" dirty="0" smtClean="0">
              <a:latin typeface="+mn-ea"/>
            </a:endParaRPr>
          </a:p>
        </p:txBody>
      </p:sp>
      <p:sp>
        <p:nvSpPr>
          <p:cNvPr id="18" name="文本框 73"/>
          <p:cNvSpPr txBox="1"/>
          <p:nvPr/>
        </p:nvSpPr>
        <p:spPr>
          <a:xfrm>
            <a:off x="4525331" y="1170800"/>
            <a:ext cx="5504355" cy="461665"/>
          </a:xfrm>
          <a:prstGeom prst="rect">
            <a:avLst/>
          </a:prstGeom>
          <a:noFill/>
        </p:spPr>
        <p:txBody>
          <a:bodyPr wrap="square" rtlCol="0">
            <a:spAutoFit/>
          </a:bodyPr>
          <a:lstStyle/>
          <a:p>
            <a:r>
              <a:rPr lang="en-US" altLang="zh-CN" sz="2400" b="1" dirty="0" smtClean="0">
                <a:solidFill>
                  <a:schemeClr val="tx1">
                    <a:lumMod val="65000"/>
                    <a:lumOff val="35000"/>
                  </a:schemeClr>
                </a:solidFill>
                <a:latin typeface="+mn-ea"/>
                <a:cs typeface="+mn-ea"/>
              </a:rPr>
              <a:t>TFTP</a:t>
            </a:r>
            <a:r>
              <a:rPr lang="zh-CN" altLang="en-US" sz="2400" b="1" dirty="0" smtClean="0">
                <a:solidFill>
                  <a:schemeClr val="tx1">
                    <a:lumMod val="65000"/>
                    <a:lumOff val="35000"/>
                  </a:schemeClr>
                </a:solidFill>
                <a:latin typeface="+mn-ea"/>
                <a:cs typeface="+mn-ea"/>
              </a:rPr>
              <a:t>简介</a:t>
            </a:r>
            <a:endParaRPr lang="zh-CN" altLang="en-US" sz="2400" b="1" dirty="0">
              <a:solidFill>
                <a:schemeClr val="tx1">
                  <a:lumMod val="65000"/>
                  <a:lumOff val="35000"/>
                </a:schemeClr>
              </a:solidFill>
              <a:latin typeface="+mn-ea"/>
              <a:cs typeface="+mn-ea"/>
            </a:endParaRPr>
          </a:p>
        </p:txBody>
      </p:sp>
      <p:sp>
        <p:nvSpPr>
          <p:cNvPr id="17" name="文本框 79"/>
          <p:cNvSpPr txBox="1"/>
          <p:nvPr/>
        </p:nvSpPr>
        <p:spPr>
          <a:xfrm>
            <a:off x="4525329" y="4333873"/>
            <a:ext cx="5504355" cy="461665"/>
          </a:xfrm>
          <a:prstGeom prst="rect">
            <a:avLst/>
          </a:prstGeom>
          <a:noFill/>
        </p:spPr>
        <p:txBody>
          <a:bodyPr wrap="square" rtlCol="0">
            <a:spAutoFit/>
          </a:bodyPr>
          <a:lstStyle/>
          <a:p>
            <a:r>
              <a:rPr lang="zh-CN" altLang="en-US" sz="2400" b="1" dirty="0" smtClean="0">
                <a:solidFill>
                  <a:schemeClr val="tx1">
                    <a:lumMod val="65000"/>
                    <a:lumOff val="35000"/>
                  </a:schemeClr>
                </a:solidFill>
                <a:latin typeface="+mn-ea"/>
              </a:rPr>
              <a:t>总结与展望</a:t>
            </a:r>
            <a:endParaRPr lang="zh-CN" altLang="en-US" sz="2400" b="1" dirty="0" smtClean="0">
              <a:solidFill>
                <a:schemeClr val="tx1">
                  <a:lumMod val="65000"/>
                  <a:lumOff val="35000"/>
                </a:schemeClr>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strVal val="#ppt_w*0.70"/>
                                          </p:val>
                                        </p:tav>
                                        <p:tav tm="100000">
                                          <p:val>
                                            <p:strVal val="#ppt_w"/>
                                          </p:val>
                                        </p:tav>
                                      </p:tavLst>
                                    </p:anim>
                                    <p:anim calcmode="lin" valueType="num">
                                      <p:cBhvr>
                                        <p:cTn id="8" dur="500" fill="hold"/>
                                        <p:tgtEl>
                                          <p:spTgt spid="12"/>
                                        </p:tgtEl>
                                        <p:attrNameLst>
                                          <p:attrName>ppt_h</p:attrName>
                                        </p:attrNameLst>
                                      </p:cBhvr>
                                      <p:tavLst>
                                        <p:tav tm="0">
                                          <p:val>
                                            <p:strVal val="#ppt_h"/>
                                          </p:val>
                                        </p:tav>
                                        <p:tav tm="100000">
                                          <p:val>
                                            <p:strVal val="#ppt_h"/>
                                          </p:val>
                                        </p:tav>
                                      </p:tavLst>
                                    </p:anim>
                                    <p:animEffect transition="in" filter="fade">
                                      <p:cBhvr>
                                        <p:cTn id="9" dur="500"/>
                                        <p:tgtEl>
                                          <p:spTgt spid="12"/>
                                        </p:tgtEl>
                                      </p:cBhvr>
                                    </p:animEffect>
                                  </p:childTnLst>
                                </p:cTn>
                              </p:par>
                            </p:childTnLst>
                          </p:cTn>
                        </p:par>
                        <p:par>
                          <p:cTn id="10" fill="hold">
                            <p:stCondLst>
                              <p:cond delay="500"/>
                            </p:stCondLst>
                            <p:childTnLst>
                              <p:par>
                                <p:cTn id="11" presetID="16" presetClass="entr" presetSubtype="42" fill="hold"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arn(outHorizontal)">
                                      <p:cBhvr>
                                        <p:cTn id="13" dur="500"/>
                                        <p:tgtEl>
                                          <p:spTgt spid="13"/>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2" presetClass="entr" presetSubtype="2" fill="hold" grpId="0" nodeType="withEffect">
                                  <p:stCondLst>
                                    <p:cond delay="0"/>
                                  </p:stCondLst>
                                  <p:iterate type="lt">
                                    <p:tmPct val="10000"/>
                                  </p:iterate>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1+#ppt_w/2"/>
                                          </p:val>
                                        </p:tav>
                                        <p:tav tm="100000">
                                          <p:val>
                                            <p:strVal val="#ppt_x"/>
                                          </p:val>
                                        </p:tav>
                                      </p:tavLst>
                                    </p:anim>
                                    <p:anim calcmode="lin" valueType="num">
                                      <p:cBhvr additive="base">
                                        <p:cTn id="23" dur="500" fill="hold"/>
                                        <p:tgtEl>
                                          <p:spTgt spid="4"/>
                                        </p:tgtEl>
                                        <p:attrNameLst>
                                          <p:attrName>ppt_y</p:attrName>
                                        </p:attrNameLst>
                                      </p:cBhvr>
                                      <p:tavLst>
                                        <p:tav tm="0">
                                          <p:val>
                                            <p:strVal val="#ppt_y"/>
                                          </p:val>
                                        </p:tav>
                                        <p:tav tm="100000">
                                          <p:val>
                                            <p:strVal val="#ppt_y"/>
                                          </p:val>
                                        </p:tav>
                                      </p:tavLst>
                                    </p:anim>
                                  </p:childTnLst>
                                </p:cTn>
                              </p:par>
                            </p:childTnLst>
                          </p:cTn>
                        </p:par>
                        <p:par>
                          <p:cTn id="24" fill="hold">
                            <p:stCondLst>
                              <p:cond delay="1850"/>
                            </p:stCondLst>
                            <p:childTnLst>
                              <p:par>
                                <p:cTn id="25" presetID="53" presetClass="entr" presetSubtype="16"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childTnLst>
                          </p:cTn>
                        </p:par>
                        <p:par>
                          <p:cTn id="30" fill="hold">
                            <p:stCondLst>
                              <p:cond delay="2350"/>
                            </p:stCondLst>
                            <p:childTnLst>
                              <p:par>
                                <p:cTn id="31" presetID="53" presetClass="entr" presetSubtype="16"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500" fill="hold"/>
                                        <p:tgtEl>
                                          <p:spTgt spid="9"/>
                                        </p:tgtEl>
                                        <p:attrNameLst>
                                          <p:attrName>ppt_w</p:attrName>
                                        </p:attrNameLst>
                                      </p:cBhvr>
                                      <p:tavLst>
                                        <p:tav tm="0">
                                          <p:val>
                                            <p:fltVal val="0"/>
                                          </p:val>
                                        </p:tav>
                                        <p:tav tm="100000">
                                          <p:val>
                                            <p:strVal val="#ppt_w"/>
                                          </p:val>
                                        </p:tav>
                                      </p:tavLst>
                                    </p:anim>
                                    <p:anim calcmode="lin" valueType="num">
                                      <p:cBhvr>
                                        <p:cTn id="34" dur="500" fill="hold"/>
                                        <p:tgtEl>
                                          <p:spTgt spid="9"/>
                                        </p:tgtEl>
                                        <p:attrNameLst>
                                          <p:attrName>ppt_h</p:attrName>
                                        </p:attrNameLst>
                                      </p:cBhvr>
                                      <p:tavLst>
                                        <p:tav tm="0">
                                          <p:val>
                                            <p:fltVal val="0"/>
                                          </p:val>
                                        </p:tav>
                                        <p:tav tm="100000">
                                          <p:val>
                                            <p:strVal val="#ppt_h"/>
                                          </p:val>
                                        </p:tav>
                                      </p:tavLst>
                                    </p:anim>
                                    <p:animEffect transition="in" filter="fade">
                                      <p:cBhvr>
                                        <p:cTn id="35" dur="500"/>
                                        <p:tgtEl>
                                          <p:spTgt spid="9"/>
                                        </p:tgtEl>
                                      </p:cBhvr>
                                    </p:animEffect>
                                  </p:childTnLst>
                                </p:cTn>
                              </p:par>
                              <p:par>
                                <p:cTn id="36" presetID="2" presetClass="entr" presetSubtype="2" fill="hold" grpId="0" nodeType="withEffect">
                                  <p:stCondLst>
                                    <p:cond delay="0"/>
                                  </p:stCondLst>
                                  <p:iterate type="lt">
                                    <p:tmPct val="10000"/>
                                  </p:iterate>
                                  <p:childTnLst>
                                    <p:set>
                                      <p:cBhvr>
                                        <p:cTn id="37" dur="1" fill="hold">
                                          <p:stCondLst>
                                            <p:cond delay="0"/>
                                          </p:stCondLst>
                                        </p:cTn>
                                        <p:tgtEl>
                                          <p:spTgt spid="15"/>
                                        </p:tgtEl>
                                        <p:attrNameLst>
                                          <p:attrName>style.visibility</p:attrName>
                                        </p:attrNameLst>
                                      </p:cBhvr>
                                      <p:to>
                                        <p:strVal val="visible"/>
                                      </p:to>
                                    </p:set>
                                    <p:anim calcmode="lin" valueType="num">
                                      <p:cBhvr additive="base">
                                        <p:cTn id="38" dur="500" fill="hold"/>
                                        <p:tgtEl>
                                          <p:spTgt spid="15"/>
                                        </p:tgtEl>
                                        <p:attrNameLst>
                                          <p:attrName>ppt_x</p:attrName>
                                        </p:attrNameLst>
                                      </p:cBhvr>
                                      <p:tavLst>
                                        <p:tav tm="0">
                                          <p:val>
                                            <p:strVal val="1+#ppt_w/2"/>
                                          </p:val>
                                        </p:tav>
                                        <p:tav tm="100000">
                                          <p:val>
                                            <p:strVal val="#ppt_x"/>
                                          </p:val>
                                        </p:tav>
                                      </p:tavLst>
                                    </p:anim>
                                    <p:anim calcmode="lin" valueType="num">
                                      <p:cBhvr additive="base">
                                        <p:cTn id="39" dur="500" fill="hold"/>
                                        <p:tgtEl>
                                          <p:spTgt spid="15"/>
                                        </p:tgtEl>
                                        <p:attrNameLst>
                                          <p:attrName>ppt_y</p:attrName>
                                        </p:attrNameLst>
                                      </p:cBhvr>
                                      <p:tavLst>
                                        <p:tav tm="0">
                                          <p:val>
                                            <p:strVal val="#ppt_y"/>
                                          </p:val>
                                        </p:tav>
                                        <p:tav tm="100000">
                                          <p:val>
                                            <p:strVal val="#ppt_y"/>
                                          </p:val>
                                        </p:tav>
                                      </p:tavLst>
                                    </p:anim>
                                  </p:childTnLst>
                                </p:cTn>
                              </p:par>
                            </p:childTnLst>
                          </p:cTn>
                        </p:par>
                        <p:par>
                          <p:cTn id="40" fill="hold">
                            <p:stCondLst>
                              <p:cond delay="3150"/>
                            </p:stCondLst>
                            <p:childTnLst>
                              <p:par>
                                <p:cTn id="41" presetID="53" presetClass="entr" presetSubtype="16"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p:cTn id="43" dur="500" fill="hold"/>
                                        <p:tgtEl>
                                          <p:spTgt spid="16"/>
                                        </p:tgtEl>
                                        <p:attrNameLst>
                                          <p:attrName>ppt_w</p:attrName>
                                        </p:attrNameLst>
                                      </p:cBhvr>
                                      <p:tavLst>
                                        <p:tav tm="0">
                                          <p:val>
                                            <p:fltVal val="0"/>
                                          </p:val>
                                        </p:tav>
                                        <p:tav tm="100000">
                                          <p:val>
                                            <p:strVal val="#ppt_w"/>
                                          </p:val>
                                        </p:tav>
                                      </p:tavLst>
                                    </p:anim>
                                    <p:anim calcmode="lin" valueType="num">
                                      <p:cBhvr>
                                        <p:cTn id="44" dur="500" fill="hold"/>
                                        <p:tgtEl>
                                          <p:spTgt spid="16"/>
                                        </p:tgtEl>
                                        <p:attrNameLst>
                                          <p:attrName>ppt_h</p:attrName>
                                        </p:attrNameLst>
                                      </p:cBhvr>
                                      <p:tavLst>
                                        <p:tav tm="0">
                                          <p:val>
                                            <p:fltVal val="0"/>
                                          </p:val>
                                        </p:tav>
                                        <p:tav tm="100000">
                                          <p:val>
                                            <p:strVal val="#ppt_h"/>
                                          </p:val>
                                        </p:tav>
                                      </p:tavLst>
                                    </p:anim>
                                    <p:animEffect transition="in" filter="fade">
                                      <p:cBhvr>
                                        <p:cTn id="45" dur="500"/>
                                        <p:tgtEl>
                                          <p:spTgt spid="16"/>
                                        </p:tgtEl>
                                      </p:cBhvr>
                                    </p:animEffect>
                                  </p:childTnLst>
                                </p:cTn>
                              </p:par>
                              <p:par>
                                <p:cTn id="46" presetID="2" presetClass="entr" presetSubtype="2" fill="hold" grpId="0" nodeType="withEffect">
                                  <p:stCondLst>
                                    <p:cond delay="0"/>
                                  </p:stCondLst>
                                  <p:iterate type="lt">
                                    <p:tmPct val="10000"/>
                                  </p:iterate>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500" fill="hold"/>
                                        <p:tgtEl>
                                          <p:spTgt spid="18"/>
                                        </p:tgtEl>
                                        <p:attrNameLst>
                                          <p:attrName>ppt_x</p:attrName>
                                        </p:attrNameLst>
                                      </p:cBhvr>
                                      <p:tavLst>
                                        <p:tav tm="0">
                                          <p:val>
                                            <p:strVal val="1+#ppt_w/2"/>
                                          </p:val>
                                        </p:tav>
                                        <p:tav tm="100000">
                                          <p:val>
                                            <p:strVal val="#ppt_x"/>
                                          </p:val>
                                        </p:tav>
                                      </p:tavLst>
                                    </p:anim>
                                    <p:anim calcmode="lin" valueType="num">
                                      <p:cBhvr additive="base">
                                        <p:cTn id="49" dur="500" fill="hold"/>
                                        <p:tgtEl>
                                          <p:spTgt spid="18"/>
                                        </p:tgtEl>
                                        <p:attrNameLst>
                                          <p:attrName>ppt_y</p:attrName>
                                        </p:attrNameLst>
                                      </p:cBhvr>
                                      <p:tavLst>
                                        <p:tav tm="0">
                                          <p:val>
                                            <p:strVal val="#ppt_y"/>
                                          </p:val>
                                        </p:tav>
                                        <p:tav tm="100000">
                                          <p:val>
                                            <p:strVal val="#ppt_y"/>
                                          </p:val>
                                        </p:tav>
                                      </p:tavLst>
                                    </p:anim>
                                  </p:childTnLst>
                                </p:cTn>
                              </p:par>
                              <p:par>
                                <p:cTn id="50" presetID="2" presetClass="entr" presetSubtype="2" fill="hold" grpId="0" nodeType="withEffect">
                                  <p:stCondLst>
                                    <p:cond delay="0"/>
                                  </p:stCondLst>
                                  <p:iterate type="lt">
                                    <p:tmPct val="10000"/>
                                  </p:iterate>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1+#ppt_w/2"/>
                                          </p:val>
                                        </p:tav>
                                        <p:tav tm="100000">
                                          <p:val>
                                            <p:strVal val="#ppt_x"/>
                                          </p:val>
                                        </p:tav>
                                      </p:tavLst>
                                    </p:anim>
                                    <p:anim calcmode="lin" valueType="num">
                                      <p:cBhvr additive="base">
                                        <p:cTn id="53"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7" grpId="0" animBg="1"/>
      <p:bldP spid="9" grpId="0" animBg="1"/>
      <p:bldP spid="12" grpId="0"/>
      <p:bldP spid="15" grpId="0"/>
      <p:bldP spid="16" grpId="0" animBg="1"/>
      <p:bldP spid="18"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0375"/>
          </a:xfrm>
          <a:prstGeom prst="rect">
            <a:avLst/>
          </a:prstGeom>
          <a:noFill/>
        </p:spPr>
        <p:txBody>
          <a:bodyPr wrap="square" rtlCol="0">
            <a:spAutoFit/>
          </a:bodyPr>
          <a:lstStyle/>
          <a:p>
            <a:r>
              <a:rPr lang="zh-CN" altLang="en-US" sz="2400" b="1" dirty="0">
                <a:solidFill>
                  <a:schemeClr val="tx1">
                    <a:lumMod val="65000"/>
                    <a:lumOff val="35000"/>
                  </a:schemeClr>
                </a:solidFill>
                <a:latin typeface="+mn-ea"/>
                <a:cs typeface="+mn-ea"/>
              </a:rPr>
              <a:t>文件传输协议</a:t>
            </a:r>
            <a:r>
              <a:rPr lang="en-US" altLang="zh-CN" sz="2400" b="1" dirty="0">
                <a:solidFill>
                  <a:schemeClr val="tx1">
                    <a:lumMod val="65000"/>
                    <a:lumOff val="35000"/>
                  </a:schemeClr>
                </a:solidFill>
                <a:latin typeface="+mn-ea"/>
                <a:cs typeface="+mn-ea"/>
              </a:rPr>
              <a:t>TFTP</a:t>
            </a:r>
            <a:r>
              <a:rPr lang="zh-CN" altLang="en-US" sz="2400" b="1" dirty="0">
                <a:solidFill>
                  <a:schemeClr val="tx1">
                    <a:lumMod val="65000"/>
                    <a:lumOff val="35000"/>
                  </a:schemeClr>
                </a:solidFill>
                <a:latin typeface="+mn-ea"/>
                <a:cs typeface="+mn-ea"/>
              </a:rPr>
              <a:t>简介</a:t>
            </a:r>
            <a:endParaRPr lang="zh-CN" altLang="en-US" sz="2400" b="1" dirty="0">
              <a:solidFill>
                <a:schemeClr val="tx1">
                  <a:lumMod val="65000"/>
                  <a:lumOff val="35000"/>
                </a:schemeClr>
              </a:solidFill>
              <a:latin typeface="+mn-ea"/>
              <a:cs typeface="+mn-ea"/>
            </a:endParaRPr>
          </a:p>
        </p:txBody>
      </p:sp>
      <p:sp>
        <p:nvSpPr>
          <p:cNvPr id="10" name="椭圆 9"/>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dirty="0" smtClean="0">
                <a:latin typeface="+mn-ea"/>
              </a:rPr>
              <a:t>01</a:t>
            </a:r>
            <a:endParaRPr kumimoji="1" lang="en-US" altLang="zh-CN" sz="1600" b="1" dirty="0" smtClean="0">
              <a:latin typeface="+mn-ea"/>
            </a:endParaRPr>
          </a:p>
        </p:txBody>
      </p:sp>
      <p:sp>
        <p:nvSpPr>
          <p:cNvPr id="5" name="矩形 4"/>
          <p:cNvSpPr/>
          <p:nvPr/>
        </p:nvSpPr>
        <p:spPr>
          <a:xfrm>
            <a:off x="667706" y="1515292"/>
            <a:ext cx="10425410" cy="2308324"/>
          </a:xfrm>
          <a:prstGeom prst="rect">
            <a:avLst/>
          </a:prstGeom>
        </p:spPr>
        <p:txBody>
          <a:bodyPr wrap="square">
            <a:spAutoFit/>
          </a:bodyPr>
          <a:lstStyle/>
          <a:p>
            <a:pPr lvl="0" eaLnBrk="0" fontAlgn="base" hangingPunct="0">
              <a:spcBef>
                <a:spcPct val="0"/>
              </a:spcBef>
              <a:spcAft>
                <a:spcPct val="0"/>
              </a:spcAft>
            </a:pPr>
            <a:r>
              <a:rPr lang="zh-CN" altLang="zh-CN" dirty="0">
                <a:latin typeface="+mn-ea"/>
                <a:cs typeface="+mn-ea"/>
              </a:rPr>
              <a:t>TFTP（Trivial File Transfer Protocol,简单文件传输协议）是TCP/IP协议族中的一个用来在客户端与服务器之间进行简单文件传输的协议，提供不复杂、开销不大的文件传输服务，端口号为69。</a:t>
            </a:r>
            <a:br>
              <a:rPr lang="zh-CN" altLang="zh-CN" dirty="0">
                <a:latin typeface="+mn-ea"/>
                <a:cs typeface="+mn-ea"/>
              </a:rPr>
            </a:br>
            <a:r>
              <a:rPr lang="zh-CN" altLang="zh-CN" dirty="0">
                <a:latin typeface="+mn-ea"/>
                <a:cs typeface="+mn-ea"/>
              </a:rPr>
              <a:t>TFTP通常基于UDP协议而实现，TFTP协议的设计目的主要是为了进行小文件</a:t>
            </a:r>
            <a:r>
              <a:rPr lang="zh-CN" altLang="zh-CN" dirty="0" smtClean="0">
                <a:latin typeface="+mn-ea"/>
                <a:cs typeface="+mn-ea"/>
              </a:rPr>
              <a:t>传输</a:t>
            </a:r>
            <a:r>
              <a:rPr lang="zh-CN" altLang="en-US" dirty="0" smtClean="0">
                <a:latin typeface="+mn-ea"/>
                <a:cs typeface="+mn-ea"/>
              </a:rPr>
              <a:t>。</a:t>
            </a:r>
            <a:br>
              <a:rPr lang="zh-CN" altLang="zh-CN" dirty="0">
                <a:latin typeface="+mn-ea"/>
                <a:cs typeface="+mn-ea"/>
              </a:rPr>
            </a:br>
            <a:r>
              <a:rPr lang="zh-CN" altLang="zh-CN" dirty="0" smtClean="0">
                <a:latin typeface="+mn-ea"/>
                <a:cs typeface="+mn-ea"/>
              </a:rPr>
              <a:t>TFTP</a:t>
            </a:r>
            <a:r>
              <a:rPr lang="zh-CN" altLang="en-US" dirty="0" smtClean="0">
                <a:latin typeface="+mn-ea"/>
                <a:cs typeface="+mn-ea"/>
              </a:rPr>
              <a:t>更</a:t>
            </a:r>
            <a:r>
              <a:rPr lang="zh-CN" altLang="en-US" dirty="0">
                <a:latin typeface="+mn-ea"/>
                <a:cs typeface="+mn-ea"/>
              </a:rPr>
              <a:t>少的编码，更少的内存使用，并且由于不需要身份验证和安全机制，因此可以轻松使用</a:t>
            </a:r>
            <a:r>
              <a:rPr lang="zh-CN" altLang="zh-CN" dirty="0" smtClean="0">
                <a:latin typeface="+mn-ea"/>
                <a:cs typeface="+mn-ea"/>
              </a:rPr>
              <a:t>，</a:t>
            </a:r>
            <a:r>
              <a:rPr lang="zh-CN" altLang="zh-CN" dirty="0">
                <a:latin typeface="+mn-ea"/>
                <a:cs typeface="+mn-ea"/>
              </a:rPr>
              <a:t>这对于较小的计算机或者某些特殊用途的设备来说是很重要的，这些设备不需要硬盘，只需要固化了TFTP、UDP和IP的小容量只读存储器即可。因此，随着嵌入式设备在网络设备中所占的比例的不断提升，TFTP协议被越来越广泛的使用</a:t>
            </a:r>
            <a:r>
              <a:rPr lang="zh-CN" altLang="zh-CN" dirty="0" smtClean="0">
                <a:latin typeface="+mn-ea"/>
                <a:cs typeface="+mn-ea"/>
              </a:rPr>
              <a:t>。</a:t>
            </a:r>
            <a:endParaRPr lang="en-US" altLang="zh-CN" dirty="0">
              <a:latin typeface="+mn-ea"/>
              <a:cs typeface="+mn-ea"/>
            </a:endParaRPr>
          </a:p>
          <a:p>
            <a:pPr lvl="0" eaLnBrk="0" fontAlgn="base" hangingPunct="0">
              <a:spcBef>
                <a:spcPct val="0"/>
              </a:spcBef>
              <a:spcAft>
                <a:spcPct val="0"/>
              </a:spcAft>
            </a:pPr>
            <a:endParaRPr lang="zh-CN" altLang="en-US" dirty="0">
              <a:latin typeface="+mn-ea"/>
              <a:cs typeface="+mn-ea"/>
            </a:endParaRPr>
          </a:p>
        </p:txBody>
      </p:sp>
      <p:sp>
        <p:nvSpPr>
          <p:cNvPr id="9" name="矩形 8"/>
          <p:cNvSpPr/>
          <p:nvPr/>
        </p:nvSpPr>
        <p:spPr>
          <a:xfrm>
            <a:off x="667706" y="1046364"/>
            <a:ext cx="1691489" cy="369332"/>
          </a:xfrm>
          <a:prstGeom prst="rect">
            <a:avLst/>
          </a:prstGeom>
        </p:spPr>
        <p:txBody>
          <a:bodyPr wrap="none">
            <a:spAutoFit/>
          </a:bodyPr>
          <a:lstStyle/>
          <a:p>
            <a:pPr lvl="0" eaLnBrk="0" fontAlgn="base" hangingPunct="0">
              <a:spcBef>
                <a:spcPct val="0"/>
              </a:spcBef>
              <a:spcAft>
                <a:spcPct val="0"/>
              </a:spcAft>
            </a:pPr>
            <a:r>
              <a:rPr lang="zh-CN" altLang="zh-CN" b="1" dirty="0">
                <a:solidFill>
                  <a:srgbClr val="000000"/>
                </a:solidFill>
                <a:latin typeface="+mn-ea"/>
                <a:cs typeface="+mn-ea"/>
              </a:rPr>
              <a:t>一、TFTP简介</a:t>
            </a:r>
            <a:endParaRPr lang="zh-CN" altLang="zh-CN" b="1" dirty="0">
              <a:solidFill>
                <a:srgbClr val="000000"/>
              </a:solidFill>
              <a:latin typeface="+mn-ea"/>
              <a:cs typeface="+mn-ea"/>
            </a:endParaRPr>
          </a:p>
        </p:txBody>
      </p:sp>
      <p:sp>
        <p:nvSpPr>
          <p:cNvPr id="11" name="矩形 10"/>
          <p:cNvSpPr/>
          <p:nvPr/>
        </p:nvSpPr>
        <p:spPr>
          <a:xfrm>
            <a:off x="815586" y="3823616"/>
            <a:ext cx="1923925" cy="369332"/>
          </a:xfrm>
          <a:prstGeom prst="rect">
            <a:avLst/>
          </a:prstGeom>
        </p:spPr>
        <p:txBody>
          <a:bodyPr wrap="none">
            <a:spAutoFit/>
          </a:bodyPr>
          <a:lstStyle/>
          <a:p>
            <a:pPr lvl="0" eaLnBrk="0" fontAlgn="base" hangingPunct="0">
              <a:spcBef>
                <a:spcPct val="0"/>
              </a:spcBef>
              <a:spcAft>
                <a:spcPct val="0"/>
              </a:spcAft>
            </a:pPr>
            <a:r>
              <a:rPr lang="zh-CN" altLang="zh-CN" b="1" dirty="0" smtClean="0">
                <a:solidFill>
                  <a:srgbClr val="000000"/>
                </a:solidFill>
                <a:latin typeface="+mn-ea"/>
                <a:cs typeface="+mn-ea"/>
              </a:rPr>
              <a:t>TFTP</a:t>
            </a:r>
            <a:r>
              <a:rPr lang="zh-CN" altLang="zh-CN" b="1" dirty="0">
                <a:solidFill>
                  <a:srgbClr val="000000"/>
                </a:solidFill>
                <a:latin typeface="+mn-ea"/>
                <a:cs typeface="+mn-ea"/>
              </a:rPr>
              <a:t>的传输模式</a:t>
            </a:r>
            <a:endParaRPr lang="zh-CN" altLang="zh-CN" b="1" dirty="0">
              <a:solidFill>
                <a:srgbClr val="000000"/>
              </a:solidFill>
              <a:latin typeface="+mn-ea"/>
              <a:cs typeface="+mn-ea"/>
            </a:endParaRPr>
          </a:p>
        </p:txBody>
      </p:sp>
      <p:sp>
        <p:nvSpPr>
          <p:cNvPr id="12" name="矩形 11"/>
          <p:cNvSpPr/>
          <p:nvPr/>
        </p:nvSpPr>
        <p:spPr>
          <a:xfrm>
            <a:off x="815586" y="4211018"/>
            <a:ext cx="3412030" cy="2308324"/>
          </a:xfrm>
          <a:prstGeom prst="rect">
            <a:avLst/>
          </a:prstGeom>
        </p:spPr>
        <p:txBody>
          <a:bodyPr wrap="square">
            <a:spAutoFit/>
          </a:bodyPr>
          <a:lstStyle/>
          <a:p>
            <a:pPr lvl="0" eaLnBrk="0" fontAlgn="base" hangingPunct="0">
              <a:spcBef>
                <a:spcPct val="0"/>
              </a:spcBef>
              <a:spcAft>
                <a:spcPct val="0"/>
              </a:spcAft>
            </a:pPr>
            <a:r>
              <a:rPr lang="zh-CN" altLang="zh-CN" dirty="0">
                <a:latin typeface="+mn-ea"/>
                <a:cs typeface="+mn-ea"/>
              </a:rPr>
              <a:t>1. Netascii：这是8位的ASCII码形式，一般用来传输字符数据</a:t>
            </a:r>
            <a:br>
              <a:rPr lang="zh-CN" altLang="zh-CN" dirty="0">
                <a:latin typeface="+mn-ea"/>
                <a:cs typeface="+mn-ea"/>
              </a:rPr>
            </a:br>
            <a:r>
              <a:rPr lang="zh-CN" altLang="zh-CN" dirty="0">
                <a:latin typeface="+mn-ea"/>
                <a:cs typeface="+mn-ea"/>
              </a:rPr>
              <a:t>2. Octet：这是8位源数据类型，一般用来传输二进制数</a:t>
            </a:r>
            <a:r>
              <a:rPr lang="zh-CN" altLang="zh-CN" dirty="0" smtClean="0">
                <a:latin typeface="+mn-ea"/>
                <a:cs typeface="+mn-ea"/>
              </a:rPr>
              <a:t>据</a:t>
            </a:r>
            <a:r>
              <a:rPr lang="zh-CN" altLang="en-US" dirty="0" smtClean="0">
                <a:latin typeface="+mn-ea"/>
                <a:cs typeface="+mn-ea"/>
              </a:rPr>
              <a:t>，</a:t>
            </a:r>
            <a:r>
              <a:rPr lang="zh-CN" altLang="en-US" b="1" dirty="0" smtClean="0">
                <a:latin typeface="+mn-ea"/>
                <a:cs typeface="+mn-ea"/>
              </a:rPr>
              <a:t>项目中使用的为该模式</a:t>
            </a:r>
            <a:br>
              <a:rPr lang="zh-CN" altLang="zh-CN" b="1" dirty="0">
                <a:latin typeface="+mn-ea"/>
                <a:cs typeface="+mn-ea"/>
              </a:rPr>
            </a:br>
            <a:r>
              <a:rPr lang="zh-CN" altLang="zh-CN" dirty="0">
                <a:latin typeface="+mn-ea"/>
                <a:cs typeface="+mn-ea"/>
              </a:rPr>
              <a:t>3. Mail：它将返回的数据直接返回给用户而不是保存为文件，但该模式已经不再支持</a:t>
            </a:r>
            <a:endParaRPr lang="zh-CN" altLang="zh-CN" sz="4800" dirty="0">
              <a:latin typeface="+mn-ea"/>
              <a:cs typeface="+mn-ea"/>
            </a:endParaRPr>
          </a:p>
        </p:txBody>
      </p:sp>
      <p:pic>
        <p:nvPicPr>
          <p:cNvPr id="2" name="图片 1"/>
          <p:cNvPicPr>
            <a:picLocks noChangeAspect="1"/>
          </p:cNvPicPr>
          <p:nvPr/>
        </p:nvPicPr>
        <p:blipFill>
          <a:blip r:embed="rId1"/>
          <a:stretch>
            <a:fillRect/>
          </a:stretch>
        </p:blipFill>
        <p:spPr>
          <a:xfrm>
            <a:off x="4476997" y="3638950"/>
            <a:ext cx="7323117" cy="26475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Grp="1" noChangeArrowheads="1"/>
          </p:cNvSpPr>
          <p:nvPr>
            <p:ph type="title"/>
          </p:nvPr>
        </p:nvSpPr>
        <p:spPr bwMode="auto">
          <a:xfrm>
            <a:off x="564426" y="1293713"/>
            <a:ext cx="4273904" cy="4483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100" b="1" i="0" u="none" strike="noStrike" cap="none" normalizeH="0" baseline="0" dirty="0" smtClean="0">
                <a:ln>
                  <a:noFill/>
                </a:ln>
                <a:solidFill>
                  <a:srgbClr val="000000"/>
                </a:solidFill>
                <a:effectLst/>
                <a:latin typeface="+mn-ea"/>
                <a:ea typeface="+mn-ea"/>
              </a:rPr>
              <a:t> </a:t>
            </a:r>
            <a:endParaRPr kumimoji="0" lang="en-US" altLang="zh-CN" sz="2100" b="1" i="0" u="none" strike="noStrike" cap="none" normalizeH="0" baseline="0" dirty="0" smtClean="0">
              <a:ln>
                <a:noFill/>
              </a:ln>
              <a:solidFill>
                <a:srgbClr val="000000"/>
              </a:solidFill>
              <a:effectLst/>
              <a:latin typeface="+mn-ea"/>
              <a:ea typeface="+mn-ea"/>
            </a:endParaRPr>
          </a:p>
        </p:txBody>
      </p:sp>
      <p:sp>
        <p:nvSpPr>
          <p:cNvPr id="6" name="文本框 73"/>
          <p:cNvSpPr txBox="1"/>
          <p:nvPr/>
        </p:nvSpPr>
        <p:spPr>
          <a:xfrm>
            <a:off x="996519" y="276106"/>
            <a:ext cx="5504355" cy="461665"/>
          </a:xfrm>
          <a:prstGeom prst="rect">
            <a:avLst/>
          </a:prstGeom>
          <a:noFill/>
        </p:spPr>
        <p:txBody>
          <a:bodyPr wrap="square" rtlCol="0">
            <a:spAutoFit/>
          </a:bodyPr>
          <a:lstStyle/>
          <a:p>
            <a:r>
              <a:rPr lang="en-US" altLang="zh-CN" sz="2400" b="1" dirty="0">
                <a:solidFill>
                  <a:schemeClr val="tx1">
                    <a:lumMod val="65000"/>
                    <a:lumOff val="35000"/>
                  </a:schemeClr>
                </a:solidFill>
                <a:latin typeface="+mn-ea"/>
                <a:cs typeface="+mn-ea"/>
              </a:rPr>
              <a:t>TFTP</a:t>
            </a:r>
            <a:r>
              <a:rPr lang="zh-CN" altLang="en-US" sz="2400" b="1" dirty="0">
                <a:solidFill>
                  <a:schemeClr val="tx1">
                    <a:lumMod val="65000"/>
                    <a:lumOff val="35000"/>
                  </a:schemeClr>
                </a:solidFill>
                <a:latin typeface="+mn-ea"/>
                <a:cs typeface="+mn-ea"/>
              </a:rPr>
              <a:t>工作</a:t>
            </a:r>
            <a:r>
              <a:rPr lang="zh-CN" altLang="en-US" sz="2400" b="1" dirty="0" smtClean="0">
                <a:solidFill>
                  <a:schemeClr val="tx1">
                    <a:lumMod val="65000"/>
                    <a:lumOff val="35000"/>
                  </a:schemeClr>
                </a:solidFill>
                <a:latin typeface="+mn-ea"/>
                <a:cs typeface="+mn-ea"/>
              </a:rPr>
              <a:t>流程</a:t>
            </a:r>
            <a:endParaRPr lang="zh-CN" altLang="en-US" sz="2400" b="1" dirty="0">
              <a:solidFill>
                <a:schemeClr val="tx1">
                  <a:lumMod val="65000"/>
                  <a:lumOff val="35000"/>
                </a:schemeClr>
              </a:solidFill>
              <a:latin typeface="+mn-ea"/>
              <a:cs typeface="+mn-ea"/>
            </a:endParaRPr>
          </a:p>
        </p:txBody>
      </p:sp>
      <p:sp>
        <p:nvSpPr>
          <p:cNvPr id="7" name="椭圆 6"/>
          <p:cNvSpPr/>
          <p:nvPr/>
        </p:nvSpPr>
        <p:spPr>
          <a:xfrm rot="10800000" flipV="1">
            <a:off x="280273" y="285719"/>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dirty="0">
                <a:latin typeface="+mn-ea"/>
              </a:rPr>
              <a:t>02</a:t>
            </a:r>
            <a:endParaRPr kumimoji="1" lang="en-US" altLang="zh-CN" sz="1600" b="1" dirty="0">
              <a:latin typeface="+mn-ea"/>
            </a:endParaRPr>
          </a:p>
        </p:txBody>
      </p:sp>
      <p:sp>
        <p:nvSpPr>
          <p:cNvPr id="2" name="矩形 1"/>
          <p:cNvSpPr/>
          <p:nvPr/>
        </p:nvSpPr>
        <p:spPr>
          <a:xfrm>
            <a:off x="280272" y="1292185"/>
            <a:ext cx="5844983" cy="4585871"/>
          </a:xfrm>
          <a:prstGeom prst="rect">
            <a:avLst/>
          </a:prstGeom>
        </p:spPr>
        <p:txBody>
          <a:bodyPr wrap="square">
            <a:spAutoFit/>
          </a:bodyPr>
          <a:lstStyle/>
          <a:p>
            <a:pPr lvl="0" eaLnBrk="0" fontAlgn="base" hangingPunct="0">
              <a:spcBef>
                <a:spcPct val="0"/>
              </a:spcBef>
              <a:spcAft>
                <a:spcPct val="0"/>
              </a:spcAft>
            </a:pPr>
            <a:r>
              <a:rPr lang="zh-CN" altLang="en-US" sz="2000" b="1" dirty="0" smtClean="0">
                <a:solidFill>
                  <a:srgbClr val="000000"/>
                </a:solidFill>
                <a:latin typeface="+mn-ea"/>
                <a:cs typeface="+mn-ea"/>
              </a:rPr>
              <a:t>下载</a:t>
            </a:r>
            <a:r>
              <a:rPr lang="zh-CN" altLang="en-US" sz="2000" b="1" dirty="0">
                <a:solidFill>
                  <a:srgbClr val="000000"/>
                </a:solidFill>
                <a:latin typeface="+mn-ea"/>
                <a:cs typeface="+mn-ea"/>
              </a:rPr>
              <a:t>文件是指客户端从</a:t>
            </a:r>
            <a:r>
              <a:rPr lang="en-US" altLang="zh-CN" sz="2000" b="1" dirty="0">
                <a:solidFill>
                  <a:srgbClr val="000000"/>
                </a:solidFill>
                <a:latin typeface="+mn-ea"/>
                <a:cs typeface="+mn-ea"/>
              </a:rPr>
              <a:t>TFTP</a:t>
            </a:r>
            <a:r>
              <a:rPr lang="zh-CN" altLang="en-US" sz="2000" b="1" dirty="0">
                <a:solidFill>
                  <a:srgbClr val="000000"/>
                </a:solidFill>
                <a:latin typeface="+mn-ea"/>
                <a:cs typeface="+mn-ea"/>
              </a:rPr>
              <a:t>服务器上下载文件</a:t>
            </a:r>
            <a:r>
              <a:rPr lang="zh-CN" altLang="en-US" sz="2000" b="1" dirty="0" smtClean="0">
                <a:solidFill>
                  <a:srgbClr val="000000"/>
                </a:solidFill>
                <a:latin typeface="+mn-ea"/>
                <a:cs typeface="+mn-ea"/>
              </a:rPr>
              <a:t>。</a:t>
            </a:r>
            <a:br>
              <a:rPr lang="zh-CN" altLang="zh-CN" sz="2000" dirty="0" smtClean="0">
                <a:latin typeface="+mn-ea"/>
                <a:cs typeface="+mn-ea"/>
              </a:rPr>
            </a:br>
            <a:r>
              <a:rPr lang="zh-CN" altLang="zh-CN" dirty="0" smtClean="0">
                <a:latin typeface="+mn-ea"/>
                <a:cs typeface="+mn-ea"/>
              </a:rPr>
              <a:t>1. server在端口为69的UDP上等待client发出</a:t>
            </a:r>
            <a:r>
              <a:rPr lang="zh-CN" altLang="en-US" dirty="0" smtClean="0">
                <a:latin typeface="+mn-ea"/>
                <a:cs typeface="+mn-ea"/>
              </a:rPr>
              <a:t>读</a:t>
            </a:r>
            <a:r>
              <a:rPr lang="zh-CN" altLang="zh-CN" dirty="0" smtClean="0">
                <a:latin typeface="+mn-ea"/>
                <a:cs typeface="+mn-ea"/>
              </a:rPr>
              <a:t>文件请求包</a:t>
            </a:r>
            <a:br>
              <a:rPr lang="zh-CN" altLang="zh-CN" dirty="0" smtClean="0">
                <a:latin typeface="+mn-ea"/>
                <a:cs typeface="+mn-ea"/>
              </a:rPr>
            </a:br>
            <a:r>
              <a:rPr lang="zh-CN" altLang="zh-CN" dirty="0" smtClean="0">
                <a:latin typeface="+mn-ea"/>
                <a:cs typeface="+mn-ea"/>
              </a:rPr>
              <a:t>2. client通过UDP发送符合TFTP请求格式的</a:t>
            </a:r>
            <a:r>
              <a:rPr lang="en-US" altLang="zh-CN" dirty="0" smtClean="0">
                <a:latin typeface="+mn-ea"/>
                <a:cs typeface="+mn-ea"/>
              </a:rPr>
              <a:t>R</a:t>
            </a:r>
            <a:r>
              <a:rPr lang="zh-CN" altLang="zh-CN" dirty="0" smtClean="0">
                <a:latin typeface="+mn-ea"/>
                <a:cs typeface="+mn-ea"/>
              </a:rPr>
              <a:t>RQ包给server</a:t>
            </a:r>
            <a:r>
              <a:rPr lang="zh-CN" altLang="en-US" dirty="0">
                <a:latin typeface="+mn-ea"/>
                <a:cs typeface="+mn-ea"/>
              </a:rPr>
              <a:t> ，指明要从服务器上读取的</a:t>
            </a:r>
            <a:r>
              <a:rPr lang="zh-CN" altLang="en-US" dirty="0" smtClean="0">
                <a:latin typeface="+mn-ea"/>
                <a:cs typeface="+mn-ea"/>
              </a:rPr>
              <a:t>文件</a:t>
            </a:r>
            <a:r>
              <a:rPr lang="zh-CN" altLang="zh-CN" dirty="0" smtClean="0">
                <a:latin typeface="+mn-ea"/>
                <a:cs typeface="+mn-ea"/>
              </a:rPr>
              <a:t>。从UDP包角度看，该UDP包的源端口由client随意选择，而目标端口则是server的69。</a:t>
            </a:r>
            <a:br>
              <a:rPr lang="zh-CN" altLang="zh-CN" dirty="0" smtClean="0">
                <a:latin typeface="+mn-ea"/>
                <a:cs typeface="+mn-ea"/>
              </a:rPr>
            </a:br>
            <a:r>
              <a:rPr lang="zh-CN" altLang="zh-CN" dirty="0" smtClean="0">
                <a:latin typeface="+mn-ea"/>
                <a:cs typeface="+mn-ea"/>
              </a:rPr>
              <a:t>3. server收到client的这个请求包后， server 发送</a:t>
            </a:r>
            <a:r>
              <a:rPr lang="zh-CN" altLang="zh-CN" dirty="0">
                <a:latin typeface="+mn-ea"/>
                <a:cs typeface="+mn-ea"/>
              </a:rPr>
              <a:t>DATA数据</a:t>
            </a:r>
            <a:r>
              <a:rPr lang="zh-CN" altLang="zh-CN" dirty="0" smtClean="0">
                <a:latin typeface="+mn-ea"/>
                <a:cs typeface="+mn-ea"/>
              </a:rPr>
              <a:t>给client</a:t>
            </a:r>
            <a:r>
              <a:rPr lang="zh-CN" altLang="en-US" dirty="0" smtClean="0">
                <a:latin typeface="+mn-ea"/>
                <a:cs typeface="+mn-ea"/>
              </a:rPr>
              <a:t>，发送</a:t>
            </a:r>
            <a:r>
              <a:rPr lang="zh-CN" altLang="en-US" dirty="0">
                <a:latin typeface="+mn-ea"/>
                <a:cs typeface="+mn-ea"/>
              </a:rPr>
              <a:t>的数据包是以定长</a:t>
            </a:r>
            <a:r>
              <a:rPr lang="en-US" altLang="zh-CN" dirty="0">
                <a:latin typeface="+mn-ea"/>
                <a:cs typeface="+mn-ea"/>
              </a:rPr>
              <a:t>512</a:t>
            </a:r>
            <a:r>
              <a:rPr lang="zh-CN" altLang="en-US" dirty="0">
                <a:latin typeface="+mn-ea"/>
                <a:cs typeface="+mn-ea"/>
              </a:rPr>
              <a:t>字节进行</a:t>
            </a:r>
            <a:r>
              <a:rPr lang="zh-CN" altLang="en-US" dirty="0" smtClean="0">
                <a:latin typeface="+mn-ea"/>
                <a:cs typeface="+mn-ea"/>
              </a:rPr>
              <a:t>传输 </a:t>
            </a:r>
            <a:r>
              <a:rPr lang="zh-CN" altLang="zh-CN" dirty="0" smtClean="0">
                <a:latin typeface="+mn-ea"/>
                <a:cs typeface="+mn-ea"/>
              </a:rPr>
              <a:t>， </a:t>
            </a:r>
            <a:r>
              <a:rPr lang="zh-CN" altLang="zh-CN" dirty="0">
                <a:latin typeface="+mn-ea"/>
                <a:cs typeface="+mn-ea"/>
              </a:rPr>
              <a:t>client</a:t>
            </a:r>
            <a:r>
              <a:rPr lang="zh-CN" altLang="zh-CN" dirty="0" smtClean="0">
                <a:latin typeface="+mn-ea"/>
                <a:cs typeface="+mn-ea"/>
              </a:rPr>
              <a:t>接收数据</a:t>
            </a:r>
            <a:r>
              <a:rPr lang="zh-CN" altLang="zh-CN" dirty="0">
                <a:latin typeface="+mn-ea"/>
                <a:cs typeface="+mn-ea"/>
              </a:rPr>
              <a:t>并写文件</a:t>
            </a:r>
            <a:r>
              <a:rPr lang="zh-CN" altLang="zh-CN" dirty="0" smtClean="0">
                <a:latin typeface="+mn-ea"/>
                <a:cs typeface="+mn-ea"/>
              </a:rPr>
              <a:t>。</a:t>
            </a:r>
            <a:endParaRPr lang="en-US" altLang="zh-CN" dirty="0" smtClean="0">
              <a:latin typeface="+mn-ea"/>
              <a:cs typeface="+mn-ea"/>
            </a:endParaRPr>
          </a:p>
          <a:p>
            <a:pPr lvl="0" eaLnBrk="0" fontAlgn="base" hangingPunct="0">
              <a:spcBef>
                <a:spcPct val="0"/>
              </a:spcBef>
              <a:spcAft>
                <a:spcPct val="0"/>
              </a:spcAft>
            </a:pPr>
            <a:r>
              <a:rPr lang="en-US" altLang="zh-CN" dirty="0" smtClean="0">
                <a:latin typeface="+mn-ea"/>
                <a:cs typeface="+mn-ea"/>
              </a:rPr>
              <a:t>4.</a:t>
            </a:r>
            <a:r>
              <a:rPr lang="zh-CN" altLang="en-US" dirty="0">
                <a:latin typeface="+mn-ea"/>
                <a:cs typeface="+mn-ea"/>
              </a:rPr>
              <a:t>由于每个数据包都需要得到确认，所以发送的每个数据包都包含数据编号，并且从</a:t>
            </a:r>
            <a:r>
              <a:rPr lang="en-US" altLang="zh-CN" dirty="0">
                <a:latin typeface="+mn-ea"/>
                <a:cs typeface="+mn-ea"/>
              </a:rPr>
              <a:t>1</a:t>
            </a:r>
            <a:r>
              <a:rPr lang="zh-CN" altLang="en-US" dirty="0">
                <a:latin typeface="+mn-ea"/>
                <a:cs typeface="+mn-ea"/>
              </a:rPr>
              <a:t>开始进行排序</a:t>
            </a:r>
            <a:r>
              <a:rPr lang="zh-CN" altLang="en-US" dirty="0" smtClean="0">
                <a:latin typeface="+mn-ea"/>
                <a:cs typeface="+mn-ea"/>
              </a:rPr>
              <a:t>。</a:t>
            </a:r>
            <a:r>
              <a:rPr lang="zh-CN" altLang="zh-CN" dirty="0">
                <a:latin typeface="+mn-ea"/>
                <a:cs typeface="+mn-ea"/>
              </a:rPr>
              <a:t> </a:t>
            </a:r>
            <a:r>
              <a:rPr lang="en-US" altLang="zh-CN" dirty="0" smtClean="0">
                <a:latin typeface="+mn-ea"/>
                <a:cs typeface="+mn-ea"/>
              </a:rPr>
              <a:t>c</a:t>
            </a:r>
            <a:r>
              <a:rPr lang="zh-CN" altLang="zh-CN" dirty="0" smtClean="0">
                <a:latin typeface="+mn-ea"/>
                <a:cs typeface="+mn-ea"/>
              </a:rPr>
              <a:t>lient</a:t>
            </a:r>
            <a:r>
              <a:rPr lang="zh-CN" altLang="en-US" dirty="0" smtClean="0">
                <a:latin typeface="+mn-ea"/>
                <a:cs typeface="+mn-ea"/>
              </a:rPr>
              <a:t>会发送</a:t>
            </a:r>
            <a:r>
              <a:rPr lang="en-US" altLang="zh-CN" dirty="0" smtClean="0">
                <a:latin typeface="+mn-ea"/>
                <a:cs typeface="+mn-ea"/>
              </a:rPr>
              <a:t>ACK</a:t>
            </a:r>
            <a:r>
              <a:rPr lang="zh-CN" altLang="en-US" dirty="0" smtClean="0">
                <a:latin typeface="+mn-ea"/>
                <a:cs typeface="+mn-ea"/>
              </a:rPr>
              <a:t>包给</a:t>
            </a:r>
            <a:r>
              <a:rPr lang="zh-CN" altLang="zh-CN" dirty="0" smtClean="0">
                <a:latin typeface="+mn-ea"/>
                <a:cs typeface="+mn-ea"/>
              </a:rPr>
              <a:t>server</a:t>
            </a:r>
            <a:r>
              <a:rPr lang="zh-CN" altLang="en-US" dirty="0" smtClean="0">
                <a:latin typeface="+mn-ea"/>
                <a:cs typeface="+mn-ea"/>
              </a:rPr>
              <a:t>。</a:t>
            </a:r>
            <a:br>
              <a:rPr lang="zh-CN" altLang="zh-CN" dirty="0" smtClean="0">
                <a:latin typeface="+mn-ea"/>
                <a:cs typeface="+mn-ea"/>
              </a:rPr>
            </a:br>
            <a:r>
              <a:rPr lang="en-US" altLang="zh-CN" dirty="0" smtClean="0">
                <a:latin typeface="+mn-ea"/>
                <a:cs typeface="+mn-ea"/>
              </a:rPr>
              <a:t>5</a:t>
            </a:r>
            <a:r>
              <a:rPr lang="zh-CN" altLang="zh-CN" dirty="0" smtClean="0">
                <a:latin typeface="+mn-ea"/>
                <a:cs typeface="+mn-ea"/>
              </a:rPr>
              <a:t>. 当</a:t>
            </a:r>
            <a:r>
              <a:rPr lang="zh-CN" altLang="zh-CN" dirty="0">
                <a:latin typeface="+mn-ea"/>
                <a:cs typeface="+mn-ea"/>
              </a:rPr>
              <a:t>server</a:t>
            </a:r>
            <a:r>
              <a:rPr lang="zh-CN" altLang="zh-CN" dirty="0" smtClean="0">
                <a:latin typeface="+mn-ea"/>
                <a:cs typeface="+mn-ea"/>
              </a:rPr>
              <a:t>发送的DATA数据长度小于512字节时，</a:t>
            </a:r>
            <a:r>
              <a:rPr lang="en-US" altLang="zh-CN" dirty="0" smtClean="0">
                <a:latin typeface="+mn-ea"/>
                <a:cs typeface="+mn-ea"/>
              </a:rPr>
              <a:t> </a:t>
            </a:r>
            <a:r>
              <a:rPr lang="zh-CN" altLang="zh-CN" dirty="0" smtClean="0">
                <a:latin typeface="+mn-ea"/>
                <a:cs typeface="+mn-ea"/>
              </a:rPr>
              <a:t>这次</a:t>
            </a:r>
            <a:r>
              <a:rPr lang="en-US" altLang="zh-CN" dirty="0" smtClean="0">
                <a:latin typeface="+mn-ea"/>
                <a:cs typeface="+mn-ea"/>
              </a:rPr>
              <a:t>R</a:t>
            </a:r>
            <a:r>
              <a:rPr lang="zh-CN" altLang="zh-CN" dirty="0" smtClean="0">
                <a:latin typeface="+mn-ea"/>
                <a:cs typeface="+mn-ea"/>
              </a:rPr>
              <a:t>RQ请求完成</a:t>
            </a:r>
            <a:r>
              <a:rPr lang="zh-CN" altLang="en-US" dirty="0" smtClean="0">
                <a:latin typeface="+mn-ea"/>
                <a:cs typeface="+mn-ea"/>
              </a:rPr>
              <a:t>。</a:t>
            </a:r>
            <a:endParaRPr lang="en-US" altLang="zh-CN" dirty="0" smtClean="0">
              <a:latin typeface="+mn-ea"/>
              <a:cs typeface="+mn-ea"/>
            </a:endParaRPr>
          </a:p>
          <a:p>
            <a:pPr lvl="0" eaLnBrk="0" fontAlgn="base" hangingPunct="0">
              <a:spcBef>
                <a:spcPct val="0"/>
              </a:spcBef>
              <a:spcAft>
                <a:spcPct val="0"/>
              </a:spcAft>
            </a:pPr>
            <a:endParaRPr lang="en-US" altLang="zh-CN" sz="2000" dirty="0">
              <a:latin typeface="+mn-ea"/>
              <a:cs typeface="+mn-ea"/>
            </a:endParaRPr>
          </a:p>
        </p:txBody>
      </p:sp>
      <p:pic>
        <p:nvPicPr>
          <p:cNvPr id="10" name="图片 9"/>
          <p:cNvPicPr>
            <a:picLocks noChangeAspect="1"/>
          </p:cNvPicPr>
          <p:nvPr/>
        </p:nvPicPr>
        <p:blipFill>
          <a:blip r:embed="rId1"/>
          <a:stretch>
            <a:fillRect/>
          </a:stretch>
        </p:blipFill>
        <p:spPr>
          <a:xfrm>
            <a:off x="6125255" y="422717"/>
            <a:ext cx="6066745" cy="58150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0"/>
                            </p:stCondLst>
                            <p:childTnLst>
                              <p:par>
                                <p:cTn id="10" presetID="53" presetClass="entr" presetSubtype="16"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Grp="1" noChangeArrowheads="1"/>
          </p:cNvSpPr>
          <p:nvPr>
            <p:ph type="title"/>
          </p:nvPr>
        </p:nvSpPr>
        <p:spPr bwMode="auto">
          <a:xfrm>
            <a:off x="564426" y="1293713"/>
            <a:ext cx="4273904" cy="4483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100" b="1" i="0" u="none" strike="noStrike" cap="none" normalizeH="0" baseline="0" dirty="0" smtClean="0">
                <a:ln>
                  <a:noFill/>
                </a:ln>
                <a:solidFill>
                  <a:srgbClr val="000000"/>
                </a:solidFill>
                <a:effectLst/>
                <a:latin typeface="+mn-ea"/>
                <a:ea typeface="+mn-ea"/>
              </a:rPr>
              <a:t> </a:t>
            </a:r>
            <a:endParaRPr kumimoji="0" lang="en-US" altLang="zh-CN" sz="2100" b="1" i="0" u="none" strike="noStrike" cap="none" normalizeH="0" baseline="0" dirty="0" smtClean="0">
              <a:ln>
                <a:noFill/>
              </a:ln>
              <a:solidFill>
                <a:srgbClr val="000000"/>
              </a:solidFill>
              <a:effectLst/>
              <a:latin typeface="+mn-ea"/>
              <a:ea typeface="+mn-ea"/>
            </a:endParaRPr>
          </a:p>
        </p:txBody>
      </p:sp>
      <p:sp>
        <p:nvSpPr>
          <p:cNvPr id="6" name="文本框 73"/>
          <p:cNvSpPr txBox="1"/>
          <p:nvPr/>
        </p:nvSpPr>
        <p:spPr>
          <a:xfrm>
            <a:off x="996519" y="276106"/>
            <a:ext cx="5504355" cy="461665"/>
          </a:xfrm>
          <a:prstGeom prst="rect">
            <a:avLst/>
          </a:prstGeom>
          <a:noFill/>
        </p:spPr>
        <p:txBody>
          <a:bodyPr wrap="square" rtlCol="0">
            <a:spAutoFit/>
          </a:bodyPr>
          <a:lstStyle/>
          <a:p>
            <a:r>
              <a:rPr lang="en-US" altLang="zh-CN" sz="2400" b="1" dirty="0">
                <a:solidFill>
                  <a:schemeClr val="tx1">
                    <a:lumMod val="65000"/>
                    <a:lumOff val="35000"/>
                  </a:schemeClr>
                </a:solidFill>
                <a:latin typeface="+mn-ea"/>
                <a:cs typeface="+mn-ea"/>
              </a:rPr>
              <a:t>TFTP</a:t>
            </a:r>
            <a:r>
              <a:rPr lang="zh-CN" altLang="en-US" sz="2400" b="1" dirty="0">
                <a:solidFill>
                  <a:schemeClr val="tx1">
                    <a:lumMod val="65000"/>
                    <a:lumOff val="35000"/>
                  </a:schemeClr>
                </a:solidFill>
                <a:latin typeface="+mn-ea"/>
                <a:cs typeface="+mn-ea"/>
              </a:rPr>
              <a:t>工作</a:t>
            </a:r>
            <a:r>
              <a:rPr lang="zh-CN" altLang="en-US" sz="2400" b="1" dirty="0" smtClean="0">
                <a:solidFill>
                  <a:schemeClr val="tx1">
                    <a:lumMod val="65000"/>
                    <a:lumOff val="35000"/>
                  </a:schemeClr>
                </a:solidFill>
                <a:latin typeface="+mn-ea"/>
                <a:cs typeface="+mn-ea"/>
              </a:rPr>
              <a:t>流程</a:t>
            </a:r>
            <a:endParaRPr lang="zh-CN" altLang="en-US" sz="2400" b="1" dirty="0">
              <a:solidFill>
                <a:schemeClr val="tx1">
                  <a:lumMod val="65000"/>
                  <a:lumOff val="35000"/>
                </a:schemeClr>
              </a:solidFill>
              <a:latin typeface="+mn-ea"/>
              <a:cs typeface="+mn-ea"/>
            </a:endParaRPr>
          </a:p>
        </p:txBody>
      </p:sp>
      <p:sp>
        <p:nvSpPr>
          <p:cNvPr id="7" name="椭圆 6"/>
          <p:cNvSpPr/>
          <p:nvPr/>
        </p:nvSpPr>
        <p:spPr>
          <a:xfrm rot="10800000" flipV="1">
            <a:off x="280273" y="285719"/>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dirty="0">
                <a:latin typeface="+mn-ea"/>
              </a:rPr>
              <a:t>02</a:t>
            </a:r>
            <a:endParaRPr kumimoji="1" lang="en-US" altLang="zh-CN" sz="1600" b="1" dirty="0">
              <a:latin typeface="+mn-ea"/>
            </a:endParaRPr>
          </a:p>
        </p:txBody>
      </p:sp>
      <p:sp>
        <p:nvSpPr>
          <p:cNvPr id="2" name="矩形 1"/>
          <p:cNvSpPr/>
          <p:nvPr/>
        </p:nvSpPr>
        <p:spPr>
          <a:xfrm>
            <a:off x="177411" y="1348145"/>
            <a:ext cx="5212736" cy="4308872"/>
          </a:xfrm>
          <a:prstGeom prst="rect">
            <a:avLst/>
          </a:prstGeom>
        </p:spPr>
        <p:txBody>
          <a:bodyPr wrap="square">
            <a:spAutoFit/>
          </a:bodyPr>
          <a:lstStyle/>
          <a:p>
            <a:pPr eaLnBrk="0" fontAlgn="base" hangingPunct="0">
              <a:spcBef>
                <a:spcPct val="0"/>
              </a:spcBef>
              <a:spcAft>
                <a:spcPct val="0"/>
              </a:spcAft>
            </a:pPr>
            <a:r>
              <a:rPr lang="zh-CN" altLang="en-US" sz="2000" b="1" dirty="0">
                <a:latin typeface="+mn-ea"/>
                <a:cs typeface="+mn-ea"/>
              </a:rPr>
              <a:t>上传文件指的是客户端将本地上的文件上传到</a:t>
            </a:r>
            <a:r>
              <a:rPr lang="en-US" altLang="zh-CN" sz="2000" b="1" dirty="0">
                <a:latin typeface="+mn-ea"/>
                <a:cs typeface="+mn-ea"/>
              </a:rPr>
              <a:t>TFTP</a:t>
            </a:r>
            <a:r>
              <a:rPr lang="zh-CN" altLang="en-US" sz="2000" b="1" dirty="0">
                <a:latin typeface="+mn-ea"/>
                <a:cs typeface="+mn-ea"/>
              </a:rPr>
              <a:t>服务器上</a:t>
            </a:r>
            <a:r>
              <a:rPr lang="zh-CN" altLang="en-US" sz="2000" b="1" dirty="0" smtClean="0">
                <a:latin typeface="+mn-ea"/>
                <a:cs typeface="+mn-ea"/>
              </a:rPr>
              <a:t>。                                                             </a:t>
            </a:r>
            <a:r>
              <a:rPr lang="en-US" altLang="zh-CN" sz="2000" dirty="0" smtClean="0">
                <a:latin typeface="+mn-ea"/>
                <a:cs typeface="+mn-ea"/>
              </a:rPr>
              <a:t> </a:t>
            </a:r>
            <a:r>
              <a:rPr lang="zh-CN" altLang="zh-CN" dirty="0" smtClean="0">
                <a:latin typeface="+mn-ea"/>
                <a:cs typeface="+mn-ea"/>
              </a:rPr>
              <a:t>1</a:t>
            </a:r>
            <a:r>
              <a:rPr lang="zh-CN" altLang="zh-CN" dirty="0">
                <a:latin typeface="+mn-ea"/>
                <a:cs typeface="+mn-ea"/>
              </a:rPr>
              <a:t>. server在端口为69的UDP上等待client</a:t>
            </a:r>
            <a:r>
              <a:rPr lang="zh-CN" altLang="zh-CN" dirty="0" smtClean="0">
                <a:latin typeface="+mn-ea"/>
                <a:cs typeface="+mn-ea"/>
              </a:rPr>
              <a:t>发出</a:t>
            </a:r>
            <a:r>
              <a:rPr lang="zh-CN" altLang="en-US" dirty="0" smtClean="0">
                <a:latin typeface="+mn-ea"/>
                <a:cs typeface="+mn-ea"/>
              </a:rPr>
              <a:t>写</a:t>
            </a:r>
            <a:r>
              <a:rPr lang="zh-CN" altLang="zh-CN" dirty="0" smtClean="0">
                <a:latin typeface="+mn-ea"/>
                <a:cs typeface="+mn-ea"/>
              </a:rPr>
              <a:t>文件</a:t>
            </a:r>
            <a:r>
              <a:rPr lang="zh-CN" altLang="zh-CN" dirty="0">
                <a:latin typeface="+mn-ea"/>
                <a:cs typeface="+mn-ea"/>
              </a:rPr>
              <a:t>请求</a:t>
            </a:r>
            <a:r>
              <a:rPr lang="zh-CN" altLang="zh-CN" dirty="0" smtClean="0">
                <a:latin typeface="+mn-ea"/>
                <a:cs typeface="+mn-ea"/>
              </a:rPr>
              <a:t>包</a:t>
            </a:r>
            <a:r>
              <a:rPr lang="zh-CN" altLang="en-US" dirty="0" smtClean="0">
                <a:latin typeface="+mn-ea"/>
                <a:cs typeface="+mn-ea"/>
              </a:rPr>
              <a:t>。</a:t>
            </a:r>
            <a:br>
              <a:rPr lang="zh-CN" altLang="zh-CN" dirty="0">
                <a:latin typeface="+mn-ea"/>
                <a:cs typeface="+mn-ea"/>
              </a:rPr>
            </a:br>
            <a:r>
              <a:rPr lang="zh-CN" altLang="zh-CN" dirty="0">
                <a:latin typeface="+mn-ea"/>
                <a:cs typeface="+mn-ea"/>
              </a:rPr>
              <a:t>2. client通过UDP发送符合TFTP请求格式</a:t>
            </a:r>
            <a:r>
              <a:rPr lang="zh-CN" altLang="zh-CN" dirty="0" smtClean="0">
                <a:latin typeface="+mn-ea"/>
                <a:cs typeface="+mn-ea"/>
              </a:rPr>
              <a:t>的</a:t>
            </a:r>
            <a:r>
              <a:rPr lang="en-US" altLang="zh-CN" dirty="0" smtClean="0">
                <a:latin typeface="+mn-ea"/>
                <a:cs typeface="+mn-ea"/>
              </a:rPr>
              <a:t>W</a:t>
            </a:r>
            <a:r>
              <a:rPr lang="zh-CN" altLang="zh-CN" dirty="0" smtClean="0">
                <a:latin typeface="+mn-ea"/>
                <a:cs typeface="+mn-ea"/>
              </a:rPr>
              <a:t>RQ</a:t>
            </a:r>
            <a:r>
              <a:rPr lang="zh-CN" altLang="zh-CN" dirty="0">
                <a:latin typeface="+mn-ea"/>
                <a:cs typeface="+mn-ea"/>
              </a:rPr>
              <a:t>包给server。从UDP包角度看，该UDP包的源端口由client随意选择，而目标端口则是server的69。</a:t>
            </a:r>
            <a:br>
              <a:rPr lang="zh-CN" altLang="zh-CN" dirty="0">
                <a:latin typeface="+mn-ea"/>
                <a:cs typeface="+mn-ea"/>
              </a:rPr>
            </a:br>
            <a:r>
              <a:rPr lang="zh-CN" altLang="zh-CN" dirty="0">
                <a:latin typeface="+mn-ea"/>
                <a:cs typeface="+mn-ea"/>
              </a:rPr>
              <a:t>3. server收到client的这个请求包后，需发送ACK给client。对于写请求包，server发送的ACK包确认号为0。</a:t>
            </a:r>
            <a:br>
              <a:rPr lang="zh-CN" altLang="zh-CN" dirty="0">
                <a:latin typeface="+mn-ea"/>
                <a:cs typeface="+mn-ea"/>
              </a:rPr>
            </a:br>
            <a:r>
              <a:rPr lang="zh-CN" altLang="zh-CN" dirty="0">
                <a:latin typeface="+mn-ea"/>
                <a:cs typeface="+mn-ea"/>
              </a:rPr>
              <a:t>4. client发送DATA数据给server，server接收数据并写</a:t>
            </a:r>
            <a:r>
              <a:rPr lang="zh-CN" altLang="zh-CN" dirty="0" smtClean="0">
                <a:latin typeface="+mn-ea"/>
                <a:cs typeface="+mn-ea"/>
              </a:rPr>
              <a:t>文件</a:t>
            </a:r>
            <a:r>
              <a:rPr lang="zh-CN" altLang="en-US" dirty="0" smtClean="0">
                <a:latin typeface="+mn-ea"/>
                <a:cs typeface="+mn-ea"/>
              </a:rPr>
              <a:t>。</a:t>
            </a:r>
            <a:br>
              <a:rPr lang="zh-CN" altLang="zh-CN" dirty="0">
                <a:latin typeface="+mn-ea"/>
                <a:cs typeface="+mn-ea"/>
              </a:rPr>
            </a:br>
            <a:r>
              <a:rPr lang="zh-CN" altLang="zh-CN" dirty="0">
                <a:latin typeface="+mn-ea"/>
                <a:cs typeface="+mn-ea"/>
              </a:rPr>
              <a:t>5. 当client发送的DATA数据长度小于512字节时</a:t>
            </a:r>
            <a:r>
              <a:rPr lang="zh-CN" altLang="zh-CN" dirty="0" smtClean="0">
                <a:latin typeface="+mn-ea"/>
                <a:cs typeface="+mn-ea"/>
              </a:rPr>
              <a:t>，这</a:t>
            </a:r>
            <a:r>
              <a:rPr lang="zh-CN" altLang="zh-CN" dirty="0">
                <a:latin typeface="+mn-ea"/>
                <a:cs typeface="+mn-ea"/>
              </a:rPr>
              <a:t>次WRQ请求完成</a:t>
            </a:r>
            <a:r>
              <a:rPr lang="zh-CN" altLang="en-US" dirty="0">
                <a:latin typeface="+mn-ea"/>
                <a:cs typeface="+mn-ea"/>
              </a:rPr>
              <a:t>。</a:t>
            </a:r>
            <a:endParaRPr lang="en-US" altLang="zh-CN" dirty="0">
              <a:latin typeface="+mn-ea"/>
              <a:cs typeface="+mn-ea"/>
            </a:endParaRPr>
          </a:p>
          <a:p>
            <a:pPr lvl="0" eaLnBrk="0" fontAlgn="base" hangingPunct="0">
              <a:spcBef>
                <a:spcPct val="0"/>
              </a:spcBef>
              <a:spcAft>
                <a:spcPct val="0"/>
              </a:spcAft>
            </a:pPr>
            <a:endParaRPr lang="zh-CN" altLang="zh-CN" dirty="0">
              <a:latin typeface="+mn-ea"/>
              <a:cs typeface="+mn-ea"/>
            </a:endParaRPr>
          </a:p>
        </p:txBody>
      </p:sp>
      <p:pic>
        <p:nvPicPr>
          <p:cNvPr id="12" name="图片 11"/>
          <p:cNvPicPr>
            <a:picLocks noChangeAspect="1"/>
          </p:cNvPicPr>
          <p:nvPr/>
        </p:nvPicPr>
        <p:blipFill>
          <a:blip r:embed="rId1"/>
          <a:stretch>
            <a:fillRect/>
          </a:stretch>
        </p:blipFill>
        <p:spPr>
          <a:xfrm>
            <a:off x="5303922" y="0"/>
            <a:ext cx="6781800" cy="6667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0"/>
                            </p:stCondLst>
                            <p:childTnLst>
                              <p:par>
                                <p:cTn id="10" presetID="53" presetClass="entr" presetSubtype="16"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73"/>
          <p:cNvSpPr txBox="1"/>
          <p:nvPr/>
        </p:nvSpPr>
        <p:spPr>
          <a:xfrm>
            <a:off x="1022277" y="365125"/>
            <a:ext cx="5504355" cy="460375"/>
          </a:xfrm>
          <a:prstGeom prst="rect">
            <a:avLst/>
          </a:prstGeom>
          <a:noFill/>
        </p:spPr>
        <p:txBody>
          <a:bodyPr wrap="square" rtlCol="0">
            <a:spAutoFit/>
          </a:bodyPr>
          <a:lstStyle/>
          <a:p>
            <a:r>
              <a:rPr lang="en-US" altLang="zh-CN" sz="2400" b="1" dirty="0">
                <a:solidFill>
                  <a:schemeClr val="tx1">
                    <a:lumMod val="65000"/>
                    <a:lumOff val="35000"/>
                  </a:schemeClr>
                </a:solidFill>
                <a:latin typeface="+mn-ea"/>
                <a:cs typeface="+mn-ea"/>
              </a:rPr>
              <a:t>TFTP</a:t>
            </a:r>
            <a:r>
              <a:rPr lang="zh-CN" altLang="en-US" sz="2400" b="1" dirty="0">
                <a:solidFill>
                  <a:schemeClr val="tx1">
                    <a:lumMod val="65000"/>
                    <a:lumOff val="35000"/>
                  </a:schemeClr>
                </a:solidFill>
                <a:latin typeface="+mn-ea"/>
                <a:cs typeface="+mn-ea"/>
              </a:rPr>
              <a:t>工作</a:t>
            </a:r>
            <a:r>
              <a:rPr lang="zh-CN" altLang="en-US" sz="2400" b="1" dirty="0" smtClean="0">
                <a:solidFill>
                  <a:schemeClr val="tx1">
                    <a:lumMod val="65000"/>
                    <a:lumOff val="35000"/>
                  </a:schemeClr>
                </a:solidFill>
                <a:latin typeface="+mn-ea"/>
                <a:cs typeface="+mn-ea"/>
              </a:rPr>
              <a:t>流程</a:t>
            </a:r>
            <a:endParaRPr lang="zh-CN" altLang="en-US" sz="2400" b="1" dirty="0">
              <a:solidFill>
                <a:schemeClr val="tx1">
                  <a:lumMod val="65000"/>
                  <a:lumOff val="35000"/>
                </a:schemeClr>
              </a:solidFill>
              <a:latin typeface="+mn-ea"/>
              <a:cs typeface="+mn-ea"/>
            </a:endParaRPr>
          </a:p>
        </p:txBody>
      </p:sp>
      <p:sp>
        <p:nvSpPr>
          <p:cNvPr id="6" name="椭圆 5"/>
          <p:cNvSpPr/>
          <p:nvPr/>
        </p:nvSpPr>
        <p:spPr>
          <a:xfrm rot="10800000" flipV="1">
            <a:off x="306031" y="374738"/>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dirty="0">
                <a:latin typeface="+mn-ea"/>
              </a:rPr>
              <a:t>02</a:t>
            </a:r>
            <a:endParaRPr kumimoji="1" lang="en-US" altLang="zh-CN" sz="1600" b="1" dirty="0">
              <a:latin typeface="+mn-ea"/>
            </a:endParaRPr>
          </a:p>
        </p:txBody>
      </p:sp>
      <p:sp>
        <p:nvSpPr>
          <p:cNvPr id="7" name="标题 1"/>
          <p:cNvSpPr>
            <a:spLocks noGrp="1"/>
          </p:cNvSpPr>
          <p:nvPr>
            <p:ph type="title"/>
          </p:nvPr>
        </p:nvSpPr>
        <p:spPr>
          <a:xfrm>
            <a:off x="874339" y="1000260"/>
            <a:ext cx="10515600" cy="1325563"/>
          </a:xfrm>
        </p:spPr>
        <p:txBody>
          <a:bodyPr>
            <a:normAutofit fontScale="90000"/>
          </a:bodyPr>
          <a:lstStyle/>
          <a:p>
            <a:br>
              <a:rPr lang="zh-CN" altLang="en-US" sz="2200" dirty="0">
                <a:latin typeface="+mn-ea"/>
                <a:ea typeface="+mn-ea"/>
                <a:cs typeface="+mn-ea"/>
              </a:rPr>
            </a:br>
            <a:r>
              <a:rPr lang="zh-CN" altLang="en-US" sz="2200" dirty="0">
                <a:latin typeface="+mn-ea"/>
                <a:ea typeface="+mn-ea"/>
                <a:cs typeface="+mn-ea"/>
              </a:rPr>
              <a:t>要启动传输过程，主要要求是服务器形成连接，以便它可以读取或写入要传输的文件。一旦建立连接，发送文件的过程就开始了。这些文件以 </a:t>
            </a:r>
            <a:r>
              <a:rPr lang="en-US" altLang="zh-CN" sz="2200" dirty="0">
                <a:latin typeface="+mn-ea"/>
                <a:ea typeface="+mn-ea"/>
                <a:cs typeface="+mn-ea"/>
              </a:rPr>
              <a:t>512 </a:t>
            </a:r>
            <a:r>
              <a:rPr lang="zh-CN" altLang="en-US" sz="2200" dirty="0">
                <a:latin typeface="+mn-ea"/>
                <a:ea typeface="+mn-ea"/>
                <a:cs typeface="+mn-ea"/>
              </a:rPr>
              <a:t>字节的固定长度块的小数据包传输。</a:t>
            </a:r>
            <a:br>
              <a:rPr lang="zh-CN" altLang="en-US" dirty="0">
                <a:latin typeface="+mn-ea"/>
                <a:ea typeface="+mn-ea"/>
                <a:cs typeface="+mn-ea"/>
              </a:rPr>
            </a:br>
            <a:endParaRPr lang="zh-CN" altLang="en-US" dirty="0">
              <a:latin typeface="+mn-ea"/>
              <a:ea typeface="+mn-ea"/>
              <a:cs typeface="+mn-ea"/>
            </a:endParaRPr>
          </a:p>
        </p:txBody>
      </p:sp>
      <p:pic>
        <p:nvPicPr>
          <p:cNvPr id="8" name="内容占位符 3"/>
          <p:cNvPicPr>
            <a:picLocks noChangeAspect="1"/>
          </p:cNvPicPr>
          <p:nvPr/>
        </p:nvPicPr>
        <p:blipFill>
          <a:blip r:embed="rId1">
            <a:extLst>
              <a:ext uri="{28A0092B-C50C-407E-A947-70E740481C1C}">
                <a14:useLocalDpi xmlns:a14="http://schemas.microsoft.com/office/drawing/2010/main" val="0"/>
              </a:ext>
            </a:extLst>
          </a:blip>
          <a:srcRect r="34" b="6960"/>
          <a:stretch>
            <a:fillRect/>
          </a:stretch>
        </p:blipFill>
        <p:spPr>
          <a:xfrm>
            <a:off x="1022350" y="2021840"/>
            <a:ext cx="9413875" cy="4048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0"/>
                            </p:stCondLst>
                            <p:childTnLst>
                              <p:par>
                                <p:cTn id="10" presetID="5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035685"/>
            <a:ext cx="8192911" cy="285987"/>
          </a:xfrm>
        </p:spPr>
        <p:txBody>
          <a:bodyPr>
            <a:normAutofit fontScale="90000"/>
          </a:bodyPr>
          <a:lstStyle/>
          <a:p>
            <a:r>
              <a:rPr lang="zh-CN" altLang="en-US" sz="2000" dirty="0">
                <a:latin typeface="+mn-ea"/>
                <a:ea typeface="+mn-ea"/>
              </a:rPr>
              <a:t>这些数据包进一步分为块，每个包由一个块组成。</a:t>
            </a:r>
            <a:endParaRPr lang="zh-CN" altLang="en-US" sz="2000" dirty="0">
              <a:latin typeface="+mn-ea"/>
              <a:ea typeface="+mn-ea"/>
            </a:endParaRPr>
          </a:p>
        </p:txBody>
      </p:sp>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rcRect r="-1243" b="20454"/>
          <a:stretch>
            <a:fillRect/>
          </a:stretch>
        </p:blipFill>
        <p:spPr>
          <a:xfrm>
            <a:off x="736600" y="1391920"/>
            <a:ext cx="8949055" cy="2447290"/>
          </a:xfrm>
        </p:spPr>
      </p:pic>
      <p:sp>
        <p:nvSpPr>
          <p:cNvPr id="5" name="标题 1"/>
          <p:cNvSpPr txBox="1"/>
          <p:nvPr/>
        </p:nvSpPr>
        <p:spPr>
          <a:xfrm>
            <a:off x="838200" y="3909542"/>
            <a:ext cx="8012289" cy="379942"/>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dirty="0" smtClean="0">
                <a:latin typeface="+mn-ea"/>
                <a:ea typeface="+mn-ea"/>
              </a:rPr>
              <a:t>一旦发送了一个数据包，它需要在发送另一个数据包之前由确认包确认。</a:t>
            </a:r>
            <a:endParaRPr lang="zh-CN" altLang="en-US" sz="2000" dirty="0" smtClean="0">
              <a:latin typeface="+mn-ea"/>
              <a:ea typeface="+mn-ea"/>
            </a:endParaRPr>
          </a:p>
        </p:txBody>
      </p:sp>
      <p:pic>
        <p:nvPicPr>
          <p:cNvPr id="6" name="内容占位符 3"/>
          <p:cNvPicPr>
            <a:picLocks noChangeAspect="1"/>
          </p:cNvPicPr>
          <p:nvPr/>
        </p:nvPicPr>
        <p:blipFill>
          <a:blip r:embed="rId2">
            <a:extLst>
              <a:ext uri="{28A0092B-C50C-407E-A947-70E740481C1C}">
                <a14:useLocalDpi xmlns:a14="http://schemas.microsoft.com/office/drawing/2010/main" val="0"/>
              </a:ext>
            </a:extLst>
          </a:blip>
          <a:srcRect b="9648"/>
          <a:stretch>
            <a:fillRect/>
          </a:stretch>
        </p:blipFill>
        <p:spPr>
          <a:xfrm>
            <a:off x="736600" y="4289425"/>
            <a:ext cx="8949055" cy="2295525"/>
          </a:xfrm>
          <a:prstGeom prst="rect">
            <a:avLst/>
          </a:prstGeom>
        </p:spPr>
      </p:pic>
      <p:sp>
        <p:nvSpPr>
          <p:cNvPr id="3" name="文本框 73"/>
          <p:cNvSpPr txBox="1"/>
          <p:nvPr>
            <p:custDataLst>
              <p:tags r:id="rId3"/>
            </p:custDataLst>
          </p:nvPr>
        </p:nvSpPr>
        <p:spPr>
          <a:xfrm>
            <a:off x="1022277" y="365125"/>
            <a:ext cx="5504355" cy="461665"/>
          </a:xfrm>
          <a:prstGeom prst="rect">
            <a:avLst/>
          </a:prstGeom>
          <a:noFill/>
        </p:spPr>
        <p:txBody>
          <a:bodyPr wrap="square" rtlCol="0">
            <a:spAutoFit/>
          </a:bodyPr>
          <a:p>
            <a:r>
              <a:rPr lang="en-US" altLang="zh-CN" sz="2400" b="1" dirty="0">
                <a:solidFill>
                  <a:schemeClr val="tx1">
                    <a:lumMod val="65000"/>
                    <a:lumOff val="35000"/>
                  </a:schemeClr>
                </a:solidFill>
                <a:latin typeface="+mn-ea"/>
                <a:cs typeface="+mn-ea"/>
              </a:rPr>
              <a:t>TFTP</a:t>
            </a:r>
            <a:r>
              <a:rPr lang="zh-CN" altLang="en-US" sz="2400" b="1" dirty="0">
                <a:solidFill>
                  <a:schemeClr val="tx1">
                    <a:lumMod val="65000"/>
                    <a:lumOff val="35000"/>
                  </a:schemeClr>
                </a:solidFill>
                <a:latin typeface="+mn-ea"/>
                <a:cs typeface="+mn-ea"/>
              </a:rPr>
              <a:t>工作</a:t>
            </a:r>
            <a:r>
              <a:rPr lang="zh-CN" altLang="en-US" sz="2400" b="1" dirty="0" smtClean="0">
                <a:solidFill>
                  <a:schemeClr val="tx1">
                    <a:lumMod val="65000"/>
                    <a:lumOff val="35000"/>
                  </a:schemeClr>
                </a:solidFill>
                <a:latin typeface="+mn-ea"/>
                <a:cs typeface="+mn-ea"/>
              </a:rPr>
              <a:t>流程</a:t>
            </a:r>
            <a:endParaRPr lang="zh-CN" altLang="en-US" sz="2400" b="1" dirty="0">
              <a:solidFill>
                <a:schemeClr val="tx1">
                  <a:lumMod val="65000"/>
                  <a:lumOff val="35000"/>
                </a:schemeClr>
              </a:solidFill>
              <a:latin typeface="+mn-ea"/>
              <a:cs typeface="+mn-ea"/>
            </a:endParaRPr>
          </a:p>
        </p:txBody>
      </p:sp>
      <p:sp>
        <p:nvSpPr>
          <p:cNvPr id="7" name="椭圆 6"/>
          <p:cNvSpPr/>
          <p:nvPr>
            <p:custDataLst>
              <p:tags r:id="rId4"/>
            </p:custDataLst>
          </p:nvPr>
        </p:nvSpPr>
        <p:spPr>
          <a:xfrm rot="10800000" flipV="1">
            <a:off x="306031" y="374738"/>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p>
            <a:pPr algn="ctr" fontAlgn="auto">
              <a:spcBef>
                <a:spcPts val="0"/>
              </a:spcBef>
              <a:spcAft>
                <a:spcPts val="0"/>
              </a:spcAft>
              <a:defRPr/>
            </a:pPr>
            <a:r>
              <a:rPr kumimoji="1" lang="en-US" altLang="zh-CN" sz="1600" b="1" dirty="0">
                <a:latin typeface="+mn-ea"/>
              </a:rPr>
              <a:t>02</a:t>
            </a:r>
            <a:endParaRPr kumimoji="1" lang="en-US" altLang="zh-CN" sz="16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0"/>
                            </p:stCondLst>
                            <p:childTnLst>
                              <p:par>
                                <p:cTn id="10" presetID="53" presetClass="entr" presetSubtype="16"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010285"/>
            <a:ext cx="10515600" cy="912495"/>
          </a:xfrm>
        </p:spPr>
        <p:txBody>
          <a:bodyPr>
            <a:noAutofit/>
          </a:bodyPr>
          <a:lstStyle/>
          <a:p>
            <a:r>
              <a:rPr lang="zh-CN" altLang="en-US" sz="2000" dirty="0"/>
              <a:t>现在要完全传输并得到确认，数据包至少应为 </a:t>
            </a:r>
            <a:r>
              <a:rPr lang="en-US" altLang="zh-CN" sz="2000" dirty="0"/>
              <a:t>512 </a:t>
            </a:r>
            <a:r>
              <a:rPr lang="zh-CN" altLang="en-US" sz="2000" dirty="0"/>
              <a:t>字节。如果数据包的大小小于 </a:t>
            </a:r>
            <a:r>
              <a:rPr lang="en-US" altLang="zh-CN" sz="2000" dirty="0"/>
              <a:t>512 </a:t>
            </a:r>
            <a:r>
              <a:rPr lang="zh-CN" altLang="en-US" sz="2000" dirty="0"/>
              <a:t>字节，则导致数据包终止。反过来，这会导致传输过程超时，发送方必须重新传输数据包。</a:t>
            </a:r>
            <a:endParaRPr lang="zh-CN" altLang="en-US" sz="2000" dirty="0"/>
          </a:p>
        </p:txBody>
      </p:sp>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rcRect r="-1527" b="8858"/>
          <a:stretch>
            <a:fillRect/>
          </a:stretch>
        </p:blipFill>
        <p:spPr>
          <a:xfrm>
            <a:off x="838200" y="1950720"/>
            <a:ext cx="9709150" cy="3090545"/>
          </a:xfrm>
        </p:spPr>
      </p:pic>
      <p:sp>
        <p:nvSpPr>
          <p:cNvPr id="5" name="矩形 4"/>
          <p:cNvSpPr/>
          <p:nvPr/>
        </p:nvSpPr>
        <p:spPr>
          <a:xfrm>
            <a:off x="838200" y="5220970"/>
            <a:ext cx="9302750" cy="645160"/>
          </a:xfrm>
          <a:prstGeom prst="rect">
            <a:avLst/>
          </a:prstGeom>
        </p:spPr>
        <p:txBody>
          <a:bodyPr wrap="square">
            <a:spAutoFit/>
          </a:bodyPr>
          <a:lstStyle/>
          <a:p>
            <a:r>
              <a:rPr lang="zh-CN" altLang="en-US" b="0" i="0" dirty="0" smtClean="0">
                <a:solidFill>
                  <a:srgbClr val="4D4D4D"/>
                </a:solidFill>
                <a:effectLst/>
                <a:latin typeface="+mn-ea"/>
              </a:rPr>
              <a:t>该过程中涉及的两台机器都被视为发送者和接收者。这是因为当一个发送数据并接收确认时，另一个发送确认并接受数据。</a:t>
            </a:r>
            <a:endParaRPr lang="zh-CN" altLang="en-US" b="0" i="0" dirty="0" smtClean="0">
              <a:solidFill>
                <a:srgbClr val="4D4D4D"/>
              </a:solidFill>
              <a:effectLst/>
              <a:latin typeface="+mn-ea"/>
            </a:endParaRPr>
          </a:p>
        </p:txBody>
      </p:sp>
      <p:sp>
        <p:nvSpPr>
          <p:cNvPr id="3" name="文本框 73"/>
          <p:cNvSpPr txBox="1"/>
          <p:nvPr>
            <p:custDataLst>
              <p:tags r:id="rId2"/>
            </p:custDataLst>
          </p:nvPr>
        </p:nvSpPr>
        <p:spPr>
          <a:xfrm>
            <a:off x="1022277" y="365125"/>
            <a:ext cx="5504355" cy="461665"/>
          </a:xfrm>
          <a:prstGeom prst="rect">
            <a:avLst/>
          </a:prstGeom>
          <a:noFill/>
        </p:spPr>
        <p:txBody>
          <a:bodyPr wrap="square" rtlCol="0">
            <a:spAutoFit/>
          </a:bodyPr>
          <a:p>
            <a:r>
              <a:rPr lang="en-US" altLang="zh-CN" sz="2400" b="1" dirty="0">
                <a:solidFill>
                  <a:schemeClr val="tx1">
                    <a:lumMod val="65000"/>
                    <a:lumOff val="35000"/>
                  </a:schemeClr>
                </a:solidFill>
                <a:latin typeface="+mn-ea"/>
                <a:cs typeface="+mn-ea"/>
              </a:rPr>
              <a:t>TFTP</a:t>
            </a:r>
            <a:r>
              <a:rPr lang="zh-CN" altLang="en-US" sz="2400" b="1" dirty="0">
                <a:solidFill>
                  <a:schemeClr val="tx1">
                    <a:lumMod val="65000"/>
                    <a:lumOff val="35000"/>
                  </a:schemeClr>
                </a:solidFill>
                <a:latin typeface="+mn-ea"/>
                <a:cs typeface="+mn-ea"/>
              </a:rPr>
              <a:t>工作</a:t>
            </a:r>
            <a:r>
              <a:rPr lang="zh-CN" altLang="en-US" sz="2400" b="1" dirty="0" smtClean="0">
                <a:solidFill>
                  <a:schemeClr val="tx1">
                    <a:lumMod val="65000"/>
                    <a:lumOff val="35000"/>
                  </a:schemeClr>
                </a:solidFill>
                <a:latin typeface="+mn-ea"/>
                <a:cs typeface="+mn-ea"/>
              </a:rPr>
              <a:t>流程</a:t>
            </a:r>
            <a:endParaRPr lang="zh-CN" altLang="en-US" sz="2400" b="1" dirty="0">
              <a:solidFill>
                <a:schemeClr val="tx1">
                  <a:lumMod val="65000"/>
                  <a:lumOff val="35000"/>
                </a:schemeClr>
              </a:solidFill>
              <a:latin typeface="+mn-ea"/>
              <a:cs typeface="+mn-ea"/>
            </a:endParaRPr>
          </a:p>
        </p:txBody>
      </p:sp>
      <p:sp>
        <p:nvSpPr>
          <p:cNvPr id="7" name="椭圆 6"/>
          <p:cNvSpPr/>
          <p:nvPr>
            <p:custDataLst>
              <p:tags r:id="rId3"/>
            </p:custDataLst>
          </p:nvPr>
        </p:nvSpPr>
        <p:spPr>
          <a:xfrm rot="10800000" flipV="1">
            <a:off x="306031" y="374738"/>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p>
            <a:pPr algn="ctr" fontAlgn="auto">
              <a:spcBef>
                <a:spcPts val="0"/>
              </a:spcBef>
              <a:spcAft>
                <a:spcPts val="0"/>
              </a:spcAft>
              <a:defRPr/>
            </a:pPr>
            <a:r>
              <a:rPr kumimoji="1" lang="en-US" altLang="zh-CN" sz="1600" b="1" dirty="0">
                <a:latin typeface="+mn-ea"/>
              </a:rPr>
              <a:t>02</a:t>
            </a:r>
            <a:endParaRPr kumimoji="1" lang="en-US" altLang="zh-CN" sz="16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0"/>
                            </p:stCondLst>
                            <p:childTnLst>
                              <p:par>
                                <p:cTn id="10" presetID="53" presetClass="entr" presetSubtype="16"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0375"/>
          </a:xfrm>
          <a:prstGeom prst="rect">
            <a:avLst/>
          </a:prstGeom>
          <a:noFill/>
        </p:spPr>
        <p:txBody>
          <a:bodyPr wrap="square" rtlCol="0">
            <a:spAutoFit/>
          </a:bodyPr>
          <a:lstStyle/>
          <a:p>
            <a:r>
              <a:rPr lang="en-US" altLang="zh-CN" sz="2400" b="1" dirty="0">
                <a:solidFill>
                  <a:schemeClr val="tx1">
                    <a:lumMod val="65000"/>
                    <a:lumOff val="35000"/>
                  </a:schemeClr>
                </a:solidFill>
                <a:latin typeface="+mn-ea"/>
                <a:cs typeface="+mn-ea"/>
              </a:rPr>
              <a:t>TFTP</a:t>
            </a:r>
            <a:r>
              <a:rPr lang="zh-CN" altLang="en-US" sz="2400" b="1" dirty="0">
                <a:solidFill>
                  <a:schemeClr val="tx1">
                    <a:lumMod val="65000"/>
                    <a:lumOff val="35000"/>
                  </a:schemeClr>
                </a:solidFill>
                <a:latin typeface="+mn-ea"/>
                <a:cs typeface="+mn-ea"/>
              </a:rPr>
              <a:t>包格式</a:t>
            </a:r>
            <a:endParaRPr lang="zh-CN" altLang="en-US" sz="2400" b="1" dirty="0">
              <a:solidFill>
                <a:schemeClr val="tx1">
                  <a:lumMod val="65000"/>
                  <a:lumOff val="35000"/>
                </a:schemeClr>
              </a:solidFill>
              <a:latin typeface="+mn-ea"/>
              <a:cs typeface="+mn-ea"/>
            </a:endParaRPr>
          </a:p>
        </p:txBody>
      </p:sp>
      <p:sp>
        <p:nvSpPr>
          <p:cNvPr id="9" name="椭圆 8"/>
          <p:cNvSpPr/>
          <p:nvPr/>
        </p:nvSpPr>
        <p:spPr>
          <a:xfrm rot="10800000" flipV="1">
            <a:off x="395221" y="152134"/>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dirty="0" smtClean="0">
                <a:latin typeface="+mn-ea"/>
              </a:rPr>
              <a:t>03</a:t>
            </a:r>
            <a:endParaRPr kumimoji="1" lang="en-US" altLang="zh-CN" sz="1600" b="1" dirty="0" smtClean="0">
              <a:latin typeface="+mn-ea"/>
            </a:endParaRPr>
          </a:p>
        </p:txBody>
      </p:sp>
      <p:sp>
        <p:nvSpPr>
          <p:cNvPr id="2" name="矩形 1"/>
          <p:cNvSpPr/>
          <p:nvPr/>
        </p:nvSpPr>
        <p:spPr>
          <a:xfrm>
            <a:off x="914703" y="1054926"/>
            <a:ext cx="1923925" cy="369332"/>
          </a:xfrm>
          <a:prstGeom prst="rect">
            <a:avLst/>
          </a:prstGeom>
        </p:spPr>
        <p:txBody>
          <a:bodyPr wrap="none">
            <a:spAutoFit/>
          </a:bodyPr>
          <a:lstStyle/>
          <a:p>
            <a:pPr lvl="0" eaLnBrk="0" fontAlgn="base" hangingPunct="0">
              <a:spcBef>
                <a:spcPct val="0"/>
              </a:spcBef>
              <a:spcAft>
                <a:spcPct val="0"/>
              </a:spcAft>
            </a:pPr>
            <a:r>
              <a:rPr lang="zh-CN" altLang="zh-CN" b="1" dirty="0">
                <a:solidFill>
                  <a:srgbClr val="000000"/>
                </a:solidFill>
                <a:latin typeface="+mn-ea"/>
                <a:cs typeface="+mn-ea"/>
              </a:rPr>
              <a:t>二、TFTP包格式</a:t>
            </a:r>
            <a:endParaRPr lang="zh-CN" altLang="zh-CN" b="1" dirty="0">
              <a:solidFill>
                <a:srgbClr val="000000"/>
              </a:solidFill>
              <a:latin typeface="+mn-ea"/>
              <a:cs typeface="+mn-ea"/>
            </a:endParaRPr>
          </a:p>
        </p:txBody>
      </p:sp>
      <p:sp>
        <p:nvSpPr>
          <p:cNvPr id="3" name="矩形 2"/>
          <p:cNvSpPr/>
          <p:nvPr/>
        </p:nvSpPr>
        <p:spPr>
          <a:xfrm>
            <a:off x="679373" y="1651820"/>
            <a:ext cx="8889629" cy="2554545"/>
          </a:xfrm>
          <a:prstGeom prst="rect">
            <a:avLst/>
          </a:prstGeom>
        </p:spPr>
        <p:txBody>
          <a:bodyPr wrap="square">
            <a:spAutoFit/>
          </a:bodyPr>
          <a:lstStyle/>
          <a:p>
            <a:r>
              <a:rPr lang="en-US" altLang="zh-CN" sz="2000" dirty="0">
                <a:latin typeface="+mn-ea"/>
                <a:cs typeface="+mn-ea"/>
              </a:rPr>
              <a:t>TFTP</a:t>
            </a:r>
            <a:r>
              <a:rPr lang="zh-CN" altLang="en-US" sz="2000" dirty="0">
                <a:latin typeface="+mn-ea"/>
                <a:cs typeface="+mn-ea"/>
              </a:rPr>
              <a:t>共定义了五种类型的包格式，格式的区分由包数据前两个字节的</a:t>
            </a:r>
            <a:r>
              <a:rPr lang="en-US" altLang="zh-CN" sz="2000" dirty="0">
                <a:latin typeface="+mn-ea"/>
                <a:cs typeface="+mn-ea"/>
              </a:rPr>
              <a:t>Opcode</a:t>
            </a:r>
            <a:r>
              <a:rPr lang="zh-CN" altLang="en-US" sz="2000" dirty="0">
                <a:latin typeface="+mn-ea"/>
                <a:cs typeface="+mn-ea"/>
              </a:rPr>
              <a:t>字段区分，分别是</a:t>
            </a:r>
            <a:r>
              <a:rPr lang="zh-CN" altLang="en-US" sz="2000" dirty="0" smtClean="0">
                <a:latin typeface="+mn-ea"/>
                <a:cs typeface="+mn-ea"/>
              </a:rPr>
              <a:t>：                                                                                                                          读</a:t>
            </a:r>
            <a:r>
              <a:rPr lang="zh-CN" altLang="en-US" sz="2000" dirty="0">
                <a:latin typeface="+mn-ea"/>
                <a:cs typeface="+mn-ea"/>
              </a:rPr>
              <a:t>文件请求包：</a:t>
            </a:r>
            <a:r>
              <a:rPr lang="en-US" altLang="zh-CN" sz="2000" dirty="0">
                <a:latin typeface="+mn-ea"/>
                <a:cs typeface="+mn-ea"/>
              </a:rPr>
              <a:t>Read request</a:t>
            </a:r>
            <a:r>
              <a:rPr lang="zh-CN" altLang="en-US" sz="2000" dirty="0">
                <a:latin typeface="+mn-ea"/>
                <a:cs typeface="+mn-ea"/>
              </a:rPr>
              <a:t>，简写为</a:t>
            </a:r>
            <a:r>
              <a:rPr lang="en-US" altLang="zh-CN" sz="2000" dirty="0">
                <a:latin typeface="+mn-ea"/>
                <a:cs typeface="+mn-ea"/>
              </a:rPr>
              <a:t>RRQ</a:t>
            </a:r>
            <a:r>
              <a:rPr lang="zh-CN" altLang="en-US" sz="2000" dirty="0">
                <a:latin typeface="+mn-ea"/>
                <a:cs typeface="+mn-ea"/>
              </a:rPr>
              <a:t>，对应</a:t>
            </a:r>
            <a:r>
              <a:rPr lang="en-US" altLang="zh-CN" sz="2000" dirty="0">
                <a:latin typeface="+mn-ea"/>
                <a:cs typeface="+mn-ea"/>
              </a:rPr>
              <a:t>Opcode</a:t>
            </a:r>
            <a:r>
              <a:rPr lang="zh-CN" altLang="en-US" sz="2000" dirty="0">
                <a:latin typeface="+mn-ea"/>
                <a:cs typeface="+mn-ea"/>
              </a:rPr>
              <a:t>字段值为</a:t>
            </a:r>
            <a:r>
              <a:rPr lang="en-US" altLang="zh-CN" sz="2000" dirty="0">
                <a:latin typeface="+mn-ea"/>
                <a:cs typeface="+mn-ea"/>
              </a:rPr>
              <a:t>1</a:t>
            </a:r>
            <a:endParaRPr lang="en-US" altLang="zh-CN" sz="2000" dirty="0">
              <a:latin typeface="+mn-ea"/>
              <a:cs typeface="+mn-ea"/>
            </a:endParaRPr>
          </a:p>
          <a:p>
            <a:r>
              <a:rPr lang="zh-CN" altLang="en-US" sz="2000" dirty="0">
                <a:latin typeface="+mn-ea"/>
                <a:cs typeface="+mn-ea"/>
              </a:rPr>
              <a:t>写文件请求包：</a:t>
            </a:r>
            <a:r>
              <a:rPr lang="en-US" altLang="zh-CN" sz="2000" dirty="0">
                <a:latin typeface="+mn-ea"/>
                <a:cs typeface="+mn-ea"/>
              </a:rPr>
              <a:t>Write </a:t>
            </a:r>
            <a:r>
              <a:rPr lang="en-US" altLang="zh-CN" sz="2000" dirty="0" err="1">
                <a:latin typeface="+mn-ea"/>
                <a:cs typeface="+mn-ea"/>
              </a:rPr>
              <a:t>requst</a:t>
            </a:r>
            <a:r>
              <a:rPr lang="zh-CN" altLang="en-US" sz="2000" dirty="0">
                <a:latin typeface="+mn-ea"/>
                <a:cs typeface="+mn-ea"/>
              </a:rPr>
              <a:t>，简写为</a:t>
            </a:r>
            <a:r>
              <a:rPr lang="en-US" altLang="zh-CN" sz="2000" dirty="0">
                <a:latin typeface="+mn-ea"/>
                <a:cs typeface="+mn-ea"/>
              </a:rPr>
              <a:t>WRQ</a:t>
            </a:r>
            <a:r>
              <a:rPr lang="zh-CN" altLang="en-US" sz="2000" dirty="0">
                <a:latin typeface="+mn-ea"/>
                <a:cs typeface="+mn-ea"/>
              </a:rPr>
              <a:t>，对应</a:t>
            </a:r>
            <a:r>
              <a:rPr lang="en-US" altLang="zh-CN" sz="2000" dirty="0">
                <a:latin typeface="+mn-ea"/>
                <a:cs typeface="+mn-ea"/>
              </a:rPr>
              <a:t>Opcode</a:t>
            </a:r>
            <a:r>
              <a:rPr lang="zh-CN" altLang="en-US" sz="2000" dirty="0">
                <a:latin typeface="+mn-ea"/>
                <a:cs typeface="+mn-ea"/>
              </a:rPr>
              <a:t>字段值为</a:t>
            </a:r>
            <a:r>
              <a:rPr lang="en-US" altLang="zh-CN" sz="2000" dirty="0">
                <a:latin typeface="+mn-ea"/>
                <a:cs typeface="+mn-ea"/>
              </a:rPr>
              <a:t>2</a:t>
            </a:r>
            <a:endParaRPr lang="en-US" altLang="zh-CN" sz="2000" dirty="0">
              <a:latin typeface="+mn-ea"/>
              <a:cs typeface="+mn-ea"/>
            </a:endParaRPr>
          </a:p>
          <a:p>
            <a:r>
              <a:rPr lang="zh-CN" altLang="en-US" sz="2000" dirty="0">
                <a:latin typeface="+mn-ea"/>
                <a:cs typeface="+mn-ea"/>
              </a:rPr>
              <a:t>文件数据包：</a:t>
            </a:r>
            <a:r>
              <a:rPr lang="en-US" altLang="zh-CN" sz="2000" dirty="0">
                <a:latin typeface="+mn-ea"/>
                <a:cs typeface="+mn-ea"/>
              </a:rPr>
              <a:t>Data</a:t>
            </a:r>
            <a:r>
              <a:rPr lang="zh-CN" altLang="en-US" sz="2000" dirty="0">
                <a:latin typeface="+mn-ea"/>
                <a:cs typeface="+mn-ea"/>
              </a:rPr>
              <a:t>，简写为</a:t>
            </a:r>
            <a:r>
              <a:rPr lang="en-US" altLang="zh-CN" sz="2000" dirty="0">
                <a:latin typeface="+mn-ea"/>
                <a:cs typeface="+mn-ea"/>
              </a:rPr>
              <a:t>DATA</a:t>
            </a:r>
            <a:r>
              <a:rPr lang="zh-CN" altLang="en-US" sz="2000" dirty="0">
                <a:latin typeface="+mn-ea"/>
                <a:cs typeface="+mn-ea"/>
              </a:rPr>
              <a:t>，对应</a:t>
            </a:r>
            <a:r>
              <a:rPr lang="en-US" altLang="zh-CN" sz="2000" dirty="0">
                <a:latin typeface="+mn-ea"/>
                <a:cs typeface="+mn-ea"/>
              </a:rPr>
              <a:t>Opcode</a:t>
            </a:r>
            <a:r>
              <a:rPr lang="zh-CN" altLang="en-US" sz="2000" dirty="0">
                <a:latin typeface="+mn-ea"/>
                <a:cs typeface="+mn-ea"/>
              </a:rPr>
              <a:t>字段值为</a:t>
            </a:r>
            <a:r>
              <a:rPr lang="en-US" altLang="zh-CN" sz="2000" dirty="0">
                <a:latin typeface="+mn-ea"/>
                <a:cs typeface="+mn-ea"/>
              </a:rPr>
              <a:t>3</a:t>
            </a:r>
            <a:endParaRPr lang="en-US" altLang="zh-CN" sz="2000" dirty="0">
              <a:latin typeface="+mn-ea"/>
              <a:cs typeface="+mn-ea"/>
            </a:endParaRPr>
          </a:p>
          <a:p>
            <a:r>
              <a:rPr lang="zh-CN" altLang="en-US" sz="2000" dirty="0">
                <a:latin typeface="+mn-ea"/>
                <a:cs typeface="+mn-ea"/>
              </a:rPr>
              <a:t>回应包：</a:t>
            </a:r>
            <a:r>
              <a:rPr lang="en-US" altLang="zh-CN" sz="2000" dirty="0">
                <a:latin typeface="+mn-ea"/>
                <a:cs typeface="+mn-ea"/>
              </a:rPr>
              <a:t>Acknowledgement</a:t>
            </a:r>
            <a:r>
              <a:rPr lang="zh-CN" altLang="en-US" sz="2000" dirty="0">
                <a:latin typeface="+mn-ea"/>
                <a:cs typeface="+mn-ea"/>
              </a:rPr>
              <a:t>，简写为</a:t>
            </a:r>
            <a:r>
              <a:rPr lang="en-US" altLang="zh-CN" sz="2000" dirty="0">
                <a:latin typeface="+mn-ea"/>
                <a:cs typeface="+mn-ea"/>
              </a:rPr>
              <a:t>ACK</a:t>
            </a:r>
            <a:r>
              <a:rPr lang="zh-CN" altLang="en-US" sz="2000" dirty="0">
                <a:latin typeface="+mn-ea"/>
                <a:cs typeface="+mn-ea"/>
              </a:rPr>
              <a:t>，对应</a:t>
            </a:r>
            <a:r>
              <a:rPr lang="en-US" altLang="zh-CN" sz="2000" dirty="0">
                <a:latin typeface="+mn-ea"/>
                <a:cs typeface="+mn-ea"/>
              </a:rPr>
              <a:t>Opcode</a:t>
            </a:r>
            <a:r>
              <a:rPr lang="zh-CN" altLang="en-US" sz="2000" dirty="0">
                <a:latin typeface="+mn-ea"/>
                <a:cs typeface="+mn-ea"/>
              </a:rPr>
              <a:t>字段值为</a:t>
            </a:r>
            <a:r>
              <a:rPr lang="en-US" altLang="zh-CN" sz="2000" dirty="0">
                <a:latin typeface="+mn-ea"/>
                <a:cs typeface="+mn-ea"/>
              </a:rPr>
              <a:t>4</a:t>
            </a:r>
            <a:endParaRPr lang="en-US" altLang="zh-CN" sz="2000" dirty="0">
              <a:latin typeface="+mn-ea"/>
              <a:cs typeface="+mn-ea"/>
            </a:endParaRPr>
          </a:p>
          <a:p>
            <a:r>
              <a:rPr lang="zh-CN" altLang="en-US" sz="2000" dirty="0">
                <a:latin typeface="+mn-ea"/>
                <a:cs typeface="+mn-ea"/>
              </a:rPr>
              <a:t>错误信息包：</a:t>
            </a:r>
            <a:r>
              <a:rPr lang="en-US" altLang="zh-CN" sz="2000" dirty="0">
                <a:latin typeface="+mn-ea"/>
                <a:cs typeface="+mn-ea"/>
              </a:rPr>
              <a:t>Error</a:t>
            </a:r>
            <a:r>
              <a:rPr lang="zh-CN" altLang="en-US" sz="2000" dirty="0">
                <a:latin typeface="+mn-ea"/>
                <a:cs typeface="+mn-ea"/>
              </a:rPr>
              <a:t>，简写为</a:t>
            </a:r>
            <a:r>
              <a:rPr lang="en-US" altLang="zh-CN" sz="2000" dirty="0">
                <a:latin typeface="+mn-ea"/>
                <a:cs typeface="+mn-ea"/>
              </a:rPr>
              <a:t>ERROR</a:t>
            </a:r>
            <a:r>
              <a:rPr lang="zh-CN" altLang="en-US" sz="2000" dirty="0">
                <a:latin typeface="+mn-ea"/>
                <a:cs typeface="+mn-ea"/>
              </a:rPr>
              <a:t>，对应</a:t>
            </a:r>
            <a:r>
              <a:rPr lang="en-US" altLang="zh-CN" sz="2000" dirty="0">
                <a:latin typeface="+mn-ea"/>
                <a:cs typeface="+mn-ea"/>
              </a:rPr>
              <a:t>Opcode</a:t>
            </a:r>
            <a:r>
              <a:rPr lang="zh-CN" altLang="en-US" sz="2000" dirty="0">
                <a:latin typeface="+mn-ea"/>
                <a:cs typeface="+mn-ea"/>
              </a:rPr>
              <a:t>字段值为</a:t>
            </a:r>
            <a:r>
              <a:rPr lang="en-US" altLang="zh-CN" sz="2000" dirty="0">
                <a:latin typeface="+mn-ea"/>
                <a:cs typeface="+mn-ea"/>
              </a:rPr>
              <a:t>5</a:t>
            </a:r>
            <a:endParaRPr lang="en-US" altLang="zh-CN" sz="2000" dirty="0">
              <a:latin typeface="+mn-ea"/>
              <a:cs typeface="+mn-ea"/>
            </a:endParaRPr>
          </a:p>
          <a:p>
            <a:pPr lvl="0" eaLnBrk="0" fontAlgn="base" hangingPunct="0">
              <a:spcBef>
                <a:spcPct val="0"/>
              </a:spcBef>
              <a:spcAft>
                <a:spcPct val="0"/>
              </a:spcAft>
            </a:pPr>
            <a:endParaRPr lang="zh-CN" altLang="zh-CN" sz="2000" dirty="0">
              <a:latin typeface="+mn-ea"/>
              <a:cs typeface="+mn-ea"/>
            </a:endParaRPr>
          </a:p>
        </p:txBody>
      </p:sp>
      <p:sp>
        <p:nvSpPr>
          <p:cNvPr id="4" name="矩形 3"/>
          <p:cNvSpPr/>
          <p:nvPr/>
        </p:nvSpPr>
        <p:spPr>
          <a:xfrm>
            <a:off x="679450" y="4712335"/>
            <a:ext cx="5789295" cy="1476375"/>
          </a:xfrm>
          <a:prstGeom prst="rect">
            <a:avLst/>
          </a:prstGeom>
        </p:spPr>
        <p:txBody>
          <a:bodyPr wrap="square">
            <a:spAutoFit/>
          </a:bodyPr>
          <a:lstStyle/>
          <a:p>
            <a:r>
              <a:rPr lang="en-US" altLang="zh-CN" dirty="0">
                <a:latin typeface="+mn-ea"/>
              </a:rPr>
              <a:t>#define RRQ 01 /* read request */</a:t>
            </a:r>
            <a:endParaRPr lang="en-US" altLang="zh-CN" dirty="0">
              <a:latin typeface="+mn-ea"/>
            </a:endParaRPr>
          </a:p>
          <a:p>
            <a:r>
              <a:rPr lang="en-US" altLang="zh-CN" dirty="0">
                <a:latin typeface="+mn-ea"/>
              </a:rPr>
              <a:t>#define WRQ 02 /* write request */</a:t>
            </a:r>
            <a:endParaRPr lang="en-US" altLang="zh-CN" dirty="0">
              <a:latin typeface="+mn-ea"/>
            </a:endParaRPr>
          </a:p>
          <a:p>
            <a:r>
              <a:rPr lang="en-US" altLang="zh-CN" dirty="0">
                <a:latin typeface="+mn-ea"/>
              </a:rPr>
              <a:t>#define DATA 03 /* data packet */</a:t>
            </a:r>
            <a:endParaRPr lang="en-US" altLang="zh-CN" dirty="0">
              <a:latin typeface="+mn-ea"/>
            </a:endParaRPr>
          </a:p>
          <a:p>
            <a:r>
              <a:rPr lang="en-US" altLang="zh-CN" dirty="0">
                <a:latin typeface="+mn-ea"/>
              </a:rPr>
              <a:t>#define ACK 04 /* acknowledgement */</a:t>
            </a:r>
            <a:endParaRPr lang="en-US" altLang="zh-CN" dirty="0">
              <a:latin typeface="+mn-ea"/>
            </a:endParaRPr>
          </a:p>
          <a:p>
            <a:r>
              <a:rPr lang="en-US" altLang="zh-CN" dirty="0">
                <a:latin typeface="+mn-ea"/>
              </a:rPr>
              <a:t>#define ERROR 05 /* error code */</a:t>
            </a:r>
            <a:endParaRPr lang="en-US" altLang="zh-CN" dirty="0">
              <a:latin typeface="+mn-ea"/>
            </a:endParaRPr>
          </a:p>
        </p:txBody>
      </p:sp>
      <p:sp>
        <p:nvSpPr>
          <p:cNvPr id="6" name="矩形 5"/>
          <p:cNvSpPr/>
          <p:nvPr/>
        </p:nvSpPr>
        <p:spPr>
          <a:xfrm>
            <a:off x="679373" y="4205031"/>
            <a:ext cx="2067874" cy="369332"/>
          </a:xfrm>
          <a:prstGeom prst="rect">
            <a:avLst/>
          </a:prstGeom>
        </p:spPr>
        <p:txBody>
          <a:bodyPr wrap="none">
            <a:spAutoFit/>
          </a:bodyPr>
          <a:lstStyle/>
          <a:p>
            <a:r>
              <a:rPr lang="en-US" altLang="zh-CN" dirty="0">
                <a:latin typeface="+mn-ea"/>
                <a:cs typeface="+mn-ea"/>
              </a:rPr>
              <a:t>Opcode</a:t>
            </a:r>
            <a:r>
              <a:rPr lang="zh-CN" altLang="en-US" dirty="0">
                <a:latin typeface="+mn-ea"/>
                <a:cs typeface="+mn-ea"/>
              </a:rPr>
              <a:t>字段区分：</a:t>
            </a:r>
            <a:endParaRPr lang="zh-CN" altLang="en-US" dirty="0">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0375"/>
          </a:xfrm>
          <a:prstGeom prst="rect">
            <a:avLst/>
          </a:prstGeom>
          <a:noFill/>
        </p:spPr>
        <p:txBody>
          <a:bodyPr wrap="square" rtlCol="0">
            <a:spAutoFit/>
          </a:bodyPr>
          <a:lstStyle/>
          <a:p>
            <a:r>
              <a:rPr lang="en-US" altLang="zh-CN" sz="2400" b="1" dirty="0">
                <a:solidFill>
                  <a:schemeClr val="tx1">
                    <a:lumMod val="65000"/>
                    <a:lumOff val="35000"/>
                  </a:schemeClr>
                </a:solidFill>
                <a:latin typeface="+mn-ea"/>
                <a:cs typeface="+mn-ea"/>
              </a:rPr>
              <a:t>TFTP</a:t>
            </a:r>
            <a:r>
              <a:rPr lang="zh-CN" altLang="en-US" sz="2400" b="1" dirty="0">
                <a:solidFill>
                  <a:schemeClr val="tx1">
                    <a:lumMod val="65000"/>
                    <a:lumOff val="35000"/>
                  </a:schemeClr>
                </a:solidFill>
                <a:latin typeface="+mn-ea"/>
                <a:cs typeface="+mn-ea"/>
              </a:rPr>
              <a:t>包格式</a:t>
            </a:r>
            <a:endParaRPr lang="zh-CN" altLang="en-US" sz="2400" b="1" dirty="0">
              <a:solidFill>
                <a:schemeClr val="tx1">
                  <a:lumMod val="65000"/>
                  <a:lumOff val="35000"/>
                </a:schemeClr>
              </a:solidFill>
              <a:latin typeface="+mn-ea"/>
              <a:cs typeface="+mn-ea"/>
            </a:endParaRPr>
          </a:p>
        </p:txBody>
      </p:sp>
      <p:sp>
        <p:nvSpPr>
          <p:cNvPr id="9" name="椭圆 8"/>
          <p:cNvSpPr/>
          <p:nvPr/>
        </p:nvSpPr>
        <p:spPr>
          <a:xfrm rot="10800000" flipV="1">
            <a:off x="395221" y="152134"/>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dirty="0" smtClean="0">
                <a:latin typeface="+mn-ea"/>
              </a:rPr>
              <a:t>03</a:t>
            </a:r>
            <a:endParaRPr kumimoji="1" lang="en-US" altLang="zh-CN" sz="1600" b="1" dirty="0" smtClean="0">
              <a:latin typeface="+mn-ea"/>
            </a:endParaRPr>
          </a:p>
        </p:txBody>
      </p:sp>
      <p:sp>
        <p:nvSpPr>
          <p:cNvPr id="2" name="矩形 1"/>
          <p:cNvSpPr/>
          <p:nvPr/>
        </p:nvSpPr>
        <p:spPr>
          <a:xfrm>
            <a:off x="3320974" y="250726"/>
            <a:ext cx="3857146" cy="369332"/>
          </a:xfrm>
          <a:prstGeom prst="rect">
            <a:avLst/>
          </a:prstGeom>
        </p:spPr>
        <p:txBody>
          <a:bodyPr wrap="none">
            <a:spAutoFit/>
          </a:bodyPr>
          <a:lstStyle/>
          <a:p>
            <a:pPr lvl="0" eaLnBrk="0" fontAlgn="base" hangingPunct="0">
              <a:spcBef>
                <a:spcPct val="0"/>
              </a:spcBef>
              <a:spcAft>
                <a:spcPct val="0"/>
              </a:spcAft>
            </a:pPr>
            <a:r>
              <a:rPr lang="en-US" altLang="zh-CN" b="1" dirty="0" smtClean="0">
                <a:solidFill>
                  <a:srgbClr val="000000"/>
                </a:solidFill>
                <a:latin typeface="+mn-ea"/>
                <a:cs typeface="+mn-ea"/>
              </a:rPr>
              <a:t>3</a:t>
            </a:r>
            <a:r>
              <a:rPr lang="zh-CN" altLang="zh-CN" b="1" dirty="0" smtClean="0">
                <a:solidFill>
                  <a:srgbClr val="000000"/>
                </a:solidFill>
                <a:latin typeface="+mn-ea"/>
                <a:cs typeface="+mn-ea"/>
              </a:rPr>
              <a:t>.</a:t>
            </a:r>
            <a:r>
              <a:rPr lang="zh-CN" altLang="zh-CN" b="1" dirty="0">
                <a:solidFill>
                  <a:srgbClr val="000000"/>
                </a:solidFill>
                <a:latin typeface="+mn-ea"/>
                <a:cs typeface="+mn-ea"/>
              </a:rPr>
              <a:t>1 读/写请求包（RRQ/WRQ=1/2）</a:t>
            </a:r>
            <a:endParaRPr lang="zh-CN" altLang="zh-CN" b="1" dirty="0">
              <a:solidFill>
                <a:srgbClr val="000000"/>
              </a:solidFill>
              <a:latin typeface="+mn-ea"/>
              <a:cs typeface="+mn-ea"/>
            </a:endParaRPr>
          </a:p>
        </p:txBody>
      </p:sp>
      <p:sp>
        <p:nvSpPr>
          <p:cNvPr id="3" name="矩形 2"/>
          <p:cNvSpPr/>
          <p:nvPr/>
        </p:nvSpPr>
        <p:spPr>
          <a:xfrm>
            <a:off x="395220" y="3242635"/>
            <a:ext cx="8889629" cy="2862322"/>
          </a:xfrm>
          <a:prstGeom prst="rect">
            <a:avLst/>
          </a:prstGeom>
        </p:spPr>
        <p:txBody>
          <a:bodyPr wrap="square">
            <a:spAutoFit/>
          </a:bodyPr>
          <a:lstStyle/>
          <a:p>
            <a:pPr lvl="0" eaLnBrk="0" fontAlgn="base" hangingPunct="0">
              <a:spcBef>
                <a:spcPct val="0"/>
              </a:spcBef>
              <a:spcAft>
                <a:spcPct val="0"/>
              </a:spcAft>
            </a:pPr>
            <a:r>
              <a:rPr lang="zh-CN" altLang="zh-CN" sz="2000" dirty="0">
                <a:latin typeface="+mn-ea"/>
                <a:cs typeface="+mn-ea"/>
              </a:rPr>
              <a:t>RRQ和WRQ数据包的格式：</a:t>
            </a:r>
            <a:br>
              <a:rPr lang="zh-CN" altLang="zh-CN" sz="2000" dirty="0">
                <a:latin typeface="+mn-ea"/>
                <a:cs typeface="+mn-ea"/>
              </a:rPr>
            </a:br>
            <a:r>
              <a:rPr lang="zh-CN" altLang="zh-CN" sz="2000" dirty="0">
                <a:latin typeface="+mn-ea"/>
                <a:cs typeface="+mn-ea"/>
              </a:rPr>
              <a:t>1. 操作码（2字节），它用来表示当前数据包的类型（取值1表示该数据包是个读请求，2表示该数据包是写请求）；</a:t>
            </a:r>
            <a:br>
              <a:rPr lang="zh-CN" altLang="zh-CN" sz="2000" dirty="0">
                <a:latin typeface="+mn-ea"/>
                <a:cs typeface="+mn-ea"/>
              </a:rPr>
            </a:br>
            <a:r>
              <a:rPr lang="zh-CN" altLang="zh-CN" sz="2000" dirty="0">
                <a:latin typeface="+mn-ea"/>
                <a:cs typeface="+mn-ea"/>
              </a:rPr>
              <a:t>2. 可变长字段，它用来表示要读取或上传的文件名，它使用ASCII码并以 \0 表示结尾；</a:t>
            </a:r>
            <a:br>
              <a:rPr lang="zh-CN" altLang="zh-CN" sz="2000" dirty="0">
                <a:latin typeface="+mn-ea"/>
                <a:cs typeface="+mn-ea"/>
              </a:rPr>
            </a:br>
            <a:r>
              <a:rPr lang="zh-CN" altLang="zh-CN" sz="2000" dirty="0">
                <a:latin typeface="+mn-ea"/>
                <a:cs typeface="+mn-ea"/>
              </a:rPr>
              <a:t>3. Mode，也是可变长字段，用来表示传输文件的数据类型，如果传输的是字符串文件，那么它填写字符串”netascii”，如果传输的是二进制文件，那么它填写字符串”octet”,这些字符串都以 \0 结尾。</a:t>
            </a:r>
            <a:br>
              <a:rPr lang="zh-CN" altLang="zh-CN" sz="2000" dirty="0">
                <a:latin typeface="+mn-ea"/>
                <a:cs typeface="+mn-ea"/>
              </a:rPr>
            </a:br>
            <a:r>
              <a:rPr lang="zh-CN" altLang="zh-CN" sz="2000" dirty="0">
                <a:latin typeface="+mn-ea"/>
                <a:cs typeface="+mn-ea"/>
              </a:rPr>
              <a:t>4. 可选字段（timeout、blksize、tsize等，以 \0 结尾）</a:t>
            </a:r>
            <a:endParaRPr lang="zh-CN" altLang="zh-CN" sz="2000" dirty="0">
              <a:latin typeface="+mn-ea"/>
              <a:cs typeface="+mn-ea"/>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7680" y="948690"/>
            <a:ext cx="8509000" cy="1149985"/>
          </a:xfrm>
          <a:prstGeom prst="rect">
            <a:avLst/>
          </a:prstGeom>
        </p:spPr>
      </p:pic>
      <p:pic>
        <p:nvPicPr>
          <p:cNvPr id="4" name="图片 3"/>
          <p:cNvPicPr>
            <a:picLocks noChangeAspect="1"/>
          </p:cNvPicPr>
          <p:nvPr/>
        </p:nvPicPr>
        <p:blipFill>
          <a:blip r:embed="rId2"/>
          <a:stretch>
            <a:fillRect/>
          </a:stretch>
        </p:blipFill>
        <p:spPr>
          <a:xfrm>
            <a:off x="395605" y="2182495"/>
            <a:ext cx="6072505" cy="8375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1092318" y="204559"/>
            <a:ext cx="5504355" cy="460375"/>
          </a:xfrm>
          <a:prstGeom prst="rect">
            <a:avLst/>
          </a:prstGeom>
          <a:noFill/>
        </p:spPr>
        <p:txBody>
          <a:bodyPr wrap="square" rtlCol="0">
            <a:spAutoFit/>
          </a:bodyPr>
          <a:lstStyle/>
          <a:p>
            <a:r>
              <a:rPr lang="en-US" altLang="zh-CN" sz="2400" b="1" dirty="0">
                <a:solidFill>
                  <a:schemeClr val="tx1">
                    <a:lumMod val="65000"/>
                    <a:lumOff val="35000"/>
                  </a:schemeClr>
                </a:solidFill>
                <a:latin typeface="+mn-ea"/>
                <a:cs typeface="+mn-ea"/>
              </a:rPr>
              <a:t>TFTP</a:t>
            </a:r>
            <a:r>
              <a:rPr lang="zh-CN" altLang="en-US" sz="2400" b="1" dirty="0">
                <a:solidFill>
                  <a:schemeClr val="tx1">
                    <a:lumMod val="65000"/>
                    <a:lumOff val="35000"/>
                  </a:schemeClr>
                </a:solidFill>
                <a:latin typeface="+mn-ea"/>
                <a:cs typeface="+mn-ea"/>
              </a:rPr>
              <a:t>包格式</a:t>
            </a:r>
            <a:endParaRPr lang="zh-CN" altLang="en-US" sz="2400" b="1" dirty="0">
              <a:solidFill>
                <a:schemeClr val="tx1">
                  <a:lumMod val="65000"/>
                  <a:lumOff val="35000"/>
                </a:schemeClr>
              </a:solidFill>
              <a:latin typeface="+mn-ea"/>
              <a:cs typeface="+mn-ea"/>
            </a:endParaRPr>
          </a:p>
        </p:txBody>
      </p:sp>
      <p:sp>
        <p:nvSpPr>
          <p:cNvPr id="9" name="椭圆 8"/>
          <p:cNvSpPr/>
          <p:nvPr/>
        </p:nvSpPr>
        <p:spPr>
          <a:xfrm rot="10800000" flipV="1">
            <a:off x="395221" y="152134"/>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dirty="0" smtClean="0">
                <a:latin typeface="+mn-ea"/>
              </a:rPr>
              <a:t>03</a:t>
            </a:r>
            <a:endParaRPr kumimoji="1" lang="en-US" altLang="zh-CN" sz="1600" b="1" dirty="0" smtClean="0">
              <a:latin typeface="+mn-ea"/>
            </a:endParaRPr>
          </a:p>
        </p:txBody>
      </p:sp>
      <p:sp>
        <p:nvSpPr>
          <p:cNvPr id="2" name="矩形 1"/>
          <p:cNvSpPr/>
          <p:nvPr/>
        </p:nvSpPr>
        <p:spPr>
          <a:xfrm>
            <a:off x="3552794" y="250725"/>
            <a:ext cx="3857146" cy="369332"/>
          </a:xfrm>
          <a:prstGeom prst="rect">
            <a:avLst/>
          </a:prstGeom>
        </p:spPr>
        <p:txBody>
          <a:bodyPr wrap="none">
            <a:spAutoFit/>
          </a:bodyPr>
          <a:lstStyle/>
          <a:p>
            <a:pPr lvl="0" eaLnBrk="0" fontAlgn="base" hangingPunct="0">
              <a:spcBef>
                <a:spcPct val="0"/>
              </a:spcBef>
              <a:spcAft>
                <a:spcPct val="0"/>
              </a:spcAft>
            </a:pPr>
            <a:r>
              <a:rPr lang="en-US" altLang="zh-CN" b="1" dirty="0" smtClean="0">
                <a:solidFill>
                  <a:srgbClr val="000000"/>
                </a:solidFill>
                <a:latin typeface="+mn-ea"/>
                <a:cs typeface="+mn-ea"/>
              </a:rPr>
              <a:t>3</a:t>
            </a:r>
            <a:r>
              <a:rPr lang="zh-CN" altLang="zh-CN" b="1" dirty="0" smtClean="0">
                <a:solidFill>
                  <a:srgbClr val="000000"/>
                </a:solidFill>
                <a:latin typeface="+mn-ea"/>
                <a:cs typeface="+mn-ea"/>
              </a:rPr>
              <a:t>.</a:t>
            </a:r>
            <a:r>
              <a:rPr lang="zh-CN" altLang="zh-CN" b="1" dirty="0">
                <a:solidFill>
                  <a:srgbClr val="000000"/>
                </a:solidFill>
                <a:latin typeface="+mn-ea"/>
                <a:cs typeface="+mn-ea"/>
              </a:rPr>
              <a:t>1 读/写请求包（RRQ/WRQ=1/2）</a:t>
            </a:r>
            <a:endParaRPr lang="zh-CN" altLang="zh-CN" b="1" dirty="0">
              <a:solidFill>
                <a:srgbClr val="000000"/>
              </a:solidFill>
              <a:latin typeface="+mn-ea"/>
              <a:cs typeface="+mn-ea"/>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2318" y="712390"/>
            <a:ext cx="9603987" cy="4161728"/>
          </a:xfrm>
          <a:prstGeom prst="rect">
            <a:avLst/>
          </a:prstGeom>
        </p:spPr>
      </p:pic>
      <p:graphicFrame>
        <p:nvGraphicFramePr>
          <p:cNvPr id="13" name="表格 12"/>
          <p:cNvGraphicFramePr>
            <a:graphicFrameLocks noGrp="1"/>
          </p:cNvGraphicFramePr>
          <p:nvPr/>
        </p:nvGraphicFramePr>
        <p:xfrm>
          <a:off x="1092318" y="4920284"/>
          <a:ext cx="7066846" cy="1849120"/>
        </p:xfrm>
        <a:graphic>
          <a:graphicData uri="http://schemas.openxmlformats.org/drawingml/2006/table">
            <a:tbl>
              <a:tblPr firstRow="1" bandRow="1">
                <a:tableStyleId>{5C22544A-7EE6-4342-B048-85BDC9FD1C3A}</a:tableStyleId>
              </a:tblPr>
              <a:tblGrid>
                <a:gridCol w="1253069"/>
                <a:gridCol w="5813777"/>
              </a:tblGrid>
              <a:tr h="278878">
                <a:tc>
                  <a:txBody>
                    <a:bodyPr/>
                    <a:lstStyle/>
                    <a:p>
                      <a:pPr marL="0" algn="l" defTabSz="914400" rtl="0" eaLnBrk="1" latinLnBrk="0" hangingPunct="1"/>
                      <a:r>
                        <a:rPr lang="en-US" altLang="zh-CN" sz="1800" b="0" kern="1200" dirty="0" err="1" smtClean="0">
                          <a:solidFill>
                            <a:schemeClr val="dk1"/>
                          </a:solidFill>
                          <a:latin typeface="+mn-ea"/>
                          <a:cs typeface="+mn-cs"/>
                        </a:rPr>
                        <a:t>Src</a:t>
                      </a:r>
                      <a:r>
                        <a:rPr lang="en-US" altLang="zh-CN" sz="1800" b="0" kern="1200" dirty="0" smtClean="0">
                          <a:solidFill>
                            <a:schemeClr val="dk1"/>
                          </a:solidFill>
                          <a:latin typeface="+mn-ea"/>
                          <a:cs typeface="+mn-cs"/>
                        </a:rPr>
                        <a:t> Port</a:t>
                      </a:r>
                      <a:endParaRPr lang="zh-CN" altLang="en-US" sz="1800" b="0" kern="1200" dirty="0">
                        <a:solidFill>
                          <a:schemeClr val="dk1"/>
                        </a:solidFill>
                        <a:latin typeface="+mn-ea"/>
                        <a:cs typeface="+mn-cs"/>
                      </a:endParaRPr>
                    </a:p>
                  </a:txBody>
                  <a:tcPr/>
                </a:tc>
                <a:tc>
                  <a:txBody>
                    <a:bodyPr/>
                    <a:lstStyle/>
                    <a:p>
                      <a:pPr marL="0" algn="l" defTabSz="914400" rtl="0" eaLnBrk="1" latinLnBrk="0" hangingPunct="1"/>
                      <a:r>
                        <a:rPr lang="zh-CN" altLang="en-US" sz="1800" b="0" kern="1200" dirty="0" smtClean="0">
                          <a:solidFill>
                            <a:schemeClr val="dk1"/>
                          </a:solidFill>
                          <a:latin typeface="+mn-ea"/>
                          <a:cs typeface="+mn-cs"/>
                        </a:rPr>
                        <a:t>发送端端口号</a:t>
                      </a:r>
                      <a:endParaRPr lang="zh-CN" altLang="en-US" sz="1800" b="0" kern="1200" dirty="0" smtClean="0">
                        <a:solidFill>
                          <a:schemeClr val="dk1"/>
                        </a:solidFill>
                        <a:latin typeface="+mn-ea"/>
                        <a:cs typeface="+mn-cs"/>
                      </a:endParaRPr>
                    </a:p>
                  </a:txBody>
                  <a:tcPr/>
                </a:tc>
              </a:tr>
              <a:tr h="370840">
                <a:tc>
                  <a:txBody>
                    <a:bodyPr/>
                    <a:lstStyle/>
                    <a:p>
                      <a:r>
                        <a:rPr lang="en-US" altLang="zh-CN" dirty="0" err="1" smtClean="0">
                          <a:latin typeface="+mn-ea"/>
                        </a:rPr>
                        <a:t>Dst</a:t>
                      </a:r>
                      <a:r>
                        <a:rPr lang="en-US" altLang="zh-CN" dirty="0" smtClean="0">
                          <a:latin typeface="+mn-ea"/>
                        </a:rPr>
                        <a:t> Port</a:t>
                      </a:r>
                      <a:endParaRPr lang="zh-CN" altLang="en-US" dirty="0">
                        <a:latin typeface="+mn-ea"/>
                      </a:endParaRPr>
                    </a:p>
                  </a:txBody>
                  <a:tcPr/>
                </a:tc>
                <a:tc>
                  <a:txBody>
                    <a:bodyPr/>
                    <a:lstStyle/>
                    <a:p>
                      <a:r>
                        <a:rPr lang="zh-CN" altLang="en-US" dirty="0" smtClean="0">
                          <a:latin typeface="+mn-ea"/>
                        </a:rPr>
                        <a:t>接收端端口号</a:t>
                      </a:r>
                      <a:endParaRPr lang="zh-CN" altLang="en-US" dirty="0" smtClean="0">
                        <a:latin typeface="+mn-ea"/>
                      </a:endParaRPr>
                    </a:p>
                  </a:txBody>
                  <a:tcPr/>
                </a:tc>
              </a:tr>
              <a:tr h="370840">
                <a:tc>
                  <a:txBody>
                    <a:bodyPr/>
                    <a:lstStyle/>
                    <a:p>
                      <a:r>
                        <a:rPr lang="en-US" altLang="zh-CN" dirty="0" smtClean="0">
                          <a:latin typeface="+mn-ea"/>
                        </a:rPr>
                        <a:t>Opcode</a:t>
                      </a:r>
                      <a:endParaRPr lang="en-US" altLang="zh-CN" dirty="0" smtClean="0">
                        <a:latin typeface="+mn-ea"/>
                      </a:endParaRPr>
                    </a:p>
                  </a:txBody>
                  <a:tcPr/>
                </a:tc>
                <a:tc>
                  <a:txBody>
                    <a:bodyPr/>
                    <a:lstStyle/>
                    <a:p>
                      <a:r>
                        <a:rPr lang="zh-CN" altLang="en-US" dirty="0" smtClean="0">
                          <a:latin typeface="+mn-ea"/>
                          <a:cs typeface="+mn-ea"/>
                        </a:rPr>
                        <a:t>数据类型（</a:t>
                      </a:r>
                      <a:r>
                        <a:rPr lang="en-US" altLang="zh-CN" dirty="0" smtClean="0">
                          <a:latin typeface="+mn-ea"/>
                          <a:cs typeface="+mn-ea"/>
                        </a:rPr>
                        <a:t>RRQ 01,WRQ 02,DATA 03,ACK 04,ERROR 05</a:t>
                      </a:r>
                      <a:r>
                        <a:rPr lang="zh-CN" altLang="en-US" dirty="0" smtClean="0">
                          <a:latin typeface="+mn-ea"/>
                          <a:cs typeface="+mn-ea"/>
                        </a:rPr>
                        <a:t>）</a:t>
                      </a:r>
                      <a:endParaRPr lang="zh-CN" altLang="en-US" dirty="0">
                        <a:latin typeface="+mn-ea"/>
                        <a:cs typeface="+mn-ea"/>
                      </a:endParaRPr>
                    </a:p>
                  </a:txBody>
                  <a:tcPr/>
                </a:tc>
              </a:tr>
              <a:tr h="370840">
                <a:tc>
                  <a:txBody>
                    <a:bodyPr/>
                    <a:lstStyle/>
                    <a:p>
                      <a:r>
                        <a:rPr lang="en-US" altLang="zh-CN" dirty="0" smtClean="0">
                          <a:latin typeface="+mn-ea"/>
                        </a:rPr>
                        <a:t>Source File</a:t>
                      </a:r>
                      <a:endParaRPr lang="en-US" altLang="zh-CN" dirty="0" smtClean="0">
                        <a:latin typeface="+mn-ea"/>
                      </a:endParaRPr>
                    </a:p>
                  </a:txBody>
                  <a:tcPr/>
                </a:tc>
                <a:tc>
                  <a:txBody>
                    <a:bodyPr/>
                    <a:lstStyle/>
                    <a:p>
                      <a:r>
                        <a:rPr lang="zh-CN" altLang="en-US" dirty="0" smtClean="0">
                          <a:latin typeface="+mn-ea"/>
                        </a:rPr>
                        <a:t>请求的文件名称</a:t>
                      </a:r>
                      <a:endParaRPr lang="zh-CN" altLang="en-US" dirty="0" smtClean="0">
                        <a:latin typeface="+mn-ea"/>
                      </a:endParaRPr>
                    </a:p>
                  </a:txBody>
                  <a:tcPr/>
                </a:tc>
              </a:tr>
              <a:tr h="370840">
                <a:tc>
                  <a:txBody>
                    <a:bodyPr/>
                    <a:lstStyle/>
                    <a:p>
                      <a:pPr marL="0" algn="l" defTabSz="914400" rtl="0" eaLnBrk="1" latinLnBrk="0" hangingPunct="1"/>
                      <a:r>
                        <a:rPr lang="en-US" altLang="zh-CN" sz="1800" kern="1200" dirty="0" smtClean="0">
                          <a:solidFill>
                            <a:schemeClr val="dk1"/>
                          </a:solidFill>
                          <a:latin typeface="+mn-ea"/>
                          <a:cs typeface="+mn-cs"/>
                        </a:rPr>
                        <a:t>Type</a:t>
                      </a:r>
                      <a:endParaRPr lang="en-US" altLang="zh-CN" sz="1800" kern="1200" dirty="0" smtClean="0">
                        <a:solidFill>
                          <a:schemeClr val="dk1"/>
                        </a:solidFill>
                        <a:latin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kern="1200" dirty="0" smtClean="0">
                          <a:solidFill>
                            <a:schemeClr val="dk1"/>
                          </a:solidFill>
                          <a:latin typeface="+mn-ea"/>
                          <a:cs typeface="+mn-cs"/>
                        </a:rPr>
                        <a:t>传输模式</a:t>
                      </a:r>
                      <a:endParaRPr lang="zh-CN" altLang="zh-CN" sz="1800" kern="1200" dirty="0" smtClean="0">
                        <a:solidFill>
                          <a:schemeClr val="dk1"/>
                        </a:solidFill>
                        <a:latin typeface="+mn-ea"/>
                        <a:cs typeface="+mn-cs"/>
                      </a:endParaRPr>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0375"/>
          </a:xfrm>
          <a:prstGeom prst="rect">
            <a:avLst/>
          </a:prstGeom>
          <a:noFill/>
        </p:spPr>
        <p:txBody>
          <a:bodyPr wrap="square" rtlCol="0">
            <a:spAutoFit/>
          </a:bodyPr>
          <a:lstStyle/>
          <a:p>
            <a:r>
              <a:rPr lang="en-US" altLang="zh-CN" sz="2400" b="1" dirty="0">
                <a:solidFill>
                  <a:schemeClr val="tx1">
                    <a:lumMod val="65000"/>
                    <a:lumOff val="35000"/>
                  </a:schemeClr>
                </a:solidFill>
                <a:latin typeface="+mn-ea"/>
                <a:cs typeface="+mn-ea"/>
              </a:rPr>
              <a:t>TFTP</a:t>
            </a:r>
            <a:r>
              <a:rPr lang="zh-CN" altLang="en-US" sz="2400" b="1" dirty="0">
                <a:solidFill>
                  <a:schemeClr val="tx1">
                    <a:lumMod val="65000"/>
                    <a:lumOff val="35000"/>
                  </a:schemeClr>
                </a:solidFill>
                <a:latin typeface="+mn-ea"/>
                <a:cs typeface="+mn-ea"/>
              </a:rPr>
              <a:t>包格式</a:t>
            </a:r>
            <a:endParaRPr lang="zh-CN" altLang="en-US" sz="2400" b="1" dirty="0">
              <a:solidFill>
                <a:schemeClr val="tx1">
                  <a:lumMod val="65000"/>
                  <a:lumOff val="35000"/>
                </a:schemeClr>
              </a:solidFill>
              <a:latin typeface="+mn-ea"/>
              <a:cs typeface="+mn-ea"/>
            </a:endParaRPr>
          </a:p>
        </p:txBody>
      </p:sp>
      <p:sp>
        <p:nvSpPr>
          <p:cNvPr id="9" name="椭圆 8"/>
          <p:cNvSpPr/>
          <p:nvPr/>
        </p:nvSpPr>
        <p:spPr>
          <a:xfrm rot="10800000" flipV="1">
            <a:off x="395221" y="152134"/>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dirty="0" smtClean="0">
                <a:latin typeface="+mn-ea"/>
              </a:rPr>
              <a:t>03</a:t>
            </a:r>
            <a:endParaRPr kumimoji="1" lang="en-US" altLang="zh-CN" sz="1600" b="1" dirty="0" smtClean="0">
              <a:latin typeface="+mn-ea"/>
            </a:endParaRPr>
          </a:p>
        </p:txBody>
      </p:sp>
      <p:sp>
        <p:nvSpPr>
          <p:cNvPr id="2" name="矩形 1"/>
          <p:cNvSpPr/>
          <p:nvPr/>
        </p:nvSpPr>
        <p:spPr>
          <a:xfrm>
            <a:off x="679374" y="3839399"/>
            <a:ext cx="3074303" cy="1477328"/>
          </a:xfrm>
          <a:prstGeom prst="rect">
            <a:avLst/>
          </a:prstGeom>
        </p:spPr>
        <p:txBody>
          <a:bodyPr wrap="none">
            <a:spAutoFit/>
          </a:bodyPr>
          <a:lstStyle/>
          <a:p>
            <a:pPr eaLnBrk="0" fontAlgn="base" hangingPunct="0">
              <a:spcBef>
                <a:spcPct val="0"/>
              </a:spcBef>
              <a:spcAft>
                <a:spcPct val="0"/>
              </a:spcAft>
            </a:pPr>
            <a:r>
              <a:rPr lang="zh-CN" altLang="zh-CN" dirty="0" smtClean="0">
                <a:latin typeface="+mn-ea"/>
                <a:cs typeface="+mn-ea"/>
              </a:rPr>
              <a:t>传输</a:t>
            </a:r>
            <a:r>
              <a:rPr lang="zh-CN" altLang="zh-CN" dirty="0">
                <a:latin typeface="+mn-ea"/>
                <a:cs typeface="+mn-ea"/>
              </a:rPr>
              <a:t>数据块的DATA数据包，</a:t>
            </a:r>
            <a:br>
              <a:rPr lang="zh-CN" altLang="zh-CN" dirty="0">
                <a:latin typeface="+mn-ea"/>
                <a:cs typeface="+mn-ea"/>
              </a:rPr>
            </a:br>
            <a:r>
              <a:rPr lang="zh-CN" altLang="zh-CN" dirty="0">
                <a:latin typeface="+mn-ea"/>
                <a:cs typeface="+mn-ea"/>
              </a:rPr>
              <a:t>1. 操作码（2字节）</a:t>
            </a:r>
            <a:br>
              <a:rPr lang="zh-CN" altLang="zh-CN" dirty="0">
                <a:latin typeface="+mn-ea"/>
                <a:cs typeface="+mn-ea"/>
              </a:rPr>
            </a:br>
            <a:r>
              <a:rPr lang="zh-CN" altLang="zh-CN" dirty="0">
                <a:latin typeface="+mn-ea"/>
                <a:cs typeface="+mn-ea"/>
              </a:rPr>
              <a:t>2. 数据包序（2字节）</a:t>
            </a:r>
            <a:br>
              <a:rPr lang="zh-CN" altLang="zh-CN" dirty="0">
                <a:latin typeface="+mn-ea"/>
                <a:cs typeface="+mn-ea"/>
              </a:rPr>
            </a:br>
            <a:r>
              <a:rPr lang="zh-CN" altLang="zh-CN" dirty="0">
                <a:latin typeface="+mn-ea"/>
                <a:cs typeface="+mn-ea"/>
              </a:rPr>
              <a:t>3. 数据值</a:t>
            </a:r>
            <a:endParaRPr lang="zh-CN" altLang="zh-CN" sz="4800" dirty="0">
              <a:latin typeface="+mn-ea"/>
              <a:cs typeface="+mn-ea"/>
            </a:endParaRPr>
          </a:p>
          <a:p>
            <a:pPr lvl="0" eaLnBrk="0" fontAlgn="base" hangingPunct="0">
              <a:spcBef>
                <a:spcPct val="0"/>
              </a:spcBef>
              <a:spcAft>
                <a:spcPct val="0"/>
              </a:spcAft>
            </a:pPr>
            <a:endParaRPr lang="zh-CN" altLang="zh-CN" b="1" dirty="0">
              <a:solidFill>
                <a:srgbClr val="000000"/>
              </a:solidFill>
              <a:latin typeface="+mn-ea"/>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79450" y="988060"/>
            <a:ext cx="7100570" cy="1019175"/>
          </a:xfrm>
          <a:prstGeom prst="rect">
            <a:avLst/>
          </a:prstGeom>
        </p:spPr>
      </p:pic>
      <p:sp>
        <p:nvSpPr>
          <p:cNvPr id="3" name="矩形 2"/>
          <p:cNvSpPr/>
          <p:nvPr/>
        </p:nvSpPr>
        <p:spPr>
          <a:xfrm>
            <a:off x="2921925" y="296893"/>
            <a:ext cx="2601418" cy="369332"/>
          </a:xfrm>
          <a:prstGeom prst="rect">
            <a:avLst/>
          </a:prstGeom>
        </p:spPr>
        <p:txBody>
          <a:bodyPr wrap="none">
            <a:spAutoFit/>
          </a:bodyPr>
          <a:lstStyle/>
          <a:p>
            <a:r>
              <a:rPr lang="en-US" altLang="zh-CN" b="1" dirty="0" smtClean="0">
                <a:solidFill>
                  <a:srgbClr val="000000"/>
                </a:solidFill>
                <a:latin typeface="+mn-ea"/>
                <a:cs typeface="+mn-ea"/>
              </a:rPr>
              <a:t>3</a:t>
            </a:r>
            <a:r>
              <a:rPr lang="zh-CN" altLang="zh-CN" b="1" dirty="0" smtClean="0">
                <a:solidFill>
                  <a:srgbClr val="000000"/>
                </a:solidFill>
                <a:latin typeface="+mn-ea"/>
                <a:cs typeface="+mn-ea"/>
              </a:rPr>
              <a:t>.</a:t>
            </a:r>
            <a:r>
              <a:rPr lang="zh-CN" altLang="zh-CN" b="1" dirty="0">
                <a:solidFill>
                  <a:srgbClr val="000000"/>
                </a:solidFill>
                <a:latin typeface="+mn-ea"/>
                <a:cs typeface="+mn-ea"/>
              </a:rPr>
              <a:t>3 数据包（DATA=3）</a:t>
            </a:r>
            <a:endParaRPr lang="zh-CN" altLang="en-US" dirty="0">
              <a:latin typeface="+mn-ea"/>
              <a:cs typeface="+mn-ea"/>
            </a:endParaRPr>
          </a:p>
        </p:txBody>
      </p:sp>
      <p:sp>
        <p:nvSpPr>
          <p:cNvPr id="12" name="矩形 11"/>
          <p:cNvSpPr/>
          <p:nvPr/>
        </p:nvSpPr>
        <p:spPr>
          <a:xfrm>
            <a:off x="679374" y="5093516"/>
            <a:ext cx="10098374" cy="1477328"/>
          </a:xfrm>
          <a:prstGeom prst="rect">
            <a:avLst/>
          </a:prstGeom>
        </p:spPr>
        <p:txBody>
          <a:bodyPr wrap="square">
            <a:spAutoFit/>
          </a:bodyPr>
          <a:lstStyle/>
          <a:p>
            <a:r>
              <a:rPr lang="zh-CN" altLang="en-US" dirty="0" smtClean="0"/>
              <a:t>数据包（操作码 = 3）具有块号和数据字段。 块数据包上的数字从 1 开始，每增加一个新的数据块。 此限制允许程序使用单个区分新数据包和重复数据包的编号。 数据字段长度为 0 到 512 个字节。 如果它是 512 字节长，则block 不是最后一个数据块； 如果它是从零到 511 字节长，它表示传输结束。</a:t>
            </a:r>
            <a:endParaRPr lang="zh-CN" altLang="en-US" dirty="0" smtClean="0"/>
          </a:p>
          <a:p>
            <a:r>
              <a:rPr lang="zh-CN" altLang="en-US" dirty="0" smtClean="0"/>
              <a:t> </a:t>
            </a:r>
            <a:endParaRPr lang="zh-CN" altLang="en-US" dirty="0"/>
          </a:p>
        </p:txBody>
      </p:sp>
      <p:pic>
        <p:nvPicPr>
          <p:cNvPr id="4" name="图片 3"/>
          <p:cNvPicPr>
            <a:picLocks noChangeAspect="1"/>
          </p:cNvPicPr>
          <p:nvPr/>
        </p:nvPicPr>
        <p:blipFill>
          <a:blip r:embed="rId2"/>
          <a:stretch>
            <a:fillRect/>
          </a:stretch>
        </p:blipFill>
        <p:spPr>
          <a:xfrm>
            <a:off x="756920" y="2329180"/>
            <a:ext cx="4957445" cy="6896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0375"/>
          </a:xfrm>
          <a:prstGeom prst="rect">
            <a:avLst/>
          </a:prstGeom>
          <a:noFill/>
        </p:spPr>
        <p:txBody>
          <a:bodyPr wrap="square" rtlCol="0">
            <a:spAutoFit/>
          </a:bodyPr>
          <a:lstStyle/>
          <a:p>
            <a:r>
              <a:rPr lang="en-US" altLang="zh-CN" sz="2400" b="1" dirty="0">
                <a:solidFill>
                  <a:schemeClr val="tx1">
                    <a:lumMod val="65000"/>
                    <a:lumOff val="35000"/>
                  </a:schemeClr>
                </a:solidFill>
                <a:latin typeface="+mn-ea"/>
                <a:cs typeface="+mn-ea"/>
              </a:rPr>
              <a:t>TFTP</a:t>
            </a:r>
            <a:r>
              <a:rPr lang="zh-CN" altLang="en-US" sz="2400" b="1" dirty="0">
                <a:solidFill>
                  <a:schemeClr val="tx1">
                    <a:lumMod val="65000"/>
                    <a:lumOff val="35000"/>
                  </a:schemeClr>
                </a:solidFill>
                <a:latin typeface="+mn-ea"/>
                <a:cs typeface="+mn-ea"/>
              </a:rPr>
              <a:t>包格式</a:t>
            </a:r>
            <a:endParaRPr lang="zh-CN" altLang="en-US" sz="2400" b="1" dirty="0">
              <a:solidFill>
                <a:schemeClr val="tx1">
                  <a:lumMod val="65000"/>
                  <a:lumOff val="35000"/>
                </a:schemeClr>
              </a:solidFill>
              <a:latin typeface="+mn-ea"/>
              <a:cs typeface="+mn-ea"/>
            </a:endParaRPr>
          </a:p>
        </p:txBody>
      </p:sp>
      <p:sp>
        <p:nvSpPr>
          <p:cNvPr id="9" name="椭圆 8"/>
          <p:cNvSpPr/>
          <p:nvPr/>
        </p:nvSpPr>
        <p:spPr>
          <a:xfrm rot="10800000" flipV="1">
            <a:off x="395221" y="152134"/>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dirty="0" smtClean="0">
                <a:latin typeface="+mn-ea"/>
              </a:rPr>
              <a:t>03</a:t>
            </a:r>
            <a:endParaRPr kumimoji="1" lang="en-US" altLang="zh-CN" sz="1600" b="1" dirty="0" smtClean="0">
              <a:latin typeface="+mn-ea"/>
            </a:endParaRPr>
          </a:p>
        </p:txBody>
      </p:sp>
      <p:sp>
        <p:nvSpPr>
          <p:cNvPr id="10" name="矩形 9"/>
          <p:cNvSpPr/>
          <p:nvPr/>
        </p:nvSpPr>
        <p:spPr>
          <a:xfrm>
            <a:off x="3322330" y="276397"/>
            <a:ext cx="2601418" cy="369332"/>
          </a:xfrm>
          <a:prstGeom prst="rect">
            <a:avLst/>
          </a:prstGeom>
        </p:spPr>
        <p:txBody>
          <a:bodyPr wrap="none">
            <a:spAutoFit/>
          </a:bodyPr>
          <a:lstStyle/>
          <a:p>
            <a:r>
              <a:rPr lang="en-US" altLang="zh-CN" b="1" dirty="0" smtClean="0">
                <a:solidFill>
                  <a:srgbClr val="000000"/>
                </a:solidFill>
                <a:latin typeface="+mn-ea"/>
                <a:cs typeface="+mn-ea"/>
              </a:rPr>
              <a:t>3</a:t>
            </a:r>
            <a:r>
              <a:rPr lang="zh-CN" altLang="zh-CN" b="1" dirty="0" smtClean="0">
                <a:solidFill>
                  <a:srgbClr val="000000"/>
                </a:solidFill>
                <a:latin typeface="+mn-ea"/>
                <a:cs typeface="+mn-ea"/>
              </a:rPr>
              <a:t>.</a:t>
            </a:r>
            <a:r>
              <a:rPr lang="zh-CN" altLang="zh-CN" b="1" dirty="0">
                <a:solidFill>
                  <a:srgbClr val="000000"/>
                </a:solidFill>
                <a:latin typeface="+mn-ea"/>
                <a:cs typeface="+mn-ea"/>
              </a:rPr>
              <a:t>3 数据包（DATA=3）</a:t>
            </a:r>
            <a:endParaRPr lang="zh-CN" altLang="en-US" dirty="0">
              <a:latin typeface="+mn-ea"/>
              <a:cs typeface="+mn-ea"/>
            </a:endParaRPr>
          </a:p>
        </p:txBody>
      </p:sp>
      <p:sp>
        <p:nvSpPr>
          <p:cNvPr id="3" name="矩形 2"/>
          <p:cNvSpPr/>
          <p:nvPr/>
        </p:nvSpPr>
        <p:spPr>
          <a:xfrm>
            <a:off x="963529" y="5714037"/>
            <a:ext cx="8519138" cy="923330"/>
          </a:xfrm>
          <a:prstGeom prst="rect">
            <a:avLst/>
          </a:prstGeom>
        </p:spPr>
        <p:txBody>
          <a:bodyPr wrap="square">
            <a:spAutoFit/>
          </a:bodyPr>
          <a:lstStyle/>
          <a:p>
            <a:r>
              <a:rPr lang="zh-CN" altLang="en-US" dirty="0">
                <a:solidFill>
                  <a:srgbClr val="4D4D4D"/>
                </a:solidFill>
                <a:latin typeface="+mn-ea"/>
                <a:cs typeface="+mn-ea"/>
              </a:rPr>
              <a:t>传输数据块的</a:t>
            </a:r>
            <a:r>
              <a:rPr lang="en-US" altLang="zh-CN" dirty="0">
                <a:solidFill>
                  <a:srgbClr val="4D4D4D"/>
                </a:solidFill>
                <a:latin typeface="+mn-ea"/>
                <a:cs typeface="+mn-ea"/>
              </a:rPr>
              <a:t>DATA</a:t>
            </a:r>
            <a:r>
              <a:rPr lang="zh-CN" altLang="en-US" dirty="0">
                <a:solidFill>
                  <a:srgbClr val="4D4D4D"/>
                </a:solidFill>
                <a:latin typeface="+mn-ea"/>
                <a:cs typeface="+mn-ea"/>
              </a:rPr>
              <a:t>数据包，它头</a:t>
            </a:r>
            <a:r>
              <a:rPr lang="en-US" altLang="zh-CN" dirty="0">
                <a:solidFill>
                  <a:srgbClr val="4D4D4D"/>
                </a:solidFill>
                <a:latin typeface="+mn-ea"/>
                <a:cs typeface="+mn-ea"/>
              </a:rPr>
              <a:t>2</a:t>
            </a:r>
            <a:r>
              <a:rPr lang="zh-CN" altLang="en-US" dirty="0">
                <a:solidFill>
                  <a:srgbClr val="4D4D4D"/>
                </a:solidFill>
                <a:latin typeface="+mn-ea"/>
                <a:cs typeface="+mn-ea"/>
              </a:rPr>
              <a:t>字节也是操作码，取值</a:t>
            </a:r>
            <a:r>
              <a:rPr lang="en-US" altLang="zh-CN" dirty="0">
                <a:solidFill>
                  <a:srgbClr val="4D4D4D"/>
                </a:solidFill>
                <a:latin typeface="+mn-ea"/>
                <a:cs typeface="+mn-ea"/>
              </a:rPr>
              <a:t>3</a:t>
            </a:r>
            <a:r>
              <a:rPr lang="zh-CN" altLang="en-US" dirty="0">
                <a:solidFill>
                  <a:srgbClr val="4D4D4D"/>
                </a:solidFill>
                <a:latin typeface="+mn-ea"/>
                <a:cs typeface="+mn-ea"/>
              </a:rPr>
              <a:t>用于表示数据包用于数据块传输，接下来的</a:t>
            </a:r>
            <a:r>
              <a:rPr lang="en-US" altLang="zh-CN" dirty="0">
                <a:solidFill>
                  <a:srgbClr val="4D4D4D"/>
                </a:solidFill>
                <a:latin typeface="+mn-ea"/>
                <a:cs typeface="+mn-ea"/>
              </a:rPr>
              <a:t>2</a:t>
            </a:r>
            <a:r>
              <a:rPr lang="zh-CN" altLang="en-US" dirty="0">
                <a:solidFill>
                  <a:srgbClr val="4D4D4D"/>
                </a:solidFill>
                <a:latin typeface="+mn-ea"/>
                <a:cs typeface="+mn-ea"/>
              </a:rPr>
              <a:t>字节用于表示数据块编号，最后是可变长字段</a:t>
            </a:r>
            <a:r>
              <a:rPr lang="en-US" altLang="zh-CN" dirty="0">
                <a:solidFill>
                  <a:srgbClr val="4D4D4D"/>
                </a:solidFill>
                <a:latin typeface="+mn-ea"/>
                <a:cs typeface="+mn-ea"/>
              </a:rPr>
              <a:t>Data</a:t>
            </a:r>
            <a:r>
              <a:rPr lang="zh-CN" altLang="en-US" dirty="0">
                <a:solidFill>
                  <a:srgbClr val="4D4D4D"/>
                </a:solidFill>
                <a:latin typeface="+mn-ea"/>
                <a:cs typeface="+mn-ea"/>
              </a:rPr>
              <a:t>，用于装载数据块。</a:t>
            </a:r>
            <a:endParaRPr lang="zh-CN" altLang="en-US" dirty="0">
              <a:latin typeface="+mn-ea"/>
              <a:cs typeface="+mn-ea"/>
            </a:endParaRPr>
          </a:p>
        </p:txBody>
      </p:sp>
      <p:pic>
        <p:nvPicPr>
          <p:cNvPr id="13" name="图片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36769" y="1033214"/>
            <a:ext cx="9137027" cy="467702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0375"/>
          </a:xfrm>
          <a:prstGeom prst="rect">
            <a:avLst/>
          </a:prstGeom>
          <a:noFill/>
        </p:spPr>
        <p:txBody>
          <a:bodyPr wrap="square" rtlCol="0">
            <a:spAutoFit/>
          </a:bodyPr>
          <a:lstStyle/>
          <a:p>
            <a:r>
              <a:rPr lang="en-US" altLang="zh-CN" sz="2400" b="1" dirty="0">
                <a:solidFill>
                  <a:schemeClr val="tx1">
                    <a:lumMod val="65000"/>
                    <a:lumOff val="35000"/>
                  </a:schemeClr>
                </a:solidFill>
                <a:latin typeface="+mn-ea"/>
                <a:cs typeface="+mn-ea"/>
              </a:rPr>
              <a:t>TFTP</a:t>
            </a:r>
            <a:r>
              <a:rPr lang="zh-CN" altLang="en-US" sz="2400" b="1" dirty="0">
                <a:solidFill>
                  <a:schemeClr val="tx1">
                    <a:lumMod val="65000"/>
                    <a:lumOff val="35000"/>
                  </a:schemeClr>
                </a:solidFill>
                <a:latin typeface="+mn-ea"/>
                <a:cs typeface="+mn-ea"/>
              </a:rPr>
              <a:t>包格式</a:t>
            </a:r>
            <a:endParaRPr lang="zh-CN" altLang="en-US" sz="2400" b="1" dirty="0">
              <a:solidFill>
                <a:schemeClr val="tx1">
                  <a:lumMod val="65000"/>
                  <a:lumOff val="35000"/>
                </a:schemeClr>
              </a:solidFill>
              <a:latin typeface="+mn-ea"/>
              <a:cs typeface="+mn-ea"/>
            </a:endParaRPr>
          </a:p>
        </p:txBody>
      </p:sp>
      <p:sp>
        <p:nvSpPr>
          <p:cNvPr id="9" name="椭圆 8"/>
          <p:cNvSpPr/>
          <p:nvPr/>
        </p:nvSpPr>
        <p:spPr>
          <a:xfrm rot="10800000" flipV="1">
            <a:off x="395221" y="152134"/>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dirty="0" smtClean="0">
                <a:latin typeface="+mn-ea"/>
              </a:rPr>
              <a:t>03</a:t>
            </a:r>
            <a:endParaRPr kumimoji="1" lang="en-US" altLang="zh-CN" sz="1600" b="1" dirty="0" smtClean="0">
              <a:latin typeface="+mn-ea"/>
            </a:endParaRPr>
          </a:p>
        </p:txBody>
      </p:sp>
      <p:sp>
        <p:nvSpPr>
          <p:cNvPr id="10" name="矩形 9"/>
          <p:cNvSpPr/>
          <p:nvPr/>
        </p:nvSpPr>
        <p:spPr>
          <a:xfrm>
            <a:off x="3107841" y="296893"/>
            <a:ext cx="2494594" cy="369332"/>
          </a:xfrm>
          <a:prstGeom prst="rect">
            <a:avLst/>
          </a:prstGeom>
        </p:spPr>
        <p:txBody>
          <a:bodyPr wrap="none">
            <a:spAutoFit/>
          </a:bodyPr>
          <a:lstStyle/>
          <a:p>
            <a:r>
              <a:rPr lang="en-US" altLang="zh-CN" b="1" dirty="0" smtClean="0">
                <a:latin typeface="+mn-ea"/>
                <a:cs typeface="+mn-ea"/>
              </a:rPr>
              <a:t>3</a:t>
            </a:r>
            <a:r>
              <a:rPr lang="zh-CN" altLang="zh-CN" b="1" dirty="0" smtClean="0">
                <a:latin typeface="+mn-ea"/>
                <a:cs typeface="+mn-ea"/>
              </a:rPr>
              <a:t>.</a:t>
            </a:r>
            <a:r>
              <a:rPr lang="zh-CN" altLang="zh-CN" b="1" dirty="0">
                <a:latin typeface="+mn-ea"/>
                <a:cs typeface="+mn-ea"/>
              </a:rPr>
              <a:t>4 回应包（ACK=4）</a:t>
            </a:r>
            <a:endParaRPr lang="zh-CN" altLang="en-US" dirty="0">
              <a:latin typeface="+mn-ea"/>
              <a:cs typeface="+mn-ea"/>
            </a:endParaRPr>
          </a:p>
        </p:txBody>
      </p:sp>
      <p:pic>
        <p:nvPicPr>
          <p:cNvPr id="11" name="内容占位符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47750" y="1163955"/>
            <a:ext cx="5122545" cy="1078230"/>
          </a:xfrm>
          <a:prstGeom prst="rect">
            <a:avLst/>
          </a:prstGeom>
        </p:spPr>
      </p:pic>
      <p:sp>
        <p:nvSpPr>
          <p:cNvPr id="2" name="矩形 1"/>
          <p:cNvSpPr/>
          <p:nvPr/>
        </p:nvSpPr>
        <p:spPr>
          <a:xfrm>
            <a:off x="826135" y="3429635"/>
            <a:ext cx="8797925" cy="1198880"/>
          </a:xfrm>
          <a:prstGeom prst="rect">
            <a:avLst/>
          </a:prstGeom>
        </p:spPr>
        <p:txBody>
          <a:bodyPr wrap="square">
            <a:spAutoFit/>
          </a:bodyPr>
          <a:lstStyle/>
          <a:p>
            <a:r>
              <a:rPr lang="zh-CN" altLang="zh-CN" dirty="0">
                <a:solidFill>
                  <a:srgbClr val="555555"/>
                </a:solidFill>
                <a:latin typeface="+mn-ea"/>
                <a:cs typeface="+mn-ea"/>
              </a:rPr>
              <a:t>回应包是对收到的文件数据进行回应，</a:t>
            </a:r>
            <a:r>
              <a:rPr lang="zh-CN" altLang="en-US" dirty="0" smtClean="0">
                <a:solidFill>
                  <a:srgbClr val="4D4D4D"/>
                </a:solidFill>
                <a:effectLst/>
                <a:latin typeface="+mn-ea"/>
                <a:cs typeface="+mn-ea"/>
                <a:sym typeface="+mn-ea"/>
              </a:rPr>
              <a:t>用于确认数据包已收到，和接收到的数据包数据块号相同。</a:t>
            </a:r>
            <a:br>
              <a:rPr lang="zh-CN" altLang="zh-CN" dirty="0">
                <a:solidFill>
                  <a:srgbClr val="555555"/>
                </a:solidFill>
                <a:latin typeface="+mn-ea"/>
                <a:cs typeface="+mn-ea"/>
              </a:rPr>
            </a:br>
            <a:r>
              <a:rPr lang="zh-CN" altLang="zh-CN" dirty="0">
                <a:solidFill>
                  <a:srgbClr val="555555"/>
                </a:solidFill>
                <a:latin typeface="+mn-ea"/>
                <a:cs typeface="+mn-ea"/>
              </a:rPr>
              <a:t>1. 操作码（2字节）</a:t>
            </a:r>
            <a:br>
              <a:rPr lang="zh-CN" altLang="zh-CN" dirty="0">
                <a:solidFill>
                  <a:srgbClr val="555555"/>
                </a:solidFill>
                <a:latin typeface="+mn-ea"/>
                <a:cs typeface="+mn-ea"/>
              </a:rPr>
            </a:br>
            <a:r>
              <a:rPr lang="zh-CN" altLang="zh-CN" dirty="0">
                <a:solidFill>
                  <a:srgbClr val="555555"/>
                </a:solidFill>
                <a:latin typeface="+mn-ea"/>
                <a:cs typeface="+mn-ea"/>
              </a:rPr>
              <a:t>2. 数据包序（2字节）</a:t>
            </a:r>
            <a:endParaRPr lang="zh-CN" altLang="en-US" dirty="0">
              <a:latin typeface="+mn-ea"/>
              <a:cs typeface="+mn-ea"/>
            </a:endParaRPr>
          </a:p>
        </p:txBody>
      </p:sp>
      <p:pic>
        <p:nvPicPr>
          <p:cNvPr id="3" name="图片 2"/>
          <p:cNvPicPr>
            <a:picLocks noChangeAspect="1"/>
          </p:cNvPicPr>
          <p:nvPr/>
        </p:nvPicPr>
        <p:blipFill>
          <a:blip r:embed="rId2"/>
          <a:stretch>
            <a:fillRect/>
          </a:stretch>
        </p:blipFill>
        <p:spPr>
          <a:xfrm>
            <a:off x="963295" y="2378710"/>
            <a:ext cx="2733675"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0375"/>
          </a:xfrm>
          <a:prstGeom prst="rect">
            <a:avLst/>
          </a:prstGeom>
          <a:noFill/>
        </p:spPr>
        <p:txBody>
          <a:bodyPr wrap="square" rtlCol="0">
            <a:spAutoFit/>
          </a:bodyPr>
          <a:lstStyle/>
          <a:p>
            <a:r>
              <a:rPr lang="en-US" altLang="zh-CN" sz="2400" b="1" dirty="0">
                <a:solidFill>
                  <a:schemeClr val="tx1">
                    <a:lumMod val="65000"/>
                    <a:lumOff val="35000"/>
                  </a:schemeClr>
                </a:solidFill>
                <a:latin typeface="+mn-ea"/>
                <a:cs typeface="+mn-ea"/>
              </a:rPr>
              <a:t>TFTP</a:t>
            </a:r>
            <a:r>
              <a:rPr lang="zh-CN" altLang="en-US" sz="2400" b="1" dirty="0">
                <a:solidFill>
                  <a:schemeClr val="tx1">
                    <a:lumMod val="65000"/>
                    <a:lumOff val="35000"/>
                  </a:schemeClr>
                </a:solidFill>
                <a:latin typeface="+mn-ea"/>
                <a:cs typeface="+mn-ea"/>
              </a:rPr>
              <a:t>包格式</a:t>
            </a:r>
            <a:endParaRPr lang="zh-CN" altLang="en-US" sz="2400" b="1" dirty="0">
              <a:solidFill>
                <a:schemeClr val="tx1">
                  <a:lumMod val="65000"/>
                  <a:lumOff val="35000"/>
                </a:schemeClr>
              </a:solidFill>
              <a:latin typeface="+mn-ea"/>
              <a:cs typeface="+mn-ea"/>
            </a:endParaRPr>
          </a:p>
        </p:txBody>
      </p:sp>
      <p:sp>
        <p:nvSpPr>
          <p:cNvPr id="9" name="椭圆 8"/>
          <p:cNvSpPr/>
          <p:nvPr/>
        </p:nvSpPr>
        <p:spPr>
          <a:xfrm rot="10800000" flipV="1">
            <a:off x="395221" y="152134"/>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dirty="0" smtClean="0">
                <a:latin typeface="+mn-ea"/>
              </a:rPr>
              <a:t>03</a:t>
            </a:r>
            <a:endParaRPr kumimoji="1" lang="en-US" altLang="zh-CN" sz="1600" b="1" dirty="0" smtClean="0">
              <a:latin typeface="+mn-ea"/>
            </a:endParaRPr>
          </a:p>
        </p:txBody>
      </p:sp>
      <p:sp>
        <p:nvSpPr>
          <p:cNvPr id="10" name="矩形 9"/>
          <p:cNvSpPr/>
          <p:nvPr/>
        </p:nvSpPr>
        <p:spPr>
          <a:xfrm>
            <a:off x="3006240" y="250726"/>
            <a:ext cx="2494594" cy="369332"/>
          </a:xfrm>
          <a:prstGeom prst="rect">
            <a:avLst/>
          </a:prstGeom>
        </p:spPr>
        <p:txBody>
          <a:bodyPr wrap="none">
            <a:spAutoFit/>
          </a:bodyPr>
          <a:lstStyle/>
          <a:p>
            <a:r>
              <a:rPr lang="en-US" altLang="zh-CN" b="1" dirty="0" smtClean="0">
                <a:latin typeface="+mn-ea"/>
                <a:cs typeface="+mn-ea"/>
              </a:rPr>
              <a:t>3</a:t>
            </a:r>
            <a:r>
              <a:rPr lang="zh-CN" altLang="zh-CN" b="1" dirty="0" smtClean="0">
                <a:latin typeface="+mn-ea"/>
                <a:cs typeface="+mn-ea"/>
              </a:rPr>
              <a:t>.</a:t>
            </a:r>
            <a:r>
              <a:rPr lang="zh-CN" altLang="zh-CN" b="1" dirty="0">
                <a:latin typeface="+mn-ea"/>
                <a:cs typeface="+mn-ea"/>
              </a:rPr>
              <a:t>4 回应包（ACK=4）</a:t>
            </a:r>
            <a:endParaRPr lang="zh-CN" altLang="en-US" dirty="0">
              <a:latin typeface="+mn-ea"/>
              <a:cs typeface="+mn-ea"/>
            </a:endParaRPr>
          </a:p>
        </p:txBody>
      </p:sp>
      <p:sp>
        <p:nvSpPr>
          <p:cNvPr id="15" name="矩形 14"/>
          <p:cNvSpPr/>
          <p:nvPr/>
        </p:nvSpPr>
        <p:spPr>
          <a:xfrm>
            <a:off x="869244" y="5800372"/>
            <a:ext cx="9539263" cy="646331"/>
          </a:xfrm>
          <a:prstGeom prst="rect">
            <a:avLst/>
          </a:prstGeom>
        </p:spPr>
        <p:txBody>
          <a:bodyPr wrap="square">
            <a:spAutoFit/>
          </a:bodyPr>
          <a:lstStyle/>
          <a:p>
            <a:r>
              <a:rPr lang="zh-CN" altLang="en-US" b="0" i="0" dirty="0" smtClean="0">
                <a:solidFill>
                  <a:srgbClr val="4D4D4D"/>
                </a:solidFill>
                <a:effectLst/>
                <a:latin typeface="+mn-ea"/>
                <a:cs typeface="+mn-ea"/>
              </a:rPr>
              <a:t>当接收方收到一个数据包后，会向发送方发送一个</a:t>
            </a:r>
            <a:r>
              <a:rPr lang="en-US" altLang="zh-CN" b="0" i="0" dirty="0" smtClean="0">
                <a:solidFill>
                  <a:srgbClr val="4D4D4D"/>
                </a:solidFill>
                <a:effectLst/>
                <a:latin typeface="+mn-ea"/>
                <a:cs typeface="+mn-ea"/>
              </a:rPr>
              <a:t>ACK</a:t>
            </a:r>
            <a:r>
              <a:rPr lang="zh-CN" altLang="en-US" b="0" i="0" dirty="0" smtClean="0">
                <a:solidFill>
                  <a:srgbClr val="4D4D4D"/>
                </a:solidFill>
                <a:effectLst/>
                <a:latin typeface="+mn-ea"/>
                <a:cs typeface="+mn-ea"/>
              </a:rPr>
              <a:t>包；而发送方则会在收到一个</a:t>
            </a:r>
            <a:r>
              <a:rPr lang="en-US" altLang="zh-CN" b="0" i="0" dirty="0" smtClean="0">
                <a:solidFill>
                  <a:srgbClr val="4D4D4D"/>
                </a:solidFill>
                <a:effectLst/>
                <a:latin typeface="+mn-ea"/>
                <a:cs typeface="+mn-ea"/>
              </a:rPr>
              <a:t>ACK</a:t>
            </a:r>
            <a:r>
              <a:rPr lang="zh-CN" altLang="en-US" b="0" i="0" dirty="0" smtClean="0">
                <a:solidFill>
                  <a:srgbClr val="4D4D4D"/>
                </a:solidFill>
                <a:effectLst/>
                <a:latin typeface="+mn-ea"/>
                <a:cs typeface="+mn-ea"/>
              </a:rPr>
              <a:t>包后继续发送下一个包。若发送完未能收到</a:t>
            </a:r>
            <a:r>
              <a:rPr lang="en-US" altLang="zh-CN" b="0" i="0" dirty="0" smtClean="0">
                <a:solidFill>
                  <a:srgbClr val="4D4D4D"/>
                </a:solidFill>
                <a:effectLst/>
                <a:latin typeface="+mn-ea"/>
                <a:cs typeface="+mn-ea"/>
              </a:rPr>
              <a:t>ACK</a:t>
            </a:r>
            <a:r>
              <a:rPr lang="zh-CN" altLang="en-US" b="0" i="0" dirty="0" smtClean="0">
                <a:solidFill>
                  <a:srgbClr val="4D4D4D"/>
                </a:solidFill>
                <a:effectLst/>
                <a:latin typeface="+mn-ea"/>
                <a:cs typeface="+mn-ea"/>
              </a:rPr>
              <a:t>包，则会使用超时机制，重新发送刚才的数据包。</a:t>
            </a:r>
            <a:endParaRPr lang="zh-CN" altLang="en-US" dirty="0">
              <a:latin typeface="+mn-ea"/>
              <a:cs typeface="+mn-ea"/>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63529" y="803465"/>
            <a:ext cx="10188220" cy="47280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73"/>
          <p:cNvSpPr txBox="1"/>
          <p:nvPr/>
        </p:nvSpPr>
        <p:spPr>
          <a:xfrm>
            <a:off x="963529" y="204560"/>
            <a:ext cx="5504355" cy="460375"/>
          </a:xfrm>
          <a:prstGeom prst="rect">
            <a:avLst/>
          </a:prstGeom>
          <a:noFill/>
        </p:spPr>
        <p:txBody>
          <a:bodyPr wrap="square" rtlCol="0">
            <a:spAutoFit/>
          </a:bodyPr>
          <a:lstStyle/>
          <a:p>
            <a:r>
              <a:rPr lang="en-US" altLang="zh-CN" sz="2400" b="1" dirty="0">
                <a:solidFill>
                  <a:schemeClr val="tx1">
                    <a:lumMod val="65000"/>
                    <a:lumOff val="35000"/>
                  </a:schemeClr>
                </a:solidFill>
                <a:latin typeface="+mn-ea"/>
                <a:cs typeface="+mn-ea"/>
              </a:rPr>
              <a:t>TFTP</a:t>
            </a:r>
            <a:r>
              <a:rPr lang="zh-CN" altLang="en-US" sz="2400" b="1" dirty="0">
                <a:solidFill>
                  <a:schemeClr val="tx1">
                    <a:lumMod val="65000"/>
                    <a:lumOff val="35000"/>
                  </a:schemeClr>
                </a:solidFill>
                <a:latin typeface="+mn-ea"/>
                <a:cs typeface="+mn-ea"/>
              </a:rPr>
              <a:t>包格式</a:t>
            </a:r>
            <a:endParaRPr lang="zh-CN" altLang="en-US" sz="2400" b="1" dirty="0">
              <a:solidFill>
                <a:schemeClr val="tx1">
                  <a:lumMod val="65000"/>
                  <a:lumOff val="35000"/>
                </a:schemeClr>
              </a:solidFill>
              <a:latin typeface="+mn-ea"/>
              <a:cs typeface="+mn-ea"/>
            </a:endParaRPr>
          </a:p>
        </p:txBody>
      </p:sp>
      <p:sp>
        <p:nvSpPr>
          <p:cNvPr id="9" name="椭圆 8"/>
          <p:cNvSpPr/>
          <p:nvPr/>
        </p:nvSpPr>
        <p:spPr>
          <a:xfrm rot="10800000" flipV="1">
            <a:off x="395221" y="152134"/>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dirty="0" smtClean="0">
                <a:latin typeface="+mn-ea"/>
              </a:rPr>
              <a:t>03</a:t>
            </a:r>
            <a:endParaRPr kumimoji="1" lang="en-US" altLang="zh-CN" sz="1600" b="1" dirty="0" smtClean="0">
              <a:latin typeface="+mn-ea"/>
            </a:endParaRPr>
          </a:p>
        </p:txBody>
      </p:sp>
      <p:sp>
        <p:nvSpPr>
          <p:cNvPr id="10" name="矩形 9"/>
          <p:cNvSpPr/>
          <p:nvPr/>
        </p:nvSpPr>
        <p:spPr>
          <a:xfrm>
            <a:off x="2900615" y="301236"/>
            <a:ext cx="3023585" cy="369332"/>
          </a:xfrm>
          <a:prstGeom prst="rect">
            <a:avLst/>
          </a:prstGeom>
        </p:spPr>
        <p:txBody>
          <a:bodyPr wrap="none">
            <a:spAutoFit/>
          </a:bodyPr>
          <a:lstStyle/>
          <a:p>
            <a:r>
              <a:rPr lang="en-US" altLang="zh-CN" b="1" dirty="0" smtClean="0">
                <a:solidFill>
                  <a:srgbClr val="000000"/>
                </a:solidFill>
                <a:latin typeface="+mn-ea"/>
                <a:cs typeface="+mn-ea"/>
              </a:rPr>
              <a:t>3</a:t>
            </a:r>
            <a:r>
              <a:rPr lang="zh-CN" altLang="zh-CN" b="1" dirty="0" smtClean="0">
                <a:solidFill>
                  <a:srgbClr val="000000"/>
                </a:solidFill>
                <a:latin typeface="+mn-ea"/>
                <a:cs typeface="+mn-ea"/>
              </a:rPr>
              <a:t>.</a:t>
            </a:r>
            <a:r>
              <a:rPr lang="zh-CN" altLang="zh-CN" b="1" dirty="0">
                <a:solidFill>
                  <a:srgbClr val="000000"/>
                </a:solidFill>
                <a:latin typeface="+mn-ea"/>
                <a:cs typeface="+mn-ea"/>
              </a:rPr>
              <a:t>5 错误信息包（Error=5）</a:t>
            </a:r>
            <a:endParaRPr lang="zh-CN" altLang="en-US" dirty="0">
              <a:latin typeface="+mn-ea"/>
              <a:cs typeface="+mn-ea"/>
            </a:endParaRPr>
          </a:p>
        </p:txBody>
      </p:sp>
      <p:sp>
        <p:nvSpPr>
          <p:cNvPr id="12" name="矩形 11"/>
          <p:cNvSpPr/>
          <p:nvPr/>
        </p:nvSpPr>
        <p:spPr>
          <a:xfrm>
            <a:off x="545263" y="4535810"/>
            <a:ext cx="6096000" cy="1200329"/>
          </a:xfrm>
          <a:prstGeom prst="rect">
            <a:avLst/>
          </a:prstGeom>
        </p:spPr>
        <p:txBody>
          <a:bodyPr>
            <a:spAutoFit/>
          </a:bodyPr>
          <a:lstStyle/>
          <a:p>
            <a:pPr>
              <a:lnSpc>
                <a:spcPct val="100000"/>
              </a:lnSpc>
            </a:pPr>
            <a:r>
              <a:rPr lang="zh-CN" altLang="zh-CN" dirty="0">
                <a:latin typeface="+mn-ea"/>
                <a:cs typeface="+mn-ea"/>
              </a:rPr>
              <a:t>错误ERROR数据包</a:t>
            </a:r>
            <a:br>
              <a:rPr lang="zh-CN" altLang="zh-CN" dirty="0">
                <a:latin typeface="+mn-ea"/>
                <a:cs typeface="+mn-ea"/>
              </a:rPr>
            </a:br>
            <a:r>
              <a:rPr lang="zh-CN" altLang="zh-CN" dirty="0">
                <a:latin typeface="+mn-ea"/>
                <a:cs typeface="+mn-ea"/>
              </a:rPr>
              <a:t>1. 操作码（2字节）</a:t>
            </a:r>
            <a:br>
              <a:rPr lang="zh-CN" altLang="zh-CN" dirty="0">
                <a:latin typeface="+mn-ea"/>
                <a:cs typeface="+mn-ea"/>
              </a:rPr>
            </a:br>
            <a:r>
              <a:rPr lang="zh-CN" altLang="zh-CN" dirty="0">
                <a:latin typeface="+mn-ea"/>
                <a:cs typeface="+mn-ea"/>
              </a:rPr>
              <a:t>2. 错误码（2字节）</a:t>
            </a:r>
            <a:br>
              <a:rPr lang="zh-CN" altLang="zh-CN" dirty="0">
                <a:latin typeface="+mn-ea"/>
                <a:cs typeface="+mn-ea"/>
              </a:rPr>
            </a:br>
            <a:r>
              <a:rPr lang="zh-CN" altLang="zh-CN" dirty="0">
                <a:latin typeface="+mn-ea"/>
                <a:cs typeface="+mn-ea"/>
              </a:rPr>
              <a:t>3. 错误具体原因（可变长）</a:t>
            </a:r>
            <a:endParaRPr lang="zh-CN" altLang="zh-CN" sz="4800" dirty="0">
              <a:latin typeface="+mn-ea"/>
              <a:cs typeface="+mn-ea"/>
            </a:endParaRPr>
          </a:p>
        </p:txBody>
      </p:sp>
      <p:pic>
        <p:nvPicPr>
          <p:cNvPr id="8" name="内容占位符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9191" y="1237984"/>
            <a:ext cx="10334625" cy="1485900"/>
          </a:xfrm>
          <a:prstGeom prst="rect">
            <a:avLst/>
          </a:prstGeom>
        </p:spPr>
      </p:pic>
      <p:pic>
        <p:nvPicPr>
          <p:cNvPr id="14" name="内容占位符 3"/>
          <p:cNvPicPr>
            <a:picLocks noChangeAspect="1"/>
          </p:cNvPicPr>
          <p:nvPr/>
        </p:nvPicPr>
        <p:blipFill>
          <a:blip r:embed="rId2">
            <a:extLst>
              <a:ext uri="{28A0092B-C50C-407E-A947-70E740481C1C}">
                <a14:useLocalDpi xmlns:a14="http://schemas.microsoft.com/office/drawing/2010/main" val="0"/>
              </a:ext>
            </a:extLst>
          </a:blip>
          <a:srcRect l="11552" t="41988" r="23035" b="7018"/>
          <a:stretch>
            <a:fillRect/>
          </a:stretch>
        </p:blipFill>
        <p:spPr>
          <a:xfrm>
            <a:off x="394970" y="2724150"/>
            <a:ext cx="5364480" cy="1107440"/>
          </a:xfrm>
          <a:prstGeom prst="rect">
            <a:avLst/>
          </a:prstGeom>
        </p:spPr>
      </p:pic>
      <p:sp>
        <p:nvSpPr>
          <p:cNvPr id="2" name="矩形 1"/>
          <p:cNvSpPr/>
          <p:nvPr/>
        </p:nvSpPr>
        <p:spPr>
          <a:xfrm>
            <a:off x="4039673" y="4821494"/>
            <a:ext cx="6096000" cy="923330"/>
          </a:xfrm>
          <a:prstGeom prst="rect">
            <a:avLst/>
          </a:prstGeom>
        </p:spPr>
        <p:txBody>
          <a:bodyPr>
            <a:spAutoFit/>
          </a:bodyPr>
          <a:lstStyle/>
          <a:p>
            <a:r>
              <a:rPr lang="zh-CN" altLang="en-US" dirty="0">
                <a:solidFill>
                  <a:srgbClr val="4D4D4D"/>
                </a:solidFill>
                <a:latin typeface="+mn-ea"/>
                <a:cs typeface="+mn-ea"/>
              </a:rPr>
              <a:t>错误</a:t>
            </a:r>
            <a:r>
              <a:rPr lang="en-US" altLang="zh-CN" dirty="0">
                <a:solidFill>
                  <a:srgbClr val="4D4D4D"/>
                </a:solidFill>
                <a:latin typeface="+mn-ea"/>
                <a:cs typeface="+mn-ea"/>
              </a:rPr>
              <a:t>ERROR</a:t>
            </a:r>
            <a:r>
              <a:rPr lang="zh-CN" altLang="en-US" dirty="0">
                <a:solidFill>
                  <a:srgbClr val="4D4D4D"/>
                </a:solidFill>
                <a:latin typeface="+mn-ea"/>
                <a:cs typeface="+mn-ea"/>
              </a:rPr>
              <a:t>数据包，它开始的</a:t>
            </a:r>
            <a:r>
              <a:rPr lang="en-US" altLang="zh-CN" dirty="0">
                <a:solidFill>
                  <a:srgbClr val="4D4D4D"/>
                </a:solidFill>
                <a:latin typeface="+mn-ea"/>
                <a:cs typeface="+mn-ea"/>
              </a:rPr>
              <a:t>2</a:t>
            </a:r>
            <a:r>
              <a:rPr lang="zh-CN" altLang="en-US" dirty="0">
                <a:solidFill>
                  <a:srgbClr val="4D4D4D"/>
                </a:solidFill>
                <a:latin typeface="+mn-ea"/>
                <a:cs typeface="+mn-ea"/>
              </a:rPr>
              <a:t>字节表示操作码，取值</a:t>
            </a:r>
            <a:r>
              <a:rPr lang="en-US" altLang="zh-CN" dirty="0">
                <a:solidFill>
                  <a:srgbClr val="4D4D4D"/>
                </a:solidFill>
                <a:latin typeface="+mn-ea"/>
                <a:cs typeface="+mn-ea"/>
              </a:rPr>
              <a:t>5</a:t>
            </a:r>
            <a:r>
              <a:rPr lang="zh-CN" altLang="en-US" dirty="0">
                <a:solidFill>
                  <a:srgbClr val="4D4D4D"/>
                </a:solidFill>
                <a:latin typeface="+mn-ea"/>
                <a:cs typeface="+mn-ea"/>
              </a:rPr>
              <a:t>；接下来</a:t>
            </a:r>
            <a:r>
              <a:rPr lang="en-US" altLang="zh-CN" dirty="0">
                <a:solidFill>
                  <a:srgbClr val="4D4D4D"/>
                </a:solidFill>
                <a:latin typeface="+mn-ea"/>
                <a:cs typeface="+mn-ea"/>
              </a:rPr>
              <a:t>2</a:t>
            </a:r>
            <a:r>
              <a:rPr lang="zh-CN" altLang="en-US" dirty="0">
                <a:solidFill>
                  <a:srgbClr val="4D4D4D"/>
                </a:solidFill>
                <a:latin typeface="+mn-ea"/>
                <a:cs typeface="+mn-ea"/>
              </a:rPr>
              <a:t>字节表示错误码；最后的是可变长字段，它用字符串的形式描述具体错误。</a:t>
            </a:r>
            <a:endParaRPr lang="zh-CN" altLang="en-US" dirty="0">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73"/>
          <p:cNvSpPr txBox="1"/>
          <p:nvPr/>
        </p:nvSpPr>
        <p:spPr>
          <a:xfrm>
            <a:off x="1012297" y="248497"/>
            <a:ext cx="5504355" cy="460375"/>
          </a:xfrm>
          <a:prstGeom prst="rect">
            <a:avLst/>
          </a:prstGeom>
          <a:noFill/>
        </p:spPr>
        <p:txBody>
          <a:bodyPr wrap="square" rtlCol="0">
            <a:spAutoFit/>
          </a:bodyPr>
          <a:lstStyle/>
          <a:p>
            <a:r>
              <a:rPr lang="zh-CN" altLang="en-US" sz="2400" b="1" dirty="0">
                <a:solidFill>
                  <a:schemeClr val="tx1">
                    <a:lumMod val="65000"/>
                    <a:lumOff val="35000"/>
                  </a:schemeClr>
                </a:solidFill>
                <a:latin typeface="+mn-ea"/>
              </a:rPr>
              <a:t>经验总结</a:t>
            </a:r>
            <a:endParaRPr lang="zh-CN" altLang="en-US" sz="2400" b="1" dirty="0">
              <a:solidFill>
                <a:schemeClr val="tx1">
                  <a:lumMod val="65000"/>
                  <a:lumOff val="35000"/>
                </a:schemeClr>
              </a:solidFill>
              <a:latin typeface="+mn-ea"/>
            </a:endParaRPr>
          </a:p>
        </p:txBody>
      </p:sp>
      <p:sp>
        <p:nvSpPr>
          <p:cNvPr id="14" name="椭圆 13"/>
          <p:cNvSpPr/>
          <p:nvPr/>
        </p:nvSpPr>
        <p:spPr>
          <a:xfrm rot="10800000" flipV="1">
            <a:off x="247278" y="143646"/>
            <a:ext cx="568308" cy="566515"/>
          </a:xfrm>
          <a:prstGeom prst="ellipse">
            <a:avLst/>
          </a:prstGeom>
          <a:solidFill>
            <a:srgbClr val="005A9E"/>
          </a:solidFill>
          <a:ln>
            <a:noFill/>
          </a:ln>
          <a:effectLst>
            <a:outerShdw blurRad="292100" dist="215900" dir="708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kumimoji="1" lang="en-US" altLang="zh-CN" sz="1600" b="1" dirty="0" smtClean="0">
                <a:latin typeface="+mn-ea"/>
              </a:rPr>
              <a:t>04</a:t>
            </a:r>
            <a:endParaRPr kumimoji="1" lang="en-US" altLang="zh-CN" sz="1600" b="1" dirty="0" smtClean="0">
              <a:latin typeface="+mn-ea"/>
            </a:endParaRPr>
          </a:p>
        </p:txBody>
      </p:sp>
      <p:sp>
        <p:nvSpPr>
          <p:cNvPr id="2" name="矩形 1"/>
          <p:cNvSpPr/>
          <p:nvPr/>
        </p:nvSpPr>
        <p:spPr>
          <a:xfrm>
            <a:off x="530795" y="4111992"/>
            <a:ext cx="10917887" cy="368300"/>
          </a:xfrm>
          <a:prstGeom prst="rect">
            <a:avLst/>
          </a:prstGeom>
        </p:spPr>
        <p:txBody>
          <a:bodyPr wrap="square">
            <a:spAutoFit/>
          </a:bodyPr>
          <a:lstStyle/>
          <a:p>
            <a:r>
              <a:rPr lang="en-US" altLang="zh-CN" dirty="0">
                <a:latin typeface="+mn-ea"/>
                <a:cs typeface="+mn-ea"/>
              </a:rPr>
              <a:t>TFTP</a:t>
            </a:r>
            <a:r>
              <a:rPr lang="zh-CN" altLang="en-US" dirty="0">
                <a:latin typeface="+mn-ea"/>
                <a:cs typeface="+mn-ea"/>
              </a:rPr>
              <a:t>三种方式：</a:t>
            </a:r>
            <a:r>
              <a:rPr lang="en-US" altLang="zh-CN" dirty="0">
                <a:latin typeface="+mn-ea"/>
                <a:cs typeface="+mn-ea"/>
              </a:rPr>
              <a:t>1</a:t>
            </a:r>
            <a:r>
              <a:rPr lang="zh-CN" altLang="en-US" dirty="0">
                <a:latin typeface="+mn-ea"/>
                <a:cs typeface="+mn-ea"/>
              </a:rPr>
              <a:t>、</a:t>
            </a:r>
            <a:r>
              <a:rPr lang="en-US" altLang="zh-CN" dirty="0">
                <a:latin typeface="+mn-ea"/>
                <a:cs typeface="+mn-ea"/>
              </a:rPr>
              <a:t>Linux</a:t>
            </a:r>
            <a:r>
              <a:rPr lang="zh-CN" altLang="en-US" dirty="0">
                <a:latin typeface="+mn-ea"/>
                <a:cs typeface="+mn-ea"/>
              </a:rPr>
              <a:t>自带，</a:t>
            </a:r>
            <a:r>
              <a:rPr lang="en-US" altLang="zh-CN" dirty="0">
                <a:latin typeface="+mn-ea"/>
                <a:cs typeface="+mn-ea"/>
              </a:rPr>
              <a:t>2</a:t>
            </a:r>
            <a:r>
              <a:rPr lang="zh-CN" altLang="en-US" dirty="0">
                <a:latin typeface="+mn-ea"/>
                <a:cs typeface="+mn-ea"/>
              </a:rPr>
              <a:t>、</a:t>
            </a:r>
            <a:r>
              <a:rPr lang="en-US" altLang="zh-CN" dirty="0" err="1">
                <a:latin typeface="+mn-ea"/>
                <a:cs typeface="+mn-ea"/>
              </a:rPr>
              <a:t>hal</a:t>
            </a:r>
            <a:r>
              <a:rPr lang="zh-CN" altLang="en-US" dirty="0">
                <a:latin typeface="+mn-ea"/>
                <a:cs typeface="+mn-ea"/>
              </a:rPr>
              <a:t>服务</a:t>
            </a:r>
            <a:r>
              <a:rPr lang="en-US" altLang="zh-CN" dirty="0">
                <a:latin typeface="+mn-ea"/>
                <a:cs typeface="+mn-ea"/>
              </a:rPr>
              <a:t>/</a:t>
            </a:r>
            <a:r>
              <a:rPr lang="zh-CN" altLang="en-US" dirty="0">
                <a:latin typeface="+mn-ea"/>
                <a:cs typeface="+mn-ea"/>
              </a:rPr>
              <a:t>或</a:t>
            </a:r>
            <a:r>
              <a:rPr lang="en-US" altLang="zh-CN" dirty="0">
                <a:latin typeface="+mn-ea"/>
                <a:cs typeface="+mn-ea"/>
              </a:rPr>
              <a:t>C++</a:t>
            </a:r>
            <a:r>
              <a:rPr lang="zh-CN" altLang="en-US" dirty="0">
                <a:latin typeface="+mn-ea"/>
                <a:cs typeface="+mn-ea"/>
              </a:rPr>
              <a:t>库 </a:t>
            </a:r>
            <a:r>
              <a:rPr lang="en-US" altLang="zh-CN" dirty="0">
                <a:latin typeface="+mn-ea"/>
                <a:cs typeface="+mn-ea"/>
              </a:rPr>
              <a:t>3</a:t>
            </a:r>
            <a:r>
              <a:rPr lang="zh-CN" altLang="en-US" dirty="0">
                <a:latin typeface="+mn-ea"/>
                <a:cs typeface="+mn-ea"/>
              </a:rPr>
              <a:t>、</a:t>
            </a:r>
            <a:r>
              <a:rPr lang="en-US" altLang="zh-CN" dirty="0">
                <a:latin typeface="+mn-ea"/>
                <a:cs typeface="+mn-ea"/>
              </a:rPr>
              <a:t>Java</a:t>
            </a:r>
            <a:r>
              <a:rPr lang="zh-CN" altLang="en-US" dirty="0" smtClean="0">
                <a:latin typeface="+mn-ea"/>
                <a:cs typeface="+mn-ea"/>
              </a:rPr>
              <a:t>服务</a:t>
            </a:r>
            <a:r>
              <a:rPr lang="en-US" altLang="zh-CN" dirty="0">
                <a:latin typeface="+mn-ea"/>
                <a:cs typeface="+mn-ea"/>
              </a:rPr>
              <a:t>(</a:t>
            </a:r>
            <a:r>
              <a:rPr lang="en-US" altLang="zh-CN" dirty="0" smtClean="0">
                <a:latin typeface="+mn-ea"/>
                <a:cs typeface="+mn-ea"/>
              </a:rPr>
              <a:t>commons-net-3.9.0.jar</a:t>
            </a:r>
            <a:r>
              <a:rPr lang="zh-CN" altLang="en-US" dirty="0" smtClean="0">
                <a:latin typeface="+mn-ea"/>
                <a:cs typeface="+mn-ea"/>
              </a:rPr>
              <a:t>等</a:t>
            </a:r>
            <a:r>
              <a:rPr lang="en-US" altLang="zh-CN" dirty="0" smtClean="0">
                <a:latin typeface="+mn-ea"/>
                <a:cs typeface="+mn-ea"/>
              </a:rPr>
              <a:t>)</a:t>
            </a:r>
            <a:endParaRPr lang="zh-CN" altLang="en-US" dirty="0">
              <a:latin typeface="+mn-ea"/>
              <a:cs typeface="+mn-ea"/>
            </a:endParaRPr>
          </a:p>
        </p:txBody>
      </p:sp>
      <p:sp>
        <p:nvSpPr>
          <p:cNvPr id="8" name="标题 1"/>
          <p:cNvSpPr txBox="1"/>
          <p:nvPr/>
        </p:nvSpPr>
        <p:spPr>
          <a:xfrm>
            <a:off x="531430" y="1533525"/>
            <a:ext cx="10515600" cy="132556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b="1" smtClean="0">
                <a:latin typeface="+mn-ea"/>
                <a:ea typeface="+mn-ea"/>
                <a:cs typeface="+mn-ea"/>
              </a:rPr>
              <a:t>TFTP </a:t>
            </a:r>
            <a:r>
              <a:rPr lang="zh-CN" altLang="en-US" sz="2000" b="1" smtClean="0">
                <a:latin typeface="+mn-ea"/>
                <a:ea typeface="+mn-ea"/>
                <a:cs typeface="+mn-ea"/>
              </a:rPr>
              <a:t>存在的安全隐患</a:t>
            </a:r>
            <a:br>
              <a:rPr lang="zh-CN" altLang="en-US" sz="2000" smtClean="0">
                <a:latin typeface="+mn-ea"/>
                <a:ea typeface="+mn-ea"/>
                <a:cs typeface="+mn-ea"/>
              </a:rPr>
            </a:br>
            <a:r>
              <a:rPr lang="zh-CN" altLang="en-US" sz="2000" smtClean="0">
                <a:latin typeface="+mn-ea"/>
                <a:ea typeface="+mn-ea"/>
                <a:cs typeface="+mn-ea"/>
              </a:rPr>
              <a:t>由于 </a:t>
            </a:r>
            <a:r>
              <a:rPr lang="en-US" altLang="zh-CN" sz="2000" smtClean="0">
                <a:latin typeface="+mn-ea"/>
                <a:ea typeface="+mn-ea"/>
                <a:cs typeface="+mn-ea"/>
              </a:rPr>
              <a:t>TFTP </a:t>
            </a:r>
            <a:r>
              <a:rPr lang="zh-CN" altLang="en-US" sz="2000" smtClean="0">
                <a:latin typeface="+mn-ea"/>
                <a:ea typeface="+mn-ea"/>
                <a:cs typeface="+mn-ea"/>
              </a:rPr>
              <a:t>是为简单易用而设计的，因此通常用于保护数据的任何机制都没有在其协议中实现。</a:t>
            </a:r>
            <a:br>
              <a:rPr lang="zh-CN" altLang="en-US" sz="2000" smtClean="0">
                <a:latin typeface="+mn-ea"/>
                <a:ea typeface="+mn-ea"/>
                <a:cs typeface="+mn-ea"/>
              </a:rPr>
            </a:br>
            <a:r>
              <a:rPr lang="zh-CN" altLang="en-US" sz="2000" smtClean="0">
                <a:latin typeface="+mn-ea"/>
                <a:ea typeface="+mn-ea"/>
                <a:cs typeface="+mn-ea"/>
              </a:rPr>
              <a:t>这导致了许多安全问题。因为所有 </a:t>
            </a:r>
            <a:r>
              <a:rPr lang="en-US" altLang="zh-CN" sz="2000" smtClean="0">
                <a:latin typeface="+mn-ea"/>
                <a:ea typeface="+mn-ea"/>
                <a:cs typeface="+mn-ea"/>
              </a:rPr>
              <a:t>TFTP </a:t>
            </a:r>
            <a:r>
              <a:rPr lang="zh-CN" altLang="en-US" sz="2000" smtClean="0">
                <a:latin typeface="+mn-ea"/>
                <a:ea typeface="+mn-ea"/>
                <a:cs typeface="+mn-ea"/>
              </a:rPr>
              <a:t>数据包都是通过网络以明文形式发送的，没有数据加密。</a:t>
            </a:r>
            <a:br>
              <a:rPr lang="en-US" altLang="zh-CN" sz="2000" smtClean="0">
                <a:latin typeface="+mn-ea"/>
                <a:ea typeface="+mn-ea"/>
                <a:cs typeface="+mn-ea"/>
              </a:rPr>
            </a:br>
            <a:r>
              <a:rPr lang="zh-CN" altLang="en-US" sz="2000" smtClean="0">
                <a:solidFill>
                  <a:srgbClr val="4D4D4D"/>
                </a:solidFill>
                <a:latin typeface="+mn-ea"/>
                <a:ea typeface="+mn-ea"/>
                <a:cs typeface="+mn-ea"/>
              </a:rPr>
              <a:t>任何在与 </a:t>
            </a:r>
            <a:r>
              <a:rPr lang="en-US" altLang="zh-CN" sz="2000" smtClean="0">
                <a:solidFill>
                  <a:srgbClr val="4D4D4D"/>
                </a:solidFill>
                <a:latin typeface="+mn-ea"/>
                <a:ea typeface="+mn-ea"/>
                <a:cs typeface="+mn-ea"/>
              </a:rPr>
              <a:t>TFTP </a:t>
            </a:r>
            <a:r>
              <a:rPr lang="zh-CN" altLang="en-US" sz="2000" smtClean="0">
                <a:solidFill>
                  <a:srgbClr val="4D4D4D"/>
                </a:solidFill>
                <a:latin typeface="+mn-ea"/>
                <a:ea typeface="+mn-ea"/>
                <a:cs typeface="+mn-ea"/>
              </a:rPr>
              <a:t>会话相同的网段上捕获网络流量的人都可以轻松收集传输的数据并重新创建原始文件。</a:t>
            </a:r>
            <a:br>
              <a:rPr lang="zh-CN" altLang="en-US" sz="2000" smtClean="0">
                <a:solidFill>
                  <a:srgbClr val="4D4D4D"/>
                </a:solidFill>
                <a:latin typeface="+mn-ea"/>
                <a:ea typeface="+mn-ea"/>
                <a:cs typeface="+mn-ea"/>
              </a:rPr>
            </a:br>
            <a:r>
              <a:rPr lang="zh-CN" altLang="en-US" sz="2000" smtClean="0">
                <a:solidFill>
                  <a:srgbClr val="4D4D4D"/>
                </a:solidFill>
                <a:latin typeface="+mn-ea"/>
                <a:ea typeface="+mn-ea"/>
                <a:cs typeface="+mn-ea"/>
              </a:rPr>
              <a:t>如果文件包含敏感数据，例如用户名和密码，那么任何捕获流量的人都可以轻松使用它。</a:t>
            </a:r>
            <a:br>
              <a:rPr lang="zh-CN" altLang="en-US" sz="2000" smtClean="0">
                <a:solidFill>
                  <a:srgbClr val="4D4D4D"/>
                </a:solidFill>
                <a:latin typeface="+mn-ea"/>
                <a:ea typeface="+mn-ea"/>
                <a:cs typeface="+mn-ea"/>
              </a:rPr>
            </a:br>
            <a:br>
              <a:rPr lang="zh-CN" altLang="en-US" sz="2000" smtClean="0">
                <a:latin typeface="+mn-ea"/>
                <a:ea typeface="+mn-ea"/>
                <a:cs typeface="+mn-ea"/>
              </a:rPr>
            </a:br>
            <a:endParaRPr lang="zh-CN" altLang="en-US" sz="2000" dirty="0">
              <a:latin typeface="+mn-ea"/>
              <a:ea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par>
                                <p:cTn id="10" presetID="2" presetClass="entr" presetSubtype="2" fill="hold" grpId="0" nodeType="withEffect">
                                  <p:stCondLst>
                                    <p:cond delay="0"/>
                                  </p:stCondLst>
                                  <p:iterate type="lt">
                                    <p:tmPct val="10000"/>
                                  </p:iterate>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1+#ppt_w/2"/>
                                          </p:val>
                                        </p:tav>
                                        <p:tav tm="100000">
                                          <p:val>
                                            <p:strVal val="#ppt_x"/>
                                          </p:val>
                                        </p:tav>
                                      </p:tavLst>
                                    </p:anim>
                                    <p:anim calcmode="lin" valueType="num">
                                      <p:cBhvr additive="base">
                                        <p:cTn id="13"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023360" y="2734491"/>
            <a:ext cx="3953691" cy="1107996"/>
          </a:xfrm>
          <a:prstGeom prst="rect">
            <a:avLst/>
          </a:prstGeom>
          <a:noFill/>
        </p:spPr>
        <p:txBody>
          <a:bodyPr wrap="square" rtlCol="0">
            <a:spAutoFit/>
          </a:bodyPr>
          <a:lstStyle/>
          <a:p>
            <a:r>
              <a:rPr lang="en-US" altLang="zh-CN" sz="6600" dirty="0" smtClean="0">
                <a:solidFill>
                  <a:srgbClr val="0070C0"/>
                </a:solidFill>
              </a:rPr>
              <a:t>Thank you!</a:t>
            </a:r>
            <a:endParaRPr lang="zh-CN" altLang="en-US" sz="6600" dirty="0">
              <a:solidFill>
                <a:srgbClr val="0070C0"/>
              </a:solidFill>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commondata" val="eyJoZGlkIjoiMGU3M2M1NWI5MDgwZjQ5YWY1N2I3ZjVlNjgxYzUzYW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3493</Words>
  <Application>WPS 演示</Application>
  <PresentationFormat>宽屏</PresentationFormat>
  <Paragraphs>190</Paragraphs>
  <Slides>18</Slides>
  <Notes>13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18</vt:i4>
      </vt:variant>
    </vt:vector>
  </HeadingPairs>
  <TitlesOfParts>
    <vt:vector size="29" baseType="lpstr">
      <vt:lpstr>Arial</vt:lpstr>
      <vt:lpstr>宋体</vt:lpstr>
      <vt:lpstr>Wingdings</vt:lpstr>
      <vt:lpstr>微软雅黑</vt:lpstr>
      <vt:lpstr>PingFang SC</vt:lpstr>
      <vt:lpstr>Segoe Print</vt:lpstr>
      <vt:lpstr>-apple-system</vt:lpstr>
      <vt:lpstr>Arial Unicode MS</vt:lpstr>
      <vt:lpstr>Calibri Light</vt:lpstr>
      <vt:lpstr>Calibri</vt:lpstr>
      <vt:lpstr>Office 主题</vt:lpstr>
      <vt:lpstr>以太网协议数据分析入门之TFTP</vt:lpstr>
      <vt:lpstr>PowerPoint 演示文稿</vt:lpstr>
      <vt:lpstr>PowerPoint 演示文稿</vt:lpstr>
      <vt:lpstr> </vt:lpstr>
      <vt:lpstr> </vt:lpstr>
      <vt:lpstr> 要启动传输过程，主要要求是服务器形成连接，以便它可以读取或写入要传输的文件。一旦建立连接，发送文件的过程就开始了。这些文件以 512 字节的固定长度块的小数据包传输。 </vt:lpstr>
      <vt:lpstr>这些数据包进一步分为块，每个包由一个块组成。</vt:lpstr>
      <vt:lpstr>现在要完全传输并得到确认，数据包至少应为 512 字节。如果数据包的大小小于 512 字节，则导致数据包终止。反过来，这会导致传输过程超时，发送方必须重新传输数据包。</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CCS2.0 OTA升级后讯飞应用数据丢失</dc:title>
  <dc:creator>董燕yz</dc:creator>
  <cp:lastModifiedBy>Popwinds</cp:lastModifiedBy>
  <cp:revision>656</cp:revision>
  <dcterms:created xsi:type="dcterms:W3CDTF">2022-01-19T01:59:00Z</dcterms:created>
  <dcterms:modified xsi:type="dcterms:W3CDTF">2023-12-02T08:48:05Z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2D7B1C5F974143BC83A5E41D82D8C81C_12</vt:lpwstr>
  </property>
  <property fmtid="{D5CDD505-2E9C-101B-9397-08002B2CF9AE}" pid="3" name="KSOProductBuildVer">
    <vt:lpwstr>2052-12.1.0.15990</vt:lpwstr>
  </property>
</Properties>
</file>