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1" r:id="rId2"/>
    <p:sldId id="327" r:id="rId3"/>
    <p:sldId id="328" r:id="rId4"/>
    <p:sldId id="323" r:id="rId5"/>
    <p:sldId id="329" r:id="rId6"/>
    <p:sldId id="330" r:id="rId7"/>
    <p:sldId id="332" r:id="rId8"/>
    <p:sldId id="333" r:id="rId9"/>
    <p:sldId id="334" r:id="rId10"/>
    <p:sldId id="326" r:id="rId11"/>
    <p:sldId id="335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712" autoAdjust="0"/>
  </p:normalViewPr>
  <p:slideViewPr>
    <p:cSldViewPr>
      <p:cViewPr varScale="1">
        <p:scale>
          <a:sx n="163" d="100"/>
          <a:sy n="163" d="100"/>
        </p:scale>
        <p:origin x="155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49F0E-5FC9-4776-8E1A-89FF7E51029B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0BE65-9758-4DE9-9F00-F2710704B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009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67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499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980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352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51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446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380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791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25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7"/>
          <p:cNvSpPr/>
          <p:nvPr userDrawn="1"/>
        </p:nvSpPr>
        <p:spPr>
          <a:xfrm>
            <a:off x="6637336" y="3"/>
            <a:ext cx="1157991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0"/>
          <p:cNvSpPr/>
          <p:nvPr userDrawn="1"/>
        </p:nvSpPr>
        <p:spPr>
          <a:xfrm>
            <a:off x="7666913" y="1"/>
            <a:ext cx="662532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7"/>
          <p:cNvSpPr/>
          <p:nvPr userDrawn="1"/>
        </p:nvSpPr>
        <p:spPr>
          <a:xfrm>
            <a:off x="8191242" y="3"/>
            <a:ext cx="952758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7"/>
          <p:cNvSpPr/>
          <p:nvPr userDrawn="1"/>
        </p:nvSpPr>
        <p:spPr>
          <a:xfrm>
            <a:off x="6" y="-1"/>
            <a:ext cx="677093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6256" y="6521639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32B2-4DBE-4785-835A-DDEAC061235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1" name="矩形 7"/>
          <p:cNvSpPr/>
          <p:nvPr userDrawn="1"/>
        </p:nvSpPr>
        <p:spPr>
          <a:xfrm>
            <a:off x="4427989" y="-1"/>
            <a:ext cx="2342955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6525344"/>
            <a:ext cx="6912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6948264" y="6525345"/>
            <a:ext cx="2195736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2343642" y="1804954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 dpi="0" rotWithShape="1">
            <a:blip r:embed="rId6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0"/>
          <p:cNvSpPr/>
          <p:nvPr/>
        </p:nvSpPr>
        <p:spPr>
          <a:xfrm>
            <a:off x="5158815" y="1804954"/>
            <a:ext cx="1839848" cy="1135901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7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7"/>
          <p:cNvSpPr/>
          <p:nvPr/>
        </p:nvSpPr>
        <p:spPr>
          <a:xfrm>
            <a:off x="6162746" y="1660936"/>
            <a:ext cx="2981261" cy="1279917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7"/>
          <p:cNvSpPr/>
          <p:nvPr/>
        </p:nvSpPr>
        <p:spPr>
          <a:xfrm>
            <a:off x="7" y="1804951"/>
            <a:ext cx="3203279" cy="129614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F:\朱建华工作文档\公司餐椅\航盛LOGO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54" y="117766"/>
            <a:ext cx="2528596" cy="69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7"/>
          <p:cNvSpPr/>
          <p:nvPr/>
        </p:nvSpPr>
        <p:spPr>
          <a:xfrm>
            <a:off x="3049247" y="0"/>
            <a:ext cx="3113499" cy="866630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7"/>
          <p:cNvSpPr/>
          <p:nvPr/>
        </p:nvSpPr>
        <p:spPr>
          <a:xfrm>
            <a:off x="971600" y="5717301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/>
        </p:nvSpPr>
        <p:spPr>
          <a:xfrm>
            <a:off x="0" y="3284984"/>
            <a:ext cx="2343636" cy="1135901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.android.google.cn/devices/architecture/hal-types?hl=zh-c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urce.android.google.cn/devices/tech/dalvik?hl=zh-c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71600" y="3573016"/>
            <a:ext cx="7668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CustomApi</a:t>
            </a:r>
            <a:r>
              <a:rPr lang="en-US" altLang="zh-CN" sz="3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 Apex</a:t>
            </a:r>
            <a:r>
              <a:rPr lang="zh-CN" altLang="en-US" sz="3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升级方案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8264" y="5661248"/>
            <a:ext cx="1835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编写人：张敏</a:t>
            </a:r>
            <a:endParaRPr lang="en-US" altLang="zh-CN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147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 rot="10800000" flipV="1">
            <a:off x="2241113" y="1412775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2263900" y="3285685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03</a:t>
            </a:r>
            <a:endParaRPr kumimoji="1" lang="zh-CN" altLang="en-US" sz="1600" b="1" dirty="0"/>
          </a:p>
        </p:txBody>
      </p:sp>
      <p:sp>
        <p:nvSpPr>
          <p:cNvPr id="8" name="文本框 79"/>
          <p:cNvSpPr txBox="1"/>
          <p:nvPr/>
        </p:nvSpPr>
        <p:spPr>
          <a:xfrm>
            <a:off x="3031286" y="146520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9" name="TextBox 39"/>
          <p:cNvSpPr txBox="1"/>
          <p:nvPr/>
        </p:nvSpPr>
        <p:spPr>
          <a:xfrm>
            <a:off x="698735" y="1867248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2032938" y="1268760"/>
            <a:ext cx="2" cy="345050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6" y="317531"/>
            <a:ext cx="1648920" cy="2088232"/>
          </a:xfrm>
          <a:prstGeom prst="rect">
            <a:avLst/>
          </a:prstGeom>
        </p:spPr>
      </p:pic>
      <p:sp>
        <p:nvSpPr>
          <p:cNvPr id="12" name="文本框 79"/>
          <p:cNvSpPr txBox="1"/>
          <p:nvPr/>
        </p:nvSpPr>
        <p:spPr>
          <a:xfrm>
            <a:off x="3017593" y="3338111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详细介绍</a:t>
            </a:r>
          </a:p>
        </p:txBody>
      </p:sp>
      <p:sp>
        <p:nvSpPr>
          <p:cNvPr id="13" name="椭圆 12"/>
          <p:cNvSpPr/>
          <p:nvPr/>
        </p:nvSpPr>
        <p:spPr>
          <a:xfrm rot="10800000" flipV="1">
            <a:off x="2251930" y="227984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02</a:t>
            </a:r>
            <a:endParaRPr kumimoji="1" lang="zh-CN" altLang="en-US" sz="1600" b="1" dirty="0"/>
          </a:p>
        </p:txBody>
      </p:sp>
      <p:sp>
        <p:nvSpPr>
          <p:cNvPr id="14" name="文本框 79"/>
          <p:cNvSpPr txBox="1"/>
          <p:nvPr/>
        </p:nvSpPr>
        <p:spPr>
          <a:xfrm>
            <a:off x="3028276" y="2384695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文件格式</a:t>
            </a:r>
          </a:p>
        </p:txBody>
      </p:sp>
      <p:sp>
        <p:nvSpPr>
          <p:cNvPr id="2" name="矩形 1"/>
          <p:cNvSpPr/>
          <p:nvPr/>
        </p:nvSpPr>
        <p:spPr>
          <a:xfrm>
            <a:off x="3028276" y="4163722"/>
            <a:ext cx="2210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开发指引</a:t>
            </a:r>
          </a:p>
        </p:txBody>
      </p:sp>
      <p:sp>
        <p:nvSpPr>
          <p:cNvPr id="17" name="椭圆 16"/>
          <p:cNvSpPr/>
          <p:nvPr/>
        </p:nvSpPr>
        <p:spPr>
          <a:xfrm rot="10800000" flipV="1">
            <a:off x="2275541" y="415275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04</a:t>
            </a:r>
            <a:endParaRPr kumimoji="1"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5949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1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2" grpId="0"/>
      <p:bldP spid="13" grpId="0" animBg="1"/>
      <p:bldP spid="14" grpId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620688"/>
            <a:ext cx="395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Apex: Android Pony Express(</a:t>
            </a:r>
            <a:r>
              <a:rPr lang="zh-CN" altLang="en-US" dirty="0"/>
              <a:t>小马快车</a:t>
            </a:r>
            <a:r>
              <a:rPr lang="en-US" altLang="zh-CN" dirty="0"/>
              <a:t>?)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392" y="1484784"/>
            <a:ext cx="89601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1.Android 10 </a:t>
            </a:r>
            <a:r>
              <a:rPr lang="zh-CN" altLang="en-US" dirty="0"/>
              <a:t>中引入的一种容器格式，用于较低级别系统模块的安装流程中。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此格式可帮助更新不适用于标准 </a:t>
            </a:r>
            <a:r>
              <a:rPr lang="en-US" altLang="zh-CN" dirty="0"/>
              <a:t>Android </a:t>
            </a:r>
            <a:r>
              <a:rPr lang="zh-CN" altLang="en-US" dirty="0"/>
              <a:t>应用模型的系统组件。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包括原生服务和原生库、硬件抽象层 </a:t>
            </a:r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HAL</a:t>
            </a:r>
            <a:r>
              <a:rPr lang="en-US" altLang="zh-CN" dirty="0"/>
              <a:t>))</a:t>
            </a:r>
            <a:r>
              <a:rPr lang="zh-CN" altLang="en-US" dirty="0"/>
              <a:t>、运行时 </a:t>
            </a:r>
            <a:r>
              <a:rPr lang="en-US" altLang="zh-CN" dirty="0"/>
              <a:t>(</a:t>
            </a:r>
            <a:r>
              <a:rPr lang="en-US" altLang="zh-CN" dirty="0">
                <a:hlinkClick r:id="rId4"/>
              </a:rPr>
              <a:t>ART</a:t>
            </a:r>
            <a:r>
              <a:rPr lang="en-US" altLang="zh-CN" dirty="0"/>
              <a:t>) </a:t>
            </a:r>
            <a:r>
              <a:rPr lang="zh-CN" altLang="en-US" dirty="0"/>
              <a:t>以及类库。</a:t>
            </a:r>
          </a:p>
        </p:txBody>
      </p:sp>
    </p:spTree>
    <p:extLst>
      <p:ext uri="{BB962C8B-B14F-4D97-AF65-F5344CB8AC3E}">
        <p14:creationId xmlns:p14="http://schemas.microsoft.com/office/powerpoint/2010/main" val="202403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文件格式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620688"/>
            <a:ext cx="820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Apex</a:t>
            </a:r>
            <a:r>
              <a:rPr lang="zh-CN" altLang="en-US" dirty="0"/>
              <a:t>：</a:t>
            </a:r>
            <a:r>
              <a:rPr lang="en-US" altLang="zh-CN" dirty="0"/>
              <a:t>Android 10 </a:t>
            </a:r>
            <a:r>
              <a:rPr lang="zh-CN" altLang="en-US" dirty="0"/>
              <a:t>中引入的一种容器格式，用于较低级别系统模块的安装流程中</a:t>
            </a:r>
          </a:p>
        </p:txBody>
      </p:sp>
      <p:sp>
        <p:nvSpPr>
          <p:cNvPr id="6" name="矩形 5"/>
          <p:cNvSpPr/>
          <p:nvPr/>
        </p:nvSpPr>
        <p:spPr>
          <a:xfrm>
            <a:off x="107504" y="1487586"/>
            <a:ext cx="1574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Apex</a:t>
            </a:r>
            <a:r>
              <a:rPr lang="zh-CN" altLang="en-US" dirty="0"/>
              <a:t>容器格式</a:t>
            </a:r>
          </a:p>
        </p:txBody>
      </p:sp>
      <p:sp>
        <p:nvSpPr>
          <p:cNvPr id="7" name="矩形 6"/>
          <p:cNvSpPr/>
          <p:nvPr/>
        </p:nvSpPr>
        <p:spPr>
          <a:xfrm>
            <a:off x="179512" y="5125415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apex_manifest.json</a:t>
            </a:r>
            <a:r>
              <a:rPr lang="en-US" altLang="zh-CN" dirty="0"/>
              <a:t>		</a:t>
            </a:r>
            <a:r>
              <a:rPr lang="zh-CN" altLang="en-US" dirty="0"/>
              <a:t>软件包名称和版本号</a:t>
            </a:r>
            <a:endParaRPr lang="en-US" altLang="zh-CN" dirty="0"/>
          </a:p>
          <a:p>
            <a:r>
              <a:rPr lang="en-US" altLang="zh-CN" dirty="0"/>
              <a:t>AndroidManifest.xml 	 Apex</a:t>
            </a:r>
            <a:r>
              <a:rPr lang="zh-CN" altLang="en-US" dirty="0"/>
              <a:t>配置文件</a:t>
            </a:r>
            <a:endParaRPr lang="en-US" altLang="zh-CN" dirty="0"/>
          </a:p>
          <a:p>
            <a:r>
              <a:rPr lang="en-US" altLang="zh-CN" dirty="0" err="1"/>
              <a:t>apex_pubkey</a:t>
            </a:r>
            <a:r>
              <a:rPr lang="en-US" altLang="zh-CN" dirty="0"/>
              <a:t>		</a:t>
            </a:r>
            <a:r>
              <a:rPr lang="zh-CN" altLang="en-US" dirty="0"/>
              <a:t>文件系统签名公钥</a:t>
            </a:r>
            <a:endParaRPr lang="en-US" altLang="zh-CN" dirty="0"/>
          </a:p>
          <a:p>
            <a:r>
              <a:rPr lang="en-US" altLang="zh-CN" dirty="0" err="1"/>
              <a:t>apex_payload.img</a:t>
            </a:r>
            <a:r>
              <a:rPr lang="en-US" altLang="zh-CN" dirty="0"/>
              <a:t>		</a:t>
            </a:r>
            <a:r>
              <a:rPr lang="zh-CN" altLang="en-US" dirty="0"/>
              <a:t>包含具体所需升级文件</a:t>
            </a:r>
            <a:r>
              <a:rPr lang="en-US" altLang="zh-CN" dirty="0"/>
              <a:t>(jar/.so/</a:t>
            </a:r>
            <a:r>
              <a:rPr lang="en-US" altLang="zh-CN" dirty="0" err="1"/>
              <a:t>apk</a:t>
            </a:r>
            <a:r>
              <a:rPr lang="en-US" altLang="zh-CN" dirty="0"/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53" y="1933060"/>
            <a:ext cx="5414926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1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文件详细介绍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3528" y="764704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1.Apex</a:t>
            </a:r>
            <a:r>
              <a:rPr lang="zh-CN" altLang="en-US" dirty="0"/>
              <a:t>管理器</a:t>
            </a:r>
            <a:r>
              <a:rPr lang="en-US" altLang="zh-CN" dirty="0"/>
              <a:t>(</a:t>
            </a:r>
            <a:r>
              <a:rPr lang="en-US" altLang="zh-CN" dirty="0" err="1"/>
              <a:t>apexd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原生进程，负责验证、安装、卸载</a:t>
            </a:r>
            <a:r>
              <a:rPr lang="en-US" altLang="zh-CN" dirty="0"/>
              <a:t>Apex</a:t>
            </a:r>
            <a:r>
              <a:rPr lang="zh-CN" altLang="en-US" dirty="0"/>
              <a:t>文件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2.Apex</a:t>
            </a:r>
            <a:r>
              <a:rPr lang="zh-CN" altLang="en-US" dirty="0"/>
              <a:t>通过使用</a:t>
            </a:r>
            <a:r>
              <a:rPr lang="en-US" altLang="zh-CN" dirty="0" err="1"/>
              <a:t>PackageManager</a:t>
            </a:r>
            <a:r>
              <a:rPr lang="zh-CN" altLang="en-US" dirty="0"/>
              <a:t> </a:t>
            </a:r>
            <a:r>
              <a:rPr lang="en-US" altLang="zh-CN" dirty="0"/>
              <a:t> Install</a:t>
            </a:r>
            <a:r>
              <a:rPr lang="zh-CN" altLang="en-US" dirty="0"/>
              <a:t>方式安装</a:t>
            </a:r>
            <a:r>
              <a:rPr lang="en-US" altLang="zh-CN" dirty="0"/>
              <a:t>/</a:t>
            </a:r>
            <a:r>
              <a:rPr lang="zh-CN" altLang="en-US" dirty="0"/>
              <a:t>升级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3.APEX </a:t>
            </a:r>
            <a:r>
              <a:rPr lang="zh-CN" altLang="en-US" dirty="0"/>
              <a:t>格式支持以下文件类型：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原生共享库</a:t>
            </a:r>
          </a:p>
          <a:p>
            <a:r>
              <a:rPr lang="zh-CN" altLang="en-US" dirty="0"/>
              <a:t>    原生可执行文件</a:t>
            </a:r>
          </a:p>
          <a:p>
            <a:r>
              <a:rPr lang="en-US" altLang="zh-CN" dirty="0"/>
              <a:t>    JAR </a:t>
            </a:r>
            <a:r>
              <a:rPr lang="zh-CN" altLang="en-US" dirty="0"/>
              <a:t>文件</a:t>
            </a:r>
          </a:p>
          <a:p>
            <a:r>
              <a:rPr lang="zh-CN" altLang="en-US" dirty="0"/>
              <a:t>   数据文件</a:t>
            </a:r>
          </a:p>
          <a:p>
            <a:r>
              <a:rPr lang="zh-CN" altLang="en-US" dirty="0"/>
              <a:t>   配置文件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1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开发指引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CustomApi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12776"/>
            <a:ext cx="4467849" cy="16861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3528" y="836712"/>
            <a:ext cx="2370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1.CustomApi</a:t>
            </a:r>
            <a:r>
              <a:rPr lang="zh-CN" altLang="en-US" dirty="0"/>
              <a:t>工程目录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131210" y="838559"/>
            <a:ext cx="3456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2.CustomApi  </a:t>
            </a:r>
            <a:r>
              <a:rPr lang="en-US" altLang="zh-CN" dirty="0" err="1"/>
              <a:t>Android.bp</a:t>
            </a:r>
            <a:r>
              <a:rPr lang="zh-CN" altLang="en-US" dirty="0"/>
              <a:t>配置对应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709" y="1412777"/>
            <a:ext cx="3980667" cy="432048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3534" y="3721470"/>
            <a:ext cx="50205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CustomApi</a:t>
            </a:r>
            <a:r>
              <a:rPr lang="en-US" altLang="zh-CN" dirty="0"/>
              <a:t>  </a:t>
            </a:r>
            <a:r>
              <a:rPr lang="en-US" altLang="zh-CN" dirty="0" err="1"/>
              <a:t>Android.bp</a:t>
            </a:r>
            <a:r>
              <a:rPr lang="zh-CN" altLang="en-US" dirty="0"/>
              <a:t>配置说明</a:t>
            </a:r>
            <a:endParaRPr lang="en-US" altLang="zh-CN" dirty="0"/>
          </a:p>
          <a:p>
            <a:r>
              <a:rPr lang="en-US" altLang="zh-CN" dirty="0"/>
              <a:t>1.sdk_version:</a:t>
            </a:r>
            <a:r>
              <a:rPr lang="zh-CN" altLang="en-US" dirty="0"/>
              <a:t>当前</a:t>
            </a:r>
            <a:r>
              <a:rPr lang="en-US" altLang="zh-CN" dirty="0" err="1"/>
              <a:t>sdk</a:t>
            </a:r>
            <a:r>
              <a:rPr lang="en-US" altLang="zh-CN" dirty="0"/>
              <a:t>/jar</a:t>
            </a:r>
            <a:r>
              <a:rPr lang="zh-CN" altLang="en-US" dirty="0"/>
              <a:t>包版本号</a:t>
            </a:r>
            <a:r>
              <a:rPr lang="en-US" altLang="zh-CN" dirty="0"/>
              <a:t>(</a:t>
            </a:r>
            <a:r>
              <a:rPr lang="zh-CN" altLang="en-US" dirty="0"/>
              <a:t>必选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2.jarjar_rules:</a:t>
            </a:r>
            <a:r>
              <a:rPr lang="zh-CN" altLang="en-US" dirty="0"/>
              <a:t>混淆配置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3.installable:</a:t>
            </a:r>
            <a:r>
              <a:rPr lang="zh-CN" altLang="en-US" dirty="0"/>
              <a:t>该</a:t>
            </a:r>
            <a:r>
              <a:rPr lang="en-US" altLang="zh-CN" dirty="0"/>
              <a:t>jar</a:t>
            </a:r>
            <a:r>
              <a:rPr lang="zh-CN" altLang="en-US" dirty="0"/>
              <a:t>是否支持</a:t>
            </a:r>
            <a:r>
              <a:rPr lang="en-US" altLang="zh-CN" dirty="0"/>
              <a:t>install(</a:t>
            </a:r>
            <a:r>
              <a:rPr lang="zh-CN" altLang="en-US" dirty="0"/>
              <a:t>必选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4.visiblility:public</a:t>
            </a:r>
            <a:r>
              <a:rPr lang="zh-CN" altLang="en-US" dirty="0"/>
              <a:t>即可</a:t>
            </a:r>
            <a:endParaRPr lang="en-US" altLang="zh-CN" dirty="0"/>
          </a:p>
          <a:p>
            <a:r>
              <a:rPr lang="en-US" altLang="zh-CN" dirty="0"/>
              <a:t>5.impl_library_visibility:</a:t>
            </a:r>
            <a:r>
              <a:rPr lang="zh-CN" altLang="en-US" dirty="0"/>
              <a:t>指定子类实现包名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可选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6.apex_available:</a:t>
            </a:r>
            <a:r>
              <a:rPr lang="zh-CN" altLang="en-US" dirty="0">
                <a:sym typeface="Wingdings" panose="05000000000000000000" pitchFamily="2" charset="2"/>
              </a:rPr>
              <a:t>指定该</a:t>
            </a:r>
            <a:r>
              <a:rPr lang="en-US" altLang="zh-CN" dirty="0">
                <a:sym typeface="Wingdings" panose="05000000000000000000" pitchFamily="2" charset="2"/>
              </a:rPr>
              <a:t>jar</a:t>
            </a:r>
            <a:r>
              <a:rPr lang="zh-CN" altLang="en-US" dirty="0">
                <a:sym typeface="Wingdings" panose="05000000000000000000" pitchFamily="2" charset="2"/>
              </a:rPr>
              <a:t>包可被打包到的对应</a:t>
            </a:r>
            <a:r>
              <a:rPr lang="en-US" altLang="zh-CN" dirty="0">
                <a:sym typeface="Wingdings" panose="05000000000000000000" pitchFamily="2" charset="2"/>
              </a:rPr>
              <a:t>apex</a:t>
            </a:r>
            <a:r>
              <a:rPr lang="zh-CN" altLang="en-US" dirty="0">
                <a:sym typeface="Wingdings" panose="05000000000000000000" pitchFamily="2" charset="2"/>
              </a:rPr>
              <a:t>的包名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必选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7.permitted_packages:</a:t>
            </a:r>
            <a:r>
              <a:rPr lang="zh-CN" altLang="en-US" dirty="0">
                <a:sym typeface="Wingdings" panose="05000000000000000000" pitchFamily="2" charset="2"/>
              </a:rPr>
              <a:t>指定可被使用源文件对应包名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必选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05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开发指引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CustomApi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836712"/>
            <a:ext cx="1750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1.Apex</a:t>
            </a:r>
            <a:r>
              <a:rPr lang="zh-CN" altLang="en-US" dirty="0"/>
              <a:t>工程目录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131210" y="838559"/>
            <a:ext cx="2907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2.Apex  </a:t>
            </a:r>
            <a:r>
              <a:rPr lang="en-US" altLang="zh-CN" dirty="0" err="1"/>
              <a:t>Android.bp</a:t>
            </a:r>
            <a:r>
              <a:rPr lang="zh-CN" altLang="en-US" dirty="0"/>
              <a:t>配置对应</a:t>
            </a:r>
            <a:endParaRPr lang="en-US" altLang="zh-CN" dirty="0"/>
          </a:p>
        </p:txBody>
      </p:sp>
      <p:sp>
        <p:nvSpPr>
          <p:cNvPr id="9" name="矩形 8"/>
          <p:cNvSpPr/>
          <p:nvPr/>
        </p:nvSpPr>
        <p:spPr>
          <a:xfrm>
            <a:off x="524158" y="3241209"/>
            <a:ext cx="4139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Apex  </a:t>
            </a:r>
            <a:r>
              <a:rPr lang="zh-CN" altLang="en-US" dirty="0"/>
              <a:t>目录结构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13" y="1484784"/>
            <a:ext cx="4410691" cy="13622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893" y="1673654"/>
            <a:ext cx="2610467" cy="22888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156448" y="4373489"/>
            <a:ext cx="4139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Apex  </a:t>
            </a:r>
            <a:r>
              <a:rPr lang="en-US" altLang="zh-CN" dirty="0" err="1"/>
              <a:t>Android.bp</a:t>
            </a:r>
            <a:r>
              <a:rPr lang="zh-CN" altLang="en-US" dirty="0"/>
              <a:t>配置说明</a:t>
            </a:r>
            <a:endParaRPr lang="en-US" altLang="zh-CN" dirty="0"/>
          </a:p>
          <a:p>
            <a:r>
              <a:rPr lang="en-US" altLang="zh-CN" dirty="0"/>
              <a:t>1.name:apex</a:t>
            </a:r>
            <a:r>
              <a:rPr lang="zh-CN" altLang="en-US" dirty="0"/>
              <a:t>文件包名</a:t>
            </a:r>
            <a:r>
              <a:rPr lang="en-US" altLang="zh-CN" dirty="0"/>
              <a:t>(</a:t>
            </a:r>
            <a:r>
              <a:rPr lang="zh-CN" altLang="en-US" dirty="0"/>
              <a:t>必选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2.Manifest:</a:t>
            </a:r>
            <a:r>
              <a:rPr lang="zh-CN" altLang="en-US" dirty="0"/>
              <a:t>包名及版本号配置</a:t>
            </a:r>
            <a:r>
              <a:rPr lang="en-US" altLang="zh-CN" dirty="0"/>
              <a:t>(</a:t>
            </a:r>
            <a:r>
              <a:rPr lang="zh-CN" altLang="en-US" dirty="0"/>
              <a:t>必选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3.min_sdk_version:</a:t>
            </a:r>
            <a:r>
              <a:rPr lang="zh-CN" altLang="en-US" dirty="0"/>
              <a:t>最小</a:t>
            </a:r>
            <a:r>
              <a:rPr lang="en-US" altLang="zh-CN" dirty="0" err="1"/>
              <a:t>sdk</a:t>
            </a:r>
            <a:r>
              <a:rPr lang="zh-CN" altLang="en-US" dirty="0"/>
              <a:t>版本号 </a:t>
            </a:r>
            <a:r>
              <a:rPr lang="en-US" altLang="zh-CN" dirty="0"/>
              <a:t>(</a:t>
            </a:r>
            <a:r>
              <a:rPr lang="zh-CN" altLang="en-US" dirty="0"/>
              <a:t>必选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4.java_libs :</a:t>
            </a:r>
            <a:r>
              <a:rPr lang="zh-CN" altLang="en-US" dirty="0"/>
              <a:t>需要打包到该</a:t>
            </a:r>
            <a:r>
              <a:rPr lang="en-US" altLang="zh-CN" dirty="0"/>
              <a:t>apex</a:t>
            </a:r>
            <a:r>
              <a:rPr lang="zh-CN" altLang="en-US" dirty="0"/>
              <a:t>文件的</a:t>
            </a:r>
            <a:r>
              <a:rPr lang="en-US" altLang="zh-CN" dirty="0"/>
              <a:t>jar</a:t>
            </a:r>
            <a:r>
              <a:rPr lang="zh-CN" altLang="en-US" dirty="0"/>
              <a:t>包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5.key:apex</a:t>
            </a:r>
            <a:r>
              <a:rPr lang="zh-CN" altLang="en-US" dirty="0">
                <a:sym typeface="Wingdings" panose="05000000000000000000" pitchFamily="2" charset="2"/>
              </a:rPr>
              <a:t>文件对应</a:t>
            </a:r>
            <a:r>
              <a:rPr lang="en-US" altLang="zh-CN" dirty="0">
                <a:sym typeface="Wingdings" panose="05000000000000000000" pitchFamily="2" charset="2"/>
              </a:rPr>
              <a:t>Key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必选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6.certificate :</a:t>
            </a:r>
            <a:r>
              <a:rPr lang="zh-CN" altLang="en-US" dirty="0">
                <a:sym typeface="Wingdings" panose="05000000000000000000" pitchFamily="2" charset="2"/>
              </a:rPr>
              <a:t>指定平台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必选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494076" y="3610541"/>
            <a:ext cx="45819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Android.bp</a:t>
            </a:r>
            <a:r>
              <a:rPr lang="en-US" altLang="zh-CN" dirty="0"/>
              <a:t>	apex</a:t>
            </a:r>
            <a:r>
              <a:rPr lang="zh-CN" altLang="en-US" dirty="0"/>
              <a:t>文件编译脚本</a:t>
            </a:r>
            <a:endParaRPr lang="en-US" altLang="zh-CN" dirty="0"/>
          </a:p>
          <a:p>
            <a:r>
              <a:rPr lang="en-US" altLang="zh-CN" dirty="0"/>
              <a:t>AndroidManifest.xml  </a:t>
            </a:r>
            <a:r>
              <a:rPr lang="zh-CN" altLang="en-US" dirty="0"/>
              <a:t>配置文件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Apex_manifest.json</a:t>
            </a:r>
            <a:r>
              <a:rPr lang="en-US" altLang="zh-CN" dirty="0"/>
              <a:t> apex</a:t>
            </a:r>
            <a:r>
              <a:rPr lang="zh-CN" altLang="en-US" dirty="0"/>
              <a:t>文件包名及版本号</a:t>
            </a:r>
            <a:endParaRPr lang="en-US" altLang="zh-CN" dirty="0"/>
          </a:p>
          <a:p>
            <a:r>
              <a:rPr lang="en-US" altLang="zh-CN" dirty="0" err="1"/>
              <a:t>com.dfl.customapi.pem</a:t>
            </a:r>
            <a:r>
              <a:rPr lang="en-US" altLang="zh-CN" dirty="0"/>
              <a:t> apex</a:t>
            </a:r>
            <a:r>
              <a:rPr lang="zh-CN" altLang="en-US" dirty="0"/>
              <a:t>文件签名私钥</a:t>
            </a:r>
            <a:endParaRPr lang="en-US" altLang="zh-CN" dirty="0"/>
          </a:p>
          <a:p>
            <a:r>
              <a:rPr lang="en-US" altLang="zh-CN" dirty="0" err="1"/>
              <a:t>com.dfl.customapi.avbpubkey</a:t>
            </a:r>
            <a:r>
              <a:rPr lang="zh-CN" altLang="en-US" dirty="0"/>
              <a:t>文件签名公钥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881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开发指引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编译配置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836712"/>
            <a:ext cx="322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配置支持</a:t>
            </a:r>
            <a:r>
              <a:rPr lang="en-US" altLang="zh-CN" dirty="0"/>
              <a:t>Apex</a:t>
            </a:r>
            <a:r>
              <a:rPr lang="zh-CN" altLang="en-US" dirty="0"/>
              <a:t>文件</a:t>
            </a:r>
            <a:r>
              <a:rPr lang="en-US" altLang="zh-CN" dirty="0"/>
              <a:t>Install</a:t>
            </a:r>
            <a:r>
              <a:rPr lang="zh-CN" altLang="en-US" dirty="0"/>
              <a:t>安装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51646"/>
            <a:ext cx="3623369" cy="133037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51520" y="2780928"/>
            <a:ext cx="4724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2.Apex(</a:t>
            </a:r>
            <a:r>
              <a:rPr lang="en-US" altLang="zh-CN" dirty="0" err="1"/>
              <a:t>CustomApi</a:t>
            </a:r>
            <a:r>
              <a:rPr lang="en-US" altLang="zh-CN" dirty="0"/>
              <a:t>)</a:t>
            </a:r>
            <a:r>
              <a:rPr lang="zh-CN" altLang="en-US" dirty="0"/>
              <a:t>文件打包及</a:t>
            </a:r>
            <a:r>
              <a:rPr lang="en-US" altLang="zh-CN" dirty="0"/>
              <a:t>BOOT_JAR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433304" y="3187332"/>
            <a:ext cx="70326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android/build/make/target/product</a:t>
            </a:r>
            <a:r>
              <a:rPr lang="en-US" altLang="zh-CN" dirty="0"/>
              <a:t>/base_system.mk</a:t>
            </a:r>
            <a:r>
              <a:rPr lang="zh-CN" altLang="en-US" dirty="0"/>
              <a:t>修改该配置如下：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346161" y="3732235"/>
            <a:ext cx="388843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panose="020B0604020202020204" pitchFamily="34" charset="-122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panose="020B0604020202020204" pitchFamily="34" charset="-122"/>
                <a:ea typeface="JetBrains Mono"/>
              </a:rPr>
              <a:t>PRODUCT_PACKAGES +=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panose="020B0604020202020204" pitchFamily="34" charset="-122"/>
                <a:ea typeface="JetBrains Mono"/>
              </a:rPr>
              <a:t> </a:t>
            </a:r>
            <a:r>
              <a:rPr lang="en-US" altLang="zh-CN" sz="1200" dirty="0" err="1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com.dfl.customapi</a:t>
            </a:r>
            <a:r>
              <a:rPr lang="en-US" altLang="zh-CN" sz="1200" dirty="0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 /</a:t>
            </a:r>
            <a:endParaRPr lang="zh-CN" altLang="zh-CN" sz="1200" dirty="0">
              <a:solidFill>
                <a:srgbClr val="080808"/>
              </a:solidFill>
              <a:latin typeface="Arial Unicode MS" panose="020B0604020202020204" pitchFamily="34" charset="-122"/>
              <a:ea typeface="JetBrains Mono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33304" y="4171013"/>
            <a:ext cx="5248553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panose="020B0604020202020204" pitchFamily="34" charset="-122"/>
                <a:ea typeface="JetBrains Mono"/>
              </a:rPr>
              <a:t>PRODUCT_UPDATABLE_BOOT_JARS := </a:t>
            </a:r>
            <a:r>
              <a:rPr lang="en-US" altLang="zh-CN" sz="1200" dirty="0" err="1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com.dfl.customapi</a:t>
            </a:r>
            <a:r>
              <a:rPr lang="en-US" altLang="zh-CN" sz="1200" dirty="0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 :</a:t>
            </a:r>
            <a:r>
              <a:rPr lang="en-US" altLang="zh-CN" sz="1200" dirty="0" err="1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customapi</a:t>
            </a:r>
            <a:r>
              <a:rPr lang="en-US" altLang="zh-CN" sz="1200" dirty="0">
                <a:solidFill>
                  <a:srgbClr val="080808"/>
                </a:solidFill>
                <a:latin typeface="Arial Unicode MS" panose="020B0604020202020204" pitchFamily="34" charset="-122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panose="020B0604020202020204" pitchFamily="34" charset="-122"/>
                <a:ea typeface="JetBrains Mono"/>
              </a:rPr>
              <a:t>\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1738" y="4785362"/>
            <a:ext cx="7119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配置</a:t>
            </a:r>
            <a:r>
              <a:rPr lang="en-US" altLang="zh-CN" dirty="0"/>
              <a:t>Apex(</a:t>
            </a:r>
            <a:r>
              <a:rPr lang="en-US" altLang="zh-CN" dirty="0" err="1"/>
              <a:t>customapi</a:t>
            </a:r>
            <a:r>
              <a:rPr lang="en-US" altLang="zh-CN" dirty="0"/>
              <a:t> </a:t>
            </a:r>
            <a:r>
              <a:rPr lang="en-US" altLang="zh-CN" dirty="0" err="1"/>
              <a:t>selinux</a:t>
            </a:r>
            <a:r>
              <a:rPr lang="zh-CN" altLang="en-US" dirty="0"/>
              <a:t>权限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android/system/</a:t>
            </a:r>
            <a:r>
              <a:rPr lang="en-US" altLang="zh-CN" dirty="0" err="1"/>
              <a:t>sepolicy</a:t>
            </a:r>
            <a:r>
              <a:rPr lang="en-US" altLang="zh-CN" dirty="0"/>
              <a:t>/apex</a:t>
            </a:r>
            <a:r>
              <a:rPr lang="zh-CN" altLang="en-US" dirty="0"/>
              <a:t>增加 </a:t>
            </a:r>
            <a:r>
              <a:rPr lang="en-US" altLang="zh-CN" dirty="0" err="1"/>
              <a:t>com.dfl.customapi-file_context</a:t>
            </a:r>
            <a:r>
              <a:rPr lang="zh-CN" altLang="en-US" dirty="0"/>
              <a:t>文件</a:t>
            </a:r>
            <a:endParaRPr lang="en-US" altLang="zh-CN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460407"/>
              </p:ext>
            </p:extLst>
          </p:nvPr>
        </p:nvGraphicFramePr>
        <p:xfrm>
          <a:off x="6732240" y="4448012"/>
          <a:ext cx="22431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2243160" imgH="552600" progId="Package">
                  <p:embed/>
                </p:oleObj>
              </mc:Choice>
              <mc:Fallback>
                <p:oleObj name="包装程序外壳对象" showAsIcon="1" r:id="rId4" imgW="2243160" imgH="5526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32240" y="4448012"/>
                        <a:ext cx="2243138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933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836712"/>
            <a:ext cx="7119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使用工具生成</a:t>
            </a:r>
            <a:r>
              <a:rPr lang="en-US" altLang="zh-CN" dirty="0"/>
              <a:t>Apex</a:t>
            </a:r>
            <a:r>
              <a:rPr lang="zh-CN" altLang="en-US" dirty="0"/>
              <a:t>文件所需密钥</a:t>
            </a:r>
            <a:endParaRPr lang="en-US" altLang="zh-CN" dirty="0"/>
          </a:p>
          <a:p>
            <a:r>
              <a:rPr lang="en-US" altLang="zh-CN" dirty="0"/>
              <a:t>    android/system/</a:t>
            </a:r>
            <a:r>
              <a:rPr lang="en-US" altLang="zh-CN" dirty="0" err="1"/>
              <a:t>sepolicy</a:t>
            </a:r>
            <a:r>
              <a:rPr lang="en-US" altLang="zh-CN" dirty="0"/>
              <a:t>/apex</a:t>
            </a:r>
            <a:r>
              <a:rPr lang="zh-CN" altLang="en-US" dirty="0"/>
              <a:t>增加 </a:t>
            </a:r>
            <a:r>
              <a:rPr lang="en-US" altLang="zh-CN" dirty="0" err="1"/>
              <a:t>com.dfl.customapi-file_context</a:t>
            </a:r>
            <a:r>
              <a:rPr lang="zh-CN" altLang="en-US" dirty="0"/>
              <a:t>文件</a:t>
            </a:r>
            <a:endParaRPr lang="en-US" altLang="zh-CN" dirty="0"/>
          </a:p>
        </p:txBody>
      </p:sp>
      <p:sp>
        <p:nvSpPr>
          <p:cNvPr id="16" name="矩形 15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开发指引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编译配置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1520" y="1803594"/>
            <a:ext cx="47147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# create an rsa key pair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openssl genrsa -out </a:t>
            </a:r>
            <a:r>
              <a:rPr lang="en-US" altLang="zh-CN" sz="1600" dirty="0" err="1">
                <a:latin typeface="Arial Unicode MS" panose="020B0604020202020204" pitchFamily="34" charset="-122"/>
              </a:rPr>
              <a:t>com.dfl.customapi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.pem 4096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1520" y="2708920"/>
            <a:ext cx="57356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#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extract the public key from the key pair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</a:br>
            <a:r>
              <a:rPr lang="en-US" altLang="zh-CN" sz="1400" dirty="0">
                <a:latin typeface="Arial Unicode MS" panose="020B0604020202020204" pitchFamily="34" charset="-122"/>
              </a:rPr>
              <a:t>android/external/</a:t>
            </a:r>
            <a:r>
              <a:rPr lang="en-US" altLang="zh-CN" sz="1400" dirty="0" err="1">
                <a:latin typeface="Arial Unicode MS" panose="020B0604020202020204" pitchFamily="34" charset="-122"/>
              </a:rPr>
              <a:t>avb</a:t>
            </a:r>
            <a:r>
              <a:rPr lang="en-US" altLang="zh-CN" sz="1400" dirty="0">
                <a:latin typeface="Arial Unicode MS" panose="020B0604020202020204" pitchFamily="34" charset="-122"/>
              </a:rPr>
              <a:t>/</a:t>
            </a:r>
            <a:r>
              <a:rPr lang="en-US" altLang="zh-CN" sz="1400" dirty="0" err="1">
                <a:latin typeface="Arial Unicode MS" panose="020B0604020202020204" pitchFamily="34" charset="-122"/>
              </a:rPr>
              <a:t>avbtool</a:t>
            </a:r>
            <a:r>
              <a:rPr lang="en-US" altLang="zh-CN" sz="1400" dirty="0">
                <a:latin typeface="Arial Unicode MS" panose="020B0604020202020204" pitchFamily="34" charset="-122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extract_public_key --key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com.dfl.customapi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.pem --output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com.dfl.customapi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.avbpubkey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-26713" y="3861048"/>
            <a:ext cx="48525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5.Apex customapi.jar</a:t>
            </a:r>
            <a:r>
              <a:rPr lang="zh-CN" altLang="en-US" dirty="0"/>
              <a:t>加入到</a:t>
            </a:r>
            <a:r>
              <a:rPr lang="en-US" altLang="zh-CN" dirty="0"/>
              <a:t>zygote</a:t>
            </a:r>
            <a:r>
              <a:rPr lang="zh-CN" altLang="en-US" dirty="0"/>
              <a:t>白名单</a:t>
            </a:r>
            <a:endParaRPr lang="en-US" altLang="zh-CN" dirty="0"/>
          </a:p>
          <a:p>
            <a:r>
              <a:rPr lang="en-US" altLang="zh-CN" dirty="0"/>
              <a:t>    android/frameworks/base/core/</a:t>
            </a:r>
            <a:r>
              <a:rPr lang="en-US" altLang="zh-CN" dirty="0" err="1"/>
              <a:t>jni</a:t>
            </a:r>
            <a:r>
              <a:rPr lang="en-US" altLang="zh-CN" dirty="0"/>
              <a:t>/fd_utils.cpp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62" y="4507379"/>
            <a:ext cx="824980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5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Apex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升级流程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836712"/>
            <a:ext cx="4878210" cy="491010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5536" y="2204864"/>
            <a:ext cx="3024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1.Apex</a:t>
            </a:r>
            <a:r>
              <a:rPr lang="zh-CN" altLang="en-US" dirty="0"/>
              <a:t>升级包需重启系统后生效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2.AppStore</a:t>
            </a:r>
            <a:r>
              <a:rPr lang="zh-CN" altLang="en-US" dirty="0"/>
              <a:t>供应商需根据下载安装升级包文件类型判断安装成功是否重启系统</a:t>
            </a:r>
          </a:p>
        </p:txBody>
      </p:sp>
    </p:spTree>
    <p:extLst>
      <p:ext uri="{BB962C8B-B14F-4D97-AF65-F5344CB8AC3E}">
        <p14:creationId xmlns:p14="http://schemas.microsoft.com/office/powerpoint/2010/main" val="1618859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6"/>
          <p:cNvSpPr txBox="1"/>
          <p:nvPr/>
        </p:nvSpPr>
        <p:spPr>
          <a:xfrm>
            <a:off x="2411760" y="2392432"/>
            <a:ext cx="5112568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sym typeface="Arial" panose="020B0604020202020204" pitchFamily="34" charset="0"/>
              </a:rPr>
              <a:t>感谢聆听 批评指导</a:t>
            </a:r>
            <a:endParaRPr lang="en-US" sz="4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095500" y="2641600"/>
            <a:ext cx="5644852" cy="631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50181" tIns="75091" rIns="150181" bIns="75091"/>
          <a:lstStyle/>
          <a:p>
            <a:pPr defTabSz="882650">
              <a:spcBef>
                <a:spcPct val="2000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Calibri" panose="020F0502020204030204" pitchFamily="34" charset="0"/>
              </a:rPr>
              <a:t>会议结束，谢谢大家</a:t>
            </a:r>
          </a:p>
        </p:txBody>
      </p:sp>
      <p:sp>
        <p:nvSpPr>
          <p:cNvPr id="14" name="文本框 1"/>
          <p:cNvSpPr txBox="1"/>
          <p:nvPr/>
        </p:nvSpPr>
        <p:spPr>
          <a:xfrm>
            <a:off x="2595155" y="2875002"/>
            <a:ext cx="4569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dirty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扬州航盛PPT标准化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扬州航盛PPT标准化模版</Template>
  <TotalTime>33414</TotalTime>
  <Words>797</Words>
  <Application>Microsoft Office PowerPoint</Application>
  <PresentationFormat>全屏显示(4:3)</PresentationFormat>
  <Paragraphs>97</Paragraphs>
  <Slides>11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 Unicode MS</vt:lpstr>
      <vt:lpstr>方正正准黑简体</vt:lpstr>
      <vt:lpstr>黑体</vt:lpstr>
      <vt:lpstr>微软雅黑</vt:lpstr>
      <vt:lpstr>Arial</vt:lpstr>
      <vt:lpstr>Calibri</vt:lpstr>
      <vt:lpstr>Wingdings</vt:lpstr>
      <vt:lpstr>扬州航盛PPT标准化模版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liqinwen</dc:creator>
  <cp:lastModifiedBy>Administrator</cp:lastModifiedBy>
  <cp:revision>954</cp:revision>
  <dcterms:created xsi:type="dcterms:W3CDTF">2016-10-24T03:51:00Z</dcterms:created>
  <dcterms:modified xsi:type="dcterms:W3CDTF">2025-07-11T07:20:49Z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