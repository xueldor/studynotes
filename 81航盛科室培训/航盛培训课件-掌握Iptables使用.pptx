
<file path=[Content_Types].xml><?xml version="1.0" encoding="utf-8"?>
<Types xmlns="http://schemas.openxmlformats.org/package/2006/content-types">
  <Override PartName="/ppt/slideMasters/slideMaster3.xml" ContentType="application/vnd.openxmlformats-officedocument.presentationml.slideMaster+xml"/>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theme/theme5.xml" ContentType="application/vnd.openxmlformats-officedocument.theme+xml"/>
  <Override PartName="/ppt/tags/tag6.xml" ContentType="application/vnd.openxmlformats-officedocument.presentationml.tags+xml"/>
  <Override PartName="/ppt/tags/tag8.xml" ContentType="application/vnd.openxmlformats-officedocument.presentationml.tag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tags/tag2.xml" ContentType="application/vnd.openxmlformats-officedocument.presentationml.tags+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tags/tag16.xml" ContentType="application/vnd.openxmlformats-officedocument.presentationml.tags+xml"/>
  <Override PartName="/ppt/tags/tag18.xml" ContentType="application/vnd.openxmlformats-officedocument.presentationml.tags+xml"/>
  <Override PartName="/docProps/custom.xml" ContentType="application/vnd.openxmlformats-officedocument.custom-properties+xml"/>
  <Override PartName="/ppt/tags/tag14.xml" ContentType="application/vnd.openxmlformats-officedocument.presentationml.tags+xml"/>
  <Override PartName="/ppt/tags/tag25.xml" ContentType="application/vnd.openxmlformats-officedocument.presentationml.tags+xml"/>
  <Override PartName="/ppt/tags/tag12.xml" ContentType="application/vnd.openxmlformats-officedocument.presentationml.tags+xml"/>
  <Override PartName="/ppt/tags/tag23.xml" ContentType="application/vnd.openxmlformats-officedocument.presentationml.tags+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ags/tag9.xml" ContentType="application/vnd.openxmlformats-officedocument.presentationml.tags+xml"/>
  <Override PartName="/ppt/tags/tag10.xml" ContentType="application/vnd.openxmlformats-officedocument.presentationml.tags+xml"/>
  <Override PartName="/ppt/tags/tag21.xml" ContentType="application/vnd.openxmlformats-officedocument.presentationml.tag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theme/theme4.xml" ContentType="application/vnd.openxmlformats-officedocument.theme+xml"/>
  <Override PartName="/ppt/tags/tag7.xml" ContentType="application/vnd.openxmlformats-officedocument.presentationml.tags+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tags/tag3.xml" ContentType="application/vnd.openxmlformats-officedocument.presentationml.tags+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tags/tag19.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tags/tag17.xml" ContentType="application/vnd.openxmlformats-officedocument.presentationml.tags+xml"/>
  <Default Extension="wdp" ContentType="image/vnd.ms-photo"/>
  <Override PartName="/ppt/slideLayouts/slideLayout10.xml" ContentType="application/vnd.openxmlformats-officedocument.presentationml.slideLayout+xml"/>
  <Override PartName="/ppt/tags/tag15.xml" ContentType="application/vnd.openxmlformats-officedocument.presentationml.tags+xml"/>
  <Override PartName="/ppt/tags/tag24.xml" ContentType="application/vnd.openxmlformats-officedocument.presentationml.tags+xml"/>
  <Override PartName="/ppt/tags/tag13.xml" ContentType="application/vnd.openxmlformats-officedocument.presentationml.tags+xml"/>
  <Override PartName="/ppt/tags/tag22.xml" ContentType="application/vnd.openxmlformats-officedocument.presentationml.tags+xml"/>
  <Override PartName="/ppt/slides/slide8.xml" ContentType="application/vnd.openxmlformats-officedocument.presentationml.slide+xml"/>
  <Override PartName="/ppt/handoutMasters/handoutMaster1.xml" ContentType="application/vnd.openxmlformats-officedocument.presentationml.handoutMaster+xml"/>
  <Override PartName="/ppt/tags/tag11.xml" ContentType="application/vnd.openxmlformats-officedocument.presentationml.tags+xml"/>
  <Override PartName="/ppt/tags/tag20.xml" ContentType="application/vnd.openxmlformats-officedocument.presentationml.tag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63" r:id="rId3"/>
  </p:sldMasterIdLst>
  <p:notesMasterIdLst>
    <p:notesMasterId r:id="rId39"/>
  </p:notesMasterIdLst>
  <p:handoutMasterIdLst>
    <p:handoutMasterId r:id="rId40"/>
  </p:handoutMasterIdLst>
  <p:sldIdLst>
    <p:sldId id="286" r:id="rId4"/>
    <p:sldId id="257" r:id="rId5"/>
    <p:sldId id="311" r:id="rId6"/>
    <p:sldId id="278" r:id="rId7"/>
    <p:sldId id="264" r:id="rId8"/>
    <p:sldId id="266" r:id="rId9"/>
    <p:sldId id="269" r:id="rId10"/>
    <p:sldId id="265" r:id="rId11"/>
    <p:sldId id="312" r:id="rId12"/>
    <p:sldId id="315" r:id="rId13"/>
    <p:sldId id="313" r:id="rId14"/>
    <p:sldId id="316" r:id="rId15"/>
    <p:sldId id="270" r:id="rId16"/>
    <p:sldId id="279" r:id="rId17"/>
    <p:sldId id="283" r:id="rId18"/>
    <p:sldId id="282" r:id="rId19"/>
    <p:sldId id="318" r:id="rId20"/>
    <p:sldId id="273" r:id="rId21"/>
    <p:sldId id="317" r:id="rId22"/>
    <p:sldId id="280" r:id="rId23"/>
    <p:sldId id="325" r:id="rId24"/>
    <p:sldId id="284" r:id="rId25"/>
    <p:sldId id="326" r:id="rId26"/>
    <p:sldId id="328" r:id="rId27"/>
    <p:sldId id="323" r:id="rId28"/>
    <p:sldId id="319" r:id="rId29"/>
    <p:sldId id="327" r:id="rId30"/>
    <p:sldId id="285" r:id="rId31"/>
    <p:sldId id="320" r:id="rId32"/>
    <p:sldId id="321" r:id="rId33"/>
    <p:sldId id="322" r:id="rId34"/>
    <p:sldId id="276" r:id="rId35"/>
    <p:sldId id="305" r:id="rId36"/>
    <p:sldId id="310" r:id="rId37"/>
    <p:sldId id="263" r:id="rId38"/>
  </p:sldIdLst>
  <p:sldSz cx="12192000" cy="6858000"/>
  <p:notesSz cx="6858000" cy="9144000"/>
  <p:custDataLst>
    <p:tags r:id="rId4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5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992DB"/>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79" d="100"/>
          <a:sy n="79" d="100"/>
        </p:scale>
        <p:origin x="-108" y="-186"/>
      </p:cViewPr>
      <p:guideLst>
        <p:guide orient="horz" pos="2159"/>
        <p:guide pos="3840"/>
      </p:guideLst>
    </p:cSldViewPr>
  </p:slideViewPr>
  <p:notesTextViewPr>
    <p:cViewPr>
      <p:scale>
        <a:sx n="1" d="1"/>
        <a:sy n="1" d="1"/>
      </p:scale>
      <p:origin x="0" y="0"/>
    </p:cViewPr>
  </p:notesTextViewPr>
  <p:notesViewPr>
    <p:cSldViewPr snapToGrid="0">
      <p:cViewPr varScale="1">
        <p:scale>
          <a:sx n="127" d="100"/>
          <a:sy n="127" d="100"/>
        </p:scale>
        <p:origin x="3900" y="60"/>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AE5C280-1B2D-4781-B707-4B0EC071CFB8}" type="datetimeFigureOut">
              <a:rPr lang="zh-CN" altLang="en-US" smtClean="0"/>
              <a:pPr/>
              <a:t>2025/9/24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01CA09-FBF4-4941-B7E5-5E91EF28B04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pPr/>
              <a:t>2025/9/24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065534D5-ABFC-4AD4-8958-9371162AF869}" type="datetimeFigureOut">
              <a:rPr lang="zh-CN" altLang="en-US" smtClean="0"/>
              <a:pPr/>
              <a:t>2025/9/24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DDAA2BF-139C-4AD3-A005-CF241C041F6D}" type="slidenum">
              <a:rPr lang="zh-CN" altLang="en-US" smtClean="0"/>
              <a:pPr/>
              <a:t>‹#›</a:t>
            </a:fld>
            <a:endParaRPr lang="zh-CN" altLang="en-US"/>
          </a:p>
        </p:txBody>
      </p:sp>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65534D5-ABFC-4AD4-8958-9371162AF869}" type="datetimeFigureOut">
              <a:rPr lang="zh-CN" altLang="en-US" smtClean="0"/>
              <a:pPr/>
              <a:t>2025/9/24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DDAA2BF-139C-4AD3-A005-CF241C041F6D}" type="slidenum">
              <a:rPr lang="zh-CN" altLang="en-US" smtClean="0"/>
              <a:pPr/>
              <a:t>‹#›</a:t>
            </a:fld>
            <a:endParaRPr lang="zh-CN" altLang="en-US"/>
          </a:p>
        </p:txBody>
      </p:sp>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065534D5-ABFC-4AD4-8958-9371162AF869}" type="datetimeFigureOut">
              <a:rPr lang="zh-CN" altLang="en-US" smtClean="0"/>
              <a:pPr/>
              <a:t>2025/9/24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DDAA2BF-139C-4AD3-A005-CF241C041F6D}" type="slidenum">
              <a:rPr lang="zh-CN" altLang="en-US" smtClean="0"/>
              <a:pPr/>
              <a:t>‹#›</a:t>
            </a:fld>
            <a:endParaRPr lang="zh-CN" altLang="en-US"/>
          </a:p>
        </p:txBody>
      </p:sp>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065534D5-ABFC-4AD4-8958-9371162AF869}" type="datetimeFigureOut">
              <a:rPr lang="zh-CN" altLang="en-US" smtClean="0"/>
              <a:pPr/>
              <a:t>2025/9/24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DDAA2BF-139C-4AD3-A005-CF241C041F6D}" type="slidenum">
              <a:rPr lang="zh-CN" altLang="en-US" smtClean="0"/>
              <a:pPr/>
              <a:t>‹#›</a:t>
            </a:fld>
            <a:endParaRPr lang="zh-CN" altLang="en-US"/>
          </a:p>
        </p:txBody>
      </p:sp>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065534D5-ABFC-4AD4-8958-9371162AF869}" type="datetimeFigureOut">
              <a:rPr lang="zh-CN" altLang="en-US" smtClean="0"/>
              <a:pPr/>
              <a:t>2025/9/24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DDAA2BF-139C-4AD3-A005-CF241C041F6D}" type="slidenum">
              <a:rPr lang="zh-CN" altLang="en-US" smtClean="0"/>
              <a:pPr/>
              <a:t>‹#›</a:t>
            </a:fld>
            <a:endParaRPr lang="zh-CN" altLang="en-US"/>
          </a:p>
        </p:txBody>
      </p:sp>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065534D5-ABFC-4AD4-8958-9371162AF869}" type="datetimeFigureOut">
              <a:rPr lang="zh-CN" altLang="en-US" smtClean="0"/>
              <a:pPr/>
              <a:t>2025/9/24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DDAA2BF-139C-4AD3-A005-CF241C041F6D}" type="slidenum">
              <a:rPr lang="zh-CN" altLang="en-US" smtClean="0"/>
              <a:pPr/>
              <a:t>‹#›</a:t>
            </a:fld>
            <a:endParaRPr lang="zh-CN" altLang="en-US"/>
          </a:p>
        </p:txBody>
      </p:sp>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065534D5-ABFC-4AD4-8958-9371162AF869}" type="datetimeFigureOut">
              <a:rPr lang="zh-CN" altLang="en-US" smtClean="0"/>
              <a:pPr/>
              <a:t>2025/9/24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DDAA2BF-139C-4AD3-A005-CF241C041F6D}" type="slidenum">
              <a:rPr lang="zh-CN" altLang="en-US" smtClean="0"/>
              <a:pPr/>
              <a:t>‹#›</a:t>
            </a:fld>
            <a:endParaRPr lang="zh-CN" altLang="en-US"/>
          </a:p>
        </p:txBody>
      </p:sp>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065534D5-ABFC-4AD4-8958-9371162AF869}" type="datetimeFigureOut">
              <a:rPr lang="zh-CN" altLang="en-US" smtClean="0"/>
              <a:pPr/>
              <a:t>2025/9/24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DDAA2BF-139C-4AD3-A005-CF241C041F6D}" type="slidenum">
              <a:rPr lang="zh-CN" altLang="en-US" smtClean="0"/>
              <a:pPr/>
              <a:t>‹#›</a:t>
            </a:fld>
            <a:endParaRPr lang="zh-CN" altLang="en-US"/>
          </a:p>
        </p:txBody>
      </p:sp>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65534D5-ABFC-4AD4-8958-9371162AF869}" type="datetimeFigureOut">
              <a:rPr lang="zh-CN" altLang="en-US" smtClean="0"/>
              <a:pPr/>
              <a:t>2025/9/24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DDAA2BF-139C-4AD3-A005-CF241C041F6D}" type="slidenum">
              <a:rPr lang="zh-CN" altLang="en-US" smtClean="0"/>
              <a:pPr/>
              <a:t>‹#›</a:t>
            </a:fld>
            <a:endParaRPr lang="zh-CN" altLang="en-US"/>
          </a:p>
        </p:txBody>
      </p:sp>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65534D5-ABFC-4AD4-8958-9371162AF869}" type="datetimeFigureOut">
              <a:rPr lang="zh-CN" altLang="en-US" smtClean="0"/>
              <a:pPr/>
              <a:t>2025/9/24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DDAA2BF-139C-4AD3-A005-CF241C041F6D}" type="slidenum">
              <a:rPr lang="zh-CN" altLang="en-US" smtClean="0"/>
              <a:pPr/>
              <a:t>‹#›</a:t>
            </a:fld>
            <a:endParaRPr lang="zh-CN" altLang="en-US"/>
          </a:p>
        </p:txBody>
      </p:sp>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文本框 1"/>
          <p:cNvSpPr txBox="1"/>
          <p:nvPr userDrawn="1"/>
        </p:nvSpPr>
        <p:spPr>
          <a:xfrm>
            <a:off x="5294631" y="1931671"/>
            <a:ext cx="4064000" cy="3067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latin typeface="Arial" panose="020B0604020202020204"/>
              <a:ea typeface="思源黑体" panose="020B0500000000000000" pitchFamily="34" charset="-122"/>
              <a:cs typeface="+mn-cs"/>
            </a:endParaRPr>
          </a:p>
        </p:txBody>
      </p:sp>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7" Type="http://schemas.microsoft.com/office/2007/relationships/hdphoto" Target="../media/image2.wdp"/><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image" Target="../media/image1.png"/><Relationship Id="rId5" Type="http://schemas.openxmlformats.org/officeDocument/2006/relationships/tags" Target="../tags/tag3.xml"/><Relationship Id="rId4" Type="http://schemas.openxmlformats.org/officeDocument/2006/relationships/tags" Target="../tags/tag2.xml"/></Relationships>
</file>

<file path=ppt/slideMasters/_rels/slideMaster3.xml.rels><?xml version="1.0" encoding="UTF-8" standalone="yes"?>
<Relationships xmlns="http://schemas.openxmlformats.org/package/2006/relationships"><Relationship Id="rId3" Type="http://schemas.openxmlformats.org/officeDocument/2006/relationships/tags" Target="../tags/tag4.xml"/><Relationship Id="rId7" Type="http://schemas.openxmlformats.org/officeDocument/2006/relationships/image" Target="../media/image2.png"/><Relationship Id="rId2" Type="http://schemas.openxmlformats.org/officeDocument/2006/relationships/theme" Target="../theme/theme3.xml"/><Relationship Id="rId1" Type="http://schemas.openxmlformats.org/officeDocument/2006/relationships/slideLayout" Target="../slideLayouts/slideLayout14.xml"/><Relationship Id="rId6" Type="http://schemas.microsoft.com/office/2007/relationships/hdphoto" Target="../media/image2.wdp"/><Relationship Id="rId5" Type="http://schemas.openxmlformats.org/officeDocument/2006/relationships/image" Target="../media/image1.png"/><Relationship Id="rId4" Type="http://schemas.openxmlformats.org/officeDocument/2006/relationships/tags" Target="../tags/tag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5534D5-ABFC-4AD4-8958-9371162AF869}" type="datetimeFigureOut">
              <a:rPr lang="zh-CN" altLang="en-US" smtClean="0"/>
              <a:pPr/>
              <a:t>2025/9/24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DAA2BF-139C-4AD3-A005-CF241C041F6D}" type="slidenum">
              <a:rPr lang="zh-CN" altLang="en-US" smtClean="0"/>
              <a:pPr/>
              <a:t>‹#›</a:t>
            </a:fld>
            <a:endParaRPr lang="zh-CN" altLang="en-US"/>
          </a:p>
        </p:txBody>
      </p:sp>
      <p:grpSp>
        <p:nvGrpSpPr>
          <p:cNvPr id="13" name="组合 12"/>
          <p:cNvGrpSpPr/>
          <p:nvPr userDrawn="1"/>
        </p:nvGrpSpPr>
        <p:grpSpPr>
          <a:xfrm>
            <a:off x="9601200" y="405735"/>
            <a:ext cx="1919288" cy="456511"/>
            <a:chOff x="7836774" y="258763"/>
            <a:chExt cx="4044824" cy="906292"/>
          </a:xfrm>
        </p:grpSpPr>
        <p:sp>
          <p:nvSpPr>
            <p:cNvPr id="14" name="Freeform 5"/>
            <p:cNvSpPr/>
            <p:nvPr/>
          </p:nvSpPr>
          <p:spPr bwMode="auto">
            <a:xfrm>
              <a:off x="8618539" y="282576"/>
              <a:ext cx="544513" cy="374650"/>
            </a:xfrm>
            <a:custGeom>
              <a:avLst/>
              <a:gdLst>
                <a:gd name="T0" fmla="*/ 0 w 704"/>
                <a:gd name="T1" fmla="*/ 416 h 528"/>
                <a:gd name="T2" fmla="*/ 432 w 704"/>
                <a:gd name="T3" fmla="*/ 416 h 528"/>
                <a:gd name="T4" fmla="*/ 480 w 704"/>
                <a:gd name="T5" fmla="*/ 384 h 528"/>
                <a:gd name="T6" fmla="*/ 480 w 704"/>
                <a:gd name="T7" fmla="*/ 352 h 528"/>
                <a:gd name="T8" fmla="*/ 432 w 704"/>
                <a:gd name="T9" fmla="*/ 320 h 528"/>
                <a:gd name="T10" fmla="*/ 160 w 704"/>
                <a:gd name="T11" fmla="*/ 256 h 528"/>
                <a:gd name="T12" fmla="*/ 0 w 704"/>
                <a:gd name="T13" fmla="*/ 144 h 528"/>
                <a:gd name="T14" fmla="*/ 0 w 704"/>
                <a:gd name="T15" fmla="*/ 64 h 528"/>
                <a:gd name="T16" fmla="*/ 80 w 704"/>
                <a:gd name="T17" fmla="*/ 0 h 528"/>
                <a:gd name="T18" fmla="*/ 704 w 704"/>
                <a:gd name="T19" fmla="*/ 0 h 528"/>
                <a:gd name="T20" fmla="*/ 704 w 704"/>
                <a:gd name="T21" fmla="*/ 96 h 528"/>
                <a:gd name="T22" fmla="*/ 224 w 704"/>
                <a:gd name="T23" fmla="*/ 96 h 528"/>
                <a:gd name="T24" fmla="*/ 224 w 704"/>
                <a:gd name="T25" fmla="*/ 160 h 528"/>
                <a:gd name="T26" fmla="*/ 272 w 704"/>
                <a:gd name="T27" fmla="*/ 192 h 528"/>
                <a:gd name="T28" fmla="*/ 608 w 704"/>
                <a:gd name="T29" fmla="*/ 256 h 528"/>
                <a:gd name="T30" fmla="*/ 704 w 704"/>
                <a:gd name="T31" fmla="*/ 336 h 528"/>
                <a:gd name="T32" fmla="*/ 704 w 704"/>
                <a:gd name="T33" fmla="*/ 432 h 528"/>
                <a:gd name="T34" fmla="*/ 624 w 704"/>
                <a:gd name="T35" fmla="*/ 528 h 528"/>
                <a:gd name="T36" fmla="*/ 0 w 704"/>
                <a:gd name="T37" fmla="*/ 528 h 528"/>
                <a:gd name="T38" fmla="*/ 0 w 704"/>
                <a:gd name="T39" fmla="*/ 416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04" h="528">
                  <a:moveTo>
                    <a:pt x="0" y="416"/>
                  </a:moveTo>
                  <a:lnTo>
                    <a:pt x="432" y="416"/>
                  </a:lnTo>
                  <a:cubicBezTo>
                    <a:pt x="464" y="416"/>
                    <a:pt x="480" y="416"/>
                    <a:pt x="480" y="384"/>
                  </a:cubicBezTo>
                  <a:lnTo>
                    <a:pt x="480" y="352"/>
                  </a:lnTo>
                  <a:cubicBezTo>
                    <a:pt x="480" y="336"/>
                    <a:pt x="448" y="320"/>
                    <a:pt x="432" y="320"/>
                  </a:cubicBezTo>
                  <a:lnTo>
                    <a:pt x="160" y="256"/>
                  </a:lnTo>
                  <a:cubicBezTo>
                    <a:pt x="64" y="240"/>
                    <a:pt x="16" y="208"/>
                    <a:pt x="0" y="144"/>
                  </a:cubicBezTo>
                  <a:lnTo>
                    <a:pt x="0" y="64"/>
                  </a:lnTo>
                  <a:cubicBezTo>
                    <a:pt x="0" y="32"/>
                    <a:pt x="32" y="0"/>
                    <a:pt x="80" y="0"/>
                  </a:cubicBezTo>
                  <a:lnTo>
                    <a:pt x="704" y="0"/>
                  </a:lnTo>
                  <a:lnTo>
                    <a:pt x="704" y="96"/>
                  </a:lnTo>
                  <a:lnTo>
                    <a:pt x="224" y="96"/>
                  </a:lnTo>
                  <a:lnTo>
                    <a:pt x="224" y="160"/>
                  </a:lnTo>
                  <a:cubicBezTo>
                    <a:pt x="224" y="176"/>
                    <a:pt x="256" y="176"/>
                    <a:pt x="272" y="192"/>
                  </a:cubicBezTo>
                  <a:lnTo>
                    <a:pt x="608" y="256"/>
                  </a:lnTo>
                  <a:cubicBezTo>
                    <a:pt x="656" y="272"/>
                    <a:pt x="704" y="288"/>
                    <a:pt x="704" y="336"/>
                  </a:cubicBezTo>
                  <a:lnTo>
                    <a:pt x="704" y="432"/>
                  </a:lnTo>
                  <a:cubicBezTo>
                    <a:pt x="704" y="480"/>
                    <a:pt x="672" y="528"/>
                    <a:pt x="624" y="528"/>
                  </a:cubicBezTo>
                  <a:lnTo>
                    <a:pt x="0" y="528"/>
                  </a:lnTo>
                  <a:lnTo>
                    <a:pt x="0" y="416"/>
                  </a:lnTo>
                  <a:close/>
                </a:path>
              </a:pathLst>
            </a:custGeom>
            <a:solidFill>
              <a:srgbClr val="0070C0"/>
            </a:solidFill>
            <a:ln w="0">
              <a:noFill/>
              <a:prstDash val="solid"/>
              <a:round/>
            </a:ln>
          </p:spPr>
          <p:txBody>
            <a:bodyPr vert="horz" wrap="square" lIns="91440" tIns="45720" rIns="91440" bIns="45720" numCol="1" anchor="t" anchorCtr="0" compatLnSpc="1"/>
            <a:lstStyle/>
            <a:p>
              <a:endParaRPr lang="zh-CN" altLang="en-US" sz="1100"/>
            </a:p>
          </p:txBody>
        </p:sp>
        <p:sp>
          <p:nvSpPr>
            <p:cNvPr id="15" name="Freeform 6"/>
            <p:cNvSpPr/>
            <p:nvPr/>
          </p:nvSpPr>
          <p:spPr bwMode="auto">
            <a:xfrm>
              <a:off x="7974014" y="271463"/>
              <a:ext cx="593724" cy="374650"/>
            </a:xfrm>
            <a:custGeom>
              <a:avLst/>
              <a:gdLst>
                <a:gd name="T0" fmla="*/ 93 w 374"/>
                <a:gd name="T1" fmla="*/ 93 h 236"/>
                <a:gd name="T2" fmla="*/ 281 w 374"/>
                <a:gd name="T3" fmla="*/ 93 h 236"/>
                <a:gd name="T4" fmla="*/ 281 w 374"/>
                <a:gd name="T5" fmla="*/ 0 h 236"/>
                <a:gd name="T6" fmla="*/ 374 w 374"/>
                <a:gd name="T7" fmla="*/ 0 h 236"/>
                <a:gd name="T8" fmla="*/ 374 w 374"/>
                <a:gd name="T9" fmla="*/ 236 h 236"/>
                <a:gd name="T10" fmla="*/ 281 w 374"/>
                <a:gd name="T11" fmla="*/ 236 h 236"/>
                <a:gd name="T12" fmla="*/ 281 w 374"/>
                <a:gd name="T13" fmla="*/ 136 h 236"/>
                <a:gd name="T14" fmla="*/ 93 w 374"/>
                <a:gd name="T15" fmla="*/ 136 h 236"/>
                <a:gd name="T16" fmla="*/ 93 w 374"/>
                <a:gd name="T17" fmla="*/ 236 h 236"/>
                <a:gd name="T18" fmla="*/ 0 w 374"/>
                <a:gd name="T19" fmla="*/ 236 h 236"/>
                <a:gd name="T20" fmla="*/ 0 w 374"/>
                <a:gd name="T21" fmla="*/ 0 h 236"/>
                <a:gd name="T22" fmla="*/ 93 w 374"/>
                <a:gd name="T23" fmla="*/ 0 h 236"/>
                <a:gd name="T24" fmla="*/ 93 w 374"/>
                <a:gd name="T25" fmla="*/ 9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74" h="236">
                  <a:moveTo>
                    <a:pt x="93" y="93"/>
                  </a:moveTo>
                  <a:lnTo>
                    <a:pt x="281" y="93"/>
                  </a:lnTo>
                  <a:lnTo>
                    <a:pt x="281" y="0"/>
                  </a:lnTo>
                  <a:lnTo>
                    <a:pt x="374" y="0"/>
                  </a:lnTo>
                  <a:lnTo>
                    <a:pt x="374" y="236"/>
                  </a:lnTo>
                  <a:lnTo>
                    <a:pt x="281" y="236"/>
                  </a:lnTo>
                  <a:lnTo>
                    <a:pt x="281" y="136"/>
                  </a:lnTo>
                  <a:lnTo>
                    <a:pt x="93" y="136"/>
                  </a:lnTo>
                  <a:lnTo>
                    <a:pt x="93" y="236"/>
                  </a:lnTo>
                  <a:lnTo>
                    <a:pt x="0" y="236"/>
                  </a:lnTo>
                  <a:lnTo>
                    <a:pt x="0" y="0"/>
                  </a:lnTo>
                  <a:lnTo>
                    <a:pt x="93" y="0"/>
                  </a:lnTo>
                  <a:lnTo>
                    <a:pt x="93" y="93"/>
                  </a:lnTo>
                  <a:close/>
                </a:path>
              </a:pathLst>
            </a:custGeom>
            <a:solidFill>
              <a:srgbClr val="0070C0"/>
            </a:solidFill>
            <a:ln>
              <a:noFill/>
            </a:ln>
          </p:spPr>
          <p:txBody>
            <a:bodyPr vert="horz" wrap="square" lIns="91440" tIns="45720" rIns="91440" bIns="45720" numCol="1" anchor="t" anchorCtr="0" compatLnSpc="1"/>
            <a:lstStyle/>
            <a:p>
              <a:endParaRPr lang="zh-CN" altLang="en-US" sz="1100"/>
            </a:p>
          </p:txBody>
        </p:sp>
        <p:sp>
          <p:nvSpPr>
            <p:cNvPr id="16" name="Freeform 7"/>
            <p:cNvSpPr>
              <a:spLocks noEditPoints="1"/>
            </p:cNvSpPr>
            <p:nvPr/>
          </p:nvSpPr>
          <p:spPr bwMode="auto">
            <a:xfrm>
              <a:off x="9163052" y="282576"/>
              <a:ext cx="693738" cy="374650"/>
            </a:xfrm>
            <a:custGeom>
              <a:avLst/>
              <a:gdLst>
                <a:gd name="T0" fmla="*/ 16 w 896"/>
                <a:gd name="T1" fmla="*/ 512 h 528"/>
                <a:gd name="T2" fmla="*/ 144 w 896"/>
                <a:gd name="T3" fmla="*/ 304 h 528"/>
                <a:gd name="T4" fmla="*/ 0 w 896"/>
                <a:gd name="T5" fmla="*/ 240 h 528"/>
                <a:gd name="T6" fmla="*/ 160 w 896"/>
                <a:gd name="T7" fmla="*/ 288 h 528"/>
                <a:gd name="T8" fmla="*/ 288 w 896"/>
                <a:gd name="T9" fmla="*/ 32 h 528"/>
                <a:gd name="T10" fmla="*/ 352 w 896"/>
                <a:gd name="T11" fmla="*/ 0 h 528"/>
                <a:gd name="T12" fmla="*/ 544 w 896"/>
                <a:gd name="T13" fmla="*/ 0 h 528"/>
                <a:gd name="T14" fmla="*/ 592 w 896"/>
                <a:gd name="T15" fmla="*/ 32 h 528"/>
                <a:gd name="T16" fmla="*/ 720 w 896"/>
                <a:gd name="T17" fmla="*/ 256 h 528"/>
                <a:gd name="T18" fmla="*/ 832 w 896"/>
                <a:gd name="T19" fmla="*/ 208 h 528"/>
                <a:gd name="T20" fmla="*/ 896 w 896"/>
                <a:gd name="T21" fmla="*/ 320 h 528"/>
                <a:gd name="T22" fmla="*/ 336 w 896"/>
                <a:gd name="T23" fmla="*/ 368 h 528"/>
                <a:gd name="T24" fmla="*/ 240 w 896"/>
                <a:gd name="T25" fmla="*/ 528 h 528"/>
                <a:gd name="T26" fmla="*/ 16 w 896"/>
                <a:gd name="T27" fmla="*/ 512 h 528"/>
                <a:gd name="T28" fmla="*/ 576 w 896"/>
                <a:gd name="T29" fmla="*/ 384 h 528"/>
                <a:gd name="T30" fmla="*/ 656 w 896"/>
                <a:gd name="T31" fmla="*/ 512 h 528"/>
                <a:gd name="T32" fmla="*/ 880 w 896"/>
                <a:gd name="T33" fmla="*/ 512 h 528"/>
                <a:gd name="T34" fmla="*/ 784 w 896"/>
                <a:gd name="T35" fmla="*/ 368 h 528"/>
                <a:gd name="T36" fmla="*/ 576 w 896"/>
                <a:gd name="T37" fmla="*/ 384 h 528"/>
                <a:gd name="T38" fmla="*/ 368 w 896"/>
                <a:gd name="T39" fmla="*/ 304 h 528"/>
                <a:gd name="T40" fmla="*/ 448 w 896"/>
                <a:gd name="T41" fmla="*/ 160 h 528"/>
                <a:gd name="T42" fmla="*/ 528 w 896"/>
                <a:gd name="T43" fmla="*/ 288 h 528"/>
                <a:gd name="T44" fmla="*/ 368 w 896"/>
                <a:gd name="T45" fmla="*/ 304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96" h="528">
                  <a:moveTo>
                    <a:pt x="16" y="512"/>
                  </a:moveTo>
                  <a:lnTo>
                    <a:pt x="144" y="304"/>
                  </a:lnTo>
                  <a:cubicBezTo>
                    <a:pt x="80" y="288"/>
                    <a:pt x="48" y="272"/>
                    <a:pt x="0" y="240"/>
                  </a:cubicBezTo>
                  <a:cubicBezTo>
                    <a:pt x="48" y="256"/>
                    <a:pt x="96" y="272"/>
                    <a:pt x="160" y="288"/>
                  </a:cubicBezTo>
                  <a:lnTo>
                    <a:pt x="288" y="32"/>
                  </a:lnTo>
                  <a:cubicBezTo>
                    <a:pt x="304" y="16"/>
                    <a:pt x="336" y="0"/>
                    <a:pt x="352" y="0"/>
                  </a:cubicBezTo>
                  <a:lnTo>
                    <a:pt x="544" y="0"/>
                  </a:lnTo>
                  <a:cubicBezTo>
                    <a:pt x="560" y="0"/>
                    <a:pt x="576" y="16"/>
                    <a:pt x="592" y="32"/>
                  </a:cubicBezTo>
                  <a:lnTo>
                    <a:pt x="720" y="256"/>
                  </a:lnTo>
                  <a:lnTo>
                    <a:pt x="832" y="208"/>
                  </a:lnTo>
                  <a:lnTo>
                    <a:pt x="896" y="320"/>
                  </a:lnTo>
                  <a:cubicBezTo>
                    <a:pt x="720" y="368"/>
                    <a:pt x="544" y="384"/>
                    <a:pt x="336" y="368"/>
                  </a:cubicBezTo>
                  <a:lnTo>
                    <a:pt x="240" y="528"/>
                  </a:lnTo>
                  <a:lnTo>
                    <a:pt x="16" y="512"/>
                  </a:lnTo>
                  <a:close/>
                  <a:moveTo>
                    <a:pt x="576" y="384"/>
                  </a:moveTo>
                  <a:lnTo>
                    <a:pt x="656" y="512"/>
                  </a:lnTo>
                  <a:lnTo>
                    <a:pt x="880" y="512"/>
                  </a:lnTo>
                  <a:lnTo>
                    <a:pt x="784" y="368"/>
                  </a:lnTo>
                  <a:cubicBezTo>
                    <a:pt x="720" y="368"/>
                    <a:pt x="656" y="384"/>
                    <a:pt x="576" y="384"/>
                  </a:cubicBezTo>
                  <a:close/>
                  <a:moveTo>
                    <a:pt x="368" y="304"/>
                  </a:moveTo>
                  <a:lnTo>
                    <a:pt x="448" y="160"/>
                  </a:lnTo>
                  <a:lnTo>
                    <a:pt x="528" y="288"/>
                  </a:lnTo>
                  <a:cubicBezTo>
                    <a:pt x="464" y="304"/>
                    <a:pt x="416" y="304"/>
                    <a:pt x="368" y="304"/>
                  </a:cubicBezTo>
                  <a:close/>
                </a:path>
              </a:pathLst>
            </a:custGeom>
            <a:solidFill>
              <a:srgbClr val="0070C0"/>
            </a:solidFill>
            <a:ln w="0">
              <a:noFill/>
              <a:prstDash val="solid"/>
              <a:round/>
            </a:ln>
          </p:spPr>
          <p:txBody>
            <a:bodyPr vert="horz" wrap="square" lIns="91440" tIns="45720" rIns="91440" bIns="45720" numCol="1" anchor="t" anchorCtr="0" compatLnSpc="1"/>
            <a:lstStyle/>
            <a:p>
              <a:endParaRPr lang="zh-CN" altLang="en-US" sz="1100"/>
            </a:p>
          </p:txBody>
        </p:sp>
        <p:sp>
          <p:nvSpPr>
            <p:cNvPr id="19" name="Freeform 8"/>
            <p:cNvSpPr/>
            <p:nvPr/>
          </p:nvSpPr>
          <p:spPr bwMode="auto">
            <a:xfrm>
              <a:off x="9882189" y="282576"/>
              <a:ext cx="569912" cy="363538"/>
            </a:xfrm>
            <a:custGeom>
              <a:avLst/>
              <a:gdLst>
                <a:gd name="T0" fmla="*/ 0 w 736"/>
                <a:gd name="T1" fmla="*/ 480 h 512"/>
                <a:gd name="T2" fmla="*/ 0 w 736"/>
                <a:gd name="T3" fmla="*/ 32 h 512"/>
                <a:gd name="T4" fmla="*/ 48 w 736"/>
                <a:gd name="T5" fmla="*/ 0 h 512"/>
                <a:gd name="T6" fmla="*/ 736 w 736"/>
                <a:gd name="T7" fmla="*/ 0 h 512"/>
                <a:gd name="T8" fmla="*/ 736 w 736"/>
                <a:gd name="T9" fmla="*/ 96 h 512"/>
                <a:gd name="T10" fmla="*/ 208 w 736"/>
                <a:gd name="T11" fmla="*/ 96 h 512"/>
                <a:gd name="T12" fmla="*/ 208 w 736"/>
                <a:gd name="T13" fmla="*/ 192 h 512"/>
                <a:gd name="T14" fmla="*/ 448 w 736"/>
                <a:gd name="T15" fmla="*/ 192 h 512"/>
                <a:gd name="T16" fmla="*/ 448 w 736"/>
                <a:gd name="T17" fmla="*/ 288 h 512"/>
                <a:gd name="T18" fmla="*/ 208 w 736"/>
                <a:gd name="T19" fmla="*/ 288 h 512"/>
                <a:gd name="T20" fmla="*/ 208 w 736"/>
                <a:gd name="T21" fmla="*/ 416 h 512"/>
                <a:gd name="T22" fmla="*/ 736 w 736"/>
                <a:gd name="T23" fmla="*/ 416 h 512"/>
                <a:gd name="T24" fmla="*/ 736 w 736"/>
                <a:gd name="T25" fmla="*/ 512 h 512"/>
                <a:gd name="T26" fmla="*/ 32 w 736"/>
                <a:gd name="T27" fmla="*/ 512 h 512"/>
                <a:gd name="T28" fmla="*/ 0 w 736"/>
                <a:gd name="T29" fmla="*/ 48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36" h="512">
                  <a:moveTo>
                    <a:pt x="0" y="480"/>
                  </a:moveTo>
                  <a:lnTo>
                    <a:pt x="0" y="32"/>
                  </a:lnTo>
                  <a:cubicBezTo>
                    <a:pt x="0" y="16"/>
                    <a:pt x="16" y="0"/>
                    <a:pt x="48" y="0"/>
                  </a:cubicBezTo>
                  <a:lnTo>
                    <a:pt x="736" y="0"/>
                  </a:lnTo>
                  <a:lnTo>
                    <a:pt x="736" y="96"/>
                  </a:lnTo>
                  <a:lnTo>
                    <a:pt x="208" y="96"/>
                  </a:lnTo>
                  <a:lnTo>
                    <a:pt x="208" y="192"/>
                  </a:lnTo>
                  <a:lnTo>
                    <a:pt x="448" y="192"/>
                  </a:lnTo>
                  <a:lnTo>
                    <a:pt x="448" y="288"/>
                  </a:lnTo>
                  <a:lnTo>
                    <a:pt x="208" y="288"/>
                  </a:lnTo>
                  <a:lnTo>
                    <a:pt x="208" y="416"/>
                  </a:lnTo>
                  <a:lnTo>
                    <a:pt x="736" y="416"/>
                  </a:lnTo>
                  <a:lnTo>
                    <a:pt x="736" y="512"/>
                  </a:lnTo>
                  <a:lnTo>
                    <a:pt x="32" y="512"/>
                  </a:lnTo>
                  <a:cubicBezTo>
                    <a:pt x="16" y="512"/>
                    <a:pt x="0" y="496"/>
                    <a:pt x="0" y="480"/>
                  </a:cubicBezTo>
                  <a:close/>
                </a:path>
              </a:pathLst>
            </a:custGeom>
            <a:solidFill>
              <a:srgbClr val="0070C0"/>
            </a:solidFill>
            <a:ln w="0">
              <a:noFill/>
              <a:prstDash val="solid"/>
              <a:round/>
            </a:ln>
          </p:spPr>
          <p:txBody>
            <a:bodyPr vert="horz" wrap="square" lIns="91440" tIns="45720" rIns="91440" bIns="45720" numCol="1" anchor="t" anchorCtr="0" compatLnSpc="1"/>
            <a:lstStyle/>
            <a:p>
              <a:endParaRPr lang="zh-CN" altLang="en-US" sz="1100"/>
            </a:p>
          </p:txBody>
        </p:sp>
        <p:sp>
          <p:nvSpPr>
            <p:cNvPr id="20" name="Freeform 9"/>
            <p:cNvSpPr>
              <a:spLocks noEditPoints="1"/>
            </p:cNvSpPr>
            <p:nvPr/>
          </p:nvSpPr>
          <p:spPr bwMode="auto">
            <a:xfrm>
              <a:off x="10612439" y="258763"/>
              <a:ext cx="520701" cy="398463"/>
            </a:xfrm>
            <a:custGeom>
              <a:avLst/>
              <a:gdLst>
                <a:gd name="T0" fmla="*/ 128 w 672"/>
                <a:gd name="T1" fmla="*/ 256 h 560"/>
                <a:gd name="T2" fmla="*/ 128 w 672"/>
                <a:gd name="T3" fmla="*/ 128 h 560"/>
                <a:gd name="T4" fmla="*/ 160 w 672"/>
                <a:gd name="T5" fmla="*/ 224 h 560"/>
                <a:gd name="T6" fmla="*/ 240 w 672"/>
                <a:gd name="T7" fmla="*/ 224 h 560"/>
                <a:gd name="T8" fmla="*/ 208 w 672"/>
                <a:gd name="T9" fmla="*/ 128 h 560"/>
                <a:gd name="T10" fmla="*/ 128 w 672"/>
                <a:gd name="T11" fmla="*/ 128 h 560"/>
                <a:gd name="T12" fmla="*/ 128 w 672"/>
                <a:gd name="T13" fmla="*/ 80 h 560"/>
                <a:gd name="T14" fmla="*/ 240 w 672"/>
                <a:gd name="T15" fmla="*/ 80 h 560"/>
                <a:gd name="T16" fmla="*/ 240 w 672"/>
                <a:gd name="T17" fmla="*/ 256 h 560"/>
                <a:gd name="T18" fmla="*/ 128 w 672"/>
                <a:gd name="T19" fmla="*/ 256 h 560"/>
                <a:gd name="T20" fmla="*/ 144 w 672"/>
                <a:gd name="T21" fmla="*/ 320 h 560"/>
                <a:gd name="T22" fmla="*/ 160 w 672"/>
                <a:gd name="T23" fmla="*/ 432 h 560"/>
                <a:gd name="T24" fmla="*/ 240 w 672"/>
                <a:gd name="T25" fmla="*/ 432 h 560"/>
                <a:gd name="T26" fmla="*/ 208 w 672"/>
                <a:gd name="T27" fmla="*/ 320 h 560"/>
                <a:gd name="T28" fmla="*/ 144 w 672"/>
                <a:gd name="T29" fmla="*/ 320 h 560"/>
                <a:gd name="T30" fmla="*/ 448 w 672"/>
                <a:gd name="T31" fmla="*/ 48 h 560"/>
                <a:gd name="T32" fmla="*/ 416 w 672"/>
                <a:gd name="T33" fmla="*/ 0 h 560"/>
                <a:gd name="T34" fmla="*/ 512 w 672"/>
                <a:gd name="T35" fmla="*/ 0 h 560"/>
                <a:gd name="T36" fmla="*/ 544 w 672"/>
                <a:gd name="T37" fmla="*/ 48 h 560"/>
                <a:gd name="T38" fmla="*/ 672 w 672"/>
                <a:gd name="T39" fmla="*/ 48 h 560"/>
                <a:gd name="T40" fmla="*/ 672 w 672"/>
                <a:gd name="T41" fmla="*/ 96 h 560"/>
                <a:gd name="T42" fmla="*/ 336 w 672"/>
                <a:gd name="T43" fmla="*/ 96 h 560"/>
                <a:gd name="T44" fmla="*/ 336 w 672"/>
                <a:gd name="T45" fmla="*/ 48 h 560"/>
                <a:gd name="T46" fmla="*/ 448 w 672"/>
                <a:gd name="T47" fmla="*/ 48 h 560"/>
                <a:gd name="T48" fmla="*/ 368 w 672"/>
                <a:gd name="T49" fmla="*/ 144 h 560"/>
                <a:gd name="T50" fmla="*/ 608 w 672"/>
                <a:gd name="T51" fmla="*/ 144 h 560"/>
                <a:gd name="T52" fmla="*/ 608 w 672"/>
                <a:gd name="T53" fmla="*/ 512 h 560"/>
                <a:gd name="T54" fmla="*/ 672 w 672"/>
                <a:gd name="T55" fmla="*/ 512 h 560"/>
                <a:gd name="T56" fmla="*/ 672 w 672"/>
                <a:gd name="T57" fmla="*/ 544 h 560"/>
                <a:gd name="T58" fmla="*/ 560 w 672"/>
                <a:gd name="T59" fmla="*/ 544 h 560"/>
                <a:gd name="T60" fmla="*/ 528 w 672"/>
                <a:gd name="T61" fmla="*/ 512 h 560"/>
                <a:gd name="T62" fmla="*/ 528 w 672"/>
                <a:gd name="T63" fmla="*/ 192 h 560"/>
                <a:gd name="T64" fmla="*/ 464 w 672"/>
                <a:gd name="T65" fmla="*/ 192 h 560"/>
                <a:gd name="T66" fmla="*/ 464 w 672"/>
                <a:gd name="T67" fmla="*/ 384 h 560"/>
                <a:gd name="T68" fmla="*/ 336 w 672"/>
                <a:gd name="T69" fmla="*/ 544 h 560"/>
                <a:gd name="T70" fmla="*/ 336 w 672"/>
                <a:gd name="T71" fmla="*/ 480 h 560"/>
                <a:gd name="T72" fmla="*/ 368 w 672"/>
                <a:gd name="T73" fmla="*/ 400 h 560"/>
                <a:gd name="T74" fmla="*/ 368 w 672"/>
                <a:gd name="T75" fmla="*/ 144 h 560"/>
                <a:gd name="T76" fmla="*/ 128 w 672"/>
                <a:gd name="T77" fmla="*/ 48 h 560"/>
                <a:gd name="T78" fmla="*/ 160 w 672"/>
                <a:gd name="T79" fmla="*/ 0 h 560"/>
                <a:gd name="T80" fmla="*/ 256 w 672"/>
                <a:gd name="T81" fmla="*/ 0 h 560"/>
                <a:gd name="T82" fmla="*/ 224 w 672"/>
                <a:gd name="T83" fmla="*/ 48 h 560"/>
                <a:gd name="T84" fmla="*/ 320 w 672"/>
                <a:gd name="T85" fmla="*/ 48 h 560"/>
                <a:gd name="T86" fmla="*/ 320 w 672"/>
                <a:gd name="T87" fmla="*/ 528 h 560"/>
                <a:gd name="T88" fmla="*/ 304 w 672"/>
                <a:gd name="T89" fmla="*/ 560 h 560"/>
                <a:gd name="T90" fmla="*/ 176 w 672"/>
                <a:gd name="T91" fmla="*/ 560 h 560"/>
                <a:gd name="T92" fmla="*/ 176 w 672"/>
                <a:gd name="T93" fmla="*/ 512 h 560"/>
                <a:gd name="T94" fmla="*/ 240 w 672"/>
                <a:gd name="T95" fmla="*/ 512 h 560"/>
                <a:gd name="T96" fmla="*/ 240 w 672"/>
                <a:gd name="T97" fmla="*/ 288 h 560"/>
                <a:gd name="T98" fmla="*/ 128 w 672"/>
                <a:gd name="T99" fmla="*/ 288 h 560"/>
                <a:gd name="T100" fmla="*/ 80 w 672"/>
                <a:gd name="T101" fmla="*/ 544 h 560"/>
                <a:gd name="T102" fmla="*/ 0 w 672"/>
                <a:gd name="T103" fmla="*/ 544 h 560"/>
                <a:gd name="T104" fmla="*/ 48 w 672"/>
                <a:gd name="T105" fmla="*/ 304 h 560"/>
                <a:gd name="T106" fmla="*/ 0 w 672"/>
                <a:gd name="T107" fmla="*/ 304 h 560"/>
                <a:gd name="T108" fmla="*/ 0 w 672"/>
                <a:gd name="T109" fmla="*/ 256 h 560"/>
                <a:gd name="T110" fmla="*/ 48 w 672"/>
                <a:gd name="T111" fmla="*/ 256 h 560"/>
                <a:gd name="T112" fmla="*/ 48 w 672"/>
                <a:gd name="T113" fmla="*/ 48 h 560"/>
                <a:gd name="T114" fmla="*/ 128 w 672"/>
                <a:gd name="T115" fmla="*/ 48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72" h="560">
                  <a:moveTo>
                    <a:pt x="128" y="256"/>
                  </a:moveTo>
                  <a:lnTo>
                    <a:pt x="128" y="128"/>
                  </a:lnTo>
                  <a:lnTo>
                    <a:pt x="160" y="224"/>
                  </a:lnTo>
                  <a:lnTo>
                    <a:pt x="240" y="224"/>
                  </a:lnTo>
                  <a:lnTo>
                    <a:pt x="208" y="128"/>
                  </a:lnTo>
                  <a:lnTo>
                    <a:pt x="128" y="128"/>
                  </a:lnTo>
                  <a:lnTo>
                    <a:pt x="128" y="80"/>
                  </a:lnTo>
                  <a:lnTo>
                    <a:pt x="240" y="80"/>
                  </a:lnTo>
                  <a:lnTo>
                    <a:pt x="240" y="256"/>
                  </a:lnTo>
                  <a:lnTo>
                    <a:pt x="128" y="256"/>
                  </a:lnTo>
                  <a:close/>
                  <a:moveTo>
                    <a:pt x="144" y="320"/>
                  </a:moveTo>
                  <a:lnTo>
                    <a:pt x="160" y="432"/>
                  </a:lnTo>
                  <a:lnTo>
                    <a:pt x="240" y="432"/>
                  </a:lnTo>
                  <a:lnTo>
                    <a:pt x="208" y="320"/>
                  </a:lnTo>
                  <a:lnTo>
                    <a:pt x="144" y="320"/>
                  </a:lnTo>
                  <a:close/>
                  <a:moveTo>
                    <a:pt x="448" y="48"/>
                  </a:moveTo>
                  <a:lnTo>
                    <a:pt x="416" y="0"/>
                  </a:lnTo>
                  <a:lnTo>
                    <a:pt x="512" y="0"/>
                  </a:lnTo>
                  <a:lnTo>
                    <a:pt x="544" y="48"/>
                  </a:lnTo>
                  <a:lnTo>
                    <a:pt x="672" y="48"/>
                  </a:lnTo>
                  <a:lnTo>
                    <a:pt x="672" y="96"/>
                  </a:lnTo>
                  <a:lnTo>
                    <a:pt x="336" y="96"/>
                  </a:lnTo>
                  <a:lnTo>
                    <a:pt x="336" y="48"/>
                  </a:lnTo>
                  <a:lnTo>
                    <a:pt x="448" y="48"/>
                  </a:lnTo>
                  <a:close/>
                  <a:moveTo>
                    <a:pt x="368" y="144"/>
                  </a:moveTo>
                  <a:lnTo>
                    <a:pt x="608" y="144"/>
                  </a:lnTo>
                  <a:lnTo>
                    <a:pt x="608" y="512"/>
                  </a:lnTo>
                  <a:lnTo>
                    <a:pt x="672" y="512"/>
                  </a:lnTo>
                  <a:lnTo>
                    <a:pt x="672" y="544"/>
                  </a:lnTo>
                  <a:lnTo>
                    <a:pt x="560" y="544"/>
                  </a:lnTo>
                  <a:cubicBezTo>
                    <a:pt x="544" y="544"/>
                    <a:pt x="528" y="544"/>
                    <a:pt x="528" y="512"/>
                  </a:cubicBezTo>
                  <a:lnTo>
                    <a:pt x="528" y="192"/>
                  </a:lnTo>
                  <a:lnTo>
                    <a:pt x="464" y="192"/>
                  </a:lnTo>
                  <a:lnTo>
                    <a:pt x="464" y="384"/>
                  </a:lnTo>
                  <a:cubicBezTo>
                    <a:pt x="448" y="480"/>
                    <a:pt x="400" y="528"/>
                    <a:pt x="336" y="544"/>
                  </a:cubicBezTo>
                  <a:lnTo>
                    <a:pt x="336" y="480"/>
                  </a:lnTo>
                  <a:cubicBezTo>
                    <a:pt x="352" y="464"/>
                    <a:pt x="368" y="432"/>
                    <a:pt x="368" y="400"/>
                  </a:cubicBezTo>
                  <a:lnTo>
                    <a:pt x="368" y="144"/>
                  </a:lnTo>
                  <a:close/>
                  <a:moveTo>
                    <a:pt x="128" y="48"/>
                  </a:moveTo>
                  <a:lnTo>
                    <a:pt x="160" y="0"/>
                  </a:lnTo>
                  <a:lnTo>
                    <a:pt x="256" y="0"/>
                  </a:lnTo>
                  <a:lnTo>
                    <a:pt x="224" y="48"/>
                  </a:lnTo>
                  <a:lnTo>
                    <a:pt x="320" y="48"/>
                  </a:lnTo>
                  <a:lnTo>
                    <a:pt x="320" y="528"/>
                  </a:lnTo>
                  <a:cubicBezTo>
                    <a:pt x="320" y="544"/>
                    <a:pt x="320" y="560"/>
                    <a:pt x="304" y="560"/>
                  </a:cubicBezTo>
                  <a:lnTo>
                    <a:pt x="176" y="560"/>
                  </a:lnTo>
                  <a:lnTo>
                    <a:pt x="176" y="512"/>
                  </a:lnTo>
                  <a:lnTo>
                    <a:pt x="240" y="512"/>
                  </a:lnTo>
                  <a:lnTo>
                    <a:pt x="240" y="288"/>
                  </a:lnTo>
                  <a:lnTo>
                    <a:pt x="128" y="288"/>
                  </a:lnTo>
                  <a:cubicBezTo>
                    <a:pt x="144" y="400"/>
                    <a:pt x="128" y="480"/>
                    <a:pt x="80" y="544"/>
                  </a:cubicBezTo>
                  <a:lnTo>
                    <a:pt x="0" y="544"/>
                  </a:lnTo>
                  <a:cubicBezTo>
                    <a:pt x="32" y="480"/>
                    <a:pt x="48" y="400"/>
                    <a:pt x="48" y="304"/>
                  </a:cubicBezTo>
                  <a:lnTo>
                    <a:pt x="0" y="304"/>
                  </a:lnTo>
                  <a:lnTo>
                    <a:pt x="0" y="256"/>
                  </a:lnTo>
                  <a:lnTo>
                    <a:pt x="48" y="256"/>
                  </a:lnTo>
                  <a:lnTo>
                    <a:pt x="48" y="48"/>
                  </a:lnTo>
                  <a:lnTo>
                    <a:pt x="128" y="48"/>
                  </a:lnTo>
                  <a:close/>
                </a:path>
              </a:pathLst>
            </a:custGeom>
            <a:solidFill>
              <a:schemeClr val="tx1"/>
            </a:solidFill>
            <a:ln w="0">
              <a:noFill/>
              <a:prstDash val="solid"/>
              <a:round/>
            </a:ln>
          </p:spPr>
          <p:txBody>
            <a:bodyPr vert="horz" wrap="square" lIns="91440" tIns="45720" rIns="91440" bIns="45720" numCol="1" anchor="t" anchorCtr="0" compatLnSpc="1"/>
            <a:lstStyle/>
            <a:p>
              <a:endParaRPr lang="zh-CN" altLang="en-US" sz="1100"/>
            </a:p>
          </p:txBody>
        </p:sp>
        <p:sp>
          <p:nvSpPr>
            <p:cNvPr id="21" name="Freeform 10"/>
            <p:cNvSpPr>
              <a:spLocks noEditPoints="1"/>
            </p:cNvSpPr>
            <p:nvPr/>
          </p:nvSpPr>
          <p:spPr bwMode="auto">
            <a:xfrm>
              <a:off x="11220452" y="258763"/>
              <a:ext cx="507999" cy="398463"/>
            </a:xfrm>
            <a:custGeom>
              <a:avLst/>
              <a:gdLst>
                <a:gd name="T0" fmla="*/ 16 w 656"/>
                <a:gd name="T1" fmla="*/ 512 h 560"/>
                <a:gd name="T2" fmla="*/ 16 w 656"/>
                <a:gd name="T3" fmla="*/ 352 h 560"/>
                <a:gd name="T4" fmla="*/ 624 w 656"/>
                <a:gd name="T5" fmla="*/ 352 h 560"/>
                <a:gd name="T6" fmla="*/ 624 w 656"/>
                <a:gd name="T7" fmla="*/ 512 h 560"/>
                <a:gd name="T8" fmla="*/ 656 w 656"/>
                <a:gd name="T9" fmla="*/ 512 h 560"/>
                <a:gd name="T10" fmla="*/ 656 w 656"/>
                <a:gd name="T11" fmla="*/ 560 h 560"/>
                <a:gd name="T12" fmla="*/ 0 w 656"/>
                <a:gd name="T13" fmla="*/ 560 h 560"/>
                <a:gd name="T14" fmla="*/ 0 w 656"/>
                <a:gd name="T15" fmla="*/ 512 h 560"/>
                <a:gd name="T16" fmla="*/ 16 w 656"/>
                <a:gd name="T17" fmla="*/ 512 h 560"/>
                <a:gd name="T18" fmla="*/ 112 w 656"/>
                <a:gd name="T19" fmla="*/ 400 h 560"/>
                <a:gd name="T20" fmla="*/ 208 w 656"/>
                <a:gd name="T21" fmla="*/ 400 h 560"/>
                <a:gd name="T22" fmla="*/ 208 w 656"/>
                <a:gd name="T23" fmla="*/ 512 h 560"/>
                <a:gd name="T24" fmla="*/ 112 w 656"/>
                <a:gd name="T25" fmla="*/ 512 h 560"/>
                <a:gd name="T26" fmla="*/ 112 w 656"/>
                <a:gd name="T27" fmla="*/ 400 h 560"/>
                <a:gd name="T28" fmla="*/ 272 w 656"/>
                <a:gd name="T29" fmla="*/ 400 h 560"/>
                <a:gd name="T30" fmla="*/ 384 w 656"/>
                <a:gd name="T31" fmla="*/ 400 h 560"/>
                <a:gd name="T32" fmla="*/ 384 w 656"/>
                <a:gd name="T33" fmla="*/ 512 h 560"/>
                <a:gd name="T34" fmla="*/ 272 w 656"/>
                <a:gd name="T35" fmla="*/ 512 h 560"/>
                <a:gd name="T36" fmla="*/ 272 w 656"/>
                <a:gd name="T37" fmla="*/ 400 h 560"/>
                <a:gd name="T38" fmla="*/ 448 w 656"/>
                <a:gd name="T39" fmla="*/ 400 h 560"/>
                <a:gd name="T40" fmla="*/ 544 w 656"/>
                <a:gd name="T41" fmla="*/ 400 h 560"/>
                <a:gd name="T42" fmla="*/ 544 w 656"/>
                <a:gd name="T43" fmla="*/ 512 h 560"/>
                <a:gd name="T44" fmla="*/ 448 w 656"/>
                <a:gd name="T45" fmla="*/ 512 h 560"/>
                <a:gd name="T46" fmla="*/ 448 w 656"/>
                <a:gd name="T47" fmla="*/ 400 h 560"/>
                <a:gd name="T48" fmla="*/ 16 w 656"/>
                <a:gd name="T49" fmla="*/ 256 h 560"/>
                <a:gd name="T50" fmla="*/ 48 w 656"/>
                <a:gd name="T51" fmla="*/ 176 h 560"/>
                <a:gd name="T52" fmla="*/ 48 w 656"/>
                <a:gd name="T53" fmla="*/ 32 h 560"/>
                <a:gd name="T54" fmla="*/ 336 w 656"/>
                <a:gd name="T55" fmla="*/ 32 h 560"/>
                <a:gd name="T56" fmla="*/ 320 w 656"/>
                <a:gd name="T57" fmla="*/ 0 h 560"/>
                <a:gd name="T58" fmla="*/ 400 w 656"/>
                <a:gd name="T59" fmla="*/ 0 h 560"/>
                <a:gd name="T60" fmla="*/ 416 w 656"/>
                <a:gd name="T61" fmla="*/ 48 h 560"/>
                <a:gd name="T62" fmla="*/ 560 w 656"/>
                <a:gd name="T63" fmla="*/ 48 h 560"/>
                <a:gd name="T64" fmla="*/ 560 w 656"/>
                <a:gd name="T65" fmla="*/ 0 h 560"/>
                <a:gd name="T66" fmla="*/ 640 w 656"/>
                <a:gd name="T67" fmla="*/ 0 h 560"/>
                <a:gd name="T68" fmla="*/ 640 w 656"/>
                <a:gd name="T69" fmla="*/ 80 h 560"/>
                <a:gd name="T70" fmla="*/ 416 w 656"/>
                <a:gd name="T71" fmla="*/ 80 h 560"/>
                <a:gd name="T72" fmla="*/ 464 w 656"/>
                <a:gd name="T73" fmla="*/ 176 h 560"/>
                <a:gd name="T74" fmla="*/ 496 w 656"/>
                <a:gd name="T75" fmla="*/ 112 h 560"/>
                <a:gd name="T76" fmla="*/ 592 w 656"/>
                <a:gd name="T77" fmla="*/ 112 h 560"/>
                <a:gd name="T78" fmla="*/ 528 w 656"/>
                <a:gd name="T79" fmla="*/ 240 h 560"/>
                <a:gd name="T80" fmla="*/ 576 w 656"/>
                <a:gd name="T81" fmla="*/ 256 h 560"/>
                <a:gd name="T82" fmla="*/ 576 w 656"/>
                <a:gd name="T83" fmla="*/ 208 h 560"/>
                <a:gd name="T84" fmla="*/ 656 w 656"/>
                <a:gd name="T85" fmla="*/ 208 h 560"/>
                <a:gd name="T86" fmla="*/ 656 w 656"/>
                <a:gd name="T87" fmla="*/ 352 h 560"/>
                <a:gd name="T88" fmla="*/ 464 w 656"/>
                <a:gd name="T89" fmla="*/ 288 h 560"/>
                <a:gd name="T90" fmla="*/ 336 w 656"/>
                <a:gd name="T91" fmla="*/ 336 h 560"/>
                <a:gd name="T92" fmla="*/ 336 w 656"/>
                <a:gd name="T93" fmla="*/ 272 h 560"/>
                <a:gd name="T94" fmla="*/ 416 w 656"/>
                <a:gd name="T95" fmla="*/ 240 h 560"/>
                <a:gd name="T96" fmla="*/ 336 w 656"/>
                <a:gd name="T97" fmla="*/ 80 h 560"/>
                <a:gd name="T98" fmla="*/ 128 w 656"/>
                <a:gd name="T99" fmla="*/ 80 h 560"/>
                <a:gd name="T100" fmla="*/ 128 w 656"/>
                <a:gd name="T101" fmla="*/ 128 h 560"/>
                <a:gd name="T102" fmla="*/ 320 w 656"/>
                <a:gd name="T103" fmla="*/ 128 h 560"/>
                <a:gd name="T104" fmla="*/ 320 w 656"/>
                <a:gd name="T105" fmla="*/ 304 h 560"/>
                <a:gd name="T106" fmla="*/ 288 w 656"/>
                <a:gd name="T107" fmla="*/ 352 h 560"/>
                <a:gd name="T108" fmla="*/ 160 w 656"/>
                <a:gd name="T109" fmla="*/ 352 h 560"/>
                <a:gd name="T110" fmla="*/ 160 w 656"/>
                <a:gd name="T111" fmla="*/ 304 h 560"/>
                <a:gd name="T112" fmla="*/ 224 w 656"/>
                <a:gd name="T113" fmla="*/ 304 h 560"/>
                <a:gd name="T114" fmla="*/ 240 w 656"/>
                <a:gd name="T115" fmla="*/ 288 h 560"/>
                <a:gd name="T116" fmla="*/ 240 w 656"/>
                <a:gd name="T117" fmla="*/ 160 h 560"/>
                <a:gd name="T118" fmla="*/ 128 w 656"/>
                <a:gd name="T119" fmla="*/ 160 h 560"/>
                <a:gd name="T120" fmla="*/ 16 w 656"/>
                <a:gd name="T121" fmla="*/ 336 h 560"/>
                <a:gd name="T122" fmla="*/ 16 w 656"/>
                <a:gd name="T123" fmla="*/ 256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6" h="560">
                  <a:moveTo>
                    <a:pt x="16" y="512"/>
                  </a:moveTo>
                  <a:lnTo>
                    <a:pt x="16" y="352"/>
                  </a:lnTo>
                  <a:lnTo>
                    <a:pt x="624" y="352"/>
                  </a:lnTo>
                  <a:lnTo>
                    <a:pt x="624" y="512"/>
                  </a:lnTo>
                  <a:lnTo>
                    <a:pt x="656" y="512"/>
                  </a:lnTo>
                  <a:lnTo>
                    <a:pt x="656" y="560"/>
                  </a:lnTo>
                  <a:lnTo>
                    <a:pt x="0" y="560"/>
                  </a:lnTo>
                  <a:lnTo>
                    <a:pt x="0" y="512"/>
                  </a:lnTo>
                  <a:lnTo>
                    <a:pt x="16" y="512"/>
                  </a:lnTo>
                  <a:close/>
                  <a:moveTo>
                    <a:pt x="112" y="400"/>
                  </a:moveTo>
                  <a:lnTo>
                    <a:pt x="208" y="400"/>
                  </a:lnTo>
                  <a:lnTo>
                    <a:pt x="208" y="512"/>
                  </a:lnTo>
                  <a:lnTo>
                    <a:pt x="112" y="512"/>
                  </a:lnTo>
                  <a:lnTo>
                    <a:pt x="112" y="400"/>
                  </a:lnTo>
                  <a:close/>
                  <a:moveTo>
                    <a:pt x="272" y="400"/>
                  </a:moveTo>
                  <a:lnTo>
                    <a:pt x="384" y="400"/>
                  </a:lnTo>
                  <a:lnTo>
                    <a:pt x="384" y="512"/>
                  </a:lnTo>
                  <a:lnTo>
                    <a:pt x="272" y="512"/>
                  </a:lnTo>
                  <a:lnTo>
                    <a:pt x="272" y="400"/>
                  </a:lnTo>
                  <a:close/>
                  <a:moveTo>
                    <a:pt x="448" y="400"/>
                  </a:moveTo>
                  <a:lnTo>
                    <a:pt x="544" y="400"/>
                  </a:lnTo>
                  <a:lnTo>
                    <a:pt x="544" y="512"/>
                  </a:lnTo>
                  <a:lnTo>
                    <a:pt x="448" y="512"/>
                  </a:lnTo>
                  <a:lnTo>
                    <a:pt x="448" y="400"/>
                  </a:lnTo>
                  <a:close/>
                  <a:moveTo>
                    <a:pt x="16" y="256"/>
                  </a:moveTo>
                  <a:cubicBezTo>
                    <a:pt x="32" y="240"/>
                    <a:pt x="48" y="208"/>
                    <a:pt x="48" y="176"/>
                  </a:cubicBezTo>
                  <a:lnTo>
                    <a:pt x="48" y="32"/>
                  </a:lnTo>
                  <a:lnTo>
                    <a:pt x="336" y="32"/>
                  </a:lnTo>
                  <a:cubicBezTo>
                    <a:pt x="320" y="16"/>
                    <a:pt x="320" y="16"/>
                    <a:pt x="320" y="0"/>
                  </a:cubicBezTo>
                  <a:lnTo>
                    <a:pt x="400" y="0"/>
                  </a:lnTo>
                  <a:cubicBezTo>
                    <a:pt x="400" y="16"/>
                    <a:pt x="400" y="32"/>
                    <a:pt x="416" y="48"/>
                  </a:cubicBezTo>
                  <a:lnTo>
                    <a:pt x="560" y="48"/>
                  </a:lnTo>
                  <a:lnTo>
                    <a:pt x="560" y="0"/>
                  </a:lnTo>
                  <a:lnTo>
                    <a:pt x="640" y="0"/>
                  </a:lnTo>
                  <a:lnTo>
                    <a:pt x="640" y="80"/>
                  </a:lnTo>
                  <a:lnTo>
                    <a:pt x="416" y="80"/>
                  </a:lnTo>
                  <a:cubicBezTo>
                    <a:pt x="432" y="112"/>
                    <a:pt x="448" y="144"/>
                    <a:pt x="464" y="176"/>
                  </a:cubicBezTo>
                  <a:lnTo>
                    <a:pt x="496" y="112"/>
                  </a:lnTo>
                  <a:lnTo>
                    <a:pt x="592" y="112"/>
                  </a:lnTo>
                  <a:cubicBezTo>
                    <a:pt x="576" y="160"/>
                    <a:pt x="560" y="192"/>
                    <a:pt x="528" y="240"/>
                  </a:cubicBezTo>
                  <a:cubicBezTo>
                    <a:pt x="544" y="240"/>
                    <a:pt x="560" y="256"/>
                    <a:pt x="576" y="256"/>
                  </a:cubicBezTo>
                  <a:lnTo>
                    <a:pt x="576" y="208"/>
                  </a:lnTo>
                  <a:lnTo>
                    <a:pt x="656" y="208"/>
                  </a:lnTo>
                  <a:lnTo>
                    <a:pt x="656" y="352"/>
                  </a:lnTo>
                  <a:cubicBezTo>
                    <a:pt x="576" y="352"/>
                    <a:pt x="528" y="320"/>
                    <a:pt x="464" y="288"/>
                  </a:cubicBezTo>
                  <a:cubicBezTo>
                    <a:pt x="432" y="304"/>
                    <a:pt x="384" y="320"/>
                    <a:pt x="336" y="336"/>
                  </a:cubicBezTo>
                  <a:lnTo>
                    <a:pt x="336" y="272"/>
                  </a:lnTo>
                  <a:cubicBezTo>
                    <a:pt x="368" y="256"/>
                    <a:pt x="384" y="256"/>
                    <a:pt x="416" y="240"/>
                  </a:cubicBezTo>
                  <a:cubicBezTo>
                    <a:pt x="368" y="176"/>
                    <a:pt x="352" y="128"/>
                    <a:pt x="336" y="80"/>
                  </a:cubicBezTo>
                  <a:lnTo>
                    <a:pt x="128" y="80"/>
                  </a:lnTo>
                  <a:lnTo>
                    <a:pt x="128" y="128"/>
                  </a:lnTo>
                  <a:lnTo>
                    <a:pt x="320" y="128"/>
                  </a:lnTo>
                  <a:lnTo>
                    <a:pt x="320" y="304"/>
                  </a:lnTo>
                  <a:cubicBezTo>
                    <a:pt x="320" y="320"/>
                    <a:pt x="304" y="352"/>
                    <a:pt x="288" y="352"/>
                  </a:cubicBezTo>
                  <a:lnTo>
                    <a:pt x="160" y="352"/>
                  </a:lnTo>
                  <a:lnTo>
                    <a:pt x="160" y="304"/>
                  </a:lnTo>
                  <a:lnTo>
                    <a:pt x="224" y="304"/>
                  </a:lnTo>
                  <a:cubicBezTo>
                    <a:pt x="224" y="304"/>
                    <a:pt x="240" y="304"/>
                    <a:pt x="240" y="288"/>
                  </a:cubicBezTo>
                  <a:lnTo>
                    <a:pt x="240" y="160"/>
                  </a:lnTo>
                  <a:lnTo>
                    <a:pt x="128" y="160"/>
                  </a:lnTo>
                  <a:cubicBezTo>
                    <a:pt x="128" y="272"/>
                    <a:pt x="80" y="320"/>
                    <a:pt x="16" y="336"/>
                  </a:cubicBezTo>
                  <a:lnTo>
                    <a:pt x="16" y="256"/>
                  </a:lnTo>
                  <a:close/>
                </a:path>
              </a:pathLst>
            </a:custGeom>
            <a:solidFill>
              <a:schemeClr val="tx1"/>
            </a:solidFill>
            <a:ln w="0">
              <a:noFill/>
              <a:prstDash val="solid"/>
              <a:round/>
            </a:ln>
          </p:spPr>
          <p:txBody>
            <a:bodyPr vert="horz" wrap="square" lIns="91440" tIns="45720" rIns="91440" bIns="45720" numCol="1" anchor="t" anchorCtr="0" compatLnSpc="1"/>
            <a:lstStyle/>
            <a:p>
              <a:endParaRPr lang="zh-CN" altLang="en-US" sz="1100"/>
            </a:p>
          </p:txBody>
        </p:sp>
        <p:sp>
          <p:nvSpPr>
            <p:cNvPr id="22" name="文本框 21"/>
            <p:cNvSpPr txBox="1"/>
            <p:nvPr/>
          </p:nvSpPr>
          <p:spPr>
            <a:xfrm>
              <a:off x="7836774" y="706794"/>
              <a:ext cx="4044824" cy="458261"/>
            </a:xfrm>
            <a:prstGeom prst="rect">
              <a:avLst/>
            </a:prstGeom>
            <a:noFill/>
          </p:spPr>
          <p:txBody>
            <a:bodyPr wrap="square" rtlCol="0">
              <a:spAutoFit/>
            </a:bodyPr>
            <a:lstStyle/>
            <a:p>
              <a:pPr algn="just"/>
              <a:r>
                <a:rPr lang="zh-CN" altLang="en-US" sz="900" dirty="0">
                  <a:solidFill>
                    <a:schemeClr val="bg1">
                      <a:lumMod val="50000"/>
                    </a:schemeClr>
                  </a:solidFill>
                </a:rPr>
                <a:t>科   技   创   新  </a:t>
              </a:r>
              <a:r>
                <a:rPr lang="zh-CN" altLang="en-US" sz="900" baseline="0" dirty="0">
                  <a:solidFill>
                    <a:schemeClr val="bg1">
                      <a:lumMod val="50000"/>
                    </a:schemeClr>
                  </a:solidFill>
                </a:rPr>
                <a:t>    </a:t>
              </a:r>
              <a:r>
                <a:rPr lang="zh-CN" altLang="en-US" sz="900" dirty="0">
                  <a:solidFill>
                    <a:schemeClr val="bg1">
                      <a:lumMod val="50000"/>
                    </a:schemeClr>
                  </a:solidFill>
                </a:rPr>
                <a:t> 文   化   护   航</a:t>
              </a: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Freeform 16"/>
          <p:cNvSpPr/>
          <p:nvPr userDrawn="1"/>
        </p:nvSpPr>
        <p:spPr bwMode="auto">
          <a:xfrm>
            <a:off x="2522695" y="712470"/>
            <a:ext cx="9669305" cy="6487796"/>
          </a:xfrm>
          <a:custGeom>
            <a:avLst/>
            <a:gdLst>
              <a:gd name="T0" fmla="*/ 4653 w 4653"/>
              <a:gd name="T1" fmla="*/ 0 h 4322"/>
              <a:gd name="T2" fmla="*/ 2398 w 4653"/>
              <a:gd name="T3" fmla="*/ 0 h 4322"/>
              <a:gd name="T4" fmla="*/ 0 w 4653"/>
              <a:gd name="T5" fmla="*/ 4149 h 4322"/>
              <a:gd name="T6" fmla="*/ 100 w 4653"/>
              <a:gd name="T7" fmla="*/ 4322 h 4322"/>
              <a:gd name="T8" fmla="*/ 4653 w 4653"/>
              <a:gd name="T9" fmla="*/ 4322 h 4322"/>
              <a:gd name="T10" fmla="*/ 4653 w 4653"/>
              <a:gd name="T11" fmla="*/ 0 h 4322"/>
              <a:gd name="connsiteX0" fmla="*/ 10000 w 10000"/>
              <a:gd name="connsiteY0" fmla="*/ 0 h 10000"/>
              <a:gd name="connsiteX1" fmla="*/ 4967 w 10000"/>
              <a:gd name="connsiteY1" fmla="*/ 0 h 10000"/>
              <a:gd name="connsiteX2" fmla="*/ 0 w 10000"/>
              <a:gd name="connsiteY2" fmla="*/ 9600 h 10000"/>
              <a:gd name="connsiteX3" fmla="*/ 215 w 10000"/>
              <a:gd name="connsiteY3" fmla="*/ 10000 h 10000"/>
              <a:gd name="connsiteX4" fmla="*/ 10000 w 10000"/>
              <a:gd name="connsiteY4" fmla="*/ 10000 h 10000"/>
              <a:gd name="connsiteX5" fmla="*/ 10000 w 10000"/>
              <a:gd name="connsiteY5" fmla="*/ 0 h 10000"/>
              <a:gd name="connsiteX0-1" fmla="*/ 10000 w 10000"/>
              <a:gd name="connsiteY0-2" fmla="*/ 0 h 10000"/>
              <a:gd name="connsiteX1-3" fmla="*/ 4712 w 10000"/>
              <a:gd name="connsiteY1-4" fmla="*/ 0 h 10000"/>
              <a:gd name="connsiteX2-5" fmla="*/ 0 w 10000"/>
              <a:gd name="connsiteY2-6" fmla="*/ 9600 h 10000"/>
              <a:gd name="connsiteX3-7" fmla="*/ 215 w 10000"/>
              <a:gd name="connsiteY3-8" fmla="*/ 10000 h 10000"/>
              <a:gd name="connsiteX4-9" fmla="*/ 10000 w 10000"/>
              <a:gd name="connsiteY4-10" fmla="*/ 10000 h 10000"/>
              <a:gd name="connsiteX5-11" fmla="*/ 10000 w 10000"/>
              <a:gd name="connsiteY5-12" fmla="*/ 0 h 10000"/>
              <a:gd name="connsiteX0-13" fmla="*/ 10000 w 10000"/>
              <a:gd name="connsiteY0-14" fmla="*/ 0 h 10000"/>
              <a:gd name="connsiteX1-15" fmla="*/ 4464 w 10000"/>
              <a:gd name="connsiteY1-16" fmla="*/ 0 h 10000"/>
              <a:gd name="connsiteX2-17" fmla="*/ 0 w 10000"/>
              <a:gd name="connsiteY2-18" fmla="*/ 9600 h 10000"/>
              <a:gd name="connsiteX3-19" fmla="*/ 215 w 10000"/>
              <a:gd name="connsiteY3-20" fmla="*/ 10000 h 10000"/>
              <a:gd name="connsiteX4-21" fmla="*/ 10000 w 10000"/>
              <a:gd name="connsiteY4-22" fmla="*/ 10000 h 10000"/>
              <a:gd name="connsiteX5-23" fmla="*/ 10000 w 10000"/>
              <a:gd name="connsiteY5-24" fmla="*/ 0 h 10000"/>
              <a:gd name="connsiteX0-25" fmla="*/ 10000 w 10000"/>
              <a:gd name="connsiteY0-26" fmla="*/ 19 h 10019"/>
              <a:gd name="connsiteX1-27" fmla="*/ 4501 w 10000"/>
              <a:gd name="connsiteY1-28" fmla="*/ 0 h 10019"/>
              <a:gd name="connsiteX2-29" fmla="*/ 0 w 10000"/>
              <a:gd name="connsiteY2-30" fmla="*/ 9619 h 10019"/>
              <a:gd name="connsiteX3-31" fmla="*/ 215 w 10000"/>
              <a:gd name="connsiteY3-32" fmla="*/ 10019 h 10019"/>
              <a:gd name="connsiteX4-33" fmla="*/ 10000 w 10000"/>
              <a:gd name="connsiteY4-34" fmla="*/ 10019 h 10019"/>
              <a:gd name="connsiteX5-35" fmla="*/ 10000 w 10000"/>
              <a:gd name="connsiteY5-36" fmla="*/ 19 h 1001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000" h="10019">
                <a:moveTo>
                  <a:pt x="10000" y="19"/>
                </a:moveTo>
                <a:lnTo>
                  <a:pt x="4501" y="0"/>
                </a:lnTo>
                <a:cubicBezTo>
                  <a:pt x="2930" y="3200"/>
                  <a:pt x="1571" y="6419"/>
                  <a:pt x="0" y="9619"/>
                </a:cubicBezTo>
                <a:cubicBezTo>
                  <a:pt x="72" y="9752"/>
                  <a:pt x="143" y="9886"/>
                  <a:pt x="215" y="10019"/>
                </a:cubicBezTo>
                <a:lnTo>
                  <a:pt x="10000" y="10019"/>
                </a:lnTo>
                <a:lnTo>
                  <a:pt x="10000" y="19"/>
                </a:lnTo>
                <a:close/>
              </a:path>
            </a:pathLst>
          </a:custGeom>
          <a:solidFill>
            <a:schemeClr val="accent1">
              <a:lumMod val="20000"/>
              <a:lumOff val="80000"/>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a typeface="思源黑体" panose="020B0500000000000000" pitchFamily="34" charset="-122"/>
            </a:endParaRPr>
          </a:p>
        </p:txBody>
      </p:sp>
      <p:sp>
        <p:nvSpPr>
          <p:cNvPr id="8" name="123"/>
          <p:cNvSpPr/>
          <p:nvPr userDrawn="1">
            <p:custDataLst>
              <p:tags r:id="rId5"/>
            </p:custDataLst>
          </p:nvPr>
        </p:nvSpPr>
        <p:spPr>
          <a:xfrm>
            <a:off x="11153505" y="5897007"/>
            <a:ext cx="609166" cy="609166"/>
          </a:xfrm>
          <a:prstGeom prst="ellipse">
            <a:avLst/>
          </a:prstGeom>
          <a:solidFill>
            <a:srgbClr val="062C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思源黑体" panose="020B0500000000000000" pitchFamily="34" charset="-122"/>
              <a:cs typeface="+mn-cs"/>
            </a:endParaRPr>
          </a:p>
        </p:txBody>
      </p:sp>
      <p:pic>
        <p:nvPicPr>
          <p:cNvPr id="4" name="图片 3"/>
          <p:cNvPicPr>
            <a:picLocks noChangeAspect="1"/>
          </p:cNvPicPr>
          <p:nvPr userDrawn="1"/>
        </p:nvPicPr>
        <p:blipFill>
          <a:blip r:embed="rId6" cstate="print">
            <a:extLst>
              <a:ext uri="{BEBA8EAE-BF5A-486C-A8C5-ECC9F3942E4B}">
                <a14:imgProps xmlns="" xmlns:a14="http://schemas.microsoft.com/office/drawing/2010/main">
                  <a14:imgLayer r:embed="rId7">
                    <a14:imgEffect>
                      <a14:saturation sat="80000"/>
                    </a14:imgEffect>
                  </a14:imgLayer>
                </a14:imgProps>
              </a:ext>
              <a:ext uri="{28A0092B-C50C-407E-A947-70E740481C1C}">
                <a14:useLocalDpi xmlns="" xmlns:a14="http://schemas.microsoft.com/office/drawing/2010/main" val="0"/>
              </a:ext>
            </a:extLst>
          </a:blip>
          <a:stretch>
            <a:fillRect/>
          </a:stretch>
        </p:blipFill>
        <p:spPr>
          <a:xfrm>
            <a:off x="0" y="2704"/>
            <a:ext cx="5234342" cy="6852592"/>
          </a:xfrm>
          <a:prstGeom prst="rect">
            <a:avLst/>
          </a:prstGeom>
        </p:spPr>
      </p:pic>
      <p:grpSp>
        <p:nvGrpSpPr>
          <p:cNvPr id="12" name="组合 11"/>
          <p:cNvGrpSpPr/>
          <p:nvPr userDrawn="1"/>
        </p:nvGrpSpPr>
        <p:grpSpPr>
          <a:xfrm>
            <a:off x="3677174" y="5132000"/>
            <a:ext cx="3461275" cy="1726000"/>
            <a:chOff x="3471021" y="4985765"/>
            <a:chExt cx="2750572" cy="1872236"/>
          </a:xfrm>
        </p:grpSpPr>
        <p:sp>
          <p:nvSpPr>
            <p:cNvPr id="13" name="任意多边形: 形状 68"/>
            <p:cNvSpPr/>
            <p:nvPr/>
          </p:nvSpPr>
          <p:spPr>
            <a:xfrm>
              <a:off x="3471021" y="5617900"/>
              <a:ext cx="2750572" cy="1240101"/>
            </a:xfrm>
            <a:custGeom>
              <a:avLst/>
              <a:gdLst>
                <a:gd name="connsiteX0" fmla="*/ 688066 w 2750572"/>
                <a:gd name="connsiteY0" fmla="*/ 0 h 1240101"/>
                <a:gd name="connsiteX1" fmla="*/ 2062507 w 2750572"/>
                <a:gd name="connsiteY1" fmla="*/ 0 h 1240101"/>
                <a:gd name="connsiteX2" fmla="*/ 2750572 w 2750572"/>
                <a:gd name="connsiteY2" fmla="*/ 1186787 h 1240101"/>
                <a:gd name="connsiteX3" fmla="*/ 2719750 w 2750572"/>
                <a:gd name="connsiteY3" fmla="*/ 1240101 h 1240101"/>
                <a:gd name="connsiteX4" fmla="*/ 30822 w 2750572"/>
                <a:gd name="connsiteY4" fmla="*/ 1240101 h 1240101"/>
                <a:gd name="connsiteX5" fmla="*/ 0 w 2750572"/>
                <a:gd name="connsiteY5" fmla="*/ 1186787 h 1240101"/>
                <a:gd name="connsiteX6" fmla="*/ 688066 w 2750572"/>
                <a:gd name="connsiteY6" fmla="*/ 0 h 1240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0572" h="1240101">
                  <a:moveTo>
                    <a:pt x="688066" y="0"/>
                  </a:moveTo>
                  <a:lnTo>
                    <a:pt x="2062507" y="0"/>
                  </a:lnTo>
                  <a:lnTo>
                    <a:pt x="2750572" y="1186787"/>
                  </a:lnTo>
                  <a:lnTo>
                    <a:pt x="2719750" y="1240101"/>
                  </a:lnTo>
                  <a:lnTo>
                    <a:pt x="30822" y="1240101"/>
                  </a:lnTo>
                  <a:lnTo>
                    <a:pt x="0" y="1186787"/>
                  </a:lnTo>
                  <a:lnTo>
                    <a:pt x="688066" y="0"/>
                  </a:lnTo>
                  <a:close/>
                </a:path>
              </a:pathLst>
            </a:custGeom>
            <a:solidFill>
              <a:srgbClr val="7CBEE0">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ea typeface="思源黑体" panose="020B0500000000000000" pitchFamily="34" charset="-122"/>
              </a:endParaRPr>
            </a:p>
          </p:txBody>
        </p:sp>
        <p:sp>
          <p:nvSpPr>
            <p:cNvPr id="14" name="Freeform 21"/>
            <p:cNvSpPr/>
            <p:nvPr/>
          </p:nvSpPr>
          <p:spPr bwMode="auto">
            <a:xfrm>
              <a:off x="3558108" y="4985765"/>
              <a:ext cx="1042922" cy="1142742"/>
            </a:xfrm>
            <a:custGeom>
              <a:avLst/>
              <a:gdLst>
                <a:gd name="T0" fmla="*/ 1220 w 1627"/>
                <a:gd name="T1" fmla="*/ 0 h 1406"/>
                <a:gd name="T2" fmla="*/ 407 w 1627"/>
                <a:gd name="T3" fmla="*/ 0 h 1406"/>
                <a:gd name="T4" fmla="*/ 0 w 1627"/>
                <a:gd name="T5" fmla="*/ 702 h 1406"/>
                <a:gd name="T6" fmla="*/ 407 w 1627"/>
                <a:gd name="T7" fmla="*/ 1406 h 1406"/>
                <a:gd name="T8" fmla="*/ 1220 w 1627"/>
                <a:gd name="T9" fmla="*/ 1406 h 1406"/>
                <a:gd name="T10" fmla="*/ 1627 w 1627"/>
                <a:gd name="T11" fmla="*/ 702 h 1406"/>
                <a:gd name="T12" fmla="*/ 1220 w 1627"/>
                <a:gd name="T13" fmla="*/ 0 h 1406"/>
              </a:gdLst>
              <a:ahLst/>
              <a:cxnLst>
                <a:cxn ang="0">
                  <a:pos x="T0" y="T1"/>
                </a:cxn>
                <a:cxn ang="0">
                  <a:pos x="T2" y="T3"/>
                </a:cxn>
                <a:cxn ang="0">
                  <a:pos x="T4" y="T5"/>
                </a:cxn>
                <a:cxn ang="0">
                  <a:pos x="T6" y="T7"/>
                </a:cxn>
                <a:cxn ang="0">
                  <a:pos x="T8" y="T9"/>
                </a:cxn>
                <a:cxn ang="0">
                  <a:pos x="T10" y="T11"/>
                </a:cxn>
                <a:cxn ang="0">
                  <a:pos x="T12" y="T13"/>
                </a:cxn>
              </a:cxnLst>
              <a:rect l="0" t="0" r="r" b="b"/>
              <a:pathLst>
                <a:path w="1627" h="1406">
                  <a:moveTo>
                    <a:pt x="1220" y="0"/>
                  </a:moveTo>
                  <a:lnTo>
                    <a:pt x="407" y="0"/>
                  </a:lnTo>
                  <a:lnTo>
                    <a:pt x="0" y="702"/>
                  </a:lnTo>
                  <a:lnTo>
                    <a:pt x="407" y="1406"/>
                  </a:lnTo>
                  <a:lnTo>
                    <a:pt x="1220" y="1406"/>
                  </a:lnTo>
                  <a:lnTo>
                    <a:pt x="1627" y="702"/>
                  </a:lnTo>
                  <a:lnTo>
                    <a:pt x="1220" y="0"/>
                  </a:lnTo>
                  <a:close/>
                </a:path>
              </a:pathLst>
            </a:custGeom>
            <a:solidFill>
              <a:srgbClr val="CDE7F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a typeface="思源黑体" panose="020B0500000000000000" pitchFamily="34" charset="-122"/>
              </a:endParaRPr>
            </a:p>
          </p:txBody>
        </p:sp>
      </p:grpSp>
      <p:grpSp>
        <p:nvGrpSpPr>
          <p:cNvPr id="15" name="组合 14"/>
          <p:cNvGrpSpPr/>
          <p:nvPr userDrawn="1"/>
        </p:nvGrpSpPr>
        <p:grpSpPr>
          <a:xfrm>
            <a:off x="5099159" y="1068265"/>
            <a:ext cx="7092843" cy="5792337"/>
            <a:chOff x="5867893" y="1209154"/>
            <a:chExt cx="6324107" cy="5164552"/>
          </a:xfrm>
          <a:solidFill>
            <a:srgbClr val="3992DB"/>
          </a:solidFill>
        </p:grpSpPr>
        <p:sp>
          <p:nvSpPr>
            <p:cNvPr id="17" name="任意多边形: 形状 77"/>
            <p:cNvSpPr/>
            <p:nvPr/>
          </p:nvSpPr>
          <p:spPr>
            <a:xfrm>
              <a:off x="5867893" y="1209154"/>
              <a:ext cx="6324107" cy="5162148"/>
            </a:xfrm>
            <a:custGeom>
              <a:avLst/>
              <a:gdLst>
                <a:gd name="connsiteX0" fmla="*/ 2000762 w 6361051"/>
                <a:gd name="connsiteY0" fmla="*/ 0 h 5162148"/>
                <a:gd name="connsiteX1" fmla="*/ 6361051 w 6361051"/>
                <a:gd name="connsiteY1" fmla="*/ 0 h 5162148"/>
                <a:gd name="connsiteX2" fmla="*/ 6361051 w 6361051"/>
                <a:gd name="connsiteY2" fmla="*/ 5162148 h 5162148"/>
                <a:gd name="connsiteX3" fmla="*/ 1700885 w 6361051"/>
                <a:gd name="connsiteY3" fmla="*/ 5162148 h 5162148"/>
                <a:gd name="connsiteX4" fmla="*/ 0 w 6361051"/>
                <a:gd name="connsiteY4" fmla="*/ 2819888 h 5162148"/>
                <a:gd name="connsiteX5" fmla="*/ 2000762 w 6361051"/>
                <a:gd name="connsiteY5" fmla="*/ 0 h 5162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61051" h="5162148">
                  <a:moveTo>
                    <a:pt x="2000762" y="0"/>
                  </a:moveTo>
                  <a:lnTo>
                    <a:pt x="6361051" y="0"/>
                  </a:lnTo>
                  <a:lnTo>
                    <a:pt x="6361051" y="5162148"/>
                  </a:lnTo>
                  <a:lnTo>
                    <a:pt x="1700885" y="5162148"/>
                  </a:lnTo>
                  <a:lnTo>
                    <a:pt x="0" y="2819888"/>
                  </a:lnTo>
                  <a:lnTo>
                    <a:pt x="200076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ea typeface="思源黑体" panose="020B0500000000000000" pitchFamily="34" charset="-122"/>
              </a:endParaRPr>
            </a:p>
          </p:txBody>
        </p:sp>
        <p:sp>
          <p:nvSpPr>
            <p:cNvPr id="18" name="任意多边形: 形状 79"/>
            <p:cNvSpPr/>
            <p:nvPr/>
          </p:nvSpPr>
          <p:spPr>
            <a:xfrm>
              <a:off x="9811247" y="4441668"/>
              <a:ext cx="2380752" cy="1932038"/>
            </a:xfrm>
            <a:custGeom>
              <a:avLst/>
              <a:gdLst>
                <a:gd name="connsiteX0" fmla="*/ 2000762 w 6361051"/>
                <a:gd name="connsiteY0" fmla="*/ 0 h 5162148"/>
                <a:gd name="connsiteX1" fmla="*/ 6361051 w 6361051"/>
                <a:gd name="connsiteY1" fmla="*/ 0 h 5162148"/>
                <a:gd name="connsiteX2" fmla="*/ 6361051 w 6361051"/>
                <a:gd name="connsiteY2" fmla="*/ 5162148 h 5162148"/>
                <a:gd name="connsiteX3" fmla="*/ 1700885 w 6361051"/>
                <a:gd name="connsiteY3" fmla="*/ 5162148 h 5162148"/>
                <a:gd name="connsiteX4" fmla="*/ 0 w 6361051"/>
                <a:gd name="connsiteY4" fmla="*/ 2819888 h 5162148"/>
                <a:gd name="connsiteX5" fmla="*/ 2000762 w 6361051"/>
                <a:gd name="connsiteY5" fmla="*/ 0 h 5162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61051" h="5162148">
                  <a:moveTo>
                    <a:pt x="2000762" y="0"/>
                  </a:moveTo>
                  <a:lnTo>
                    <a:pt x="6361051" y="0"/>
                  </a:lnTo>
                  <a:lnTo>
                    <a:pt x="6361051" y="5162148"/>
                  </a:lnTo>
                  <a:lnTo>
                    <a:pt x="1700885" y="5162148"/>
                  </a:lnTo>
                  <a:lnTo>
                    <a:pt x="0" y="2819888"/>
                  </a:lnTo>
                  <a:lnTo>
                    <a:pt x="200076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ea typeface="思源黑体" panose="020B0500000000000000" pitchFamily="34" charset="-122"/>
              </a:endParaRPr>
            </a:p>
          </p:txBody>
        </p:sp>
      </p:grpSp>
      <p:grpSp>
        <p:nvGrpSpPr>
          <p:cNvPr id="19" name="组合 18"/>
          <p:cNvGrpSpPr/>
          <p:nvPr userDrawn="1"/>
        </p:nvGrpSpPr>
        <p:grpSpPr>
          <a:xfrm>
            <a:off x="0" y="4060494"/>
            <a:ext cx="3028950" cy="2797506"/>
            <a:chOff x="0" y="3609283"/>
            <a:chExt cx="3097161" cy="3248717"/>
          </a:xfrm>
        </p:grpSpPr>
        <p:sp>
          <p:nvSpPr>
            <p:cNvPr id="20" name="任意多边形: 形状 35"/>
            <p:cNvSpPr/>
            <p:nvPr/>
          </p:nvSpPr>
          <p:spPr>
            <a:xfrm>
              <a:off x="0" y="3609283"/>
              <a:ext cx="3097161" cy="3248717"/>
            </a:xfrm>
            <a:custGeom>
              <a:avLst/>
              <a:gdLst>
                <a:gd name="connsiteX0" fmla="*/ 0 w 3097161"/>
                <a:gd name="connsiteY0" fmla="*/ 0 h 3248717"/>
                <a:gd name="connsiteX1" fmla="*/ 1807845 w 3097161"/>
                <a:gd name="connsiteY1" fmla="*/ 0 h 3248717"/>
                <a:gd name="connsiteX2" fmla="*/ 3097161 w 3097161"/>
                <a:gd name="connsiteY2" fmla="*/ 2230611 h 3248717"/>
                <a:gd name="connsiteX3" fmla="*/ 2508869 w 3097161"/>
                <a:gd name="connsiteY3" fmla="*/ 3248717 h 3248717"/>
                <a:gd name="connsiteX4" fmla="*/ 0 w 3097161"/>
                <a:gd name="connsiteY4" fmla="*/ 3248717 h 3248717"/>
                <a:gd name="connsiteX5" fmla="*/ 0 w 3097161"/>
                <a:gd name="connsiteY5" fmla="*/ 0 h 3248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97161" h="3248717">
                  <a:moveTo>
                    <a:pt x="0" y="0"/>
                  </a:moveTo>
                  <a:lnTo>
                    <a:pt x="1807845" y="0"/>
                  </a:lnTo>
                  <a:lnTo>
                    <a:pt x="3097161" y="2230611"/>
                  </a:lnTo>
                  <a:lnTo>
                    <a:pt x="2508869" y="3248717"/>
                  </a:lnTo>
                  <a:lnTo>
                    <a:pt x="0" y="3248717"/>
                  </a:lnTo>
                  <a:lnTo>
                    <a:pt x="0" y="0"/>
                  </a:lnTo>
                  <a:close/>
                </a:path>
              </a:pathLst>
            </a:cu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思源黑体" panose="020B0500000000000000" pitchFamily="34" charset="-122"/>
              </a:endParaRPr>
            </a:p>
          </p:txBody>
        </p:sp>
        <p:sp>
          <p:nvSpPr>
            <p:cNvPr id="21" name="Freeform 11"/>
            <p:cNvSpPr/>
            <p:nvPr/>
          </p:nvSpPr>
          <p:spPr bwMode="auto">
            <a:xfrm>
              <a:off x="0" y="3995737"/>
              <a:ext cx="2105025" cy="2862263"/>
            </a:xfrm>
            <a:custGeom>
              <a:avLst/>
              <a:gdLst>
                <a:gd name="T0" fmla="*/ 774 w 1326"/>
                <a:gd name="T1" fmla="*/ 0 h 1803"/>
                <a:gd name="T2" fmla="*/ 0 w 1326"/>
                <a:gd name="T3" fmla="*/ 0 h 1803"/>
                <a:gd name="T4" fmla="*/ 0 w 1326"/>
                <a:gd name="T5" fmla="*/ 1803 h 1803"/>
                <a:gd name="T6" fmla="*/ 836 w 1326"/>
                <a:gd name="T7" fmla="*/ 1803 h 1803"/>
                <a:gd name="T8" fmla="*/ 1326 w 1326"/>
                <a:gd name="T9" fmla="*/ 955 h 1803"/>
                <a:gd name="T10" fmla="*/ 774 w 1326"/>
                <a:gd name="T11" fmla="*/ 0 h 1803"/>
              </a:gdLst>
              <a:ahLst/>
              <a:cxnLst>
                <a:cxn ang="0">
                  <a:pos x="T0" y="T1"/>
                </a:cxn>
                <a:cxn ang="0">
                  <a:pos x="T2" y="T3"/>
                </a:cxn>
                <a:cxn ang="0">
                  <a:pos x="T4" y="T5"/>
                </a:cxn>
                <a:cxn ang="0">
                  <a:pos x="T6" y="T7"/>
                </a:cxn>
                <a:cxn ang="0">
                  <a:pos x="T8" y="T9"/>
                </a:cxn>
                <a:cxn ang="0">
                  <a:pos x="T10" y="T11"/>
                </a:cxn>
              </a:cxnLst>
              <a:rect l="0" t="0" r="r" b="b"/>
              <a:pathLst>
                <a:path w="1326" h="1803">
                  <a:moveTo>
                    <a:pt x="774" y="0"/>
                  </a:moveTo>
                  <a:lnTo>
                    <a:pt x="0" y="0"/>
                  </a:lnTo>
                  <a:lnTo>
                    <a:pt x="0" y="1803"/>
                  </a:lnTo>
                  <a:lnTo>
                    <a:pt x="836" y="1803"/>
                  </a:lnTo>
                  <a:lnTo>
                    <a:pt x="1326" y="955"/>
                  </a:lnTo>
                  <a:lnTo>
                    <a:pt x="774" y="0"/>
                  </a:lnTo>
                  <a:close/>
                </a:path>
              </a:pathLst>
            </a:custGeom>
            <a:solidFill>
              <a:schemeClr val="accent1">
                <a:alpha val="42000"/>
              </a:schemeClr>
            </a:solidFill>
            <a:ln>
              <a:noFill/>
            </a:ln>
          </p:spPr>
          <p:txBody>
            <a:bodyPr vert="horz" wrap="square" lIns="91440" tIns="45720" rIns="91440" bIns="45720" numCol="1" anchor="t" anchorCtr="0" compatLnSpc="1"/>
            <a:lstStyle/>
            <a:p>
              <a:endParaRPr lang="zh-CN" altLang="en-US">
                <a:ea typeface="思源黑体" panose="020B0500000000000000" pitchFamily="34" charset="-122"/>
              </a:endParaRPr>
            </a:p>
          </p:txBody>
        </p:sp>
      </p:grpSp>
      <p:grpSp>
        <p:nvGrpSpPr>
          <p:cNvPr id="2" name="组合 1"/>
          <p:cNvGrpSpPr/>
          <p:nvPr userDrawn="1"/>
        </p:nvGrpSpPr>
        <p:grpSpPr>
          <a:xfrm>
            <a:off x="9601200" y="405735"/>
            <a:ext cx="1919288" cy="456511"/>
            <a:chOff x="7836774" y="258763"/>
            <a:chExt cx="4044824" cy="906292"/>
          </a:xfrm>
        </p:grpSpPr>
        <p:sp>
          <p:nvSpPr>
            <p:cNvPr id="3" name="Freeform 5"/>
            <p:cNvSpPr/>
            <p:nvPr/>
          </p:nvSpPr>
          <p:spPr bwMode="auto">
            <a:xfrm>
              <a:off x="8618539" y="282576"/>
              <a:ext cx="544513" cy="374650"/>
            </a:xfrm>
            <a:custGeom>
              <a:avLst/>
              <a:gdLst>
                <a:gd name="T0" fmla="*/ 0 w 704"/>
                <a:gd name="T1" fmla="*/ 416 h 528"/>
                <a:gd name="T2" fmla="*/ 432 w 704"/>
                <a:gd name="T3" fmla="*/ 416 h 528"/>
                <a:gd name="T4" fmla="*/ 480 w 704"/>
                <a:gd name="T5" fmla="*/ 384 h 528"/>
                <a:gd name="T6" fmla="*/ 480 w 704"/>
                <a:gd name="T7" fmla="*/ 352 h 528"/>
                <a:gd name="T8" fmla="*/ 432 w 704"/>
                <a:gd name="T9" fmla="*/ 320 h 528"/>
                <a:gd name="T10" fmla="*/ 160 w 704"/>
                <a:gd name="T11" fmla="*/ 256 h 528"/>
                <a:gd name="T12" fmla="*/ 0 w 704"/>
                <a:gd name="T13" fmla="*/ 144 h 528"/>
                <a:gd name="T14" fmla="*/ 0 w 704"/>
                <a:gd name="T15" fmla="*/ 64 h 528"/>
                <a:gd name="T16" fmla="*/ 80 w 704"/>
                <a:gd name="T17" fmla="*/ 0 h 528"/>
                <a:gd name="T18" fmla="*/ 704 w 704"/>
                <a:gd name="T19" fmla="*/ 0 h 528"/>
                <a:gd name="T20" fmla="*/ 704 w 704"/>
                <a:gd name="T21" fmla="*/ 96 h 528"/>
                <a:gd name="T22" fmla="*/ 224 w 704"/>
                <a:gd name="T23" fmla="*/ 96 h 528"/>
                <a:gd name="T24" fmla="*/ 224 w 704"/>
                <a:gd name="T25" fmla="*/ 160 h 528"/>
                <a:gd name="T26" fmla="*/ 272 w 704"/>
                <a:gd name="T27" fmla="*/ 192 h 528"/>
                <a:gd name="T28" fmla="*/ 608 w 704"/>
                <a:gd name="T29" fmla="*/ 256 h 528"/>
                <a:gd name="T30" fmla="*/ 704 w 704"/>
                <a:gd name="T31" fmla="*/ 336 h 528"/>
                <a:gd name="T32" fmla="*/ 704 w 704"/>
                <a:gd name="T33" fmla="*/ 432 h 528"/>
                <a:gd name="T34" fmla="*/ 624 w 704"/>
                <a:gd name="T35" fmla="*/ 528 h 528"/>
                <a:gd name="T36" fmla="*/ 0 w 704"/>
                <a:gd name="T37" fmla="*/ 528 h 528"/>
                <a:gd name="T38" fmla="*/ 0 w 704"/>
                <a:gd name="T39" fmla="*/ 416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04" h="528">
                  <a:moveTo>
                    <a:pt x="0" y="416"/>
                  </a:moveTo>
                  <a:lnTo>
                    <a:pt x="432" y="416"/>
                  </a:lnTo>
                  <a:cubicBezTo>
                    <a:pt x="464" y="416"/>
                    <a:pt x="480" y="416"/>
                    <a:pt x="480" y="384"/>
                  </a:cubicBezTo>
                  <a:lnTo>
                    <a:pt x="480" y="352"/>
                  </a:lnTo>
                  <a:cubicBezTo>
                    <a:pt x="480" y="336"/>
                    <a:pt x="448" y="320"/>
                    <a:pt x="432" y="320"/>
                  </a:cubicBezTo>
                  <a:lnTo>
                    <a:pt x="160" y="256"/>
                  </a:lnTo>
                  <a:cubicBezTo>
                    <a:pt x="64" y="240"/>
                    <a:pt x="16" y="208"/>
                    <a:pt x="0" y="144"/>
                  </a:cubicBezTo>
                  <a:lnTo>
                    <a:pt x="0" y="64"/>
                  </a:lnTo>
                  <a:cubicBezTo>
                    <a:pt x="0" y="32"/>
                    <a:pt x="32" y="0"/>
                    <a:pt x="80" y="0"/>
                  </a:cubicBezTo>
                  <a:lnTo>
                    <a:pt x="704" y="0"/>
                  </a:lnTo>
                  <a:lnTo>
                    <a:pt x="704" y="96"/>
                  </a:lnTo>
                  <a:lnTo>
                    <a:pt x="224" y="96"/>
                  </a:lnTo>
                  <a:lnTo>
                    <a:pt x="224" y="160"/>
                  </a:lnTo>
                  <a:cubicBezTo>
                    <a:pt x="224" y="176"/>
                    <a:pt x="256" y="176"/>
                    <a:pt x="272" y="192"/>
                  </a:cubicBezTo>
                  <a:lnTo>
                    <a:pt x="608" y="256"/>
                  </a:lnTo>
                  <a:cubicBezTo>
                    <a:pt x="656" y="272"/>
                    <a:pt x="704" y="288"/>
                    <a:pt x="704" y="336"/>
                  </a:cubicBezTo>
                  <a:lnTo>
                    <a:pt x="704" y="432"/>
                  </a:lnTo>
                  <a:cubicBezTo>
                    <a:pt x="704" y="480"/>
                    <a:pt x="672" y="528"/>
                    <a:pt x="624" y="528"/>
                  </a:cubicBezTo>
                  <a:lnTo>
                    <a:pt x="0" y="528"/>
                  </a:lnTo>
                  <a:lnTo>
                    <a:pt x="0" y="416"/>
                  </a:lnTo>
                  <a:close/>
                </a:path>
              </a:pathLst>
            </a:custGeom>
            <a:solidFill>
              <a:srgbClr val="0070C0"/>
            </a:solidFill>
            <a:ln w="0">
              <a:noFill/>
              <a:prstDash val="solid"/>
              <a:round/>
            </a:ln>
          </p:spPr>
          <p:txBody>
            <a:bodyPr vert="horz" wrap="square" lIns="91440" tIns="45720" rIns="91440" bIns="45720" numCol="1" anchor="t" anchorCtr="0" compatLnSpc="1"/>
            <a:lstStyle/>
            <a:p>
              <a:endParaRPr lang="zh-CN" altLang="en-US" sz="1100">
                <a:ea typeface="思源黑体" panose="020B0500000000000000" pitchFamily="34" charset="-122"/>
              </a:endParaRPr>
            </a:p>
          </p:txBody>
        </p:sp>
        <p:sp>
          <p:nvSpPr>
            <p:cNvPr id="5" name="Freeform 6"/>
            <p:cNvSpPr/>
            <p:nvPr/>
          </p:nvSpPr>
          <p:spPr bwMode="auto">
            <a:xfrm>
              <a:off x="7974014" y="271463"/>
              <a:ext cx="593724" cy="374650"/>
            </a:xfrm>
            <a:custGeom>
              <a:avLst/>
              <a:gdLst>
                <a:gd name="T0" fmla="*/ 93 w 374"/>
                <a:gd name="T1" fmla="*/ 93 h 236"/>
                <a:gd name="T2" fmla="*/ 281 w 374"/>
                <a:gd name="T3" fmla="*/ 93 h 236"/>
                <a:gd name="T4" fmla="*/ 281 w 374"/>
                <a:gd name="T5" fmla="*/ 0 h 236"/>
                <a:gd name="T6" fmla="*/ 374 w 374"/>
                <a:gd name="T7" fmla="*/ 0 h 236"/>
                <a:gd name="T8" fmla="*/ 374 w 374"/>
                <a:gd name="T9" fmla="*/ 236 h 236"/>
                <a:gd name="T10" fmla="*/ 281 w 374"/>
                <a:gd name="T11" fmla="*/ 236 h 236"/>
                <a:gd name="T12" fmla="*/ 281 w 374"/>
                <a:gd name="T13" fmla="*/ 136 h 236"/>
                <a:gd name="T14" fmla="*/ 93 w 374"/>
                <a:gd name="T15" fmla="*/ 136 h 236"/>
                <a:gd name="T16" fmla="*/ 93 w 374"/>
                <a:gd name="T17" fmla="*/ 236 h 236"/>
                <a:gd name="T18" fmla="*/ 0 w 374"/>
                <a:gd name="T19" fmla="*/ 236 h 236"/>
                <a:gd name="T20" fmla="*/ 0 w 374"/>
                <a:gd name="T21" fmla="*/ 0 h 236"/>
                <a:gd name="T22" fmla="*/ 93 w 374"/>
                <a:gd name="T23" fmla="*/ 0 h 236"/>
                <a:gd name="T24" fmla="*/ 93 w 374"/>
                <a:gd name="T25" fmla="*/ 9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74" h="236">
                  <a:moveTo>
                    <a:pt x="93" y="93"/>
                  </a:moveTo>
                  <a:lnTo>
                    <a:pt x="281" y="93"/>
                  </a:lnTo>
                  <a:lnTo>
                    <a:pt x="281" y="0"/>
                  </a:lnTo>
                  <a:lnTo>
                    <a:pt x="374" y="0"/>
                  </a:lnTo>
                  <a:lnTo>
                    <a:pt x="374" y="236"/>
                  </a:lnTo>
                  <a:lnTo>
                    <a:pt x="281" y="236"/>
                  </a:lnTo>
                  <a:lnTo>
                    <a:pt x="281" y="136"/>
                  </a:lnTo>
                  <a:lnTo>
                    <a:pt x="93" y="136"/>
                  </a:lnTo>
                  <a:lnTo>
                    <a:pt x="93" y="236"/>
                  </a:lnTo>
                  <a:lnTo>
                    <a:pt x="0" y="236"/>
                  </a:lnTo>
                  <a:lnTo>
                    <a:pt x="0" y="0"/>
                  </a:lnTo>
                  <a:lnTo>
                    <a:pt x="93" y="0"/>
                  </a:lnTo>
                  <a:lnTo>
                    <a:pt x="93" y="93"/>
                  </a:lnTo>
                  <a:close/>
                </a:path>
              </a:pathLst>
            </a:custGeom>
            <a:solidFill>
              <a:srgbClr val="0070C0"/>
            </a:solidFill>
            <a:ln>
              <a:noFill/>
            </a:ln>
          </p:spPr>
          <p:txBody>
            <a:bodyPr vert="horz" wrap="square" lIns="91440" tIns="45720" rIns="91440" bIns="45720" numCol="1" anchor="t" anchorCtr="0" compatLnSpc="1"/>
            <a:lstStyle/>
            <a:p>
              <a:endParaRPr lang="zh-CN" altLang="en-US" sz="1100">
                <a:ea typeface="思源黑体" panose="020B0500000000000000" pitchFamily="34" charset="-122"/>
              </a:endParaRPr>
            </a:p>
          </p:txBody>
        </p:sp>
        <p:sp>
          <p:nvSpPr>
            <p:cNvPr id="16" name="Freeform 7"/>
            <p:cNvSpPr>
              <a:spLocks noEditPoints="1"/>
            </p:cNvSpPr>
            <p:nvPr/>
          </p:nvSpPr>
          <p:spPr bwMode="auto">
            <a:xfrm>
              <a:off x="9163052" y="282576"/>
              <a:ext cx="693738" cy="374650"/>
            </a:xfrm>
            <a:custGeom>
              <a:avLst/>
              <a:gdLst>
                <a:gd name="T0" fmla="*/ 16 w 896"/>
                <a:gd name="T1" fmla="*/ 512 h 528"/>
                <a:gd name="T2" fmla="*/ 144 w 896"/>
                <a:gd name="T3" fmla="*/ 304 h 528"/>
                <a:gd name="T4" fmla="*/ 0 w 896"/>
                <a:gd name="T5" fmla="*/ 240 h 528"/>
                <a:gd name="T6" fmla="*/ 160 w 896"/>
                <a:gd name="T7" fmla="*/ 288 h 528"/>
                <a:gd name="T8" fmla="*/ 288 w 896"/>
                <a:gd name="T9" fmla="*/ 32 h 528"/>
                <a:gd name="T10" fmla="*/ 352 w 896"/>
                <a:gd name="T11" fmla="*/ 0 h 528"/>
                <a:gd name="T12" fmla="*/ 544 w 896"/>
                <a:gd name="T13" fmla="*/ 0 h 528"/>
                <a:gd name="T14" fmla="*/ 592 w 896"/>
                <a:gd name="T15" fmla="*/ 32 h 528"/>
                <a:gd name="T16" fmla="*/ 720 w 896"/>
                <a:gd name="T17" fmla="*/ 256 h 528"/>
                <a:gd name="T18" fmla="*/ 832 w 896"/>
                <a:gd name="T19" fmla="*/ 208 h 528"/>
                <a:gd name="T20" fmla="*/ 896 w 896"/>
                <a:gd name="T21" fmla="*/ 320 h 528"/>
                <a:gd name="T22" fmla="*/ 336 w 896"/>
                <a:gd name="T23" fmla="*/ 368 h 528"/>
                <a:gd name="T24" fmla="*/ 240 w 896"/>
                <a:gd name="T25" fmla="*/ 528 h 528"/>
                <a:gd name="T26" fmla="*/ 16 w 896"/>
                <a:gd name="T27" fmla="*/ 512 h 528"/>
                <a:gd name="T28" fmla="*/ 576 w 896"/>
                <a:gd name="T29" fmla="*/ 384 h 528"/>
                <a:gd name="T30" fmla="*/ 656 w 896"/>
                <a:gd name="T31" fmla="*/ 512 h 528"/>
                <a:gd name="T32" fmla="*/ 880 w 896"/>
                <a:gd name="T33" fmla="*/ 512 h 528"/>
                <a:gd name="T34" fmla="*/ 784 w 896"/>
                <a:gd name="T35" fmla="*/ 368 h 528"/>
                <a:gd name="T36" fmla="*/ 576 w 896"/>
                <a:gd name="T37" fmla="*/ 384 h 528"/>
                <a:gd name="T38" fmla="*/ 368 w 896"/>
                <a:gd name="T39" fmla="*/ 304 h 528"/>
                <a:gd name="T40" fmla="*/ 448 w 896"/>
                <a:gd name="T41" fmla="*/ 160 h 528"/>
                <a:gd name="T42" fmla="*/ 528 w 896"/>
                <a:gd name="T43" fmla="*/ 288 h 528"/>
                <a:gd name="T44" fmla="*/ 368 w 896"/>
                <a:gd name="T45" fmla="*/ 304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96" h="528">
                  <a:moveTo>
                    <a:pt x="16" y="512"/>
                  </a:moveTo>
                  <a:lnTo>
                    <a:pt x="144" y="304"/>
                  </a:lnTo>
                  <a:cubicBezTo>
                    <a:pt x="80" y="288"/>
                    <a:pt x="48" y="272"/>
                    <a:pt x="0" y="240"/>
                  </a:cubicBezTo>
                  <a:cubicBezTo>
                    <a:pt x="48" y="256"/>
                    <a:pt x="96" y="272"/>
                    <a:pt x="160" y="288"/>
                  </a:cubicBezTo>
                  <a:lnTo>
                    <a:pt x="288" y="32"/>
                  </a:lnTo>
                  <a:cubicBezTo>
                    <a:pt x="304" y="16"/>
                    <a:pt x="336" y="0"/>
                    <a:pt x="352" y="0"/>
                  </a:cubicBezTo>
                  <a:lnTo>
                    <a:pt x="544" y="0"/>
                  </a:lnTo>
                  <a:cubicBezTo>
                    <a:pt x="560" y="0"/>
                    <a:pt x="576" y="16"/>
                    <a:pt x="592" y="32"/>
                  </a:cubicBezTo>
                  <a:lnTo>
                    <a:pt x="720" y="256"/>
                  </a:lnTo>
                  <a:lnTo>
                    <a:pt x="832" y="208"/>
                  </a:lnTo>
                  <a:lnTo>
                    <a:pt x="896" y="320"/>
                  </a:lnTo>
                  <a:cubicBezTo>
                    <a:pt x="720" y="368"/>
                    <a:pt x="544" y="384"/>
                    <a:pt x="336" y="368"/>
                  </a:cubicBezTo>
                  <a:lnTo>
                    <a:pt x="240" y="528"/>
                  </a:lnTo>
                  <a:lnTo>
                    <a:pt x="16" y="512"/>
                  </a:lnTo>
                  <a:close/>
                  <a:moveTo>
                    <a:pt x="576" y="384"/>
                  </a:moveTo>
                  <a:lnTo>
                    <a:pt x="656" y="512"/>
                  </a:lnTo>
                  <a:lnTo>
                    <a:pt x="880" y="512"/>
                  </a:lnTo>
                  <a:lnTo>
                    <a:pt x="784" y="368"/>
                  </a:lnTo>
                  <a:cubicBezTo>
                    <a:pt x="720" y="368"/>
                    <a:pt x="656" y="384"/>
                    <a:pt x="576" y="384"/>
                  </a:cubicBezTo>
                  <a:close/>
                  <a:moveTo>
                    <a:pt x="368" y="304"/>
                  </a:moveTo>
                  <a:lnTo>
                    <a:pt x="448" y="160"/>
                  </a:lnTo>
                  <a:lnTo>
                    <a:pt x="528" y="288"/>
                  </a:lnTo>
                  <a:cubicBezTo>
                    <a:pt x="464" y="304"/>
                    <a:pt x="416" y="304"/>
                    <a:pt x="368" y="304"/>
                  </a:cubicBezTo>
                  <a:close/>
                </a:path>
              </a:pathLst>
            </a:custGeom>
            <a:solidFill>
              <a:srgbClr val="0070C0"/>
            </a:solidFill>
            <a:ln w="0">
              <a:noFill/>
              <a:prstDash val="solid"/>
              <a:round/>
            </a:ln>
          </p:spPr>
          <p:txBody>
            <a:bodyPr vert="horz" wrap="square" lIns="91440" tIns="45720" rIns="91440" bIns="45720" numCol="1" anchor="t" anchorCtr="0" compatLnSpc="1"/>
            <a:lstStyle/>
            <a:p>
              <a:endParaRPr lang="zh-CN" altLang="en-US" sz="1100">
                <a:ea typeface="思源黑体" panose="020B0500000000000000" pitchFamily="34" charset="-122"/>
              </a:endParaRPr>
            </a:p>
          </p:txBody>
        </p:sp>
        <p:sp>
          <p:nvSpPr>
            <p:cNvPr id="6" name="Freeform 8"/>
            <p:cNvSpPr/>
            <p:nvPr/>
          </p:nvSpPr>
          <p:spPr bwMode="auto">
            <a:xfrm>
              <a:off x="9882189" y="282576"/>
              <a:ext cx="569912" cy="363538"/>
            </a:xfrm>
            <a:custGeom>
              <a:avLst/>
              <a:gdLst>
                <a:gd name="T0" fmla="*/ 0 w 736"/>
                <a:gd name="T1" fmla="*/ 480 h 512"/>
                <a:gd name="T2" fmla="*/ 0 w 736"/>
                <a:gd name="T3" fmla="*/ 32 h 512"/>
                <a:gd name="T4" fmla="*/ 48 w 736"/>
                <a:gd name="T5" fmla="*/ 0 h 512"/>
                <a:gd name="T6" fmla="*/ 736 w 736"/>
                <a:gd name="T7" fmla="*/ 0 h 512"/>
                <a:gd name="T8" fmla="*/ 736 w 736"/>
                <a:gd name="T9" fmla="*/ 96 h 512"/>
                <a:gd name="T10" fmla="*/ 208 w 736"/>
                <a:gd name="T11" fmla="*/ 96 h 512"/>
                <a:gd name="T12" fmla="*/ 208 w 736"/>
                <a:gd name="T13" fmla="*/ 192 h 512"/>
                <a:gd name="T14" fmla="*/ 448 w 736"/>
                <a:gd name="T15" fmla="*/ 192 h 512"/>
                <a:gd name="T16" fmla="*/ 448 w 736"/>
                <a:gd name="T17" fmla="*/ 288 h 512"/>
                <a:gd name="T18" fmla="*/ 208 w 736"/>
                <a:gd name="T19" fmla="*/ 288 h 512"/>
                <a:gd name="T20" fmla="*/ 208 w 736"/>
                <a:gd name="T21" fmla="*/ 416 h 512"/>
                <a:gd name="T22" fmla="*/ 736 w 736"/>
                <a:gd name="T23" fmla="*/ 416 h 512"/>
                <a:gd name="T24" fmla="*/ 736 w 736"/>
                <a:gd name="T25" fmla="*/ 512 h 512"/>
                <a:gd name="T26" fmla="*/ 32 w 736"/>
                <a:gd name="T27" fmla="*/ 512 h 512"/>
                <a:gd name="T28" fmla="*/ 0 w 736"/>
                <a:gd name="T29" fmla="*/ 48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36" h="512">
                  <a:moveTo>
                    <a:pt x="0" y="480"/>
                  </a:moveTo>
                  <a:lnTo>
                    <a:pt x="0" y="32"/>
                  </a:lnTo>
                  <a:cubicBezTo>
                    <a:pt x="0" y="16"/>
                    <a:pt x="16" y="0"/>
                    <a:pt x="48" y="0"/>
                  </a:cubicBezTo>
                  <a:lnTo>
                    <a:pt x="736" y="0"/>
                  </a:lnTo>
                  <a:lnTo>
                    <a:pt x="736" y="96"/>
                  </a:lnTo>
                  <a:lnTo>
                    <a:pt x="208" y="96"/>
                  </a:lnTo>
                  <a:lnTo>
                    <a:pt x="208" y="192"/>
                  </a:lnTo>
                  <a:lnTo>
                    <a:pt x="448" y="192"/>
                  </a:lnTo>
                  <a:lnTo>
                    <a:pt x="448" y="288"/>
                  </a:lnTo>
                  <a:lnTo>
                    <a:pt x="208" y="288"/>
                  </a:lnTo>
                  <a:lnTo>
                    <a:pt x="208" y="416"/>
                  </a:lnTo>
                  <a:lnTo>
                    <a:pt x="736" y="416"/>
                  </a:lnTo>
                  <a:lnTo>
                    <a:pt x="736" y="512"/>
                  </a:lnTo>
                  <a:lnTo>
                    <a:pt x="32" y="512"/>
                  </a:lnTo>
                  <a:cubicBezTo>
                    <a:pt x="16" y="512"/>
                    <a:pt x="0" y="496"/>
                    <a:pt x="0" y="480"/>
                  </a:cubicBezTo>
                  <a:close/>
                </a:path>
              </a:pathLst>
            </a:custGeom>
            <a:solidFill>
              <a:srgbClr val="0070C0"/>
            </a:solidFill>
            <a:ln w="0">
              <a:noFill/>
              <a:prstDash val="solid"/>
              <a:round/>
            </a:ln>
          </p:spPr>
          <p:txBody>
            <a:bodyPr vert="horz" wrap="square" lIns="91440" tIns="45720" rIns="91440" bIns="45720" numCol="1" anchor="t" anchorCtr="0" compatLnSpc="1"/>
            <a:lstStyle/>
            <a:p>
              <a:endParaRPr lang="zh-CN" altLang="en-US" sz="1100">
                <a:ea typeface="思源黑体" panose="020B0500000000000000" pitchFamily="34" charset="-122"/>
              </a:endParaRPr>
            </a:p>
          </p:txBody>
        </p:sp>
        <p:sp>
          <p:nvSpPr>
            <p:cNvPr id="7" name="Freeform 9"/>
            <p:cNvSpPr>
              <a:spLocks noEditPoints="1"/>
            </p:cNvSpPr>
            <p:nvPr/>
          </p:nvSpPr>
          <p:spPr bwMode="auto">
            <a:xfrm>
              <a:off x="10612439" y="258763"/>
              <a:ext cx="520701" cy="398463"/>
            </a:xfrm>
            <a:custGeom>
              <a:avLst/>
              <a:gdLst>
                <a:gd name="T0" fmla="*/ 128 w 672"/>
                <a:gd name="T1" fmla="*/ 256 h 560"/>
                <a:gd name="T2" fmla="*/ 128 w 672"/>
                <a:gd name="T3" fmla="*/ 128 h 560"/>
                <a:gd name="T4" fmla="*/ 160 w 672"/>
                <a:gd name="T5" fmla="*/ 224 h 560"/>
                <a:gd name="T6" fmla="*/ 240 w 672"/>
                <a:gd name="T7" fmla="*/ 224 h 560"/>
                <a:gd name="T8" fmla="*/ 208 w 672"/>
                <a:gd name="T9" fmla="*/ 128 h 560"/>
                <a:gd name="T10" fmla="*/ 128 w 672"/>
                <a:gd name="T11" fmla="*/ 128 h 560"/>
                <a:gd name="T12" fmla="*/ 128 w 672"/>
                <a:gd name="T13" fmla="*/ 80 h 560"/>
                <a:gd name="T14" fmla="*/ 240 w 672"/>
                <a:gd name="T15" fmla="*/ 80 h 560"/>
                <a:gd name="T16" fmla="*/ 240 w 672"/>
                <a:gd name="T17" fmla="*/ 256 h 560"/>
                <a:gd name="T18" fmla="*/ 128 w 672"/>
                <a:gd name="T19" fmla="*/ 256 h 560"/>
                <a:gd name="T20" fmla="*/ 144 w 672"/>
                <a:gd name="T21" fmla="*/ 320 h 560"/>
                <a:gd name="T22" fmla="*/ 160 w 672"/>
                <a:gd name="T23" fmla="*/ 432 h 560"/>
                <a:gd name="T24" fmla="*/ 240 w 672"/>
                <a:gd name="T25" fmla="*/ 432 h 560"/>
                <a:gd name="T26" fmla="*/ 208 w 672"/>
                <a:gd name="T27" fmla="*/ 320 h 560"/>
                <a:gd name="T28" fmla="*/ 144 w 672"/>
                <a:gd name="T29" fmla="*/ 320 h 560"/>
                <a:gd name="T30" fmla="*/ 448 w 672"/>
                <a:gd name="T31" fmla="*/ 48 h 560"/>
                <a:gd name="T32" fmla="*/ 416 w 672"/>
                <a:gd name="T33" fmla="*/ 0 h 560"/>
                <a:gd name="T34" fmla="*/ 512 w 672"/>
                <a:gd name="T35" fmla="*/ 0 h 560"/>
                <a:gd name="T36" fmla="*/ 544 w 672"/>
                <a:gd name="T37" fmla="*/ 48 h 560"/>
                <a:gd name="T38" fmla="*/ 672 w 672"/>
                <a:gd name="T39" fmla="*/ 48 h 560"/>
                <a:gd name="T40" fmla="*/ 672 w 672"/>
                <a:gd name="T41" fmla="*/ 96 h 560"/>
                <a:gd name="T42" fmla="*/ 336 w 672"/>
                <a:gd name="T43" fmla="*/ 96 h 560"/>
                <a:gd name="T44" fmla="*/ 336 w 672"/>
                <a:gd name="T45" fmla="*/ 48 h 560"/>
                <a:gd name="T46" fmla="*/ 448 w 672"/>
                <a:gd name="T47" fmla="*/ 48 h 560"/>
                <a:gd name="T48" fmla="*/ 368 w 672"/>
                <a:gd name="T49" fmla="*/ 144 h 560"/>
                <a:gd name="T50" fmla="*/ 608 w 672"/>
                <a:gd name="T51" fmla="*/ 144 h 560"/>
                <a:gd name="T52" fmla="*/ 608 w 672"/>
                <a:gd name="T53" fmla="*/ 512 h 560"/>
                <a:gd name="T54" fmla="*/ 672 w 672"/>
                <a:gd name="T55" fmla="*/ 512 h 560"/>
                <a:gd name="T56" fmla="*/ 672 w 672"/>
                <a:gd name="T57" fmla="*/ 544 h 560"/>
                <a:gd name="T58" fmla="*/ 560 w 672"/>
                <a:gd name="T59" fmla="*/ 544 h 560"/>
                <a:gd name="T60" fmla="*/ 528 w 672"/>
                <a:gd name="T61" fmla="*/ 512 h 560"/>
                <a:gd name="T62" fmla="*/ 528 w 672"/>
                <a:gd name="T63" fmla="*/ 192 h 560"/>
                <a:gd name="T64" fmla="*/ 464 w 672"/>
                <a:gd name="T65" fmla="*/ 192 h 560"/>
                <a:gd name="T66" fmla="*/ 464 w 672"/>
                <a:gd name="T67" fmla="*/ 384 h 560"/>
                <a:gd name="T68" fmla="*/ 336 w 672"/>
                <a:gd name="T69" fmla="*/ 544 h 560"/>
                <a:gd name="T70" fmla="*/ 336 w 672"/>
                <a:gd name="T71" fmla="*/ 480 h 560"/>
                <a:gd name="T72" fmla="*/ 368 w 672"/>
                <a:gd name="T73" fmla="*/ 400 h 560"/>
                <a:gd name="T74" fmla="*/ 368 w 672"/>
                <a:gd name="T75" fmla="*/ 144 h 560"/>
                <a:gd name="T76" fmla="*/ 128 w 672"/>
                <a:gd name="T77" fmla="*/ 48 h 560"/>
                <a:gd name="T78" fmla="*/ 160 w 672"/>
                <a:gd name="T79" fmla="*/ 0 h 560"/>
                <a:gd name="T80" fmla="*/ 256 w 672"/>
                <a:gd name="T81" fmla="*/ 0 h 560"/>
                <a:gd name="T82" fmla="*/ 224 w 672"/>
                <a:gd name="T83" fmla="*/ 48 h 560"/>
                <a:gd name="T84" fmla="*/ 320 w 672"/>
                <a:gd name="T85" fmla="*/ 48 h 560"/>
                <a:gd name="T86" fmla="*/ 320 w 672"/>
                <a:gd name="T87" fmla="*/ 528 h 560"/>
                <a:gd name="T88" fmla="*/ 304 w 672"/>
                <a:gd name="T89" fmla="*/ 560 h 560"/>
                <a:gd name="T90" fmla="*/ 176 w 672"/>
                <a:gd name="T91" fmla="*/ 560 h 560"/>
                <a:gd name="T92" fmla="*/ 176 w 672"/>
                <a:gd name="T93" fmla="*/ 512 h 560"/>
                <a:gd name="T94" fmla="*/ 240 w 672"/>
                <a:gd name="T95" fmla="*/ 512 h 560"/>
                <a:gd name="T96" fmla="*/ 240 w 672"/>
                <a:gd name="T97" fmla="*/ 288 h 560"/>
                <a:gd name="T98" fmla="*/ 128 w 672"/>
                <a:gd name="T99" fmla="*/ 288 h 560"/>
                <a:gd name="T100" fmla="*/ 80 w 672"/>
                <a:gd name="T101" fmla="*/ 544 h 560"/>
                <a:gd name="T102" fmla="*/ 0 w 672"/>
                <a:gd name="T103" fmla="*/ 544 h 560"/>
                <a:gd name="T104" fmla="*/ 48 w 672"/>
                <a:gd name="T105" fmla="*/ 304 h 560"/>
                <a:gd name="T106" fmla="*/ 0 w 672"/>
                <a:gd name="T107" fmla="*/ 304 h 560"/>
                <a:gd name="T108" fmla="*/ 0 w 672"/>
                <a:gd name="T109" fmla="*/ 256 h 560"/>
                <a:gd name="T110" fmla="*/ 48 w 672"/>
                <a:gd name="T111" fmla="*/ 256 h 560"/>
                <a:gd name="T112" fmla="*/ 48 w 672"/>
                <a:gd name="T113" fmla="*/ 48 h 560"/>
                <a:gd name="T114" fmla="*/ 128 w 672"/>
                <a:gd name="T115" fmla="*/ 48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72" h="560">
                  <a:moveTo>
                    <a:pt x="128" y="256"/>
                  </a:moveTo>
                  <a:lnTo>
                    <a:pt x="128" y="128"/>
                  </a:lnTo>
                  <a:lnTo>
                    <a:pt x="160" y="224"/>
                  </a:lnTo>
                  <a:lnTo>
                    <a:pt x="240" y="224"/>
                  </a:lnTo>
                  <a:lnTo>
                    <a:pt x="208" y="128"/>
                  </a:lnTo>
                  <a:lnTo>
                    <a:pt x="128" y="128"/>
                  </a:lnTo>
                  <a:lnTo>
                    <a:pt x="128" y="80"/>
                  </a:lnTo>
                  <a:lnTo>
                    <a:pt x="240" y="80"/>
                  </a:lnTo>
                  <a:lnTo>
                    <a:pt x="240" y="256"/>
                  </a:lnTo>
                  <a:lnTo>
                    <a:pt x="128" y="256"/>
                  </a:lnTo>
                  <a:close/>
                  <a:moveTo>
                    <a:pt x="144" y="320"/>
                  </a:moveTo>
                  <a:lnTo>
                    <a:pt x="160" y="432"/>
                  </a:lnTo>
                  <a:lnTo>
                    <a:pt x="240" y="432"/>
                  </a:lnTo>
                  <a:lnTo>
                    <a:pt x="208" y="320"/>
                  </a:lnTo>
                  <a:lnTo>
                    <a:pt x="144" y="320"/>
                  </a:lnTo>
                  <a:close/>
                  <a:moveTo>
                    <a:pt x="448" y="48"/>
                  </a:moveTo>
                  <a:lnTo>
                    <a:pt x="416" y="0"/>
                  </a:lnTo>
                  <a:lnTo>
                    <a:pt x="512" y="0"/>
                  </a:lnTo>
                  <a:lnTo>
                    <a:pt x="544" y="48"/>
                  </a:lnTo>
                  <a:lnTo>
                    <a:pt x="672" y="48"/>
                  </a:lnTo>
                  <a:lnTo>
                    <a:pt x="672" y="96"/>
                  </a:lnTo>
                  <a:lnTo>
                    <a:pt x="336" y="96"/>
                  </a:lnTo>
                  <a:lnTo>
                    <a:pt x="336" y="48"/>
                  </a:lnTo>
                  <a:lnTo>
                    <a:pt x="448" y="48"/>
                  </a:lnTo>
                  <a:close/>
                  <a:moveTo>
                    <a:pt x="368" y="144"/>
                  </a:moveTo>
                  <a:lnTo>
                    <a:pt x="608" y="144"/>
                  </a:lnTo>
                  <a:lnTo>
                    <a:pt x="608" y="512"/>
                  </a:lnTo>
                  <a:lnTo>
                    <a:pt x="672" y="512"/>
                  </a:lnTo>
                  <a:lnTo>
                    <a:pt x="672" y="544"/>
                  </a:lnTo>
                  <a:lnTo>
                    <a:pt x="560" y="544"/>
                  </a:lnTo>
                  <a:cubicBezTo>
                    <a:pt x="544" y="544"/>
                    <a:pt x="528" y="544"/>
                    <a:pt x="528" y="512"/>
                  </a:cubicBezTo>
                  <a:lnTo>
                    <a:pt x="528" y="192"/>
                  </a:lnTo>
                  <a:lnTo>
                    <a:pt x="464" y="192"/>
                  </a:lnTo>
                  <a:lnTo>
                    <a:pt x="464" y="384"/>
                  </a:lnTo>
                  <a:cubicBezTo>
                    <a:pt x="448" y="480"/>
                    <a:pt x="400" y="528"/>
                    <a:pt x="336" y="544"/>
                  </a:cubicBezTo>
                  <a:lnTo>
                    <a:pt x="336" y="480"/>
                  </a:lnTo>
                  <a:cubicBezTo>
                    <a:pt x="352" y="464"/>
                    <a:pt x="368" y="432"/>
                    <a:pt x="368" y="400"/>
                  </a:cubicBezTo>
                  <a:lnTo>
                    <a:pt x="368" y="144"/>
                  </a:lnTo>
                  <a:close/>
                  <a:moveTo>
                    <a:pt x="128" y="48"/>
                  </a:moveTo>
                  <a:lnTo>
                    <a:pt x="160" y="0"/>
                  </a:lnTo>
                  <a:lnTo>
                    <a:pt x="256" y="0"/>
                  </a:lnTo>
                  <a:lnTo>
                    <a:pt x="224" y="48"/>
                  </a:lnTo>
                  <a:lnTo>
                    <a:pt x="320" y="48"/>
                  </a:lnTo>
                  <a:lnTo>
                    <a:pt x="320" y="528"/>
                  </a:lnTo>
                  <a:cubicBezTo>
                    <a:pt x="320" y="544"/>
                    <a:pt x="320" y="560"/>
                    <a:pt x="304" y="560"/>
                  </a:cubicBezTo>
                  <a:lnTo>
                    <a:pt x="176" y="560"/>
                  </a:lnTo>
                  <a:lnTo>
                    <a:pt x="176" y="512"/>
                  </a:lnTo>
                  <a:lnTo>
                    <a:pt x="240" y="512"/>
                  </a:lnTo>
                  <a:lnTo>
                    <a:pt x="240" y="288"/>
                  </a:lnTo>
                  <a:lnTo>
                    <a:pt x="128" y="288"/>
                  </a:lnTo>
                  <a:cubicBezTo>
                    <a:pt x="144" y="400"/>
                    <a:pt x="128" y="480"/>
                    <a:pt x="80" y="544"/>
                  </a:cubicBezTo>
                  <a:lnTo>
                    <a:pt x="0" y="544"/>
                  </a:lnTo>
                  <a:cubicBezTo>
                    <a:pt x="32" y="480"/>
                    <a:pt x="48" y="400"/>
                    <a:pt x="48" y="304"/>
                  </a:cubicBezTo>
                  <a:lnTo>
                    <a:pt x="0" y="304"/>
                  </a:lnTo>
                  <a:lnTo>
                    <a:pt x="0" y="256"/>
                  </a:lnTo>
                  <a:lnTo>
                    <a:pt x="48" y="256"/>
                  </a:lnTo>
                  <a:lnTo>
                    <a:pt x="48" y="48"/>
                  </a:lnTo>
                  <a:lnTo>
                    <a:pt x="128" y="48"/>
                  </a:lnTo>
                  <a:close/>
                </a:path>
              </a:pathLst>
            </a:custGeom>
            <a:solidFill>
              <a:schemeClr val="tx1"/>
            </a:solidFill>
            <a:ln w="0">
              <a:noFill/>
              <a:prstDash val="solid"/>
              <a:round/>
            </a:ln>
          </p:spPr>
          <p:txBody>
            <a:bodyPr vert="horz" wrap="square" lIns="91440" tIns="45720" rIns="91440" bIns="45720" numCol="1" anchor="t" anchorCtr="0" compatLnSpc="1"/>
            <a:lstStyle/>
            <a:p>
              <a:endParaRPr lang="zh-CN" altLang="en-US" sz="1100">
                <a:ea typeface="思源黑体" panose="020B0500000000000000" pitchFamily="34" charset="-122"/>
              </a:endParaRPr>
            </a:p>
          </p:txBody>
        </p:sp>
        <p:sp>
          <p:nvSpPr>
            <p:cNvPr id="9" name="Freeform 10"/>
            <p:cNvSpPr>
              <a:spLocks noEditPoints="1"/>
            </p:cNvSpPr>
            <p:nvPr/>
          </p:nvSpPr>
          <p:spPr bwMode="auto">
            <a:xfrm>
              <a:off x="11220452" y="258763"/>
              <a:ext cx="507999" cy="398463"/>
            </a:xfrm>
            <a:custGeom>
              <a:avLst/>
              <a:gdLst>
                <a:gd name="T0" fmla="*/ 16 w 656"/>
                <a:gd name="T1" fmla="*/ 512 h 560"/>
                <a:gd name="T2" fmla="*/ 16 w 656"/>
                <a:gd name="T3" fmla="*/ 352 h 560"/>
                <a:gd name="T4" fmla="*/ 624 w 656"/>
                <a:gd name="T5" fmla="*/ 352 h 560"/>
                <a:gd name="T6" fmla="*/ 624 w 656"/>
                <a:gd name="T7" fmla="*/ 512 h 560"/>
                <a:gd name="T8" fmla="*/ 656 w 656"/>
                <a:gd name="T9" fmla="*/ 512 h 560"/>
                <a:gd name="T10" fmla="*/ 656 w 656"/>
                <a:gd name="T11" fmla="*/ 560 h 560"/>
                <a:gd name="T12" fmla="*/ 0 w 656"/>
                <a:gd name="T13" fmla="*/ 560 h 560"/>
                <a:gd name="T14" fmla="*/ 0 w 656"/>
                <a:gd name="T15" fmla="*/ 512 h 560"/>
                <a:gd name="T16" fmla="*/ 16 w 656"/>
                <a:gd name="T17" fmla="*/ 512 h 560"/>
                <a:gd name="T18" fmla="*/ 112 w 656"/>
                <a:gd name="T19" fmla="*/ 400 h 560"/>
                <a:gd name="T20" fmla="*/ 208 w 656"/>
                <a:gd name="T21" fmla="*/ 400 h 560"/>
                <a:gd name="T22" fmla="*/ 208 w 656"/>
                <a:gd name="T23" fmla="*/ 512 h 560"/>
                <a:gd name="T24" fmla="*/ 112 w 656"/>
                <a:gd name="T25" fmla="*/ 512 h 560"/>
                <a:gd name="T26" fmla="*/ 112 w 656"/>
                <a:gd name="T27" fmla="*/ 400 h 560"/>
                <a:gd name="T28" fmla="*/ 272 w 656"/>
                <a:gd name="T29" fmla="*/ 400 h 560"/>
                <a:gd name="T30" fmla="*/ 384 w 656"/>
                <a:gd name="T31" fmla="*/ 400 h 560"/>
                <a:gd name="T32" fmla="*/ 384 w 656"/>
                <a:gd name="T33" fmla="*/ 512 h 560"/>
                <a:gd name="T34" fmla="*/ 272 w 656"/>
                <a:gd name="T35" fmla="*/ 512 h 560"/>
                <a:gd name="T36" fmla="*/ 272 w 656"/>
                <a:gd name="T37" fmla="*/ 400 h 560"/>
                <a:gd name="T38" fmla="*/ 448 w 656"/>
                <a:gd name="T39" fmla="*/ 400 h 560"/>
                <a:gd name="T40" fmla="*/ 544 w 656"/>
                <a:gd name="T41" fmla="*/ 400 h 560"/>
                <a:gd name="T42" fmla="*/ 544 w 656"/>
                <a:gd name="T43" fmla="*/ 512 h 560"/>
                <a:gd name="T44" fmla="*/ 448 w 656"/>
                <a:gd name="T45" fmla="*/ 512 h 560"/>
                <a:gd name="T46" fmla="*/ 448 w 656"/>
                <a:gd name="T47" fmla="*/ 400 h 560"/>
                <a:gd name="T48" fmla="*/ 16 w 656"/>
                <a:gd name="T49" fmla="*/ 256 h 560"/>
                <a:gd name="T50" fmla="*/ 48 w 656"/>
                <a:gd name="T51" fmla="*/ 176 h 560"/>
                <a:gd name="T52" fmla="*/ 48 w 656"/>
                <a:gd name="T53" fmla="*/ 32 h 560"/>
                <a:gd name="T54" fmla="*/ 336 w 656"/>
                <a:gd name="T55" fmla="*/ 32 h 560"/>
                <a:gd name="T56" fmla="*/ 320 w 656"/>
                <a:gd name="T57" fmla="*/ 0 h 560"/>
                <a:gd name="T58" fmla="*/ 400 w 656"/>
                <a:gd name="T59" fmla="*/ 0 h 560"/>
                <a:gd name="T60" fmla="*/ 416 w 656"/>
                <a:gd name="T61" fmla="*/ 48 h 560"/>
                <a:gd name="T62" fmla="*/ 560 w 656"/>
                <a:gd name="T63" fmla="*/ 48 h 560"/>
                <a:gd name="T64" fmla="*/ 560 w 656"/>
                <a:gd name="T65" fmla="*/ 0 h 560"/>
                <a:gd name="T66" fmla="*/ 640 w 656"/>
                <a:gd name="T67" fmla="*/ 0 h 560"/>
                <a:gd name="T68" fmla="*/ 640 w 656"/>
                <a:gd name="T69" fmla="*/ 80 h 560"/>
                <a:gd name="T70" fmla="*/ 416 w 656"/>
                <a:gd name="T71" fmla="*/ 80 h 560"/>
                <a:gd name="T72" fmla="*/ 464 w 656"/>
                <a:gd name="T73" fmla="*/ 176 h 560"/>
                <a:gd name="T74" fmla="*/ 496 w 656"/>
                <a:gd name="T75" fmla="*/ 112 h 560"/>
                <a:gd name="T76" fmla="*/ 592 w 656"/>
                <a:gd name="T77" fmla="*/ 112 h 560"/>
                <a:gd name="T78" fmla="*/ 528 w 656"/>
                <a:gd name="T79" fmla="*/ 240 h 560"/>
                <a:gd name="T80" fmla="*/ 576 w 656"/>
                <a:gd name="T81" fmla="*/ 256 h 560"/>
                <a:gd name="T82" fmla="*/ 576 w 656"/>
                <a:gd name="T83" fmla="*/ 208 h 560"/>
                <a:gd name="T84" fmla="*/ 656 w 656"/>
                <a:gd name="T85" fmla="*/ 208 h 560"/>
                <a:gd name="T86" fmla="*/ 656 w 656"/>
                <a:gd name="T87" fmla="*/ 352 h 560"/>
                <a:gd name="T88" fmla="*/ 464 w 656"/>
                <a:gd name="T89" fmla="*/ 288 h 560"/>
                <a:gd name="T90" fmla="*/ 336 w 656"/>
                <a:gd name="T91" fmla="*/ 336 h 560"/>
                <a:gd name="T92" fmla="*/ 336 w 656"/>
                <a:gd name="T93" fmla="*/ 272 h 560"/>
                <a:gd name="T94" fmla="*/ 416 w 656"/>
                <a:gd name="T95" fmla="*/ 240 h 560"/>
                <a:gd name="T96" fmla="*/ 336 w 656"/>
                <a:gd name="T97" fmla="*/ 80 h 560"/>
                <a:gd name="T98" fmla="*/ 128 w 656"/>
                <a:gd name="T99" fmla="*/ 80 h 560"/>
                <a:gd name="T100" fmla="*/ 128 w 656"/>
                <a:gd name="T101" fmla="*/ 128 h 560"/>
                <a:gd name="T102" fmla="*/ 320 w 656"/>
                <a:gd name="T103" fmla="*/ 128 h 560"/>
                <a:gd name="T104" fmla="*/ 320 w 656"/>
                <a:gd name="T105" fmla="*/ 304 h 560"/>
                <a:gd name="T106" fmla="*/ 288 w 656"/>
                <a:gd name="T107" fmla="*/ 352 h 560"/>
                <a:gd name="T108" fmla="*/ 160 w 656"/>
                <a:gd name="T109" fmla="*/ 352 h 560"/>
                <a:gd name="T110" fmla="*/ 160 w 656"/>
                <a:gd name="T111" fmla="*/ 304 h 560"/>
                <a:gd name="T112" fmla="*/ 224 w 656"/>
                <a:gd name="T113" fmla="*/ 304 h 560"/>
                <a:gd name="T114" fmla="*/ 240 w 656"/>
                <a:gd name="T115" fmla="*/ 288 h 560"/>
                <a:gd name="T116" fmla="*/ 240 w 656"/>
                <a:gd name="T117" fmla="*/ 160 h 560"/>
                <a:gd name="T118" fmla="*/ 128 w 656"/>
                <a:gd name="T119" fmla="*/ 160 h 560"/>
                <a:gd name="T120" fmla="*/ 16 w 656"/>
                <a:gd name="T121" fmla="*/ 336 h 560"/>
                <a:gd name="T122" fmla="*/ 16 w 656"/>
                <a:gd name="T123" fmla="*/ 256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6" h="560">
                  <a:moveTo>
                    <a:pt x="16" y="512"/>
                  </a:moveTo>
                  <a:lnTo>
                    <a:pt x="16" y="352"/>
                  </a:lnTo>
                  <a:lnTo>
                    <a:pt x="624" y="352"/>
                  </a:lnTo>
                  <a:lnTo>
                    <a:pt x="624" y="512"/>
                  </a:lnTo>
                  <a:lnTo>
                    <a:pt x="656" y="512"/>
                  </a:lnTo>
                  <a:lnTo>
                    <a:pt x="656" y="560"/>
                  </a:lnTo>
                  <a:lnTo>
                    <a:pt x="0" y="560"/>
                  </a:lnTo>
                  <a:lnTo>
                    <a:pt x="0" y="512"/>
                  </a:lnTo>
                  <a:lnTo>
                    <a:pt x="16" y="512"/>
                  </a:lnTo>
                  <a:close/>
                  <a:moveTo>
                    <a:pt x="112" y="400"/>
                  </a:moveTo>
                  <a:lnTo>
                    <a:pt x="208" y="400"/>
                  </a:lnTo>
                  <a:lnTo>
                    <a:pt x="208" y="512"/>
                  </a:lnTo>
                  <a:lnTo>
                    <a:pt x="112" y="512"/>
                  </a:lnTo>
                  <a:lnTo>
                    <a:pt x="112" y="400"/>
                  </a:lnTo>
                  <a:close/>
                  <a:moveTo>
                    <a:pt x="272" y="400"/>
                  </a:moveTo>
                  <a:lnTo>
                    <a:pt x="384" y="400"/>
                  </a:lnTo>
                  <a:lnTo>
                    <a:pt x="384" y="512"/>
                  </a:lnTo>
                  <a:lnTo>
                    <a:pt x="272" y="512"/>
                  </a:lnTo>
                  <a:lnTo>
                    <a:pt x="272" y="400"/>
                  </a:lnTo>
                  <a:close/>
                  <a:moveTo>
                    <a:pt x="448" y="400"/>
                  </a:moveTo>
                  <a:lnTo>
                    <a:pt x="544" y="400"/>
                  </a:lnTo>
                  <a:lnTo>
                    <a:pt x="544" y="512"/>
                  </a:lnTo>
                  <a:lnTo>
                    <a:pt x="448" y="512"/>
                  </a:lnTo>
                  <a:lnTo>
                    <a:pt x="448" y="400"/>
                  </a:lnTo>
                  <a:close/>
                  <a:moveTo>
                    <a:pt x="16" y="256"/>
                  </a:moveTo>
                  <a:cubicBezTo>
                    <a:pt x="32" y="240"/>
                    <a:pt x="48" y="208"/>
                    <a:pt x="48" y="176"/>
                  </a:cubicBezTo>
                  <a:lnTo>
                    <a:pt x="48" y="32"/>
                  </a:lnTo>
                  <a:lnTo>
                    <a:pt x="336" y="32"/>
                  </a:lnTo>
                  <a:cubicBezTo>
                    <a:pt x="320" y="16"/>
                    <a:pt x="320" y="16"/>
                    <a:pt x="320" y="0"/>
                  </a:cubicBezTo>
                  <a:lnTo>
                    <a:pt x="400" y="0"/>
                  </a:lnTo>
                  <a:cubicBezTo>
                    <a:pt x="400" y="16"/>
                    <a:pt x="400" y="32"/>
                    <a:pt x="416" y="48"/>
                  </a:cubicBezTo>
                  <a:lnTo>
                    <a:pt x="560" y="48"/>
                  </a:lnTo>
                  <a:lnTo>
                    <a:pt x="560" y="0"/>
                  </a:lnTo>
                  <a:lnTo>
                    <a:pt x="640" y="0"/>
                  </a:lnTo>
                  <a:lnTo>
                    <a:pt x="640" y="80"/>
                  </a:lnTo>
                  <a:lnTo>
                    <a:pt x="416" y="80"/>
                  </a:lnTo>
                  <a:cubicBezTo>
                    <a:pt x="432" y="112"/>
                    <a:pt x="448" y="144"/>
                    <a:pt x="464" y="176"/>
                  </a:cubicBezTo>
                  <a:lnTo>
                    <a:pt x="496" y="112"/>
                  </a:lnTo>
                  <a:lnTo>
                    <a:pt x="592" y="112"/>
                  </a:lnTo>
                  <a:cubicBezTo>
                    <a:pt x="576" y="160"/>
                    <a:pt x="560" y="192"/>
                    <a:pt x="528" y="240"/>
                  </a:cubicBezTo>
                  <a:cubicBezTo>
                    <a:pt x="544" y="240"/>
                    <a:pt x="560" y="256"/>
                    <a:pt x="576" y="256"/>
                  </a:cubicBezTo>
                  <a:lnTo>
                    <a:pt x="576" y="208"/>
                  </a:lnTo>
                  <a:lnTo>
                    <a:pt x="656" y="208"/>
                  </a:lnTo>
                  <a:lnTo>
                    <a:pt x="656" y="352"/>
                  </a:lnTo>
                  <a:cubicBezTo>
                    <a:pt x="576" y="352"/>
                    <a:pt x="528" y="320"/>
                    <a:pt x="464" y="288"/>
                  </a:cubicBezTo>
                  <a:cubicBezTo>
                    <a:pt x="432" y="304"/>
                    <a:pt x="384" y="320"/>
                    <a:pt x="336" y="336"/>
                  </a:cubicBezTo>
                  <a:lnTo>
                    <a:pt x="336" y="272"/>
                  </a:lnTo>
                  <a:cubicBezTo>
                    <a:pt x="368" y="256"/>
                    <a:pt x="384" y="256"/>
                    <a:pt x="416" y="240"/>
                  </a:cubicBezTo>
                  <a:cubicBezTo>
                    <a:pt x="368" y="176"/>
                    <a:pt x="352" y="128"/>
                    <a:pt x="336" y="80"/>
                  </a:cubicBezTo>
                  <a:lnTo>
                    <a:pt x="128" y="80"/>
                  </a:lnTo>
                  <a:lnTo>
                    <a:pt x="128" y="128"/>
                  </a:lnTo>
                  <a:lnTo>
                    <a:pt x="320" y="128"/>
                  </a:lnTo>
                  <a:lnTo>
                    <a:pt x="320" y="304"/>
                  </a:lnTo>
                  <a:cubicBezTo>
                    <a:pt x="320" y="320"/>
                    <a:pt x="304" y="352"/>
                    <a:pt x="288" y="352"/>
                  </a:cubicBezTo>
                  <a:lnTo>
                    <a:pt x="160" y="352"/>
                  </a:lnTo>
                  <a:lnTo>
                    <a:pt x="160" y="304"/>
                  </a:lnTo>
                  <a:lnTo>
                    <a:pt x="224" y="304"/>
                  </a:lnTo>
                  <a:cubicBezTo>
                    <a:pt x="224" y="304"/>
                    <a:pt x="240" y="304"/>
                    <a:pt x="240" y="288"/>
                  </a:cubicBezTo>
                  <a:lnTo>
                    <a:pt x="240" y="160"/>
                  </a:lnTo>
                  <a:lnTo>
                    <a:pt x="128" y="160"/>
                  </a:lnTo>
                  <a:cubicBezTo>
                    <a:pt x="128" y="272"/>
                    <a:pt x="80" y="320"/>
                    <a:pt x="16" y="336"/>
                  </a:cubicBezTo>
                  <a:lnTo>
                    <a:pt x="16" y="256"/>
                  </a:lnTo>
                  <a:close/>
                </a:path>
              </a:pathLst>
            </a:custGeom>
            <a:solidFill>
              <a:schemeClr val="tx1"/>
            </a:solidFill>
            <a:ln w="0">
              <a:noFill/>
              <a:prstDash val="solid"/>
              <a:round/>
            </a:ln>
          </p:spPr>
          <p:txBody>
            <a:bodyPr vert="horz" wrap="square" lIns="91440" tIns="45720" rIns="91440" bIns="45720" numCol="1" anchor="t" anchorCtr="0" compatLnSpc="1"/>
            <a:lstStyle/>
            <a:p>
              <a:endParaRPr lang="zh-CN" altLang="en-US" sz="1100">
                <a:ea typeface="思源黑体" panose="020B0500000000000000" pitchFamily="34" charset="-122"/>
              </a:endParaRPr>
            </a:p>
          </p:txBody>
        </p:sp>
        <p:sp>
          <p:nvSpPr>
            <p:cNvPr id="22" name="文本框 21"/>
            <p:cNvSpPr txBox="1"/>
            <p:nvPr/>
          </p:nvSpPr>
          <p:spPr>
            <a:xfrm>
              <a:off x="7836774" y="706794"/>
              <a:ext cx="4044824" cy="458261"/>
            </a:xfrm>
            <a:prstGeom prst="rect">
              <a:avLst/>
            </a:prstGeom>
            <a:noFill/>
          </p:spPr>
          <p:txBody>
            <a:bodyPr wrap="square" rtlCol="0">
              <a:spAutoFit/>
            </a:bodyPr>
            <a:lstStyle/>
            <a:p>
              <a:pPr algn="just"/>
              <a:r>
                <a:rPr lang="zh-CN" altLang="en-US" sz="900" dirty="0">
                  <a:solidFill>
                    <a:schemeClr val="bg1">
                      <a:lumMod val="50000"/>
                    </a:schemeClr>
                  </a:solidFill>
                  <a:ea typeface="思源黑体" panose="020B0500000000000000" pitchFamily="34" charset="-122"/>
                </a:rPr>
                <a:t>科   技   创   新  </a:t>
              </a:r>
              <a:r>
                <a:rPr lang="zh-CN" altLang="en-US" sz="900" baseline="0" dirty="0">
                  <a:solidFill>
                    <a:schemeClr val="bg1">
                      <a:lumMod val="50000"/>
                    </a:schemeClr>
                  </a:solidFill>
                  <a:ea typeface="思源黑体" panose="020B0500000000000000" pitchFamily="34" charset="-122"/>
                </a:rPr>
                <a:t>    </a:t>
              </a:r>
              <a:r>
                <a:rPr lang="zh-CN" altLang="en-US" sz="900" dirty="0">
                  <a:solidFill>
                    <a:schemeClr val="bg1">
                      <a:lumMod val="50000"/>
                    </a:schemeClr>
                  </a:solidFill>
                  <a:ea typeface="思源黑体" panose="020B0500000000000000" pitchFamily="34" charset="-122"/>
                </a:rPr>
                <a:t> 文   化   护   航</a:t>
              </a:r>
            </a:p>
          </p:txBody>
        </p:sp>
      </p:grpSp>
    </p:spTree>
    <p:custDataLst>
      <p:tags r:id="rId4"/>
    </p:custDataLst>
  </p:cSld>
  <p:clrMap bg1="lt1" tx1="dk1" bg2="lt2" tx2="dk2" accent1="accent1" accent2="accent2" accent3="accent3" accent4="accent4" accent5="accent5" accent6="accent6" hlink="hlink" folHlink="folHlink"/>
  <p:sldLayoutIdLst>
    <p:sldLayoutId id="2147483661" r:id="rId1"/>
    <p:sldLayoutId id="2147483662" r:id="rId2"/>
  </p:sldLayoutIdLst>
  <mc:AlternateContent xmlns:mc="http://schemas.openxmlformats.org/markup-compatibility/2006">
    <mc:Choice xmlns="" xmlns:p14="http://schemas.microsoft.com/office/powerpoint/2010/main" Requires="p14">
      <p:transition spd="slow" p14:dur="2000"/>
    </mc:Choice>
    <mc:Fallback>
      <p:transition spd="slow"/>
    </mc:Fallback>
  </mc:AlternateContent>
  <mc:AlternateContent xmlns:mc="http://schemas.openxmlformats.org/markup-compatibility/2006">
    <mc:Choice xmlns=""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nodeType="withEffect" p14:presetBounceEnd="36000">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14:bounceEnd="36000">
                                          <p:cBhvr additive="base">
                                            <p:cTn id="7" dur="500" fill="hold"/>
                                            <p:tgtEl>
                                              <p:spTgt spid="15"/>
                                            </p:tgtEl>
                                            <p:attrNameLst>
                                              <p:attrName>ppt_x</p:attrName>
                                            </p:attrNameLst>
                                          </p:cBhvr>
                                          <p:tavLst>
                                            <p:tav tm="0">
                                              <p:val>
                                                <p:strVal val="1+#ppt_w/2"/>
                                              </p:val>
                                            </p:tav>
                                            <p:tav tm="100000">
                                              <p:val>
                                                <p:strVal val="#ppt_x"/>
                                              </p:val>
                                            </p:tav>
                                          </p:tavLst>
                                        </p:anim>
                                        <p:anim calcmode="lin" valueType="num" p14:bounceEnd="36000">
                                          <p:cBhvr additive="base">
                                            <p:cTn id="8" dur="50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6" fill="hold" grpId="0" nodeType="withEffect" p14:presetBounceEnd="36000">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14:bounceEnd="36000">
                                          <p:cBhvr additive="base">
                                            <p:cTn id="11" dur="500" fill="hold"/>
                                            <p:tgtEl>
                                              <p:spTgt spid="11"/>
                                            </p:tgtEl>
                                            <p:attrNameLst>
                                              <p:attrName>ppt_x</p:attrName>
                                            </p:attrNameLst>
                                          </p:cBhvr>
                                          <p:tavLst>
                                            <p:tav tm="0">
                                              <p:val>
                                                <p:strVal val="1+#ppt_w/2"/>
                                              </p:val>
                                            </p:tav>
                                            <p:tav tm="100000">
                                              <p:val>
                                                <p:strVal val="#ppt_x"/>
                                              </p:val>
                                            </p:tav>
                                          </p:tavLst>
                                        </p:anim>
                                        <p:anim calcmode="lin" valueType="num" p14:bounceEnd="36000">
                                          <p:cBhvr additive="base">
                                            <p:cTn id="12" dur="500" fill="hold"/>
                                            <p:tgtEl>
                                              <p:spTgt spid="11"/>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14:presetBounceEnd="46000">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14:bounceEnd="46000">
                                          <p:cBhvr additive="base">
                                            <p:cTn id="15" dur="500" fill="hold"/>
                                            <p:tgtEl>
                                              <p:spTgt spid="12"/>
                                            </p:tgtEl>
                                            <p:attrNameLst>
                                              <p:attrName>ppt_x</p:attrName>
                                            </p:attrNameLst>
                                          </p:cBhvr>
                                          <p:tavLst>
                                            <p:tav tm="0">
                                              <p:val>
                                                <p:strVal val="#ppt_x"/>
                                              </p:val>
                                            </p:tav>
                                            <p:tav tm="100000">
                                              <p:val>
                                                <p:strVal val="#ppt_x"/>
                                              </p:val>
                                            </p:tav>
                                          </p:tavLst>
                                        </p:anim>
                                        <p:anim calcmode="lin" valueType="num" p14:bounceEnd="46000">
                                          <p:cBhvr additive="base">
                                            <p:cTn id="16" dur="500" fill="hold"/>
                                            <p:tgtEl>
                                              <p:spTgt spid="12"/>
                                            </p:tgtEl>
                                            <p:attrNameLst>
                                              <p:attrName>ppt_y</p:attrName>
                                            </p:attrNameLst>
                                          </p:cBhvr>
                                          <p:tavLst>
                                            <p:tav tm="0">
                                              <p:val>
                                                <p:strVal val="1+#ppt_h/2"/>
                                              </p:val>
                                            </p:tav>
                                            <p:tav tm="100000">
                                              <p:val>
                                                <p:strVal val="#ppt_y"/>
                                              </p:val>
                                            </p:tav>
                                          </p:tavLst>
                                        </p:anim>
                                      </p:childTnLst>
                                    </p:cTn>
                                  </p:par>
                                  <p:par>
                                    <p:cTn id="17" presetID="2" presetClass="entr" presetSubtype="12" fill="hold" nodeType="withEffect" p14:presetBounceEnd="42000">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14:bounceEnd="42000">
                                          <p:cBhvr additive="base">
                                            <p:cTn id="19" dur="500" fill="hold"/>
                                            <p:tgtEl>
                                              <p:spTgt spid="19"/>
                                            </p:tgtEl>
                                            <p:attrNameLst>
                                              <p:attrName>ppt_x</p:attrName>
                                            </p:attrNameLst>
                                          </p:cBhvr>
                                          <p:tavLst>
                                            <p:tav tm="0">
                                              <p:val>
                                                <p:strVal val="0-#ppt_w/2"/>
                                              </p:val>
                                            </p:tav>
                                            <p:tav tm="100000">
                                              <p:val>
                                                <p:strVal val="#ppt_x"/>
                                              </p:val>
                                            </p:tav>
                                          </p:tavLst>
                                        </p:anim>
                                        <p:anim calcmode="lin" valueType="num" p14:bounceEnd="42000">
                                          <p:cBhvr additive="base">
                                            <p:cTn id="2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1+#ppt_w/2"/>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6"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1+#ppt_w/2"/>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1+#ppt_h/2"/>
                                              </p:val>
                                            </p:tav>
                                            <p:tav tm="100000">
                                              <p:val>
                                                <p:strVal val="#ppt_y"/>
                                              </p:val>
                                            </p:tav>
                                          </p:tavLst>
                                        </p:anim>
                                      </p:childTnLst>
                                    </p:cTn>
                                  </p:par>
                                  <p:par>
                                    <p:cTn id="17" presetID="2" presetClass="entr" presetSubtype="12"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additive="base">
                                            <p:cTn id="19" dur="500" fill="hold"/>
                                            <p:tgtEl>
                                              <p:spTgt spid="19"/>
                                            </p:tgtEl>
                                            <p:attrNameLst>
                                              <p:attrName>ppt_x</p:attrName>
                                            </p:attrNameLst>
                                          </p:cBhvr>
                                          <p:tavLst>
                                            <p:tav tm="0">
                                              <p:val>
                                                <p:strVal val="0-#ppt_w/2"/>
                                              </p:val>
                                            </p:tav>
                                            <p:tav tm="100000">
                                              <p:val>
                                                <p:strVal val="#ppt_x"/>
                                              </p:val>
                                            </p:tav>
                                          </p:tavLst>
                                        </p:anim>
                                        <p:anim calcmode="lin" valueType="num">
                                          <p:cBhvr additive="base">
                                            <p:cTn id="2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mc:Fallback>
  </mc:AlternateConten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20" name="图片 19"/>
          <p:cNvPicPr>
            <a:picLocks noChangeAspect="1"/>
          </p:cNvPicPr>
          <p:nvPr userDrawn="1"/>
        </p:nvPicPr>
        <p:blipFill>
          <a:blip r:embed="rId5" cstate="print">
            <a:extLst>
              <a:ext uri="{BEBA8EAE-BF5A-486C-A8C5-ECC9F3942E4B}">
                <a14:imgProps xmlns="" xmlns:a14="http://schemas.microsoft.com/office/drawing/2010/main">
                  <a14:imgLayer r:embed="rId6">
                    <a14:imgEffect>
                      <a14:saturation sat="80000"/>
                    </a14:imgEffect>
                  </a14:imgLayer>
                </a14:imgProps>
              </a:ext>
              <a:ext uri="{28A0092B-C50C-407E-A947-70E740481C1C}">
                <a14:useLocalDpi xmlns="" xmlns:a14="http://schemas.microsoft.com/office/drawing/2010/main" val="0"/>
              </a:ext>
            </a:extLst>
          </a:blip>
          <a:stretch>
            <a:fillRect/>
          </a:stretch>
        </p:blipFill>
        <p:spPr>
          <a:xfrm>
            <a:off x="0" y="2704"/>
            <a:ext cx="5234342" cy="6852592"/>
          </a:xfrm>
          <a:prstGeom prst="rect">
            <a:avLst/>
          </a:prstGeom>
        </p:spPr>
      </p:pic>
      <p:sp>
        <p:nvSpPr>
          <p:cNvPr id="8" name="Freeform 16"/>
          <p:cNvSpPr/>
          <p:nvPr userDrawn="1"/>
        </p:nvSpPr>
        <p:spPr bwMode="auto">
          <a:xfrm>
            <a:off x="2522695" y="712470"/>
            <a:ext cx="9669305" cy="6487796"/>
          </a:xfrm>
          <a:custGeom>
            <a:avLst/>
            <a:gdLst>
              <a:gd name="T0" fmla="*/ 4653 w 4653"/>
              <a:gd name="T1" fmla="*/ 0 h 4322"/>
              <a:gd name="T2" fmla="*/ 2398 w 4653"/>
              <a:gd name="T3" fmla="*/ 0 h 4322"/>
              <a:gd name="T4" fmla="*/ 0 w 4653"/>
              <a:gd name="T5" fmla="*/ 4149 h 4322"/>
              <a:gd name="T6" fmla="*/ 100 w 4653"/>
              <a:gd name="T7" fmla="*/ 4322 h 4322"/>
              <a:gd name="T8" fmla="*/ 4653 w 4653"/>
              <a:gd name="T9" fmla="*/ 4322 h 4322"/>
              <a:gd name="T10" fmla="*/ 4653 w 4653"/>
              <a:gd name="T11" fmla="*/ 0 h 4322"/>
              <a:gd name="connsiteX0" fmla="*/ 10000 w 10000"/>
              <a:gd name="connsiteY0" fmla="*/ 0 h 10000"/>
              <a:gd name="connsiteX1" fmla="*/ 4967 w 10000"/>
              <a:gd name="connsiteY1" fmla="*/ 0 h 10000"/>
              <a:gd name="connsiteX2" fmla="*/ 0 w 10000"/>
              <a:gd name="connsiteY2" fmla="*/ 9600 h 10000"/>
              <a:gd name="connsiteX3" fmla="*/ 215 w 10000"/>
              <a:gd name="connsiteY3" fmla="*/ 10000 h 10000"/>
              <a:gd name="connsiteX4" fmla="*/ 10000 w 10000"/>
              <a:gd name="connsiteY4" fmla="*/ 10000 h 10000"/>
              <a:gd name="connsiteX5" fmla="*/ 10000 w 10000"/>
              <a:gd name="connsiteY5" fmla="*/ 0 h 10000"/>
              <a:gd name="connsiteX0-1" fmla="*/ 10000 w 10000"/>
              <a:gd name="connsiteY0-2" fmla="*/ 0 h 10000"/>
              <a:gd name="connsiteX1-3" fmla="*/ 4712 w 10000"/>
              <a:gd name="connsiteY1-4" fmla="*/ 0 h 10000"/>
              <a:gd name="connsiteX2-5" fmla="*/ 0 w 10000"/>
              <a:gd name="connsiteY2-6" fmla="*/ 9600 h 10000"/>
              <a:gd name="connsiteX3-7" fmla="*/ 215 w 10000"/>
              <a:gd name="connsiteY3-8" fmla="*/ 10000 h 10000"/>
              <a:gd name="connsiteX4-9" fmla="*/ 10000 w 10000"/>
              <a:gd name="connsiteY4-10" fmla="*/ 10000 h 10000"/>
              <a:gd name="connsiteX5-11" fmla="*/ 10000 w 10000"/>
              <a:gd name="connsiteY5-12" fmla="*/ 0 h 10000"/>
              <a:gd name="connsiteX0-13" fmla="*/ 10000 w 10000"/>
              <a:gd name="connsiteY0-14" fmla="*/ 0 h 10000"/>
              <a:gd name="connsiteX1-15" fmla="*/ 4464 w 10000"/>
              <a:gd name="connsiteY1-16" fmla="*/ 0 h 10000"/>
              <a:gd name="connsiteX2-17" fmla="*/ 0 w 10000"/>
              <a:gd name="connsiteY2-18" fmla="*/ 9600 h 10000"/>
              <a:gd name="connsiteX3-19" fmla="*/ 215 w 10000"/>
              <a:gd name="connsiteY3-20" fmla="*/ 10000 h 10000"/>
              <a:gd name="connsiteX4-21" fmla="*/ 10000 w 10000"/>
              <a:gd name="connsiteY4-22" fmla="*/ 10000 h 10000"/>
              <a:gd name="connsiteX5-23" fmla="*/ 10000 w 10000"/>
              <a:gd name="connsiteY5-24" fmla="*/ 0 h 10000"/>
              <a:gd name="connsiteX0-25" fmla="*/ 10000 w 10000"/>
              <a:gd name="connsiteY0-26" fmla="*/ 19 h 10019"/>
              <a:gd name="connsiteX1-27" fmla="*/ 4501 w 10000"/>
              <a:gd name="connsiteY1-28" fmla="*/ 0 h 10019"/>
              <a:gd name="connsiteX2-29" fmla="*/ 0 w 10000"/>
              <a:gd name="connsiteY2-30" fmla="*/ 9619 h 10019"/>
              <a:gd name="connsiteX3-31" fmla="*/ 215 w 10000"/>
              <a:gd name="connsiteY3-32" fmla="*/ 10019 h 10019"/>
              <a:gd name="connsiteX4-33" fmla="*/ 10000 w 10000"/>
              <a:gd name="connsiteY4-34" fmla="*/ 10019 h 10019"/>
              <a:gd name="connsiteX5-35" fmla="*/ 10000 w 10000"/>
              <a:gd name="connsiteY5-36" fmla="*/ 19 h 1001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000" h="10019">
                <a:moveTo>
                  <a:pt x="10000" y="19"/>
                </a:moveTo>
                <a:lnTo>
                  <a:pt x="4501" y="0"/>
                </a:lnTo>
                <a:cubicBezTo>
                  <a:pt x="2930" y="3200"/>
                  <a:pt x="1571" y="6419"/>
                  <a:pt x="0" y="9619"/>
                </a:cubicBezTo>
                <a:cubicBezTo>
                  <a:pt x="72" y="9752"/>
                  <a:pt x="143" y="9886"/>
                  <a:pt x="215" y="10019"/>
                </a:cubicBezTo>
                <a:lnTo>
                  <a:pt x="10000" y="10019"/>
                </a:lnTo>
                <a:lnTo>
                  <a:pt x="10000" y="19"/>
                </a:lnTo>
                <a:close/>
              </a:path>
            </a:pathLst>
          </a:custGeom>
          <a:solidFill>
            <a:schemeClr val="accent1">
              <a:lumMod val="20000"/>
              <a:lumOff val="80000"/>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a typeface="思源黑体" panose="020B0500000000000000" pitchFamily="34" charset="-122"/>
            </a:endParaRPr>
          </a:p>
        </p:txBody>
      </p:sp>
      <p:sp>
        <p:nvSpPr>
          <p:cNvPr id="9" name="123"/>
          <p:cNvSpPr/>
          <p:nvPr userDrawn="1">
            <p:custDataLst>
              <p:tags r:id="rId4"/>
            </p:custDataLst>
          </p:nvPr>
        </p:nvSpPr>
        <p:spPr>
          <a:xfrm>
            <a:off x="11153505" y="5897007"/>
            <a:ext cx="609166" cy="609166"/>
          </a:xfrm>
          <a:prstGeom prst="ellipse">
            <a:avLst/>
          </a:prstGeom>
          <a:solidFill>
            <a:srgbClr val="062C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思源黑体" panose="020B0500000000000000" pitchFamily="34" charset="-122"/>
              <a:cs typeface="+mn-cs"/>
            </a:endParaRPr>
          </a:p>
        </p:txBody>
      </p:sp>
      <p:grpSp>
        <p:nvGrpSpPr>
          <p:cNvPr id="13" name="组合 12"/>
          <p:cNvGrpSpPr/>
          <p:nvPr userDrawn="1"/>
        </p:nvGrpSpPr>
        <p:grpSpPr>
          <a:xfrm>
            <a:off x="3677174" y="5132000"/>
            <a:ext cx="3461275" cy="1726000"/>
            <a:chOff x="3471021" y="4985765"/>
            <a:chExt cx="2750572" cy="1872236"/>
          </a:xfrm>
        </p:grpSpPr>
        <p:sp>
          <p:nvSpPr>
            <p:cNvPr id="14" name="任意多边形: 形状 68"/>
            <p:cNvSpPr/>
            <p:nvPr/>
          </p:nvSpPr>
          <p:spPr>
            <a:xfrm>
              <a:off x="3471021" y="5617900"/>
              <a:ext cx="2750572" cy="1240101"/>
            </a:xfrm>
            <a:custGeom>
              <a:avLst/>
              <a:gdLst>
                <a:gd name="connsiteX0" fmla="*/ 688066 w 2750572"/>
                <a:gd name="connsiteY0" fmla="*/ 0 h 1240101"/>
                <a:gd name="connsiteX1" fmla="*/ 2062507 w 2750572"/>
                <a:gd name="connsiteY1" fmla="*/ 0 h 1240101"/>
                <a:gd name="connsiteX2" fmla="*/ 2750572 w 2750572"/>
                <a:gd name="connsiteY2" fmla="*/ 1186787 h 1240101"/>
                <a:gd name="connsiteX3" fmla="*/ 2719750 w 2750572"/>
                <a:gd name="connsiteY3" fmla="*/ 1240101 h 1240101"/>
                <a:gd name="connsiteX4" fmla="*/ 30822 w 2750572"/>
                <a:gd name="connsiteY4" fmla="*/ 1240101 h 1240101"/>
                <a:gd name="connsiteX5" fmla="*/ 0 w 2750572"/>
                <a:gd name="connsiteY5" fmla="*/ 1186787 h 1240101"/>
                <a:gd name="connsiteX6" fmla="*/ 688066 w 2750572"/>
                <a:gd name="connsiteY6" fmla="*/ 0 h 1240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0572" h="1240101">
                  <a:moveTo>
                    <a:pt x="688066" y="0"/>
                  </a:moveTo>
                  <a:lnTo>
                    <a:pt x="2062507" y="0"/>
                  </a:lnTo>
                  <a:lnTo>
                    <a:pt x="2750572" y="1186787"/>
                  </a:lnTo>
                  <a:lnTo>
                    <a:pt x="2719750" y="1240101"/>
                  </a:lnTo>
                  <a:lnTo>
                    <a:pt x="30822" y="1240101"/>
                  </a:lnTo>
                  <a:lnTo>
                    <a:pt x="0" y="1186787"/>
                  </a:lnTo>
                  <a:lnTo>
                    <a:pt x="688066" y="0"/>
                  </a:lnTo>
                  <a:close/>
                </a:path>
              </a:pathLst>
            </a:custGeom>
            <a:solidFill>
              <a:srgbClr val="7CBEE0">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ea typeface="思源黑体" panose="020B0500000000000000" pitchFamily="34" charset="-122"/>
              </a:endParaRPr>
            </a:p>
          </p:txBody>
        </p:sp>
        <p:sp>
          <p:nvSpPr>
            <p:cNvPr id="15" name="Freeform 21"/>
            <p:cNvSpPr/>
            <p:nvPr/>
          </p:nvSpPr>
          <p:spPr bwMode="auto">
            <a:xfrm>
              <a:off x="3558108" y="4985765"/>
              <a:ext cx="1042922" cy="1142742"/>
            </a:xfrm>
            <a:custGeom>
              <a:avLst/>
              <a:gdLst>
                <a:gd name="T0" fmla="*/ 1220 w 1627"/>
                <a:gd name="T1" fmla="*/ 0 h 1406"/>
                <a:gd name="T2" fmla="*/ 407 w 1627"/>
                <a:gd name="T3" fmla="*/ 0 h 1406"/>
                <a:gd name="T4" fmla="*/ 0 w 1627"/>
                <a:gd name="T5" fmla="*/ 702 h 1406"/>
                <a:gd name="T6" fmla="*/ 407 w 1627"/>
                <a:gd name="T7" fmla="*/ 1406 h 1406"/>
                <a:gd name="T8" fmla="*/ 1220 w 1627"/>
                <a:gd name="T9" fmla="*/ 1406 h 1406"/>
                <a:gd name="T10" fmla="*/ 1627 w 1627"/>
                <a:gd name="T11" fmla="*/ 702 h 1406"/>
                <a:gd name="T12" fmla="*/ 1220 w 1627"/>
                <a:gd name="T13" fmla="*/ 0 h 1406"/>
              </a:gdLst>
              <a:ahLst/>
              <a:cxnLst>
                <a:cxn ang="0">
                  <a:pos x="T0" y="T1"/>
                </a:cxn>
                <a:cxn ang="0">
                  <a:pos x="T2" y="T3"/>
                </a:cxn>
                <a:cxn ang="0">
                  <a:pos x="T4" y="T5"/>
                </a:cxn>
                <a:cxn ang="0">
                  <a:pos x="T6" y="T7"/>
                </a:cxn>
                <a:cxn ang="0">
                  <a:pos x="T8" y="T9"/>
                </a:cxn>
                <a:cxn ang="0">
                  <a:pos x="T10" y="T11"/>
                </a:cxn>
                <a:cxn ang="0">
                  <a:pos x="T12" y="T13"/>
                </a:cxn>
              </a:cxnLst>
              <a:rect l="0" t="0" r="r" b="b"/>
              <a:pathLst>
                <a:path w="1627" h="1406">
                  <a:moveTo>
                    <a:pt x="1220" y="0"/>
                  </a:moveTo>
                  <a:lnTo>
                    <a:pt x="407" y="0"/>
                  </a:lnTo>
                  <a:lnTo>
                    <a:pt x="0" y="702"/>
                  </a:lnTo>
                  <a:lnTo>
                    <a:pt x="407" y="1406"/>
                  </a:lnTo>
                  <a:lnTo>
                    <a:pt x="1220" y="1406"/>
                  </a:lnTo>
                  <a:lnTo>
                    <a:pt x="1627" y="702"/>
                  </a:lnTo>
                  <a:lnTo>
                    <a:pt x="1220" y="0"/>
                  </a:lnTo>
                  <a:close/>
                </a:path>
              </a:pathLst>
            </a:custGeom>
            <a:solidFill>
              <a:srgbClr val="CDE7F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a typeface="思源黑体" panose="020B0500000000000000" pitchFamily="34" charset="-122"/>
              </a:endParaRPr>
            </a:p>
          </p:txBody>
        </p:sp>
      </p:grpSp>
      <p:grpSp>
        <p:nvGrpSpPr>
          <p:cNvPr id="16" name="组合 15"/>
          <p:cNvGrpSpPr/>
          <p:nvPr userDrawn="1"/>
        </p:nvGrpSpPr>
        <p:grpSpPr>
          <a:xfrm>
            <a:off x="5099159" y="1068265"/>
            <a:ext cx="7092843" cy="5792337"/>
            <a:chOff x="5867893" y="1209154"/>
            <a:chExt cx="6324107" cy="5164552"/>
          </a:xfrm>
          <a:solidFill>
            <a:srgbClr val="3992DB"/>
          </a:solidFill>
        </p:grpSpPr>
        <p:sp>
          <p:nvSpPr>
            <p:cNvPr id="17" name="任意多边形: 形状 77"/>
            <p:cNvSpPr/>
            <p:nvPr/>
          </p:nvSpPr>
          <p:spPr>
            <a:xfrm>
              <a:off x="5867893" y="1209154"/>
              <a:ext cx="6324107" cy="5162148"/>
            </a:xfrm>
            <a:custGeom>
              <a:avLst/>
              <a:gdLst>
                <a:gd name="connsiteX0" fmla="*/ 2000762 w 6361051"/>
                <a:gd name="connsiteY0" fmla="*/ 0 h 5162148"/>
                <a:gd name="connsiteX1" fmla="*/ 6361051 w 6361051"/>
                <a:gd name="connsiteY1" fmla="*/ 0 h 5162148"/>
                <a:gd name="connsiteX2" fmla="*/ 6361051 w 6361051"/>
                <a:gd name="connsiteY2" fmla="*/ 5162148 h 5162148"/>
                <a:gd name="connsiteX3" fmla="*/ 1700885 w 6361051"/>
                <a:gd name="connsiteY3" fmla="*/ 5162148 h 5162148"/>
                <a:gd name="connsiteX4" fmla="*/ 0 w 6361051"/>
                <a:gd name="connsiteY4" fmla="*/ 2819888 h 5162148"/>
                <a:gd name="connsiteX5" fmla="*/ 2000762 w 6361051"/>
                <a:gd name="connsiteY5" fmla="*/ 0 h 5162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61051" h="5162148">
                  <a:moveTo>
                    <a:pt x="2000762" y="0"/>
                  </a:moveTo>
                  <a:lnTo>
                    <a:pt x="6361051" y="0"/>
                  </a:lnTo>
                  <a:lnTo>
                    <a:pt x="6361051" y="5162148"/>
                  </a:lnTo>
                  <a:lnTo>
                    <a:pt x="1700885" y="5162148"/>
                  </a:lnTo>
                  <a:lnTo>
                    <a:pt x="0" y="2819888"/>
                  </a:lnTo>
                  <a:lnTo>
                    <a:pt x="200076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ea typeface="思源黑体" panose="020B0500000000000000" pitchFamily="34" charset="-122"/>
              </a:endParaRPr>
            </a:p>
          </p:txBody>
        </p:sp>
        <p:sp>
          <p:nvSpPr>
            <p:cNvPr id="18" name="任意多边形: 形状 79"/>
            <p:cNvSpPr/>
            <p:nvPr/>
          </p:nvSpPr>
          <p:spPr>
            <a:xfrm>
              <a:off x="9811247" y="4441668"/>
              <a:ext cx="2380752" cy="1932038"/>
            </a:xfrm>
            <a:custGeom>
              <a:avLst/>
              <a:gdLst>
                <a:gd name="connsiteX0" fmla="*/ 2000762 w 6361051"/>
                <a:gd name="connsiteY0" fmla="*/ 0 h 5162148"/>
                <a:gd name="connsiteX1" fmla="*/ 6361051 w 6361051"/>
                <a:gd name="connsiteY1" fmla="*/ 0 h 5162148"/>
                <a:gd name="connsiteX2" fmla="*/ 6361051 w 6361051"/>
                <a:gd name="connsiteY2" fmla="*/ 5162148 h 5162148"/>
                <a:gd name="connsiteX3" fmla="*/ 1700885 w 6361051"/>
                <a:gd name="connsiteY3" fmla="*/ 5162148 h 5162148"/>
                <a:gd name="connsiteX4" fmla="*/ 0 w 6361051"/>
                <a:gd name="connsiteY4" fmla="*/ 2819888 h 5162148"/>
                <a:gd name="connsiteX5" fmla="*/ 2000762 w 6361051"/>
                <a:gd name="connsiteY5" fmla="*/ 0 h 5162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61051" h="5162148">
                  <a:moveTo>
                    <a:pt x="2000762" y="0"/>
                  </a:moveTo>
                  <a:lnTo>
                    <a:pt x="6361051" y="0"/>
                  </a:lnTo>
                  <a:lnTo>
                    <a:pt x="6361051" y="5162148"/>
                  </a:lnTo>
                  <a:lnTo>
                    <a:pt x="1700885" y="5162148"/>
                  </a:lnTo>
                  <a:lnTo>
                    <a:pt x="0" y="2819888"/>
                  </a:lnTo>
                  <a:lnTo>
                    <a:pt x="200076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ea typeface="思源黑体" panose="020B0500000000000000" pitchFamily="34" charset="-122"/>
              </a:endParaRPr>
            </a:p>
          </p:txBody>
        </p:sp>
      </p:grpSp>
      <p:grpSp>
        <p:nvGrpSpPr>
          <p:cNvPr id="23" name="组合 22"/>
          <p:cNvGrpSpPr/>
          <p:nvPr userDrawn="1"/>
        </p:nvGrpSpPr>
        <p:grpSpPr>
          <a:xfrm>
            <a:off x="0" y="4060494"/>
            <a:ext cx="3028950" cy="2797506"/>
            <a:chOff x="0" y="3609283"/>
            <a:chExt cx="3097161" cy="3248717"/>
          </a:xfrm>
        </p:grpSpPr>
        <p:sp>
          <p:nvSpPr>
            <p:cNvPr id="24" name="任意多边形: 形状 35"/>
            <p:cNvSpPr/>
            <p:nvPr/>
          </p:nvSpPr>
          <p:spPr>
            <a:xfrm>
              <a:off x="0" y="3609283"/>
              <a:ext cx="3097161" cy="3248717"/>
            </a:xfrm>
            <a:custGeom>
              <a:avLst/>
              <a:gdLst>
                <a:gd name="connsiteX0" fmla="*/ 0 w 3097161"/>
                <a:gd name="connsiteY0" fmla="*/ 0 h 3248717"/>
                <a:gd name="connsiteX1" fmla="*/ 1807845 w 3097161"/>
                <a:gd name="connsiteY1" fmla="*/ 0 h 3248717"/>
                <a:gd name="connsiteX2" fmla="*/ 3097161 w 3097161"/>
                <a:gd name="connsiteY2" fmla="*/ 2230611 h 3248717"/>
                <a:gd name="connsiteX3" fmla="*/ 2508869 w 3097161"/>
                <a:gd name="connsiteY3" fmla="*/ 3248717 h 3248717"/>
                <a:gd name="connsiteX4" fmla="*/ 0 w 3097161"/>
                <a:gd name="connsiteY4" fmla="*/ 3248717 h 3248717"/>
                <a:gd name="connsiteX5" fmla="*/ 0 w 3097161"/>
                <a:gd name="connsiteY5" fmla="*/ 0 h 3248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97161" h="3248717">
                  <a:moveTo>
                    <a:pt x="0" y="0"/>
                  </a:moveTo>
                  <a:lnTo>
                    <a:pt x="1807845" y="0"/>
                  </a:lnTo>
                  <a:lnTo>
                    <a:pt x="3097161" y="2230611"/>
                  </a:lnTo>
                  <a:lnTo>
                    <a:pt x="2508869" y="3248717"/>
                  </a:lnTo>
                  <a:lnTo>
                    <a:pt x="0" y="3248717"/>
                  </a:lnTo>
                  <a:lnTo>
                    <a:pt x="0" y="0"/>
                  </a:lnTo>
                  <a:close/>
                </a:path>
              </a:pathLst>
            </a:cu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思源黑体" panose="020B0500000000000000" pitchFamily="34" charset="-122"/>
              </a:endParaRPr>
            </a:p>
          </p:txBody>
        </p:sp>
        <p:sp>
          <p:nvSpPr>
            <p:cNvPr id="25" name="Freeform 11"/>
            <p:cNvSpPr/>
            <p:nvPr/>
          </p:nvSpPr>
          <p:spPr bwMode="auto">
            <a:xfrm>
              <a:off x="0" y="3995737"/>
              <a:ext cx="2105025" cy="2862263"/>
            </a:xfrm>
            <a:custGeom>
              <a:avLst/>
              <a:gdLst>
                <a:gd name="T0" fmla="*/ 774 w 1326"/>
                <a:gd name="T1" fmla="*/ 0 h 1803"/>
                <a:gd name="T2" fmla="*/ 0 w 1326"/>
                <a:gd name="T3" fmla="*/ 0 h 1803"/>
                <a:gd name="T4" fmla="*/ 0 w 1326"/>
                <a:gd name="T5" fmla="*/ 1803 h 1803"/>
                <a:gd name="T6" fmla="*/ 836 w 1326"/>
                <a:gd name="T7" fmla="*/ 1803 h 1803"/>
                <a:gd name="T8" fmla="*/ 1326 w 1326"/>
                <a:gd name="T9" fmla="*/ 955 h 1803"/>
                <a:gd name="T10" fmla="*/ 774 w 1326"/>
                <a:gd name="T11" fmla="*/ 0 h 1803"/>
              </a:gdLst>
              <a:ahLst/>
              <a:cxnLst>
                <a:cxn ang="0">
                  <a:pos x="T0" y="T1"/>
                </a:cxn>
                <a:cxn ang="0">
                  <a:pos x="T2" y="T3"/>
                </a:cxn>
                <a:cxn ang="0">
                  <a:pos x="T4" y="T5"/>
                </a:cxn>
                <a:cxn ang="0">
                  <a:pos x="T6" y="T7"/>
                </a:cxn>
                <a:cxn ang="0">
                  <a:pos x="T8" y="T9"/>
                </a:cxn>
                <a:cxn ang="0">
                  <a:pos x="T10" y="T11"/>
                </a:cxn>
              </a:cxnLst>
              <a:rect l="0" t="0" r="r" b="b"/>
              <a:pathLst>
                <a:path w="1326" h="1803">
                  <a:moveTo>
                    <a:pt x="774" y="0"/>
                  </a:moveTo>
                  <a:lnTo>
                    <a:pt x="0" y="0"/>
                  </a:lnTo>
                  <a:lnTo>
                    <a:pt x="0" y="1803"/>
                  </a:lnTo>
                  <a:lnTo>
                    <a:pt x="836" y="1803"/>
                  </a:lnTo>
                  <a:lnTo>
                    <a:pt x="1326" y="955"/>
                  </a:lnTo>
                  <a:lnTo>
                    <a:pt x="774" y="0"/>
                  </a:lnTo>
                  <a:close/>
                </a:path>
              </a:pathLst>
            </a:custGeom>
            <a:solidFill>
              <a:schemeClr val="accent1">
                <a:alpha val="42000"/>
              </a:schemeClr>
            </a:solidFill>
            <a:ln>
              <a:noFill/>
            </a:ln>
          </p:spPr>
          <p:txBody>
            <a:bodyPr vert="horz" wrap="square" lIns="91440" tIns="45720" rIns="91440" bIns="45720" numCol="1" anchor="t" anchorCtr="0" compatLnSpc="1"/>
            <a:lstStyle/>
            <a:p>
              <a:endParaRPr lang="zh-CN" altLang="en-US">
                <a:ea typeface="思源黑体" panose="020B0500000000000000" pitchFamily="34" charset="-122"/>
              </a:endParaRPr>
            </a:p>
          </p:txBody>
        </p:sp>
      </p:grpSp>
      <p:pic>
        <p:nvPicPr>
          <p:cNvPr id="19" name="图片 18"/>
          <p:cNvPicPr>
            <a:picLocks noChangeAspect="1"/>
          </p:cNvPicPr>
          <p:nvPr userDrawn="1"/>
        </p:nvPicPr>
        <p:blipFill rotWithShape="1">
          <a:blip r:embed="rId7" cstate="print">
            <a:extLst>
              <a:ext uri="{28A0092B-C50C-407E-A947-70E740481C1C}">
                <a14:useLocalDpi xmlns="" xmlns:a14="http://schemas.microsoft.com/office/drawing/2010/main" val="0"/>
              </a:ext>
            </a:extLst>
          </a:blip>
          <a:srcRect l="79568" t="268" r="259" b="91725"/>
          <a:stretch>
            <a:fillRect/>
          </a:stretch>
        </p:blipFill>
        <p:spPr>
          <a:xfrm>
            <a:off x="9732579" y="41394"/>
            <a:ext cx="2459421" cy="549112"/>
          </a:xfrm>
          <a:prstGeom prst="rect">
            <a:avLst/>
          </a:prstGeom>
        </p:spPr>
      </p:pic>
    </p:spTree>
    <p:custDataLst>
      <p:tags r:id="rId3"/>
    </p:custDataLst>
  </p:cSld>
  <p:clrMap bg1="lt1" tx1="dk1" bg2="lt2" tx2="dk2" accent1="accent1" accent2="accent2" accent3="accent3" accent4="accent4" accent5="accent5" accent6="accent6" hlink="hlink" folHlink="folHlink"/>
  <p:sldLayoutIdLst>
    <p:sldLayoutId id="2147483664" r:id="rId1"/>
  </p:sldLayoutIdLst>
  <mc:AlternateContent xmlns:mc="http://schemas.openxmlformats.org/markup-compatibility/2006">
    <mc:Choice xmlns="" xmlns:p14="http://schemas.microsoft.com/office/powerpoint/2010/main" Requires="p14">
      <p:transition spd="slow" p14:dur="2000"/>
    </mc:Choice>
    <mc:Fallback>
      <p:transition spd="slow"/>
    </mc:Fallback>
  </mc:AlternateContent>
  <mc:AlternateContent xmlns:mc="http://schemas.openxmlformats.org/markup-compatibility/2006">
    <mc:Choice xmlns=""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nodeType="withEffect" p14:presetBounceEnd="36000">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14:bounceEnd="36000">
                                          <p:cBhvr additive="base">
                                            <p:cTn id="7" dur="500" fill="hold"/>
                                            <p:tgtEl>
                                              <p:spTgt spid="16"/>
                                            </p:tgtEl>
                                            <p:attrNameLst>
                                              <p:attrName>ppt_x</p:attrName>
                                            </p:attrNameLst>
                                          </p:cBhvr>
                                          <p:tavLst>
                                            <p:tav tm="0">
                                              <p:val>
                                                <p:strVal val="1+#ppt_w/2"/>
                                              </p:val>
                                            </p:tav>
                                            <p:tav tm="100000">
                                              <p:val>
                                                <p:strVal val="#ppt_x"/>
                                              </p:val>
                                            </p:tav>
                                          </p:tavLst>
                                        </p:anim>
                                        <p:anim calcmode="lin" valueType="num" p14:bounceEnd="36000">
                                          <p:cBhvr additive="base">
                                            <p:cTn id="8" dur="500" fill="hold"/>
                                            <p:tgtEl>
                                              <p:spTgt spid="16"/>
                                            </p:tgtEl>
                                            <p:attrNameLst>
                                              <p:attrName>ppt_y</p:attrName>
                                            </p:attrNameLst>
                                          </p:cBhvr>
                                          <p:tavLst>
                                            <p:tav tm="0">
                                              <p:val>
                                                <p:strVal val="1+#ppt_h/2"/>
                                              </p:val>
                                            </p:tav>
                                            <p:tav tm="100000">
                                              <p:val>
                                                <p:strVal val="#ppt_y"/>
                                              </p:val>
                                            </p:tav>
                                          </p:tavLst>
                                        </p:anim>
                                      </p:childTnLst>
                                    </p:cTn>
                                  </p:par>
                                  <p:par>
                                    <p:cTn id="9" presetID="2" presetClass="entr" presetSubtype="6" fill="hold" grpId="0" nodeType="withEffect" p14:presetBounceEnd="36000">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14:bounceEnd="36000">
                                          <p:cBhvr additive="base">
                                            <p:cTn id="11" dur="500" fill="hold"/>
                                            <p:tgtEl>
                                              <p:spTgt spid="8"/>
                                            </p:tgtEl>
                                            <p:attrNameLst>
                                              <p:attrName>ppt_x</p:attrName>
                                            </p:attrNameLst>
                                          </p:cBhvr>
                                          <p:tavLst>
                                            <p:tav tm="0">
                                              <p:val>
                                                <p:strVal val="1+#ppt_w/2"/>
                                              </p:val>
                                            </p:tav>
                                            <p:tav tm="100000">
                                              <p:val>
                                                <p:strVal val="#ppt_x"/>
                                              </p:val>
                                            </p:tav>
                                          </p:tavLst>
                                        </p:anim>
                                        <p:anim calcmode="lin" valueType="num" p14:bounceEnd="36000">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14:presetBounceEnd="46000">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14:bounceEnd="46000">
                                          <p:cBhvr additive="base">
                                            <p:cTn id="15" dur="500" fill="hold"/>
                                            <p:tgtEl>
                                              <p:spTgt spid="13"/>
                                            </p:tgtEl>
                                            <p:attrNameLst>
                                              <p:attrName>ppt_x</p:attrName>
                                            </p:attrNameLst>
                                          </p:cBhvr>
                                          <p:tavLst>
                                            <p:tav tm="0">
                                              <p:val>
                                                <p:strVal val="#ppt_x"/>
                                              </p:val>
                                            </p:tav>
                                            <p:tav tm="100000">
                                              <p:val>
                                                <p:strVal val="#ppt_x"/>
                                              </p:val>
                                            </p:tav>
                                          </p:tavLst>
                                        </p:anim>
                                        <p:anim calcmode="lin" valueType="num" p14:bounceEnd="46000">
                                          <p:cBhvr additive="base">
                                            <p:cTn id="16" dur="500" fill="hold"/>
                                            <p:tgtEl>
                                              <p:spTgt spid="13"/>
                                            </p:tgtEl>
                                            <p:attrNameLst>
                                              <p:attrName>ppt_y</p:attrName>
                                            </p:attrNameLst>
                                          </p:cBhvr>
                                          <p:tavLst>
                                            <p:tav tm="0">
                                              <p:val>
                                                <p:strVal val="1+#ppt_h/2"/>
                                              </p:val>
                                            </p:tav>
                                            <p:tav tm="100000">
                                              <p:val>
                                                <p:strVal val="#ppt_y"/>
                                              </p:val>
                                            </p:tav>
                                          </p:tavLst>
                                        </p:anim>
                                      </p:childTnLst>
                                    </p:cTn>
                                  </p:par>
                                  <p:par>
                                    <p:cTn id="17" presetID="2" presetClass="entr" presetSubtype="12" fill="hold" nodeType="withEffect" p14:presetBounceEnd="42000">
                                      <p:stCondLst>
                                        <p:cond delay="0"/>
                                      </p:stCondLst>
                                      <p:childTnLst>
                                        <p:set>
                                          <p:cBhvr>
                                            <p:cTn id="18" dur="1" fill="hold">
                                              <p:stCondLst>
                                                <p:cond delay="0"/>
                                              </p:stCondLst>
                                            </p:cTn>
                                            <p:tgtEl>
                                              <p:spTgt spid="23"/>
                                            </p:tgtEl>
                                            <p:attrNameLst>
                                              <p:attrName>style.visibility</p:attrName>
                                            </p:attrNameLst>
                                          </p:cBhvr>
                                          <p:to>
                                            <p:strVal val="visible"/>
                                          </p:to>
                                        </p:set>
                                        <p:anim calcmode="lin" valueType="num" p14:bounceEnd="42000">
                                          <p:cBhvr additive="base">
                                            <p:cTn id="19" dur="500" fill="hold"/>
                                            <p:tgtEl>
                                              <p:spTgt spid="23"/>
                                            </p:tgtEl>
                                            <p:attrNameLst>
                                              <p:attrName>ppt_x</p:attrName>
                                            </p:attrNameLst>
                                          </p:cBhvr>
                                          <p:tavLst>
                                            <p:tav tm="0">
                                              <p:val>
                                                <p:strVal val="0-#ppt_w/2"/>
                                              </p:val>
                                            </p:tav>
                                            <p:tav tm="100000">
                                              <p:val>
                                                <p:strVal val="#ppt_x"/>
                                              </p:val>
                                            </p:tav>
                                          </p:tavLst>
                                        </p:anim>
                                        <p:anim calcmode="lin" valueType="num" p14:bounceEnd="42000">
                                          <p:cBhvr additive="base">
                                            <p:cTn id="20"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1+#ppt_w/2"/>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par>
                                    <p:cTn id="9" presetID="2" presetClass="entr" presetSubtype="6"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1+#ppt_w/2"/>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1+#ppt_h/2"/>
                                              </p:val>
                                            </p:tav>
                                            <p:tav tm="100000">
                                              <p:val>
                                                <p:strVal val="#ppt_y"/>
                                              </p:val>
                                            </p:tav>
                                          </p:tavLst>
                                        </p:anim>
                                      </p:childTnLst>
                                    </p:cTn>
                                  </p:par>
                                  <p:par>
                                    <p:cTn id="17" presetID="2" presetClass="entr" presetSubtype="12"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 calcmode="lin" valueType="num">
                                          <p:cBhvr additive="base">
                                            <p:cTn id="19" dur="500" fill="hold"/>
                                            <p:tgtEl>
                                              <p:spTgt spid="23"/>
                                            </p:tgtEl>
                                            <p:attrNameLst>
                                              <p:attrName>ppt_x</p:attrName>
                                            </p:attrNameLst>
                                          </p:cBhvr>
                                          <p:tavLst>
                                            <p:tav tm="0">
                                              <p:val>
                                                <p:strVal val="0-#ppt_w/2"/>
                                              </p:val>
                                            </p:tav>
                                            <p:tav tm="100000">
                                              <p:val>
                                                <p:strVal val="#ppt_x"/>
                                              </p:val>
                                            </p:tav>
                                          </p:tavLst>
                                        </p:anim>
                                        <p:anim calcmode="lin" valueType="num">
                                          <p:cBhvr additive="base">
                                            <p:cTn id="20"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mc:Fallback>
  </mc:AlternateConten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6.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tags" Target="../tags/tag15.xml"/><Relationship Id="rId3" Type="http://schemas.openxmlformats.org/officeDocument/2006/relationships/tags" Target="../tags/tag10.xml"/><Relationship Id="rId7" Type="http://schemas.openxmlformats.org/officeDocument/2006/relationships/tags" Target="../tags/tag14.xml"/><Relationship Id="rId12" Type="http://schemas.microsoft.com/office/2007/relationships/hdphoto" Target="../media/image2.wdp"/><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image" Target="../media/image1.png"/><Relationship Id="rId5" Type="http://schemas.openxmlformats.org/officeDocument/2006/relationships/tags" Target="../tags/tag12.xml"/><Relationship Id="rId10" Type="http://schemas.openxmlformats.org/officeDocument/2006/relationships/slideLayout" Target="../slideLayouts/slideLayout7.xml"/><Relationship Id="rId4" Type="http://schemas.openxmlformats.org/officeDocument/2006/relationships/tags" Target="../tags/tag11.xml"/><Relationship Id="rId9" Type="http://schemas.openxmlformats.org/officeDocument/2006/relationships/tags" Target="../tags/tag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tags" Target="../tags/tag24.xml"/><Relationship Id="rId3" Type="http://schemas.openxmlformats.org/officeDocument/2006/relationships/tags" Target="../tags/tag19.xml"/><Relationship Id="rId7" Type="http://schemas.openxmlformats.org/officeDocument/2006/relationships/tags" Target="../tags/tag23.xml"/><Relationship Id="rId12" Type="http://schemas.microsoft.com/office/2007/relationships/hdphoto" Target="../media/image2.wdp"/><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11" Type="http://schemas.openxmlformats.org/officeDocument/2006/relationships/image" Target="../media/image1.png"/><Relationship Id="rId5" Type="http://schemas.openxmlformats.org/officeDocument/2006/relationships/tags" Target="../tags/tag21.xml"/><Relationship Id="rId10" Type="http://schemas.openxmlformats.org/officeDocument/2006/relationships/slideLayout" Target="../slideLayouts/slideLayout7.xml"/><Relationship Id="rId4" Type="http://schemas.openxmlformats.org/officeDocument/2006/relationships/tags" Target="../tags/tag20.xml"/><Relationship Id="rId9" Type="http://schemas.openxmlformats.org/officeDocument/2006/relationships/tags" Target="../tags/tag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îṣḻídè"/>
          <p:cNvSpPr txBox="1"/>
          <p:nvPr/>
        </p:nvSpPr>
        <p:spPr>
          <a:xfrm>
            <a:off x="669927" y="1347882"/>
            <a:ext cx="5852173" cy="276999"/>
          </a:xfrm>
          <a:prstGeom prst="rect">
            <a:avLst/>
          </a:prstGeom>
          <a:noFill/>
        </p:spPr>
        <p:txBody>
          <a:bodyPr wrap="square" rtlCol="0" anchor="b">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Arial" panose="020B0604020202020204"/>
                <a:ea typeface="思源黑体" panose="020B0500000000000000" pitchFamily="34" charset="-122"/>
                <a:cs typeface="+mn-cs"/>
              </a:rPr>
              <a:t>主题色彩 </a:t>
            </a:r>
            <a:r>
              <a:rPr kumimoji="0" lang="en-US" altLang="zh-CN" sz="1200" b="0" i="0" u="none" strike="noStrike" kern="1200" cap="none" spc="0" normalizeH="0" baseline="0" noProof="0" dirty="0">
                <a:ln>
                  <a:noFill/>
                </a:ln>
                <a:solidFill>
                  <a:srgbClr val="000000"/>
                </a:solidFill>
                <a:effectLst/>
                <a:uLnTx/>
                <a:uFillTx/>
                <a:latin typeface="Arial" panose="020B0604020202020204"/>
                <a:ea typeface="思源黑体" panose="020B0500000000000000" pitchFamily="34" charset="-122"/>
                <a:cs typeface="+mn-cs"/>
              </a:rPr>
              <a:t>THEME COLORS</a:t>
            </a:r>
            <a:endParaRPr kumimoji="0" lang="zh-CN" altLang="en-US" sz="1200" b="0" i="0" u="none" strike="noStrike" kern="1200" cap="none" spc="0" normalizeH="0" baseline="0" noProof="0" dirty="0">
              <a:ln>
                <a:noFill/>
              </a:ln>
              <a:solidFill>
                <a:srgbClr val="000000"/>
              </a:solidFill>
              <a:effectLst/>
              <a:uLnTx/>
              <a:uFillTx/>
              <a:latin typeface="Arial" panose="020B0604020202020204"/>
              <a:ea typeface="思源黑体" panose="020B0500000000000000" pitchFamily="34" charset="-122"/>
              <a:cs typeface="+mn-cs"/>
            </a:endParaRPr>
          </a:p>
        </p:txBody>
      </p:sp>
      <p:cxnSp>
        <p:nvCxnSpPr>
          <p:cNvPr id="5" name="ïṡľîḋe"/>
          <p:cNvCxnSpPr/>
          <p:nvPr/>
        </p:nvCxnSpPr>
        <p:spPr>
          <a:xfrm>
            <a:off x="669926" y="1647336"/>
            <a:ext cx="585217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763767" y="2538116"/>
            <a:ext cx="5664491" cy="885001"/>
            <a:chOff x="669927" y="2446028"/>
            <a:chExt cx="5265436" cy="822654"/>
          </a:xfrm>
        </p:grpSpPr>
        <p:grpSp>
          <p:nvGrpSpPr>
            <p:cNvPr id="7" name="îṥḻîḍè"/>
            <p:cNvGrpSpPr/>
            <p:nvPr/>
          </p:nvGrpSpPr>
          <p:grpSpPr>
            <a:xfrm>
              <a:off x="1022809" y="2446028"/>
              <a:ext cx="4883736" cy="691252"/>
              <a:chOff x="1101012" y="2911151"/>
              <a:chExt cx="10481481" cy="1483567"/>
            </a:xfrm>
          </p:grpSpPr>
          <p:sp>
            <p:nvSpPr>
              <p:cNvPr id="10" name="íṧľiḍé"/>
              <p:cNvSpPr/>
              <p:nvPr/>
            </p:nvSpPr>
            <p:spPr>
              <a:xfrm>
                <a:off x="5551714" y="3069770"/>
                <a:ext cx="643813" cy="643814"/>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思源黑体" panose="020B0500000000000000" pitchFamily="34" charset="-122"/>
                  <a:cs typeface="+mn-cs"/>
                </a:endParaRPr>
              </a:p>
            </p:txBody>
          </p:sp>
          <p:sp>
            <p:nvSpPr>
              <p:cNvPr id="11" name="iṩļide"/>
              <p:cNvSpPr/>
              <p:nvPr/>
            </p:nvSpPr>
            <p:spPr>
              <a:xfrm>
                <a:off x="6449541" y="3069770"/>
                <a:ext cx="643813" cy="643814"/>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思源黑体" panose="020B0500000000000000" pitchFamily="34" charset="-122"/>
                  <a:cs typeface="+mn-cs"/>
                </a:endParaRPr>
              </a:p>
            </p:txBody>
          </p:sp>
          <p:sp>
            <p:nvSpPr>
              <p:cNvPr id="12" name="îśḻíḓè"/>
              <p:cNvSpPr/>
              <p:nvPr/>
            </p:nvSpPr>
            <p:spPr>
              <a:xfrm>
                <a:off x="7347368" y="3069770"/>
                <a:ext cx="643813" cy="643814"/>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思源黑体" panose="020B0500000000000000" pitchFamily="34" charset="-122"/>
                  <a:cs typeface="+mn-cs"/>
                </a:endParaRPr>
              </a:p>
            </p:txBody>
          </p:sp>
          <p:sp>
            <p:nvSpPr>
              <p:cNvPr id="13" name="iš1ïďè"/>
              <p:cNvSpPr/>
              <p:nvPr/>
            </p:nvSpPr>
            <p:spPr>
              <a:xfrm>
                <a:off x="8245195" y="3069770"/>
                <a:ext cx="643813" cy="643814"/>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思源黑体" panose="020B0500000000000000" pitchFamily="34" charset="-122"/>
                  <a:cs typeface="+mn-cs"/>
                </a:endParaRPr>
              </a:p>
            </p:txBody>
          </p:sp>
          <p:sp>
            <p:nvSpPr>
              <p:cNvPr id="14" name="iŝḻíḋê"/>
              <p:cNvSpPr/>
              <p:nvPr/>
            </p:nvSpPr>
            <p:spPr>
              <a:xfrm>
                <a:off x="9143022" y="3069770"/>
                <a:ext cx="643813" cy="643814"/>
              </a:xfrm>
              <a:prstGeom prst="ellipse">
                <a:avLst/>
              </a:prstGeom>
              <a:solidFill>
                <a:srgbClr val="FF9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思源黑体" panose="020B0500000000000000" pitchFamily="34" charset="-122"/>
                  <a:cs typeface="+mn-cs"/>
                </a:endParaRPr>
              </a:p>
            </p:txBody>
          </p:sp>
          <p:sp>
            <p:nvSpPr>
              <p:cNvPr id="15" name="îṧľiḍè"/>
              <p:cNvSpPr/>
              <p:nvPr/>
            </p:nvSpPr>
            <p:spPr>
              <a:xfrm>
                <a:off x="10040849" y="3069770"/>
                <a:ext cx="643813" cy="643814"/>
              </a:xfrm>
              <a:prstGeom prst="ellipse">
                <a:avLst/>
              </a:prstGeom>
              <a:solidFill>
                <a:srgbClr val="FFB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思源黑体" panose="020B0500000000000000" pitchFamily="34" charset="-122"/>
                  <a:cs typeface="+mn-cs"/>
                </a:endParaRPr>
              </a:p>
            </p:txBody>
          </p:sp>
          <p:sp>
            <p:nvSpPr>
              <p:cNvPr id="16" name="íṡļîḑé"/>
              <p:cNvSpPr/>
              <p:nvPr/>
            </p:nvSpPr>
            <p:spPr>
              <a:xfrm>
                <a:off x="1101012" y="3069771"/>
                <a:ext cx="643813" cy="643813"/>
              </a:xfrm>
              <a:prstGeom prst="ellipse">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思源黑体" panose="020B0500000000000000" pitchFamily="34" charset="-122"/>
                  <a:cs typeface="+mn-cs"/>
                </a:endParaRPr>
              </a:p>
            </p:txBody>
          </p:sp>
          <p:sp>
            <p:nvSpPr>
              <p:cNvPr id="17" name="îšļíde"/>
              <p:cNvSpPr/>
              <p:nvPr/>
            </p:nvSpPr>
            <p:spPr>
              <a:xfrm>
                <a:off x="1996751" y="3069771"/>
                <a:ext cx="643813" cy="64381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思源黑体" panose="020B0500000000000000" pitchFamily="34" charset="-122"/>
                  <a:cs typeface="+mn-cs"/>
                </a:endParaRPr>
              </a:p>
            </p:txBody>
          </p:sp>
          <p:sp>
            <p:nvSpPr>
              <p:cNvPr id="18" name="iSḻîḍè"/>
              <p:cNvSpPr/>
              <p:nvPr/>
            </p:nvSpPr>
            <p:spPr>
              <a:xfrm>
                <a:off x="2892490" y="3069771"/>
                <a:ext cx="643813" cy="643813"/>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思源黑体" panose="020B0500000000000000" pitchFamily="34" charset="-122"/>
                  <a:cs typeface="+mn-cs"/>
                </a:endParaRPr>
              </a:p>
            </p:txBody>
          </p:sp>
          <p:sp>
            <p:nvSpPr>
              <p:cNvPr id="19" name="iṣḻïďê"/>
              <p:cNvSpPr/>
              <p:nvPr/>
            </p:nvSpPr>
            <p:spPr>
              <a:xfrm>
                <a:off x="3788229" y="3069771"/>
                <a:ext cx="643813" cy="643813"/>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思源黑体" panose="020B0500000000000000" pitchFamily="34" charset="-122"/>
                  <a:cs typeface="+mn-cs"/>
                </a:endParaRPr>
              </a:p>
            </p:txBody>
          </p:sp>
          <p:cxnSp>
            <p:nvCxnSpPr>
              <p:cNvPr id="20" name="ïṧlîḍè"/>
              <p:cNvCxnSpPr/>
              <p:nvPr/>
            </p:nvCxnSpPr>
            <p:spPr>
              <a:xfrm>
                <a:off x="4982546" y="2911151"/>
                <a:ext cx="0" cy="148356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1" name="îṧľiḍè"/>
              <p:cNvSpPr/>
              <p:nvPr/>
            </p:nvSpPr>
            <p:spPr>
              <a:xfrm>
                <a:off x="10938680" y="3069770"/>
                <a:ext cx="643813" cy="643814"/>
              </a:xfrm>
              <a:prstGeom prst="ellipse">
                <a:avLst/>
              </a:prstGeom>
              <a:solidFill>
                <a:srgbClr val="FF4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思源黑体" panose="020B0500000000000000" pitchFamily="34" charset="-122"/>
                  <a:cs typeface="+mn-cs"/>
                </a:endParaRPr>
              </a:p>
            </p:txBody>
          </p:sp>
        </p:grpSp>
        <p:sp>
          <p:nvSpPr>
            <p:cNvPr id="8" name="ïšḷïḋe"/>
            <p:cNvSpPr txBox="1"/>
            <p:nvPr/>
          </p:nvSpPr>
          <p:spPr>
            <a:xfrm>
              <a:off x="669927" y="3007072"/>
              <a:ext cx="2161443"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lumMod val="50000"/>
                      <a:lumOff val="50000"/>
                    </a:srgbClr>
                  </a:solidFill>
                  <a:effectLst/>
                  <a:uLnTx/>
                  <a:uFillTx/>
                  <a:latin typeface="Arial" panose="020B0604020202020204"/>
                  <a:ea typeface="思源黑体" panose="020B0500000000000000" pitchFamily="34" charset="-122"/>
                  <a:cs typeface="+mn-cs"/>
                </a:rPr>
                <a:t>文字</a:t>
              </a:r>
              <a:r>
                <a:rPr kumimoji="0" lang="en-US" altLang="zh-CN" sz="1100" b="0" i="0" u="none" strike="noStrike" kern="1200" cap="none" spc="0" normalizeH="0" baseline="0" noProof="0" dirty="0">
                  <a:ln>
                    <a:noFill/>
                  </a:ln>
                  <a:solidFill>
                    <a:srgbClr val="000000">
                      <a:lumMod val="50000"/>
                      <a:lumOff val="50000"/>
                    </a:srgbClr>
                  </a:solidFill>
                  <a:effectLst/>
                  <a:uLnTx/>
                  <a:uFillTx/>
                  <a:latin typeface="Arial" panose="020B0604020202020204"/>
                  <a:ea typeface="思源黑体" panose="020B0500000000000000" pitchFamily="34" charset="-122"/>
                  <a:cs typeface="+mn-cs"/>
                </a:rPr>
                <a:t>/</a:t>
              </a:r>
              <a:r>
                <a:rPr kumimoji="0" lang="zh-CN" altLang="en-US" sz="1100" b="0" i="0" u="none" strike="noStrike" kern="1200" cap="none" spc="0" normalizeH="0" baseline="0" noProof="0" dirty="0">
                  <a:ln>
                    <a:noFill/>
                  </a:ln>
                  <a:solidFill>
                    <a:srgbClr val="000000">
                      <a:lumMod val="50000"/>
                      <a:lumOff val="50000"/>
                    </a:srgbClr>
                  </a:solidFill>
                  <a:effectLst/>
                  <a:uLnTx/>
                  <a:uFillTx/>
                  <a:latin typeface="Arial" panose="020B0604020202020204"/>
                  <a:ea typeface="思源黑体" panose="020B0500000000000000" pitchFamily="34" charset="-122"/>
                  <a:cs typeface="+mn-cs"/>
                </a:rPr>
                <a:t>背景 </a:t>
              </a:r>
              <a:r>
                <a:rPr kumimoji="0" lang="en-US" altLang="zh-CN" sz="1100" b="0" i="0" u="none" strike="noStrike" kern="1200" cap="none" spc="0" normalizeH="0" baseline="0" noProof="0" dirty="0">
                  <a:ln>
                    <a:noFill/>
                  </a:ln>
                  <a:solidFill>
                    <a:srgbClr val="000000">
                      <a:lumMod val="50000"/>
                      <a:lumOff val="50000"/>
                    </a:srgbClr>
                  </a:solidFill>
                  <a:effectLst/>
                  <a:uLnTx/>
                  <a:uFillTx/>
                  <a:latin typeface="Arial" panose="020B0604020202020204"/>
                  <a:ea typeface="思源黑体" panose="020B0500000000000000" pitchFamily="34" charset="-122"/>
                  <a:cs typeface="+mn-cs"/>
                </a:rPr>
                <a:t>Text/Background</a:t>
              </a:r>
              <a:endParaRPr kumimoji="0" lang="zh-CN" altLang="en-US" sz="1100" b="0" i="0" u="none" strike="noStrike" kern="1200" cap="none" spc="0" normalizeH="0" baseline="0" noProof="0" dirty="0">
                <a:ln>
                  <a:noFill/>
                </a:ln>
                <a:solidFill>
                  <a:srgbClr val="000000">
                    <a:lumMod val="50000"/>
                    <a:lumOff val="50000"/>
                  </a:srgbClr>
                </a:solidFill>
                <a:effectLst/>
                <a:uLnTx/>
                <a:uFillTx/>
                <a:latin typeface="Arial" panose="020B0604020202020204"/>
                <a:ea typeface="思源黑体" panose="020B0500000000000000" pitchFamily="34" charset="-122"/>
                <a:cs typeface="+mn-cs"/>
              </a:endParaRPr>
            </a:p>
          </p:txBody>
        </p:sp>
        <p:sp>
          <p:nvSpPr>
            <p:cNvPr id="9" name="ïsľïďê"/>
            <p:cNvSpPr txBox="1"/>
            <p:nvPr/>
          </p:nvSpPr>
          <p:spPr>
            <a:xfrm>
              <a:off x="3058736" y="3007072"/>
              <a:ext cx="2876627"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lumMod val="50000"/>
                      <a:lumOff val="50000"/>
                    </a:srgbClr>
                  </a:solidFill>
                  <a:effectLst/>
                  <a:uLnTx/>
                  <a:uFillTx/>
                  <a:latin typeface="Arial" panose="020B0604020202020204"/>
                  <a:ea typeface="思源黑体" panose="020B0500000000000000" pitchFamily="34" charset="-122"/>
                  <a:cs typeface="+mn-cs"/>
                </a:rPr>
                <a:t>填充色 </a:t>
              </a:r>
              <a:r>
                <a:rPr kumimoji="0" lang="en-US" altLang="zh-CN" sz="1100" b="0" i="0" u="none" strike="noStrike" kern="1200" cap="none" spc="0" normalizeH="0" baseline="0" noProof="0" dirty="0">
                  <a:ln>
                    <a:noFill/>
                  </a:ln>
                  <a:solidFill>
                    <a:srgbClr val="000000">
                      <a:lumMod val="50000"/>
                      <a:lumOff val="50000"/>
                    </a:srgbClr>
                  </a:solidFill>
                  <a:effectLst/>
                  <a:uLnTx/>
                  <a:uFillTx/>
                  <a:latin typeface="Arial" panose="020B0604020202020204"/>
                  <a:ea typeface="思源黑体" panose="020B0500000000000000" pitchFamily="34" charset="-122"/>
                  <a:cs typeface="+mn-cs"/>
                </a:rPr>
                <a:t>Accents</a:t>
              </a:r>
              <a:endParaRPr kumimoji="0" lang="zh-CN" altLang="en-US" sz="1100" b="0" i="0" u="none" strike="noStrike" kern="1200" cap="none" spc="0" normalizeH="0" baseline="0" noProof="0" dirty="0">
                <a:ln>
                  <a:noFill/>
                </a:ln>
                <a:solidFill>
                  <a:srgbClr val="000000">
                    <a:lumMod val="50000"/>
                    <a:lumOff val="50000"/>
                  </a:srgbClr>
                </a:solidFill>
                <a:effectLst/>
                <a:uLnTx/>
                <a:uFillTx/>
                <a:latin typeface="Arial" panose="020B0604020202020204"/>
                <a:ea typeface="思源黑体" panose="020B0500000000000000" pitchFamily="34" charset="-122"/>
                <a:cs typeface="+mn-cs"/>
              </a:endParaRPr>
            </a:p>
          </p:txBody>
        </p:sp>
      </p:grpSp>
      <p:sp>
        <p:nvSpPr>
          <p:cNvPr id="22" name="îṥļïďê"/>
          <p:cNvSpPr txBox="1"/>
          <p:nvPr/>
        </p:nvSpPr>
        <p:spPr>
          <a:xfrm>
            <a:off x="669927" y="3707819"/>
            <a:ext cx="5852173" cy="276999"/>
          </a:xfrm>
          <a:prstGeom prst="rect">
            <a:avLst/>
          </a:prstGeom>
          <a:noFill/>
        </p:spPr>
        <p:txBody>
          <a:bodyPr wrap="square" rtlCol="0" anchor="b">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Arial" panose="020B0604020202020204"/>
                <a:ea typeface="思源黑体" panose="020B0500000000000000" pitchFamily="34" charset="-122"/>
                <a:cs typeface="+mn-cs"/>
              </a:rPr>
              <a:t>主题字体 </a:t>
            </a:r>
            <a:r>
              <a:rPr kumimoji="0" lang="en-US" altLang="zh-CN" sz="1200" b="0" i="0" u="none" strike="noStrike" kern="1200" cap="none" spc="0" normalizeH="0" baseline="0" noProof="0" dirty="0">
                <a:ln>
                  <a:noFill/>
                </a:ln>
                <a:solidFill>
                  <a:srgbClr val="000000"/>
                </a:solidFill>
                <a:effectLst/>
                <a:uLnTx/>
                <a:uFillTx/>
                <a:latin typeface="Arial" panose="020B0604020202020204"/>
                <a:ea typeface="思源黑体" panose="020B0500000000000000" pitchFamily="34" charset="-122"/>
                <a:cs typeface="+mn-cs"/>
              </a:rPr>
              <a:t>THEME FONTS</a:t>
            </a:r>
            <a:endParaRPr kumimoji="0" lang="zh-CN" altLang="en-US" sz="1200" b="0" i="0" u="none" strike="noStrike" kern="1200" cap="none" spc="0" normalizeH="0" baseline="0" noProof="0" dirty="0">
              <a:ln>
                <a:noFill/>
              </a:ln>
              <a:solidFill>
                <a:srgbClr val="000000"/>
              </a:solidFill>
              <a:effectLst/>
              <a:uLnTx/>
              <a:uFillTx/>
              <a:latin typeface="Arial" panose="020B0604020202020204"/>
              <a:ea typeface="思源黑体" panose="020B0500000000000000" pitchFamily="34" charset="-122"/>
              <a:cs typeface="+mn-cs"/>
            </a:endParaRPr>
          </a:p>
        </p:txBody>
      </p:sp>
      <p:cxnSp>
        <p:nvCxnSpPr>
          <p:cNvPr id="23" name="íşľíḑè"/>
          <p:cNvCxnSpPr/>
          <p:nvPr/>
        </p:nvCxnSpPr>
        <p:spPr>
          <a:xfrm>
            <a:off x="669926" y="4007273"/>
            <a:ext cx="585217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4" name="íŝḻîḓe"/>
          <p:cNvSpPr/>
          <p:nvPr/>
        </p:nvSpPr>
        <p:spPr>
          <a:xfrm>
            <a:off x="669928" y="4141011"/>
            <a:ext cx="5048569" cy="8345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l" defTabSz="914400" rtl="0" eaLnBrk="1" fontAlgn="auto" latinLnBrk="0" hangingPunct="1">
              <a:lnSpc>
                <a:spcPct val="100000"/>
              </a:lnSpc>
              <a:spcBef>
                <a:spcPts val="300"/>
              </a:spcBef>
              <a:spcAft>
                <a:spcPts val="0"/>
              </a:spcAft>
              <a:buClrTx/>
              <a:buSzTx/>
              <a:buFontTx/>
              <a:buNone/>
              <a:defRPr/>
            </a:pPr>
            <a:r>
              <a:rPr kumimoji="0" lang="zh-CN" altLang="en-US" sz="1100" b="0" i="0" u="none" strike="noStrike" kern="120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cs typeface="+mn-cs"/>
              </a:rPr>
              <a:t>中文字体：思源黑体</a:t>
            </a:r>
            <a:r>
              <a:rPr kumimoji="0" lang="zh-CN" altLang="en-US" sz="1100" b="0" i="0" u="none" strike="noStrike" kern="1200" cap="none" spc="0" normalizeH="0" baseline="0" noProof="0" dirty="0">
                <a:ln>
                  <a:noFill/>
                </a:ln>
                <a:solidFill>
                  <a:srgbClr val="000000">
                    <a:lumMod val="50000"/>
                    <a:lumOff val="50000"/>
                  </a:srgbClr>
                </a:solidFill>
                <a:effectLst/>
                <a:uLnTx/>
                <a:uFillTx/>
                <a:latin typeface="Arial" panose="020B0604020202020204"/>
                <a:ea typeface="思源黑体" panose="020B0500000000000000" pitchFamily="34" charset="-122"/>
                <a:cs typeface="+mn-cs"/>
              </a:rPr>
              <a:t> </a:t>
            </a:r>
          </a:p>
          <a:p>
            <a:pPr marL="0" marR="0" lvl="0" indent="0" algn="l" defTabSz="914400" rtl="0" eaLnBrk="1" fontAlgn="auto" latinLnBrk="0" hangingPunct="1">
              <a:lnSpc>
                <a:spcPct val="100000"/>
              </a:lnSpc>
              <a:spcBef>
                <a:spcPts val="300"/>
              </a:spcBef>
              <a:spcAft>
                <a:spcPts val="0"/>
              </a:spcAft>
              <a:buClrTx/>
              <a:buSzTx/>
              <a:buFontTx/>
              <a:buNone/>
              <a:defRPr/>
            </a:pPr>
            <a:r>
              <a:rPr kumimoji="0" lang="zh-CN" altLang="en-US" sz="1100" b="0" i="0" u="none" strike="noStrike" kern="120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cs typeface="+mn-cs"/>
              </a:rPr>
              <a:t>英文字体：</a:t>
            </a:r>
            <a:r>
              <a:rPr kumimoji="0" lang="en-US" altLang="zh-CN" sz="1100" b="0" i="0" u="none" strike="noStrike" kern="1200" cap="none" spc="0" normalizeH="0" baseline="0" noProof="0" dirty="0">
                <a:ln>
                  <a:noFill/>
                </a:ln>
                <a:solidFill>
                  <a:srgbClr val="000000">
                    <a:lumMod val="50000"/>
                    <a:lumOff val="50000"/>
                  </a:srgbClr>
                </a:solidFill>
                <a:effectLst/>
                <a:uLnTx/>
                <a:uFillTx/>
                <a:latin typeface="Arial" panose="020B0604020202020204"/>
                <a:ea typeface="思源黑体" panose="020B0500000000000000" pitchFamily="34" charset="-122"/>
                <a:cs typeface="+mn-cs"/>
              </a:rPr>
              <a:t>Arial  Lation Font: Arial</a:t>
            </a:r>
            <a:endParaRPr kumimoji="0" lang="zh-CN" altLang="en-US" sz="1100" b="0" i="0" u="none" strike="noStrike" kern="1200" cap="none" spc="0" normalizeH="0" baseline="0" noProof="0" dirty="0">
              <a:ln>
                <a:noFill/>
              </a:ln>
              <a:solidFill>
                <a:srgbClr val="000000">
                  <a:lumMod val="50000"/>
                  <a:lumOff val="50000"/>
                </a:srgbClr>
              </a:solidFill>
              <a:effectLst/>
              <a:uLnTx/>
              <a:uFillTx/>
              <a:latin typeface="Arial" panose="020B0604020202020204"/>
              <a:ea typeface="思源黑体" panose="020B0500000000000000" pitchFamily="34" charset="-122"/>
              <a:cs typeface="+mn-cs"/>
            </a:endParaRPr>
          </a:p>
        </p:txBody>
      </p:sp>
      <p:sp>
        <p:nvSpPr>
          <p:cNvPr id="25" name="iṣľîdê"/>
          <p:cNvSpPr txBox="1"/>
          <p:nvPr/>
        </p:nvSpPr>
        <p:spPr>
          <a:xfrm>
            <a:off x="7070727" y="1347882"/>
            <a:ext cx="4449763" cy="276999"/>
          </a:xfrm>
          <a:prstGeom prst="rect">
            <a:avLst/>
          </a:prstGeom>
          <a:noFill/>
        </p:spPr>
        <p:txBody>
          <a:bodyPr wrap="square" rtlCol="0" anchor="b">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Arial" panose="020B0604020202020204"/>
                <a:ea typeface="思源黑体" panose="020B0500000000000000" pitchFamily="34" charset="-122"/>
                <a:cs typeface="+mn-cs"/>
              </a:rPr>
              <a:t>预设参考线（</a:t>
            </a:r>
            <a:r>
              <a:rPr kumimoji="0" lang="en-US" altLang="zh-CN" sz="1200" b="0" i="0" u="none" strike="noStrike" kern="1200" cap="none" spc="0" normalizeH="0" baseline="0" noProof="0" dirty="0">
                <a:ln>
                  <a:noFill/>
                </a:ln>
                <a:solidFill>
                  <a:srgbClr val="000000"/>
                </a:solidFill>
                <a:effectLst/>
                <a:uLnTx/>
                <a:uFillTx/>
                <a:latin typeface="Arial" panose="020B0604020202020204"/>
                <a:ea typeface="思源黑体" panose="020B0500000000000000" pitchFamily="34" charset="-122"/>
                <a:cs typeface="+mn-cs"/>
              </a:rPr>
              <a:t>2013</a:t>
            </a:r>
            <a:r>
              <a:rPr kumimoji="0" lang="zh-CN" altLang="en-US" sz="1200" b="0" i="0" u="none" strike="noStrike" kern="1200" cap="none" spc="0" normalizeH="0" baseline="0" noProof="0" dirty="0">
                <a:ln>
                  <a:noFill/>
                </a:ln>
                <a:solidFill>
                  <a:srgbClr val="000000"/>
                </a:solidFill>
                <a:effectLst/>
                <a:uLnTx/>
                <a:uFillTx/>
                <a:latin typeface="Arial" panose="020B0604020202020204"/>
                <a:ea typeface="思源黑体" panose="020B0500000000000000" pitchFamily="34" charset="-122"/>
                <a:cs typeface="+mn-cs"/>
              </a:rPr>
              <a:t>版本及以上）</a:t>
            </a:r>
            <a:r>
              <a:rPr kumimoji="0" lang="en-US" altLang="zh-CN" sz="1200" b="0" i="0" u="none" strike="noStrike" kern="1200" cap="none" spc="0" normalizeH="0" baseline="0" noProof="0" dirty="0">
                <a:ln>
                  <a:noFill/>
                </a:ln>
                <a:solidFill>
                  <a:srgbClr val="000000"/>
                </a:solidFill>
                <a:effectLst/>
                <a:uLnTx/>
                <a:uFillTx/>
                <a:latin typeface="Arial" panose="020B0604020202020204"/>
                <a:ea typeface="思源黑体" panose="020B0500000000000000" pitchFamily="34" charset="-122"/>
                <a:cs typeface="+mn-cs"/>
              </a:rPr>
              <a:t> GUIDES</a:t>
            </a:r>
            <a:endParaRPr kumimoji="0" lang="zh-CN" altLang="en-US" sz="1200" b="0" i="0" u="none" strike="noStrike" kern="1200" cap="none" spc="0" normalizeH="0" baseline="0" noProof="0" dirty="0">
              <a:ln>
                <a:noFill/>
              </a:ln>
              <a:solidFill>
                <a:srgbClr val="000000"/>
              </a:solidFill>
              <a:effectLst/>
              <a:uLnTx/>
              <a:uFillTx/>
              <a:latin typeface="Arial" panose="020B0604020202020204"/>
              <a:ea typeface="思源黑体" panose="020B0500000000000000" pitchFamily="34" charset="-122"/>
              <a:cs typeface="+mn-cs"/>
            </a:endParaRPr>
          </a:p>
        </p:txBody>
      </p:sp>
      <p:cxnSp>
        <p:nvCxnSpPr>
          <p:cNvPr id="26" name="iSľiḓè"/>
          <p:cNvCxnSpPr/>
          <p:nvPr/>
        </p:nvCxnSpPr>
        <p:spPr>
          <a:xfrm>
            <a:off x="7070725" y="1647336"/>
            <a:ext cx="44497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27" name="ïŝḷïďé"/>
          <p:cNvGrpSpPr/>
          <p:nvPr/>
        </p:nvGrpSpPr>
        <p:grpSpPr>
          <a:xfrm>
            <a:off x="7698309" y="1895692"/>
            <a:ext cx="3194593" cy="2169849"/>
            <a:chOff x="6979298" y="2204127"/>
            <a:chExt cx="4541190" cy="3084493"/>
          </a:xfrm>
        </p:grpSpPr>
        <p:sp>
          <p:nvSpPr>
            <p:cNvPr id="28" name="îSļîḋe"/>
            <p:cNvSpPr/>
            <p:nvPr/>
          </p:nvSpPr>
          <p:spPr>
            <a:xfrm>
              <a:off x="7070725" y="2240059"/>
              <a:ext cx="4449762" cy="250299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000000">
                    <a:lumMod val="50000"/>
                    <a:lumOff val="50000"/>
                  </a:srgbClr>
                </a:solidFill>
                <a:effectLst/>
                <a:uLnTx/>
                <a:uFillTx/>
                <a:latin typeface="Arial" panose="020B0604020202020204"/>
                <a:ea typeface="思源黑体" panose="020B0500000000000000" pitchFamily="34" charset="-122"/>
                <a:cs typeface="+mn-cs"/>
              </a:endParaRPr>
            </a:p>
          </p:txBody>
        </p:sp>
        <p:cxnSp>
          <p:nvCxnSpPr>
            <p:cNvPr id="29" name="îṣlíḍé"/>
            <p:cNvCxnSpPr/>
            <p:nvPr/>
          </p:nvCxnSpPr>
          <p:spPr>
            <a:xfrm>
              <a:off x="7333861" y="2204127"/>
              <a:ext cx="0" cy="2731767"/>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0" name="iṡľíḓè"/>
            <p:cNvCxnSpPr/>
            <p:nvPr/>
          </p:nvCxnSpPr>
          <p:spPr>
            <a:xfrm>
              <a:off x="11280709" y="2204127"/>
              <a:ext cx="0" cy="2731767"/>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1" name="íšľîḓê"/>
            <p:cNvCxnSpPr/>
            <p:nvPr/>
          </p:nvCxnSpPr>
          <p:spPr>
            <a:xfrm>
              <a:off x="6979298" y="2667246"/>
              <a:ext cx="4541190"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2" name="îṡḷíďé"/>
            <p:cNvCxnSpPr/>
            <p:nvPr/>
          </p:nvCxnSpPr>
          <p:spPr>
            <a:xfrm>
              <a:off x="6979298" y="4531021"/>
              <a:ext cx="4541190"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3" name="îṧļïḓè"/>
            <p:cNvCxnSpPr/>
            <p:nvPr/>
          </p:nvCxnSpPr>
          <p:spPr>
            <a:xfrm>
              <a:off x="7333860" y="2667245"/>
              <a:ext cx="3946848" cy="186997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4" name="ïŝḻíḍe"/>
            <p:cNvSpPr/>
            <p:nvPr/>
          </p:nvSpPr>
          <p:spPr>
            <a:xfrm>
              <a:off x="7070725" y="4822365"/>
              <a:ext cx="4449763" cy="4662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C00000"/>
                  </a:solidFill>
                  <a:effectLst/>
                  <a:uLnTx/>
                  <a:uFillTx/>
                  <a:latin typeface="Arial" panose="020B0604020202020204"/>
                  <a:ea typeface="思源黑体" panose="020B0500000000000000" pitchFamily="34" charset="-122"/>
                  <a:cs typeface="+mn-cs"/>
                </a:rPr>
                <a:t>ALT+F9 </a:t>
              </a:r>
              <a:r>
                <a:rPr kumimoji="0" lang="zh-CN" altLang="en-US" sz="1100" b="0" i="0" u="none" strike="noStrike" kern="1200" cap="none" spc="0" normalizeH="0" baseline="0" noProof="0" dirty="0">
                  <a:ln>
                    <a:noFill/>
                  </a:ln>
                  <a:solidFill>
                    <a:srgbClr val="C00000"/>
                  </a:solidFill>
                  <a:effectLst/>
                  <a:uLnTx/>
                  <a:uFillTx/>
                  <a:latin typeface="Arial" panose="020B0604020202020204"/>
                  <a:ea typeface="思源黑体" panose="020B0500000000000000" pitchFamily="34" charset="-122"/>
                  <a:cs typeface="+mn-cs"/>
                </a:rPr>
                <a:t>开启和查看本主题预设的参考线</a:t>
              </a:r>
              <a:endParaRPr kumimoji="0" lang="en-US" altLang="zh-CN" sz="1100" b="0" i="0" u="none" strike="noStrike" kern="1200" cap="none" spc="0" normalizeH="0" baseline="0" noProof="0" dirty="0">
                <a:ln>
                  <a:noFill/>
                </a:ln>
                <a:solidFill>
                  <a:srgbClr val="C00000"/>
                </a:solidFill>
                <a:effectLst/>
                <a:uLnTx/>
                <a:uFillTx/>
                <a:latin typeface="Arial" panose="020B0604020202020204"/>
                <a:ea typeface="思源黑体" panose="020B0500000000000000"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C00000"/>
                  </a:solidFill>
                  <a:effectLst/>
                  <a:uLnTx/>
                  <a:uFillTx/>
                  <a:latin typeface="Arial" panose="020B0604020202020204"/>
                  <a:ea typeface="思源黑体" panose="020B0500000000000000" pitchFamily="34" charset="-122"/>
                  <a:cs typeface="+mn-cs"/>
                </a:rPr>
                <a:t>Use Alt + F9 to</a:t>
              </a:r>
              <a:r>
                <a:rPr kumimoji="0" lang="zh-CN" altLang="en-US" sz="1000" b="0" i="0" u="none" strike="noStrike" kern="1200" cap="none" spc="0" normalizeH="0" baseline="0" noProof="0" dirty="0">
                  <a:ln>
                    <a:noFill/>
                  </a:ln>
                  <a:solidFill>
                    <a:srgbClr val="C00000"/>
                  </a:solidFill>
                  <a:effectLst/>
                  <a:uLnTx/>
                  <a:uFillTx/>
                  <a:latin typeface="Arial" panose="020B0604020202020204"/>
                  <a:ea typeface="思源黑体" panose="020B0500000000000000" pitchFamily="34" charset="-122"/>
                  <a:cs typeface="+mn-cs"/>
                </a:rPr>
                <a:t> </a:t>
              </a:r>
              <a:r>
                <a:rPr kumimoji="0" lang="en-US" altLang="zh-CN" sz="1000" b="0" i="0" u="none" strike="noStrike" kern="1200" cap="none" spc="0" normalizeH="0" baseline="0" noProof="0" dirty="0">
                  <a:ln>
                    <a:noFill/>
                  </a:ln>
                  <a:solidFill>
                    <a:srgbClr val="C00000"/>
                  </a:solidFill>
                  <a:effectLst/>
                  <a:uLnTx/>
                  <a:uFillTx/>
                  <a:latin typeface="Arial" panose="020B0604020202020204"/>
                  <a:ea typeface="思源黑体" panose="020B0500000000000000" pitchFamily="34" charset="-122"/>
                  <a:cs typeface="+mn-cs"/>
                </a:rPr>
                <a:t>display/hidden guides.</a:t>
              </a:r>
            </a:p>
          </p:txBody>
        </p:sp>
      </p:grpSp>
      <p:sp>
        <p:nvSpPr>
          <p:cNvPr id="35" name="ïšļîḓè"/>
          <p:cNvSpPr/>
          <p:nvPr/>
        </p:nvSpPr>
        <p:spPr>
          <a:xfrm>
            <a:off x="4274391" y="905451"/>
            <a:ext cx="2540875" cy="1023807"/>
          </a:xfrm>
          <a:prstGeom prst="rect">
            <a:avLst/>
          </a:prstGeom>
          <a:solidFill>
            <a:schemeClr val="bg1">
              <a:lumMod val="95000"/>
            </a:schemeClr>
          </a:solidFill>
          <a:ln w="12700">
            <a:solidFill>
              <a:srgbClr val="CC4A4A"/>
            </a:solidFill>
            <a:prstDash val="sysDash"/>
          </a:ln>
        </p:spPr>
        <p:txBody>
          <a:bodyPr wrap="square" lIns="91440" tIns="91440" rIns="91440" bIns="91440" rtlCol="0" anchor="ctr">
            <a:no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050" b="1" i="0" u="none" strike="noStrike" kern="1200" cap="none" spc="0" normalizeH="0" baseline="0" noProof="0" dirty="0">
                <a:ln>
                  <a:noFill/>
                </a:ln>
                <a:solidFill>
                  <a:srgbClr val="5F5F5F"/>
                </a:solidFill>
                <a:effectLst/>
                <a:uLnTx/>
                <a:uFillTx/>
                <a:latin typeface="Arial" panose="020B0604020202020204"/>
                <a:ea typeface="思源黑体" panose="020B0500000000000000" pitchFamily="34" charset="-122"/>
                <a:cs typeface="+mn-cs"/>
              </a:rPr>
              <a:t>Note:</a:t>
            </a: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5F5F5F"/>
                </a:solidFill>
                <a:effectLst/>
                <a:uLnTx/>
                <a:uFillTx/>
                <a:latin typeface="Arial" panose="020B0604020202020204"/>
                <a:ea typeface="思源黑体" panose="020B0500000000000000" pitchFamily="34" charset="-122"/>
                <a:cs typeface="+mn-cs"/>
              </a:rPr>
              <a:t>本页为主题使用说明页，使用时请删除本页内容。</a:t>
            </a:r>
            <a:endParaRPr kumimoji="0" lang="en-US" altLang="zh-CN" sz="1050" b="0" i="0" u="none" strike="noStrike" kern="1200" cap="none" spc="0" normalizeH="0" baseline="0" noProof="0" dirty="0">
              <a:ln>
                <a:noFill/>
              </a:ln>
              <a:solidFill>
                <a:srgbClr val="5F5F5F"/>
              </a:solidFill>
              <a:effectLst/>
              <a:uLnTx/>
              <a:uFillTx/>
              <a:latin typeface="Arial" panose="020B0604020202020204"/>
              <a:ea typeface="思源黑体" panose="020B0500000000000000" pitchFamily="34" charset="-122"/>
              <a:cs typeface="+mn-cs"/>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050" b="0" i="0" u="none" strike="noStrike" kern="1200" cap="none" spc="0" normalizeH="0" baseline="0" noProof="0" dirty="0">
                <a:ln>
                  <a:noFill/>
                </a:ln>
                <a:solidFill>
                  <a:srgbClr val="5F5F5F"/>
                </a:solidFill>
                <a:effectLst/>
                <a:uLnTx/>
                <a:uFillTx/>
                <a:latin typeface="Arial" panose="020B0604020202020204"/>
                <a:ea typeface="思源黑体" panose="020B0500000000000000" pitchFamily="34" charset="-122"/>
                <a:cs typeface="+mn-cs"/>
              </a:rPr>
              <a:t>This is a instruction for theme, please delete this slide before presentaion.</a:t>
            </a:r>
            <a:endParaRPr kumimoji="0" lang="zh-CN" altLang="en-US" sz="1050" b="0" i="0" u="none" strike="noStrike" kern="1200" cap="none" spc="0" normalizeH="0" baseline="0" noProof="0" dirty="0">
              <a:ln>
                <a:noFill/>
              </a:ln>
              <a:solidFill>
                <a:srgbClr val="5F5F5F"/>
              </a:solidFill>
              <a:effectLst/>
              <a:uLnTx/>
              <a:uFillTx/>
              <a:latin typeface="Arial" panose="020B0604020202020204"/>
              <a:ea typeface="思源黑体" panose="020B0500000000000000" pitchFamily="34" charset="-122"/>
              <a:cs typeface="+mn-cs"/>
            </a:endParaRPr>
          </a:p>
        </p:txBody>
      </p:sp>
      <p:sp>
        <p:nvSpPr>
          <p:cNvPr id="37" name="iṣľîdê"/>
          <p:cNvSpPr txBox="1"/>
          <p:nvPr/>
        </p:nvSpPr>
        <p:spPr>
          <a:xfrm>
            <a:off x="7070727" y="4452674"/>
            <a:ext cx="4449763" cy="276999"/>
          </a:xfrm>
          <a:prstGeom prst="rect">
            <a:avLst/>
          </a:prstGeom>
          <a:noFill/>
        </p:spPr>
        <p:txBody>
          <a:bodyPr wrap="square" rtlCol="0" anchor="b">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Arial" panose="020B0604020202020204"/>
                <a:ea typeface="思源黑体" panose="020B0500000000000000" pitchFamily="34" charset="-122"/>
                <a:cs typeface="+mn-cs"/>
              </a:rPr>
              <a:t>主题字号 </a:t>
            </a:r>
            <a:r>
              <a:rPr kumimoji="0" lang="en-US" altLang="zh-CN" sz="1200" b="0" i="0" u="none" strike="noStrike" kern="1200" cap="none" spc="0" normalizeH="0" baseline="0" noProof="0" dirty="0">
                <a:ln>
                  <a:noFill/>
                </a:ln>
                <a:solidFill>
                  <a:srgbClr val="000000"/>
                </a:solidFill>
                <a:effectLst/>
                <a:uLnTx/>
                <a:uFillTx/>
                <a:latin typeface="Arial" panose="020B0604020202020204"/>
                <a:ea typeface="思源黑体" panose="020B0500000000000000" pitchFamily="34" charset="-122"/>
                <a:cs typeface="+mn-cs"/>
              </a:rPr>
              <a:t>THEME FONTS SIZE</a:t>
            </a:r>
            <a:endParaRPr kumimoji="0" lang="zh-CN" altLang="en-US" sz="1200" b="0" i="0" u="none" strike="noStrike" kern="1200" cap="none" spc="0" normalizeH="0" baseline="0" noProof="0" dirty="0">
              <a:ln>
                <a:noFill/>
              </a:ln>
              <a:solidFill>
                <a:srgbClr val="000000"/>
              </a:solidFill>
              <a:effectLst/>
              <a:uLnTx/>
              <a:uFillTx/>
              <a:latin typeface="Arial" panose="020B0604020202020204"/>
              <a:ea typeface="思源黑体" panose="020B0500000000000000" pitchFamily="34" charset="-122"/>
              <a:cs typeface="+mn-cs"/>
            </a:endParaRPr>
          </a:p>
        </p:txBody>
      </p:sp>
      <p:cxnSp>
        <p:nvCxnSpPr>
          <p:cNvPr id="38" name="iSľiḓè"/>
          <p:cNvCxnSpPr/>
          <p:nvPr/>
        </p:nvCxnSpPr>
        <p:spPr>
          <a:xfrm>
            <a:off x="7070725" y="4752128"/>
            <a:ext cx="44497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9" name="íŝḻîḓe"/>
          <p:cNvSpPr/>
          <p:nvPr/>
        </p:nvSpPr>
        <p:spPr>
          <a:xfrm>
            <a:off x="7070725" y="4885866"/>
            <a:ext cx="4449763" cy="11627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lvl="0">
              <a:lnSpc>
                <a:spcPct val="110000"/>
              </a:lnSpc>
              <a:spcBef>
                <a:spcPts val="300"/>
              </a:spcBef>
              <a:defRPr/>
            </a:pPr>
            <a:r>
              <a:rPr kumimoji="0" lang="zh-CN" altLang="en-US" sz="1100" b="0" i="0" u="none" strike="noStrike" kern="1200" cap="none" spc="0" normalizeH="0" baseline="0" noProof="0" dirty="0">
                <a:ln>
                  <a:noFill/>
                </a:ln>
                <a:solidFill>
                  <a:srgbClr val="000000">
                    <a:lumMod val="50000"/>
                    <a:lumOff val="50000"/>
                  </a:srgbClr>
                </a:solidFill>
                <a:effectLst/>
                <a:uLnTx/>
                <a:uFillTx/>
                <a:latin typeface="Arial" panose="020B0604020202020204"/>
                <a:ea typeface="思源黑体" panose="020B0500000000000000" pitchFamily="34" charset="-122"/>
                <a:cs typeface="+mn-cs"/>
              </a:rPr>
              <a:t>封面：主标题</a:t>
            </a:r>
            <a:r>
              <a:rPr kumimoji="0" lang="en-US" altLang="zh-CN" sz="1100" b="0" i="0" u="none" strike="noStrike" kern="1200" cap="none" spc="0" normalizeH="0" baseline="0" noProof="0" dirty="0" smtClean="0">
                <a:ln>
                  <a:noFill/>
                </a:ln>
                <a:solidFill>
                  <a:srgbClr val="000000">
                    <a:lumMod val="50000"/>
                    <a:lumOff val="50000"/>
                  </a:srgbClr>
                </a:solidFill>
                <a:effectLst/>
                <a:uLnTx/>
                <a:uFillTx/>
                <a:latin typeface="Arial" panose="020B0604020202020204"/>
                <a:ea typeface="思源黑体" panose="020B0500000000000000" pitchFamily="34" charset="-122"/>
                <a:cs typeface="+mn-cs"/>
              </a:rPr>
              <a:t>4</a:t>
            </a:r>
            <a:r>
              <a:rPr kumimoji="0" lang="zh-CN" altLang="en-US" sz="1100" b="0" i="0" u="none" strike="noStrike" kern="1200" cap="none" spc="0" normalizeH="0" baseline="0" noProof="0" dirty="0">
                <a:ln>
                  <a:noFill/>
                </a:ln>
                <a:solidFill>
                  <a:srgbClr val="000000">
                    <a:lumMod val="50000"/>
                    <a:lumOff val="50000"/>
                  </a:srgbClr>
                </a:solidFill>
                <a:effectLst/>
                <a:uLnTx/>
                <a:uFillTx/>
                <a:latin typeface="Arial" panose="020B0604020202020204"/>
                <a:ea typeface="思源黑体" panose="020B0500000000000000" pitchFamily="34" charset="-122"/>
                <a:cs typeface="+mn-cs"/>
              </a:rPr>
              <a:t>0号及以上字号加</a:t>
            </a:r>
            <a:r>
              <a:rPr lang="zh-CN" altLang="en-US" sz="1100" noProof="0" dirty="0">
                <a:ln>
                  <a:noFill/>
                </a:ln>
                <a:solidFill>
                  <a:srgbClr val="000000">
                    <a:lumMod val="50000"/>
                    <a:lumOff val="50000"/>
                  </a:srgbClr>
                </a:solidFill>
                <a:effectLst/>
                <a:uLnTx/>
                <a:uFillTx/>
                <a:latin typeface="Arial" panose="020B0604020202020204"/>
                <a:ea typeface="思源黑体" panose="020B0500000000000000" pitchFamily="34" charset="-122"/>
              </a:rPr>
              <a:t>粗，次标题20号</a:t>
            </a:r>
            <a:endParaRPr lang="en-US" altLang="zh-CN" sz="1100" dirty="0">
              <a:solidFill>
                <a:srgbClr val="000000">
                  <a:lumMod val="50000"/>
                  <a:lumOff val="50000"/>
                </a:srgbClr>
              </a:solidFill>
            </a:endParaRPr>
          </a:p>
          <a:p>
            <a:pPr lvl="0">
              <a:lnSpc>
                <a:spcPct val="110000"/>
              </a:lnSpc>
              <a:spcBef>
                <a:spcPts val="300"/>
              </a:spcBef>
              <a:defRPr/>
            </a:pPr>
            <a:r>
              <a:rPr kumimoji="0" lang="zh-CN" altLang="en-US" sz="1100" b="0" i="0" u="none" strike="noStrike" kern="1200" cap="none" spc="0" normalizeH="0" baseline="0" noProof="0" dirty="0">
                <a:ln>
                  <a:noFill/>
                </a:ln>
                <a:solidFill>
                  <a:srgbClr val="000000">
                    <a:lumMod val="50000"/>
                    <a:lumOff val="50000"/>
                  </a:srgbClr>
                </a:solidFill>
                <a:effectLst/>
                <a:uLnTx/>
                <a:uFillTx/>
                <a:latin typeface="Arial" panose="020B0604020202020204"/>
                <a:ea typeface="思源黑体" panose="020B0500000000000000" pitchFamily="34" charset="-122"/>
                <a:cs typeface="+mn-cs"/>
              </a:rPr>
              <a:t>目录页：标题</a:t>
            </a:r>
            <a:r>
              <a:rPr kumimoji="0" lang="en-US" altLang="zh-CN" sz="1100" b="0" i="0" u="none" strike="noStrike" kern="1200" cap="none" spc="0" normalizeH="0" baseline="0" noProof="0" dirty="0">
                <a:ln>
                  <a:noFill/>
                </a:ln>
                <a:solidFill>
                  <a:srgbClr val="000000">
                    <a:lumMod val="50000"/>
                    <a:lumOff val="50000"/>
                  </a:srgbClr>
                </a:solidFill>
                <a:effectLst/>
                <a:uLnTx/>
                <a:uFillTx/>
                <a:latin typeface="Arial" panose="020B0604020202020204"/>
                <a:ea typeface="思源黑体" panose="020B0500000000000000" pitchFamily="34" charset="-122"/>
                <a:cs typeface="+mn-cs"/>
              </a:rPr>
              <a:t>28</a:t>
            </a:r>
            <a:r>
              <a:rPr kumimoji="0" lang="zh-CN" altLang="en-US" sz="1100" b="0" i="0" u="none" strike="noStrike" kern="1200" cap="none" spc="0" normalizeH="0" baseline="0" noProof="0" dirty="0">
                <a:ln>
                  <a:noFill/>
                </a:ln>
                <a:solidFill>
                  <a:srgbClr val="000000">
                    <a:lumMod val="50000"/>
                    <a:lumOff val="50000"/>
                  </a:srgbClr>
                </a:solidFill>
                <a:effectLst/>
                <a:uLnTx/>
                <a:uFillTx/>
                <a:latin typeface="Arial" panose="020B0604020202020204"/>
                <a:ea typeface="思源黑体" panose="020B0500000000000000" pitchFamily="34" charset="-122"/>
                <a:cs typeface="+mn-cs"/>
              </a:rPr>
              <a:t>号加粗，内容</a:t>
            </a:r>
            <a:r>
              <a:rPr lang="en-US" altLang="zh-CN" sz="1100" dirty="0">
                <a:solidFill>
                  <a:srgbClr val="000000">
                    <a:lumMod val="50000"/>
                    <a:lumOff val="50000"/>
                  </a:srgbClr>
                </a:solidFill>
                <a:latin typeface="Arial" panose="020B0604020202020204"/>
                <a:ea typeface="思源黑体" panose="020B0500000000000000" pitchFamily="34" charset="-122"/>
              </a:rPr>
              <a:t>20</a:t>
            </a:r>
            <a:r>
              <a:rPr kumimoji="0" lang="zh-CN" altLang="en-US" sz="1100" b="0" i="0" u="none" strike="noStrike" kern="1200" cap="none" spc="0" normalizeH="0" baseline="0" noProof="0" dirty="0">
                <a:ln>
                  <a:noFill/>
                </a:ln>
                <a:solidFill>
                  <a:srgbClr val="000000">
                    <a:lumMod val="50000"/>
                    <a:lumOff val="50000"/>
                  </a:srgbClr>
                </a:solidFill>
                <a:effectLst/>
                <a:uLnTx/>
                <a:uFillTx/>
                <a:latin typeface="Arial" panose="020B0604020202020204"/>
                <a:ea typeface="思源黑体" panose="020B0500000000000000" pitchFamily="34" charset="-122"/>
                <a:cs typeface="+mn-cs"/>
              </a:rPr>
              <a:t>号</a:t>
            </a:r>
            <a:r>
              <a:rPr lang="zh-CN" altLang="en-US" sz="1100" dirty="0">
                <a:solidFill>
                  <a:srgbClr val="000000">
                    <a:lumMod val="50000"/>
                    <a:lumOff val="50000"/>
                  </a:srgbClr>
                </a:solidFill>
                <a:latin typeface="Arial" panose="020B0604020202020204"/>
                <a:ea typeface="思源黑体" panose="020B0500000000000000" pitchFamily="34" charset="-122"/>
              </a:rPr>
              <a:t>加粗</a:t>
            </a:r>
            <a:endParaRPr kumimoji="0" lang="en-US" altLang="zh-CN" sz="1100" b="0" i="0" u="none" strike="noStrike" kern="1200" cap="none" spc="0" normalizeH="0" baseline="0" noProof="0" dirty="0">
              <a:ln>
                <a:noFill/>
              </a:ln>
              <a:solidFill>
                <a:srgbClr val="000000">
                  <a:lumMod val="50000"/>
                  <a:lumOff val="50000"/>
                </a:srgbClr>
              </a:solidFill>
              <a:effectLst/>
              <a:uLnTx/>
              <a:uFillTx/>
              <a:latin typeface="Arial" panose="020B0604020202020204"/>
              <a:ea typeface="思源黑体" panose="020B0500000000000000" pitchFamily="34" charset="-122"/>
              <a:cs typeface="+mn-cs"/>
            </a:endParaRPr>
          </a:p>
          <a:p>
            <a:pPr marL="0" marR="0" lvl="0" indent="0" algn="l" defTabSz="914400" rtl="0" eaLnBrk="1" fontAlgn="auto" latinLnBrk="0" hangingPunct="1">
              <a:lnSpc>
                <a:spcPct val="110000"/>
              </a:lnSpc>
              <a:spcBef>
                <a:spcPts val="300"/>
              </a:spcBef>
              <a:spcAft>
                <a:spcPts val="0"/>
              </a:spcAft>
              <a:buClrTx/>
              <a:buSzTx/>
              <a:buFontTx/>
              <a:buNone/>
              <a:defRPr/>
            </a:pPr>
            <a:r>
              <a:rPr kumimoji="0" lang="zh-CN" altLang="en-US" sz="1100" b="0" i="0" u="none" strike="noStrike" kern="1200" cap="none" spc="0" normalizeH="0" baseline="0" noProof="0" dirty="0">
                <a:ln>
                  <a:noFill/>
                </a:ln>
                <a:solidFill>
                  <a:srgbClr val="000000">
                    <a:lumMod val="50000"/>
                    <a:lumOff val="50000"/>
                  </a:srgbClr>
                </a:solidFill>
                <a:effectLst/>
                <a:uLnTx/>
                <a:uFillTx/>
                <a:latin typeface="Arial" panose="020B0604020202020204"/>
                <a:ea typeface="思源黑体" panose="020B0500000000000000" pitchFamily="34" charset="-122"/>
                <a:cs typeface="+mn-cs"/>
              </a:rPr>
              <a:t>过渡页主标题</a:t>
            </a:r>
            <a:r>
              <a:rPr kumimoji="0" lang="zh-CN" altLang="en-US" sz="1100" b="0" i="0" u="none" strike="noStrike" kern="1200" cap="none" spc="0" normalizeH="0" baseline="0" noProof="0" dirty="0" smtClean="0">
                <a:ln>
                  <a:noFill/>
                </a:ln>
                <a:solidFill>
                  <a:srgbClr val="000000">
                    <a:lumMod val="50000"/>
                    <a:lumOff val="50000"/>
                  </a:srgbClr>
                </a:solidFill>
                <a:effectLst/>
                <a:uLnTx/>
                <a:uFillTx/>
                <a:latin typeface="Arial" panose="020B0604020202020204"/>
                <a:ea typeface="思源黑体" panose="020B0500000000000000" pitchFamily="34" charset="-122"/>
                <a:cs typeface="+mn-cs"/>
              </a:rPr>
              <a:t>：</a:t>
            </a:r>
            <a:r>
              <a:rPr kumimoji="0" lang="en-US" altLang="zh-CN" sz="1100" b="0" i="0" u="none" strike="noStrike" kern="1200" cap="none" spc="0" normalizeH="0" baseline="0" noProof="0" dirty="0" smtClean="0">
                <a:ln>
                  <a:noFill/>
                </a:ln>
                <a:solidFill>
                  <a:srgbClr val="000000">
                    <a:lumMod val="50000"/>
                    <a:lumOff val="50000"/>
                  </a:srgbClr>
                </a:solidFill>
                <a:effectLst/>
                <a:uLnTx/>
                <a:uFillTx/>
                <a:latin typeface="Arial" panose="020B0604020202020204"/>
                <a:ea typeface="思源黑体" panose="020B0500000000000000" pitchFamily="34" charset="-122"/>
                <a:cs typeface="+mn-cs"/>
              </a:rPr>
              <a:t>36</a:t>
            </a:r>
            <a:r>
              <a:rPr kumimoji="0" lang="zh-CN" altLang="en-US" sz="1100" b="0" i="0" u="none" strike="noStrike" kern="1200" cap="none" spc="0" normalizeH="0" baseline="0" noProof="0" dirty="0" smtClean="0">
                <a:ln>
                  <a:noFill/>
                </a:ln>
                <a:solidFill>
                  <a:srgbClr val="000000">
                    <a:lumMod val="50000"/>
                    <a:lumOff val="50000"/>
                  </a:srgbClr>
                </a:solidFill>
                <a:effectLst/>
                <a:uLnTx/>
                <a:uFillTx/>
                <a:latin typeface="Arial" panose="020B0604020202020204"/>
                <a:ea typeface="思源黑体" panose="020B0500000000000000" pitchFamily="34" charset="-122"/>
                <a:cs typeface="+mn-cs"/>
              </a:rPr>
              <a:t>号</a:t>
            </a:r>
            <a:r>
              <a:rPr kumimoji="0" lang="zh-CN" altLang="en-US" sz="1100" b="0" i="0" u="none" strike="noStrike" kern="1200" cap="none" spc="0" normalizeH="0" baseline="0" noProof="0" dirty="0">
                <a:ln>
                  <a:noFill/>
                </a:ln>
                <a:solidFill>
                  <a:srgbClr val="000000">
                    <a:lumMod val="50000"/>
                    <a:lumOff val="50000"/>
                  </a:srgbClr>
                </a:solidFill>
                <a:effectLst/>
                <a:uLnTx/>
                <a:uFillTx/>
                <a:latin typeface="Arial" panose="020B0604020202020204"/>
                <a:ea typeface="思源黑体" panose="020B0500000000000000" pitchFamily="34" charset="-122"/>
                <a:cs typeface="+mn-cs"/>
              </a:rPr>
              <a:t>加粗，过渡页次标题</a:t>
            </a:r>
            <a:r>
              <a:rPr kumimoji="0" lang="zh-CN" altLang="en-US" sz="1100" b="0" i="0" u="none" strike="noStrike" kern="1200" cap="none" spc="0" normalizeH="0" baseline="0" noProof="0" dirty="0" smtClean="0">
                <a:ln>
                  <a:noFill/>
                </a:ln>
                <a:solidFill>
                  <a:srgbClr val="000000">
                    <a:lumMod val="50000"/>
                    <a:lumOff val="50000"/>
                  </a:srgbClr>
                </a:solidFill>
                <a:effectLst/>
                <a:uLnTx/>
                <a:uFillTx/>
                <a:latin typeface="Arial" panose="020B0604020202020204"/>
                <a:ea typeface="思源黑体" panose="020B0500000000000000" pitchFamily="34" charset="-122"/>
                <a:cs typeface="+mn-cs"/>
              </a:rPr>
              <a:t>：</a:t>
            </a:r>
            <a:r>
              <a:rPr kumimoji="0" lang="en-US" altLang="zh-CN" sz="1100" b="0" i="0" u="none" strike="noStrike" kern="1200" cap="none" spc="0" normalizeH="0" baseline="0" noProof="0" dirty="0" smtClean="0">
                <a:ln>
                  <a:noFill/>
                </a:ln>
                <a:solidFill>
                  <a:srgbClr val="000000">
                    <a:lumMod val="50000"/>
                    <a:lumOff val="50000"/>
                  </a:srgbClr>
                </a:solidFill>
                <a:effectLst/>
                <a:uLnTx/>
                <a:uFillTx/>
                <a:latin typeface="Arial" panose="020B0604020202020204"/>
                <a:ea typeface="思源黑体" panose="020B0500000000000000" pitchFamily="34" charset="-122"/>
                <a:cs typeface="+mn-cs"/>
              </a:rPr>
              <a:t>18</a:t>
            </a:r>
            <a:r>
              <a:rPr kumimoji="0" lang="zh-CN" altLang="en-US" sz="1100" b="0" i="0" u="none" strike="noStrike" kern="1200" cap="none" spc="0" normalizeH="0" baseline="0" noProof="0" dirty="0" smtClean="0">
                <a:ln>
                  <a:noFill/>
                </a:ln>
                <a:solidFill>
                  <a:srgbClr val="000000">
                    <a:lumMod val="50000"/>
                    <a:lumOff val="50000"/>
                  </a:srgbClr>
                </a:solidFill>
                <a:effectLst/>
                <a:uLnTx/>
                <a:uFillTx/>
                <a:latin typeface="Arial" panose="020B0604020202020204"/>
                <a:ea typeface="思源黑体" panose="020B0500000000000000" pitchFamily="34" charset="-122"/>
                <a:cs typeface="+mn-cs"/>
              </a:rPr>
              <a:t>号</a:t>
            </a:r>
            <a:endParaRPr kumimoji="0" lang="en-US" altLang="zh-CN" sz="1100" b="0" i="0" u="none" strike="noStrike" kern="1200" cap="none" spc="0" normalizeH="0" baseline="0" noProof="0" dirty="0">
              <a:ln>
                <a:noFill/>
              </a:ln>
              <a:solidFill>
                <a:srgbClr val="000000">
                  <a:lumMod val="50000"/>
                  <a:lumOff val="50000"/>
                </a:srgbClr>
              </a:solidFill>
              <a:effectLst/>
              <a:uLnTx/>
              <a:uFillTx/>
              <a:latin typeface="Arial" panose="020B0604020202020204"/>
              <a:ea typeface="思源黑体" panose="020B0500000000000000" pitchFamily="34" charset="-122"/>
              <a:cs typeface="+mn-cs"/>
            </a:endParaRPr>
          </a:p>
          <a:p>
            <a:pPr marL="0" marR="0" lvl="0" indent="0" algn="l" defTabSz="914400" rtl="0" eaLnBrk="1" fontAlgn="auto" latinLnBrk="0" hangingPunct="1">
              <a:lnSpc>
                <a:spcPct val="110000"/>
              </a:lnSpc>
              <a:spcBef>
                <a:spcPts val="300"/>
              </a:spcBef>
              <a:spcAft>
                <a:spcPts val="0"/>
              </a:spcAft>
              <a:buClrTx/>
              <a:buSzTx/>
              <a:buFontTx/>
              <a:buNone/>
              <a:defRPr/>
            </a:pPr>
            <a:r>
              <a:rPr kumimoji="0" lang="zh-CN" altLang="en-US" sz="1100" b="0" i="0" u="none" strike="noStrike" kern="1200" cap="none" spc="0" normalizeH="0" baseline="0" noProof="0" dirty="0">
                <a:ln>
                  <a:noFill/>
                </a:ln>
                <a:solidFill>
                  <a:srgbClr val="000000">
                    <a:lumMod val="50000"/>
                    <a:lumOff val="50000"/>
                  </a:srgbClr>
                </a:solidFill>
                <a:effectLst/>
                <a:uLnTx/>
                <a:uFillTx/>
                <a:latin typeface="Arial" panose="020B0604020202020204"/>
                <a:ea typeface="思源黑体" panose="020B0500000000000000" pitchFamily="34" charset="-122"/>
                <a:cs typeface="+mn-cs"/>
              </a:rPr>
              <a:t>内容页：</a:t>
            </a:r>
            <a:r>
              <a:rPr kumimoji="0" lang="zh-CN" altLang="en-US" sz="1100" b="0" i="0" u="none" strike="noStrike" kern="1200" cap="none" spc="0" normalizeH="0" baseline="0" noProof="0" dirty="0" smtClean="0">
                <a:ln>
                  <a:noFill/>
                </a:ln>
                <a:solidFill>
                  <a:srgbClr val="000000">
                    <a:lumMod val="50000"/>
                    <a:lumOff val="50000"/>
                  </a:srgbClr>
                </a:solidFill>
                <a:effectLst/>
                <a:uLnTx/>
                <a:uFillTx/>
                <a:latin typeface="Arial" panose="020B0604020202020204"/>
                <a:ea typeface="思源黑体" panose="020B0500000000000000" pitchFamily="34" charset="-122"/>
                <a:cs typeface="+mn-cs"/>
              </a:rPr>
              <a:t>标题</a:t>
            </a:r>
            <a:r>
              <a:rPr kumimoji="0" lang="en-US" altLang="zh-CN" sz="1100" b="0" i="0" u="none" strike="noStrike" kern="1200" cap="none" spc="0" normalizeH="0" baseline="0" noProof="0" dirty="0" smtClean="0">
                <a:ln>
                  <a:noFill/>
                </a:ln>
                <a:solidFill>
                  <a:srgbClr val="000000">
                    <a:lumMod val="50000"/>
                    <a:lumOff val="50000"/>
                  </a:srgbClr>
                </a:solidFill>
                <a:effectLst/>
                <a:uLnTx/>
                <a:uFillTx/>
                <a:latin typeface="Arial" panose="020B0604020202020204"/>
                <a:ea typeface="思源黑体" panose="020B0500000000000000" pitchFamily="34" charset="-122"/>
                <a:cs typeface="+mn-cs"/>
              </a:rPr>
              <a:t>24</a:t>
            </a:r>
            <a:r>
              <a:rPr kumimoji="0" lang="zh-CN" altLang="en-US" sz="1100" b="0" i="0" u="none" strike="noStrike" kern="1200" cap="none" spc="0" normalizeH="0" baseline="0" noProof="0" dirty="0" smtClean="0">
                <a:ln>
                  <a:noFill/>
                </a:ln>
                <a:solidFill>
                  <a:srgbClr val="000000">
                    <a:lumMod val="50000"/>
                    <a:lumOff val="50000"/>
                  </a:srgbClr>
                </a:solidFill>
                <a:effectLst/>
                <a:uLnTx/>
                <a:uFillTx/>
                <a:latin typeface="Arial" panose="020B0604020202020204"/>
                <a:ea typeface="思源黑体" panose="020B0500000000000000" pitchFamily="34" charset="-122"/>
                <a:cs typeface="+mn-cs"/>
              </a:rPr>
              <a:t>号</a:t>
            </a:r>
            <a:r>
              <a:rPr kumimoji="0" lang="zh-CN" altLang="en-US" sz="1100" b="0" i="0" u="none" strike="noStrike" kern="1200" cap="none" spc="0" normalizeH="0" baseline="0" noProof="0" dirty="0">
                <a:ln>
                  <a:noFill/>
                </a:ln>
                <a:solidFill>
                  <a:srgbClr val="000000">
                    <a:lumMod val="50000"/>
                    <a:lumOff val="50000"/>
                  </a:srgbClr>
                </a:solidFill>
                <a:effectLst/>
                <a:uLnTx/>
                <a:uFillTx/>
                <a:latin typeface="Arial" panose="020B0604020202020204"/>
                <a:ea typeface="思源黑体" panose="020B0500000000000000" pitchFamily="34" charset="-122"/>
                <a:cs typeface="+mn-cs"/>
              </a:rPr>
              <a:t>加粗，二级标题或重点提炼</a:t>
            </a:r>
            <a:r>
              <a:rPr kumimoji="0" lang="en-US" altLang="zh-CN" sz="1100" b="0" i="0" u="none" strike="noStrike" kern="1200" cap="none" spc="0" normalizeH="0" baseline="0" noProof="0" dirty="0" smtClean="0">
                <a:ln>
                  <a:noFill/>
                </a:ln>
                <a:solidFill>
                  <a:srgbClr val="000000">
                    <a:lumMod val="50000"/>
                    <a:lumOff val="50000"/>
                  </a:srgbClr>
                </a:solidFill>
                <a:effectLst/>
                <a:uLnTx/>
                <a:uFillTx/>
                <a:latin typeface="Arial" panose="020B0604020202020204"/>
                <a:ea typeface="思源黑体" panose="020B0500000000000000" pitchFamily="34" charset="-122"/>
                <a:cs typeface="+mn-cs"/>
              </a:rPr>
              <a:t>16</a:t>
            </a:r>
            <a:r>
              <a:rPr kumimoji="0" lang="zh-CN" altLang="en-US" sz="1100" b="0" i="0" u="none" strike="noStrike" kern="1200" cap="none" spc="0" normalizeH="0" baseline="0" noProof="0" dirty="0" smtClean="0">
                <a:ln>
                  <a:noFill/>
                </a:ln>
                <a:solidFill>
                  <a:srgbClr val="000000">
                    <a:lumMod val="50000"/>
                    <a:lumOff val="50000"/>
                  </a:srgbClr>
                </a:solidFill>
                <a:effectLst/>
                <a:uLnTx/>
                <a:uFillTx/>
                <a:latin typeface="Arial" panose="020B0604020202020204"/>
                <a:ea typeface="思源黑体" panose="020B0500000000000000" pitchFamily="34" charset="-122"/>
                <a:cs typeface="+mn-cs"/>
              </a:rPr>
              <a:t>号</a:t>
            </a:r>
            <a:r>
              <a:rPr kumimoji="0" lang="zh-CN" altLang="en-US" sz="1100" b="0" i="0" u="none" strike="noStrike" kern="1200" cap="none" spc="0" normalizeH="0" baseline="0" noProof="0" dirty="0">
                <a:ln>
                  <a:noFill/>
                </a:ln>
                <a:solidFill>
                  <a:srgbClr val="000000">
                    <a:lumMod val="50000"/>
                    <a:lumOff val="50000"/>
                  </a:srgbClr>
                </a:solidFill>
                <a:effectLst/>
                <a:uLnTx/>
                <a:uFillTx/>
                <a:latin typeface="Arial" panose="020B0604020202020204"/>
                <a:ea typeface="思源黑体" panose="020B0500000000000000" pitchFamily="34" charset="-122"/>
                <a:cs typeface="+mn-cs"/>
              </a:rPr>
              <a:t>加粗，正文</a:t>
            </a:r>
            <a:r>
              <a:rPr kumimoji="0" lang="en-US" altLang="zh-CN" sz="1100" b="0" i="0" u="none" strike="noStrike" kern="1200" cap="none" spc="0" normalizeH="0" baseline="0" noProof="0" dirty="0" smtClean="0">
                <a:ln>
                  <a:noFill/>
                </a:ln>
                <a:solidFill>
                  <a:srgbClr val="000000">
                    <a:lumMod val="50000"/>
                    <a:lumOff val="50000"/>
                  </a:srgbClr>
                </a:solidFill>
                <a:effectLst/>
                <a:uLnTx/>
                <a:uFillTx/>
                <a:latin typeface="Arial" panose="020B0604020202020204"/>
                <a:ea typeface="思源黑体" panose="020B0500000000000000" pitchFamily="34" charset="-122"/>
                <a:cs typeface="+mn-cs"/>
              </a:rPr>
              <a:t>14</a:t>
            </a:r>
            <a:r>
              <a:rPr kumimoji="0" lang="zh-CN" altLang="en-US" sz="1100" b="0" i="0" u="none" strike="noStrike" kern="1200" cap="none" spc="0" normalizeH="0" baseline="0" noProof="0" dirty="0" smtClean="0">
                <a:ln>
                  <a:noFill/>
                </a:ln>
                <a:solidFill>
                  <a:srgbClr val="000000">
                    <a:lumMod val="50000"/>
                    <a:lumOff val="50000"/>
                  </a:srgbClr>
                </a:solidFill>
                <a:effectLst/>
                <a:uLnTx/>
                <a:uFillTx/>
                <a:latin typeface="Arial" panose="020B0604020202020204"/>
                <a:ea typeface="思源黑体" panose="020B0500000000000000" pitchFamily="34" charset="-122"/>
                <a:cs typeface="+mn-cs"/>
              </a:rPr>
              <a:t>号</a:t>
            </a:r>
            <a:r>
              <a:rPr kumimoji="0" lang="zh-CN" altLang="en-US" sz="1100" b="0" i="0" u="none" strike="noStrike" kern="1200" cap="none" spc="0" normalizeH="0" baseline="0" noProof="0" dirty="0">
                <a:ln>
                  <a:noFill/>
                </a:ln>
                <a:solidFill>
                  <a:srgbClr val="000000">
                    <a:lumMod val="50000"/>
                    <a:lumOff val="50000"/>
                  </a:srgbClr>
                </a:solidFill>
                <a:effectLst/>
                <a:uLnTx/>
                <a:uFillTx/>
                <a:latin typeface="Arial" panose="020B0604020202020204"/>
                <a:ea typeface="思源黑体" panose="020B0500000000000000" pitchFamily="34" charset="-122"/>
                <a:cs typeface="+mn-cs"/>
              </a:rPr>
              <a:t>或以下，可根据排版式样调整</a:t>
            </a:r>
          </a:p>
        </p:txBody>
      </p:sp>
      <p:sp>
        <p:nvSpPr>
          <p:cNvPr id="41" name="标题 2"/>
          <p:cNvSpPr txBox="1"/>
          <p:nvPr/>
        </p:nvSpPr>
        <p:spPr>
          <a:xfrm>
            <a:off x="528354" y="264695"/>
            <a:ext cx="8952387" cy="5070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chemeClr val="accent1">
                    <a:lumMod val="50000"/>
                  </a:schemeClr>
                </a:solidFill>
                <a:latin typeface="微软雅黑" panose="020B0503020204020204" charset="-122"/>
                <a:ea typeface="微软雅黑" panose="020B050302020402020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2800" b="1" i="0" u="none" strike="noStrike" kern="1200" cap="none" spc="0" normalizeH="0" baseline="0" noProof="0" smtClean="0">
                <a:ln>
                  <a:noFill/>
                </a:ln>
                <a:solidFill>
                  <a:srgbClr val="698FCE">
                    <a:lumMod val="50000"/>
                  </a:srgbClr>
                </a:solidFill>
                <a:effectLst/>
                <a:uLnTx/>
                <a:uFillTx/>
                <a:latin typeface="思源黑体" panose="020B0500000000000000" pitchFamily="34" charset="-122"/>
                <a:ea typeface="思源黑体" panose="020B0500000000000000" pitchFamily="34" charset="-122"/>
                <a:cs typeface="+mj-cs"/>
              </a:rPr>
              <a:t>主题模板的标准 </a:t>
            </a:r>
            <a:r>
              <a:rPr kumimoji="0" lang="en-US" altLang="zh-CN" sz="2800" b="1" i="0" u="none" strike="noStrike" kern="1200" cap="none" spc="0" normalizeH="0" baseline="0" noProof="0" smtClean="0">
                <a:ln>
                  <a:noFill/>
                </a:ln>
                <a:solidFill>
                  <a:srgbClr val="698FCE">
                    <a:lumMod val="50000"/>
                  </a:srgbClr>
                </a:solidFill>
                <a:effectLst/>
                <a:uLnTx/>
                <a:uFillTx/>
                <a:latin typeface="思源黑体" panose="020B0500000000000000" pitchFamily="34" charset="-122"/>
                <a:ea typeface="思源黑体" panose="020B0500000000000000" pitchFamily="34" charset="-122"/>
                <a:cs typeface="+mj-cs"/>
              </a:rPr>
              <a:t>How to use this template</a:t>
            </a:r>
            <a:endParaRPr kumimoji="0" lang="zh-CN" altLang="en-US" sz="2800" b="1" i="0" u="none" strike="noStrike" kern="1200" cap="none" spc="0" normalizeH="0" baseline="0" noProof="0" dirty="0">
              <a:ln>
                <a:noFill/>
              </a:ln>
              <a:solidFill>
                <a:srgbClr val="698FCE">
                  <a:lumMod val="50000"/>
                </a:srgbClr>
              </a:solidFill>
              <a:effectLst/>
              <a:uLnTx/>
              <a:uFillTx/>
              <a:latin typeface="思源黑体" panose="020B0500000000000000" pitchFamily="34" charset="-122"/>
              <a:ea typeface="思源黑体" panose="020B0500000000000000" pitchFamily="34" charset="-122"/>
              <a:cs typeface="+mj-cs"/>
            </a:endParaRPr>
          </a:p>
        </p:txBody>
      </p:sp>
      <p:sp>
        <p:nvSpPr>
          <p:cNvPr id="36" name="îṥļïďê"/>
          <p:cNvSpPr txBox="1"/>
          <p:nvPr/>
        </p:nvSpPr>
        <p:spPr>
          <a:xfrm>
            <a:off x="669927" y="4813493"/>
            <a:ext cx="5852173" cy="275590"/>
          </a:xfrm>
          <a:prstGeom prst="rect">
            <a:avLst/>
          </a:prstGeom>
          <a:noFill/>
        </p:spPr>
        <p:txBody>
          <a:bodyPr wrap="square" rtlCol="0" anchor="b">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Arial" panose="020B0604020202020204"/>
                <a:ea typeface="思源黑体" panose="020B0500000000000000" pitchFamily="34" charset="-122"/>
                <a:cs typeface="+mn-cs"/>
              </a:rPr>
              <a:t>文件命名 </a:t>
            </a:r>
            <a:r>
              <a:rPr kumimoji="0" lang="en-US" altLang="zh-CN" sz="1200" b="0" i="0" u="none" strike="noStrike" kern="1200" cap="none" spc="0" normalizeH="0" baseline="0" noProof="0" dirty="0">
                <a:ln>
                  <a:noFill/>
                </a:ln>
                <a:solidFill>
                  <a:srgbClr val="000000"/>
                </a:solidFill>
                <a:effectLst/>
                <a:uLnTx/>
                <a:uFillTx/>
                <a:latin typeface="Arial" panose="020B0604020202020204"/>
                <a:ea typeface="思源黑体" panose="020B0500000000000000" pitchFamily="34" charset="-122"/>
                <a:cs typeface="+mn-cs"/>
              </a:rPr>
              <a:t>FILE NAMING</a:t>
            </a:r>
          </a:p>
        </p:txBody>
      </p:sp>
      <p:cxnSp>
        <p:nvCxnSpPr>
          <p:cNvPr id="40" name="íşľíḑè"/>
          <p:cNvCxnSpPr/>
          <p:nvPr/>
        </p:nvCxnSpPr>
        <p:spPr>
          <a:xfrm>
            <a:off x="669926" y="5080423"/>
            <a:ext cx="585217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2" name="íŝḻîḓe"/>
          <p:cNvSpPr/>
          <p:nvPr/>
        </p:nvSpPr>
        <p:spPr>
          <a:xfrm>
            <a:off x="669928" y="5214161"/>
            <a:ext cx="5048569" cy="8345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l" defTabSz="914400" rtl="0" eaLnBrk="1" fontAlgn="auto" latinLnBrk="0" hangingPunct="1">
              <a:lnSpc>
                <a:spcPct val="100000"/>
              </a:lnSpc>
              <a:spcBef>
                <a:spcPts val="300"/>
              </a:spcBef>
              <a:spcAft>
                <a:spcPts val="0"/>
              </a:spcAft>
              <a:buClrTx/>
              <a:buSzTx/>
              <a:buFontTx/>
              <a:buNone/>
              <a:defRPr/>
            </a:pPr>
            <a:r>
              <a:rPr kumimoji="0" lang="zh-CN" sz="1100" b="0" i="0" u="none" strike="noStrike" kern="120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cs typeface="+mn-cs"/>
              </a:rPr>
              <a:t>课程名</a:t>
            </a:r>
            <a:r>
              <a:rPr kumimoji="0" lang="en-US" altLang="zh-CN" sz="1100" b="0" i="0" u="none" strike="noStrike" kern="120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cs typeface="+mn-cs"/>
              </a:rPr>
              <a:t>-</a:t>
            </a:r>
            <a:r>
              <a:rPr kumimoji="0" lang="zh-CN" altLang="en-US" sz="1100" b="0" i="0" u="none" strike="noStrike" kern="120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cs typeface="+mn-cs"/>
              </a:rPr>
              <a:t>版本号</a:t>
            </a:r>
            <a:r>
              <a:rPr kumimoji="0" lang="en-US" altLang="zh-CN" sz="1100" b="0" i="0" u="none" strike="noStrike" kern="120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cs typeface="+mn-cs"/>
              </a:rPr>
              <a:t>-</a:t>
            </a:r>
            <a:r>
              <a:rPr kumimoji="0" lang="zh-CN" altLang="en-US" sz="1100" b="0" i="0" u="none" strike="noStrike" kern="120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cs typeface="+mn-cs"/>
              </a:rPr>
              <a:t>时间</a:t>
            </a:r>
          </a:p>
          <a:p>
            <a:pPr marL="0" marR="0" lvl="0" indent="0" algn="l" defTabSz="914400" rtl="0" eaLnBrk="1" fontAlgn="auto" latinLnBrk="0" hangingPunct="1">
              <a:lnSpc>
                <a:spcPct val="100000"/>
              </a:lnSpc>
              <a:spcBef>
                <a:spcPts val="300"/>
              </a:spcBef>
              <a:spcAft>
                <a:spcPts val="0"/>
              </a:spcAft>
              <a:buClrTx/>
              <a:buSzTx/>
              <a:buFontTx/>
              <a:buNone/>
              <a:defRPr/>
            </a:pPr>
            <a:r>
              <a:rPr kumimoji="0" lang="zh-CN" altLang="en-US" sz="1100" b="0" i="0" u="none" strike="noStrike" kern="120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cs typeface="+mn-cs"/>
              </a:rPr>
              <a:t>例：网络信息安全</a:t>
            </a:r>
            <a:r>
              <a:rPr kumimoji="0" lang="en-US" altLang="zh-CN" sz="1100" b="0" i="0" u="none" strike="noStrike" kern="1200" cap="none" spc="0" normalizeH="0" baseline="0" noProof="0" dirty="0">
                <a:ln>
                  <a:noFill/>
                </a:ln>
                <a:solidFill>
                  <a:srgbClr val="000000">
                    <a:lumMod val="50000"/>
                    <a:lumOff val="50000"/>
                  </a:srgbClr>
                </a:solidFill>
                <a:effectLst/>
                <a:uLnTx/>
                <a:uFillTx/>
                <a:latin typeface="思源黑体" panose="020B0500000000000000" pitchFamily="34" charset="-122"/>
                <a:ea typeface="思源黑体" panose="020B0500000000000000" pitchFamily="34" charset="-122"/>
                <a:cs typeface="+mn-cs"/>
              </a:rPr>
              <a:t>-V1.0-20250613</a:t>
            </a:r>
          </a:p>
        </p:txBody>
      </p:sp>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123"/>
          <p:cNvSpPr/>
          <p:nvPr>
            <p:custDataLst>
              <p:tags r:id="rId1"/>
            </p:custDataLst>
          </p:nvPr>
        </p:nvSpPr>
        <p:spPr>
          <a:xfrm>
            <a:off x="5808345" y="2583815"/>
            <a:ext cx="5761355" cy="1015663"/>
          </a:xfrm>
          <a:prstGeom prst="rect">
            <a:avLst/>
          </a:prstGeom>
          <a:noFill/>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lang="zh-CN" altLang="en-US" sz="4000" dirty="0" smtClean="0">
                <a:solidFill>
                  <a:schemeClr val="bg2"/>
                </a:solidFill>
                <a:latin typeface="+mj-ea"/>
                <a:ea typeface="+mj-ea"/>
                <a:cs typeface="OPPOSans B" panose="00020600040101010101" pitchFamily="18" charset="-122"/>
                <a:sym typeface="思源黑体" panose="020B0500000000000000" pitchFamily="34" charset="-122"/>
              </a:rPr>
              <a:t>掌握</a:t>
            </a:r>
            <a:r>
              <a:rPr lang="en-US" altLang="zh-CN" sz="4000" dirty="0" err="1" smtClean="0">
                <a:solidFill>
                  <a:schemeClr val="bg2"/>
                </a:solidFill>
                <a:latin typeface="+mj-ea"/>
                <a:ea typeface="+mj-ea"/>
                <a:cs typeface="OPPOSans B" panose="00020600040101010101" pitchFamily="18" charset="-122"/>
                <a:sym typeface="思源黑体" panose="020B0500000000000000" pitchFamily="34" charset="-122"/>
              </a:rPr>
              <a:t>Iptables</a:t>
            </a:r>
            <a:r>
              <a:rPr lang="zh-CN" altLang="en-US" sz="4000" dirty="0" smtClean="0">
                <a:solidFill>
                  <a:schemeClr val="bg2"/>
                </a:solidFill>
                <a:latin typeface="+mj-ea"/>
                <a:ea typeface="+mj-ea"/>
                <a:cs typeface="OPPOSans B" panose="00020600040101010101" pitchFamily="18" charset="-122"/>
                <a:sym typeface="思源黑体" panose="020B0500000000000000" pitchFamily="34" charset="-122"/>
              </a:rPr>
              <a:t>使用</a:t>
            </a:r>
            <a:endParaRPr kumimoji="0" lang="zh-CN" altLang="en-US" sz="4000" i="0" u="none" strike="noStrike" kern="1200" cap="none" spc="0" normalizeH="0" baseline="0" noProof="0" dirty="0" smtClean="0">
              <a:ln>
                <a:noFill/>
              </a:ln>
              <a:solidFill>
                <a:schemeClr val="bg2"/>
              </a:solidFill>
              <a:effectLst/>
              <a:uLnTx/>
              <a:uFillTx/>
              <a:latin typeface="+mj-ea"/>
              <a:ea typeface="+mj-ea"/>
              <a:cs typeface="OPPOSans B" panose="00020600040101010101" pitchFamily="18" charset="-122"/>
              <a:sym typeface="思源黑体" panose="020B0500000000000000" pitchFamily="34" charset="-122"/>
            </a:endParaRPr>
          </a:p>
        </p:txBody>
      </p:sp>
      <p:sp>
        <p:nvSpPr>
          <p:cNvPr id="3" name="文本框 2"/>
          <p:cNvSpPr txBox="1"/>
          <p:nvPr/>
        </p:nvSpPr>
        <p:spPr>
          <a:xfrm>
            <a:off x="8361485" y="3862705"/>
            <a:ext cx="3208215" cy="1938992"/>
          </a:xfrm>
          <a:prstGeom prst="rect">
            <a:avLst/>
          </a:prstGeom>
          <a:noFill/>
        </p:spPr>
        <p:txBody>
          <a:bodyPr wrap="square" rtlCol="0">
            <a:spAutoFit/>
          </a:bodyPr>
          <a:lstStyle/>
          <a:p>
            <a:pPr>
              <a:lnSpc>
                <a:spcPct val="150000"/>
              </a:lnSpc>
            </a:pPr>
            <a:r>
              <a:rPr lang="zh-CN" altLang="en-US" sz="2000" b="1" dirty="0" smtClean="0">
                <a:solidFill>
                  <a:schemeClr val="bg2"/>
                </a:solidFill>
                <a:latin typeface="思源黑体" panose="020B0500000000000000" pitchFamily="34" charset="-122"/>
                <a:ea typeface="思源黑体" panose="020B0500000000000000" pitchFamily="34" charset="-122"/>
                <a:cs typeface="思源黑体" panose="020B0500000000000000" pitchFamily="34" charset="-122"/>
              </a:rPr>
              <a:t>部门：座舱软件开发二部</a:t>
            </a:r>
          </a:p>
          <a:p>
            <a:pPr>
              <a:lnSpc>
                <a:spcPct val="150000"/>
              </a:lnSpc>
            </a:pPr>
            <a:r>
              <a:rPr lang="zh-CN" altLang="en-US" sz="2000" b="1" dirty="0" smtClean="0">
                <a:solidFill>
                  <a:schemeClr val="bg2"/>
                </a:solidFill>
                <a:latin typeface="思源黑体" panose="020B0500000000000000" pitchFamily="34" charset="-122"/>
                <a:ea typeface="思源黑体" panose="020B0500000000000000" pitchFamily="34" charset="-122"/>
                <a:cs typeface="思源黑体" panose="020B0500000000000000" pitchFamily="34" charset="-122"/>
              </a:rPr>
              <a:t>讲师：糜斌</a:t>
            </a:r>
            <a:endParaRPr lang="en-US" altLang="zh-CN" sz="2000" b="1" dirty="0" smtClean="0">
              <a:solidFill>
                <a:schemeClr val="bg2"/>
              </a:solidFill>
              <a:latin typeface="思源黑体" panose="020B0500000000000000" pitchFamily="34" charset="-122"/>
              <a:ea typeface="思源黑体" panose="020B0500000000000000" pitchFamily="34" charset="-122"/>
              <a:cs typeface="思源黑体" panose="020B0500000000000000" pitchFamily="34" charset="-122"/>
            </a:endParaRPr>
          </a:p>
          <a:p>
            <a:pPr>
              <a:lnSpc>
                <a:spcPct val="150000"/>
              </a:lnSpc>
            </a:pPr>
            <a:r>
              <a:rPr lang="zh-CN" altLang="en-US" sz="2000" b="1" dirty="0" smtClean="0">
                <a:solidFill>
                  <a:schemeClr val="bg2"/>
                </a:solidFill>
                <a:latin typeface="思源黑体" panose="020B0500000000000000" pitchFamily="34" charset="-122"/>
                <a:ea typeface="思源黑体" panose="020B0500000000000000" pitchFamily="34" charset="-122"/>
                <a:cs typeface="思源黑体" panose="020B0500000000000000" pitchFamily="34" charset="-122"/>
              </a:rPr>
              <a:t>版本：</a:t>
            </a:r>
            <a:r>
              <a:rPr lang="en-US" altLang="zh-CN" sz="2000" b="1" dirty="0" smtClean="0">
                <a:solidFill>
                  <a:schemeClr val="bg2"/>
                </a:solidFill>
                <a:latin typeface="思源黑体" panose="020B0500000000000000" pitchFamily="34" charset="-122"/>
                <a:ea typeface="思源黑体" panose="020B0500000000000000" pitchFamily="34" charset="-122"/>
                <a:cs typeface="思源黑体" panose="020B0500000000000000" pitchFamily="34" charset="-122"/>
              </a:rPr>
              <a:t>V1.0</a:t>
            </a:r>
          </a:p>
          <a:p>
            <a:pPr>
              <a:lnSpc>
                <a:spcPct val="150000"/>
              </a:lnSpc>
            </a:pPr>
            <a:r>
              <a:rPr lang="zh-CN" altLang="en-US" sz="2000" b="1" dirty="0" smtClean="0">
                <a:solidFill>
                  <a:schemeClr val="bg2"/>
                </a:solidFill>
                <a:latin typeface="思源黑体" panose="020B0500000000000000" pitchFamily="34" charset="-122"/>
                <a:ea typeface="思源黑体" panose="020B0500000000000000" pitchFamily="34" charset="-122"/>
                <a:cs typeface="思源黑体" panose="020B0500000000000000" pitchFamily="34" charset="-122"/>
              </a:rPr>
              <a:t>日期：</a:t>
            </a:r>
            <a:r>
              <a:rPr lang="en-US" altLang="zh-CN" sz="2000" b="1" dirty="0" smtClean="0">
                <a:solidFill>
                  <a:schemeClr val="bg2"/>
                </a:solidFill>
                <a:latin typeface="思源黑体" panose="020B0500000000000000" pitchFamily="34" charset="-122"/>
                <a:ea typeface="思源黑体" panose="020B0500000000000000" pitchFamily="34" charset="-122"/>
                <a:cs typeface="思源黑体" panose="020B0500000000000000" pitchFamily="34" charset="-122"/>
              </a:rPr>
              <a:t>20250910</a:t>
            </a:r>
          </a:p>
        </p:txBody>
      </p:sp>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340360" y="273050"/>
            <a:ext cx="6891655" cy="645160"/>
          </a:xfrm>
          <a:prstGeom prst="rect">
            <a:avLst/>
          </a:prstGeom>
          <a:noFill/>
        </p:spPr>
        <p:txBody>
          <a:bodyPr wrap="square" lIns="91440" tIns="45720" rIns="91440" bIns="45720">
            <a:spAutoFit/>
          </a:bodyPr>
          <a:lstStyle/>
          <a:p>
            <a:pPr algn="l"/>
            <a:r>
              <a:rPr lang="zh-CN" altLang="en-US" sz="3600" b="1" dirty="0">
                <a:solidFill>
                  <a:srgbClr val="0070C0"/>
                </a:solidFill>
                <a:latin typeface="思源黑体" panose="020B0500000000000000" pitchFamily="34" charset="-122"/>
                <a:ea typeface="思源黑体" panose="020B0500000000000000" pitchFamily="34" charset="-122"/>
                <a:sym typeface="+mn-ea"/>
              </a:rPr>
              <a:t>修订履历 </a:t>
            </a:r>
            <a:endParaRPr lang="zh-CN" altLang="en-US" sz="3600" b="1" cap="none" spc="0" dirty="0">
              <a:ln w="9525">
                <a:noFill/>
                <a:prstDash val="solid"/>
              </a:ln>
              <a:solidFill>
                <a:schemeClr val="accent5">
                  <a:lumMod val="75000"/>
                </a:schemeClr>
              </a:solidFill>
              <a:latin typeface="思源黑体" panose="020B0500000000000000" pitchFamily="34" charset="-122"/>
              <a:ea typeface="思源黑体" panose="020B0500000000000000" pitchFamily="34" charset="-122"/>
            </a:endParaRPr>
          </a:p>
        </p:txBody>
      </p:sp>
      <p:grpSp>
        <p:nvGrpSpPr>
          <p:cNvPr id="33" name="组合 32"/>
          <p:cNvGrpSpPr/>
          <p:nvPr/>
        </p:nvGrpSpPr>
        <p:grpSpPr>
          <a:xfrm>
            <a:off x="9108771" y="5142372"/>
            <a:ext cx="3083229" cy="1715628"/>
            <a:chOff x="3909171" y="5101626"/>
            <a:chExt cx="2312422" cy="1756375"/>
          </a:xfrm>
        </p:grpSpPr>
        <p:sp>
          <p:nvSpPr>
            <p:cNvPr id="34" name="任意多边形: 形状 14"/>
            <p:cNvSpPr/>
            <p:nvPr/>
          </p:nvSpPr>
          <p:spPr>
            <a:xfrm>
              <a:off x="3909171" y="5617900"/>
              <a:ext cx="2312422" cy="1240101"/>
            </a:xfrm>
            <a:custGeom>
              <a:avLst/>
              <a:gdLst>
                <a:gd name="connsiteX0" fmla="*/ 688066 w 2750572"/>
                <a:gd name="connsiteY0" fmla="*/ 0 h 1240101"/>
                <a:gd name="connsiteX1" fmla="*/ 2062507 w 2750572"/>
                <a:gd name="connsiteY1" fmla="*/ 0 h 1240101"/>
                <a:gd name="connsiteX2" fmla="*/ 2750572 w 2750572"/>
                <a:gd name="connsiteY2" fmla="*/ 1186787 h 1240101"/>
                <a:gd name="connsiteX3" fmla="*/ 2719750 w 2750572"/>
                <a:gd name="connsiteY3" fmla="*/ 1240101 h 1240101"/>
                <a:gd name="connsiteX4" fmla="*/ 30822 w 2750572"/>
                <a:gd name="connsiteY4" fmla="*/ 1240101 h 1240101"/>
                <a:gd name="connsiteX5" fmla="*/ 0 w 2750572"/>
                <a:gd name="connsiteY5" fmla="*/ 1186787 h 1240101"/>
                <a:gd name="connsiteX6" fmla="*/ 688066 w 2750572"/>
                <a:gd name="connsiteY6" fmla="*/ 0 h 1240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0572" h="1240101">
                  <a:moveTo>
                    <a:pt x="688066" y="0"/>
                  </a:moveTo>
                  <a:lnTo>
                    <a:pt x="2062507" y="0"/>
                  </a:lnTo>
                  <a:lnTo>
                    <a:pt x="2750572" y="1186787"/>
                  </a:lnTo>
                  <a:lnTo>
                    <a:pt x="2719750" y="1240101"/>
                  </a:lnTo>
                  <a:lnTo>
                    <a:pt x="30822" y="1240101"/>
                  </a:lnTo>
                  <a:lnTo>
                    <a:pt x="0" y="1186787"/>
                  </a:lnTo>
                  <a:lnTo>
                    <a:pt x="688066" y="0"/>
                  </a:lnTo>
                  <a:close/>
                </a:path>
              </a:pathLst>
            </a:custGeom>
            <a:solidFill>
              <a:schemeClr val="accent1">
                <a:alpha val="1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5" name="Freeform 21"/>
            <p:cNvSpPr/>
            <p:nvPr/>
          </p:nvSpPr>
          <p:spPr bwMode="auto">
            <a:xfrm>
              <a:off x="4021319" y="5101626"/>
              <a:ext cx="866775" cy="1026882"/>
            </a:xfrm>
            <a:custGeom>
              <a:avLst/>
              <a:gdLst>
                <a:gd name="T0" fmla="*/ 1220 w 1627"/>
                <a:gd name="T1" fmla="*/ 0 h 1406"/>
                <a:gd name="T2" fmla="*/ 407 w 1627"/>
                <a:gd name="T3" fmla="*/ 0 h 1406"/>
                <a:gd name="T4" fmla="*/ 0 w 1627"/>
                <a:gd name="T5" fmla="*/ 702 h 1406"/>
                <a:gd name="T6" fmla="*/ 407 w 1627"/>
                <a:gd name="T7" fmla="*/ 1406 h 1406"/>
                <a:gd name="T8" fmla="*/ 1220 w 1627"/>
                <a:gd name="T9" fmla="*/ 1406 h 1406"/>
                <a:gd name="T10" fmla="*/ 1627 w 1627"/>
                <a:gd name="T11" fmla="*/ 702 h 1406"/>
                <a:gd name="T12" fmla="*/ 1220 w 1627"/>
                <a:gd name="T13" fmla="*/ 0 h 1406"/>
              </a:gdLst>
              <a:ahLst/>
              <a:cxnLst>
                <a:cxn ang="0">
                  <a:pos x="T0" y="T1"/>
                </a:cxn>
                <a:cxn ang="0">
                  <a:pos x="T2" y="T3"/>
                </a:cxn>
                <a:cxn ang="0">
                  <a:pos x="T4" y="T5"/>
                </a:cxn>
                <a:cxn ang="0">
                  <a:pos x="T6" y="T7"/>
                </a:cxn>
                <a:cxn ang="0">
                  <a:pos x="T8" y="T9"/>
                </a:cxn>
                <a:cxn ang="0">
                  <a:pos x="T10" y="T11"/>
                </a:cxn>
                <a:cxn ang="0">
                  <a:pos x="T12" y="T13"/>
                </a:cxn>
              </a:cxnLst>
              <a:rect l="0" t="0" r="r" b="b"/>
              <a:pathLst>
                <a:path w="1627" h="1406">
                  <a:moveTo>
                    <a:pt x="1220" y="0"/>
                  </a:moveTo>
                  <a:lnTo>
                    <a:pt x="407" y="0"/>
                  </a:lnTo>
                  <a:lnTo>
                    <a:pt x="0" y="702"/>
                  </a:lnTo>
                  <a:lnTo>
                    <a:pt x="407" y="1406"/>
                  </a:lnTo>
                  <a:lnTo>
                    <a:pt x="1220" y="1406"/>
                  </a:lnTo>
                  <a:lnTo>
                    <a:pt x="1627" y="702"/>
                  </a:lnTo>
                  <a:lnTo>
                    <a:pt x="1220" y="0"/>
                  </a:lnTo>
                  <a:close/>
                </a:path>
              </a:pathLst>
            </a:custGeom>
            <a:solidFill>
              <a:schemeClr val="accent1">
                <a:alpha val="3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grpSp>
      <p:graphicFrame>
        <p:nvGraphicFramePr>
          <p:cNvPr id="4" name="表格 3"/>
          <p:cNvGraphicFramePr>
            <a:graphicFrameLocks noGrp="1"/>
          </p:cNvGraphicFramePr>
          <p:nvPr>
            <p:custDataLst>
              <p:tags r:id="rId1"/>
            </p:custDataLst>
          </p:nvPr>
        </p:nvGraphicFramePr>
        <p:xfrm>
          <a:off x="800100" y="1037590"/>
          <a:ext cx="10276840" cy="4813300"/>
        </p:xfrm>
        <a:graphic>
          <a:graphicData uri="http://schemas.openxmlformats.org/drawingml/2006/table">
            <a:tbl>
              <a:tblPr/>
              <a:tblGrid>
                <a:gridCol w="2452370"/>
                <a:gridCol w="1567815"/>
                <a:gridCol w="1767840"/>
                <a:gridCol w="4488815"/>
              </a:tblGrid>
              <a:tr h="936625">
                <a:tc gridSpan="4">
                  <a:txBody>
                    <a:bodyPr/>
                    <a:lstStyle/>
                    <a:p>
                      <a:pPr algn="ctr" fontAlgn="ctr"/>
                      <a:r>
                        <a:rPr lang="zh-CN" altLang="en-US" sz="1800" b="1" i="0" u="none" strike="noStrike" dirty="0" smtClean="0">
                          <a:solidFill>
                            <a:srgbClr val="000000"/>
                          </a:solidFill>
                          <a:effectLst/>
                          <a:latin typeface="思源黑体" panose="020B0500000000000000" pitchFamily="34" charset="-122"/>
                          <a:ea typeface="思源黑体" panose="020B0500000000000000" pitchFamily="34" charset="-122"/>
                        </a:rPr>
                        <a:t>文档修订</a:t>
                      </a:r>
                      <a:r>
                        <a:rPr lang="zh-CN" altLang="en-US" sz="1800" b="1" i="0" u="none" strike="noStrike" dirty="0">
                          <a:solidFill>
                            <a:srgbClr val="000000"/>
                          </a:solidFill>
                          <a:effectLst/>
                          <a:latin typeface="思源黑体" panose="020B0500000000000000" pitchFamily="34" charset="-122"/>
                          <a:ea typeface="思源黑体" panose="020B0500000000000000" pitchFamily="34" charset="-122"/>
                        </a:rPr>
                        <a:t>记录</a:t>
                      </a:r>
                      <a:endParaRPr lang="en-US" altLang="zh-CN" sz="1800" b="1" i="0" u="none" strike="noStrike" dirty="0">
                        <a:solidFill>
                          <a:srgbClr val="000000"/>
                        </a:solidFill>
                        <a:effectLst/>
                        <a:latin typeface="思源黑体" panose="020B0500000000000000" pitchFamily="34" charset="-122"/>
                        <a:ea typeface="思源黑体" panose="020B0500000000000000" pitchFamily="34" charset="-122"/>
                      </a:endParaRPr>
                    </a:p>
                    <a:p>
                      <a:pPr algn="ctr" fontAlgn="ctr"/>
                      <a:r>
                        <a:rPr lang="en-US" altLang="zh-CN" sz="1800" b="1" i="0" u="none" strike="noStrike" dirty="0">
                          <a:solidFill>
                            <a:srgbClr val="000000"/>
                          </a:solidFill>
                          <a:effectLst/>
                          <a:latin typeface="思源黑体" panose="020B0500000000000000" pitchFamily="34" charset="-122"/>
                          <a:ea typeface="思源黑体" panose="020B0500000000000000" pitchFamily="34" charset="-122"/>
                        </a:rPr>
                        <a:t>Document Change history</a:t>
                      </a:r>
                      <a:endParaRPr lang="zh-CN" altLang="en-US" sz="1800" b="1" i="0" u="none" strike="noStrike" dirty="0">
                        <a:solidFill>
                          <a:srgbClr val="000000"/>
                        </a:solidFill>
                        <a:effectLst/>
                        <a:latin typeface="思源黑体" panose="020B0500000000000000" pitchFamily="34" charset="-122"/>
                        <a:ea typeface="思源黑体" panose="020B0500000000000000" pitchFamily="34" charset="-122"/>
                      </a:endParaRPr>
                    </a:p>
                  </a:txBody>
                  <a:tcPr marL="8917" marR="8917" marT="8917" marB="0" anchor="ctr">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zh-CN"/>
                    </a:p>
                  </a:txBody>
                  <a:tcPr/>
                </a:tc>
                <a:tc hMerge="1">
                  <a:txBody>
                    <a:bodyPr/>
                    <a:lstStyle/>
                    <a:p>
                      <a:endParaRPr lang="zh-CN"/>
                    </a:p>
                  </a:txBody>
                  <a:tcPr/>
                </a:tc>
                <a:tc hMerge="1">
                  <a:txBody>
                    <a:bodyPr/>
                    <a:lstStyle/>
                    <a:p>
                      <a:endParaRPr lang="zh-CN"/>
                    </a:p>
                  </a:txBody>
                  <a:tcPr/>
                </a:tc>
              </a:tr>
              <a:tr h="731520">
                <a:tc>
                  <a:txBody>
                    <a:bodyPr/>
                    <a:lstStyle/>
                    <a:p>
                      <a:pPr algn="ctr" fontAlgn="ctr"/>
                      <a:r>
                        <a:rPr lang="zh-CN" altLang="en-US" sz="1400" b="1" i="0" u="none" strike="noStrike" dirty="0">
                          <a:solidFill>
                            <a:srgbClr val="000000"/>
                          </a:solidFill>
                          <a:effectLst/>
                          <a:latin typeface="思源黑体" panose="020B0500000000000000" pitchFamily="34" charset="-122"/>
                          <a:ea typeface="思源黑体" panose="020B0500000000000000" pitchFamily="34" charset="-122"/>
                        </a:rPr>
                        <a:t>文档版本</a:t>
                      </a:r>
                      <a:endParaRPr lang="en-US" altLang="zh-CN" sz="1400" b="1" i="0" u="none" strike="noStrike" dirty="0">
                        <a:solidFill>
                          <a:srgbClr val="000000"/>
                        </a:solidFill>
                        <a:effectLst/>
                        <a:latin typeface="思源黑体" panose="020B0500000000000000" pitchFamily="34" charset="-122"/>
                        <a:ea typeface="思源黑体" panose="020B0500000000000000" pitchFamily="34" charset="-122"/>
                      </a:endParaRPr>
                    </a:p>
                    <a:p>
                      <a:pPr algn="ctr" fontAlgn="ctr"/>
                      <a:r>
                        <a:rPr lang="en-US" altLang="zh-CN" sz="1400" b="1" i="0" u="none" strike="noStrike" dirty="0">
                          <a:solidFill>
                            <a:srgbClr val="000000"/>
                          </a:solidFill>
                          <a:effectLst/>
                          <a:latin typeface="思源黑体" panose="020B0500000000000000" pitchFamily="34" charset="-122"/>
                          <a:ea typeface="思源黑体" panose="020B0500000000000000" pitchFamily="34" charset="-122"/>
                        </a:rPr>
                        <a:t>Version</a:t>
                      </a:r>
                      <a:endParaRPr lang="zh-CN" altLang="en-US" sz="1400" b="1" i="0" u="none" strike="noStrike" dirty="0">
                        <a:solidFill>
                          <a:srgbClr val="000000"/>
                        </a:solidFill>
                        <a:effectLst/>
                        <a:latin typeface="思源黑体" panose="020B0500000000000000" pitchFamily="34" charset="-122"/>
                        <a:ea typeface="思源黑体" panose="020B0500000000000000" pitchFamily="34" charset="-122"/>
                      </a:endParaRPr>
                    </a:p>
                  </a:txBody>
                  <a:tcPr marL="8917" marR="8917" marT="8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1" i="0" u="none" strike="noStrike" dirty="0" smtClean="0">
                          <a:solidFill>
                            <a:srgbClr val="000000"/>
                          </a:solidFill>
                          <a:effectLst/>
                          <a:latin typeface="思源黑体" panose="020B0500000000000000" pitchFamily="34" charset="-122"/>
                          <a:ea typeface="思源黑体" panose="020B0500000000000000" pitchFamily="34" charset="-122"/>
                        </a:rPr>
                        <a:t>修订</a:t>
                      </a:r>
                      <a:r>
                        <a:rPr lang="zh-CN" altLang="en-US" sz="1400" b="1" i="0" u="none" strike="noStrike" dirty="0">
                          <a:solidFill>
                            <a:srgbClr val="000000"/>
                          </a:solidFill>
                          <a:effectLst/>
                          <a:latin typeface="思源黑体" panose="020B0500000000000000" pitchFamily="34" charset="-122"/>
                          <a:ea typeface="思源黑体" panose="020B0500000000000000" pitchFamily="34" charset="-122"/>
                        </a:rPr>
                        <a:t>人</a:t>
                      </a:r>
                      <a:endParaRPr lang="en-US" altLang="zh-CN" sz="1400" b="1" i="0" u="none" strike="noStrike" dirty="0">
                        <a:solidFill>
                          <a:srgbClr val="000000"/>
                        </a:solidFill>
                        <a:effectLst/>
                        <a:latin typeface="思源黑体" panose="020B0500000000000000" pitchFamily="34" charset="-122"/>
                        <a:ea typeface="思源黑体" panose="020B0500000000000000" pitchFamily="34" charset="-122"/>
                      </a:endParaRPr>
                    </a:p>
                    <a:p>
                      <a:pPr algn="ctr" fontAlgn="ctr"/>
                      <a:r>
                        <a:rPr lang="en-US" altLang="zh-CN" sz="1400" b="1" i="0" u="none" strike="noStrike" dirty="0">
                          <a:solidFill>
                            <a:srgbClr val="000000"/>
                          </a:solidFill>
                          <a:effectLst/>
                          <a:latin typeface="思源黑体" panose="020B0500000000000000" pitchFamily="34" charset="-122"/>
                          <a:ea typeface="思源黑体" panose="020B0500000000000000" pitchFamily="34" charset="-122"/>
                        </a:rPr>
                        <a:t>Author</a:t>
                      </a:r>
                      <a:endParaRPr lang="zh-CN" altLang="en-US" sz="1400" b="1" i="0" u="none" strike="noStrike" dirty="0">
                        <a:solidFill>
                          <a:srgbClr val="000000"/>
                        </a:solidFill>
                        <a:effectLst/>
                        <a:latin typeface="思源黑体" panose="020B0500000000000000" pitchFamily="34" charset="-122"/>
                        <a:ea typeface="思源黑体" panose="020B0500000000000000" pitchFamily="34" charset="-122"/>
                      </a:endParaRPr>
                    </a:p>
                  </a:txBody>
                  <a:tcPr marL="8917" marR="8917" marT="8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1" i="0" u="none" strike="noStrike" dirty="0">
                          <a:solidFill>
                            <a:srgbClr val="000000"/>
                          </a:solidFill>
                          <a:effectLst/>
                          <a:latin typeface="思源黑体" panose="020B0500000000000000" pitchFamily="34" charset="-122"/>
                          <a:ea typeface="思源黑体" panose="020B0500000000000000" pitchFamily="34" charset="-122"/>
                        </a:rPr>
                        <a:t>修订日期</a:t>
                      </a:r>
                      <a:endParaRPr lang="en-US" altLang="zh-CN" sz="1400" b="1" i="0" u="none" strike="noStrike" dirty="0">
                        <a:solidFill>
                          <a:srgbClr val="000000"/>
                        </a:solidFill>
                        <a:effectLst/>
                        <a:latin typeface="思源黑体" panose="020B0500000000000000" pitchFamily="34" charset="-122"/>
                        <a:ea typeface="思源黑体" panose="020B0500000000000000" pitchFamily="34" charset="-122"/>
                      </a:endParaRPr>
                    </a:p>
                    <a:p>
                      <a:pPr algn="ctr" fontAlgn="ctr"/>
                      <a:r>
                        <a:rPr lang="en-US" altLang="zh-CN" sz="1400" b="1" i="0" u="none" strike="noStrike" dirty="0" smtClean="0">
                          <a:solidFill>
                            <a:srgbClr val="000000"/>
                          </a:solidFill>
                          <a:effectLst/>
                          <a:latin typeface="思源黑体" panose="020B0500000000000000" pitchFamily="34" charset="-122"/>
                          <a:ea typeface="思源黑体" panose="020B0500000000000000" pitchFamily="34" charset="-122"/>
                        </a:rPr>
                        <a:t>Change </a:t>
                      </a:r>
                      <a:r>
                        <a:rPr lang="en-US" altLang="zh-CN" sz="1400" b="1" i="0" u="none" strike="noStrike" dirty="0">
                          <a:solidFill>
                            <a:srgbClr val="000000"/>
                          </a:solidFill>
                          <a:effectLst/>
                          <a:latin typeface="思源黑体" panose="020B0500000000000000" pitchFamily="34" charset="-122"/>
                          <a:ea typeface="思源黑体" panose="020B0500000000000000" pitchFamily="34" charset="-122"/>
                        </a:rPr>
                        <a:t>date</a:t>
                      </a:r>
                      <a:endParaRPr lang="zh-CN" altLang="en-US" sz="1400" b="1" i="0" u="none" strike="noStrike" dirty="0">
                        <a:solidFill>
                          <a:srgbClr val="000000"/>
                        </a:solidFill>
                        <a:effectLst/>
                        <a:latin typeface="思源黑体" panose="020B0500000000000000" pitchFamily="34" charset="-122"/>
                        <a:ea typeface="思源黑体" panose="020B0500000000000000" pitchFamily="34" charset="-122"/>
                      </a:endParaRPr>
                    </a:p>
                  </a:txBody>
                  <a:tcPr marL="8917" marR="8917" marT="8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1" i="0" u="none" strike="noStrike" dirty="0" smtClean="0">
                          <a:solidFill>
                            <a:srgbClr val="000000"/>
                          </a:solidFill>
                          <a:effectLst/>
                          <a:latin typeface="思源黑体" panose="020B0500000000000000" pitchFamily="34" charset="-122"/>
                          <a:ea typeface="思源黑体" panose="020B0500000000000000" pitchFamily="34" charset="-122"/>
                        </a:rPr>
                        <a:t>修订描述</a:t>
                      </a:r>
                      <a:endParaRPr lang="en-US" altLang="zh-CN" sz="1400" b="1" i="0" u="none" strike="noStrike" dirty="0">
                        <a:solidFill>
                          <a:srgbClr val="000000"/>
                        </a:solidFill>
                        <a:effectLst/>
                        <a:latin typeface="思源黑体" panose="020B0500000000000000" pitchFamily="34" charset="-122"/>
                        <a:ea typeface="思源黑体" panose="020B0500000000000000" pitchFamily="34" charset="-122"/>
                      </a:endParaRPr>
                    </a:p>
                    <a:p>
                      <a:pPr algn="ctr" fontAlgn="ctr"/>
                      <a:r>
                        <a:rPr lang="en-US" altLang="zh-CN" sz="1400" b="1" i="0" u="none" strike="noStrike" dirty="0">
                          <a:solidFill>
                            <a:srgbClr val="000000"/>
                          </a:solidFill>
                          <a:effectLst/>
                          <a:latin typeface="思源黑体" panose="020B0500000000000000" pitchFamily="34" charset="-122"/>
                          <a:ea typeface="思源黑体" panose="020B0500000000000000" pitchFamily="34" charset="-122"/>
                        </a:rPr>
                        <a:t>Change description</a:t>
                      </a:r>
                      <a:endParaRPr lang="zh-CN" altLang="en-US" sz="1400" b="1" i="0" u="none" strike="noStrike" dirty="0">
                        <a:solidFill>
                          <a:srgbClr val="000000"/>
                        </a:solidFill>
                        <a:effectLst/>
                        <a:latin typeface="思源黑体" panose="020B0500000000000000" pitchFamily="34" charset="-122"/>
                        <a:ea typeface="思源黑体" panose="020B0500000000000000" pitchFamily="34" charset="-122"/>
                      </a:endParaRPr>
                    </a:p>
                  </a:txBody>
                  <a:tcPr marL="8917" marR="8917" marT="8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861695">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zh-CN" sz="1400" b="0" i="1" u="none" strike="noStrike" dirty="0" smtClean="0">
                          <a:solidFill>
                            <a:srgbClr val="00B0F0"/>
                          </a:solidFill>
                          <a:effectLst/>
                          <a:latin typeface="思源黑体" panose="020B0500000000000000" pitchFamily="34" charset="-122"/>
                          <a:ea typeface="思源黑体" panose="020B0500000000000000" pitchFamily="34" charset="-122"/>
                        </a:rPr>
                        <a:t>V1.0</a:t>
                      </a:r>
                    </a:p>
                  </a:txBody>
                  <a:tcPr marL="8917" marR="8917" marT="8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1" u="none" strike="noStrike" dirty="0" smtClean="0">
                          <a:solidFill>
                            <a:srgbClr val="00B0F0"/>
                          </a:solidFill>
                          <a:effectLst/>
                          <a:latin typeface="思源黑体" panose="020B0500000000000000" pitchFamily="34" charset="-122"/>
                          <a:ea typeface="思源黑体" panose="020B0500000000000000" pitchFamily="34" charset="-122"/>
                        </a:rPr>
                        <a:t>糜斌</a:t>
                      </a:r>
                      <a:r>
                        <a:rPr lang="zh-CN" altLang="en-US" sz="1400" b="0" i="1" u="none" strike="noStrike" dirty="0">
                          <a:solidFill>
                            <a:srgbClr val="00B0F0"/>
                          </a:solidFill>
                          <a:effectLst/>
                          <a:latin typeface="思源黑体" panose="020B0500000000000000" pitchFamily="34" charset="-122"/>
                          <a:ea typeface="思源黑体" panose="020B0500000000000000" pitchFamily="34" charset="-122"/>
                        </a:rPr>
                        <a:t>　</a:t>
                      </a:r>
                    </a:p>
                  </a:txBody>
                  <a:tcPr marL="8917" marR="8917" marT="8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1" u="none" strike="noStrike" dirty="0" smtClean="0">
                          <a:solidFill>
                            <a:srgbClr val="00B0F0"/>
                          </a:solidFill>
                          <a:effectLst/>
                          <a:latin typeface="思源黑体" panose="020B0500000000000000" pitchFamily="34" charset="-122"/>
                          <a:ea typeface="思源黑体" panose="020B0500000000000000" pitchFamily="34" charset="-122"/>
                        </a:rPr>
                        <a:t>2025.9.22</a:t>
                      </a:r>
                      <a:r>
                        <a:rPr lang="zh-CN" altLang="en-US" sz="1400" b="0" i="1" u="none" strike="noStrike" dirty="0">
                          <a:solidFill>
                            <a:srgbClr val="00B0F0"/>
                          </a:solidFill>
                          <a:effectLst/>
                          <a:latin typeface="思源黑体" panose="020B0500000000000000" pitchFamily="34" charset="-122"/>
                          <a:ea typeface="思源黑体" panose="020B0500000000000000" pitchFamily="34" charset="-122"/>
                        </a:rPr>
                        <a:t>　</a:t>
                      </a:r>
                    </a:p>
                  </a:txBody>
                  <a:tcPr marL="8917" marR="8917" marT="8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zh-CN" altLang="en-US" sz="1400" b="0" i="1" u="none" strike="noStrike" dirty="0" smtClean="0">
                          <a:solidFill>
                            <a:srgbClr val="00B0F0"/>
                          </a:solidFill>
                          <a:effectLst/>
                          <a:latin typeface="思源黑体" panose="020B0500000000000000" pitchFamily="34" charset="-122"/>
                          <a:ea typeface="思源黑体" panose="020B0500000000000000" pitchFamily="34" charset="-122"/>
                        </a:rPr>
                        <a:t>初始版本</a:t>
                      </a:r>
                    </a:p>
                    <a:p>
                      <a:pPr algn="ctr" fontAlgn="ctr"/>
                      <a:r>
                        <a:rPr lang="zh-CN" altLang="en-US" sz="1400" b="0" i="1" u="none" strike="noStrike" dirty="0">
                          <a:solidFill>
                            <a:srgbClr val="00B0F0"/>
                          </a:solidFill>
                          <a:effectLst/>
                          <a:latin typeface="思源黑体" panose="020B0500000000000000" pitchFamily="34" charset="-122"/>
                          <a:ea typeface="思源黑体" panose="020B0500000000000000" pitchFamily="34" charset="-122"/>
                        </a:rPr>
                        <a:t>　</a:t>
                      </a:r>
                    </a:p>
                  </a:txBody>
                  <a:tcPr marL="8917" marR="8917" marT="8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80365">
                <a:tc>
                  <a:txBody>
                    <a:bodyPr/>
                    <a:lstStyle/>
                    <a:p>
                      <a:pPr algn="ctr" fontAlgn="ctr"/>
                      <a:endParaRPr lang="en-US" sz="1400" b="0" i="1" u="none" strike="noStrike" dirty="0">
                        <a:solidFill>
                          <a:srgbClr val="00B0F0"/>
                        </a:solidFill>
                        <a:effectLst/>
                        <a:latin typeface="思源黑体" panose="020B0500000000000000" pitchFamily="34" charset="-122"/>
                        <a:ea typeface="思源黑体" panose="020B0500000000000000" pitchFamily="34" charset="-122"/>
                      </a:endParaRPr>
                    </a:p>
                  </a:txBody>
                  <a:tcPr marL="8917" marR="8917" marT="8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400" b="0" i="1" u="none" strike="noStrike" dirty="0">
                        <a:solidFill>
                          <a:srgbClr val="00B0F0"/>
                        </a:solidFill>
                        <a:effectLst/>
                        <a:latin typeface="思源黑体" panose="020B0500000000000000" pitchFamily="34" charset="-122"/>
                        <a:ea typeface="思源黑体" panose="020B0500000000000000" pitchFamily="34" charset="-122"/>
                      </a:endParaRPr>
                    </a:p>
                  </a:txBody>
                  <a:tcPr marL="8917" marR="8917" marT="8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400" b="0" i="1" u="none" strike="noStrike" dirty="0">
                        <a:solidFill>
                          <a:srgbClr val="00B0F0"/>
                        </a:solidFill>
                        <a:effectLst/>
                        <a:latin typeface="思源黑体" panose="020B0500000000000000" pitchFamily="34" charset="-122"/>
                        <a:ea typeface="思源黑体" panose="020B0500000000000000" pitchFamily="34" charset="-122"/>
                      </a:endParaRPr>
                    </a:p>
                  </a:txBody>
                  <a:tcPr marL="8917" marR="8917" marT="8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400" b="0" i="1" u="none" strike="noStrike" dirty="0">
                        <a:solidFill>
                          <a:srgbClr val="00B0F0"/>
                        </a:solidFill>
                        <a:effectLst/>
                        <a:latin typeface="思源黑体" panose="020B0500000000000000" pitchFamily="34" charset="-122"/>
                        <a:ea typeface="思源黑体" panose="020B0500000000000000" pitchFamily="34" charset="-122"/>
                      </a:endParaRPr>
                    </a:p>
                  </a:txBody>
                  <a:tcPr marL="8917" marR="8917" marT="8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81000">
                <a:tc>
                  <a:txBody>
                    <a:bodyPr/>
                    <a:lstStyle/>
                    <a:p>
                      <a:pPr algn="ctr" fontAlgn="ctr"/>
                      <a:r>
                        <a:rPr lang="zh-CN" altLang="en-US" sz="1400" b="0" i="0" u="none" strike="noStrike">
                          <a:solidFill>
                            <a:srgbClr val="000000"/>
                          </a:solidFill>
                          <a:effectLst/>
                          <a:latin typeface="思源黑体" panose="020B0500000000000000" pitchFamily="34" charset="-122"/>
                          <a:ea typeface="思源黑体" panose="020B0500000000000000" pitchFamily="34" charset="-122"/>
                        </a:rPr>
                        <a:t>　</a:t>
                      </a:r>
                    </a:p>
                  </a:txBody>
                  <a:tcPr marL="8917" marR="8917" marT="8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a:solidFill>
                            <a:srgbClr val="000000"/>
                          </a:solidFill>
                          <a:effectLst/>
                          <a:latin typeface="思源黑体" panose="020B0500000000000000" pitchFamily="34" charset="-122"/>
                          <a:ea typeface="思源黑体" panose="020B0500000000000000" pitchFamily="34" charset="-122"/>
                        </a:rPr>
                        <a:t>　</a:t>
                      </a:r>
                    </a:p>
                  </a:txBody>
                  <a:tcPr marL="8917" marR="8917" marT="8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a:solidFill>
                            <a:srgbClr val="000000"/>
                          </a:solidFill>
                          <a:effectLst/>
                          <a:latin typeface="思源黑体" panose="020B0500000000000000" pitchFamily="34" charset="-122"/>
                          <a:ea typeface="思源黑体" panose="020B0500000000000000" pitchFamily="34" charset="-122"/>
                        </a:rPr>
                        <a:t>　</a:t>
                      </a:r>
                    </a:p>
                  </a:txBody>
                  <a:tcPr marL="8917" marR="8917" marT="8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a:solidFill>
                            <a:srgbClr val="000000"/>
                          </a:solidFill>
                          <a:effectLst/>
                          <a:latin typeface="思源黑体" panose="020B0500000000000000" pitchFamily="34" charset="-122"/>
                          <a:ea typeface="思源黑体" panose="020B0500000000000000" pitchFamily="34" charset="-122"/>
                        </a:rPr>
                        <a:t>　</a:t>
                      </a:r>
                    </a:p>
                  </a:txBody>
                  <a:tcPr marL="8917" marR="8917" marT="8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79730">
                <a:tc>
                  <a:txBody>
                    <a:bodyPr/>
                    <a:lstStyle/>
                    <a:p>
                      <a:pPr algn="ctr" fontAlgn="ctr"/>
                      <a:r>
                        <a:rPr lang="zh-CN" altLang="en-US" sz="1400" b="0" i="0" u="none" strike="noStrike">
                          <a:solidFill>
                            <a:srgbClr val="000000"/>
                          </a:solidFill>
                          <a:effectLst/>
                          <a:latin typeface="思源黑体" panose="020B0500000000000000" pitchFamily="34" charset="-122"/>
                          <a:ea typeface="思源黑体" panose="020B0500000000000000" pitchFamily="34" charset="-122"/>
                        </a:rPr>
                        <a:t>　</a:t>
                      </a:r>
                    </a:p>
                  </a:txBody>
                  <a:tcPr marL="8917" marR="8917" marT="8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a:solidFill>
                            <a:srgbClr val="000000"/>
                          </a:solidFill>
                          <a:effectLst/>
                          <a:latin typeface="思源黑体" panose="020B0500000000000000" pitchFamily="34" charset="-122"/>
                          <a:ea typeface="思源黑体" panose="020B0500000000000000" pitchFamily="34" charset="-122"/>
                        </a:rPr>
                        <a:t>　</a:t>
                      </a:r>
                    </a:p>
                  </a:txBody>
                  <a:tcPr marL="8917" marR="8917" marT="8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a:solidFill>
                            <a:srgbClr val="000000"/>
                          </a:solidFill>
                          <a:effectLst/>
                          <a:latin typeface="思源黑体" panose="020B0500000000000000" pitchFamily="34" charset="-122"/>
                          <a:ea typeface="思源黑体" panose="020B0500000000000000" pitchFamily="34" charset="-122"/>
                        </a:rPr>
                        <a:t>　</a:t>
                      </a:r>
                    </a:p>
                  </a:txBody>
                  <a:tcPr marL="8917" marR="8917" marT="8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思源黑体" panose="020B0500000000000000" pitchFamily="34" charset="-122"/>
                          <a:ea typeface="思源黑体" panose="020B0500000000000000" pitchFamily="34" charset="-122"/>
                        </a:rPr>
                        <a:t>　</a:t>
                      </a:r>
                    </a:p>
                  </a:txBody>
                  <a:tcPr marL="8917" marR="8917" marT="8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80365">
                <a:tc>
                  <a:txBody>
                    <a:bodyPr/>
                    <a:lstStyle/>
                    <a:p>
                      <a:pPr algn="ctr" fontAlgn="ctr"/>
                      <a:r>
                        <a:rPr lang="zh-CN" altLang="en-US" sz="1400" b="0" i="0" u="none" strike="noStrike">
                          <a:solidFill>
                            <a:srgbClr val="000000"/>
                          </a:solidFill>
                          <a:effectLst/>
                          <a:latin typeface="思源黑体" panose="020B0500000000000000" pitchFamily="34" charset="-122"/>
                          <a:ea typeface="思源黑体" panose="020B0500000000000000" pitchFamily="34" charset="-122"/>
                        </a:rPr>
                        <a:t>　</a:t>
                      </a:r>
                    </a:p>
                  </a:txBody>
                  <a:tcPr marL="8917" marR="8917" marT="8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a:solidFill>
                            <a:srgbClr val="000000"/>
                          </a:solidFill>
                          <a:effectLst/>
                          <a:latin typeface="思源黑体" panose="020B0500000000000000" pitchFamily="34" charset="-122"/>
                          <a:ea typeface="思源黑体" panose="020B0500000000000000" pitchFamily="34" charset="-122"/>
                        </a:rPr>
                        <a:t>　</a:t>
                      </a:r>
                    </a:p>
                  </a:txBody>
                  <a:tcPr marL="8917" marR="8917" marT="8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a:solidFill>
                            <a:srgbClr val="000000"/>
                          </a:solidFill>
                          <a:effectLst/>
                          <a:latin typeface="思源黑体" panose="020B0500000000000000" pitchFamily="34" charset="-122"/>
                          <a:ea typeface="思源黑体" panose="020B0500000000000000" pitchFamily="34" charset="-122"/>
                        </a:rPr>
                        <a:t>　</a:t>
                      </a:r>
                    </a:p>
                  </a:txBody>
                  <a:tcPr marL="8917" marR="8917" marT="8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思源黑体" panose="020B0500000000000000" pitchFamily="34" charset="-122"/>
                          <a:ea typeface="思源黑体" panose="020B0500000000000000" pitchFamily="34" charset="-122"/>
                        </a:rPr>
                        <a:t>　</a:t>
                      </a:r>
                    </a:p>
                  </a:txBody>
                  <a:tcPr marL="8917" marR="8917" marT="8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81000">
                <a:tc>
                  <a:txBody>
                    <a:bodyPr/>
                    <a:lstStyle/>
                    <a:p>
                      <a:pPr algn="ctr" fontAlgn="ctr"/>
                      <a:r>
                        <a:rPr lang="zh-CN" altLang="en-US" sz="1400" b="0" i="0" u="none" strike="noStrike">
                          <a:solidFill>
                            <a:srgbClr val="000000"/>
                          </a:solidFill>
                          <a:effectLst/>
                          <a:latin typeface="思源黑体" panose="020B0500000000000000" pitchFamily="34" charset="-122"/>
                          <a:ea typeface="思源黑体" panose="020B0500000000000000" pitchFamily="34" charset="-122"/>
                        </a:rPr>
                        <a:t>　</a:t>
                      </a:r>
                    </a:p>
                  </a:txBody>
                  <a:tcPr marL="8917" marR="8917" marT="8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a:solidFill>
                            <a:srgbClr val="000000"/>
                          </a:solidFill>
                          <a:effectLst/>
                          <a:latin typeface="思源黑体" panose="020B0500000000000000" pitchFamily="34" charset="-122"/>
                          <a:ea typeface="思源黑体" panose="020B0500000000000000" pitchFamily="34" charset="-122"/>
                        </a:rPr>
                        <a:t>　</a:t>
                      </a:r>
                    </a:p>
                  </a:txBody>
                  <a:tcPr marL="8917" marR="8917" marT="8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a:solidFill>
                            <a:srgbClr val="000000"/>
                          </a:solidFill>
                          <a:effectLst/>
                          <a:latin typeface="思源黑体" panose="020B0500000000000000" pitchFamily="34" charset="-122"/>
                          <a:ea typeface="思源黑体" panose="020B0500000000000000" pitchFamily="34" charset="-122"/>
                        </a:rPr>
                        <a:t>　</a:t>
                      </a:r>
                    </a:p>
                  </a:txBody>
                  <a:tcPr marL="8917" marR="8917" marT="8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a:solidFill>
                            <a:srgbClr val="000000"/>
                          </a:solidFill>
                          <a:effectLst/>
                          <a:latin typeface="思源黑体" panose="020B0500000000000000" pitchFamily="34" charset="-122"/>
                          <a:ea typeface="思源黑体" panose="020B0500000000000000" pitchFamily="34" charset="-122"/>
                        </a:rPr>
                        <a:t>　</a:t>
                      </a:r>
                    </a:p>
                  </a:txBody>
                  <a:tcPr marL="8917" marR="8917" marT="8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81000">
                <a:tc>
                  <a:txBody>
                    <a:bodyPr/>
                    <a:lstStyle/>
                    <a:p>
                      <a:pPr algn="ctr" fontAlgn="ctr"/>
                      <a:r>
                        <a:rPr lang="zh-CN" altLang="en-US" sz="1400" b="0" i="0" u="none" strike="noStrike">
                          <a:solidFill>
                            <a:srgbClr val="000000"/>
                          </a:solidFill>
                          <a:effectLst/>
                          <a:latin typeface="思源黑体" panose="020B0500000000000000" pitchFamily="34" charset="-122"/>
                          <a:ea typeface="思源黑体" panose="020B0500000000000000" pitchFamily="34" charset="-122"/>
                        </a:rPr>
                        <a:t>　</a:t>
                      </a:r>
                    </a:p>
                  </a:txBody>
                  <a:tcPr marL="8917" marR="8917" marT="8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a:solidFill>
                            <a:srgbClr val="000000"/>
                          </a:solidFill>
                          <a:effectLst/>
                          <a:latin typeface="思源黑体" panose="020B0500000000000000" pitchFamily="34" charset="-122"/>
                          <a:ea typeface="思源黑体" panose="020B0500000000000000" pitchFamily="34" charset="-122"/>
                        </a:rPr>
                        <a:t>　</a:t>
                      </a:r>
                    </a:p>
                  </a:txBody>
                  <a:tcPr marL="8917" marR="8917" marT="8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a:solidFill>
                            <a:srgbClr val="000000"/>
                          </a:solidFill>
                          <a:effectLst/>
                          <a:latin typeface="思源黑体" panose="020B0500000000000000" pitchFamily="34" charset="-122"/>
                          <a:ea typeface="思源黑体" panose="020B0500000000000000" pitchFamily="34" charset="-122"/>
                        </a:rPr>
                        <a:t>　</a:t>
                      </a:r>
                    </a:p>
                  </a:txBody>
                  <a:tcPr marL="8917" marR="8917" marT="8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思源黑体" panose="020B0500000000000000" pitchFamily="34" charset="-122"/>
                          <a:ea typeface="思源黑体" panose="020B0500000000000000" pitchFamily="34" charset="-122"/>
                        </a:rPr>
                        <a:t>　</a:t>
                      </a:r>
                    </a:p>
                  </a:txBody>
                  <a:tcPr marL="8917" marR="8917" marT="8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mc:AlternateContent xmlns:mc="http://schemas.openxmlformats.org/markup-compatibility/2006">
    <mc:Choice xmlns=""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14:presetBounceEnd="36000">
                                      <p:stCondLst>
                                        <p:cond delay="500"/>
                                      </p:stCondLst>
                                      <p:childTnLst>
                                        <p:set>
                                          <p:cBhvr>
                                            <p:cTn id="6" dur="1" fill="hold">
                                              <p:stCondLst>
                                                <p:cond delay="0"/>
                                              </p:stCondLst>
                                            </p:cTn>
                                            <p:tgtEl>
                                              <p:spTgt spid="33"/>
                                            </p:tgtEl>
                                            <p:attrNameLst>
                                              <p:attrName>style.visibility</p:attrName>
                                            </p:attrNameLst>
                                          </p:cBhvr>
                                          <p:to>
                                            <p:strVal val="visible"/>
                                          </p:to>
                                        </p:set>
                                        <p:anim calcmode="lin" valueType="num" p14:bounceEnd="36000">
                                          <p:cBhvr additive="base">
                                            <p:cTn id="7" dur="500" fill="hold"/>
                                            <p:tgtEl>
                                              <p:spTgt spid="33"/>
                                            </p:tgtEl>
                                            <p:attrNameLst>
                                              <p:attrName>ppt_x</p:attrName>
                                            </p:attrNameLst>
                                          </p:cBhvr>
                                          <p:tavLst>
                                            <p:tav tm="0">
                                              <p:val>
                                                <p:strVal val="#ppt_x"/>
                                              </p:val>
                                            </p:tav>
                                            <p:tav tm="100000">
                                              <p:val>
                                                <p:strVal val="#ppt_x"/>
                                              </p:val>
                                            </p:tav>
                                          </p:tavLst>
                                        </p:anim>
                                        <p:anim calcmode="lin" valueType="num" p14:bounceEnd="36000">
                                          <p:cBhvr additive="base">
                                            <p:cTn id="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50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43124" y="591922"/>
            <a:ext cx="5767629" cy="5909310"/>
          </a:xfrm>
          <a:prstGeom prst="rect">
            <a:avLst/>
          </a:prstGeom>
          <a:noFill/>
        </p:spPr>
        <p:txBody>
          <a:bodyPr wrap="square" rtlCol="0">
            <a:spAutoFit/>
          </a:bodyPr>
          <a:lstStyle/>
          <a:p>
            <a:endParaRPr lang="en-US" altLang="zh-CN" sz="3200" b="1" dirty="0" smtClean="0">
              <a:solidFill>
                <a:schemeClr val="accent5">
                  <a:lumMod val="50000"/>
                </a:schemeClr>
              </a:solidFill>
              <a:latin typeface="黑体" panose="02010609060101010101" charset="-122"/>
              <a:ea typeface="黑体" panose="02010609060101010101" charset="-122"/>
            </a:endParaRPr>
          </a:p>
          <a:p>
            <a:r>
              <a:rPr lang="zh-CN" altLang="en-US" sz="3200" b="1" dirty="0" smtClean="0">
                <a:latin typeface="思源黑体" panose="020B0500000000000000" pitchFamily="34" charset="-122"/>
                <a:ea typeface="思源黑体" panose="020B0500000000000000" pitchFamily="34" charset="-122"/>
              </a:rPr>
              <a:t> 糜斌</a:t>
            </a:r>
            <a:r>
              <a:rPr lang="zh-CN" altLang="en-US" sz="3200" b="1" dirty="0" smtClean="0">
                <a:latin typeface="思源黑体" panose="020B0500000000000000" pitchFamily="34" charset="-122"/>
                <a:ea typeface="黑体" panose="02010609060101010101" charset="-122"/>
              </a:rPr>
              <a:t>     </a:t>
            </a:r>
            <a:r>
              <a:rPr lang="zh-CN" altLang="en-US" b="1" dirty="0" smtClean="0">
                <a:latin typeface="思源黑体" panose="020B0500000000000000" pitchFamily="34" charset="-122"/>
                <a:ea typeface="思源黑体" panose="020B0500000000000000" pitchFamily="34" charset="-122"/>
              </a:rPr>
              <a:t>中间件工程师</a:t>
            </a:r>
            <a:endParaRPr lang="en-US" altLang="zh-CN" sz="2400" b="1" dirty="0" smtClean="0">
              <a:solidFill>
                <a:schemeClr val="accent5">
                  <a:lumMod val="50000"/>
                </a:schemeClr>
              </a:solidFill>
              <a:latin typeface="思源黑体" panose="020B0500000000000000" pitchFamily="34" charset="-122"/>
              <a:ea typeface="思源黑体" panose="020B0500000000000000" pitchFamily="34" charset="-122"/>
            </a:endParaRPr>
          </a:p>
          <a:p>
            <a:r>
              <a:rPr lang="en-US" altLang="zh-CN" sz="2000" b="1" dirty="0" smtClean="0">
                <a:solidFill>
                  <a:schemeClr val="accent5">
                    <a:lumMod val="50000"/>
                  </a:schemeClr>
                </a:solidFill>
                <a:latin typeface="思源黑体" panose="020B0500000000000000" pitchFamily="34" charset="-122"/>
                <a:ea typeface="思源黑体" panose="020B0500000000000000" pitchFamily="34" charset="-122"/>
              </a:rPr>
              <a:t> </a:t>
            </a:r>
          </a:p>
          <a:p>
            <a:r>
              <a:rPr lang="zh-CN" altLang="en-US" sz="2000" b="1" dirty="0" smtClean="0">
                <a:solidFill>
                  <a:schemeClr val="accent5">
                    <a:lumMod val="50000"/>
                  </a:schemeClr>
                </a:solidFill>
                <a:latin typeface="思源黑体" panose="020B0500000000000000" pitchFamily="34" charset="-122"/>
                <a:ea typeface="思源黑体" panose="020B0500000000000000" pitchFamily="34" charset="-122"/>
              </a:rPr>
              <a:t>个人介绍：</a:t>
            </a:r>
            <a:endParaRPr lang="en-US" altLang="zh-CN" sz="2000" b="1" dirty="0" smtClean="0">
              <a:solidFill>
                <a:schemeClr val="accent5">
                  <a:lumMod val="50000"/>
                </a:schemeClr>
              </a:solidFill>
              <a:latin typeface="思源黑体" panose="020B0500000000000000" pitchFamily="34" charset="-122"/>
              <a:ea typeface="思源黑体" panose="020B0500000000000000" pitchFamily="34" charset="-122"/>
            </a:endParaRPr>
          </a:p>
          <a:p>
            <a:pPr>
              <a:lnSpc>
                <a:spcPct val="150000"/>
              </a:lnSpc>
            </a:pPr>
            <a:r>
              <a:rPr lang="zh-CN" altLang="en-US" sz="1400" dirty="0" smtClean="0">
                <a:latin typeface="思源黑体" panose="020B0500000000000000" pitchFamily="34" charset="-122"/>
                <a:ea typeface="思源黑体" panose="020B0500000000000000" pitchFamily="34" charset="-122"/>
              </a:rPr>
              <a:t>毕业于华东船舶工业学院，学士学位。领域方向：计算机及应用</a:t>
            </a:r>
            <a:endParaRPr lang="en-US" altLang="zh-CN" sz="1400" dirty="0" smtClean="0">
              <a:latin typeface="思源黑体" panose="020B0500000000000000" pitchFamily="34" charset="-122"/>
              <a:ea typeface="思源黑体" panose="020B0500000000000000" pitchFamily="34" charset="-122"/>
            </a:endParaRPr>
          </a:p>
          <a:p>
            <a:pPr>
              <a:lnSpc>
                <a:spcPct val="150000"/>
              </a:lnSpc>
            </a:pPr>
            <a:r>
              <a:rPr lang="zh-CN" altLang="en-US" sz="1400" dirty="0" smtClean="0">
                <a:latin typeface="思源黑体" panose="020B0500000000000000" pitchFamily="34" charset="-122"/>
                <a:ea typeface="思源黑体" panose="020B0500000000000000" pitchFamily="34" charset="-122"/>
              </a:rPr>
              <a:t>高级程序员，系统分析师，高级工程师。</a:t>
            </a:r>
            <a:endParaRPr lang="en-US" altLang="zh-CN" sz="2000" dirty="0" smtClean="0">
              <a:latin typeface="思源黑体" panose="020B0500000000000000" pitchFamily="34" charset="-122"/>
              <a:ea typeface="思源黑体" panose="020B0500000000000000" pitchFamily="34" charset="-122"/>
            </a:endParaRPr>
          </a:p>
          <a:p>
            <a:endParaRPr lang="en-US" altLang="zh-CN" sz="2000" b="1" dirty="0" smtClean="0">
              <a:solidFill>
                <a:schemeClr val="accent5">
                  <a:lumMod val="50000"/>
                </a:schemeClr>
              </a:solidFill>
              <a:latin typeface="思源黑体" panose="020B0500000000000000" pitchFamily="34" charset="-122"/>
              <a:ea typeface="思源黑体" panose="020B0500000000000000" pitchFamily="34" charset="-122"/>
            </a:endParaRPr>
          </a:p>
          <a:p>
            <a:r>
              <a:rPr lang="zh-CN" altLang="en-US" sz="2000" b="1" dirty="0" smtClean="0">
                <a:solidFill>
                  <a:schemeClr val="accent5">
                    <a:lumMod val="50000"/>
                  </a:schemeClr>
                </a:solidFill>
                <a:latin typeface="思源黑体" panose="020B0500000000000000" pitchFamily="34" charset="-122"/>
                <a:ea typeface="思源黑体" panose="020B0500000000000000" pitchFamily="34" charset="-122"/>
              </a:rPr>
              <a:t>擅长领域：</a:t>
            </a:r>
            <a:endParaRPr lang="en-US" altLang="zh-CN" sz="2000" b="1" dirty="0" smtClean="0">
              <a:solidFill>
                <a:schemeClr val="accent5">
                  <a:lumMod val="50000"/>
                </a:schemeClr>
              </a:solidFill>
              <a:latin typeface="思源黑体" panose="020B0500000000000000" pitchFamily="34" charset="-122"/>
              <a:ea typeface="思源黑体" panose="020B0500000000000000" pitchFamily="34" charset="-122"/>
            </a:endParaRPr>
          </a:p>
          <a:p>
            <a:pPr>
              <a:lnSpc>
                <a:spcPct val="150000"/>
              </a:lnSpc>
            </a:pPr>
            <a:r>
              <a:rPr lang="zh-CN" altLang="zh-CN" sz="1400" b="1" dirty="0" smtClean="0">
                <a:latin typeface="思源黑体" panose="020B0500000000000000" pitchFamily="34" charset="-122"/>
                <a:ea typeface="思源黑体" panose="020B0500000000000000" pitchFamily="34" charset="-122"/>
              </a:rPr>
              <a:t>•</a:t>
            </a:r>
            <a:r>
              <a:rPr lang="zh-CN" altLang="en-US" sz="1400" b="1" dirty="0" smtClean="0">
                <a:latin typeface="思源黑体" panose="020B0500000000000000" pitchFamily="34" charset="-122"/>
                <a:ea typeface="思源黑体" panose="020B0500000000000000" pitchFamily="34" charset="-122"/>
              </a:rPr>
              <a:t>车载以太网</a:t>
            </a:r>
            <a:endParaRPr lang="en-US" altLang="zh-CN" sz="1400" dirty="0" smtClean="0">
              <a:latin typeface="思源黑体" panose="020B0500000000000000" pitchFamily="34" charset="-122"/>
              <a:ea typeface="思源黑体" panose="020B0500000000000000" pitchFamily="34" charset="-122"/>
            </a:endParaRPr>
          </a:p>
          <a:p>
            <a:pPr>
              <a:lnSpc>
                <a:spcPct val="150000"/>
              </a:lnSpc>
            </a:pPr>
            <a:r>
              <a:rPr lang="zh-CN" altLang="zh-CN" sz="1400" b="1" dirty="0" smtClean="0">
                <a:latin typeface="思源黑体" panose="020B0500000000000000" pitchFamily="34" charset="-122"/>
                <a:ea typeface="思源黑体" panose="020B0500000000000000" pitchFamily="34" charset="-122"/>
              </a:rPr>
              <a:t>•</a:t>
            </a:r>
            <a:r>
              <a:rPr lang="zh-CN" altLang="en-US" sz="1400" b="1" dirty="0" smtClean="0">
                <a:latin typeface="思源黑体" panose="020B0500000000000000" pitchFamily="34" charset="-122"/>
                <a:ea typeface="思源黑体" panose="020B0500000000000000" pitchFamily="34" charset="-122"/>
              </a:rPr>
              <a:t>报文</a:t>
            </a:r>
            <a:r>
              <a:rPr lang="en-US" altLang="zh-CN" sz="1400" b="1" dirty="0" smtClean="0">
                <a:latin typeface="思源黑体" panose="020B0500000000000000" pitchFamily="34" charset="-122"/>
                <a:ea typeface="思源黑体" panose="020B0500000000000000" pitchFamily="34" charset="-122"/>
              </a:rPr>
              <a:t>/</a:t>
            </a:r>
            <a:r>
              <a:rPr lang="zh-CN" altLang="en-US" sz="1400" b="1" dirty="0" smtClean="0">
                <a:latin typeface="思源黑体" panose="020B0500000000000000" pitchFamily="34" charset="-122"/>
                <a:ea typeface="思源黑体" panose="020B0500000000000000" pitchFamily="34" charset="-122"/>
              </a:rPr>
              <a:t>协议分析</a:t>
            </a:r>
            <a:endParaRPr lang="en-US" altLang="zh-CN" sz="1400" dirty="0" smtClean="0">
              <a:latin typeface="思源黑体" panose="020B0500000000000000" pitchFamily="34" charset="-122"/>
              <a:ea typeface="思源黑体" panose="020B0500000000000000" pitchFamily="34" charset="-122"/>
            </a:endParaRPr>
          </a:p>
          <a:p>
            <a:pPr>
              <a:lnSpc>
                <a:spcPct val="150000"/>
              </a:lnSpc>
            </a:pPr>
            <a:r>
              <a:rPr lang="zh-CN" altLang="zh-CN" sz="1400" b="1" dirty="0" smtClean="0">
                <a:latin typeface="思源黑体" panose="020B0500000000000000" pitchFamily="34" charset="-122"/>
                <a:ea typeface="思源黑体" panose="020B0500000000000000" pitchFamily="34" charset="-122"/>
              </a:rPr>
              <a:t>•</a:t>
            </a:r>
            <a:r>
              <a:rPr lang="zh-CN" altLang="en-US" sz="1400" b="1" dirty="0" smtClean="0">
                <a:latin typeface="思源黑体" panose="020B0500000000000000" pitchFamily="34" charset="-122"/>
                <a:ea typeface="思源黑体" panose="020B0500000000000000" pitchFamily="34" charset="-122"/>
              </a:rPr>
              <a:t>信号分析处理</a:t>
            </a:r>
            <a:endParaRPr lang="en-US" altLang="zh-CN" sz="1400" dirty="0" smtClean="0">
              <a:latin typeface="思源黑体" panose="020B0500000000000000" pitchFamily="34" charset="-122"/>
              <a:ea typeface="思源黑体" panose="020B0500000000000000" pitchFamily="34" charset="-122"/>
            </a:endParaRPr>
          </a:p>
          <a:p>
            <a:pPr>
              <a:lnSpc>
                <a:spcPct val="150000"/>
              </a:lnSpc>
            </a:pPr>
            <a:r>
              <a:rPr lang="zh-CN" altLang="zh-CN" sz="1400" b="1" dirty="0" smtClean="0">
                <a:latin typeface="思源黑体" panose="020B0500000000000000" pitchFamily="34" charset="-122"/>
                <a:ea typeface="思源黑体" panose="020B0500000000000000" pitchFamily="34" charset="-122"/>
              </a:rPr>
              <a:t>•</a:t>
            </a:r>
            <a:r>
              <a:rPr lang="zh-CN" altLang="en-US" sz="1400" b="1" dirty="0" smtClean="0">
                <a:latin typeface="思源黑体" panose="020B0500000000000000" pitchFamily="34" charset="-122"/>
                <a:ea typeface="思源黑体" panose="020B0500000000000000" pitchFamily="34" charset="-122"/>
              </a:rPr>
              <a:t>日产以太网测试规范</a:t>
            </a:r>
            <a:endParaRPr lang="en-US" altLang="zh-CN" sz="1400" dirty="0"/>
          </a:p>
          <a:p>
            <a:pPr>
              <a:lnSpc>
                <a:spcPct val="150000"/>
              </a:lnSpc>
            </a:pPr>
            <a:endParaRPr lang="en-US" altLang="zh-CN" dirty="0" smtClean="0"/>
          </a:p>
          <a:p>
            <a:pPr>
              <a:lnSpc>
                <a:spcPct val="150000"/>
              </a:lnSpc>
            </a:pPr>
            <a:endParaRPr lang="en-US" altLang="zh-CN" dirty="0" smtClean="0"/>
          </a:p>
          <a:p>
            <a:endParaRPr lang="en-US" altLang="zh-CN" dirty="0" smtClean="0"/>
          </a:p>
          <a:p>
            <a:endParaRPr lang="en-US" altLang="zh-CN" dirty="0"/>
          </a:p>
          <a:p>
            <a:endParaRPr lang="zh-CN" altLang="en-US" dirty="0"/>
          </a:p>
        </p:txBody>
      </p:sp>
      <p:sp>
        <p:nvSpPr>
          <p:cNvPr id="7" name="矩形 6"/>
          <p:cNvSpPr/>
          <p:nvPr/>
        </p:nvSpPr>
        <p:spPr>
          <a:xfrm>
            <a:off x="7852168" y="1368924"/>
            <a:ext cx="3127956" cy="39018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smtClean="0">
                <a:solidFill>
                  <a:schemeClr val="bg1"/>
                </a:solidFill>
                <a:latin typeface="思源黑体" panose="020B0500000000000000" pitchFamily="34" charset="-122"/>
                <a:ea typeface="思源黑体" panose="020B0500000000000000" pitchFamily="34" charset="-122"/>
              </a:rPr>
              <a:t>        </a:t>
            </a:r>
            <a:r>
              <a:rPr lang="zh-CN" altLang="en-US" sz="2400" b="1" dirty="0" smtClean="0">
                <a:solidFill>
                  <a:schemeClr val="bg1"/>
                </a:solidFill>
                <a:latin typeface="思源黑体" panose="020B0500000000000000" pitchFamily="34" charset="-122"/>
                <a:ea typeface="思源黑体" panose="020B0500000000000000" pitchFamily="34" charset="-122"/>
              </a:rPr>
              <a:t>讲师形象照</a:t>
            </a:r>
            <a:endParaRPr lang="zh-CN" altLang="en-US" sz="2400" b="1" dirty="0">
              <a:solidFill>
                <a:schemeClr val="bg1"/>
              </a:solidFill>
              <a:latin typeface="思源黑体" panose="020B0500000000000000" pitchFamily="34" charset="-122"/>
              <a:ea typeface="思源黑体" panose="020B0500000000000000" pitchFamily="34" charset="-122"/>
            </a:endParaRPr>
          </a:p>
        </p:txBody>
      </p:sp>
      <p:cxnSp>
        <p:nvCxnSpPr>
          <p:cNvPr id="10" name="直接连接符 9"/>
          <p:cNvCxnSpPr/>
          <p:nvPr/>
        </p:nvCxnSpPr>
        <p:spPr>
          <a:xfrm flipV="1">
            <a:off x="1282148" y="1693344"/>
            <a:ext cx="1113182" cy="13252"/>
          </a:xfrm>
          <a:prstGeom prst="line">
            <a:avLst/>
          </a:prstGeom>
          <a:ln w="381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2379596" y="1699970"/>
            <a:ext cx="2509631" cy="9938"/>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340640" y="272809"/>
            <a:ext cx="2054690" cy="646331"/>
          </a:xfrm>
          <a:prstGeom prst="rect">
            <a:avLst/>
          </a:prstGeom>
          <a:noFill/>
        </p:spPr>
        <p:txBody>
          <a:bodyPr wrap="square" lIns="91440" tIns="45720" rIns="91440" bIns="45720">
            <a:spAutoFit/>
          </a:bodyPr>
          <a:lstStyle/>
          <a:p>
            <a:pPr algn="ctr"/>
            <a:r>
              <a:rPr lang="zh-CN" altLang="en-US" sz="3600" b="1" cap="none" spc="0" dirty="0" smtClean="0">
                <a:ln w="9525">
                  <a:noFill/>
                  <a:prstDash val="solid"/>
                </a:ln>
                <a:solidFill>
                  <a:schemeClr val="accent5">
                    <a:lumMod val="75000"/>
                  </a:schemeClr>
                </a:solidFill>
                <a:latin typeface="思源黑体" panose="020B0500000000000000" pitchFamily="34" charset="-122"/>
                <a:ea typeface="思源黑体" panose="020B0500000000000000" pitchFamily="34" charset="-122"/>
              </a:rPr>
              <a:t>讲师简介</a:t>
            </a:r>
            <a:endParaRPr lang="zh-CN" altLang="en-US" sz="3600" b="1" cap="none" spc="0" dirty="0">
              <a:ln w="9525">
                <a:noFill/>
                <a:prstDash val="solid"/>
              </a:ln>
              <a:solidFill>
                <a:schemeClr val="accent5">
                  <a:lumMod val="75000"/>
                </a:schemeClr>
              </a:solidFill>
              <a:latin typeface="思源黑体" panose="020B0500000000000000" pitchFamily="34" charset="-122"/>
              <a:ea typeface="思源黑体" panose="020B0500000000000000" pitchFamily="34" charset="-122"/>
            </a:endParaRPr>
          </a:p>
        </p:txBody>
      </p:sp>
      <p:pic>
        <p:nvPicPr>
          <p:cNvPr id="31745" name="Picture 1" descr="D:\MB\MY\糜斌_中央研究院_基础软件一部.jpg"/>
          <p:cNvPicPr>
            <a:picLocks noChangeAspect="1" noChangeArrowheads="1"/>
          </p:cNvPicPr>
          <p:nvPr/>
        </p:nvPicPr>
        <p:blipFill>
          <a:blip r:embed="rId2" cstate="print"/>
          <a:srcRect/>
          <a:stretch>
            <a:fillRect/>
          </a:stretch>
        </p:blipFill>
        <p:spPr bwMode="auto">
          <a:xfrm>
            <a:off x="8049126" y="1380792"/>
            <a:ext cx="2779294" cy="3896396"/>
          </a:xfrm>
          <a:prstGeom prst="rect">
            <a:avLst/>
          </a:prstGeom>
          <a:noFill/>
        </p:spPr>
      </p:pic>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340640" y="272809"/>
            <a:ext cx="2054690" cy="646331"/>
          </a:xfrm>
          <a:prstGeom prst="rect">
            <a:avLst/>
          </a:prstGeom>
          <a:noFill/>
        </p:spPr>
        <p:txBody>
          <a:bodyPr wrap="square" lIns="91440" tIns="45720" rIns="91440" bIns="45720">
            <a:spAutoFit/>
          </a:bodyPr>
          <a:lstStyle/>
          <a:p>
            <a:pPr algn="ctr"/>
            <a:r>
              <a:rPr lang="zh-CN" altLang="en-US" sz="3600" b="1" cap="none" spc="0" dirty="0" smtClean="0">
                <a:ln w="9525">
                  <a:noFill/>
                  <a:prstDash val="solid"/>
                </a:ln>
                <a:solidFill>
                  <a:schemeClr val="accent5">
                    <a:lumMod val="75000"/>
                  </a:schemeClr>
                </a:solidFill>
                <a:latin typeface="思源黑体" panose="020B0500000000000000" pitchFamily="34" charset="-122"/>
                <a:ea typeface="思源黑体" panose="020B0500000000000000" pitchFamily="34" charset="-122"/>
              </a:rPr>
              <a:t>课程介绍</a:t>
            </a:r>
            <a:endParaRPr lang="zh-CN" altLang="en-US" sz="3600" b="1" cap="none" spc="0" dirty="0">
              <a:ln w="9525">
                <a:noFill/>
                <a:prstDash val="solid"/>
              </a:ln>
              <a:solidFill>
                <a:schemeClr val="accent5">
                  <a:lumMod val="75000"/>
                </a:schemeClr>
              </a:solidFill>
              <a:latin typeface="思源黑体" panose="020B0500000000000000" pitchFamily="34" charset="-122"/>
              <a:ea typeface="思源黑体" panose="020B0500000000000000" pitchFamily="34" charset="-122"/>
            </a:endParaRPr>
          </a:p>
        </p:txBody>
      </p:sp>
      <p:sp>
        <p:nvSpPr>
          <p:cNvPr id="44" name="矩形 43"/>
          <p:cNvSpPr/>
          <p:nvPr/>
        </p:nvSpPr>
        <p:spPr>
          <a:xfrm>
            <a:off x="4327414" y="986722"/>
            <a:ext cx="3705487" cy="954079"/>
          </a:xfrm>
          <a:prstGeom prst="rect">
            <a:avLst/>
          </a:prstGeom>
        </p:spPr>
        <p:txBody>
          <a:bodyPr wrap="square" lIns="91413" tIns="45706" rIns="91413" bIns="45706">
            <a:spAutoFit/>
          </a:bodyPr>
          <a:lstStyle/>
          <a:p>
            <a:r>
              <a:rPr lang="en-US" altLang="zh-CN" sz="2800" dirty="0">
                <a:solidFill>
                  <a:schemeClr val="accent1">
                    <a:lumMod val="50000"/>
                  </a:schemeClr>
                </a:solidFill>
                <a:latin typeface="Impact" panose="020B0806030902050204" pitchFamily="34" charset="0"/>
                <a:ea typeface="思源黑体" panose="020B0500000000000000" pitchFamily="34" charset="-122"/>
                <a:cs typeface="+mn-ea"/>
              </a:rPr>
              <a:t>Course</a:t>
            </a:r>
            <a:r>
              <a:rPr lang="en-US" altLang="zh-CN" sz="2800" dirty="0">
                <a:solidFill>
                  <a:srgbClr val="0070C0"/>
                </a:solidFill>
                <a:latin typeface="Impact" panose="020B0806030902050204" pitchFamily="34" charset="0"/>
                <a:ea typeface="思源黑体" panose="020B0500000000000000" pitchFamily="34" charset="-122"/>
                <a:cs typeface="+mn-ea"/>
              </a:rPr>
              <a:t> </a:t>
            </a:r>
          </a:p>
          <a:p>
            <a:r>
              <a:rPr lang="en-US" altLang="zh-CN" sz="2800" dirty="0">
                <a:solidFill>
                  <a:srgbClr val="0070C0"/>
                </a:solidFill>
                <a:latin typeface="Impact" panose="020B0806030902050204" pitchFamily="34" charset="0"/>
                <a:ea typeface="思源黑体" panose="020B0500000000000000" pitchFamily="34" charset="-122"/>
                <a:cs typeface="+mn-ea"/>
              </a:rPr>
              <a:t>                    </a:t>
            </a:r>
            <a:r>
              <a:rPr lang="en-US" altLang="zh-CN" sz="2800" dirty="0" smtClean="0">
                <a:solidFill>
                  <a:srgbClr val="0070C0"/>
                </a:solidFill>
                <a:latin typeface="Impact" panose="020B0806030902050204" pitchFamily="34" charset="0"/>
                <a:ea typeface="思源黑体" panose="020B0500000000000000" pitchFamily="34" charset="-122"/>
                <a:cs typeface="+mn-ea"/>
              </a:rPr>
              <a:t>  </a:t>
            </a:r>
            <a:r>
              <a:rPr lang="en-US" altLang="zh-CN" sz="2800" dirty="0" smtClean="0">
                <a:solidFill>
                  <a:schemeClr val="accent1">
                    <a:lumMod val="50000"/>
                  </a:schemeClr>
                </a:solidFill>
                <a:latin typeface="Impact" panose="020B0806030902050204" pitchFamily="34" charset="0"/>
                <a:ea typeface="思源黑体" panose="020B0500000000000000" pitchFamily="34" charset="-122"/>
                <a:cs typeface="+mn-ea"/>
              </a:rPr>
              <a:t>introduction</a:t>
            </a:r>
            <a:endParaRPr lang="zh-CN" altLang="en-US" sz="2800" dirty="0">
              <a:solidFill>
                <a:schemeClr val="accent1">
                  <a:lumMod val="50000"/>
                </a:schemeClr>
              </a:solidFill>
              <a:latin typeface="Impact" panose="020B0806030902050204" pitchFamily="34" charset="0"/>
              <a:ea typeface="思源黑体" panose="020B0500000000000000" pitchFamily="34" charset="-122"/>
              <a:cs typeface="+mn-ea"/>
            </a:endParaRPr>
          </a:p>
        </p:txBody>
      </p:sp>
      <p:sp>
        <p:nvSpPr>
          <p:cNvPr id="45" name="矩形 44"/>
          <p:cNvSpPr/>
          <p:nvPr/>
        </p:nvSpPr>
        <p:spPr>
          <a:xfrm>
            <a:off x="4319796" y="1416978"/>
            <a:ext cx="1500677" cy="461637"/>
          </a:xfrm>
          <a:prstGeom prst="rect">
            <a:avLst/>
          </a:prstGeom>
        </p:spPr>
        <p:txBody>
          <a:bodyPr wrap="none" lIns="91413" tIns="45706" rIns="91413" bIns="45706">
            <a:spAutoFit/>
          </a:bodyPr>
          <a:lstStyle/>
          <a:p>
            <a:r>
              <a:rPr lang="zh-CN" altLang="en-US" sz="2400" b="1" dirty="0" smtClean="0">
                <a:solidFill>
                  <a:schemeClr val="tx1">
                    <a:lumMod val="65000"/>
                    <a:lumOff val="35000"/>
                  </a:schemeClr>
                </a:solidFill>
                <a:latin typeface="思源黑体" panose="020B0500000000000000" pitchFamily="34" charset="-122"/>
                <a:ea typeface="思源黑体" panose="020B0500000000000000" pitchFamily="34" charset="-122"/>
                <a:cs typeface="+mn-ea"/>
              </a:rPr>
              <a:t>课程介绍 </a:t>
            </a:r>
            <a:endParaRPr lang="zh-CN" altLang="en-US" sz="2400" b="1" dirty="0">
              <a:solidFill>
                <a:schemeClr val="tx1">
                  <a:lumMod val="65000"/>
                  <a:lumOff val="35000"/>
                </a:schemeClr>
              </a:solidFill>
              <a:latin typeface="思源黑体" panose="020B0500000000000000" pitchFamily="34" charset="-122"/>
              <a:ea typeface="思源黑体" panose="020B0500000000000000" pitchFamily="34" charset="-122"/>
              <a:cs typeface="+mn-ea"/>
            </a:endParaRPr>
          </a:p>
        </p:txBody>
      </p:sp>
      <p:sp>
        <p:nvSpPr>
          <p:cNvPr id="47" name="TextBox 15"/>
          <p:cNvSpPr txBox="1"/>
          <p:nvPr/>
        </p:nvSpPr>
        <p:spPr>
          <a:xfrm>
            <a:off x="4508184" y="2189234"/>
            <a:ext cx="5785337" cy="2010754"/>
          </a:xfrm>
          <a:prstGeom prst="rect">
            <a:avLst/>
          </a:prstGeom>
          <a:noFill/>
        </p:spPr>
        <p:txBody>
          <a:bodyPr wrap="square" lIns="71067" tIns="35534" rIns="71067" bIns="35534" rtlCol="0">
            <a:spAutoFit/>
          </a:bodyPr>
          <a:lstStyle>
            <a:defPPr>
              <a:defRPr lang="zh-CN"/>
            </a:defPPr>
            <a:lvl1pPr>
              <a:lnSpc>
                <a:spcPct val="150000"/>
              </a:lnSpc>
              <a:defRPr sz="1800">
                <a:solidFill>
                  <a:schemeClr val="tx1">
                    <a:lumMod val="50000"/>
                    <a:lumOff val="50000"/>
                  </a:schemeClr>
                </a:solidFill>
                <a:latin typeface="微软雅黑" panose="020B0503020204020204" charset="-122"/>
                <a:ea typeface="微软雅黑" panose="020B0503020204020204" charset="-122"/>
              </a:defRPr>
            </a:lvl1pPr>
          </a:lstStyle>
          <a:p>
            <a:r>
              <a:rPr lang="zh-CN" altLang="en-US" sz="1400" dirty="0" smtClean="0">
                <a:solidFill>
                  <a:schemeClr val="tx1"/>
                </a:solidFill>
                <a:latin typeface="思源黑体" panose="020B0500000000000000" pitchFamily="34" charset="-122"/>
                <a:ea typeface="思源黑体" panose="020B0500000000000000" pitchFamily="34" charset="-122"/>
              </a:rPr>
              <a:t>     </a:t>
            </a:r>
            <a:r>
              <a:rPr lang="en-US" altLang="zh-CN" sz="1400" dirty="0" err="1" smtClean="0">
                <a:solidFill>
                  <a:schemeClr val="tx1"/>
                </a:solidFill>
                <a:latin typeface="思源黑体" panose="020B0500000000000000" pitchFamily="34" charset="-122"/>
                <a:ea typeface="思源黑体" panose="020B0500000000000000" pitchFamily="34" charset="-122"/>
              </a:rPr>
              <a:t>I</a:t>
            </a:r>
            <a:r>
              <a:rPr lang="en-US" altLang="zh-CN" sz="1400" dirty="0" err="1" smtClean="0">
                <a:solidFill>
                  <a:schemeClr val="tx1"/>
                </a:solidFill>
                <a:latin typeface="思源黑体" panose="020B0500000000000000" pitchFamily="34" charset="-122"/>
                <a:ea typeface="思源黑体" panose="020B0500000000000000" pitchFamily="34" charset="-122"/>
              </a:rPr>
              <a:t>ptables</a:t>
            </a:r>
            <a:r>
              <a:rPr lang="zh-CN" altLang="en-US" sz="1400" dirty="0" smtClean="0">
                <a:solidFill>
                  <a:schemeClr val="tx1"/>
                </a:solidFill>
                <a:latin typeface="思源黑体" panose="020B0500000000000000" pitchFamily="34" charset="-122"/>
                <a:ea typeface="思源黑体" panose="020B0500000000000000" pitchFamily="34" charset="-122"/>
              </a:rPr>
              <a:t>是车机网络的“门卫”和“交通指挥官”，它根据预设的规则（</a:t>
            </a:r>
            <a:r>
              <a:rPr lang="en-US" altLang="zh-CN" sz="1400" dirty="0" smtClean="0">
                <a:solidFill>
                  <a:schemeClr val="tx1"/>
                </a:solidFill>
                <a:latin typeface="思源黑体" panose="020B0500000000000000" pitchFamily="34" charset="-122"/>
                <a:ea typeface="思源黑体" panose="020B0500000000000000" pitchFamily="34" charset="-122"/>
              </a:rPr>
              <a:t>Rules</a:t>
            </a:r>
            <a:r>
              <a:rPr lang="zh-CN" altLang="en-US" sz="1400" dirty="0" smtClean="0">
                <a:solidFill>
                  <a:schemeClr val="tx1"/>
                </a:solidFill>
                <a:latin typeface="思源黑体" panose="020B0500000000000000" pitchFamily="34" charset="-122"/>
                <a:ea typeface="思源黑体" panose="020B0500000000000000" pitchFamily="34" charset="-122"/>
              </a:rPr>
              <a:t>）来检查、修改、转发、重定向或丢弃进出计算机的数据包。</a:t>
            </a:r>
            <a:endParaRPr lang="en-US" altLang="zh-CN" sz="1400" dirty="0" smtClean="0">
              <a:solidFill>
                <a:schemeClr val="tx1"/>
              </a:solidFill>
              <a:latin typeface="思源黑体" panose="020B0500000000000000" pitchFamily="34" charset="-122"/>
              <a:ea typeface="思源黑体" panose="020B0500000000000000" pitchFamily="34" charset="-122"/>
            </a:endParaRPr>
          </a:p>
          <a:p>
            <a:endParaRPr lang="en-US" altLang="zh-CN" sz="1400" dirty="0" smtClean="0">
              <a:solidFill>
                <a:schemeClr val="tx1"/>
              </a:solidFill>
              <a:latin typeface="思源黑体" panose="020B0500000000000000" pitchFamily="34" charset="-122"/>
              <a:ea typeface="思源黑体" panose="020B0500000000000000" pitchFamily="34" charset="-122"/>
            </a:endParaRPr>
          </a:p>
          <a:p>
            <a:r>
              <a:rPr lang="zh-CN" altLang="en-US" sz="1400" dirty="0" smtClean="0">
                <a:solidFill>
                  <a:schemeClr val="tx1"/>
                </a:solidFill>
                <a:latin typeface="思源黑体" panose="020B0500000000000000" pitchFamily="34" charset="-122"/>
                <a:ea typeface="思源黑体" panose="020B0500000000000000" pitchFamily="34" charset="-122"/>
              </a:rPr>
              <a:t>    本课程先讲解</a:t>
            </a:r>
            <a:r>
              <a:rPr lang="en-US" altLang="zh-CN" sz="1400" dirty="0" err="1" smtClean="0">
                <a:solidFill>
                  <a:schemeClr val="tx1"/>
                </a:solidFill>
                <a:latin typeface="思源黑体" panose="020B0500000000000000" pitchFamily="34" charset="-122"/>
                <a:ea typeface="思源黑体" panose="020B0500000000000000" pitchFamily="34" charset="-122"/>
              </a:rPr>
              <a:t>Iptables</a:t>
            </a:r>
            <a:r>
              <a:rPr lang="zh-CN" altLang="en-US" sz="1400" dirty="0" smtClean="0">
                <a:solidFill>
                  <a:schemeClr val="tx1"/>
                </a:solidFill>
                <a:latin typeface="思源黑体" panose="020B0500000000000000" pitchFamily="34" charset="-122"/>
                <a:ea typeface="思源黑体" panose="020B0500000000000000" pitchFamily="34" charset="-122"/>
              </a:rPr>
              <a:t>的架构和基本语法，再介绍实际项目中相关的应用及注意事项，帮助学习者了解</a:t>
            </a:r>
            <a:r>
              <a:rPr lang="en-US" altLang="zh-CN" sz="1400" dirty="0" err="1" smtClean="0">
                <a:solidFill>
                  <a:schemeClr val="tx1"/>
                </a:solidFill>
                <a:latin typeface="思源黑体" panose="020B0500000000000000" pitchFamily="34" charset="-122"/>
                <a:ea typeface="思源黑体" panose="020B0500000000000000" pitchFamily="34" charset="-122"/>
              </a:rPr>
              <a:t>Iptables</a:t>
            </a:r>
            <a:r>
              <a:rPr lang="zh-CN" altLang="en-US" sz="1400" dirty="0" smtClean="0">
                <a:solidFill>
                  <a:schemeClr val="tx1"/>
                </a:solidFill>
                <a:latin typeface="思源黑体" panose="020B0500000000000000" pitchFamily="34" charset="-122"/>
                <a:ea typeface="思源黑体" panose="020B0500000000000000" pitchFamily="34" charset="-122"/>
              </a:rPr>
              <a:t>、使用</a:t>
            </a:r>
            <a:r>
              <a:rPr lang="en-US" altLang="zh-CN" sz="1400" dirty="0" err="1" smtClean="0">
                <a:solidFill>
                  <a:schemeClr val="tx1"/>
                </a:solidFill>
                <a:latin typeface="思源黑体" panose="020B0500000000000000" pitchFamily="34" charset="-122"/>
                <a:ea typeface="思源黑体" panose="020B0500000000000000" pitchFamily="34" charset="-122"/>
              </a:rPr>
              <a:t>Iptables</a:t>
            </a:r>
            <a:r>
              <a:rPr lang="zh-CN" altLang="en-US" sz="1400" dirty="0" smtClean="0">
                <a:solidFill>
                  <a:schemeClr val="tx1"/>
                </a:solidFill>
                <a:latin typeface="思源黑体" panose="020B0500000000000000" pitchFamily="34" charset="-122"/>
                <a:ea typeface="思源黑体" panose="020B0500000000000000" pitchFamily="34" charset="-122"/>
              </a:rPr>
              <a:t>。</a:t>
            </a:r>
            <a:endParaRPr lang="en-US" altLang="zh-CN" sz="1400" dirty="0">
              <a:solidFill>
                <a:schemeClr val="tx1"/>
              </a:solidFill>
              <a:latin typeface="思源黑体" panose="020B0500000000000000" pitchFamily="34" charset="-122"/>
              <a:ea typeface="思源黑体" panose="020B0500000000000000" pitchFamily="34" charset="-122"/>
            </a:endParaRPr>
          </a:p>
          <a:p>
            <a:endParaRPr lang="zh-CN" altLang="en-US" sz="1400" dirty="0">
              <a:latin typeface="思源黑体" panose="020B0500000000000000" pitchFamily="34" charset="-122"/>
              <a:ea typeface="思源黑体" panose="020B0500000000000000" pitchFamily="34" charset="-122"/>
            </a:endParaRPr>
          </a:p>
        </p:txBody>
      </p:sp>
      <p:cxnSp>
        <p:nvCxnSpPr>
          <p:cNvPr id="46" name="直接连接符 45"/>
          <p:cNvCxnSpPr/>
          <p:nvPr/>
        </p:nvCxnSpPr>
        <p:spPr>
          <a:xfrm>
            <a:off x="479704" y="944439"/>
            <a:ext cx="6960814" cy="0"/>
          </a:xfrm>
          <a:prstGeom prst="line">
            <a:avLst/>
          </a:prstGeom>
          <a:ln w="47625" cmpd="thickThin"/>
        </p:spPr>
        <p:style>
          <a:lnRef idx="3">
            <a:schemeClr val="accent3"/>
          </a:lnRef>
          <a:fillRef idx="0">
            <a:schemeClr val="accent3"/>
          </a:fillRef>
          <a:effectRef idx="2">
            <a:schemeClr val="accent3"/>
          </a:effectRef>
          <a:fontRef idx="minor">
            <a:schemeClr val="tx1"/>
          </a:fontRef>
        </p:style>
      </p:cxnSp>
      <p:grpSp>
        <p:nvGrpSpPr>
          <p:cNvPr id="32" name="组合 31"/>
          <p:cNvGrpSpPr/>
          <p:nvPr/>
        </p:nvGrpSpPr>
        <p:grpSpPr>
          <a:xfrm>
            <a:off x="9108771" y="5142372"/>
            <a:ext cx="3083229" cy="1715628"/>
            <a:chOff x="3909171" y="5101626"/>
            <a:chExt cx="2312422" cy="1756375"/>
          </a:xfrm>
        </p:grpSpPr>
        <p:sp>
          <p:nvSpPr>
            <p:cNvPr id="34" name="任意多边形: 形状 14"/>
            <p:cNvSpPr/>
            <p:nvPr/>
          </p:nvSpPr>
          <p:spPr>
            <a:xfrm>
              <a:off x="3909171" y="5617900"/>
              <a:ext cx="2312422" cy="1240101"/>
            </a:xfrm>
            <a:custGeom>
              <a:avLst/>
              <a:gdLst>
                <a:gd name="connsiteX0" fmla="*/ 688066 w 2750572"/>
                <a:gd name="connsiteY0" fmla="*/ 0 h 1240101"/>
                <a:gd name="connsiteX1" fmla="*/ 2062507 w 2750572"/>
                <a:gd name="connsiteY1" fmla="*/ 0 h 1240101"/>
                <a:gd name="connsiteX2" fmla="*/ 2750572 w 2750572"/>
                <a:gd name="connsiteY2" fmla="*/ 1186787 h 1240101"/>
                <a:gd name="connsiteX3" fmla="*/ 2719750 w 2750572"/>
                <a:gd name="connsiteY3" fmla="*/ 1240101 h 1240101"/>
                <a:gd name="connsiteX4" fmla="*/ 30822 w 2750572"/>
                <a:gd name="connsiteY4" fmla="*/ 1240101 h 1240101"/>
                <a:gd name="connsiteX5" fmla="*/ 0 w 2750572"/>
                <a:gd name="connsiteY5" fmla="*/ 1186787 h 1240101"/>
                <a:gd name="connsiteX6" fmla="*/ 688066 w 2750572"/>
                <a:gd name="connsiteY6" fmla="*/ 0 h 1240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0572" h="1240101">
                  <a:moveTo>
                    <a:pt x="688066" y="0"/>
                  </a:moveTo>
                  <a:lnTo>
                    <a:pt x="2062507" y="0"/>
                  </a:lnTo>
                  <a:lnTo>
                    <a:pt x="2750572" y="1186787"/>
                  </a:lnTo>
                  <a:lnTo>
                    <a:pt x="2719750" y="1240101"/>
                  </a:lnTo>
                  <a:lnTo>
                    <a:pt x="30822" y="1240101"/>
                  </a:lnTo>
                  <a:lnTo>
                    <a:pt x="0" y="1186787"/>
                  </a:lnTo>
                  <a:lnTo>
                    <a:pt x="688066" y="0"/>
                  </a:lnTo>
                  <a:close/>
                </a:path>
              </a:pathLst>
            </a:custGeom>
            <a:solidFill>
              <a:schemeClr val="accent1">
                <a:alpha val="1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5" name="Freeform 21"/>
            <p:cNvSpPr/>
            <p:nvPr/>
          </p:nvSpPr>
          <p:spPr bwMode="auto">
            <a:xfrm>
              <a:off x="4021319" y="5101626"/>
              <a:ext cx="866775" cy="1026882"/>
            </a:xfrm>
            <a:custGeom>
              <a:avLst/>
              <a:gdLst>
                <a:gd name="T0" fmla="*/ 1220 w 1627"/>
                <a:gd name="T1" fmla="*/ 0 h 1406"/>
                <a:gd name="T2" fmla="*/ 407 w 1627"/>
                <a:gd name="T3" fmla="*/ 0 h 1406"/>
                <a:gd name="T4" fmla="*/ 0 w 1627"/>
                <a:gd name="T5" fmla="*/ 702 h 1406"/>
                <a:gd name="T6" fmla="*/ 407 w 1627"/>
                <a:gd name="T7" fmla="*/ 1406 h 1406"/>
                <a:gd name="T8" fmla="*/ 1220 w 1627"/>
                <a:gd name="T9" fmla="*/ 1406 h 1406"/>
                <a:gd name="T10" fmla="*/ 1627 w 1627"/>
                <a:gd name="T11" fmla="*/ 702 h 1406"/>
                <a:gd name="T12" fmla="*/ 1220 w 1627"/>
                <a:gd name="T13" fmla="*/ 0 h 1406"/>
              </a:gdLst>
              <a:ahLst/>
              <a:cxnLst>
                <a:cxn ang="0">
                  <a:pos x="T0" y="T1"/>
                </a:cxn>
                <a:cxn ang="0">
                  <a:pos x="T2" y="T3"/>
                </a:cxn>
                <a:cxn ang="0">
                  <a:pos x="T4" y="T5"/>
                </a:cxn>
                <a:cxn ang="0">
                  <a:pos x="T6" y="T7"/>
                </a:cxn>
                <a:cxn ang="0">
                  <a:pos x="T8" y="T9"/>
                </a:cxn>
                <a:cxn ang="0">
                  <a:pos x="T10" y="T11"/>
                </a:cxn>
                <a:cxn ang="0">
                  <a:pos x="T12" y="T13"/>
                </a:cxn>
              </a:cxnLst>
              <a:rect l="0" t="0" r="r" b="b"/>
              <a:pathLst>
                <a:path w="1627" h="1406">
                  <a:moveTo>
                    <a:pt x="1220" y="0"/>
                  </a:moveTo>
                  <a:lnTo>
                    <a:pt x="407" y="0"/>
                  </a:lnTo>
                  <a:lnTo>
                    <a:pt x="0" y="702"/>
                  </a:lnTo>
                  <a:lnTo>
                    <a:pt x="407" y="1406"/>
                  </a:lnTo>
                  <a:lnTo>
                    <a:pt x="1220" y="1406"/>
                  </a:lnTo>
                  <a:lnTo>
                    <a:pt x="1627" y="702"/>
                  </a:lnTo>
                  <a:lnTo>
                    <a:pt x="1220" y="0"/>
                  </a:lnTo>
                  <a:close/>
                </a:path>
              </a:pathLst>
            </a:custGeom>
            <a:solidFill>
              <a:schemeClr val="accent1">
                <a:alpha val="3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grpSp>
      <p:pic>
        <p:nvPicPr>
          <p:cNvPr id="30722" name="Picture 2" descr="iptables 详解 - 运维派"/>
          <p:cNvPicPr>
            <a:picLocks noChangeAspect="1" noChangeArrowheads="1"/>
          </p:cNvPicPr>
          <p:nvPr/>
        </p:nvPicPr>
        <p:blipFill>
          <a:blip r:embed="rId2" cstate="print"/>
          <a:srcRect/>
          <a:stretch>
            <a:fillRect/>
          </a:stretch>
        </p:blipFill>
        <p:spPr bwMode="auto">
          <a:xfrm>
            <a:off x="517356" y="1145028"/>
            <a:ext cx="3346349" cy="2091468"/>
          </a:xfrm>
          <a:prstGeom prst="rect">
            <a:avLst/>
          </a:prstGeom>
          <a:noFill/>
        </p:spPr>
      </p:pic>
      <p:sp>
        <p:nvSpPr>
          <p:cNvPr id="30724" name="AutoShape 4" descr="linux iptables防火墙中的工作常用命令_iptables重启-CSDN博客"/>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30726" name="AutoShape 6" descr="linux iptables防火墙中的工作常用命令_iptables重启-CSDN博客"/>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pic>
        <p:nvPicPr>
          <p:cNvPr id="30728" name="Picture 8" descr="C:\Users\mibin\AppData\Local\Temp\企业微信截图_17587888786826.png"/>
          <p:cNvPicPr>
            <a:picLocks noChangeAspect="1" noChangeArrowheads="1"/>
          </p:cNvPicPr>
          <p:nvPr/>
        </p:nvPicPr>
        <p:blipFill>
          <a:blip r:embed="rId3" cstate="print"/>
          <a:srcRect/>
          <a:stretch>
            <a:fillRect/>
          </a:stretch>
        </p:blipFill>
        <p:spPr bwMode="auto">
          <a:xfrm>
            <a:off x="1370765" y="3076073"/>
            <a:ext cx="2756066" cy="1576962"/>
          </a:xfrm>
          <a:prstGeom prst="rect">
            <a:avLst/>
          </a:prstGeom>
          <a:noFill/>
        </p:spPr>
      </p:pic>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left)">
                                      <p:cBhvr>
                                        <p:cTn id="7" dur="1000"/>
                                        <p:tgtEl>
                                          <p:spTgt spid="44"/>
                                        </p:tgtEl>
                                      </p:cBhvr>
                                    </p:animEffect>
                                  </p:childTnLst>
                                </p:cTn>
                              </p:par>
                            </p:childTnLst>
                          </p:cTn>
                        </p:par>
                        <p:par>
                          <p:cTn id="8" fill="hold">
                            <p:stCondLst>
                              <p:cond delay="1000"/>
                            </p:stCondLst>
                            <p:childTnLst>
                              <p:par>
                                <p:cTn id="9" presetID="23" presetClass="entr" presetSubtype="16" fill="hold" grpId="0" nodeType="afterEffect">
                                  <p:stCondLst>
                                    <p:cond delay="0"/>
                                  </p:stCondLst>
                                  <p:iterate type="lt">
                                    <p:tmPct val="66667"/>
                                  </p:iterate>
                                  <p:childTnLst>
                                    <p:set>
                                      <p:cBhvr>
                                        <p:cTn id="10" dur="1" fill="hold">
                                          <p:stCondLst>
                                            <p:cond delay="0"/>
                                          </p:stCondLst>
                                        </p:cTn>
                                        <p:tgtEl>
                                          <p:spTgt spid="45"/>
                                        </p:tgtEl>
                                        <p:attrNameLst>
                                          <p:attrName>style.visibility</p:attrName>
                                        </p:attrNameLst>
                                      </p:cBhvr>
                                      <p:to>
                                        <p:strVal val="visible"/>
                                      </p:to>
                                    </p:set>
                                    <p:anim calcmode="lin" valueType="num">
                                      <p:cBhvr>
                                        <p:cTn id="11" dur="500" fill="hold"/>
                                        <p:tgtEl>
                                          <p:spTgt spid="45"/>
                                        </p:tgtEl>
                                        <p:attrNameLst>
                                          <p:attrName>ppt_w</p:attrName>
                                        </p:attrNameLst>
                                      </p:cBhvr>
                                      <p:tavLst>
                                        <p:tav tm="0">
                                          <p:val>
                                            <p:fltVal val="0"/>
                                          </p:val>
                                        </p:tav>
                                        <p:tav tm="100000">
                                          <p:val>
                                            <p:strVal val="#ppt_w"/>
                                          </p:val>
                                        </p:tav>
                                      </p:tavLst>
                                    </p:anim>
                                    <p:anim calcmode="lin" valueType="num">
                                      <p:cBhvr>
                                        <p:cTn id="12" dur="500" fill="hold"/>
                                        <p:tgtEl>
                                          <p:spTgt spid="45"/>
                                        </p:tgtEl>
                                        <p:attrNameLst>
                                          <p:attrName>ppt_h</p:attrName>
                                        </p:attrNameLst>
                                      </p:cBhvr>
                                      <p:tavLst>
                                        <p:tav tm="0">
                                          <p:val>
                                            <p:fltVal val="0"/>
                                          </p:val>
                                        </p:tav>
                                        <p:tav tm="100000">
                                          <p:val>
                                            <p:strVal val="#ppt_h"/>
                                          </p:val>
                                        </p:tav>
                                      </p:tavLst>
                                    </p:anim>
                                  </p:childTnLst>
                                </p:cTn>
                              </p:par>
                            </p:childTnLst>
                          </p:cTn>
                        </p:par>
                        <p:par>
                          <p:cTn id="13" fill="hold">
                            <p:stCondLst>
                              <p:cond delay="2833"/>
                            </p:stCondLst>
                            <p:childTnLst>
                              <p:par>
                                <p:cTn id="14" presetID="22" presetClass="entr" presetSubtype="1" fill="hold" grpId="0" nodeType="afterEffect">
                                  <p:stCondLst>
                                    <p:cond delay="0"/>
                                  </p:stCondLst>
                                  <p:childTnLst>
                                    <p:set>
                                      <p:cBhvr>
                                        <p:cTn id="15" dur="1" fill="hold">
                                          <p:stCondLst>
                                            <p:cond delay="0"/>
                                          </p:stCondLst>
                                        </p:cTn>
                                        <p:tgtEl>
                                          <p:spTgt spid="47"/>
                                        </p:tgtEl>
                                        <p:attrNameLst>
                                          <p:attrName>style.visibility</p:attrName>
                                        </p:attrNameLst>
                                      </p:cBhvr>
                                      <p:to>
                                        <p:strVal val="visible"/>
                                      </p:to>
                                    </p:set>
                                    <p:animEffect transition="in" filter="wipe(up)">
                                      <p:cBhvr>
                                        <p:cTn id="16" dur="500"/>
                                        <p:tgtEl>
                                          <p:spTgt spid="47"/>
                                        </p:tgtEl>
                                      </p:cBhvr>
                                    </p:animEffect>
                                  </p:childTnLst>
                                </p:cTn>
                              </p:par>
                            </p:childTnLst>
                          </p:cTn>
                        </p:par>
                        <p:par>
                          <p:cTn id="17" fill="hold">
                            <p:stCondLst>
                              <p:cond delay="3333"/>
                            </p:stCondLst>
                            <p:childTnLst>
                              <p:par>
                                <p:cTn id="18" presetID="22" presetClass="entr" presetSubtype="8" fill="hold" nodeType="afterEffect">
                                  <p:stCondLst>
                                    <p:cond delay="0"/>
                                  </p:stCondLst>
                                  <p:childTnLst>
                                    <p:set>
                                      <p:cBhvr>
                                        <p:cTn id="19" dur="1" fill="hold">
                                          <p:stCondLst>
                                            <p:cond delay="0"/>
                                          </p:stCondLst>
                                        </p:cTn>
                                        <p:tgtEl>
                                          <p:spTgt spid="46"/>
                                        </p:tgtEl>
                                        <p:attrNameLst>
                                          <p:attrName>style.visibility</p:attrName>
                                        </p:attrNameLst>
                                      </p:cBhvr>
                                      <p:to>
                                        <p:strVal val="visible"/>
                                      </p:to>
                                    </p:set>
                                    <p:animEffect transition="in" filter="wipe(left)">
                                      <p:cBhvr>
                                        <p:cTn id="20" dur="500"/>
                                        <p:tgtEl>
                                          <p:spTgt spid="46"/>
                                        </p:tgtEl>
                                      </p:cBhvr>
                                    </p:animEffect>
                                  </p:childTnLst>
                                </p:cTn>
                              </p:par>
                              <p:par>
                                <p:cTn id="21" presetID="2" presetClass="entr" presetSubtype="4" fill="hold" nodeType="withEffect">
                                  <p:stCondLst>
                                    <p:cond delay="500"/>
                                  </p:stCondLst>
                                  <p:childTnLst>
                                    <p:set>
                                      <p:cBhvr>
                                        <p:cTn id="22" dur="1" fill="hold">
                                          <p:stCondLst>
                                            <p:cond delay="0"/>
                                          </p:stCondLst>
                                        </p:cTn>
                                        <p:tgtEl>
                                          <p:spTgt spid="32"/>
                                        </p:tgtEl>
                                        <p:attrNameLst>
                                          <p:attrName>style.visibility</p:attrName>
                                        </p:attrNameLst>
                                      </p:cBhvr>
                                      <p:to>
                                        <p:strVal val="visible"/>
                                      </p:to>
                                    </p:set>
                                    <p:anim calcmode="lin" valueType="num">
                                      <p:cBhvr additive="base">
                                        <p:cTn id="23" dur="500" fill="hold"/>
                                        <p:tgtEl>
                                          <p:spTgt spid="32"/>
                                        </p:tgtEl>
                                        <p:attrNameLst>
                                          <p:attrName>ppt_x</p:attrName>
                                        </p:attrNameLst>
                                      </p:cBhvr>
                                      <p:tavLst>
                                        <p:tav tm="0">
                                          <p:val>
                                            <p:strVal val="#ppt_x"/>
                                          </p:val>
                                        </p:tav>
                                        <p:tav tm="100000">
                                          <p:val>
                                            <p:strVal val="#ppt_x"/>
                                          </p:val>
                                        </p:tav>
                                      </p:tavLst>
                                    </p:anim>
                                    <p:anim calcmode="lin" valueType="num">
                                      <p:cBhvr additive="base">
                                        <p:cTn id="24"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5" grpId="0"/>
      <p:bldP spid="4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p:cNvPicPr>
            <a:picLocks noChangeAspect="1"/>
          </p:cNvPicPr>
          <p:nvPr/>
        </p:nvPicPr>
        <p:blipFill>
          <a:blip r:embed="rId11" cstate="print">
            <a:extLst>
              <a:ext uri="{BEBA8EAE-BF5A-486C-A8C5-ECC9F3942E4B}">
                <a14:imgProps xmlns="" xmlns:a14="http://schemas.microsoft.com/office/drawing/2010/main">
                  <a14:imgLayer r:embed="rId12">
                    <a14:imgEffect>
                      <a14:saturation sat="80000"/>
                    </a14:imgEffect>
                  </a14:imgLayer>
                </a14:imgProps>
              </a:ext>
              <a:ext uri="{28A0092B-C50C-407E-A947-70E740481C1C}">
                <a14:useLocalDpi xmlns="" xmlns:a14="http://schemas.microsoft.com/office/drawing/2010/main" val="0"/>
              </a:ext>
            </a:extLst>
          </a:blip>
          <a:stretch>
            <a:fillRect/>
          </a:stretch>
        </p:blipFill>
        <p:spPr>
          <a:xfrm>
            <a:off x="0" y="2704"/>
            <a:ext cx="5234342" cy="6852592"/>
          </a:xfrm>
          <a:prstGeom prst="rect">
            <a:avLst/>
          </a:prstGeom>
        </p:spPr>
      </p:pic>
      <p:grpSp>
        <p:nvGrpSpPr>
          <p:cNvPr id="24" name="组合 23"/>
          <p:cNvGrpSpPr/>
          <p:nvPr/>
        </p:nvGrpSpPr>
        <p:grpSpPr>
          <a:xfrm>
            <a:off x="0" y="4060494"/>
            <a:ext cx="3028950" cy="2797506"/>
            <a:chOff x="0" y="3609283"/>
            <a:chExt cx="3097161" cy="3248717"/>
          </a:xfrm>
        </p:grpSpPr>
        <p:sp>
          <p:nvSpPr>
            <p:cNvPr id="25" name="任意多边形: 形状 35"/>
            <p:cNvSpPr/>
            <p:nvPr/>
          </p:nvSpPr>
          <p:spPr>
            <a:xfrm>
              <a:off x="0" y="3609283"/>
              <a:ext cx="3097161" cy="3248717"/>
            </a:xfrm>
            <a:custGeom>
              <a:avLst/>
              <a:gdLst>
                <a:gd name="connsiteX0" fmla="*/ 0 w 3097161"/>
                <a:gd name="connsiteY0" fmla="*/ 0 h 3248717"/>
                <a:gd name="connsiteX1" fmla="*/ 1807845 w 3097161"/>
                <a:gd name="connsiteY1" fmla="*/ 0 h 3248717"/>
                <a:gd name="connsiteX2" fmla="*/ 3097161 w 3097161"/>
                <a:gd name="connsiteY2" fmla="*/ 2230611 h 3248717"/>
                <a:gd name="connsiteX3" fmla="*/ 2508869 w 3097161"/>
                <a:gd name="connsiteY3" fmla="*/ 3248717 h 3248717"/>
                <a:gd name="connsiteX4" fmla="*/ 0 w 3097161"/>
                <a:gd name="connsiteY4" fmla="*/ 3248717 h 3248717"/>
                <a:gd name="connsiteX5" fmla="*/ 0 w 3097161"/>
                <a:gd name="connsiteY5" fmla="*/ 0 h 3248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97161" h="3248717">
                  <a:moveTo>
                    <a:pt x="0" y="0"/>
                  </a:moveTo>
                  <a:lnTo>
                    <a:pt x="1807845" y="0"/>
                  </a:lnTo>
                  <a:lnTo>
                    <a:pt x="3097161" y="2230611"/>
                  </a:lnTo>
                  <a:lnTo>
                    <a:pt x="2508869" y="3248717"/>
                  </a:lnTo>
                  <a:lnTo>
                    <a:pt x="0" y="3248717"/>
                  </a:lnTo>
                  <a:lnTo>
                    <a:pt x="0" y="0"/>
                  </a:lnTo>
                  <a:close/>
                </a:path>
              </a:pathLst>
            </a:cu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Freeform 11"/>
            <p:cNvSpPr/>
            <p:nvPr/>
          </p:nvSpPr>
          <p:spPr bwMode="auto">
            <a:xfrm>
              <a:off x="0" y="3995737"/>
              <a:ext cx="2105025" cy="2862263"/>
            </a:xfrm>
            <a:custGeom>
              <a:avLst/>
              <a:gdLst>
                <a:gd name="T0" fmla="*/ 774 w 1326"/>
                <a:gd name="T1" fmla="*/ 0 h 1803"/>
                <a:gd name="T2" fmla="*/ 0 w 1326"/>
                <a:gd name="T3" fmla="*/ 0 h 1803"/>
                <a:gd name="T4" fmla="*/ 0 w 1326"/>
                <a:gd name="T5" fmla="*/ 1803 h 1803"/>
                <a:gd name="T6" fmla="*/ 836 w 1326"/>
                <a:gd name="T7" fmla="*/ 1803 h 1803"/>
                <a:gd name="T8" fmla="*/ 1326 w 1326"/>
                <a:gd name="T9" fmla="*/ 955 h 1803"/>
                <a:gd name="T10" fmla="*/ 774 w 1326"/>
                <a:gd name="T11" fmla="*/ 0 h 1803"/>
              </a:gdLst>
              <a:ahLst/>
              <a:cxnLst>
                <a:cxn ang="0">
                  <a:pos x="T0" y="T1"/>
                </a:cxn>
                <a:cxn ang="0">
                  <a:pos x="T2" y="T3"/>
                </a:cxn>
                <a:cxn ang="0">
                  <a:pos x="T4" y="T5"/>
                </a:cxn>
                <a:cxn ang="0">
                  <a:pos x="T6" y="T7"/>
                </a:cxn>
                <a:cxn ang="0">
                  <a:pos x="T8" y="T9"/>
                </a:cxn>
                <a:cxn ang="0">
                  <a:pos x="T10" y="T11"/>
                </a:cxn>
              </a:cxnLst>
              <a:rect l="0" t="0" r="r" b="b"/>
              <a:pathLst>
                <a:path w="1326" h="1803">
                  <a:moveTo>
                    <a:pt x="774" y="0"/>
                  </a:moveTo>
                  <a:lnTo>
                    <a:pt x="0" y="0"/>
                  </a:lnTo>
                  <a:lnTo>
                    <a:pt x="0" y="1803"/>
                  </a:lnTo>
                  <a:lnTo>
                    <a:pt x="836" y="1803"/>
                  </a:lnTo>
                  <a:lnTo>
                    <a:pt x="1326" y="955"/>
                  </a:lnTo>
                  <a:lnTo>
                    <a:pt x="774" y="0"/>
                  </a:lnTo>
                  <a:close/>
                </a:path>
              </a:pathLst>
            </a:custGeom>
            <a:solidFill>
              <a:schemeClr val="accent1">
                <a:alpha val="42000"/>
              </a:schemeClr>
            </a:solidFill>
            <a:ln>
              <a:noFill/>
            </a:ln>
          </p:spPr>
          <p:txBody>
            <a:bodyPr vert="horz" wrap="square" lIns="91440" tIns="45720" rIns="91440" bIns="45720" numCol="1" anchor="t" anchorCtr="0" compatLnSpc="1"/>
            <a:lstStyle/>
            <a:p>
              <a:endParaRPr lang="zh-CN" altLang="en-US"/>
            </a:p>
          </p:txBody>
        </p:sp>
      </p:grpSp>
      <p:sp>
        <p:nvSpPr>
          <p:cNvPr id="27" name="矩形 26"/>
          <p:cNvSpPr/>
          <p:nvPr/>
        </p:nvSpPr>
        <p:spPr>
          <a:xfrm>
            <a:off x="808811" y="450334"/>
            <a:ext cx="2778325" cy="1446550"/>
          </a:xfrm>
          <a:prstGeom prst="rect">
            <a:avLst/>
          </a:prstGeom>
        </p:spPr>
        <p:txBody>
          <a:bodyPr wrap="none">
            <a:spAutoFit/>
          </a:bodyPr>
          <a:lstStyle/>
          <a:p>
            <a:r>
              <a:rPr lang="zh-CN" altLang="en-US" sz="8800" b="1" dirty="0">
                <a:solidFill>
                  <a:schemeClr val="bg1"/>
                </a:solidFill>
                <a:latin typeface="思源黑体" panose="020B0500000000000000" pitchFamily="34" charset="-122"/>
                <a:ea typeface="思源黑体" panose="020B0500000000000000" pitchFamily="34" charset="-122"/>
                <a:sym typeface="+mn-lt"/>
              </a:rPr>
              <a:t>目 录</a:t>
            </a:r>
            <a:endParaRPr lang="zh-CN" altLang="en-US" sz="8800" b="1" dirty="0"/>
          </a:p>
        </p:txBody>
      </p:sp>
      <p:sp>
        <p:nvSpPr>
          <p:cNvPr id="28" name="文本框 45"/>
          <p:cNvSpPr>
            <a:spLocks noChangeArrowheads="1"/>
          </p:cNvSpPr>
          <p:nvPr/>
        </p:nvSpPr>
        <p:spPr bwMode="auto">
          <a:xfrm>
            <a:off x="905495" y="1709829"/>
            <a:ext cx="2613344" cy="76944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altLang="zh-CN" sz="4400" dirty="0">
                <a:solidFill>
                  <a:schemeClr val="bg1"/>
                </a:solidFill>
                <a:latin typeface="思源黑体" panose="020B0500000000000000" pitchFamily="34" charset="-122"/>
                <a:ea typeface="思源黑体" panose="020B0500000000000000" pitchFamily="34" charset="-122"/>
                <a:sym typeface="+mn-lt"/>
              </a:rPr>
              <a:t>Contents</a:t>
            </a:r>
            <a:endParaRPr lang="zh-CN" altLang="en-US" sz="4400" dirty="0">
              <a:solidFill>
                <a:schemeClr val="bg1"/>
              </a:solidFill>
              <a:latin typeface="思源黑体" panose="020B0500000000000000" pitchFamily="34" charset="-122"/>
              <a:ea typeface="思源黑体" panose="020B0500000000000000" pitchFamily="34" charset="-122"/>
              <a:sym typeface="+mn-lt"/>
            </a:endParaRPr>
          </a:p>
        </p:txBody>
      </p:sp>
      <p:grpSp>
        <p:nvGrpSpPr>
          <p:cNvPr id="29" name="组合 28"/>
          <p:cNvGrpSpPr/>
          <p:nvPr/>
        </p:nvGrpSpPr>
        <p:grpSpPr>
          <a:xfrm>
            <a:off x="3471020" y="5029199"/>
            <a:ext cx="3667429" cy="1828801"/>
            <a:chOff x="3471021" y="4985765"/>
            <a:chExt cx="2750572" cy="1872236"/>
          </a:xfrm>
        </p:grpSpPr>
        <p:sp>
          <p:nvSpPr>
            <p:cNvPr id="30" name="任意多边形: 形状 29"/>
            <p:cNvSpPr/>
            <p:nvPr/>
          </p:nvSpPr>
          <p:spPr>
            <a:xfrm>
              <a:off x="3471021" y="5617900"/>
              <a:ext cx="2750572" cy="1240101"/>
            </a:xfrm>
            <a:custGeom>
              <a:avLst/>
              <a:gdLst>
                <a:gd name="connsiteX0" fmla="*/ 688066 w 2750572"/>
                <a:gd name="connsiteY0" fmla="*/ 0 h 1240101"/>
                <a:gd name="connsiteX1" fmla="*/ 2062507 w 2750572"/>
                <a:gd name="connsiteY1" fmla="*/ 0 h 1240101"/>
                <a:gd name="connsiteX2" fmla="*/ 2750572 w 2750572"/>
                <a:gd name="connsiteY2" fmla="*/ 1186787 h 1240101"/>
                <a:gd name="connsiteX3" fmla="*/ 2719750 w 2750572"/>
                <a:gd name="connsiteY3" fmla="*/ 1240101 h 1240101"/>
                <a:gd name="connsiteX4" fmla="*/ 30822 w 2750572"/>
                <a:gd name="connsiteY4" fmla="*/ 1240101 h 1240101"/>
                <a:gd name="connsiteX5" fmla="*/ 0 w 2750572"/>
                <a:gd name="connsiteY5" fmla="*/ 1186787 h 1240101"/>
                <a:gd name="connsiteX6" fmla="*/ 688066 w 2750572"/>
                <a:gd name="connsiteY6" fmla="*/ 0 h 1240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0572" h="1240101">
                  <a:moveTo>
                    <a:pt x="688066" y="0"/>
                  </a:moveTo>
                  <a:lnTo>
                    <a:pt x="2062507" y="0"/>
                  </a:lnTo>
                  <a:lnTo>
                    <a:pt x="2750572" y="1186787"/>
                  </a:lnTo>
                  <a:lnTo>
                    <a:pt x="2719750" y="1240101"/>
                  </a:lnTo>
                  <a:lnTo>
                    <a:pt x="30822" y="1240101"/>
                  </a:lnTo>
                  <a:lnTo>
                    <a:pt x="0" y="1186787"/>
                  </a:lnTo>
                  <a:lnTo>
                    <a:pt x="688066" y="0"/>
                  </a:lnTo>
                  <a:close/>
                </a:path>
              </a:pathLst>
            </a:custGeom>
            <a:solidFill>
              <a:schemeClr val="accent1">
                <a:alpha val="1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1" name="Freeform 21"/>
            <p:cNvSpPr/>
            <p:nvPr/>
          </p:nvSpPr>
          <p:spPr bwMode="auto">
            <a:xfrm>
              <a:off x="3558108" y="4985765"/>
              <a:ext cx="1042922" cy="1142742"/>
            </a:xfrm>
            <a:custGeom>
              <a:avLst/>
              <a:gdLst>
                <a:gd name="T0" fmla="*/ 1220 w 1627"/>
                <a:gd name="T1" fmla="*/ 0 h 1406"/>
                <a:gd name="T2" fmla="*/ 407 w 1627"/>
                <a:gd name="T3" fmla="*/ 0 h 1406"/>
                <a:gd name="T4" fmla="*/ 0 w 1627"/>
                <a:gd name="T5" fmla="*/ 702 h 1406"/>
                <a:gd name="T6" fmla="*/ 407 w 1627"/>
                <a:gd name="T7" fmla="*/ 1406 h 1406"/>
                <a:gd name="T8" fmla="*/ 1220 w 1627"/>
                <a:gd name="T9" fmla="*/ 1406 h 1406"/>
                <a:gd name="T10" fmla="*/ 1627 w 1627"/>
                <a:gd name="T11" fmla="*/ 702 h 1406"/>
                <a:gd name="T12" fmla="*/ 1220 w 1627"/>
                <a:gd name="T13" fmla="*/ 0 h 1406"/>
              </a:gdLst>
              <a:ahLst/>
              <a:cxnLst>
                <a:cxn ang="0">
                  <a:pos x="T0" y="T1"/>
                </a:cxn>
                <a:cxn ang="0">
                  <a:pos x="T2" y="T3"/>
                </a:cxn>
                <a:cxn ang="0">
                  <a:pos x="T4" y="T5"/>
                </a:cxn>
                <a:cxn ang="0">
                  <a:pos x="T6" y="T7"/>
                </a:cxn>
                <a:cxn ang="0">
                  <a:pos x="T8" y="T9"/>
                </a:cxn>
                <a:cxn ang="0">
                  <a:pos x="T10" y="T11"/>
                </a:cxn>
                <a:cxn ang="0">
                  <a:pos x="T12" y="T13"/>
                </a:cxn>
              </a:cxnLst>
              <a:rect l="0" t="0" r="r" b="b"/>
              <a:pathLst>
                <a:path w="1627" h="1406">
                  <a:moveTo>
                    <a:pt x="1220" y="0"/>
                  </a:moveTo>
                  <a:lnTo>
                    <a:pt x="407" y="0"/>
                  </a:lnTo>
                  <a:lnTo>
                    <a:pt x="0" y="702"/>
                  </a:lnTo>
                  <a:lnTo>
                    <a:pt x="407" y="1406"/>
                  </a:lnTo>
                  <a:lnTo>
                    <a:pt x="1220" y="1406"/>
                  </a:lnTo>
                  <a:lnTo>
                    <a:pt x="1627" y="702"/>
                  </a:lnTo>
                  <a:lnTo>
                    <a:pt x="1220" y="0"/>
                  </a:lnTo>
                  <a:close/>
                </a:path>
              </a:pathLst>
            </a:custGeom>
            <a:solidFill>
              <a:schemeClr val="accent1">
                <a:alpha val="3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grpSp>
      <p:grpSp>
        <p:nvGrpSpPr>
          <p:cNvPr id="5" name="组合 4"/>
          <p:cNvGrpSpPr/>
          <p:nvPr>
            <p:custDataLst>
              <p:tags r:id="rId1"/>
            </p:custDataLst>
          </p:nvPr>
        </p:nvGrpSpPr>
        <p:grpSpPr>
          <a:xfrm>
            <a:off x="6490340" y="1482723"/>
            <a:ext cx="3180109" cy="650877"/>
            <a:chOff x="6490340" y="1139823"/>
            <a:chExt cx="3180109" cy="650877"/>
          </a:xfrm>
        </p:grpSpPr>
        <p:sp>
          <p:nvSpPr>
            <p:cNvPr id="34" name="椭圆 16"/>
            <p:cNvSpPr>
              <a:spLocks noChangeArrowheads="1"/>
            </p:cNvSpPr>
            <p:nvPr>
              <p:custDataLst>
                <p:tags r:id="rId8"/>
              </p:custDataLst>
            </p:nvPr>
          </p:nvSpPr>
          <p:spPr bwMode="auto">
            <a:xfrm>
              <a:off x="6490340" y="1139823"/>
              <a:ext cx="659574" cy="650877"/>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b="1" dirty="0" smtClean="0">
                  <a:solidFill>
                    <a:srgbClr val="FFFFFF"/>
                  </a:solidFill>
                  <a:latin typeface="Calibri" panose="020F0502020204030204" pitchFamily="34" charset="0"/>
                </a:rPr>
                <a:t>1</a:t>
              </a:r>
              <a:endParaRPr lang="zh-CN" altLang="en-US" sz="2800" b="1" dirty="0">
                <a:solidFill>
                  <a:srgbClr val="FFFFFF"/>
                </a:solidFill>
                <a:latin typeface="Calibri" panose="020F0502020204030204" pitchFamily="34" charset="0"/>
              </a:endParaRPr>
            </a:p>
          </p:txBody>
        </p:sp>
        <p:sp>
          <p:nvSpPr>
            <p:cNvPr id="32" name="矩形 31"/>
            <p:cNvSpPr/>
            <p:nvPr>
              <p:custDataLst>
                <p:tags r:id="rId9"/>
              </p:custDataLst>
            </p:nvPr>
          </p:nvSpPr>
          <p:spPr>
            <a:xfrm>
              <a:off x="7321729" y="1203651"/>
              <a:ext cx="2348720" cy="523220"/>
            </a:xfrm>
            <a:prstGeom prst="rect">
              <a:avLst/>
            </a:prstGeom>
          </p:spPr>
          <p:txBody>
            <a:bodyPr wrap="none">
              <a:spAutoFit/>
            </a:bodyPr>
            <a:lstStyle/>
            <a:p>
              <a:r>
                <a:rPr lang="en-US" altLang="zh-CN" sz="2800" b="1" dirty="0" err="1" smtClean="0">
                  <a:solidFill>
                    <a:srgbClr val="0070C0"/>
                  </a:solidFill>
                  <a:latin typeface="思源黑体" panose="020B0500000000000000" pitchFamily="34" charset="-122"/>
                  <a:ea typeface="思源黑体" panose="020B0500000000000000" pitchFamily="34" charset="-122"/>
                  <a:sym typeface="+mn-lt"/>
                </a:rPr>
                <a:t>Iptables</a:t>
              </a:r>
              <a:r>
                <a:rPr lang="zh-CN" altLang="en-US" sz="2800" b="1" dirty="0" smtClean="0">
                  <a:solidFill>
                    <a:srgbClr val="0070C0"/>
                  </a:solidFill>
                  <a:latin typeface="思源黑体" panose="020B0500000000000000" pitchFamily="34" charset="-122"/>
                  <a:ea typeface="思源黑体" panose="020B0500000000000000" pitchFamily="34" charset="-122"/>
                  <a:sym typeface="+mn-lt"/>
                </a:rPr>
                <a:t>架构</a:t>
              </a:r>
              <a:endParaRPr lang="zh-CN" altLang="en-US" sz="2800" b="1" dirty="0">
                <a:solidFill>
                  <a:srgbClr val="0070C0"/>
                </a:solidFill>
                <a:latin typeface="思源黑体" panose="020B0500000000000000" pitchFamily="34" charset="-122"/>
                <a:ea typeface="思源黑体" panose="020B0500000000000000" pitchFamily="34" charset="-122"/>
                <a:sym typeface="+mn-lt"/>
              </a:endParaRPr>
            </a:p>
          </p:txBody>
        </p:sp>
      </p:grpSp>
      <p:grpSp>
        <p:nvGrpSpPr>
          <p:cNvPr id="6" name="组合 5"/>
          <p:cNvGrpSpPr/>
          <p:nvPr>
            <p:custDataLst>
              <p:tags r:id="rId2"/>
            </p:custDataLst>
          </p:nvPr>
        </p:nvGrpSpPr>
        <p:grpSpPr>
          <a:xfrm>
            <a:off x="6490340" y="2335210"/>
            <a:ext cx="4178780" cy="650877"/>
            <a:chOff x="6490340" y="1992310"/>
            <a:chExt cx="4178780" cy="650877"/>
          </a:xfrm>
        </p:grpSpPr>
        <p:sp>
          <p:nvSpPr>
            <p:cNvPr id="37" name="椭圆 16"/>
            <p:cNvSpPr>
              <a:spLocks noChangeArrowheads="1"/>
            </p:cNvSpPr>
            <p:nvPr>
              <p:custDataLst>
                <p:tags r:id="rId6"/>
              </p:custDataLst>
            </p:nvPr>
          </p:nvSpPr>
          <p:spPr bwMode="auto">
            <a:xfrm>
              <a:off x="6490340" y="1992310"/>
              <a:ext cx="659574" cy="650877"/>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b="1" dirty="0" smtClean="0">
                  <a:solidFill>
                    <a:srgbClr val="FFFFFF"/>
                  </a:solidFill>
                  <a:latin typeface="Calibri" panose="020F0502020204030204" pitchFamily="34" charset="0"/>
                </a:rPr>
                <a:t>2</a:t>
              </a:r>
              <a:endParaRPr lang="zh-CN" altLang="en-US" sz="2800" b="1" dirty="0">
                <a:solidFill>
                  <a:srgbClr val="FFFFFF"/>
                </a:solidFill>
                <a:latin typeface="Calibri" panose="020F0502020204030204" pitchFamily="34" charset="0"/>
              </a:endParaRPr>
            </a:p>
          </p:txBody>
        </p:sp>
        <p:sp>
          <p:nvSpPr>
            <p:cNvPr id="38" name="矩形 37"/>
            <p:cNvSpPr/>
            <p:nvPr>
              <p:custDataLst>
                <p:tags r:id="rId7"/>
              </p:custDataLst>
            </p:nvPr>
          </p:nvSpPr>
          <p:spPr>
            <a:xfrm>
              <a:off x="7321729" y="2047375"/>
              <a:ext cx="3347391" cy="523220"/>
            </a:xfrm>
            <a:prstGeom prst="rect">
              <a:avLst/>
            </a:prstGeom>
          </p:spPr>
          <p:txBody>
            <a:bodyPr wrap="none">
              <a:spAutoFit/>
            </a:bodyPr>
            <a:lstStyle/>
            <a:p>
              <a:r>
                <a:rPr lang="zh-CN" altLang="en-US" sz="2800" b="1" dirty="0" smtClean="0">
                  <a:solidFill>
                    <a:srgbClr val="0070C0"/>
                  </a:solidFill>
                  <a:latin typeface="思源黑体" panose="020B0500000000000000" pitchFamily="34" charset="-122"/>
                  <a:ea typeface="思源黑体" panose="020B0500000000000000" pitchFamily="34" charset="-122"/>
                  <a:sym typeface="+mn-lt"/>
                </a:rPr>
                <a:t>基本语法</a:t>
              </a:r>
              <a:r>
                <a:rPr lang="en-US" altLang="zh-CN" sz="2800" b="1" dirty="0" smtClean="0">
                  <a:solidFill>
                    <a:srgbClr val="0070C0"/>
                  </a:solidFill>
                  <a:latin typeface="思源黑体" panose="020B0500000000000000" pitchFamily="34" charset="-122"/>
                  <a:ea typeface="思源黑体" panose="020B0500000000000000" pitchFamily="34" charset="-122"/>
                  <a:sym typeface="+mn-lt"/>
                </a:rPr>
                <a:t>/</a:t>
              </a:r>
              <a:r>
                <a:rPr lang="zh-CN" altLang="en-US" sz="2800" b="1" dirty="0" smtClean="0">
                  <a:solidFill>
                    <a:srgbClr val="0070C0"/>
                  </a:solidFill>
                  <a:latin typeface="思源黑体" panose="020B0500000000000000" pitchFamily="34" charset="-122"/>
                  <a:ea typeface="思源黑体" panose="020B0500000000000000" pitchFamily="34" charset="-122"/>
                  <a:sym typeface="+mn-lt"/>
                </a:rPr>
                <a:t>命令参数</a:t>
              </a:r>
              <a:endParaRPr lang="zh-CN" altLang="en-US" sz="2800" b="1" dirty="0">
                <a:solidFill>
                  <a:srgbClr val="0070C0"/>
                </a:solidFill>
                <a:latin typeface="思源黑体" panose="020B0500000000000000" pitchFamily="34" charset="-122"/>
                <a:ea typeface="思源黑体" panose="020B0500000000000000" pitchFamily="34" charset="-122"/>
                <a:sym typeface="+mn-lt"/>
              </a:endParaRPr>
            </a:p>
          </p:txBody>
        </p:sp>
      </p:grpSp>
      <p:grpSp>
        <p:nvGrpSpPr>
          <p:cNvPr id="7" name="组合 6"/>
          <p:cNvGrpSpPr/>
          <p:nvPr>
            <p:custDataLst>
              <p:tags r:id="rId3"/>
            </p:custDataLst>
          </p:nvPr>
        </p:nvGrpSpPr>
        <p:grpSpPr>
          <a:xfrm>
            <a:off x="6490340" y="3187697"/>
            <a:ext cx="4616400" cy="650877"/>
            <a:chOff x="6490340" y="2844797"/>
            <a:chExt cx="4616400" cy="650877"/>
          </a:xfrm>
        </p:grpSpPr>
        <p:sp>
          <p:nvSpPr>
            <p:cNvPr id="40" name="椭圆 16"/>
            <p:cNvSpPr>
              <a:spLocks noChangeArrowheads="1"/>
            </p:cNvSpPr>
            <p:nvPr>
              <p:custDataLst>
                <p:tags r:id="rId4"/>
              </p:custDataLst>
            </p:nvPr>
          </p:nvSpPr>
          <p:spPr bwMode="auto">
            <a:xfrm>
              <a:off x="6490340" y="2844797"/>
              <a:ext cx="659574" cy="650877"/>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b="1" dirty="0" smtClean="0">
                  <a:solidFill>
                    <a:srgbClr val="FFFFFF"/>
                  </a:solidFill>
                  <a:latin typeface="Calibri" panose="020F0502020204030204" pitchFamily="34" charset="0"/>
                </a:rPr>
                <a:t>3</a:t>
              </a:r>
              <a:endParaRPr lang="zh-CN" altLang="en-US" sz="2800" b="1" dirty="0">
                <a:solidFill>
                  <a:srgbClr val="FFFFFF"/>
                </a:solidFill>
                <a:latin typeface="Calibri" panose="020F0502020204030204" pitchFamily="34" charset="0"/>
              </a:endParaRPr>
            </a:p>
          </p:txBody>
        </p:sp>
        <p:sp>
          <p:nvSpPr>
            <p:cNvPr id="41" name="矩形 40"/>
            <p:cNvSpPr/>
            <p:nvPr>
              <p:custDataLst>
                <p:tags r:id="rId5"/>
              </p:custDataLst>
            </p:nvPr>
          </p:nvSpPr>
          <p:spPr>
            <a:xfrm>
              <a:off x="7321729" y="2893581"/>
              <a:ext cx="3785011" cy="523220"/>
            </a:xfrm>
            <a:prstGeom prst="rect">
              <a:avLst/>
            </a:prstGeom>
          </p:spPr>
          <p:txBody>
            <a:bodyPr wrap="none">
              <a:spAutoFit/>
            </a:bodyPr>
            <a:lstStyle/>
            <a:p>
              <a:r>
                <a:rPr lang="en-US" altLang="zh-CN" sz="2800" b="1" dirty="0" err="1" smtClean="0">
                  <a:solidFill>
                    <a:srgbClr val="0070C0"/>
                  </a:solidFill>
                  <a:latin typeface="思源黑体" panose="020B0500000000000000" pitchFamily="34" charset="-122"/>
                  <a:ea typeface="思源黑体" panose="020B0500000000000000" pitchFamily="34" charset="-122"/>
                  <a:sym typeface="+mn-lt"/>
                </a:rPr>
                <a:t>Iptables</a:t>
              </a:r>
              <a:r>
                <a:rPr lang="zh-CN" altLang="en-US" sz="2800" b="1" dirty="0" smtClean="0">
                  <a:solidFill>
                    <a:srgbClr val="0070C0"/>
                  </a:solidFill>
                  <a:latin typeface="思源黑体" panose="020B0500000000000000" pitchFamily="34" charset="-122"/>
                  <a:ea typeface="思源黑体" panose="020B0500000000000000" pitchFamily="34" charset="-122"/>
                  <a:sym typeface="+mn-lt"/>
                </a:rPr>
                <a:t>在项目中应用</a:t>
              </a:r>
              <a:endParaRPr lang="zh-CN" altLang="en-US" sz="2800" b="1" dirty="0">
                <a:solidFill>
                  <a:srgbClr val="0070C0"/>
                </a:solidFill>
                <a:latin typeface="思源黑体" panose="020B0500000000000000" pitchFamily="34" charset="-122"/>
                <a:ea typeface="思源黑体" panose="020B0500000000000000" pitchFamily="34" charset="-122"/>
                <a:sym typeface="+mn-lt"/>
              </a:endParaRPr>
            </a:p>
          </p:txBody>
        </p:sp>
      </p:grpSp>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mc:AlternateContent xmlns:mc="http://schemas.openxmlformats.org/markup-compatibility/2006">
    <mc:Choice xmlns=""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nodeType="withEffect" p14:presetBounceEnd="42000">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14:bounceEnd="42000">
                                          <p:cBhvr additive="base">
                                            <p:cTn id="7" dur="500" fill="hold"/>
                                            <p:tgtEl>
                                              <p:spTgt spid="24"/>
                                            </p:tgtEl>
                                            <p:attrNameLst>
                                              <p:attrName>ppt_x</p:attrName>
                                            </p:attrNameLst>
                                          </p:cBhvr>
                                          <p:tavLst>
                                            <p:tav tm="0">
                                              <p:val>
                                                <p:strVal val="0-#ppt_w/2"/>
                                              </p:val>
                                            </p:tav>
                                            <p:tav tm="100000">
                                              <p:val>
                                                <p:strVal val="#ppt_x"/>
                                              </p:val>
                                            </p:tav>
                                          </p:tavLst>
                                        </p:anim>
                                        <p:anim calcmode="lin" valueType="num" p14:bounceEnd="42000">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9" fill="hold" grpId="0" nodeType="afterEffect" p14:presetBounceEnd="54000">
                                      <p:stCondLst>
                                        <p:cond delay="0"/>
                                      </p:stCondLst>
                                      <p:childTnLst>
                                        <p:set>
                                          <p:cBhvr>
                                            <p:cTn id="11" dur="1" fill="hold">
                                              <p:stCondLst>
                                                <p:cond delay="0"/>
                                              </p:stCondLst>
                                            </p:cTn>
                                            <p:tgtEl>
                                              <p:spTgt spid="27"/>
                                            </p:tgtEl>
                                            <p:attrNameLst>
                                              <p:attrName>style.visibility</p:attrName>
                                            </p:attrNameLst>
                                          </p:cBhvr>
                                          <p:to>
                                            <p:strVal val="visible"/>
                                          </p:to>
                                        </p:set>
                                        <p:anim calcmode="lin" valueType="num" p14:bounceEnd="54000">
                                          <p:cBhvr additive="base">
                                            <p:cTn id="12" dur="500" fill="hold"/>
                                            <p:tgtEl>
                                              <p:spTgt spid="27"/>
                                            </p:tgtEl>
                                            <p:attrNameLst>
                                              <p:attrName>ppt_x</p:attrName>
                                            </p:attrNameLst>
                                          </p:cBhvr>
                                          <p:tavLst>
                                            <p:tav tm="0">
                                              <p:val>
                                                <p:strVal val="0-#ppt_w/2"/>
                                              </p:val>
                                            </p:tav>
                                            <p:tav tm="100000">
                                              <p:val>
                                                <p:strVal val="#ppt_x"/>
                                              </p:val>
                                            </p:tav>
                                          </p:tavLst>
                                        </p:anim>
                                        <p:anim calcmode="lin" valueType="num" p14:bounceEnd="54000">
                                          <p:cBhvr additive="base">
                                            <p:cTn id="13" dur="500" fill="hold"/>
                                            <p:tgtEl>
                                              <p:spTgt spid="27"/>
                                            </p:tgtEl>
                                            <p:attrNameLst>
                                              <p:attrName>ppt_y</p:attrName>
                                            </p:attrNameLst>
                                          </p:cBhvr>
                                          <p:tavLst>
                                            <p:tav tm="0">
                                              <p:val>
                                                <p:strVal val="0-#ppt_h/2"/>
                                              </p:val>
                                            </p:tav>
                                            <p:tav tm="100000">
                                              <p:val>
                                                <p:strVal val="#ppt_y"/>
                                              </p:val>
                                            </p:tav>
                                          </p:tavLst>
                                        </p:anim>
                                      </p:childTnLst>
                                    </p:cTn>
                                  </p:par>
                                  <p:par>
                                    <p:cTn id="14" presetID="2" presetClass="entr" presetSubtype="9" fill="hold" grpId="0" nodeType="withEffect" p14:presetBounceEnd="54000">
                                      <p:stCondLst>
                                        <p:cond delay="0"/>
                                      </p:stCondLst>
                                      <p:childTnLst>
                                        <p:set>
                                          <p:cBhvr>
                                            <p:cTn id="15" dur="1" fill="hold">
                                              <p:stCondLst>
                                                <p:cond delay="0"/>
                                              </p:stCondLst>
                                            </p:cTn>
                                            <p:tgtEl>
                                              <p:spTgt spid="28"/>
                                            </p:tgtEl>
                                            <p:attrNameLst>
                                              <p:attrName>style.visibility</p:attrName>
                                            </p:attrNameLst>
                                          </p:cBhvr>
                                          <p:to>
                                            <p:strVal val="visible"/>
                                          </p:to>
                                        </p:set>
                                        <p:anim calcmode="lin" valueType="num" p14:bounceEnd="54000">
                                          <p:cBhvr additive="base">
                                            <p:cTn id="16" dur="500" fill="hold"/>
                                            <p:tgtEl>
                                              <p:spTgt spid="28"/>
                                            </p:tgtEl>
                                            <p:attrNameLst>
                                              <p:attrName>ppt_x</p:attrName>
                                            </p:attrNameLst>
                                          </p:cBhvr>
                                          <p:tavLst>
                                            <p:tav tm="0">
                                              <p:val>
                                                <p:strVal val="0-#ppt_w/2"/>
                                              </p:val>
                                            </p:tav>
                                            <p:tav tm="100000">
                                              <p:val>
                                                <p:strVal val="#ppt_x"/>
                                              </p:val>
                                            </p:tav>
                                          </p:tavLst>
                                        </p:anim>
                                        <p:anim calcmode="lin" valueType="num" p14:bounceEnd="54000">
                                          <p:cBhvr additive="base">
                                            <p:cTn id="17" dur="500" fill="hold"/>
                                            <p:tgtEl>
                                              <p:spTgt spid="28"/>
                                            </p:tgtEl>
                                            <p:attrNameLst>
                                              <p:attrName>ppt_y</p:attrName>
                                            </p:attrNameLst>
                                          </p:cBhvr>
                                          <p:tavLst>
                                            <p:tav tm="0">
                                              <p:val>
                                                <p:strVal val="0-#ppt_h/2"/>
                                              </p:val>
                                            </p:tav>
                                            <p:tav tm="100000">
                                              <p:val>
                                                <p:strVal val="#ppt_y"/>
                                              </p:val>
                                            </p:tav>
                                          </p:tavLst>
                                        </p:anim>
                                      </p:childTnLst>
                                    </p:cTn>
                                  </p:par>
                                  <p:par>
                                    <p:cTn id="18" presetID="2" presetClass="entr" presetSubtype="9" fill="hold" nodeType="withEffect" p14:presetBounceEnd="54000">
                                      <p:stCondLst>
                                        <p:cond delay="0"/>
                                      </p:stCondLst>
                                      <p:childTnLst>
                                        <p:set>
                                          <p:cBhvr>
                                            <p:cTn id="19" dur="1" fill="hold">
                                              <p:stCondLst>
                                                <p:cond delay="0"/>
                                              </p:stCondLst>
                                            </p:cTn>
                                            <p:tgtEl>
                                              <p:spTgt spid="29"/>
                                            </p:tgtEl>
                                            <p:attrNameLst>
                                              <p:attrName>style.visibility</p:attrName>
                                            </p:attrNameLst>
                                          </p:cBhvr>
                                          <p:to>
                                            <p:strVal val="visible"/>
                                          </p:to>
                                        </p:set>
                                        <p:anim calcmode="lin" valueType="num" p14:bounceEnd="54000">
                                          <p:cBhvr additive="base">
                                            <p:cTn id="20" dur="500" fill="hold"/>
                                            <p:tgtEl>
                                              <p:spTgt spid="29"/>
                                            </p:tgtEl>
                                            <p:attrNameLst>
                                              <p:attrName>ppt_x</p:attrName>
                                            </p:attrNameLst>
                                          </p:cBhvr>
                                          <p:tavLst>
                                            <p:tav tm="0">
                                              <p:val>
                                                <p:strVal val="0-#ppt_w/2"/>
                                              </p:val>
                                            </p:tav>
                                            <p:tav tm="100000">
                                              <p:val>
                                                <p:strVal val="#ppt_x"/>
                                              </p:val>
                                            </p:tav>
                                          </p:tavLst>
                                        </p:anim>
                                        <p:anim calcmode="lin" valueType="num" p14:bounceEnd="54000">
                                          <p:cBhvr additive="base">
                                            <p:cTn id="21" dur="500" fill="hold"/>
                                            <p:tgtEl>
                                              <p:spTgt spid="2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0-#ppt_w/2"/>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9" fill="hold" grpId="0" nodeType="afterEffect">
                                      <p:stCondLst>
                                        <p:cond delay="0"/>
                                      </p:stCondLst>
                                      <p:childTnLst>
                                        <p:set>
                                          <p:cBhvr>
                                            <p:cTn id="11" dur="1" fill="hold">
                                              <p:stCondLst>
                                                <p:cond delay="0"/>
                                              </p:stCondLst>
                                            </p:cTn>
                                            <p:tgtEl>
                                              <p:spTgt spid="27"/>
                                            </p:tgtEl>
                                            <p:attrNameLst>
                                              <p:attrName>style.visibility</p:attrName>
                                            </p:attrNameLst>
                                          </p:cBhvr>
                                          <p:to>
                                            <p:strVal val="visible"/>
                                          </p:to>
                                        </p:set>
                                        <p:anim calcmode="lin" valueType="num">
                                          <p:cBhvr additive="base">
                                            <p:cTn id="12" dur="500" fill="hold"/>
                                            <p:tgtEl>
                                              <p:spTgt spid="27"/>
                                            </p:tgtEl>
                                            <p:attrNameLst>
                                              <p:attrName>ppt_x</p:attrName>
                                            </p:attrNameLst>
                                          </p:cBhvr>
                                          <p:tavLst>
                                            <p:tav tm="0">
                                              <p:val>
                                                <p:strVal val="0-#ppt_w/2"/>
                                              </p:val>
                                            </p:tav>
                                            <p:tav tm="100000">
                                              <p:val>
                                                <p:strVal val="#ppt_x"/>
                                              </p:val>
                                            </p:tav>
                                          </p:tavLst>
                                        </p:anim>
                                        <p:anim calcmode="lin" valueType="num">
                                          <p:cBhvr additive="base">
                                            <p:cTn id="13" dur="500" fill="hold"/>
                                            <p:tgtEl>
                                              <p:spTgt spid="27"/>
                                            </p:tgtEl>
                                            <p:attrNameLst>
                                              <p:attrName>ppt_y</p:attrName>
                                            </p:attrNameLst>
                                          </p:cBhvr>
                                          <p:tavLst>
                                            <p:tav tm="0">
                                              <p:val>
                                                <p:strVal val="0-#ppt_h/2"/>
                                              </p:val>
                                            </p:tav>
                                            <p:tav tm="100000">
                                              <p:val>
                                                <p:strVal val="#ppt_y"/>
                                              </p:val>
                                            </p:tav>
                                          </p:tavLst>
                                        </p:anim>
                                      </p:childTnLst>
                                    </p:cTn>
                                  </p:par>
                                  <p:par>
                                    <p:cTn id="14" presetID="2" presetClass="entr" presetSubtype="9" fill="hold" grpId="0" nodeType="withEffect">
                                      <p:stCondLst>
                                        <p:cond delay="0"/>
                                      </p:stCondLst>
                                      <p:childTnLst>
                                        <p:set>
                                          <p:cBhvr>
                                            <p:cTn id="15" dur="1" fill="hold">
                                              <p:stCondLst>
                                                <p:cond delay="0"/>
                                              </p:stCondLst>
                                            </p:cTn>
                                            <p:tgtEl>
                                              <p:spTgt spid="28"/>
                                            </p:tgtEl>
                                            <p:attrNameLst>
                                              <p:attrName>style.visibility</p:attrName>
                                            </p:attrNameLst>
                                          </p:cBhvr>
                                          <p:to>
                                            <p:strVal val="visible"/>
                                          </p:to>
                                        </p:set>
                                        <p:anim calcmode="lin" valueType="num">
                                          <p:cBhvr additive="base">
                                            <p:cTn id="16" dur="500" fill="hold"/>
                                            <p:tgtEl>
                                              <p:spTgt spid="28"/>
                                            </p:tgtEl>
                                            <p:attrNameLst>
                                              <p:attrName>ppt_x</p:attrName>
                                            </p:attrNameLst>
                                          </p:cBhvr>
                                          <p:tavLst>
                                            <p:tav tm="0">
                                              <p:val>
                                                <p:strVal val="0-#ppt_w/2"/>
                                              </p:val>
                                            </p:tav>
                                            <p:tav tm="100000">
                                              <p:val>
                                                <p:strVal val="#ppt_x"/>
                                              </p:val>
                                            </p:tav>
                                          </p:tavLst>
                                        </p:anim>
                                        <p:anim calcmode="lin" valueType="num">
                                          <p:cBhvr additive="base">
                                            <p:cTn id="17" dur="500" fill="hold"/>
                                            <p:tgtEl>
                                              <p:spTgt spid="28"/>
                                            </p:tgtEl>
                                            <p:attrNameLst>
                                              <p:attrName>ppt_y</p:attrName>
                                            </p:attrNameLst>
                                          </p:cBhvr>
                                          <p:tavLst>
                                            <p:tav tm="0">
                                              <p:val>
                                                <p:strVal val="0-#ppt_h/2"/>
                                              </p:val>
                                            </p:tav>
                                            <p:tav tm="100000">
                                              <p:val>
                                                <p:strVal val="#ppt_y"/>
                                              </p:val>
                                            </p:tav>
                                          </p:tavLst>
                                        </p:anim>
                                      </p:childTnLst>
                                    </p:cTn>
                                  </p:par>
                                  <p:par>
                                    <p:cTn id="18" presetID="2" presetClass="entr" presetSubtype="9"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anim calcmode="lin" valueType="num">
                                          <p:cBhvr additive="base">
                                            <p:cTn id="20" dur="500" fill="hold"/>
                                            <p:tgtEl>
                                              <p:spTgt spid="29"/>
                                            </p:tgtEl>
                                            <p:attrNameLst>
                                              <p:attrName>ppt_x</p:attrName>
                                            </p:attrNameLst>
                                          </p:cBhvr>
                                          <p:tavLst>
                                            <p:tav tm="0">
                                              <p:val>
                                                <p:strVal val="0-#ppt_w/2"/>
                                              </p:val>
                                            </p:tav>
                                            <p:tav tm="100000">
                                              <p:val>
                                                <p:strVal val="#ppt_x"/>
                                              </p:val>
                                            </p:tav>
                                          </p:tavLst>
                                        </p:anim>
                                        <p:anim calcmode="lin" valueType="num">
                                          <p:cBhvr additive="base">
                                            <p:cTn id="21" dur="500" fill="hold"/>
                                            <p:tgtEl>
                                              <p:spTgt spid="2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Lst>
      </p:timing>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5846" y="2336337"/>
            <a:ext cx="12192000" cy="129271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 name="文本框 17"/>
          <p:cNvSpPr txBox="1"/>
          <p:nvPr/>
        </p:nvSpPr>
        <p:spPr>
          <a:xfrm>
            <a:off x="4450112" y="2686634"/>
            <a:ext cx="4319425" cy="646331"/>
          </a:xfrm>
          <a:prstGeom prst="rect">
            <a:avLst/>
          </a:prstGeom>
          <a:noFill/>
        </p:spPr>
        <p:txBody>
          <a:bodyPr wrap="square" rtlCol="0">
            <a:spAutoFit/>
          </a:bodyPr>
          <a:lstStyle/>
          <a:p>
            <a:r>
              <a:rPr lang="en-US" altLang="zh-CN" sz="3600" b="1" dirty="0" err="1" smtClean="0">
                <a:solidFill>
                  <a:schemeClr val="bg1"/>
                </a:solidFill>
                <a:latin typeface="思源黑体" panose="020B0500000000000000" pitchFamily="34" charset="-122"/>
                <a:ea typeface="思源黑体" panose="020B0500000000000000" pitchFamily="34" charset="-122"/>
                <a:sym typeface="+mn-lt"/>
              </a:rPr>
              <a:t>Iptables</a:t>
            </a:r>
            <a:r>
              <a:rPr lang="zh-CN" altLang="en-US" sz="3600" b="1" dirty="0" smtClean="0">
                <a:solidFill>
                  <a:schemeClr val="bg1"/>
                </a:solidFill>
                <a:latin typeface="思源黑体" panose="020B0500000000000000" pitchFamily="34" charset="-122"/>
                <a:ea typeface="思源黑体" panose="020B0500000000000000" pitchFamily="34" charset="-122"/>
                <a:sym typeface="+mn-lt"/>
              </a:rPr>
              <a:t>架构</a:t>
            </a:r>
            <a:endParaRPr lang="en-US" altLang="zh-CN" sz="3600" b="1" dirty="0">
              <a:solidFill>
                <a:schemeClr val="bg1"/>
              </a:solidFill>
              <a:latin typeface="思源黑体" panose="020B0500000000000000" pitchFamily="34" charset="-122"/>
              <a:ea typeface="思源黑体" panose="020B0500000000000000" pitchFamily="34" charset="-122"/>
            </a:endParaRPr>
          </a:p>
        </p:txBody>
      </p:sp>
      <p:grpSp>
        <p:nvGrpSpPr>
          <p:cNvPr id="41" name="组合 40"/>
          <p:cNvGrpSpPr/>
          <p:nvPr/>
        </p:nvGrpSpPr>
        <p:grpSpPr>
          <a:xfrm>
            <a:off x="1822608" y="1985811"/>
            <a:ext cx="2114741" cy="2697003"/>
            <a:chOff x="1041891" y="2887277"/>
            <a:chExt cx="1036261" cy="1321580"/>
          </a:xfrm>
        </p:grpSpPr>
        <p:sp>
          <p:nvSpPr>
            <p:cNvPr id="42" name="Oval 53"/>
            <p:cNvSpPr>
              <a:spLocks noChangeArrowheads="1"/>
            </p:cNvSpPr>
            <p:nvPr/>
          </p:nvSpPr>
          <p:spPr bwMode="auto">
            <a:xfrm>
              <a:off x="1041891" y="2887277"/>
              <a:ext cx="1036261" cy="1036518"/>
            </a:xfrm>
            <a:prstGeom prst="ellipse">
              <a:avLst/>
            </a:prstGeom>
            <a:solidFill>
              <a:srgbClr val="0070C0"/>
            </a:solidFill>
            <a:ln w="88900">
              <a:gradFill flip="none" rotWithShape="1">
                <a:gsLst>
                  <a:gs pos="0">
                    <a:srgbClr val="FFFFFF"/>
                  </a:gs>
                  <a:gs pos="100000">
                    <a:srgbClr val="D9D9DA"/>
                  </a:gs>
                </a:gsLst>
                <a:lin ang="2700000" scaled="0"/>
                <a:tileRect/>
              </a:grad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endParaRPr lang="zh-CN" altLang="en-US" sz="5865">
                <a:latin typeface="思源黑体" panose="020B0500000000000000" pitchFamily="34" charset="-122"/>
                <a:ea typeface="思源黑体" panose="020B0500000000000000" pitchFamily="34" charset="-122"/>
              </a:endParaRPr>
            </a:p>
          </p:txBody>
        </p:sp>
        <p:sp>
          <p:nvSpPr>
            <p:cNvPr id="43" name="Text Box 58"/>
            <p:cNvSpPr txBox="1">
              <a:spLocks noChangeArrowheads="1"/>
            </p:cNvSpPr>
            <p:nvPr/>
          </p:nvSpPr>
          <p:spPr bwMode="auto">
            <a:xfrm>
              <a:off x="1159958" y="3077737"/>
              <a:ext cx="782803" cy="11311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lIns="91440" tIns="45720" rIns="91440" bIns="45720">
              <a:spAutoFit/>
            </a:bodyPr>
            <a:lstStyle/>
            <a:p>
              <a:pPr algn="ctr"/>
              <a:r>
                <a:rPr lang="en-US" altLang="zh-CN" sz="5000" b="1" dirty="0">
                  <a:solidFill>
                    <a:schemeClr val="bg1"/>
                  </a:solidFill>
                  <a:latin typeface="Calibri" panose="020F0502020204030204" pitchFamily="34" charset="0"/>
                  <a:ea typeface="华文琥珀" panose="02010800040101010101" pitchFamily="2" charset="-122"/>
                  <a:cs typeface="Calibri" panose="020F0502020204030204" pitchFamily="34" charset="0"/>
                </a:rPr>
                <a:t>PART  </a:t>
              </a:r>
              <a:r>
                <a:rPr lang="en-US" altLang="zh-CN" sz="5000" b="1" dirty="0" smtClean="0">
                  <a:solidFill>
                    <a:schemeClr val="bg1"/>
                  </a:solidFill>
                  <a:latin typeface="Calibri" panose="020F0502020204030204" pitchFamily="34" charset="0"/>
                  <a:ea typeface="华文琥珀" panose="02010800040101010101" pitchFamily="2" charset="-122"/>
                  <a:cs typeface="Calibri" panose="020F0502020204030204" pitchFamily="34" charset="0"/>
                </a:rPr>
                <a:t>1</a:t>
              </a:r>
              <a:endParaRPr lang="en-US" altLang="zh-CN" sz="5000" b="1" dirty="0">
                <a:solidFill>
                  <a:schemeClr val="bg1"/>
                </a:solidFill>
                <a:latin typeface="Calibri" panose="020F0502020204030204" pitchFamily="34" charset="0"/>
                <a:ea typeface="华文琥珀" panose="02010800040101010101" pitchFamily="2" charset="-122"/>
                <a:cs typeface="Calibri" panose="020F0502020204030204" pitchFamily="34" charset="0"/>
              </a:endParaRPr>
            </a:p>
            <a:p>
              <a:pPr algn="ctr"/>
              <a:r>
                <a:rPr lang="en-US" altLang="zh-CN" sz="4400" dirty="0" smtClean="0">
                  <a:solidFill>
                    <a:schemeClr val="bg1"/>
                  </a:solidFill>
                  <a:latin typeface="Calibri" panose="020F0502020204030204" pitchFamily="34" charset="0"/>
                  <a:ea typeface="思源黑体" panose="020B0500000000000000" pitchFamily="34" charset="-122"/>
                  <a:cs typeface="Calibri" panose="020F0502020204030204" pitchFamily="34" charset="0"/>
                </a:rPr>
                <a:t> </a:t>
              </a:r>
              <a:endParaRPr lang="en-US" altLang="zh-CN" sz="4400" dirty="0">
                <a:solidFill>
                  <a:schemeClr val="bg1"/>
                </a:solidFill>
                <a:latin typeface="Calibri" panose="020F0502020204030204" pitchFamily="34" charset="0"/>
                <a:ea typeface="思源黑体" panose="020B0500000000000000" pitchFamily="34" charset="-122"/>
                <a:cs typeface="Calibri" panose="020F0502020204030204" pitchFamily="34" charset="0"/>
              </a:endParaRPr>
            </a:p>
          </p:txBody>
        </p:sp>
      </p:grpSp>
      <p:sp>
        <p:nvSpPr>
          <p:cNvPr id="44" name="矩形 43"/>
          <p:cNvSpPr/>
          <p:nvPr/>
        </p:nvSpPr>
        <p:spPr>
          <a:xfrm>
            <a:off x="4524489" y="3801377"/>
            <a:ext cx="2843022" cy="369332"/>
          </a:xfrm>
          <a:prstGeom prst="rect">
            <a:avLst/>
          </a:prstGeom>
        </p:spPr>
        <p:txBody>
          <a:bodyPr wrap="none">
            <a:spAutoFit/>
          </a:bodyPr>
          <a:lstStyle/>
          <a:p>
            <a:r>
              <a:rPr lang="en-US" altLang="zh-CN" b="1" dirty="0" smtClean="0">
                <a:solidFill>
                  <a:srgbClr val="0070C0"/>
                </a:solidFill>
                <a:latin typeface="思源黑体" panose="020B0500000000000000" pitchFamily="34" charset="-122"/>
                <a:ea typeface="思源黑体" panose="020B0500000000000000" pitchFamily="34" charset="-122"/>
              </a:rPr>
              <a:t>1</a:t>
            </a:r>
            <a:r>
              <a:rPr lang="zh-CN" altLang="en-US" b="1" dirty="0" smtClean="0">
                <a:solidFill>
                  <a:srgbClr val="0070C0"/>
                </a:solidFill>
                <a:latin typeface="思源黑体" panose="020B0500000000000000" pitchFamily="34" charset="-122"/>
                <a:ea typeface="思源黑体" panose="020B0500000000000000" pitchFamily="34" charset="-122"/>
              </a:rPr>
              <a:t>、</a:t>
            </a:r>
            <a:r>
              <a:rPr lang="en-US" altLang="zh-CN" b="1" dirty="0" err="1" smtClean="0">
                <a:solidFill>
                  <a:srgbClr val="0070C0"/>
                </a:solidFill>
                <a:latin typeface="思源黑体" panose="020B0500000000000000" pitchFamily="34" charset="-122"/>
                <a:ea typeface="思源黑体" panose="020B0500000000000000" pitchFamily="34" charset="-122"/>
              </a:rPr>
              <a:t>Iptables</a:t>
            </a:r>
            <a:r>
              <a:rPr lang="zh-CN" altLang="en-US" b="1" dirty="0" smtClean="0">
                <a:solidFill>
                  <a:srgbClr val="0070C0"/>
                </a:solidFill>
                <a:latin typeface="思源黑体" panose="020B0500000000000000" pitchFamily="34" charset="-122"/>
                <a:ea typeface="思源黑体" panose="020B0500000000000000" pitchFamily="34" charset="-122"/>
              </a:rPr>
              <a:t> 和 </a:t>
            </a:r>
            <a:r>
              <a:rPr lang="en-US" altLang="zh-CN" b="1" dirty="0" err="1" smtClean="0">
                <a:solidFill>
                  <a:srgbClr val="0070C0"/>
                </a:solidFill>
                <a:latin typeface="思源黑体" panose="020B0500000000000000" pitchFamily="34" charset="-122"/>
                <a:ea typeface="思源黑体" panose="020B0500000000000000" pitchFamily="34" charset="-122"/>
              </a:rPr>
              <a:t>Netfilter</a:t>
            </a:r>
            <a:endParaRPr lang="zh-CN" altLang="en-US" b="1" dirty="0">
              <a:solidFill>
                <a:srgbClr val="0070C0"/>
              </a:solidFill>
              <a:latin typeface="思源黑体" panose="020B0500000000000000" pitchFamily="34" charset="-122"/>
              <a:ea typeface="思源黑体" panose="020B0500000000000000" pitchFamily="34" charset="-122"/>
            </a:endParaRPr>
          </a:p>
        </p:txBody>
      </p:sp>
      <p:grpSp>
        <p:nvGrpSpPr>
          <p:cNvPr id="45" name="组合 44"/>
          <p:cNvGrpSpPr/>
          <p:nvPr/>
        </p:nvGrpSpPr>
        <p:grpSpPr>
          <a:xfrm>
            <a:off x="10729790" y="2540217"/>
            <a:ext cx="1145728" cy="1261160"/>
            <a:chOff x="1696902" y="1658204"/>
            <a:chExt cx="1357422" cy="1785621"/>
          </a:xfrm>
        </p:grpSpPr>
        <p:grpSp>
          <p:nvGrpSpPr>
            <p:cNvPr id="46" name="组合 45"/>
            <p:cNvGrpSpPr/>
            <p:nvPr/>
          </p:nvGrpSpPr>
          <p:grpSpPr>
            <a:xfrm>
              <a:off x="1696902" y="1658204"/>
              <a:ext cx="1357422" cy="1785621"/>
              <a:chOff x="1434530" y="1923678"/>
              <a:chExt cx="875843" cy="1152128"/>
            </a:xfrm>
          </p:grpSpPr>
          <p:sp>
            <p:nvSpPr>
              <p:cNvPr id="51" name="椭圆 2"/>
              <p:cNvSpPr/>
              <p:nvPr/>
            </p:nvSpPr>
            <p:spPr>
              <a:xfrm rot="1761192">
                <a:off x="1734309" y="1923678"/>
                <a:ext cx="576064" cy="1152128"/>
              </a:xfrm>
              <a:custGeom>
                <a:avLst/>
                <a:gdLst/>
                <a:ahLst/>
                <a:cxnLst/>
                <a:rect l="l" t="t" r="r" b="b"/>
                <a:pathLst>
                  <a:path w="576064" h="1152128">
                    <a:moveTo>
                      <a:pt x="0" y="0"/>
                    </a:moveTo>
                    <a:cubicBezTo>
                      <a:pt x="318151" y="0"/>
                      <a:pt x="576064" y="257913"/>
                      <a:pt x="576064" y="576064"/>
                    </a:cubicBezTo>
                    <a:cubicBezTo>
                      <a:pt x="576064" y="894215"/>
                      <a:pt x="318151" y="1152128"/>
                      <a:pt x="0" y="1152128"/>
                    </a:cubicBezTo>
                    <a:close/>
                  </a:path>
                </a:pathLst>
              </a:custGeom>
              <a:solidFill>
                <a:srgbClr val="EAEAEA">
                  <a:alpha val="30196"/>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49" name="TextBox 4"/>
              <p:cNvSpPr txBox="1"/>
              <p:nvPr/>
            </p:nvSpPr>
            <p:spPr>
              <a:xfrm>
                <a:off x="1434530" y="2496128"/>
                <a:ext cx="728783" cy="42175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endParaRPr>
              </a:p>
            </p:txBody>
          </p:sp>
        </p:grpSp>
        <p:sp>
          <p:nvSpPr>
            <p:cNvPr id="47" name="Freeform 14"/>
            <p:cNvSpPr>
              <a:spLocks noEditPoints="1"/>
            </p:cNvSpPr>
            <p:nvPr/>
          </p:nvSpPr>
          <p:spPr bwMode="auto">
            <a:xfrm>
              <a:off x="2001870" y="1860853"/>
              <a:ext cx="824533" cy="812699"/>
            </a:xfrm>
            <a:custGeom>
              <a:avLst/>
              <a:gdLst>
                <a:gd name="T0" fmla="*/ 221450 w 427"/>
                <a:gd name="T1" fmla="*/ 125841 h 408"/>
                <a:gd name="T2" fmla="*/ 216788 w 427"/>
                <a:gd name="T3" fmla="*/ 135459 h 408"/>
                <a:gd name="T4" fmla="*/ 216011 w 427"/>
                <a:gd name="T5" fmla="*/ 141871 h 408"/>
                <a:gd name="T6" fmla="*/ 216011 w 427"/>
                <a:gd name="T7" fmla="*/ 153894 h 408"/>
                <a:gd name="T8" fmla="*/ 220673 w 427"/>
                <a:gd name="T9" fmla="*/ 165917 h 408"/>
                <a:gd name="T10" fmla="*/ 223781 w 427"/>
                <a:gd name="T11" fmla="*/ 171528 h 408"/>
                <a:gd name="T12" fmla="*/ 233106 w 427"/>
                <a:gd name="T13" fmla="*/ 179543 h 408"/>
                <a:gd name="T14" fmla="*/ 239322 w 427"/>
                <a:gd name="T15" fmla="*/ 182749 h 408"/>
                <a:gd name="T16" fmla="*/ 252531 w 427"/>
                <a:gd name="T17" fmla="*/ 109008 h 408"/>
                <a:gd name="T18" fmla="*/ 236991 w 427"/>
                <a:gd name="T19" fmla="*/ 112214 h 408"/>
                <a:gd name="T20" fmla="*/ 228444 w 427"/>
                <a:gd name="T21" fmla="*/ 117825 h 408"/>
                <a:gd name="T22" fmla="*/ 224558 w 427"/>
                <a:gd name="T23" fmla="*/ 121833 h 408"/>
                <a:gd name="T24" fmla="*/ 202802 w 427"/>
                <a:gd name="T25" fmla="*/ 37672 h 408"/>
                <a:gd name="T26" fmla="*/ 165505 w 427"/>
                <a:gd name="T27" fmla="*/ 76146 h 408"/>
                <a:gd name="T28" fmla="*/ 200471 w 427"/>
                <a:gd name="T29" fmla="*/ 153894 h 408"/>
                <a:gd name="T30" fmla="*/ 200471 w 427"/>
                <a:gd name="T31" fmla="*/ 138665 h 408"/>
                <a:gd name="T32" fmla="*/ 189593 w 427"/>
                <a:gd name="T33" fmla="*/ 83359 h 408"/>
                <a:gd name="T34" fmla="*/ 131316 w 427"/>
                <a:gd name="T35" fmla="*/ 146680 h 408"/>
                <a:gd name="T36" fmla="*/ 165505 w 427"/>
                <a:gd name="T37" fmla="*/ 215612 h 408"/>
                <a:gd name="T38" fmla="*/ 149188 w 427"/>
                <a:gd name="T39" fmla="*/ 218017 h 408"/>
                <a:gd name="T40" fmla="*/ 140640 w 427"/>
                <a:gd name="T41" fmla="*/ 208398 h 408"/>
                <a:gd name="T42" fmla="*/ 135201 w 427"/>
                <a:gd name="T43" fmla="*/ 203589 h 408"/>
                <a:gd name="T44" fmla="*/ 112668 w 427"/>
                <a:gd name="T45" fmla="*/ 193971 h 408"/>
                <a:gd name="T46" fmla="*/ 103343 w 427"/>
                <a:gd name="T47" fmla="*/ 193169 h 408"/>
                <a:gd name="T48" fmla="*/ 0 w 427"/>
                <a:gd name="T49" fmla="*/ 327025 h 408"/>
                <a:gd name="T50" fmla="*/ 43513 w 427"/>
                <a:gd name="T51" fmla="*/ 247673 h 408"/>
                <a:gd name="T52" fmla="*/ 113445 w 427"/>
                <a:gd name="T53" fmla="*/ 247673 h 408"/>
                <a:gd name="T54" fmla="*/ 158512 w 427"/>
                <a:gd name="T55" fmla="*/ 327025 h 408"/>
                <a:gd name="T56" fmla="*/ 149188 w 427"/>
                <a:gd name="T57" fmla="*/ 218017 h 408"/>
                <a:gd name="T58" fmla="*/ 228444 w 427"/>
                <a:gd name="T59" fmla="*/ 193169 h 408"/>
                <a:gd name="T60" fmla="*/ 218342 w 427"/>
                <a:gd name="T61" fmla="*/ 193971 h 408"/>
                <a:gd name="T62" fmla="*/ 190370 w 427"/>
                <a:gd name="T63" fmla="*/ 208398 h 408"/>
                <a:gd name="T64" fmla="*/ 186484 w 427"/>
                <a:gd name="T65" fmla="*/ 213207 h 408"/>
                <a:gd name="T66" fmla="*/ 205133 w 427"/>
                <a:gd name="T67" fmla="*/ 327025 h 408"/>
                <a:gd name="T68" fmla="*/ 216788 w 427"/>
                <a:gd name="T69" fmla="*/ 327025 h 408"/>
                <a:gd name="T70" fmla="*/ 298375 w 427"/>
                <a:gd name="T71" fmla="*/ 247673 h 408"/>
                <a:gd name="T72" fmla="*/ 331787 w 427"/>
                <a:gd name="T73" fmla="*/ 250879 h 408"/>
                <a:gd name="T74" fmla="*/ 79256 w 427"/>
                <a:gd name="T75" fmla="*/ 185154 h 408"/>
                <a:gd name="T76" fmla="*/ 97904 w 427"/>
                <a:gd name="T77" fmla="*/ 179543 h 408"/>
                <a:gd name="T78" fmla="*/ 103343 w 427"/>
                <a:gd name="T79" fmla="*/ 176337 h 408"/>
                <a:gd name="T80" fmla="*/ 113445 w 427"/>
                <a:gd name="T81" fmla="*/ 160306 h 408"/>
                <a:gd name="T82" fmla="*/ 115776 w 427"/>
                <a:gd name="T83" fmla="*/ 153093 h 408"/>
                <a:gd name="T84" fmla="*/ 115776 w 427"/>
                <a:gd name="T85" fmla="*/ 140268 h 408"/>
                <a:gd name="T86" fmla="*/ 112668 w 427"/>
                <a:gd name="T87" fmla="*/ 131451 h 408"/>
                <a:gd name="T88" fmla="*/ 110337 w 427"/>
                <a:gd name="T89" fmla="*/ 125841 h 408"/>
                <a:gd name="T90" fmla="*/ 103343 w 427"/>
                <a:gd name="T91" fmla="*/ 117825 h 408"/>
                <a:gd name="T92" fmla="*/ 97904 w 427"/>
                <a:gd name="T93" fmla="*/ 114619 h 408"/>
                <a:gd name="T94" fmla="*/ 79256 w 427"/>
                <a:gd name="T95" fmla="*/ 109008 h 40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427" h="408">
                  <a:moveTo>
                    <a:pt x="289" y="152"/>
                  </a:moveTo>
                  <a:cubicBezTo>
                    <a:pt x="288" y="154"/>
                    <a:pt x="286" y="155"/>
                    <a:pt x="285" y="157"/>
                  </a:cubicBezTo>
                  <a:cubicBezTo>
                    <a:pt x="285" y="157"/>
                    <a:pt x="285" y="157"/>
                    <a:pt x="285" y="157"/>
                  </a:cubicBezTo>
                  <a:cubicBezTo>
                    <a:pt x="284" y="159"/>
                    <a:pt x="283" y="161"/>
                    <a:pt x="282" y="162"/>
                  </a:cubicBezTo>
                  <a:cubicBezTo>
                    <a:pt x="282" y="163"/>
                    <a:pt x="282" y="163"/>
                    <a:pt x="282" y="164"/>
                  </a:cubicBezTo>
                  <a:cubicBezTo>
                    <a:pt x="281" y="165"/>
                    <a:pt x="280" y="167"/>
                    <a:pt x="279" y="169"/>
                  </a:cubicBezTo>
                  <a:cubicBezTo>
                    <a:pt x="279" y="169"/>
                    <a:pt x="279" y="169"/>
                    <a:pt x="279" y="170"/>
                  </a:cubicBezTo>
                  <a:cubicBezTo>
                    <a:pt x="279" y="171"/>
                    <a:pt x="278" y="173"/>
                    <a:pt x="278" y="175"/>
                  </a:cubicBezTo>
                  <a:cubicBezTo>
                    <a:pt x="278" y="176"/>
                    <a:pt x="278" y="176"/>
                    <a:pt x="278" y="177"/>
                  </a:cubicBezTo>
                  <a:cubicBezTo>
                    <a:pt x="277" y="179"/>
                    <a:pt x="277" y="181"/>
                    <a:pt x="277" y="183"/>
                  </a:cubicBezTo>
                  <a:cubicBezTo>
                    <a:pt x="277" y="186"/>
                    <a:pt x="278" y="189"/>
                    <a:pt x="278" y="191"/>
                  </a:cubicBezTo>
                  <a:cubicBezTo>
                    <a:pt x="278" y="192"/>
                    <a:pt x="278" y="192"/>
                    <a:pt x="278" y="192"/>
                  </a:cubicBezTo>
                  <a:cubicBezTo>
                    <a:pt x="279" y="195"/>
                    <a:pt x="279" y="197"/>
                    <a:pt x="280" y="199"/>
                  </a:cubicBezTo>
                  <a:cubicBezTo>
                    <a:pt x="280" y="200"/>
                    <a:pt x="280" y="200"/>
                    <a:pt x="280" y="200"/>
                  </a:cubicBezTo>
                  <a:cubicBezTo>
                    <a:pt x="281" y="203"/>
                    <a:pt x="282" y="205"/>
                    <a:pt x="284" y="207"/>
                  </a:cubicBezTo>
                  <a:cubicBezTo>
                    <a:pt x="284" y="207"/>
                    <a:pt x="284" y="208"/>
                    <a:pt x="284" y="208"/>
                  </a:cubicBezTo>
                  <a:cubicBezTo>
                    <a:pt x="285" y="210"/>
                    <a:pt x="287" y="212"/>
                    <a:pt x="288" y="214"/>
                  </a:cubicBezTo>
                  <a:cubicBezTo>
                    <a:pt x="288" y="214"/>
                    <a:pt x="288" y="214"/>
                    <a:pt x="288" y="214"/>
                  </a:cubicBezTo>
                  <a:cubicBezTo>
                    <a:pt x="290" y="216"/>
                    <a:pt x="292" y="218"/>
                    <a:pt x="294" y="219"/>
                  </a:cubicBezTo>
                  <a:cubicBezTo>
                    <a:pt x="294" y="219"/>
                    <a:pt x="294" y="220"/>
                    <a:pt x="294" y="220"/>
                  </a:cubicBezTo>
                  <a:cubicBezTo>
                    <a:pt x="296" y="221"/>
                    <a:pt x="298" y="223"/>
                    <a:pt x="300" y="224"/>
                  </a:cubicBezTo>
                  <a:cubicBezTo>
                    <a:pt x="300" y="224"/>
                    <a:pt x="301" y="224"/>
                    <a:pt x="301" y="224"/>
                  </a:cubicBezTo>
                  <a:cubicBezTo>
                    <a:pt x="303" y="226"/>
                    <a:pt x="305" y="227"/>
                    <a:pt x="308" y="228"/>
                  </a:cubicBezTo>
                  <a:cubicBezTo>
                    <a:pt x="308" y="228"/>
                    <a:pt x="308" y="228"/>
                    <a:pt x="308" y="228"/>
                  </a:cubicBezTo>
                  <a:cubicBezTo>
                    <a:pt x="313" y="230"/>
                    <a:pt x="319" y="231"/>
                    <a:pt x="325" y="231"/>
                  </a:cubicBezTo>
                  <a:cubicBezTo>
                    <a:pt x="351" y="231"/>
                    <a:pt x="372" y="210"/>
                    <a:pt x="372" y="183"/>
                  </a:cubicBezTo>
                  <a:cubicBezTo>
                    <a:pt x="372" y="157"/>
                    <a:pt x="351" y="136"/>
                    <a:pt x="325" y="136"/>
                  </a:cubicBezTo>
                  <a:cubicBezTo>
                    <a:pt x="318" y="136"/>
                    <a:pt x="312" y="137"/>
                    <a:pt x="306" y="140"/>
                  </a:cubicBezTo>
                  <a:cubicBezTo>
                    <a:pt x="306" y="140"/>
                    <a:pt x="306" y="140"/>
                    <a:pt x="306" y="140"/>
                  </a:cubicBezTo>
                  <a:cubicBezTo>
                    <a:pt x="306" y="140"/>
                    <a:pt x="306" y="140"/>
                    <a:pt x="305" y="140"/>
                  </a:cubicBezTo>
                  <a:cubicBezTo>
                    <a:pt x="304" y="141"/>
                    <a:pt x="302" y="142"/>
                    <a:pt x="301" y="143"/>
                  </a:cubicBezTo>
                  <a:cubicBezTo>
                    <a:pt x="300" y="143"/>
                    <a:pt x="300" y="143"/>
                    <a:pt x="299" y="143"/>
                  </a:cubicBezTo>
                  <a:cubicBezTo>
                    <a:pt x="298" y="144"/>
                    <a:pt x="296" y="146"/>
                    <a:pt x="294" y="147"/>
                  </a:cubicBezTo>
                  <a:cubicBezTo>
                    <a:pt x="294" y="147"/>
                    <a:pt x="294" y="147"/>
                    <a:pt x="294" y="147"/>
                  </a:cubicBezTo>
                  <a:cubicBezTo>
                    <a:pt x="293" y="148"/>
                    <a:pt x="291" y="150"/>
                    <a:pt x="290" y="151"/>
                  </a:cubicBezTo>
                  <a:cubicBezTo>
                    <a:pt x="290" y="151"/>
                    <a:pt x="289" y="152"/>
                    <a:pt x="289" y="152"/>
                  </a:cubicBezTo>
                  <a:close/>
                  <a:moveTo>
                    <a:pt x="213" y="95"/>
                  </a:moveTo>
                  <a:lnTo>
                    <a:pt x="213" y="95"/>
                  </a:lnTo>
                  <a:cubicBezTo>
                    <a:pt x="240" y="95"/>
                    <a:pt x="261" y="73"/>
                    <a:pt x="261" y="47"/>
                  </a:cubicBezTo>
                  <a:cubicBezTo>
                    <a:pt x="261" y="21"/>
                    <a:pt x="240" y="0"/>
                    <a:pt x="213" y="0"/>
                  </a:cubicBezTo>
                  <a:cubicBezTo>
                    <a:pt x="187" y="0"/>
                    <a:pt x="166" y="21"/>
                    <a:pt x="166" y="47"/>
                  </a:cubicBezTo>
                  <a:cubicBezTo>
                    <a:pt x="166" y="73"/>
                    <a:pt x="187" y="95"/>
                    <a:pt x="213" y="95"/>
                  </a:cubicBezTo>
                  <a:close/>
                  <a:moveTo>
                    <a:pt x="258" y="228"/>
                  </a:moveTo>
                  <a:lnTo>
                    <a:pt x="258" y="228"/>
                  </a:lnTo>
                  <a:lnTo>
                    <a:pt x="258" y="192"/>
                  </a:lnTo>
                  <a:cubicBezTo>
                    <a:pt x="258" y="189"/>
                    <a:pt x="257" y="186"/>
                    <a:pt x="257" y="183"/>
                  </a:cubicBezTo>
                  <a:cubicBezTo>
                    <a:pt x="257" y="180"/>
                    <a:pt x="258" y="178"/>
                    <a:pt x="258" y="175"/>
                  </a:cubicBezTo>
                  <a:lnTo>
                    <a:pt x="258" y="173"/>
                  </a:lnTo>
                  <a:cubicBezTo>
                    <a:pt x="262" y="151"/>
                    <a:pt x="275" y="134"/>
                    <a:pt x="293" y="124"/>
                  </a:cubicBezTo>
                  <a:cubicBezTo>
                    <a:pt x="280" y="112"/>
                    <a:pt x="263" y="104"/>
                    <a:pt x="244" y="104"/>
                  </a:cubicBezTo>
                  <a:lnTo>
                    <a:pt x="183" y="104"/>
                  </a:lnTo>
                  <a:cubicBezTo>
                    <a:pt x="164" y="104"/>
                    <a:pt x="147" y="112"/>
                    <a:pt x="134" y="124"/>
                  </a:cubicBezTo>
                  <a:cubicBezTo>
                    <a:pt x="155" y="135"/>
                    <a:pt x="169" y="158"/>
                    <a:pt x="169" y="183"/>
                  </a:cubicBezTo>
                  <a:cubicBezTo>
                    <a:pt x="169" y="189"/>
                    <a:pt x="169" y="194"/>
                    <a:pt x="168" y="199"/>
                  </a:cubicBezTo>
                  <a:lnTo>
                    <a:pt x="168" y="228"/>
                  </a:lnTo>
                  <a:cubicBezTo>
                    <a:pt x="187" y="236"/>
                    <a:pt x="203" y="251"/>
                    <a:pt x="213" y="269"/>
                  </a:cubicBezTo>
                  <a:cubicBezTo>
                    <a:pt x="223" y="251"/>
                    <a:pt x="239" y="237"/>
                    <a:pt x="258" y="228"/>
                  </a:cubicBezTo>
                  <a:close/>
                  <a:moveTo>
                    <a:pt x="192" y="272"/>
                  </a:moveTo>
                  <a:lnTo>
                    <a:pt x="192" y="272"/>
                  </a:lnTo>
                  <a:cubicBezTo>
                    <a:pt x="190" y="270"/>
                    <a:pt x="189" y="268"/>
                    <a:pt x="187" y="266"/>
                  </a:cubicBezTo>
                  <a:cubicBezTo>
                    <a:pt x="187" y="265"/>
                    <a:pt x="186" y="265"/>
                    <a:pt x="186" y="265"/>
                  </a:cubicBezTo>
                  <a:cubicBezTo>
                    <a:pt x="185" y="263"/>
                    <a:pt x="183" y="262"/>
                    <a:pt x="181" y="260"/>
                  </a:cubicBezTo>
                  <a:cubicBezTo>
                    <a:pt x="181" y="260"/>
                    <a:pt x="181" y="259"/>
                    <a:pt x="181" y="259"/>
                  </a:cubicBezTo>
                  <a:cubicBezTo>
                    <a:pt x="179" y="258"/>
                    <a:pt x="177" y="256"/>
                    <a:pt x="175" y="255"/>
                  </a:cubicBezTo>
                  <a:cubicBezTo>
                    <a:pt x="175" y="255"/>
                    <a:pt x="175" y="254"/>
                    <a:pt x="174" y="254"/>
                  </a:cubicBezTo>
                  <a:cubicBezTo>
                    <a:pt x="168" y="250"/>
                    <a:pt x="161" y="246"/>
                    <a:pt x="153" y="244"/>
                  </a:cubicBezTo>
                  <a:cubicBezTo>
                    <a:pt x="151" y="243"/>
                    <a:pt x="150" y="243"/>
                    <a:pt x="148" y="242"/>
                  </a:cubicBezTo>
                  <a:cubicBezTo>
                    <a:pt x="147" y="242"/>
                    <a:pt x="146" y="242"/>
                    <a:pt x="145" y="242"/>
                  </a:cubicBezTo>
                  <a:cubicBezTo>
                    <a:pt x="144" y="242"/>
                    <a:pt x="143" y="241"/>
                    <a:pt x="141" y="241"/>
                  </a:cubicBezTo>
                  <a:cubicBezTo>
                    <a:pt x="141" y="241"/>
                    <a:pt x="140" y="241"/>
                    <a:pt x="139" y="241"/>
                  </a:cubicBezTo>
                  <a:cubicBezTo>
                    <a:pt x="137" y="241"/>
                    <a:pt x="135" y="241"/>
                    <a:pt x="133" y="241"/>
                  </a:cubicBezTo>
                  <a:lnTo>
                    <a:pt x="71" y="241"/>
                  </a:lnTo>
                  <a:cubicBezTo>
                    <a:pt x="32" y="241"/>
                    <a:pt x="0" y="273"/>
                    <a:pt x="0" y="313"/>
                  </a:cubicBezTo>
                  <a:lnTo>
                    <a:pt x="0" y="408"/>
                  </a:lnTo>
                  <a:lnTo>
                    <a:pt x="42" y="408"/>
                  </a:lnTo>
                  <a:lnTo>
                    <a:pt x="42" y="309"/>
                  </a:lnTo>
                  <a:lnTo>
                    <a:pt x="56" y="309"/>
                  </a:lnTo>
                  <a:lnTo>
                    <a:pt x="56" y="408"/>
                  </a:lnTo>
                  <a:lnTo>
                    <a:pt x="146" y="408"/>
                  </a:lnTo>
                  <a:lnTo>
                    <a:pt x="146" y="309"/>
                  </a:lnTo>
                  <a:lnTo>
                    <a:pt x="161" y="309"/>
                  </a:lnTo>
                  <a:lnTo>
                    <a:pt x="161" y="408"/>
                  </a:lnTo>
                  <a:lnTo>
                    <a:pt x="204" y="408"/>
                  </a:lnTo>
                  <a:lnTo>
                    <a:pt x="204" y="313"/>
                  </a:lnTo>
                  <a:cubicBezTo>
                    <a:pt x="204" y="297"/>
                    <a:pt x="200" y="283"/>
                    <a:pt x="192" y="272"/>
                  </a:cubicBezTo>
                  <a:cubicBezTo>
                    <a:pt x="192" y="272"/>
                    <a:pt x="192" y="272"/>
                    <a:pt x="192" y="272"/>
                  </a:cubicBezTo>
                  <a:close/>
                  <a:moveTo>
                    <a:pt x="355" y="241"/>
                  </a:moveTo>
                  <a:lnTo>
                    <a:pt x="355" y="241"/>
                  </a:lnTo>
                  <a:lnTo>
                    <a:pt x="294" y="241"/>
                  </a:lnTo>
                  <a:cubicBezTo>
                    <a:pt x="292" y="241"/>
                    <a:pt x="290" y="241"/>
                    <a:pt x="288" y="241"/>
                  </a:cubicBezTo>
                  <a:cubicBezTo>
                    <a:pt x="287" y="241"/>
                    <a:pt x="286" y="241"/>
                    <a:pt x="285" y="241"/>
                  </a:cubicBezTo>
                  <a:cubicBezTo>
                    <a:pt x="284" y="241"/>
                    <a:pt x="283" y="242"/>
                    <a:pt x="281" y="242"/>
                  </a:cubicBezTo>
                  <a:cubicBezTo>
                    <a:pt x="280" y="242"/>
                    <a:pt x="280" y="242"/>
                    <a:pt x="279" y="242"/>
                  </a:cubicBezTo>
                  <a:cubicBezTo>
                    <a:pt x="277" y="243"/>
                    <a:pt x="276" y="243"/>
                    <a:pt x="274" y="244"/>
                  </a:cubicBezTo>
                  <a:cubicBezTo>
                    <a:pt x="263" y="247"/>
                    <a:pt x="254" y="252"/>
                    <a:pt x="245" y="260"/>
                  </a:cubicBezTo>
                  <a:cubicBezTo>
                    <a:pt x="245" y="260"/>
                    <a:pt x="245" y="260"/>
                    <a:pt x="245" y="260"/>
                  </a:cubicBezTo>
                  <a:cubicBezTo>
                    <a:pt x="243" y="262"/>
                    <a:pt x="242" y="263"/>
                    <a:pt x="240" y="265"/>
                  </a:cubicBezTo>
                  <a:cubicBezTo>
                    <a:pt x="240" y="265"/>
                    <a:pt x="240" y="266"/>
                    <a:pt x="240" y="266"/>
                  </a:cubicBezTo>
                  <a:cubicBezTo>
                    <a:pt x="229" y="278"/>
                    <a:pt x="222" y="295"/>
                    <a:pt x="222" y="313"/>
                  </a:cubicBezTo>
                  <a:lnTo>
                    <a:pt x="222" y="408"/>
                  </a:lnTo>
                  <a:lnTo>
                    <a:pt x="264" y="408"/>
                  </a:lnTo>
                  <a:lnTo>
                    <a:pt x="264" y="309"/>
                  </a:lnTo>
                  <a:lnTo>
                    <a:pt x="279" y="309"/>
                  </a:lnTo>
                  <a:lnTo>
                    <a:pt x="279" y="408"/>
                  </a:lnTo>
                  <a:lnTo>
                    <a:pt x="369" y="408"/>
                  </a:lnTo>
                  <a:lnTo>
                    <a:pt x="369" y="309"/>
                  </a:lnTo>
                  <a:lnTo>
                    <a:pt x="384" y="309"/>
                  </a:lnTo>
                  <a:lnTo>
                    <a:pt x="384" y="408"/>
                  </a:lnTo>
                  <a:lnTo>
                    <a:pt x="427" y="408"/>
                  </a:lnTo>
                  <a:lnTo>
                    <a:pt x="427" y="313"/>
                  </a:lnTo>
                  <a:cubicBezTo>
                    <a:pt x="427" y="273"/>
                    <a:pt x="395" y="241"/>
                    <a:pt x="355" y="241"/>
                  </a:cubicBezTo>
                  <a:close/>
                  <a:moveTo>
                    <a:pt x="102" y="231"/>
                  </a:moveTo>
                  <a:lnTo>
                    <a:pt x="102" y="231"/>
                  </a:lnTo>
                  <a:cubicBezTo>
                    <a:pt x="108" y="231"/>
                    <a:pt x="114" y="230"/>
                    <a:pt x="119" y="228"/>
                  </a:cubicBezTo>
                  <a:cubicBezTo>
                    <a:pt x="119" y="228"/>
                    <a:pt x="119" y="228"/>
                    <a:pt x="119" y="228"/>
                  </a:cubicBezTo>
                  <a:cubicBezTo>
                    <a:pt x="122" y="227"/>
                    <a:pt x="124" y="226"/>
                    <a:pt x="126" y="224"/>
                  </a:cubicBezTo>
                  <a:cubicBezTo>
                    <a:pt x="126" y="224"/>
                    <a:pt x="126" y="224"/>
                    <a:pt x="126" y="224"/>
                  </a:cubicBezTo>
                  <a:cubicBezTo>
                    <a:pt x="129" y="223"/>
                    <a:pt x="131" y="221"/>
                    <a:pt x="133" y="220"/>
                  </a:cubicBezTo>
                  <a:cubicBezTo>
                    <a:pt x="133" y="220"/>
                    <a:pt x="133" y="220"/>
                    <a:pt x="133" y="220"/>
                  </a:cubicBezTo>
                  <a:cubicBezTo>
                    <a:pt x="137" y="216"/>
                    <a:pt x="140" y="212"/>
                    <a:pt x="143" y="208"/>
                  </a:cubicBezTo>
                  <a:cubicBezTo>
                    <a:pt x="143" y="207"/>
                    <a:pt x="143" y="207"/>
                    <a:pt x="143" y="207"/>
                  </a:cubicBezTo>
                  <a:cubicBezTo>
                    <a:pt x="144" y="205"/>
                    <a:pt x="145" y="203"/>
                    <a:pt x="146" y="200"/>
                  </a:cubicBezTo>
                  <a:cubicBezTo>
                    <a:pt x="146" y="200"/>
                    <a:pt x="147" y="200"/>
                    <a:pt x="147" y="199"/>
                  </a:cubicBezTo>
                  <a:cubicBezTo>
                    <a:pt x="148" y="197"/>
                    <a:pt x="148" y="195"/>
                    <a:pt x="149" y="192"/>
                  </a:cubicBezTo>
                  <a:cubicBezTo>
                    <a:pt x="149" y="192"/>
                    <a:pt x="149" y="192"/>
                    <a:pt x="149" y="191"/>
                  </a:cubicBezTo>
                  <a:cubicBezTo>
                    <a:pt x="149" y="189"/>
                    <a:pt x="150" y="186"/>
                    <a:pt x="150" y="183"/>
                  </a:cubicBezTo>
                  <a:cubicBezTo>
                    <a:pt x="150" y="181"/>
                    <a:pt x="149" y="179"/>
                    <a:pt x="149" y="177"/>
                  </a:cubicBezTo>
                  <a:cubicBezTo>
                    <a:pt x="149" y="176"/>
                    <a:pt x="149" y="176"/>
                    <a:pt x="149" y="175"/>
                  </a:cubicBezTo>
                  <a:cubicBezTo>
                    <a:pt x="148" y="173"/>
                    <a:pt x="148" y="171"/>
                    <a:pt x="147" y="169"/>
                  </a:cubicBezTo>
                  <a:cubicBezTo>
                    <a:pt x="147" y="169"/>
                    <a:pt x="147" y="169"/>
                    <a:pt x="147" y="169"/>
                  </a:cubicBezTo>
                  <a:cubicBezTo>
                    <a:pt x="147" y="167"/>
                    <a:pt x="146" y="165"/>
                    <a:pt x="145" y="164"/>
                  </a:cubicBezTo>
                  <a:cubicBezTo>
                    <a:pt x="145" y="163"/>
                    <a:pt x="145" y="163"/>
                    <a:pt x="145" y="162"/>
                  </a:cubicBezTo>
                  <a:cubicBezTo>
                    <a:pt x="144" y="161"/>
                    <a:pt x="143" y="159"/>
                    <a:pt x="142" y="157"/>
                  </a:cubicBezTo>
                  <a:cubicBezTo>
                    <a:pt x="140" y="155"/>
                    <a:pt x="139" y="154"/>
                    <a:pt x="138" y="152"/>
                  </a:cubicBezTo>
                  <a:cubicBezTo>
                    <a:pt x="137" y="152"/>
                    <a:pt x="137" y="151"/>
                    <a:pt x="137" y="151"/>
                  </a:cubicBezTo>
                  <a:cubicBezTo>
                    <a:pt x="136" y="150"/>
                    <a:pt x="134" y="148"/>
                    <a:pt x="133" y="147"/>
                  </a:cubicBezTo>
                  <a:cubicBezTo>
                    <a:pt x="133" y="147"/>
                    <a:pt x="133" y="147"/>
                    <a:pt x="132" y="147"/>
                  </a:cubicBezTo>
                  <a:cubicBezTo>
                    <a:pt x="131" y="146"/>
                    <a:pt x="129" y="144"/>
                    <a:pt x="127" y="143"/>
                  </a:cubicBezTo>
                  <a:cubicBezTo>
                    <a:pt x="127" y="143"/>
                    <a:pt x="127" y="143"/>
                    <a:pt x="126" y="143"/>
                  </a:cubicBezTo>
                  <a:cubicBezTo>
                    <a:pt x="125" y="142"/>
                    <a:pt x="123" y="141"/>
                    <a:pt x="121" y="140"/>
                  </a:cubicBezTo>
                  <a:cubicBezTo>
                    <a:pt x="121" y="140"/>
                    <a:pt x="121" y="140"/>
                    <a:pt x="121" y="140"/>
                  </a:cubicBezTo>
                  <a:cubicBezTo>
                    <a:pt x="115" y="137"/>
                    <a:pt x="109" y="136"/>
                    <a:pt x="102" y="136"/>
                  </a:cubicBezTo>
                  <a:cubicBezTo>
                    <a:pt x="76" y="136"/>
                    <a:pt x="54" y="157"/>
                    <a:pt x="54" y="183"/>
                  </a:cubicBezTo>
                  <a:cubicBezTo>
                    <a:pt x="54" y="210"/>
                    <a:pt x="76" y="231"/>
                    <a:pt x="102" y="231"/>
                  </a:cubicBezTo>
                  <a:close/>
                </a:path>
              </a:pathLst>
            </a:custGeom>
            <a:solidFill>
              <a:srgbClr val="FFFFFF"/>
            </a:solidFill>
            <a:ln>
              <a:noFill/>
            </a:ln>
            <a:extLst>
              <a:ext uri="{91240B29-F687-4F45-9708-019B960494DF}">
                <a14:hiddenLine xmlns=""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宋体" panose="02010600030101010101" pitchFamily="2" charset="-122"/>
              </a:endParaRPr>
            </a:p>
          </p:txBody>
        </p:sp>
      </p:grpSp>
      <p:grpSp>
        <p:nvGrpSpPr>
          <p:cNvPr id="52" name="组合 51"/>
          <p:cNvGrpSpPr/>
          <p:nvPr/>
        </p:nvGrpSpPr>
        <p:grpSpPr>
          <a:xfrm>
            <a:off x="8480942" y="1718343"/>
            <a:ext cx="546976" cy="540745"/>
            <a:chOff x="6084168" y="1274820"/>
            <a:chExt cx="432048" cy="432834"/>
          </a:xfrm>
        </p:grpSpPr>
        <p:sp>
          <p:nvSpPr>
            <p:cNvPr id="53"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54"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55" name="组合 54"/>
          <p:cNvGrpSpPr/>
          <p:nvPr/>
        </p:nvGrpSpPr>
        <p:grpSpPr>
          <a:xfrm>
            <a:off x="6852304" y="1718409"/>
            <a:ext cx="546976" cy="539763"/>
            <a:chOff x="4788024" y="1275213"/>
            <a:chExt cx="432048" cy="432048"/>
          </a:xfrm>
        </p:grpSpPr>
        <p:sp>
          <p:nvSpPr>
            <p:cNvPr id="56"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57"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58" name="组合 57"/>
          <p:cNvGrpSpPr/>
          <p:nvPr/>
        </p:nvGrpSpPr>
        <p:grpSpPr>
          <a:xfrm>
            <a:off x="7682935" y="1726745"/>
            <a:ext cx="547970" cy="540745"/>
            <a:chOff x="5436096" y="1274820"/>
            <a:chExt cx="432833" cy="432834"/>
          </a:xfrm>
        </p:grpSpPr>
        <p:sp>
          <p:nvSpPr>
            <p:cNvPr id="59" name="椭圆 58"/>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60"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61" name="组合 60"/>
          <p:cNvGrpSpPr/>
          <p:nvPr/>
        </p:nvGrpSpPr>
        <p:grpSpPr>
          <a:xfrm>
            <a:off x="5211987" y="1715437"/>
            <a:ext cx="547970" cy="540745"/>
            <a:chOff x="3491880" y="1274820"/>
            <a:chExt cx="432833" cy="432834"/>
          </a:xfrm>
        </p:grpSpPr>
        <p:sp>
          <p:nvSpPr>
            <p:cNvPr id="62"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63"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64" name="组合 63"/>
          <p:cNvGrpSpPr/>
          <p:nvPr/>
        </p:nvGrpSpPr>
        <p:grpSpPr>
          <a:xfrm>
            <a:off x="6042699" y="1709107"/>
            <a:ext cx="547970" cy="540745"/>
            <a:chOff x="4139952" y="1274820"/>
            <a:chExt cx="432833" cy="432834"/>
          </a:xfrm>
        </p:grpSpPr>
        <p:sp>
          <p:nvSpPr>
            <p:cNvPr id="65"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66"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latin typeface="Roboto Light"/>
              </a:endParaRPr>
            </a:p>
          </p:txBody>
        </p:sp>
      </p:grpSp>
      <p:sp>
        <p:nvSpPr>
          <p:cNvPr id="29" name="矩形 28"/>
          <p:cNvSpPr/>
          <p:nvPr/>
        </p:nvSpPr>
        <p:spPr>
          <a:xfrm>
            <a:off x="4524489" y="4223435"/>
            <a:ext cx="3690626" cy="369332"/>
          </a:xfrm>
          <a:prstGeom prst="rect">
            <a:avLst/>
          </a:prstGeom>
        </p:spPr>
        <p:txBody>
          <a:bodyPr wrap="none">
            <a:spAutoFit/>
          </a:bodyPr>
          <a:lstStyle/>
          <a:p>
            <a:r>
              <a:rPr lang="en-US" altLang="zh-CN" b="1" dirty="0" smtClean="0">
                <a:solidFill>
                  <a:srgbClr val="0070C0"/>
                </a:solidFill>
                <a:latin typeface="思源黑体" panose="020B0500000000000000" pitchFamily="34" charset="-122"/>
                <a:ea typeface="思源黑体" panose="020B0500000000000000" pitchFamily="34" charset="-122"/>
              </a:rPr>
              <a:t>2</a:t>
            </a:r>
            <a:r>
              <a:rPr lang="zh-CN" altLang="en-US" b="1" dirty="0" smtClean="0">
                <a:solidFill>
                  <a:srgbClr val="0070C0"/>
                </a:solidFill>
                <a:latin typeface="思源黑体" panose="020B0500000000000000" pitchFamily="34" charset="-122"/>
                <a:ea typeface="思源黑体" panose="020B0500000000000000" pitchFamily="34" charset="-122"/>
              </a:rPr>
              <a:t>、</a:t>
            </a:r>
            <a:r>
              <a:rPr lang="en-US" altLang="zh-CN" b="1" dirty="0" err="1" smtClean="0">
                <a:solidFill>
                  <a:srgbClr val="0070C0"/>
                </a:solidFill>
                <a:latin typeface="思源黑体" panose="020B0500000000000000" pitchFamily="34" charset="-122"/>
                <a:ea typeface="思源黑体" panose="020B0500000000000000" pitchFamily="34" charset="-122"/>
              </a:rPr>
              <a:t>Netfilter</a:t>
            </a:r>
            <a:r>
              <a:rPr lang="zh-CN" altLang="en-US" b="1" dirty="0" smtClean="0">
                <a:solidFill>
                  <a:srgbClr val="0070C0"/>
                </a:solidFill>
                <a:latin typeface="思源黑体" panose="020B0500000000000000" pitchFamily="34" charset="-122"/>
                <a:ea typeface="思源黑体" panose="020B0500000000000000" pitchFamily="34" charset="-122"/>
              </a:rPr>
              <a:t>及网络中的</a:t>
            </a:r>
            <a:r>
              <a:rPr lang="en-US" altLang="zh-CN" b="1" dirty="0" smtClean="0">
                <a:solidFill>
                  <a:srgbClr val="0070C0"/>
                </a:solidFill>
                <a:latin typeface="思源黑体" panose="020B0500000000000000" pitchFamily="34" charset="-122"/>
                <a:ea typeface="思源黑体" panose="020B0500000000000000" pitchFamily="34" charset="-122"/>
              </a:rPr>
              <a:t>Packet</a:t>
            </a:r>
            <a:r>
              <a:rPr lang="zh-CN" altLang="en-US" b="1" dirty="0" smtClean="0">
                <a:solidFill>
                  <a:srgbClr val="0070C0"/>
                </a:solidFill>
                <a:latin typeface="思源黑体" panose="020B0500000000000000" pitchFamily="34" charset="-122"/>
                <a:ea typeface="思源黑体" panose="020B0500000000000000" pitchFamily="34" charset="-122"/>
              </a:rPr>
              <a:t>流</a:t>
            </a:r>
          </a:p>
        </p:txBody>
      </p:sp>
      <p:sp>
        <p:nvSpPr>
          <p:cNvPr id="32" name="矩形 31"/>
          <p:cNvSpPr/>
          <p:nvPr/>
        </p:nvSpPr>
        <p:spPr>
          <a:xfrm>
            <a:off x="4536215" y="4665981"/>
            <a:ext cx="3234155" cy="369332"/>
          </a:xfrm>
          <a:prstGeom prst="rect">
            <a:avLst/>
          </a:prstGeom>
        </p:spPr>
        <p:txBody>
          <a:bodyPr wrap="none">
            <a:spAutoFit/>
          </a:bodyPr>
          <a:lstStyle/>
          <a:p>
            <a:r>
              <a:rPr lang="en-US" altLang="zh-CN" b="1" dirty="0" smtClean="0">
                <a:solidFill>
                  <a:srgbClr val="0070C0"/>
                </a:solidFill>
                <a:latin typeface="思源黑体" panose="020B0500000000000000" pitchFamily="34" charset="-122"/>
                <a:ea typeface="思源黑体" panose="020B0500000000000000" pitchFamily="34" charset="-122"/>
              </a:rPr>
              <a:t>3</a:t>
            </a:r>
            <a:r>
              <a:rPr lang="zh-CN" altLang="en-US" b="1" dirty="0" smtClean="0">
                <a:solidFill>
                  <a:srgbClr val="0070C0"/>
                </a:solidFill>
                <a:latin typeface="思源黑体" panose="020B0500000000000000" pitchFamily="34" charset="-122"/>
                <a:ea typeface="思源黑体" panose="020B0500000000000000" pitchFamily="34" charset="-122"/>
              </a:rPr>
              <a:t>、</a:t>
            </a:r>
            <a:r>
              <a:rPr lang="en-US" altLang="zh-CN" b="1" dirty="0" err="1" smtClean="0">
                <a:solidFill>
                  <a:srgbClr val="0070C0"/>
                </a:solidFill>
                <a:latin typeface="思源黑体" panose="020B0500000000000000" pitchFamily="34" charset="-122"/>
                <a:ea typeface="思源黑体" panose="020B0500000000000000" pitchFamily="34" charset="-122"/>
              </a:rPr>
              <a:t>Netfilter</a:t>
            </a:r>
            <a:r>
              <a:rPr lang="zh-CN" altLang="en-US" b="1" dirty="0" smtClean="0">
                <a:solidFill>
                  <a:srgbClr val="0070C0"/>
                </a:solidFill>
                <a:latin typeface="思源黑体" panose="020B0500000000000000" pitchFamily="34" charset="-122"/>
                <a:ea typeface="思源黑体" panose="020B0500000000000000" pitchFamily="34" charset="-122"/>
              </a:rPr>
              <a:t>的五个</a:t>
            </a:r>
            <a:r>
              <a:rPr lang="en-US" altLang="zh-CN" b="1" dirty="0" smtClean="0">
                <a:solidFill>
                  <a:srgbClr val="0070C0"/>
                </a:solidFill>
                <a:latin typeface="思源黑体" panose="020B0500000000000000" pitchFamily="34" charset="-122"/>
                <a:ea typeface="思源黑体" panose="020B0500000000000000" pitchFamily="34" charset="-122"/>
              </a:rPr>
              <a:t>HOOK</a:t>
            </a:r>
            <a:r>
              <a:rPr lang="zh-CN" altLang="en-US" b="1" dirty="0" smtClean="0">
                <a:solidFill>
                  <a:srgbClr val="0070C0"/>
                </a:solidFill>
                <a:latin typeface="思源黑体" panose="020B0500000000000000" pitchFamily="34" charset="-122"/>
                <a:ea typeface="思源黑体" panose="020B0500000000000000" pitchFamily="34" charset="-122"/>
              </a:rPr>
              <a:t>点</a:t>
            </a:r>
            <a:endParaRPr lang="zh-CN" altLang="en-US" b="1" dirty="0">
              <a:solidFill>
                <a:srgbClr val="0070C0"/>
              </a:solidFill>
              <a:latin typeface="思源黑体" panose="020B0500000000000000" pitchFamily="34" charset="-122"/>
              <a:ea typeface="思源黑体" panose="020B0500000000000000" pitchFamily="34" charset="-122"/>
            </a:endParaRPr>
          </a:p>
        </p:txBody>
      </p:sp>
      <p:sp>
        <p:nvSpPr>
          <p:cNvPr id="33" name="矩形 32"/>
          <p:cNvSpPr/>
          <p:nvPr/>
        </p:nvSpPr>
        <p:spPr>
          <a:xfrm>
            <a:off x="4539143" y="5117319"/>
            <a:ext cx="3105337" cy="369332"/>
          </a:xfrm>
          <a:prstGeom prst="rect">
            <a:avLst/>
          </a:prstGeom>
        </p:spPr>
        <p:txBody>
          <a:bodyPr wrap="none">
            <a:spAutoFit/>
          </a:bodyPr>
          <a:lstStyle/>
          <a:p>
            <a:r>
              <a:rPr lang="en-US" altLang="zh-CN" b="1" dirty="0" smtClean="0">
                <a:solidFill>
                  <a:srgbClr val="0070C0"/>
                </a:solidFill>
                <a:latin typeface="思源黑体" panose="020B0500000000000000" pitchFamily="34" charset="-122"/>
                <a:ea typeface="思源黑体" panose="020B0500000000000000" pitchFamily="34" charset="-122"/>
              </a:rPr>
              <a:t>4</a:t>
            </a:r>
            <a:r>
              <a:rPr lang="zh-CN" altLang="en-US" b="1" dirty="0" smtClean="0">
                <a:solidFill>
                  <a:srgbClr val="0070C0"/>
                </a:solidFill>
                <a:latin typeface="思源黑体" panose="020B0500000000000000" pitchFamily="34" charset="-122"/>
                <a:ea typeface="思源黑体" panose="020B0500000000000000" pitchFamily="34" charset="-122"/>
              </a:rPr>
              <a:t>、</a:t>
            </a:r>
            <a:r>
              <a:rPr lang="en-US" altLang="zh-CN" b="1" dirty="0" err="1" smtClean="0">
                <a:solidFill>
                  <a:srgbClr val="0070C0"/>
                </a:solidFill>
                <a:latin typeface="思源黑体" panose="020B0500000000000000" pitchFamily="34" charset="-122"/>
                <a:ea typeface="思源黑体" panose="020B0500000000000000" pitchFamily="34" charset="-122"/>
              </a:rPr>
              <a:t>Iptables</a:t>
            </a:r>
            <a:r>
              <a:rPr lang="zh-CN" altLang="en-US" b="1" dirty="0" smtClean="0">
                <a:solidFill>
                  <a:srgbClr val="0070C0"/>
                </a:solidFill>
                <a:latin typeface="思源黑体" panose="020B0500000000000000" pitchFamily="34" charset="-122"/>
                <a:ea typeface="思源黑体" panose="020B0500000000000000" pitchFamily="34" charset="-122"/>
              </a:rPr>
              <a:t>的表、链、规则</a:t>
            </a:r>
            <a:endParaRPr lang="en-US" altLang="zh-CN" b="1" dirty="0" smtClean="0">
              <a:solidFill>
                <a:srgbClr val="0070C0"/>
              </a:solidFill>
              <a:latin typeface="思源黑体" panose="020B0500000000000000" pitchFamily="34" charset="-122"/>
              <a:ea typeface="思源黑体" panose="020B0500000000000000" pitchFamily="34" charset="-122"/>
            </a:endParaRPr>
          </a:p>
        </p:txBody>
      </p:sp>
      <p:sp>
        <p:nvSpPr>
          <p:cNvPr id="34" name="矩形 33"/>
          <p:cNvSpPr/>
          <p:nvPr/>
        </p:nvSpPr>
        <p:spPr>
          <a:xfrm>
            <a:off x="4559658" y="5586244"/>
            <a:ext cx="2643672" cy="369332"/>
          </a:xfrm>
          <a:prstGeom prst="rect">
            <a:avLst/>
          </a:prstGeom>
        </p:spPr>
        <p:txBody>
          <a:bodyPr wrap="none">
            <a:spAutoFit/>
          </a:bodyPr>
          <a:lstStyle/>
          <a:p>
            <a:r>
              <a:rPr lang="en-US" altLang="zh-CN" b="1" dirty="0" smtClean="0">
                <a:solidFill>
                  <a:srgbClr val="0070C0"/>
                </a:solidFill>
                <a:latin typeface="思源黑体" panose="020B0500000000000000" pitchFamily="34" charset="-122"/>
                <a:ea typeface="思源黑体" panose="020B0500000000000000" pitchFamily="34" charset="-122"/>
              </a:rPr>
              <a:t>5</a:t>
            </a:r>
            <a:r>
              <a:rPr lang="zh-CN" altLang="en-US" b="1" dirty="0" smtClean="0">
                <a:solidFill>
                  <a:srgbClr val="0070C0"/>
                </a:solidFill>
                <a:latin typeface="思源黑体" panose="020B0500000000000000" pitchFamily="34" charset="-122"/>
                <a:ea typeface="思源黑体" panose="020B0500000000000000" pitchFamily="34" charset="-122"/>
              </a:rPr>
              <a:t>、</a:t>
            </a:r>
            <a:r>
              <a:rPr lang="en-US" altLang="zh-CN" b="1" dirty="0" err="1" smtClean="0">
                <a:solidFill>
                  <a:srgbClr val="0070C0"/>
                </a:solidFill>
                <a:latin typeface="思源黑体" panose="020B0500000000000000" pitchFamily="34" charset="-122"/>
                <a:ea typeface="思源黑体" panose="020B0500000000000000" pitchFamily="34" charset="-122"/>
              </a:rPr>
              <a:t>Iptables</a:t>
            </a:r>
            <a:r>
              <a:rPr lang="zh-CN" altLang="en-US" b="1" dirty="0" smtClean="0">
                <a:solidFill>
                  <a:srgbClr val="0070C0"/>
                </a:solidFill>
                <a:latin typeface="思源黑体" panose="020B0500000000000000" pitchFamily="34" charset="-122"/>
                <a:ea typeface="思源黑体" panose="020B0500000000000000" pitchFamily="34" charset="-122"/>
              </a:rPr>
              <a:t>的四表五链</a:t>
            </a:r>
            <a:endParaRPr lang="zh-CN" altLang="en-US" sz="1800" b="1" dirty="0">
              <a:solidFill>
                <a:srgbClr val="0070C0"/>
              </a:solidFill>
            </a:endParaRPr>
          </a:p>
        </p:txBody>
      </p:sp>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wheel(1)">
                                      <p:cBhvr>
                                        <p:cTn id="11" dur="650"/>
                                        <p:tgtEl>
                                          <p:spTgt spid="41"/>
                                        </p:tgtEl>
                                      </p:cBhvr>
                                    </p:animEffect>
                                  </p:childTnLst>
                                </p:cTn>
                              </p:par>
                            </p:childTnLst>
                          </p:cTn>
                        </p:par>
                        <p:par>
                          <p:cTn id="12" fill="hold">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par>
                          <p:cTn id="16" fill="hold">
                            <p:stCondLst>
                              <p:cond delay="2000"/>
                            </p:stCondLst>
                            <p:childTnLst>
                              <p:par>
                                <p:cTn id="17" presetID="15" presetClass="entr" presetSubtype="0" fill="hold" nodeType="afterEffect">
                                  <p:stCondLst>
                                    <p:cond delay="0"/>
                                  </p:stCondLst>
                                  <p:childTnLst>
                                    <p:set>
                                      <p:cBhvr>
                                        <p:cTn id="18" dur="1" fill="hold">
                                          <p:stCondLst>
                                            <p:cond delay="0"/>
                                          </p:stCondLst>
                                        </p:cTn>
                                        <p:tgtEl>
                                          <p:spTgt spid="45"/>
                                        </p:tgtEl>
                                        <p:attrNameLst>
                                          <p:attrName>style.visibility</p:attrName>
                                        </p:attrNameLst>
                                      </p:cBhvr>
                                      <p:to>
                                        <p:strVal val="visible"/>
                                      </p:to>
                                    </p:set>
                                    <p:anim calcmode="lin" valueType="num">
                                      <p:cBhvr>
                                        <p:cTn id="19" dur="1000" fill="hold"/>
                                        <p:tgtEl>
                                          <p:spTgt spid="45"/>
                                        </p:tgtEl>
                                        <p:attrNameLst>
                                          <p:attrName>ppt_w</p:attrName>
                                        </p:attrNameLst>
                                      </p:cBhvr>
                                      <p:tavLst>
                                        <p:tav tm="0">
                                          <p:val>
                                            <p:fltVal val="0"/>
                                          </p:val>
                                        </p:tav>
                                        <p:tav tm="100000">
                                          <p:val>
                                            <p:strVal val="#ppt_w"/>
                                          </p:val>
                                        </p:tav>
                                      </p:tavLst>
                                    </p:anim>
                                    <p:anim calcmode="lin" valueType="num">
                                      <p:cBhvr>
                                        <p:cTn id="20" dur="1000" fill="hold"/>
                                        <p:tgtEl>
                                          <p:spTgt spid="45"/>
                                        </p:tgtEl>
                                        <p:attrNameLst>
                                          <p:attrName>ppt_h</p:attrName>
                                        </p:attrNameLst>
                                      </p:cBhvr>
                                      <p:tavLst>
                                        <p:tav tm="0">
                                          <p:val>
                                            <p:fltVal val="0"/>
                                          </p:val>
                                        </p:tav>
                                        <p:tav tm="100000">
                                          <p:val>
                                            <p:strVal val="#ppt_h"/>
                                          </p:val>
                                        </p:tav>
                                      </p:tavLst>
                                    </p:anim>
                                    <p:anim calcmode="lin" valueType="num">
                                      <p:cBhvr>
                                        <p:cTn id="21" dur="1000" fill="hold"/>
                                        <p:tgtEl>
                                          <p:spTgt spid="45"/>
                                        </p:tgtEl>
                                        <p:attrNameLst>
                                          <p:attrName>ppt_x</p:attrName>
                                        </p:attrNameLst>
                                      </p:cBhvr>
                                      <p:tavLst>
                                        <p:tav tm="0" fmla="#ppt_x+(cos(-2*pi*(1-$))*-#ppt_x-sin(-2*pi*(1-$))*(1-#ppt_y))*(1-$)">
                                          <p:val>
                                            <p:fltVal val="0"/>
                                          </p:val>
                                        </p:tav>
                                        <p:tav tm="100000">
                                          <p:val>
                                            <p:fltVal val="1"/>
                                          </p:val>
                                        </p:tav>
                                      </p:tavLst>
                                    </p:anim>
                                    <p:anim calcmode="lin" valueType="num">
                                      <p:cBhvr>
                                        <p:cTn id="22" dur="1000" fill="hold"/>
                                        <p:tgtEl>
                                          <p:spTgt spid="45"/>
                                        </p:tgtEl>
                                        <p:attrNameLst>
                                          <p:attrName>ppt_y</p:attrName>
                                        </p:attrNameLst>
                                      </p:cBhvr>
                                      <p:tavLst>
                                        <p:tav tm="0" fmla="#ppt_y+(sin(-2*pi*(1-$))*-#ppt_x+cos(-2*pi*(1-$))*(1-#ppt_y))*(1-$)">
                                          <p:val>
                                            <p:fltVal val="0"/>
                                          </p:val>
                                        </p:tav>
                                        <p:tav tm="100000">
                                          <p:val>
                                            <p:fltVal val="1"/>
                                          </p:val>
                                        </p:tav>
                                      </p:tavLst>
                                    </p:anim>
                                  </p:childTnLst>
                                </p:cTn>
                              </p:par>
                            </p:childTnLst>
                          </p:cTn>
                        </p:par>
                        <p:par>
                          <p:cTn id="23" fill="hold">
                            <p:stCondLst>
                              <p:cond delay="3000"/>
                            </p:stCondLst>
                            <p:childTnLst>
                              <p:par>
                                <p:cTn id="24" presetID="53" presetClass="entr" presetSubtype="16" fill="hold" nodeType="afterEffect">
                                  <p:stCondLst>
                                    <p:cond delay="0"/>
                                  </p:stCondLst>
                                  <p:childTnLst>
                                    <p:set>
                                      <p:cBhvr>
                                        <p:cTn id="25" dur="1" fill="hold">
                                          <p:stCondLst>
                                            <p:cond delay="0"/>
                                          </p:stCondLst>
                                        </p:cTn>
                                        <p:tgtEl>
                                          <p:spTgt spid="61"/>
                                        </p:tgtEl>
                                        <p:attrNameLst>
                                          <p:attrName>style.visibility</p:attrName>
                                        </p:attrNameLst>
                                      </p:cBhvr>
                                      <p:to>
                                        <p:strVal val="visible"/>
                                      </p:to>
                                    </p:set>
                                    <p:anim calcmode="lin" valueType="num">
                                      <p:cBhvr>
                                        <p:cTn id="26" dur="500" fill="hold"/>
                                        <p:tgtEl>
                                          <p:spTgt spid="61"/>
                                        </p:tgtEl>
                                        <p:attrNameLst>
                                          <p:attrName>ppt_w</p:attrName>
                                        </p:attrNameLst>
                                      </p:cBhvr>
                                      <p:tavLst>
                                        <p:tav tm="0">
                                          <p:val>
                                            <p:fltVal val="0"/>
                                          </p:val>
                                        </p:tav>
                                        <p:tav tm="100000">
                                          <p:val>
                                            <p:strVal val="#ppt_w"/>
                                          </p:val>
                                        </p:tav>
                                      </p:tavLst>
                                    </p:anim>
                                    <p:anim calcmode="lin" valueType="num">
                                      <p:cBhvr>
                                        <p:cTn id="27" dur="500" fill="hold"/>
                                        <p:tgtEl>
                                          <p:spTgt spid="61"/>
                                        </p:tgtEl>
                                        <p:attrNameLst>
                                          <p:attrName>ppt_h</p:attrName>
                                        </p:attrNameLst>
                                      </p:cBhvr>
                                      <p:tavLst>
                                        <p:tav tm="0">
                                          <p:val>
                                            <p:fltVal val="0"/>
                                          </p:val>
                                        </p:tav>
                                        <p:tav tm="100000">
                                          <p:val>
                                            <p:strVal val="#ppt_h"/>
                                          </p:val>
                                        </p:tav>
                                      </p:tavLst>
                                    </p:anim>
                                    <p:animEffect transition="in" filter="fade">
                                      <p:cBhvr>
                                        <p:cTn id="28" dur="500"/>
                                        <p:tgtEl>
                                          <p:spTgt spid="61"/>
                                        </p:tgtEl>
                                      </p:cBhvr>
                                    </p:animEffect>
                                  </p:childTnLst>
                                </p:cTn>
                              </p:par>
                              <p:par>
                                <p:cTn id="29" presetID="53" presetClass="entr" presetSubtype="16" fill="hold" nodeType="withEffect">
                                  <p:stCondLst>
                                    <p:cond delay="200"/>
                                  </p:stCondLst>
                                  <p:childTnLst>
                                    <p:set>
                                      <p:cBhvr>
                                        <p:cTn id="30" dur="1" fill="hold">
                                          <p:stCondLst>
                                            <p:cond delay="0"/>
                                          </p:stCondLst>
                                        </p:cTn>
                                        <p:tgtEl>
                                          <p:spTgt spid="64"/>
                                        </p:tgtEl>
                                        <p:attrNameLst>
                                          <p:attrName>style.visibility</p:attrName>
                                        </p:attrNameLst>
                                      </p:cBhvr>
                                      <p:to>
                                        <p:strVal val="visible"/>
                                      </p:to>
                                    </p:set>
                                    <p:anim calcmode="lin" valueType="num">
                                      <p:cBhvr>
                                        <p:cTn id="31" dur="500" fill="hold"/>
                                        <p:tgtEl>
                                          <p:spTgt spid="64"/>
                                        </p:tgtEl>
                                        <p:attrNameLst>
                                          <p:attrName>ppt_w</p:attrName>
                                        </p:attrNameLst>
                                      </p:cBhvr>
                                      <p:tavLst>
                                        <p:tav tm="0">
                                          <p:val>
                                            <p:fltVal val="0"/>
                                          </p:val>
                                        </p:tav>
                                        <p:tav tm="100000">
                                          <p:val>
                                            <p:strVal val="#ppt_w"/>
                                          </p:val>
                                        </p:tav>
                                      </p:tavLst>
                                    </p:anim>
                                    <p:anim calcmode="lin" valueType="num">
                                      <p:cBhvr>
                                        <p:cTn id="32" dur="500" fill="hold"/>
                                        <p:tgtEl>
                                          <p:spTgt spid="64"/>
                                        </p:tgtEl>
                                        <p:attrNameLst>
                                          <p:attrName>ppt_h</p:attrName>
                                        </p:attrNameLst>
                                      </p:cBhvr>
                                      <p:tavLst>
                                        <p:tav tm="0">
                                          <p:val>
                                            <p:fltVal val="0"/>
                                          </p:val>
                                        </p:tav>
                                        <p:tav tm="100000">
                                          <p:val>
                                            <p:strVal val="#ppt_h"/>
                                          </p:val>
                                        </p:tav>
                                      </p:tavLst>
                                    </p:anim>
                                    <p:animEffect transition="in" filter="fade">
                                      <p:cBhvr>
                                        <p:cTn id="33" dur="500"/>
                                        <p:tgtEl>
                                          <p:spTgt spid="64"/>
                                        </p:tgtEl>
                                      </p:cBhvr>
                                    </p:animEffect>
                                  </p:childTnLst>
                                </p:cTn>
                              </p:par>
                              <p:par>
                                <p:cTn id="34" presetID="53" presetClass="entr" presetSubtype="16" fill="hold" nodeType="withEffect">
                                  <p:stCondLst>
                                    <p:cond delay="400"/>
                                  </p:stCondLst>
                                  <p:childTnLst>
                                    <p:set>
                                      <p:cBhvr>
                                        <p:cTn id="35" dur="1" fill="hold">
                                          <p:stCondLst>
                                            <p:cond delay="0"/>
                                          </p:stCondLst>
                                        </p:cTn>
                                        <p:tgtEl>
                                          <p:spTgt spid="55"/>
                                        </p:tgtEl>
                                        <p:attrNameLst>
                                          <p:attrName>style.visibility</p:attrName>
                                        </p:attrNameLst>
                                      </p:cBhvr>
                                      <p:to>
                                        <p:strVal val="visible"/>
                                      </p:to>
                                    </p:set>
                                    <p:anim calcmode="lin" valueType="num">
                                      <p:cBhvr>
                                        <p:cTn id="36" dur="500" fill="hold"/>
                                        <p:tgtEl>
                                          <p:spTgt spid="55"/>
                                        </p:tgtEl>
                                        <p:attrNameLst>
                                          <p:attrName>ppt_w</p:attrName>
                                        </p:attrNameLst>
                                      </p:cBhvr>
                                      <p:tavLst>
                                        <p:tav tm="0">
                                          <p:val>
                                            <p:fltVal val="0"/>
                                          </p:val>
                                        </p:tav>
                                        <p:tav tm="100000">
                                          <p:val>
                                            <p:strVal val="#ppt_w"/>
                                          </p:val>
                                        </p:tav>
                                      </p:tavLst>
                                    </p:anim>
                                    <p:anim calcmode="lin" valueType="num">
                                      <p:cBhvr>
                                        <p:cTn id="37" dur="500" fill="hold"/>
                                        <p:tgtEl>
                                          <p:spTgt spid="55"/>
                                        </p:tgtEl>
                                        <p:attrNameLst>
                                          <p:attrName>ppt_h</p:attrName>
                                        </p:attrNameLst>
                                      </p:cBhvr>
                                      <p:tavLst>
                                        <p:tav tm="0">
                                          <p:val>
                                            <p:fltVal val="0"/>
                                          </p:val>
                                        </p:tav>
                                        <p:tav tm="100000">
                                          <p:val>
                                            <p:strVal val="#ppt_h"/>
                                          </p:val>
                                        </p:tav>
                                      </p:tavLst>
                                    </p:anim>
                                    <p:animEffect transition="in" filter="fade">
                                      <p:cBhvr>
                                        <p:cTn id="38" dur="500"/>
                                        <p:tgtEl>
                                          <p:spTgt spid="55"/>
                                        </p:tgtEl>
                                      </p:cBhvr>
                                    </p:animEffect>
                                  </p:childTnLst>
                                </p:cTn>
                              </p:par>
                              <p:par>
                                <p:cTn id="39" presetID="53" presetClass="entr" presetSubtype="16" fill="hold" nodeType="withEffect">
                                  <p:stCondLst>
                                    <p:cond delay="600"/>
                                  </p:stCondLst>
                                  <p:childTnLst>
                                    <p:set>
                                      <p:cBhvr>
                                        <p:cTn id="40" dur="1" fill="hold">
                                          <p:stCondLst>
                                            <p:cond delay="0"/>
                                          </p:stCondLst>
                                        </p:cTn>
                                        <p:tgtEl>
                                          <p:spTgt spid="58"/>
                                        </p:tgtEl>
                                        <p:attrNameLst>
                                          <p:attrName>style.visibility</p:attrName>
                                        </p:attrNameLst>
                                      </p:cBhvr>
                                      <p:to>
                                        <p:strVal val="visible"/>
                                      </p:to>
                                    </p:set>
                                    <p:anim calcmode="lin" valueType="num">
                                      <p:cBhvr>
                                        <p:cTn id="41" dur="500" fill="hold"/>
                                        <p:tgtEl>
                                          <p:spTgt spid="58"/>
                                        </p:tgtEl>
                                        <p:attrNameLst>
                                          <p:attrName>ppt_w</p:attrName>
                                        </p:attrNameLst>
                                      </p:cBhvr>
                                      <p:tavLst>
                                        <p:tav tm="0">
                                          <p:val>
                                            <p:fltVal val="0"/>
                                          </p:val>
                                        </p:tav>
                                        <p:tav tm="100000">
                                          <p:val>
                                            <p:strVal val="#ppt_w"/>
                                          </p:val>
                                        </p:tav>
                                      </p:tavLst>
                                    </p:anim>
                                    <p:anim calcmode="lin" valueType="num">
                                      <p:cBhvr>
                                        <p:cTn id="42" dur="500" fill="hold"/>
                                        <p:tgtEl>
                                          <p:spTgt spid="58"/>
                                        </p:tgtEl>
                                        <p:attrNameLst>
                                          <p:attrName>ppt_h</p:attrName>
                                        </p:attrNameLst>
                                      </p:cBhvr>
                                      <p:tavLst>
                                        <p:tav tm="0">
                                          <p:val>
                                            <p:fltVal val="0"/>
                                          </p:val>
                                        </p:tav>
                                        <p:tav tm="100000">
                                          <p:val>
                                            <p:strVal val="#ppt_h"/>
                                          </p:val>
                                        </p:tav>
                                      </p:tavLst>
                                    </p:anim>
                                    <p:animEffect transition="in" filter="fade">
                                      <p:cBhvr>
                                        <p:cTn id="43" dur="500"/>
                                        <p:tgtEl>
                                          <p:spTgt spid="58"/>
                                        </p:tgtEl>
                                      </p:cBhvr>
                                    </p:animEffect>
                                  </p:childTnLst>
                                </p:cTn>
                              </p:par>
                              <p:par>
                                <p:cTn id="44" presetID="53" presetClass="entr" presetSubtype="16" fill="hold" nodeType="withEffect">
                                  <p:stCondLst>
                                    <p:cond delay="800"/>
                                  </p:stCondLst>
                                  <p:childTnLst>
                                    <p:set>
                                      <p:cBhvr>
                                        <p:cTn id="45" dur="1" fill="hold">
                                          <p:stCondLst>
                                            <p:cond delay="0"/>
                                          </p:stCondLst>
                                        </p:cTn>
                                        <p:tgtEl>
                                          <p:spTgt spid="52"/>
                                        </p:tgtEl>
                                        <p:attrNameLst>
                                          <p:attrName>style.visibility</p:attrName>
                                        </p:attrNameLst>
                                      </p:cBhvr>
                                      <p:to>
                                        <p:strVal val="visible"/>
                                      </p:to>
                                    </p:set>
                                    <p:anim calcmode="lin" valueType="num">
                                      <p:cBhvr>
                                        <p:cTn id="46" dur="500" fill="hold"/>
                                        <p:tgtEl>
                                          <p:spTgt spid="52"/>
                                        </p:tgtEl>
                                        <p:attrNameLst>
                                          <p:attrName>ppt_w</p:attrName>
                                        </p:attrNameLst>
                                      </p:cBhvr>
                                      <p:tavLst>
                                        <p:tav tm="0">
                                          <p:val>
                                            <p:fltVal val="0"/>
                                          </p:val>
                                        </p:tav>
                                        <p:tav tm="100000">
                                          <p:val>
                                            <p:strVal val="#ppt_w"/>
                                          </p:val>
                                        </p:tav>
                                      </p:tavLst>
                                    </p:anim>
                                    <p:anim calcmode="lin" valueType="num">
                                      <p:cBhvr>
                                        <p:cTn id="47" dur="500" fill="hold"/>
                                        <p:tgtEl>
                                          <p:spTgt spid="52"/>
                                        </p:tgtEl>
                                        <p:attrNameLst>
                                          <p:attrName>ppt_h</p:attrName>
                                        </p:attrNameLst>
                                      </p:cBhvr>
                                      <p:tavLst>
                                        <p:tav tm="0">
                                          <p:val>
                                            <p:fltVal val="0"/>
                                          </p:val>
                                        </p:tav>
                                        <p:tav tm="100000">
                                          <p:val>
                                            <p:strVal val="#ppt_h"/>
                                          </p:val>
                                        </p:tav>
                                      </p:tavLst>
                                    </p:anim>
                                    <p:animEffect transition="in" filter="fade">
                                      <p:cBhvr>
                                        <p:cTn id="48"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a:spLocks noChangeArrowheads="1"/>
          </p:cNvSpPr>
          <p:nvPr/>
        </p:nvSpPr>
        <p:spPr bwMode="auto">
          <a:xfrm>
            <a:off x="0" y="212519"/>
            <a:ext cx="352425" cy="400050"/>
          </a:xfrm>
          <a:prstGeom prst="rect">
            <a:avLst/>
          </a:prstGeom>
          <a:solidFill>
            <a:srgbClr val="5B9BD5">
              <a:lumMod val="50000"/>
            </a:srgbClr>
          </a:solidFill>
          <a:ln w="9525">
            <a:noFill/>
            <a:miter lim="800000"/>
          </a:ln>
        </p:spPr>
        <p:txBody>
          <a:bodyPr anchor="ctr"/>
          <a:lstStyle/>
          <a:p>
            <a:pPr algn="ctr" fontAlgn="base">
              <a:spcBef>
                <a:spcPct val="0"/>
              </a:spcBef>
              <a:spcAft>
                <a:spcPct val="0"/>
              </a:spcAft>
              <a:buFont typeface="Arial" panose="020B0604020202020204" pitchFamily="34" charset="0"/>
              <a:buNone/>
              <a:defRPr/>
            </a:pPr>
            <a:endParaRPr lang="zh-CN" altLang="en-US" kern="0">
              <a:solidFill>
                <a:srgbClr val="1F4E79"/>
              </a:solidFill>
              <a:latin typeface="黑体" panose="02010609060101010101" charset="-122"/>
              <a:ea typeface="黑体" panose="02010609060101010101" charset="-122"/>
            </a:endParaRPr>
          </a:p>
        </p:txBody>
      </p:sp>
      <p:sp>
        <p:nvSpPr>
          <p:cNvPr id="17" name="矩形 16"/>
          <p:cNvSpPr>
            <a:spLocks noChangeArrowheads="1"/>
          </p:cNvSpPr>
          <p:nvPr/>
        </p:nvSpPr>
        <p:spPr bwMode="auto">
          <a:xfrm>
            <a:off x="419100" y="212519"/>
            <a:ext cx="123825" cy="400050"/>
          </a:xfrm>
          <a:prstGeom prst="rect">
            <a:avLst/>
          </a:prstGeom>
          <a:solidFill>
            <a:srgbClr val="7F7F7F"/>
          </a:solidFill>
          <a:ln w="9525">
            <a:noFill/>
            <a:miter lim="800000"/>
          </a:ln>
        </p:spPr>
        <p:txBody>
          <a:bodyPr anchor="ctr"/>
          <a:lstStyle/>
          <a:p>
            <a:pPr algn="ctr" fontAlgn="base">
              <a:spcBef>
                <a:spcPct val="0"/>
              </a:spcBef>
              <a:spcAft>
                <a:spcPct val="0"/>
              </a:spcAft>
              <a:buFont typeface="Arial" panose="020B0604020202020204" pitchFamily="34" charset="0"/>
              <a:buNone/>
            </a:pPr>
            <a:endParaRPr lang="zh-CN" altLang="en-US">
              <a:solidFill>
                <a:srgbClr val="1F4E79"/>
              </a:solidFill>
              <a:latin typeface="黑体" panose="02010609060101010101" charset="-122"/>
              <a:ea typeface="黑体" panose="02010609060101010101" charset="-122"/>
            </a:endParaRPr>
          </a:p>
        </p:txBody>
      </p:sp>
      <p:sp>
        <p:nvSpPr>
          <p:cNvPr id="21" name="标题 1"/>
          <p:cNvSpPr txBox="1"/>
          <p:nvPr/>
        </p:nvSpPr>
        <p:spPr>
          <a:xfrm>
            <a:off x="609600" y="224766"/>
            <a:ext cx="9710057" cy="375557"/>
          </a:xfrm>
          <a:prstGeom prst="rect">
            <a:avLst/>
          </a:prstGeom>
        </p:spPr>
        <p:txBody>
          <a:bodyPr anchor="ctr"/>
          <a:lstStyle>
            <a:lvl1pPr algn="l" rtl="0" eaLnBrk="0" fontAlgn="base" hangingPunct="0">
              <a:spcBef>
                <a:spcPct val="0"/>
              </a:spcBef>
              <a:spcAft>
                <a:spcPct val="0"/>
              </a:spcAft>
              <a:defRPr sz="2800" b="1" kern="1200">
                <a:solidFill>
                  <a:srgbClr val="1F4E79"/>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lvl="0">
              <a:defRPr/>
            </a:pPr>
            <a:r>
              <a:rPr lang="en-US" altLang="zh-CN" sz="2400" dirty="0" smtClean="0">
                <a:solidFill>
                  <a:srgbClr val="0070C0"/>
                </a:solidFill>
                <a:latin typeface="思源黑体" panose="020B0500000000000000" pitchFamily="34" charset="-122"/>
                <a:ea typeface="思源黑体" panose="020B0500000000000000" pitchFamily="34" charset="-122"/>
              </a:rPr>
              <a:t>1</a:t>
            </a:r>
            <a:r>
              <a:rPr lang="zh-CN" altLang="en-US" sz="2400" dirty="0" smtClean="0">
                <a:solidFill>
                  <a:srgbClr val="0070C0"/>
                </a:solidFill>
                <a:latin typeface="思源黑体" panose="020B0500000000000000" pitchFamily="34" charset="-122"/>
                <a:ea typeface="思源黑体" panose="020B0500000000000000" pitchFamily="34" charset="-122"/>
              </a:rPr>
              <a:t>、</a:t>
            </a:r>
            <a:r>
              <a:rPr lang="en-US" altLang="zh-CN" sz="2400" dirty="0" err="1" smtClean="0">
                <a:solidFill>
                  <a:srgbClr val="0070C0"/>
                </a:solidFill>
                <a:latin typeface="思源黑体" panose="020B0500000000000000" pitchFamily="34" charset="-122"/>
                <a:ea typeface="思源黑体" panose="020B0500000000000000" pitchFamily="34" charset="-122"/>
              </a:rPr>
              <a:t>Iptables</a:t>
            </a:r>
            <a:r>
              <a:rPr lang="en-US" altLang="zh-CN" sz="2400" dirty="0" smtClean="0">
                <a:solidFill>
                  <a:srgbClr val="0070C0"/>
                </a:solidFill>
                <a:latin typeface="思源黑体" panose="020B0500000000000000" pitchFamily="34" charset="-122"/>
                <a:ea typeface="思源黑体" panose="020B0500000000000000" pitchFamily="34" charset="-122"/>
              </a:rPr>
              <a:t> </a:t>
            </a:r>
            <a:r>
              <a:rPr lang="zh-CN" altLang="en-US" sz="2400" dirty="0" smtClean="0">
                <a:solidFill>
                  <a:srgbClr val="0070C0"/>
                </a:solidFill>
                <a:latin typeface="思源黑体" panose="020B0500000000000000" pitchFamily="34" charset="-122"/>
                <a:ea typeface="思源黑体" panose="020B0500000000000000" pitchFamily="34" charset="-122"/>
              </a:rPr>
              <a:t>和 </a:t>
            </a:r>
            <a:r>
              <a:rPr lang="en-US" altLang="zh-CN" sz="2400" dirty="0" err="1" smtClean="0">
                <a:solidFill>
                  <a:srgbClr val="0070C0"/>
                </a:solidFill>
                <a:latin typeface="思源黑体" panose="020B0500000000000000" pitchFamily="34" charset="-122"/>
                <a:ea typeface="思源黑体" panose="020B0500000000000000" pitchFamily="34" charset="-122"/>
              </a:rPr>
              <a:t>Netfilter</a:t>
            </a:r>
            <a:r>
              <a:rPr lang="en-US" altLang="zh-CN" sz="2400" dirty="0" smtClean="0">
                <a:solidFill>
                  <a:srgbClr val="0070C0"/>
                </a:solidFill>
                <a:latin typeface="思源黑体" panose="020B0500000000000000" pitchFamily="34" charset="-122"/>
                <a:ea typeface="思源黑体" panose="020B0500000000000000" pitchFamily="34" charset="-122"/>
              </a:rPr>
              <a:t> </a:t>
            </a:r>
            <a:endParaRPr lang="zh-CN" altLang="en-US" sz="2400" dirty="0">
              <a:solidFill>
                <a:srgbClr val="0070C0"/>
              </a:solidFill>
              <a:latin typeface="思源黑体" panose="020B0500000000000000" pitchFamily="34" charset="-122"/>
              <a:ea typeface="思源黑体" panose="020B0500000000000000" pitchFamily="34" charset="-122"/>
            </a:endParaRPr>
          </a:p>
        </p:txBody>
      </p:sp>
      <p:sp>
        <p:nvSpPr>
          <p:cNvPr id="6" name="文本框 5"/>
          <p:cNvSpPr txBox="1"/>
          <p:nvPr/>
        </p:nvSpPr>
        <p:spPr>
          <a:xfrm>
            <a:off x="6629400" y="1668818"/>
            <a:ext cx="3859824" cy="2677656"/>
          </a:xfrm>
          <a:prstGeom prst="rect">
            <a:avLst/>
          </a:prstGeom>
          <a:noFill/>
        </p:spPr>
        <p:txBody>
          <a:bodyPr wrap="square" rtlCol="0">
            <a:spAutoFit/>
          </a:bodyPr>
          <a:lstStyle/>
          <a:p>
            <a:r>
              <a:rPr lang="zh-CN" altLang="en-US" sz="1400" dirty="0" smtClean="0">
                <a:latin typeface="思源黑体" panose="020B0500000000000000" pitchFamily="34" charset="-122"/>
                <a:ea typeface="思源黑体" panose="020B0500000000000000" pitchFamily="34" charset="-122"/>
              </a:rPr>
              <a:t>        </a:t>
            </a:r>
            <a:r>
              <a:rPr lang="en-US" altLang="zh-CN" sz="1400" dirty="0" err="1" smtClean="0">
                <a:latin typeface="思源黑体" panose="020B0500000000000000" pitchFamily="34" charset="-122"/>
                <a:ea typeface="思源黑体" panose="020B0500000000000000" pitchFamily="34" charset="-122"/>
              </a:rPr>
              <a:t>iptables</a:t>
            </a:r>
            <a:r>
              <a:rPr lang="en-US" altLang="zh-CN" sz="1400" dirty="0" smtClean="0">
                <a:latin typeface="思源黑体" panose="020B0500000000000000" pitchFamily="34" charset="-122"/>
                <a:ea typeface="思源黑体" panose="020B0500000000000000" pitchFamily="34" charset="-122"/>
              </a:rPr>
              <a:t> </a:t>
            </a:r>
            <a:r>
              <a:rPr lang="zh-CN" altLang="en-US" sz="1400" dirty="0" smtClean="0">
                <a:latin typeface="思源黑体" panose="020B0500000000000000" pitchFamily="34" charset="-122"/>
                <a:ea typeface="思源黑体" panose="020B0500000000000000" pitchFamily="34" charset="-122"/>
              </a:rPr>
              <a:t>和 </a:t>
            </a:r>
            <a:r>
              <a:rPr lang="en-US" altLang="zh-CN" sz="1400" dirty="0" err="1" smtClean="0">
                <a:latin typeface="思源黑体" panose="020B0500000000000000" pitchFamily="34" charset="-122"/>
                <a:ea typeface="思源黑体" panose="020B0500000000000000" pitchFamily="34" charset="-122"/>
              </a:rPr>
              <a:t>netfilter</a:t>
            </a:r>
            <a:r>
              <a:rPr lang="en-US" altLang="zh-CN" sz="1400" dirty="0" smtClean="0">
                <a:latin typeface="思源黑体" panose="020B0500000000000000" pitchFamily="34" charset="-122"/>
                <a:ea typeface="思源黑体" panose="020B0500000000000000" pitchFamily="34" charset="-122"/>
              </a:rPr>
              <a:t> </a:t>
            </a:r>
            <a:r>
              <a:rPr lang="zh-CN" altLang="en-US" sz="1400" dirty="0" smtClean="0">
                <a:latin typeface="思源黑体" panose="020B0500000000000000" pitchFamily="34" charset="-122"/>
                <a:ea typeface="思源黑体" panose="020B0500000000000000" pitchFamily="34" charset="-122"/>
              </a:rPr>
              <a:t>是一套 </a:t>
            </a:r>
            <a:r>
              <a:rPr lang="en-US" altLang="zh-CN" sz="1400" dirty="0" smtClean="0">
                <a:latin typeface="思源黑体" panose="020B0500000000000000" pitchFamily="34" charset="-122"/>
                <a:ea typeface="思源黑体" panose="020B0500000000000000" pitchFamily="34" charset="-122"/>
              </a:rPr>
              <a:t>Linux </a:t>
            </a:r>
            <a:r>
              <a:rPr lang="zh-CN" altLang="en-US" sz="1400" dirty="0" smtClean="0">
                <a:latin typeface="思源黑体" panose="020B0500000000000000" pitchFamily="34" charset="-122"/>
                <a:ea typeface="思源黑体" panose="020B0500000000000000" pitchFamily="34" charset="-122"/>
              </a:rPr>
              <a:t>防火墙组合工具，共同合作完成系统的防护工作。</a:t>
            </a:r>
            <a:endParaRPr lang="en-US" altLang="zh-CN" sz="1400" dirty="0" smtClean="0">
              <a:latin typeface="思源黑体" panose="020B0500000000000000" pitchFamily="34" charset="-122"/>
              <a:ea typeface="思源黑体" panose="020B0500000000000000" pitchFamily="34" charset="-122"/>
            </a:endParaRPr>
          </a:p>
          <a:p>
            <a:endParaRPr lang="en-US" altLang="zh-CN" sz="1400" dirty="0" smtClean="0">
              <a:latin typeface="思源黑体" panose="020B0500000000000000" pitchFamily="34" charset="-122"/>
              <a:ea typeface="思源黑体" panose="020B0500000000000000" pitchFamily="34" charset="-122"/>
            </a:endParaRPr>
          </a:p>
          <a:p>
            <a:r>
              <a:rPr lang="zh-CN" altLang="en-US" sz="1400" dirty="0" smtClean="0">
                <a:latin typeface="思源黑体" panose="020B0500000000000000" pitchFamily="34" charset="-122"/>
                <a:ea typeface="思源黑体" panose="020B0500000000000000" pitchFamily="34" charset="-122"/>
              </a:rPr>
              <a:t>        </a:t>
            </a:r>
            <a:r>
              <a:rPr lang="en-US" altLang="zh-CN" sz="1400" dirty="0" err="1" smtClean="0">
                <a:latin typeface="思源黑体" panose="020B0500000000000000" pitchFamily="34" charset="-122"/>
                <a:ea typeface="思源黑体" panose="020B0500000000000000" pitchFamily="34" charset="-122"/>
              </a:rPr>
              <a:t>iptables</a:t>
            </a:r>
            <a:r>
              <a:rPr lang="en-US" altLang="zh-CN" sz="1400" dirty="0" smtClean="0">
                <a:latin typeface="思源黑体" panose="020B0500000000000000" pitchFamily="34" charset="-122"/>
                <a:ea typeface="思源黑体" panose="020B0500000000000000" pitchFamily="34" charset="-122"/>
              </a:rPr>
              <a:t> </a:t>
            </a:r>
            <a:r>
              <a:rPr lang="zh-CN" altLang="en-US" sz="1400" dirty="0" smtClean="0">
                <a:latin typeface="思源黑体" panose="020B0500000000000000" pitchFamily="34" charset="-122"/>
                <a:ea typeface="思源黑体" panose="020B0500000000000000" pitchFamily="34" charset="-122"/>
              </a:rPr>
              <a:t>是客户端工具，</a:t>
            </a:r>
            <a:r>
              <a:rPr lang="en-US" altLang="zh-CN" sz="1400" dirty="0" err="1" smtClean="0">
                <a:latin typeface="思源黑体" panose="020B0500000000000000" pitchFamily="34" charset="-122"/>
                <a:ea typeface="思源黑体" panose="020B0500000000000000" pitchFamily="34" charset="-122"/>
              </a:rPr>
              <a:t>netfilter</a:t>
            </a:r>
            <a:r>
              <a:rPr lang="en-US" altLang="zh-CN" sz="1400" dirty="0" smtClean="0">
                <a:latin typeface="思源黑体" panose="020B0500000000000000" pitchFamily="34" charset="-122"/>
                <a:ea typeface="思源黑体" panose="020B0500000000000000" pitchFamily="34" charset="-122"/>
              </a:rPr>
              <a:t> </a:t>
            </a:r>
            <a:r>
              <a:rPr lang="zh-CN" altLang="en-US" sz="1400" dirty="0" smtClean="0">
                <a:latin typeface="思源黑体" panose="020B0500000000000000" pitchFamily="34" charset="-122"/>
                <a:ea typeface="思源黑体" panose="020B0500000000000000" pitchFamily="34" charset="-122"/>
              </a:rPr>
              <a:t>是服务端程序。</a:t>
            </a:r>
            <a:endParaRPr lang="en-US" altLang="zh-CN" sz="1400" dirty="0" smtClean="0">
              <a:latin typeface="思源黑体" panose="020B0500000000000000" pitchFamily="34" charset="-122"/>
              <a:ea typeface="思源黑体" panose="020B0500000000000000" pitchFamily="34" charset="-122"/>
            </a:endParaRPr>
          </a:p>
          <a:p>
            <a:endParaRPr lang="en-US" altLang="zh-CN" sz="1400" dirty="0" smtClean="0">
              <a:latin typeface="思源黑体" panose="020B0500000000000000" pitchFamily="34" charset="-122"/>
              <a:ea typeface="思源黑体" panose="020B0500000000000000" pitchFamily="34" charset="-122"/>
            </a:endParaRPr>
          </a:p>
          <a:p>
            <a:r>
              <a:rPr lang="zh-CN" altLang="en-US" sz="1400" dirty="0" smtClean="0">
                <a:latin typeface="思源黑体" panose="020B0500000000000000" pitchFamily="34" charset="-122"/>
                <a:ea typeface="思源黑体" panose="020B0500000000000000" pitchFamily="34" charset="-122"/>
              </a:rPr>
              <a:t>        </a:t>
            </a:r>
            <a:r>
              <a:rPr lang="en-US" altLang="zh-CN" sz="1400" dirty="0" err="1" smtClean="0">
                <a:latin typeface="思源黑体" panose="020B0500000000000000" pitchFamily="34" charset="-122"/>
                <a:ea typeface="思源黑体" panose="020B0500000000000000" pitchFamily="34" charset="-122"/>
              </a:rPr>
              <a:t>iptables</a:t>
            </a:r>
            <a:r>
              <a:rPr lang="en-US" altLang="zh-CN" sz="1400" dirty="0" smtClean="0">
                <a:latin typeface="思源黑体" panose="020B0500000000000000" pitchFamily="34" charset="-122"/>
                <a:ea typeface="思源黑体" panose="020B0500000000000000" pitchFamily="34" charset="-122"/>
              </a:rPr>
              <a:t> </a:t>
            </a:r>
            <a:r>
              <a:rPr lang="zh-CN" altLang="en-US" sz="1400" dirty="0" smtClean="0">
                <a:latin typeface="思源黑体" panose="020B0500000000000000" pitchFamily="34" charset="-122"/>
                <a:ea typeface="思源黑体" panose="020B0500000000000000" pitchFamily="34" charset="-122"/>
              </a:rPr>
              <a:t>工作在用户态，</a:t>
            </a:r>
            <a:r>
              <a:rPr lang="en-US" altLang="zh-CN" sz="1400" dirty="0" err="1" smtClean="0">
                <a:latin typeface="思源黑体" panose="020B0500000000000000" pitchFamily="34" charset="-122"/>
                <a:ea typeface="思源黑体" panose="020B0500000000000000" pitchFamily="34" charset="-122"/>
              </a:rPr>
              <a:t>netfilter</a:t>
            </a:r>
            <a:r>
              <a:rPr lang="en-US" altLang="zh-CN" sz="1400" dirty="0" smtClean="0">
                <a:latin typeface="思源黑体" panose="020B0500000000000000" pitchFamily="34" charset="-122"/>
                <a:ea typeface="思源黑体" panose="020B0500000000000000" pitchFamily="34" charset="-122"/>
              </a:rPr>
              <a:t> </a:t>
            </a:r>
            <a:r>
              <a:rPr lang="zh-CN" altLang="en-US" sz="1400" dirty="0" smtClean="0">
                <a:latin typeface="思源黑体" panose="020B0500000000000000" pitchFamily="34" charset="-122"/>
                <a:ea typeface="思源黑体" panose="020B0500000000000000" pitchFamily="34" charset="-122"/>
              </a:rPr>
              <a:t>工作在内核态。</a:t>
            </a:r>
            <a:endParaRPr lang="en-US" altLang="zh-CN" sz="1400" dirty="0" smtClean="0">
              <a:latin typeface="思源黑体" panose="020B0500000000000000" pitchFamily="34" charset="-122"/>
              <a:ea typeface="思源黑体" panose="020B0500000000000000" pitchFamily="34" charset="-122"/>
            </a:endParaRPr>
          </a:p>
          <a:p>
            <a:endParaRPr lang="en-US" altLang="zh-CN" sz="1400" dirty="0" smtClean="0">
              <a:latin typeface="思源黑体" panose="020B0500000000000000" pitchFamily="34" charset="-122"/>
              <a:ea typeface="思源黑体" panose="020B0500000000000000" pitchFamily="34" charset="-122"/>
            </a:endParaRPr>
          </a:p>
          <a:p>
            <a:r>
              <a:rPr lang="zh-CN" altLang="en-US" sz="1400" dirty="0" smtClean="0">
                <a:latin typeface="思源黑体" panose="020B0500000000000000" pitchFamily="34" charset="-122"/>
                <a:ea typeface="思源黑体" panose="020B0500000000000000" pitchFamily="34" charset="-122"/>
              </a:rPr>
              <a:t>        用户可以通过 </a:t>
            </a:r>
            <a:r>
              <a:rPr lang="en-US" altLang="zh-CN" sz="1400" dirty="0" err="1" smtClean="0">
                <a:latin typeface="思源黑体" panose="020B0500000000000000" pitchFamily="34" charset="-122"/>
                <a:ea typeface="思源黑体" panose="020B0500000000000000" pitchFamily="34" charset="-122"/>
              </a:rPr>
              <a:t>iptables</a:t>
            </a:r>
            <a:r>
              <a:rPr lang="en-US" altLang="zh-CN" sz="1400" dirty="0" smtClean="0">
                <a:latin typeface="思源黑体" panose="020B0500000000000000" pitchFamily="34" charset="-122"/>
                <a:ea typeface="思源黑体" panose="020B0500000000000000" pitchFamily="34" charset="-122"/>
              </a:rPr>
              <a:t> </a:t>
            </a:r>
            <a:r>
              <a:rPr lang="zh-CN" altLang="en-US" sz="1400" dirty="0" smtClean="0">
                <a:latin typeface="思源黑体" panose="020B0500000000000000" pitchFamily="34" charset="-122"/>
                <a:ea typeface="思源黑体" panose="020B0500000000000000" pitchFamily="34" charset="-122"/>
              </a:rPr>
              <a:t>命令作用到服务端的 </a:t>
            </a:r>
            <a:r>
              <a:rPr lang="en-US" altLang="zh-CN" sz="1400" dirty="0" err="1" smtClean="0">
                <a:latin typeface="思源黑体" panose="020B0500000000000000" pitchFamily="34" charset="-122"/>
                <a:ea typeface="思源黑体" panose="020B0500000000000000" pitchFamily="34" charset="-122"/>
              </a:rPr>
              <a:t>netfilter</a:t>
            </a:r>
            <a:r>
              <a:rPr lang="zh-CN" altLang="en-US" sz="1400" dirty="0" smtClean="0">
                <a:latin typeface="思源黑体" panose="020B0500000000000000" pitchFamily="34" charset="-122"/>
                <a:ea typeface="思源黑体" panose="020B0500000000000000" pitchFamily="34" charset="-122"/>
              </a:rPr>
              <a:t>，</a:t>
            </a:r>
            <a:r>
              <a:rPr lang="en-US" altLang="zh-CN" sz="1400" dirty="0" err="1" smtClean="0">
                <a:latin typeface="思源黑体" panose="020B0500000000000000" pitchFamily="34" charset="-122"/>
                <a:ea typeface="思源黑体" panose="020B0500000000000000" pitchFamily="34" charset="-122"/>
              </a:rPr>
              <a:t>netfilter</a:t>
            </a:r>
            <a:r>
              <a:rPr lang="en-US" altLang="zh-CN" sz="1400" dirty="0" smtClean="0">
                <a:latin typeface="思源黑体" panose="020B0500000000000000" pitchFamily="34" charset="-122"/>
                <a:ea typeface="思源黑体" panose="020B0500000000000000" pitchFamily="34" charset="-122"/>
              </a:rPr>
              <a:t> </a:t>
            </a:r>
            <a:r>
              <a:rPr lang="zh-CN" altLang="en-US" sz="1400" dirty="0" smtClean="0">
                <a:latin typeface="思源黑体" panose="020B0500000000000000" pitchFamily="34" charset="-122"/>
                <a:ea typeface="思源黑体" panose="020B0500000000000000" pitchFamily="34" charset="-122"/>
              </a:rPr>
              <a:t>触发相应的回调函数（</a:t>
            </a:r>
            <a:r>
              <a:rPr lang="en-US" altLang="zh-CN" sz="1400" dirty="0" smtClean="0">
                <a:latin typeface="思源黑体" panose="020B0500000000000000" pitchFamily="34" charset="-122"/>
                <a:ea typeface="思源黑体" panose="020B0500000000000000" pitchFamily="34" charset="-122"/>
              </a:rPr>
              <a:t>hook </a:t>
            </a:r>
            <a:r>
              <a:rPr lang="zh-CN" altLang="en-US" sz="1400" dirty="0" smtClean="0">
                <a:latin typeface="思源黑体" panose="020B0500000000000000" pitchFamily="34" charset="-122"/>
                <a:ea typeface="思源黑体" panose="020B0500000000000000" pitchFamily="34" charset="-122"/>
              </a:rPr>
              <a:t>机制）执行相应的防护动作。</a:t>
            </a:r>
            <a:endParaRPr lang="zh-CN" altLang="en-US" sz="1400" dirty="0">
              <a:latin typeface="思源黑体" panose="020B0500000000000000" pitchFamily="34" charset="-122"/>
              <a:ea typeface="思源黑体" panose="020B0500000000000000" pitchFamily="34" charset="-122"/>
            </a:endParaRPr>
          </a:p>
        </p:txBody>
      </p:sp>
      <p:pic>
        <p:nvPicPr>
          <p:cNvPr id="8" name="Picture 4" descr="C:\Users\mibin\AppData\Local\Temp\企业微信截图_17363297175691.png"/>
          <p:cNvPicPr>
            <a:picLocks noChangeAspect="1" noChangeArrowheads="1"/>
          </p:cNvPicPr>
          <p:nvPr/>
        </p:nvPicPr>
        <p:blipFill>
          <a:blip r:embed="rId2" cstate="print"/>
          <a:srcRect/>
          <a:stretch>
            <a:fillRect/>
          </a:stretch>
        </p:blipFill>
        <p:spPr bwMode="auto">
          <a:xfrm>
            <a:off x="694425" y="827920"/>
            <a:ext cx="5108497" cy="5300318"/>
          </a:xfrm>
          <a:prstGeom prst="rect">
            <a:avLst/>
          </a:prstGeom>
          <a:noFill/>
        </p:spPr>
      </p:pic>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a:spLocks noChangeArrowheads="1"/>
          </p:cNvSpPr>
          <p:nvPr/>
        </p:nvSpPr>
        <p:spPr bwMode="auto">
          <a:xfrm>
            <a:off x="0" y="212519"/>
            <a:ext cx="352425" cy="400050"/>
          </a:xfrm>
          <a:prstGeom prst="rect">
            <a:avLst/>
          </a:prstGeom>
          <a:solidFill>
            <a:srgbClr val="5B9BD5">
              <a:lumMod val="50000"/>
            </a:srgbClr>
          </a:solidFill>
          <a:ln w="9525">
            <a:noFill/>
            <a:miter lim="800000"/>
          </a:ln>
        </p:spPr>
        <p:txBody>
          <a:bodyPr anchor="ctr"/>
          <a:lstStyle/>
          <a:p>
            <a:pPr algn="ctr" fontAlgn="base">
              <a:spcBef>
                <a:spcPct val="0"/>
              </a:spcBef>
              <a:spcAft>
                <a:spcPct val="0"/>
              </a:spcAft>
              <a:buFont typeface="Arial" panose="020B0604020202020204" pitchFamily="34" charset="0"/>
              <a:buNone/>
              <a:defRPr/>
            </a:pPr>
            <a:endParaRPr lang="zh-CN" altLang="en-US" kern="0">
              <a:solidFill>
                <a:srgbClr val="1F4E79"/>
              </a:solidFill>
              <a:latin typeface="黑体" panose="02010609060101010101" charset="-122"/>
              <a:ea typeface="黑体" panose="02010609060101010101" charset="-122"/>
            </a:endParaRPr>
          </a:p>
        </p:txBody>
      </p:sp>
      <p:sp>
        <p:nvSpPr>
          <p:cNvPr id="17" name="矩形 16"/>
          <p:cNvSpPr>
            <a:spLocks noChangeArrowheads="1"/>
          </p:cNvSpPr>
          <p:nvPr/>
        </p:nvSpPr>
        <p:spPr bwMode="auto">
          <a:xfrm>
            <a:off x="419100" y="212519"/>
            <a:ext cx="123825" cy="400050"/>
          </a:xfrm>
          <a:prstGeom prst="rect">
            <a:avLst/>
          </a:prstGeom>
          <a:solidFill>
            <a:srgbClr val="7F7F7F"/>
          </a:solidFill>
          <a:ln w="9525">
            <a:noFill/>
            <a:miter lim="800000"/>
          </a:ln>
        </p:spPr>
        <p:txBody>
          <a:bodyPr anchor="ctr"/>
          <a:lstStyle/>
          <a:p>
            <a:pPr algn="ctr" fontAlgn="base">
              <a:spcBef>
                <a:spcPct val="0"/>
              </a:spcBef>
              <a:spcAft>
                <a:spcPct val="0"/>
              </a:spcAft>
              <a:buFont typeface="Arial" panose="020B0604020202020204" pitchFamily="34" charset="0"/>
              <a:buNone/>
            </a:pPr>
            <a:endParaRPr lang="zh-CN" altLang="en-US">
              <a:solidFill>
                <a:srgbClr val="1F4E79"/>
              </a:solidFill>
              <a:latin typeface="黑体" panose="02010609060101010101" charset="-122"/>
              <a:ea typeface="黑体" panose="02010609060101010101" charset="-122"/>
            </a:endParaRPr>
          </a:p>
        </p:txBody>
      </p:sp>
      <p:sp>
        <p:nvSpPr>
          <p:cNvPr id="21" name="标题 1"/>
          <p:cNvSpPr txBox="1"/>
          <p:nvPr/>
        </p:nvSpPr>
        <p:spPr>
          <a:xfrm>
            <a:off x="609600" y="224766"/>
            <a:ext cx="9710057" cy="375557"/>
          </a:xfrm>
          <a:prstGeom prst="rect">
            <a:avLst/>
          </a:prstGeom>
        </p:spPr>
        <p:txBody>
          <a:bodyPr anchor="ctr"/>
          <a:lstStyle>
            <a:lvl1pPr algn="l" rtl="0" eaLnBrk="0" fontAlgn="base" hangingPunct="0">
              <a:spcBef>
                <a:spcPct val="0"/>
              </a:spcBef>
              <a:spcAft>
                <a:spcPct val="0"/>
              </a:spcAft>
              <a:defRPr sz="2800" b="1" kern="1200">
                <a:solidFill>
                  <a:srgbClr val="1F4E79"/>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defRPr/>
            </a:pPr>
            <a:r>
              <a:rPr lang="en-US" altLang="zh-CN" sz="2400" dirty="0" smtClean="0">
                <a:solidFill>
                  <a:srgbClr val="0070C0"/>
                </a:solidFill>
                <a:latin typeface="思源黑体" panose="020B0500000000000000" pitchFamily="34" charset="-122"/>
                <a:ea typeface="思源黑体" panose="020B0500000000000000" pitchFamily="34" charset="-122"/>
              </a:rPr>
              <a:t>2</a:t>
            </a:r>
            <a:r>
              <a:rPr lang="zh-CN" altLang="en-US" sz="2400" dirty="0" smtClean="0">
                <a:solidFill>
                  <a:srgbClr val="0070C0"/>
                </a:solidFill>
                <a:latin typeface="思源黑体" panose="020B0500000000000000" pitchFamily="34" charset="-122"/>
                <a:ea typeface="思源黑体" panose="020B0500000000000000" pitchFamily="34" charset="-122"/>
              </a:rPr>
              <a:t>、</a:t>
            </a:r>
            <a:r>
              <a:rPr lang="en-US" altLang="zh-CN" sz="2400" dirty="0" err="1" smtClean="0">
                <a:solidFill>
                  <a:srgbClr val="0070C0"/>
                </a:solidFill>
                <a:latin typeface="思源黑体" panose="020B0500000000000000" pitchFamily="34" charset="-122"/>
                <a:ea typeface="思源黑体" panose="020B0500000000000000" pitchFamily="34" charset="-122"/>
              </a:rPr>
              <a:t>Netfilter</a:t>
            </a:r>
            <a:r>
              <a:rPr lang="zh-CN" altLang="en-US" sz="2400" dirty="0" smtClean="0">
                <a:solidFill>
                  <a:srgbClr val="0070C0"/>
                </a:solidFill>
                <a:latin typeface="思源黑体" panose="020B0500000000000000" pitchFamily="34" charset="-122"/>
                <a:ea typeface="思源黑体" panose="020B0500000000000000" pitchFamily="34" charset="-122"/>
              </a:rPr>
              <a:t>及网络中的</a:t>
            </a:r>
            <a:r>
              <a:rPr lang="en-US" altLang="zh-CN" sz="2400" dirty="0" smtClean="0">
                <a:solidFill>
                  <a:srgbClr val="0070C0"/>
                </a:solidFill>
                <a:latin typeface="思源黑体" panose="020B0500000000000000" pitchFamily="34" charset="-122"/>
                <a:ea typeface="思源黑体" panose="020B0500000000000000" pitchFamily="34" charset="-122"/>
              </a:rPr>
              <a:t>Packet</a:t>
            </a:r>
            <a:r>
              <a:rPr lang="zh-CN" altLang="en-US" sz="2400" dirty="0" smtClean="0">
                <a:solidFill>
                  <a:srgbClr val="0070C0"/>
                </a:solidFill>
                <a:latin typeface="思源黑体" panose="020B0500000000000000" pitchFamily="34" charset="-122"/>
                <a:ea typeface="思源黑体" panose="020B0500000000000000" pitchFamily="34" charset="-122"/>
              </a:rPr>
              <a:t>流</a:t>
            </a:r>
            <a:endParaRPr lang="en-US" altLang="zh-CN" sz="2400" dirty="0" smtClean="0">
              <a:solidFill>
                <a:srgbClr val="0070C0"/>
              </a:solidFill>
              <a:latin typeface="思源黑体" panose="020B0500000000000000" pitchFamily="34" charset="-122"/>
              <a:ea typeface="思源黑体" panose="020B0500000000000000" pitchFamily="34" charset="-122"/>
            </a:endParaRPr>
          </a:p>
        </p:txBody>
      </p:sp>
      <p:pic>
        <p:nvPicPr>
          <p:cNvPr id="9" name="Picture 2" descr="https://i-blog.csdnimg.cn/blog_migrate/aa0eb7e627098dc5dea2c3ee5bb97e0a.png"/>
          <p:cNvPicPr>
            <a:picLocks noChangeAspect="1" noChangeArrowheads="1"/>
          </p:cNvPicPr>
          <p:nvPr/>
        </p:nvPicPr>
        <p:blipFill>
          <a:blip r:embed="rId2" cstate="print"/>
          <a:srcRect/>
          <a:stretch>
            <a:fillRect/>
          </a:stretch>
        </p:blipFill>
        <p:spPr bwMode="auto">
          <a:xfrm>
            <a:off x="0" y="1156266"/>
            <a:ext cx="12192000" cy="3993931"/>
          </a:xfrm>
          <a:prstGeom prst="rect">
            <a:avLst/>
          </a:prstGeom>
          <a:noFill/>
        </p:spPr>
      </p:pic>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a:spLocks noChangeArrowheads="1"/>
          </p:cNvSpPr>
          <p:nvPr/>
        </p:nvSpPr>
        <p:spPr bwMode="auto">
          <a:xfrm>
            <a:off x="0" y="212519"/>
            <a:ext cx="352425" cy="400050"/>
          </a:xfrm>
          <a:prstGeom prst="rect">
            <a:avLst/>
          </a:prstGeom>
          <a:solidFill>
            <a:srgbClr val="5B9BD5">
              <a:lumMod val="50000"/>
            </a:srgbClr>
          </a:solidFill>
          <a:ln w="9525">
            <a:noFill/>
            <a:miter lim="800000"/>
          </a:ln>
        </p:spPr>
        <p:txBody>
          <a:bodyPr anchor="ctr"/>
          <a:lstStyle/>
          <a:p>
            <a:pPr algn="ctr" fontAlgn="base">
              <a:spcBef>
                <a:spcPct val="0"/>
              </a:spcBef>
              <a:spcAft>
                <a:spcPct val="0"/>
              </a:spcAft>
              <a:buFont typeface="Arial" panose="020B0604020202020204" pitchFamily="34" charset="0"/>
              <a:buNone/>
              <a:defRPr/>
            </a:pPr>
            <a:endParaRPr lang="zh-CN" altLang="en-US" kern="0">
              <a:solidFill>
                <a:srgbClr val="1F4E79"/>
              </a:solidFill>
              <a:latin typeface="黑体" panose="02010609060101010101" charset="-122"/>
              <a:ea typeface="黑体" panose="02010609060101010101" charset="-122"/>
            </a:endParaRPr>
          </a:p>
        </p:txBody>
      </p:sp>
      <p:sp>
        <p:nvSpPr>
          <p:cNvPr id="17" name="矩形 16"/>
          <p:cNvSpPr>
            <a:spLocks noChangeArrowheads="1"/>
          </p:cNvSpPr>
          <p:nvPr/>
        </p:nvSpPr>
        <p:spPr bwMode="auto">
          <a:xfrm>
            <a:off x="419100" y="212519"/>
            <a:ext cx="123825" cy="400050"/>
          </a:xfrm>
          <a:prstGeom prst="rect">
            <a:avLst/>
          </a:prstGeom>
          <a:solidFill>
            <a:srgbClr val="7F7F7F"/>
          </a:solidFill>
          <a:ln w="9525">
            <a:noFill/>
            <a:miter lim="800000"/>
          </a:ln>
        </p:spPr>
        <p:txBody>
          <a:bodyPr anchor="ctr"/>
          <a:lstStyle/>
          <a:p>
            <a:pPr algn="ctr" fontAlgn="base">
              <a:spcBef>
                <a:spcPct val="0"/>
              </a:spcBef>
              <a:spcAft>
                <a:spcPct val="0"/>
              </a:spcAft>
              <a:buFont typeface="Arial" panose="020B0604020202020204" pitchFamily="34" charset="0"/>
              <a:buNone/>
            </a:pPr>
            <a:endParaRPr lang="zh-CN" altLang="en-US">
              <a:solidFill>
                <a:srgbClr val="1F4E79"/>
              </a:solidFill>
              <a:latin typeface="黑体" panose="02010609060101010101" charset="-122"/>
              <a:ea typeface="黑体" panose="02010609060101010101" charset="-122"/>
            </a:endParaRPr>
          </a:p>
        </p:txBody>
      </p:sp>
      <p:sp>
        <p:nvSpPr>
          <p:cNvPr id="21" name="标题 1"/>
          <p:cNvSpPr txBox="1"/>
          <p:nvPr/>
        </p:nvSpPr>
        <p:spPr>
          <a:xfrm>
            <a:off x="609600" y="224766"/>
            <a:ext cx="9710057" cy="375557"/>
          </a:xfrm>
          <a:prstGeom prst="rect">
            <a:avLst/>
          </a:prstGeom>
        </p:spPr>
        <p:txBody>
          <a:bodyPr anchor="ctr"/>
          <a:lstStyle>
            <a:lvl1pPr algn="l" rtl="0" eaLnBrk="0" fontAlgn="base" hangingPunct="0">
              <a:spcBef>
                <a:spcPct val="0"/>
              </a:spcBef>
              <a:spcAft>
                <a:spcPct val="0"/>
              </a:spcAft>
              <a:defRPr sz="2800" b="1" kern="1200">
                <a:solidFill>
                  <a:srgbClr val="1F4E79"/>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defRPr/>
            </a:pPr>
            <a:r>
              <a:rPr lang="en-US" altLang="zh-CN" sz="2400" dirty="0" smtClean="0">
                <a:solidFill>
                  <a:srgbClr val="0070C0"/>
                </a:solidFill>
                <a:latin typeface="思源黑体" panose="020B0500000000000000" pitchFamily="34" charset="-122"/>
                <a:ea typeface="思源黑体" panose="020B0500000000000000" pitchFamily="34" charset="-122"/>
              </a:rPr>
              <a:t>3</a:t>
            </a:r>
            <a:r>
              <a:rPr lang="zh-CN" altLang="en-US" sz="2400" dirty="0" smtClean="0">
                <a:solidFill>
                  <a:srgbClr val="0070C0"/>
                </a:solidFill>
                <a:latin typeface="思源黑体" panose="020B0500000000000000" pitchFamily="34" charset="-122"/>
                <a:ea typeface="思源黑体" panose="020B0500000000000000" pitchFamily="34" charset="-122"/>
              </a:rPr>
              <a:t>、</a:t>
            </a:r>
            <a:r>
              <a:rPr lang="en-US" altLang="zh-CN" sz="2400" dirty="0" smtClean="0">
                <a:solidFill>
                  <a:srgbClr val="0070C0"/>
                </a:solidFill>
                <a:latin typeface="思源黑体" panose="020B0500000000000000" pitchFamily="34" charset="-122"/>
                <a:ea typeface="思源黑体" panose="020B0500000000000000" pitchFamily="34" charset="-122"/>
              </a:rPr>
              <a:t> </a:t>
            </a:r>
            <a:r>
              <a:rPr lang="en-US" altLang="zh-CN" sz="2400" dirty="0" err="1" smtClean="0">
                <a:solidFill>
                  <a:srgbClr val="0070C0"/>
                </a:solidFill>
                <a:latin typeface="思源黑体" panose="020B0500000000000000" pitchFamily="34" charset="-122"/>
                <a:ea typeface="思源黑体" panose="020B0500000000000000" pitchFamily="34" charset="-122"/>
              </a:rPr>
              <a:t>Netfilter</a:t>
            </a:r>
            <a:r>
              <a:rPr lang="zh-CN" altLang="en-US" sz="2400" dirty="0" smtClean="0">
                <a:solidFill>
                  <a:srgbClr val="0070C0"/>
                </a:solidFill>
                <a:latin typeface="思源黑体" panose="020B0500000000000000" pitchFamily="34" charset="-122"/>
                <a:ea typeface="思源黑体" panose="020B0500000000000000" pitchFamily="34" charset="-122"/>
              </a:rPr>
              <a:t>的五个</a:t>
            </a:r>
            <a:r>
              <a:rPr lang="en-US" altLang="zh-CN" sz="2400" dirty="0" smtClean="0">
                <a:solidFill>
                  <a:srgbClr val="0070C0"/>
                </a:solidFill>
                <a:latin typeface="思源黑体" panose="020B0500000000000000" pitchFamily="34" charset="-122"/>
                <a:ea typeface="思源黑体" panose="020B0500000000000000" pitchFamily="34" charset="-122"/>
              </a:rPr>
              <a:t>HOOK</a:t>
            </a:r>
            <a:r>
              <a:rPr lang="zh-CN" altLang="en-US" sz="2400" dirty="0" smtClean="0">
                <a:solidFill>
                  <a:srgbClr val="0070C0"/>
                </a:solidFill>
                <a:latin typeface="思源黑体" panose="020B0500000000000000" pitchFamily="34" charset="-122"/>
                <a:ea typeface="思源黑体" panose="020B0500000000000000" pitchFamily="34" charset="-122"/>
              </a:rPr>
              <a:t>点</a:t>
            </a:r>
            <a:endParaRPr lang="en-US" altLang="zh-CN" sz="2400" dirty="0" smtClean="0">
              <a:solidFill>
                <a:srgbClr val="0070C0"/>
              </a:solidFill>
              <a:latin typeface="思源黑体" panose="020B0500000000000000" pitchFamily="34" charset="-122"/>
              <a:ea typeface="思源黑体" panose="020B0500000000000000" pitchFamily="34" charset="-122"/>
            </a:endParaRPr>
          </a:p>
        </p:txBody>
      </p:sp>
      <p:sp>
        <p:nvSpPr>
          <p:cNvPr id="6" name="文本框 5"/>
          <p:cNvSpPr txBox="1"/>
          <p:nvPr/>
        </p:nvSpPr>
        <p:spPr>
          <a:xfrm>
            <a:off x="465993" y="3910857"/>
            <a:ext cx="11175022" cy="2462213"/>
          </a:xfrm>
          <a:prstGeom prst="rect">
            <a:avLst/>
          </a:prstGeom>
          <a:noFill/>
        </p:spPr>
        <p:txBody>
          <a:bodyPr wrap="square" rtlCol="0">
            <a:spAutoFit/>
          </a:bodyPr>
          <a:lstStyle/>
          <a:p>
            <a:r>
              <a:rPr lang="zh-CN" altLang="en-US" sz="1400" dirty="0" smtClean="0">
                <a:latin typeface="思源黑体" panose="020B0500000000000000" pitchFamily="34" charset="-122"/>
                <a:ea typeface="思源黑体" panose="020B0500000000000000" pitchFamily="34" charset="-122"/>
              </a:rPr>
              <a:t>         收到的每个数据包，都从“</a:t>
            </a:r>
            <a:r>
              <a:rPr lang="en-US" altLang="zh-CN" sz="1400" dirty="0" smtClean="0">
                <a:latin typeface="思源黑体" panose="020B0500000000000000" pitchFamily="34" charset="-122"/>
                <a:ea typeface="思源黑体" panose="020B0500000000000000" pitchFamily="34" charset="-122"/>
              </a:rPr>
              <a:t>A”</a:t>
            </a:r>
            <a:r>
              <a:rPr lang="zh-CN" altLang="en-US" sz="1400" dirty="0" smtClean="0">
                <a:latin typeface="思源黑体" panose="020B0500000000000000" pitchFamily="34" charset="-122"/>
                <a:ea typeface="思源黑体" panose="020B0500000000000000" pitchFamily="34" charset="-122"/>
              </a:rPr>
              <a:t>点进来，经过路由判决，如果是发送给本机的就经过“</a:t>
            </a:r>
            <a:r>
              <a:rPr lang="en-US" altLang="zh-CN" sz="1400" dirty="0" smtClean="0">
                <a:latin typeface="思源黑体" panose="020B0500000000000000" pitchFamily="34" charset="-122"/>
                <a:ea typeface="思源黑体" panose="020B0500000000000000" pitchFamily="34" charset="-122"/>
              </a:rPr>
              <a:t>B”</a:t>
            </a:r>
            <a:r>
              <a:rPr lang="zh-CN" altLang="en-US" sz="1400" dirty="0" smtClean="0">
                <a:latin typeface="思源黑体" panose="020B0500000000000000" pitchFamily="34" charset="-122"/>
                <a:ea typeface="思源黑体" panose="020B0500000000000000" pitchFamily="34" charset="-122"/>
              </a:rPr>
              <a:t>点，然后往协议栈的上层继续传递；否则，如果该数据包的目的地不是本机，那么就经过“</a:t>
            </a:r>
            <a:r>
              <a:rPr lang="en-US" altLang="zh-CN" sz="1400" dirty="0" smtClean="0">
                <a:latin typeface="思源黑体" panose="020B0500000000000000" pitchFamily="34" charset="-122"/>
                <a:ea typeface="思源黑体" panose="020B0500000000000000" pitchFamily="34" charset="-122"/>
              </a:rPr>
              <a:t>C”</a:t>
            </a:r>
            <a:r>
              <a:rPr lang="zh-CN" altLang="en-US" sz="1400" dirty="0" smtClean="0">
                <a:latin typeface="思源黑体" panose="020B0500000000000000" pitchFamily="34" charset="-122"/>
                <a:ea typeface="思源黑体" panose="020B0500000000000000" pitchFamily="34" charset="-122"/>
              </a:rPr>
              <a:t>点，然后顺着“</a:t>
            </a:r>
            <a:r>
              <a:rPr lang="en-US" altLang="zh-CN" sz="1400" dirty="0" smtClean="0">
                <a:latin typeface="思源黑体" panose="020B0500000000000000" pitchFamily="34" charset="-122"/>
                <a:ea typeface="思源黑体" panose="020B0500000000000000" pitchFamily="34" charset="-122"/>
              </a:rPr>
              <a:t>E”</a:t>
            </a:r>
            <a:r>
              <a:rPr lang="zh-CN" altLang="en-US" sz="1400" dirty="0" smtClean="0">
                <a:latin typeface="思源黑体" panose="020B0500000000000000" pitchFamily="34" charset="-122"/>
                <a:ea typeface="思源黑体" panose="020B0500000000000000" pitchFamily="34" charset="-122"/>
              </a:rPr>
              <a:t>点将该包转发出去。</a:t>
            </a:r>
          </a:p>
          <a:p>
            <a:r>
              <a:rPr lang="zh-CN" altLang="en-US" sz="1400" dirty="0" smtClean="0">
                <a:latin typeface="思源黑体" panose="020B0500000000000000" pitchFamily="34" charset="-122"/>
                <a:ea typeface="思源黑体" panose="020B0500000000000000" pitchFamily="34" charset="-122"/>
              </a:rPr>
              <a:t>        </a:t>
            </a:r>
            <a:r>
              <a:rPr lang="en-US" altLang="zh-CN" sz="1400" dirty="0" err="1" smtClean="0">
                <a:latin typeface="思源黑体" panose="020B0500000000000000" pitchFamily="34" charset="-122"/>
                <a:ea typeface="思源黑体" panose="020B0500000000000000" pitchFamily="34" charset="-122"/>
              </a:rPr>
              <a:t>netfilter</a:t>
            </a:r>
            <a:r>
              <a:rPr lang="zh-CN" altLang="en-US" sz="1400" dirty="0" smtClean="0">
                <a:latin typeface="思源黑体" panose="020B0500000000000000" pitchFamily="34" charset="-122"/>
                <a:ea typeface="思源黑体" panose="020B0500000000000000" pitchFamily="34" charset="-122"/>
              </a:rPr>
              <a:t>在</a:t>
            </a:r>
            <a:r>
              <a:rPr lang="en-US" altLang="zh-CN" sz="1400" dirty="0" smtClean="0">
                <a:latin typeface="思源黑体" panose="020B0500000000000000" pitchFamily="34" charset="-122"/>
                <a:ea typeface="思源黑体" panose="020B0500000000000000" pitchFamily="34" charset="-122"/>
              </a:rPr>
              <a:t>A</a:t>
            </a:r>
            <a:r>
              <a:rPr lang="zh-CN" altLang="en-US" sz="1400" dirty="0" smtClean="0">
                <a:latin typeface="思源黑体" panose="020B0500000000000000" pitchFamily="34" charset="-122"/>
                <a:ea typeface="思源黑体" panose="020B0500000000000000" pitchFamily="34" charset="-122"/>
              </a:rPr>
              <a:t>，</a:t>
            </a:r>
            <a:r>
              <a:rPr lang="en-US" altLang="zh-CN" sz="1400" dirty="0" smtClean="0">
                <a:latin typeface="思源黑体" panose="020B0500000000000000" pitchFamily="34" charset="-122"/>
                <a:ea typeface="思源黑体" panose="020B0500000000000000" pitchFamily="34" charset="-122"/>
              </a:rPr>
              <a:t>B</a:t>
            </a:r>
            <a:r>
              <a:rPr lang="zh-CN" altLang="en-US" sz="1400" dirty="0" smtClean="0">
                <a:latin typeface="思源黑体" panose="020B0500000000000000" pitchFamily="34" charset="-122"/>
                <a:ea typeface="思源黑体" panose="020B0500000000000000" pitchFamily="34" charset="-122"/>
              </a:rPr>
              <a:t>，</a:t>
            </a:r>
            <a:r>
              <a:rPr lang="en-US" altLang="zh-CN" sz="1400" dirty="0" smtClean="0">
                <a:latin typeface="思源黑体" panose="020B0500000000000000" pitchFamily="34" charset="-122"/>
                <a:ea typeface="思源黑体" panose="020B0500000000000000" pitchFamily="34" charset="-122"/>
              </a:rPr>
              <a:t>C</a:t>
            </a:r>
            <a:r>
              <a:rPr lang="zh-CN" altLang="en-US" sz="1400" dirty="0" smtClean="0">
                <a:latin typeface="思源黑体" panose="020B0500000000000000" pitchFamily="34" charset="-122"/>
                <a:ea typeface="思源黑体" panose="020B0500000000000000" pitchFamily="34" charset="-122"/>
              </a:rPr>
              <a:t>，</a:t>
            </a:r>
            <a:r>
              <a:rPr lang="en-US" altLang="zh-CN" sz="1400" dirty="0" smtClean="0">
                <a:latin typeface="思源黑体" panose="020B0500000000000000" pitchFamily="34" charset="-122"/>
                <a:ea typeface="思源黑体" panose="020B0500000000000000" pitchFamily="34" charset="-122"/>
              </a:rPr>
              <a:t>D</a:t>
            </a:r>
            <a:r>
              <a:rPr lang="zh-CN" altLang="en-US" sz="1400" dirty="0" smtClean="0">
                <a:latin typeface="思源黑体" panose="020B0500000000000000" pitchFamily="34" charset="-122"/>
                <a:ea typeface="思源黑体" panose="020B0500000000000000" pitchFamily="34" charset="-122"/>
              </a:rPr>
              <a:t>和</a:t>
            </a:r>
            <a:r>
              <a:rPr lang="en-US" altLang="zh-CN" sz="1400" dirty="0" smtClean="0">
                <a:latin typeface="思源黑体" panose="020B0500000000000000" pitchFamily="34" charset="-122"/>
                <a:ea typeface="思源黑体" panose="020B0500000000000000" pitchFamily="34" charset="-122"/>
              </a:rPr>
              <a:t>E</a:t>
            </a:r>
            <a:r>
              <a:rPr lang="zh-CN" altLang="en-US" sz="1400" dirty="0" smtClean="0">
                <a:latin typeface="思源黑体" panose="020B0500000000000000" pitchFamily="34" charset="-122"/>
                <a:ea typeface="思源黑体" panose="020B0500000000000000" pitchFamily="34" charset="-122"/>
              </a:rPr>
              <a:t>设置回调函数（</a:t>
            </a:r>
            <a:r>
              <a:rPr lang="en-US" altLang="zh-CN" sz="1400" dirty="0" smtClean="0">
                <a:latin typeface="思源黑体" panose="020B0500000000000000" pitchFamily="34" charset="-122"/>
                <a:ea typeface="思源黑体" panose="020B0500000000000000" pitchFamily="34" charset="-122"/>
              </a:rPr>
              <a:t>hook</a:t>
            </a:r>
            <a:r>
              <a:rPr lang="zh-CN" altLang="en-US" sz="1400" dirty="0" smtClean="0">
                <a:latin typeface="思源黑体" panose="020B0500000000000000" pitchFamily="34" charset="-122"/>
                <a:ea typeface="思源黑体" panose="020B0500000000000000" pitchFamily="34" charset="-122"/>
              </a:rPr>
              <a:t>函数），对每一个进出的数据包进行检测，检测完向 </a:t>
            </a:r>
            <a:r>
              <a:rPr lang="en-US" altLang="zh-CN" sz="1400" dirty="0" err="1" smtClean="0">
                <a:latin typeface="思源黑体" panose="020B0500000000000000" pitchFamily="34" charset="-122"/>
                <a:ea typeface="思源黑体" panose="020B0500000000000000" pitchFamily="34" charset="-122"/>
              </a:rPr>
              <a:t>netfilter</a:t>
            </a:r>
            <a:r>
              <a:rPr lang="en-US" altLang="zh-CN" sz="1400" dirty="0" smtClean="0">
                <a:latin typeface="思源黑体" panose="020B0500000000000000" pitchFamily="34" charset="-122"/>
                <a:ea typeface="思源黑体" panose="020B0500000000000000" pitchFamily="34" charset="-122"/>
              </a:rPr>
              <a:t> </a:t>
            </a:r>
            <a:r>
              <a:rPr lang="zh-CN" altLang="en-US" sz="1400" dirty="0" smtClean="0">
                <a:latin typeface="思源黑体" panose="020B0500000000000000" pitchFamily="34" charset="-122"/>
                <a:ea typeface="思源黑体" panose="020B0500000000000000" pitchFamily="34" charset="-122"/>
              </a:rPr>
              <a:t>报告一下该数据包的情况，返回结果含：</a:t>
            </a:r>
          </a:p>
          <a:p>
            <a:r>
              <a:rPr lang="en-US" altLang="zh-CN" sz="1400" dirty="0" smtClean="0">
                <a:latin typeface="思源黑体" panose="020B0500000000000000" pitchFamily="34" charset="-122"/>
                <a:ea typeface="思源黑体" panose="020B0500000000000000" pitchFamily="34" charset="-122"/>
              </a:rPr>
              <a:t>	NF_ACCEPT </a:t>
            </a:r>
            <a:r>
              <a:rPr lang="zh-CN" altLang="en-US" sz="1400" dirty="0" smtClean="0">
                <a:latin typeface="思源黑体" panose="020B0500000000000000" pitchFamily="34" charset="-122"/>
                <a:ea typeface="思源黑体" panose="020B0500000000000000" pitchFamily="34" charset="-122"/>
              </a:rPr>
              <a:t>继续正常传输数据报。</a:t>
            </a:r>
          </a:p>
          <a:p>
            <a:r>
              <a:rPr lang="en-US" altLang="zh-CN" sz="1400" dirty="0" smtClean="0">
                <a:latin typeface="思源黑体" panose="020B0500000000000000" pitchFamily="34" charset="-122"/>
                <a:ea typeface="思源黑体" panose="020B0500000000000000" pitchFamily="34" charset="-122"/>
              </a:rPr>
              <a:t>	NF_DROP </a:t>
            </a:r>
            <a:r>
              <a:rPr lang="zh-CN" altLang="en-US" sz="1400" dirty="0" smtClean="0">
                <a:latin typeface="思源黑体" panose="020B0500000000000000" pitchFamily="34" charset="-122"/>
                <a:ea typeface="思源黑体" panose="020B0500000000000000" pitchFamily="34" charset="-122"/>
              </a:rPr>
              <a:t>丢弃该数据报，不再传输。</a:t>
            </a:r>
          </a:p>
          <a:p>
            <a:r>
              <a:rPr lang="en-US" altLang="zh-CN" sz="1400" dirty="0" smtClean="0">
                <a:latin typeface="思源黑体" panose="020B0500000000000000" pitchFamily="34" charset="-122"/>
                <a:ea typeface="思源黑体" panose="020B0500000000000000" pitchFamily="34" charset="-122"/>
              </a:rPr>
              <a:t>	NF_STOLEN </a:t>
            </a:r>
            <a:r>
              <a:rPr lang="zh-CN" altLang="en-US" sz="1400" dirty="0" smtClean="0">
                <a:latin typeface="思源黑体" panose="020B0500000000000000" pitchFamily="34" charset="-122"/>
                <a:ea typeface="思源黑体" panose="020B0500000000000000" pitchFamily="34" charset="-122"/>
              </a:rPr>
              <a:t>回调函数接管该数据报，该回调函数从此开始对数据包的处理，并且</a:t>
            </a:r>
            <a:r>
              <a:rPr lang="en-US" altLang="zh-CN" sz="1400" dirty="0" err="1" smtClean="0">
                <a:latin typeface="思源黑体" panose="020B0500000000000000" pitchFamily="34" charset="-122"/>
                <a:ea typeface="思源黑体" panose="020B0500000000000000" pitchFamily="34" charset="-122"/>
              </a:rPr>
              <a:t>netfilter</a:t>
            </a:r>
            <a:r>
              <a:rPr lang="zh-CN" altLang="en-US" sz="1400" dirty="0" smtClean="0">
                <a:latin typeface="思源黑体" panose="020B0500000000000000" pitchFamily="34" charset="-122"/>
                <a:ea typeface="思源黑体" panose="020B0500000000000000" pitchFamily="34" charset="-122"/>
              </a:rPr>
              <a:t>应当放弃对该数据包做任何的处理。</a:t>
            </a:r>
          </a:p>
          <a:p>
            <a:r>
              <a:rPr lang="en-US" altLang="zh-CN" sz="1400" dirty="0" smtClean="0">
                <a:latin typeface="思源黑体" panose="020B0500000000000000" pitchFamily="34" charset="-122"/>
                <a:ea typeface="思源黑体" panose="020B0500000000000000" pitchFamily="34" charset="-122"/>
              </a:rPr>
              <a:t>	NF_QUEUE </a:t>
            </a:r>
            <a:r>
              <a:rPr lang="zh-CN" altLang="en-US" sz="1400" dirty="0" smtClean="0">
                <a:latin typeface="思源黑体" panose="020B0500000000000000" pitchFamily="34" charset="-122"/>
                <a:ea typeface="思源黑体" panose="020B0500000000000000" pitchFamily="34" charset="-122"/>
              </a:rPr>
              <a:t>对该数据报进行排队（通常用于将数据报给用户空间的进程进行处理）。</a:t>
            </a:r>
          </a:p>
          <a:p>
            <a:r>
              <a:rPr lang="en-US" altLang="zh-CN" sz="1400" dirty="0" smtClean="0">
                <a:latin typeface="思源黑体" panose="020B0500000000000000" pitchFamily="34" charset="-122"/>
                <a:ea typeface="思源黑体" panose="020B0500000000000000" pitchFamily="34" charset="-122"/>
              </a:rPr>
              <a:t>	NF_REPEAT </a:t>
            </a:r>
            <a:r>
              <a:rPr lang="zh-CN" altLang="en-US" sz="1400" dirty="0" smtClean="0">
                <a:latin typeface="思源黑体" panose="020B0500000000000000" pitchFamily="34" charset="-122"/>
                <a:ea typeface="思源黑体" panose="020B0500000000000000" pitchFamily="34" charset="-122"/>
              </a:rPr>
              <a:t>再次调用该回调函数，应当谨慎使用这个值，以免造成死循环。</a:t>
            </a:r>
          </a:p>
          <a:p>
            <a:r>
              <a:rPr lang="en-US" altLang="zh-CN" sz="1400" dirty="0" smtClean="0">
                <a:latin typeface="思源黑体" panose="020B0500000000000000" pitchFamily="34" charset="-122"/>
                <a:ea typeface="思源黑体" panose="020B0500000000000000" pitchFamily="34" charset="-122"/>
              </a:rPr>
              <a:t>	NF_STOP </a:t>
            </a:r>
            <a:r>
              <a:rPr lang="zh-CN" altLang="en-US" sz="1400" dirty="0" smtClean="0">
                <a:latin typeface="思源黑体" panose="020B0500000000000000" pitchFamily="34" charset="-122"/>
                <a:ea typeface="思源黑体" panose="020B0500000000000000" pitchFamily="34" charset="-122"/>
              </a:rPr>
              <a:t>功能和 </a:t>
            </a:r>
            <a:r>
              <a:rPr lang="en-US" altLang="zh-CN" sz="1400" dirty="0" smtClean="0">
                <a:latin typeface="思源黑体" panose="020B0500000000000000" pitchFamily="34" charset="-122"/>
                <a:ea typeface="思源黑体" panose="020B0500000000000000" pitchFamily="34" charset="-122"/>
              </a:rPr>
              <a:t>NF_ACCEPT </a:t>
            </a:r>
            <a:r>
              <a:rPr lang="zh-CN" altLang="en-US" sz="1400" dirty="0" smtClean="0">
                <a:latin typeface="思源黑体" panose="020B0500000000000000" pitchFamily="34" charset="-122"/>
                <a:ea typeface="思源黑体" panose="020B0500000000000000" pitchFamily="34" charset="-122"/>
              </a:rPr>
              <a:t>类似但强于 </a:t>
            </a:r>
            <a:r>
              <a:rPr lang="en-US" altLang="zh-CN" sz="1400" dirty="0" smtClean="0">
                <a:latin typeface="思源黑体" panose="020B0500000000000000" pitchFamily="34" charset="-122"/>
                <a:ea typeface="思源黑体" panose="020B0500000000000000" pitchFamily="34" charset="-122"/>
              </a:rPr>
              <a:t>NF_ACCEPT</a:t>
            </a:r>
            <a:r>
              <a:rPr lang="zh-CN" altLang="en-US" sz="1400" dirty="0" smtClean="0">
                <a:latin typeface="思源黑体" panose="020B0500000000000000" pitchFamily="34" charset="-122"/>
                <a:ea typeface="思源黑体" panose="020B0500000000000000" pitchFamily="34" charset="-122"/>
              </a:rPr>
              <a:t>，一旦挂接链表中某个</a:t>
            </a:r>
            <a:r>
              <a:rPr lang="en-US" altLang="zh-CN" sz="1400" dirty="0" smtClean="0">
                <a:latin typeface="思源黑体" panose="020B0500000000000000" pitchFamily="34" charset="-122"/>
                <a:ea typeface="思源黑体" panose="020B0500000000000000" pitchFamily="34" charset="-122"/>
              </a:rPr>
              <a:t>hook</a:t>
            </a:r>
            <a:r>
              <a:rPr lang="zh-CN" altLang="en-US" sz="1400" dirty="0" smtClean="0">
                <a:latin typeface="思源黑体" panose="020B0500000000000000" pitchFamily="34" charset="-122"/>
                <a:ea typeface="思源黑体" panose="020B0500000000000000" pitchFamily="34" charset="-122"/>
              </a:rPr>
              <a:t>节点返回 </a:t>
            </a:r>
            <a:r>
              <a:rPr lang="en-US" altLang="zh-CN" sz="1400" dirty="0" smtClean="0">
                <a:latin typeface="思源黑体" panose="020B0500000000000000" pitchFamily="34" charset="-122"/>
                <a:ea typeface="思源黑体" panose="020B0500000000000000" pitchFamily="34" charset="-122"/>
              </a:rPr>
              <a:t>NF_STOP</a:t>
            </a:r>
            <a:r>
              <a:rPr lang="zh-CN" altLang="en-US" sz="1400" dirty="0" smtClean="0">
                <a:latin typeface="思源黑体" panose="020B0500000000000000" pitchFamily="34" charset="-122"/>
                <a:ea typeface="思源黑体" panose="020B0500000000000000" pitchFamily="34" charset="-122"/>
              </a:rPr>
              <a:t>，该 </a:t>
            </a:r>
            <a:r>
              <a:rPr lang="en-US" altLang="zh-CN" sz="1400" dirty="0" err="1" smtClean="0">
                <a:latin typeface="思源黑体" panose="020B0500000000000000" pitchFamily="34" charset="-122"/>
                <a:ea typeface="思源黑体" panose="020B0500000000000000" pitchFamily="34" charset="-122"/>
              </a:rPr>
              <a:t>skb</a:t>
            </a:r>
            <a:r>
              <a:rPr lang="en-US" altLang="zh-CN" sz="1400" dirty="0" smtClean="0">
                <a:latin typeface="思源黑体" panose="020B0500000000000000" pitchFamily="34" charset="-122"/>
                <a:ea typeface="思源黑体" panose="020B0500000000000000" pitchFamily="34" charset="-122"/>
              </a:rPr>
              <a:t> </a:t>
            </a:r>
            <a:r>
              <a:rPr lang="zh-CN" altLang="en-US" sz="1400" dirty="0" smtClean="0">
                <a:latin typeface="思源黑体" panose="020B0500000000000000" pitchFamily="34" charset="-122"/>
                <a:ea typeface="思源黑体" panose="020B0500000000000000" pitchFamily="34" charset="-122"/>
              </a:rPr>
              <a:t>包就立即结束检查而被其他模块接受，不再需要进入后续</a:t>
            </a:r>
            <a:r>
              <a:rPr lang="en-US" altLang="zh-CN" sz="1400" dirty="0" smtClean="0">
                <a:latin typeface="思源黑体" panose="020B0500000000000000" pitchFamily="34" charset="-122"/>
                <a:ea typeface="思源黑体" panose="020B0500000000000000" pitchFamily="34" charset="-122"/>
              </a:rPr>
              <a:t>hook</a:t>
            </a:r>
            <a:r>
              <a:rPr lang="zh-CN" altLang="en-US" sz="1400" dirty="0" smtClean="0">
                <a:latin typeface="思源黑体" panose="020B0500000000000000" pitchFamily="34" charset="-122"/>
                <a:ea typeface="思源黑体" panose="020B0500000000000000" pitchFamily="34" charset="-122"/>
              </a:rPr>
              <a:t>点检查。</a:t>
            </a:r>
            <a:endParaRPr lang="en-US" altLang="zh-CN" sz="1400" dirty="0" smtClean="0">
              <a:latin typeface="思源黑体" panose="020B0500000000000000" pitchFamily="34" charset="-122"/>
              <a:ea typeface="思源黑体" panose="020B0500000000000000" pitchFamily="34" charset="-122"/>
            </a:endParaRPr>
          </a:p>
        </p:txBody>
      </p:sp>
      <p:pic>
        <p:nvPicPr>
          <p:cNvPr id="7" name="Picture 2" descr="C:\Users\mibin\AppData\Local\Temp\企业微信截图_17365050009756.png"/>
          <p:cNvPicPr>
            <a:picLocks noChangeAspect="1" noChangeArrowheads="1"/>
          </p:cNvPicPr>
          <p:nvPr/>
        </p:nvPicPr>
        <p:blipFill>
          <a:blip r:embed="rId2" cstate="print"/>
          <a:srcRect/>
          <a:stretch>
            <a:fillRect/>
          </a:stretch>
        </p:blipFill>
        <p:spPr bwMode="auto">
          <a:xfrm>
            <a:off x="1325851" y="1030588"/>
            <a:ext cx="8277225" cy="2571751"/>
          </a:xfrm>
          <a:prstGeom prst="rect">
            <a:avLst/>
          </a:prstGeom>
          <a:noFill/>
        </p:spPr>
      </p:pic>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a:spLocks noChangeArrowheads="1"/>
          </p:cNvSpPr>
          <p:nvPr/>
        </p:nvSpPr>
        <p:spPr bwMode="auto">
          <a:xfrm>
            <a:off x="0" y="212519"/>
            <a:ext cx="352425" cy="400050"/>
          </a:xfrm>
          <a:prstGeom prst="rect">
            <a:avLst/>
          </a:prstGeom>
          <a:solidFill>
            <a:srgbClr val="5B9BD5">
              <a:lumMod val="50000"/>
            </a:srgbClr>
          </a:solidFill>
          <a:ln w="9525">
            <a:noFill/>
            <a:miter lim="800000"/>
          </a:ln>
        </p:spPr>
        <p:txBody>
          <a:bodyPr anchor="ctr"/>
          <a:lstStyle/>
          <a:p>
            <a:pPr algn="ctr" fontAlgn="base">
              <a:spcBef>
                <a:spcPct val="0"/>
              </a:spcBef>
              <a:spcAft>
                <a:spcPct val="0"/>
              </a:spcAft>
              <a:buFont typeface="Arial" panose="020B0604020202020204" pitchFamily="34" charset="0"/>
              <a:buNone/>
              <a:defRPr/>
            </a:pPr>
            <a:endParaRPr lang="zh-CN" altLang="en-US" kern="0">
              <a:solidFill>
                <a:srgbClr val="1F4E79"/>
              </a:solidFill>
              <a:latin typeface="黑体" panose="02010609060101010101" charset="-122"/>
              <a:ea typeface="黑体" panose="02010609060101010101" charset="-122"/>
            </a:endParaRPr>
          </a:p>
        </p:txBody>
      </p:sp>
      <p:sp>
        <p:nvSpPr>
          <p:cNvPr id="17" name="矩形 16"/>
          <p:cNvSpPr>
            <a:spLocks noChangeArrowheads="1"/>
          </p:cNvSpPr>
          <p:nvPr/>
        </p:nvSpPr>
        <p:spPr bwMode="auto">
          <a:xfrm>
            <a:off x="419100" y="212519"/>
            <a:ext cx="123825" cy="400050"/>
          </a:xfrm>
          <a:prstGeom prst="rect">
            <a:avLst/>
          </a:prstGeom>
          <a:solidFill>
            <a:srgbClr val="7F7F7F"/>
          </a:solidFill>
          <a:ln w="9525">
            <a:noFill/>
            <a:miter lim="800000"/>
          </a:ln>
        </p:spPr>
        <p:txBody>
          <a:bodyPr anchor="ctr"/>
          <a:lstStyle/>
          <a:p>
            <a:pPr algn="ctr" fontAlgn="base">
              <a:spcBef>
                <a:spcPct val="0"/>
              </a:spcBef>
              <a:spcAft>
                <a:spcPct val="0"/>
              </a:spcAft>
              <a:buFont typeface="Arial" panose="020B0604020202020204" pitchFamily="34" charset="0"/>
              <a:buNone/>
            </a:pPr>
            <a:endParaRPr lang="zh-CN" altLang="en-US">
              <a:solidFill>
                <a:srgbClr val="1F4E79"/>
              </a:solidFill>
              <a:latin typeface="黑体" panose="02010609060101010101" charset="-122"/>
              <a:ea typeface="黑体" panose="02010609060101010101" charset="-122"/>
            </a:endParaRPr>
          </a:p>
        </p:txBody>
      </p:sp>
      <p:sp>
        <p:nvSpPr>
          <p:cNvPr id="21" name="标题 1"/>
          <p:cNvSpPr txBox="1"/>
          <p:nvPr/>
        </p:nvSpPr>
        <p:spPr>
          <a:xfrm>
            <a:off x="609600" y="224766"/>
            <a:ext cx="9710057" cy="375557"/>
          </a:xfrm>
          <a:prstGeom prst="rect">
            <a:avLst/>
          </a:prstGeom>
        </p:spPr>
        <p:txBody>
          <a:bodyPr anchor="ctr"/>
          <a:lstStyle>
            <a:lvl1pPr algn="l" rtl="0" eaLnBrk="0" fontAlgn="base" hangingPunct="0">
              <a:spcBef>
                <a:spcPct val="0"/>
              </a:spcBef>
              <a:spcAft>
                <a:spcPct val="0"/>
              </a:spcAft>
              <a:defRPr sz="2800" b="1" kern="1200">
                <a:solidFill>
                  <a:srgbClr val="1F4E79"/>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defRPr/>
            </a:pPr>
            <a:r>
              <a:rPr lang="en-US" altLang="zh-CN" sz="2400" dirty="0" smtClean="0">
                <a:solidFill>
                  <a:srgbClr val="0070C0"/>
                </a:solidFill>
                <a:latin typeface="思源黑体" panose="020B0500000000000000" pitchFamily="34" charset="-122"/>
                <a:ea typeface="思源黑体" panose="020B0500000000000000" pitchFamily="34" charset="-122"/>
              </a:rPr>
              <a:t>4</a:t>
            </a:r>
            <a:r>
              <a:rPr lang="zh-CN" altLang="en-US" sz="2400" dirty="0" smtClean="0">
                <a:solidFill>
                  <a:srgbClr val="0070C0"/>
                </a:solidFill>
                <a:latin typeface="思源黑体" panose="020B0500000000000000" pitchFamily="34" charset="-122"/>
                <a:ea typeface="思源黑体" panose="020B0500000000000000" pitchFamily="34" charset="-122"/>
              </a:rPr>
              <a:t>、</a:t>
            </a:r>
            <a:r>
              <a:rPr lang="en-US" altLang="zh-CN" sz="2400" dirty="0" err="1" smtClean="0">
                <a:solidFill>
                  <a:srgbClr val="0070C0"/>
                </a:solidFill>
                <a:latin typeface="思源黑体" panose="020B0500000000000000" pitchFamily="34" charset="-122"/>
                <a:ea typeface="思源黑体" panose="020B0500000000000000" pitchFamily="34" charset="-122"/>
              </a:rPr>
              <a:t>Iptables</a:t>
            </a:r>
            <a:r>
              <a:rPr lang="zh-CN" altLang="en-US" sz="2400" dirty="0" smtClean="0">
                <a:solidFill>
                  <a:srgbClr val="0070C0"/>
                </a:solidFill>
                <a:latin typeface="思源黑体" panose="020B0500000000000000" pitchFamily="34" charset="-122"/>
                <a:ea typeface="思源黑体" panose="020B0500000000000000" pitchFamily="34" charset="-122"/>
              </a:rPr>
              <a:t>的表、链、规则</a:t>
            </a:r>
            <a:endParaRPr lang="en-US" altLang="zh-CN" sz="2400" dirty="0" smtClean="0">
              <a:solidFill>
                <a:srgbClr val="0070C0"/>
              </a:solidFill>
              <a:latin typeface="思源黑体" panose="020B0500000000000000" pitchFamily="34" charset="-122"/>
              <a:ea typeface="思源黑体" panose="020B0500000000000000" pitchFamily="34" charset="-122"/>
            </a:endParaRPr>
          </a:p>
        </p:txBody>
      </p:sp>
      <p:sp>
        <p:nvSpPr>
          <p:cNvPr id="6" name="文本框 5"/>
          <p:cNvSpPr txBox="1"/>
          <p:nvPr/>
        </p:nvSpPr>
        <p:spPr>
          <a:xfrm>
            <a:off x="439616" y="4395787"/>
            <a:ext cx="11175022" cy="1600438"/>
          </a:xfrm>
          <a:prstGeom prst="rect">
            <a:avLst/>
          </a:prstGeom>
          <a:noFill/>
        </p:spPr>
        <p:txBody>
          <a:bodyPr wrap="square" rtlCol="0">
            <a:spAutoFit/>
          </a:bodyPr>
          <a:lstStyle/>
          <a:p>
            <a:r>
              <a:rPr lang="zh-CN" altLang="en-US" sz="1400" dirty="0" smtClean="0">
                <a:latin typeface="思源黑体" panose="020B0500000000000000" pitchFamily="34" charset="-122"/>
                <a:ea typeface="思源黑体" panose="020B0500000000000000" pitchFamily="34" charset="-122"/>
              </a:rPr>
              <a:t>        </a:t>
            </a:r>
            <a:r>
              <a:rPr lang="en-US" altLang="zh-CN" sz="1400" dirty="0" err="1" smtClean="0">
                <a:latin typeface="思源黑体" panose="020B0500000000000000" pitchFamily="34" charset="-122"/>
                <a:ea typeface="思源黑体" panose="020B0500000000000000" pitchFamily="34" charset="-122"/>
              </a:rPr>
              <a:t>Iptables</a:t>
            </a:r>
            <a:r>
              <a:rPr lang="en-US" altLang="zh-CN" sz="1400" dirty="0" smtClean="0">
                <a:latin typeface="思源黑体" panose="020B0500000000000000" pitchFamily="34" charset="-122"/>
                <a:ea typeface="思源黑体" panose="020B0500000000000000" pitchFamily="34" charset="-122"/>
              </a:rPr>
              <a:t> </a:t>
            </a:r>
            <a:r>
              <a:rPr lang="zh-CN" altLang="en-US" sz="1400" dirty="0" smtClean="0">
                <a:latin typeface="思源黑体" panose="020B0500000000000000" pitchFamily="34" charset="-122"/>
                <a:ea typeface="思源黑体" panose="020B0500000000000000" pitchFamily="34" charset="-122"/>
              </a:rPr>
              <a:t>通过表</a:t>
            </a:r>
            <a:r>
              <a:rPr lang="en-US" altLang="zh-CN" sz="1400" dirty="0" smtClean="0">
                <a:latin typeface="思源黑体" panose="020B0500000000000000" pitchFamily="34" charset="-122"/>
                <a:ea typeface="思源黑体" panose="020B0500000000000000" pitchFamily="34" charset="-122"/>
              </a:rPr>
              <a:t>(tables)</a:t>
            </a:r>
            <a:r>
              <a:rPr lang="zh-CN" altLang="en-US" sz="1400" dirty="0" smtClean="0">
                <a:latin typeface="思源黑体" panose="020B0500000000000000" pitchFamily="34" charset="-122"/>
                <a:ea typeface="思源黑体" panose="020B0500000000000000" pitchFamily="34" charset="-122"/>
              </a:rPr>
              <a:t>、链</a:t>
            </a:r>
            <a:r>
              <a:rPr lang="en-US" altLang="zh-CN" sz="1400" dirty="0" smtClean="0">
                <a:latin typeface="思源黑体" panose="020B0500000000000000" pitchFamily="34" charset="-122"/>
                <a:ea typeface="思源黑体" panose="020B0500000000000000" pitchFamily="34" charset="-122"/>
              </a:rPr>
              <a:t>(chains)</a:t>
            </a:r>
            <a:r>
              <a:rPr lang="zh-CN" altLang="en-US" sz="1400" dirty="0" smtClean="0">
                <a:latin typeface="思源黑体" panose="020B0500000000000000" pitchFamily="34" charset="-122"/>
                <a:ea typeface="思源黑体" panose="020B0500000000000000" pitchFamily="34" charset="-122"/>
              </a:rPr>
              <a:t>和规则</a:t>
            </a:r>
            <a:r>
              <a:rPr lang="en-US" altLang="zh-CN" sz="1400" dirty="0" smtClean="0">
                <a:latin typeface="思源黑体" panose="020B0500000000000000" pitchFamily="34" charset="-122"/>
                <a:ea typeface="思源黑体" panose="020B0500000000000000" pitchFamily="34" charset="-122"/>
              </a:rPr>
              <a:t>(rules)</a:t>
            </a:r>
            <a:r>
              <a:rPr lang="zh-CN" altLang="en-US" sz="1400" dirty="0" smtClean="0">
                <a:latin typeface="思源黑体" panose="020B0500000000000000" pitchFamily="34" charset="-122"/>
                <a:ea typeface="思源黑体" panose="020B0500000000000000" pitchFamily="34" charset="-122"/>
              </a:rPr>
              <a:t>来管理数据包处理函数。</a:t>
            </a:r>
            <a:endParaRPr lang="en-US" altLang="zh-CN" sz="1400" dirty="0" smtClean="0">
              <a:latin typeface="思源黑体" panose="020B0500000000000000" pitchFamily="34" charset="-122"/>
              <a:ea typeface="思源黑体" panose="020B0500000000000000" pitchFamily="34" charset="-122"/>
            </a:endParaRPr>
          </a:p>
          <a:p>
            <a:r>
              <a:rPr lang="zh-CN" altLang="en-US" sz="1400" dirty="0" smtClean="0">
                <a:latin typeface="思源黑体" panose="020B0500000000000000" pitchFamily="34" charset="-122"/>
                <a:ea typeface="思源黑体" panose="020B0500000000000000" pitchFamily="34" charset="-122"/>
              </a:rPr>
              <a:t>        三者相关定义如下</a:t>
            </a:r>
            <a:r>
              <a:rPr lang="en-US" altLang="zh-CN" sz="1400" dirty="0" smtClean="0">
                <a:latin typeface="思源黑体" panose="020B0500000000000000" pitchFamily="34" charset="-122"/>
                <a:ea typeface="思源黑体" panose="020B0500000000000000" pitchFamily="34" charset="-122"/>
              </a:rPr>
              <a:t>:</a:t>
            </a:r>
          </a:p>
          <a:p>
            <a:r>
              <a:rPr lang="zh-CN" altLang="en-US" sz="1400" dirty="0" smtClean="0">
                <a:latin typeface="思源黑体" panose="020B0500000000000000" pitchFamily="34" charset="-122"/>
                <a:ea typeface="思源黑体" panose="020B0500000000000000" pitchFamily="34" charset="-122"/>
              </a:rPr>
              <a:t>        表</a:t>
            </a:r>
            <a:r>
              <a:rPr lang="en-US" altLang="zh-CN" sz="1400" dirty="0" smtClean="0">
                <a:latin typeface="思源黑体" panose="020B0500000000000000" pitchFamily="34" charset="-122"/>
                <a:ea typeface="思源黑体" panose="020B0500000000000000" pitchFamily="34" charset="-122"/>
              </a:rPr>
              <a:t>(tables)</a:t>
            </a:r>
            <a:r>
              <a:rPr lang="zh-CN" altLang="en-US" sz="1400" dirty="0" smtClean="0">
                <a:latin typeface="思源黑体" panose="020B0500000000000000" pitchFamily="34" charset="-122"/>
                <a:ea typeface="思源黑体" panose="020B0500000000000000" pitchFamily="34" charset="-122"/>
              </a:rPr>
              <a:t>：将处理同一类型的数据包规则聚合在一起。每张表都只包含同一类型的数据包规则。</a:t>
            </a:r>
            <a:endParaRPr lang="en-US" altLang="zh-CN" sz="1400" dirty="0" smtClean="0">
              <a:latin typeface="思源黑体" panose="020B0500000000000000" pitchFamily="34" charset="-122"/>
              <a:ea typeface="思源黑体" panose="020B0500000000000000" pitchFamily="34" charset="-122"/>
            </a:endParaRPr>
          </a:p>
          <a:p>
            <a:r>
              <a:rPr lang="zh-CN" altLang="en-US" sz="1400" dirty="0" smtClean="0">
                <a:latin typeface="思源黑体" panose="020B0500000000000000" pitchFamily="34" charset="-122"/>
                <a:ea typeface="思源黑体" panose="020B0500000000000000" pitchFamily="34" charset="-122"/>
              </a:rPr>
              <a:t>        链</a:t>
            </a:r>
            <a:r>
              <a:rPr lang="en-US" altLang="zh-CN" sz="1400" dirty="0" smtClean="0">
                <a:latin typeface="思源黑体" panose="020B0500000000000000" pitchFamily="34" charset="-122"/>
                <a:ea typeface="思源黑体" panose="020B0500000000000000" pitchFamily="34" charset="-122"/>
              </a:rPr>
              <a:t>(chains)</a:t>
            </a:r>
            <a:r>
              <a:rPr lang="zh-CN" altLang="en-US" sz="1400" dirty="0" smtClean="0">
                <a:latin typeface="思源黑体" panose="020B0500000000000000" pitchFamily="34" charset="-122"/>
                <a:ea typeface="思源黑体" panose="020B0500000000000000" pitchFamily="34" charset="-122"/>
              </a:rPr>
              <a:t>：每一张表包含若干链，其规定了相关规则在什么时候执行。链能够让管理员在数据包传输过程中的某一个点通过相关规则控制数据包的走向。</a:t>
            </a:r>
            <a:endParaRPr lang="en-US" altLang="zh-CN" sz="1400" dirty="0" smtClean="0">
              <a:latin typeface="思源黑体" panose="020B0500000000000000" pitchFamily="34" charset="-122"/>
              <a:ea typeface="思源黑体" panose="020B0500000000000000" pitchFamily="34" charset="-122"/>
            </a:endParaRPr>
          </a:p>
          <a:p>
            <a:r>
              <a:rPr lang="zh-CN" altLang="en-US" sz="1400" dirty="0" smtClean="0">
                <a:latin typeface="思源黑体" panose="020B0500000000000000" pitchFamily="34" charset="-122"/>
                <a:ea typeface="思源黑体" panose="020B0500000000000000" pitchFamily="34" charset="-122"/>
              </a:rPr>
              <a:t>        规则</a:t>
            </a:r>
            <a:r>
              <a:rPr lang="en-US" altLang="zh-CN" sz="1400" dirty="0" smtClean="0">
                <a:latin typeface="思源黑体" panose="020B0500000000000000" pitchFamily="34" charset="-122"/>
                <a:ea typeface="思源黑体" panose="020B0500000000000000" pitchFamily="34" charset="-122"/>
              </a:rPr>
              <a:t>(rules):</a:t>
            </a:r>
            <a:r>
              <a:rPr lang="zh-CN" altLang="en-US" sz="1400" dirty="0" smtClean="0">
                <a:latin typeface="思源黑体" panose="020B0500000000000000" pitchFamily="34" charset="-122"/>
                <a:ea typeface="思源黑体" panose="020B0500000000000000" pitchFamily="34" charset="-122"/>
              </a:rPr>
              <a:t>规则存在于链中，每一条链包含若干规则。当链被调用时，数据包处理函数将按照顺序依次匹配对应链中的所有规则。每条规则都由 匹配部分</a:t>
            </a:r>
            <a:r>
              <a:rPr lang="en-US" altLang="zh-CN" sz="1400" dirty="0" smtClean="0">
                <a:latin typeface="思源黑体" panose="020B0500000000000000" pitchFamily="34" charset="-122"/>
                <a:ea typeface="思源黑体" panose="020B0500000000000000" pitchFamily="34" charset="-122"/>
              </a:rPr>
              <a:t>+</a:t>
            </a:r>
            <a:r>
              <a:rPr lang="zh-CN" altLang="en-US" sz="1400" dirty="0" smtClean="0">
                <a:latin typeface="思源黑体" panose="020B0500000000000000" pitchFamily="34" charset="-122"/>
                <a:ea typeface="思源黑体" panose="020B0500000000000000" pitchFamily="34" charset="-122"/>
              </a:rPr>
              <a:t>动作部分 组成，如果数据包满足匹配规则，则会执行相关动作对数据包进行处理。</a:t>
            </a:r>
            <a:endParaRPr lang="en-US" altLang="zh-CN" sz="1400" dirty="0" smtClean="0">
              <a:latin typeface="思源黑体" panose="020B0500000000000000" pitchFamily="34" charset="-122"/>
              <a:ea typeface="思源黑体" panose="020B0500000000000000" pitchFamily="34" charset="-122"/>
            </a:endParaRPr>
          </a:p>
        </p:txBody>
      </p:sp>
      <p:pic>
        <p:nvPicPr>
          <p:cNvPr id="2052" name="Picture 4" descr="C:\Users\mibin\AppData\Local\Temp\企业微信截图_17585373161949.png"/>
          <p:cNvPicPr>
            <a:picLocks noChangeAspect="1" noChangeArrowheads="1"/>
          </p:cNvPicPr>
          <p:nvPr/>
        </p:nvPicPr>
        <p:blipFill>
          <a:blip r:embed="rId2" cstate="print"/>
          <a:srcRect/>
          <a:stretch>
            <a:fillRect/>
          </a:stretch>
        </p:blipFill>
        <p:spPr bwMode="auto">
          <a:xfrm>
            <a:off x="3206505" y="826477"/>
            <a:ext cx="4495800" cy="3333750"/>
          </a:xfrm>
          <a:prstGeom prst="rect">
            <a:avLst/>
          </a:prstGeom>
          <a:noFill/>
        </p:spPr>
      </p:pic>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a:spLocks noChangeArrowheads="1"/>
          </p:cNvSpPr>
          <p:nvPr/>
        </p:nvSpPr>
        <p:spPr bwMode="auto">
          <a:xfrm>
            <a:off x="0" y="212519"/>
            <a:ext cx="352425" cy="400050"/>
          </a:xfrm>
          <a:prstGeom prst="rect">
            <a:avLst/>
          </a:prstGeom>
          <a:solidFill>
            <a:srgbClr val="5B9BD5">
              <a:lumMod val="50000"/>
            </a:srgbClr>
          </a:solidFill>
          <a:ln w="9525">
            <a:noFill/>
            <a:miter lim="800000"/>
          </a:ln>
        </p:spPr>
        <p:txBody>
          <a:bodyPr anchor="ctr"/>
          <a:lstStyle/>
          <a:p>
            <a:pPr algn="ctr" fontAlgn="base">
              <a:spcBef>
                <a:spcPct val="0"/>
              </a:spcBef>
              <a:spcAft>
                <a:spcPct val="0"/>
              </a:spcAft>
              <a:buFont typeface="Arial" panose="020B0604020202020204" pitchFamily="34" charset="0"/>
              <a:buNone/>
              <a:defRPr/>
            </a:pPr>
            <a:endParaRPr lang="zh-CN" altLang="en-US" kern="0">
              <a:solidFill>
                <a:srgbClr val="1F4E79"/>
              </a:solidFill>
              <a:latin typeface="黑体" panose="02010609060101010101" charset="-122"/>
              <a:ea typeface="黑体" panose="02010609060101010101" charset="-122"/>
            </a:endParaRPr>
          </a:p>
        </p:txBody>
      </p:sp>
      <p:sp>
        <p:nvSpPr>
          <p:cNvPr id="17" name="矩形 16"/>
          <p:cNvSpPr>
            <a:spLocks noChangeArrowheads="1"/>
          </p:cNvSpPr>
          <p:nvPr/>
        </p:nvSpPr>
        <p:spPr bwMode="auto">
          <a:xfrm>
            <a:off x="419100" y="212519"/>
            <a:ext cx="123825" cy="400050"/>
          </a:xfrm>
          <a:prstGeom prst="rect">
            <a:avLst/>
          </a:prstGeom>
          <a:solidFill>
            <a:srgbClr val="7F7F7F"/>
          </a:solidFill>
          <a:ln w="9525">
            <a:noFill/>
            <a:miter lim="800000"/>
          </a:ln>
        </p:spPr>
        <p:txBody>
          <a:bodyPr anchor="ctr"/>
          <a:lstStyle/>
          <a:p>
            <a:pPr algn="ctr" fontAlgn="base">
              <a:spcBef>
                <a:spcPct val="0"/>
              </a:spcBef>
              <a:spcAft>
                <a:spcPct val="0"/>
              </a:spcAft>
              <a:buFont typeface="Arial" panose="020B0604020202020204" pitchFamily="34" charset="0"/>
              <a:buNone/>
            </a:pPr>
            <a:endParaRPr lang="zh-CN" altLang="en-US">
              <a:solidFill>
                <a:srgbClr val="1F4E79"/>
              </a:solidFill>
              <a:latin typeface="黑体" panose="02010609060101010101" charset="-122"/>
              <a:ea typeface="黑体" panose="02010609060101010101" charset="-122"/>
            </a:endParaRPr>
          </a:p>
        </p:txBody>
      </p:sp>
      <p:sp>
        <p:nvSpPr>
          <p:cNvPr id="21" name="标题 1"/>
          <p:cNvSpPr txBox="1"/>
          <p:nvPr/>
        </p:nvSpPr>
        <p:spPr>
          <a:xfrm>
            <a:off x="609600" y="224766"/>
            <a:ext cx="9710057" cy="375557"/>
          </a:xfrm>
          <a:prstGeom prst="rect">
            <a:avLst/>
          </a:prstGeom>
        </p:spPr>
        <p:txBody>
          <a:bodyPr anchor="ctr"/>
          <a:lstStyle>
            <a:lvl1pPr algn="l" rtl="0" eaLnBrk="0" fontAlgn="base" hangingPunct="0">
              <a:spcBef>
                <a:spcPct val="0"/>
              </a:spcBef>
              <a:spcAft>
                <a:spcPct val="0"/>
              </a:spcAft>
              <a:defRPr sz="2800" b="1" kern="1200">
                <a:solidFill>
                  <a:srgbClr val="1F4E79"/>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defRPr/>
            </a:pPr>
            <a:r>
              <a:rPr lang="en-US" altLang="zh-CN" sz="2400" dirty="0" smtClean="0">
                <a:solidFill>
                  <a:srgbClr val="0070C0"/>
                </a:solidFill>
                <a:latin typeface="思源黑体" panose="020B0500000000000000" pitchFamily="34" charset="-122"/>
                <a:ea typeface="思源黑体" panose="020B0500000000000000" pitchFamily="34" charset="-122"/>
              </a:rPr>
              <a:t>5</a:t>
            </a:r>
            <a:r>
              <a:rPr lang="zh-CN" altLang="en-US" sz="2400" dirty="0" smtClean="0">
                <a:solidFill>
                  <a:srgbClr val="0070C0"/>
                </a:solidFill>
                <a:latin typeface="思源黑体" panose="020B0500000000000000" pitchFamily="34" charset="-122"/>
                <a:ea typeface="思源黑体" panose="020B0500000000000000" pitchFamily="34" charset="-122"/>
              </a:rPr>
              <a:t>、</a:t>
            </a:r>
            <a:r>
              <a:rPr lang="en-US" altLang="zh-CN" sz="2400" dirty="0" err="1" smtClean="0">
                <a:solidFill>
                  <a:srgbClr val="0070C0"/>
                </a:solidFill>
                <a:latin typeface="思源黑体" panose="020B0500000000000000" pitchFamily="34" charset="-122"/>
                <a:ea typeface="思源黑体" panose="020B0500000000000000" pitchFamily="34" charset="-122"/>
              </a:rPr>
              <a:t>Iptables</a:t>
            </a:r>
            <a:r>
              <a:rPr lang="zh-CN" altLang="en-US" sz="2400" dirty="0" smtClean="0">
                <a:solidFill>
                  <a:srgbClr val="0070C0"/>
                </a:solidFill>
                <a:latin typeface="思源黑体" panose="020B0500000000000000" pitchFamily="34" charset="-122"/>
                <a:ea typeface="思源黑体" panose="020B0500000000000000" pitchFamily="34" charset="-122"/>
              </a:rPr>
              <a:t>的四表五链</a:t>
            </a:r>
            <a:endParaRPr lang="en-US" altLang="zh-CN" sz="2400" dirty="0" smtClean="0">
              <a:solidFill>
                <a:srgbClr val="0070C0"/>
              </a:solidFill>
              <a:latin typeface="思源黑体" panose="020B0500000000000000" pitchFamily="34" charset="-122"/>
              <a:ea typeface="思源黑体" panose="020B0500000000000000" pitchFamily="34" charset="-122"/>
            </a:endParaRPr>
          </a:p>
        </p:txBody>
      </p:sp>
      <p:pic>
        <p:nvPicPr>
          <p:cNvPr id="2050" name="Picture 2" descr="C:\Users\mibin\AppData\Local\Temp\企业微信截图_17585359949526.png"/>
          <p:cNvPicPr>
            <a:picLocks noChangeAspect="1" noChangeArrowheads="1"/>
          </p:cNvPicPr>
          <p:nvPr/>
        </p:nvPicPr>
        <p:blipFill>
          <a:blip r:embed="rId2" cstate="print"/>
          <a:srcRect/>
          <a:stretch>
            <a:fillRect/>
          </a:stretch>
        </p:blipFill>
        <p:spPr bwMode="auto">
          <a:xfrm>
            <a:off x="3138854" y="733546"/>
            <a:ext cx="5556739" cy="2878652"/>
          </a:xfrm>
          <a:prstGeom prst="rect">
            <a:avLst/>
          </a:prstGeom>
          <a:noFill/>
        </p:spPr>
      </p:pic>
      <p:sp>
        <p:nvSpPr>
          <p:cNvPr id="8" name="文本框 5"/>
          <p:cNvSpPr txBox="1"/>
          <p:nvPr/>
        </p:nvSpPr>
        <p:spPr>
          <a:xfrm>
            <a:off x="1155031" y="3857606"/>
            <a:ext cx="8734927" cy="2739211"/>
          </a:xfrm>
          <a:prstGeom prst="rect">
            <a:avLst/>
          </a:prstGeom>
          <a:noFill/>
        </p:spPr>
        <p:txBody>
          <a:bodyPr wrap="square" rtlCol="0">
            <a:spAutoFit/>
          </a:bodyPr>
          <a:lstStyle/>
          <a:p>
            <a:r>
              <a:rPr lang="zh-CN" altLang="en-US" sz="1400" dirty="0" smtClean="0">
                <a:latin typeface="思源黑体" panose="020B0500000000000000" pitchFamily="34" charset="-122"/>
                <a:ea typeface="思源黑体" panose="020B0500000000000000" pitchFamily="34" charset="-122"/>
              </a:rPr>
              <a:t>        使用</a:t>
            </a:r>
            <a:r>
              <a:rPr lang="en-US" altLang="zh-CN" sz="1400" dirty="0" err="1" smtClean="0">
                <a:latin typeface="思源黑体" panose="020B0500000000000000" pitchFamily="34" charset="-122"/>
                <a:ea typeface="思源黑体" panose="020B0500000000000000" pitchFamily="34" charset="-122"/>
              </a:rPr>
              <a:t>Iptables</a:t>
            </a:r>
            <a:r>
              <a:rPr lang="zh-CN" altLang="en-US" sz="1400" dirty="0" smtClean="0">
                <a:latin typeface="思源黑体" panose="020B0500000000000000" pitchFamily="34" charset="-122"/>
                <a:ea typeface="思源黑体" panose="020B0500000000000000" pitchFamily="34" charset="-122"/>
              </a:rPr>
              <a:t>时，经常提到的一个词：“四表五链”。</a:t>
            </a:r>
            <a:endParaRPr lang="en-US" altLang="zh-CN" sz="1400" dirty="0" smtClean="0">
              <a:latin typeface="思源黑体" panose="020B0500000000000000" pitchFamily="34" charset="-122"/>
              <a:ea typeface="思源黑体" panose="020B0500000000000000" pitchFamily="34" charset="-122"/>
            </a:endParaRPr>
          </a:p>
          <a:p>
            <a:r>
              <a:rPr lang="zh-CN" altLang="en-US" sz="1400" dirty="0" smtClean="0">
                <a:latin typeface="思源黑体" panose="020B0500000000000000" pitchFamily="34" charset="-122"/>
                <a:ea typeface="思源黑体" panose="020B0500000000000000" pitchFamily="34" charset="-122"/>
              </a:rPr>
              <a:t>        四表：</a:t>
            </a:r>
            <a:r>
              <a:rPr lang="en-US" altLang="zh-CN" sz="1400" dirty="0" smtClean="0">
                <a:latin typeface="思源黑体" panose="020B0500000000000000" pitchFamily="34" charset="-122"/>
                <a:ea typeface="思源黑体" panose="020B0500000000000000" pitchFamily="34" charset="-122"/>
              </a:rPr>
              <a:t>Linux</a:t>
            </a:r>
            <a:r>
              <a:rPr lang="zh-CN" altLang="en-US" sz="1400" dirty="0" smtClean="0">
                <a:latin typeface="思源黑体" panose="020B0500000000000000" pitchFamily="34" charset="-122"/>
                <a:ea typeface="思源黑体" panose="020B0500000000000000" pitchFamily="34" charset="-122"/>
              </a:rPr>
              <a:t>内核中内置有</a:t>
            </a:r>
            <a:r>
              <a:rPr lang="en-US" altLang="zh-CN" sz="1400" dirty="0" smtClean="0">
                <a:latin typeface="思源黑体" panose="020B0500000000000000" pitchFamily="34" charset="-122"/>
                <a:ea typeface="思源黑体" panose="020B0500000000000000" pitchFamily="34" charset="-122"/>
              </a:rPr>
              <a:t>4</a:t>
            </a:r>
            <a:r>
              <a:rPr lang="zh-CN" altLang="en-US" sz="1400" dirty="0" smtClean="0">
                <a:latin typeface="思源黑体" panose="020B0500000000000000" pitchFamily="34" charset="-122"/>
                <a:ea typeface="思源黑体" panose="020B0500000000000000" pitchFamily="34" charset="-122"/>
              </a:rPr>
              <a:t>张表（还有</a:t>
            </a:r>
            <a:r>
              <a:rPr lang="en-US" altLang="zh-CN" sz="1400" dirty="0" smtClean="0">
                <a:latin typeface="思源黑体" panose="020B0500000000000000" pitchFamily="34" charset="-122"/>
                <a:ea typeface="思源黑体" panose="020B0500000000000000" pitchFamily="34" charset="-122"/>
              </a:rPr>
              <a:t>1</a:t>
            </a:r>
            <a:r>
              <a:rPr lang="zh-CN" altLang="en-US" sz="1400" dirty="0" smtClean="0">
                <a:latin typeface="思源黑体" panose="020B0500000000000000" pitchFamily="34" charset="-122"/>
                <a:ea typeface="思源黑体" panose="020B0500000000000000" pitchFamily="34" charset="-122"/>
              </a:rPr>
              <a:t>个表</a:t>
            </a:r>
            <a:r>
              <a:rPr lang="en-US" altLang="zh-CN" sz="1400" dirty="0" smtClean="0"/>
              <a:t>security</a:t>
            </a:r>
            <a:r>
              <a:rPr lang="zh-CN" altLang="en-US" sz="1400" dirty="0" smtClean="0"/>
              <a:t>，一般不用</a:t>
            </a:r>
            <a:r>
              <a:rPr lang="zh-CN" altLang="en-US" sz="1400" dirty="0" smtClean="0">
                <a:latin typeface="思源黑体" panose="020B0500000000000000" pitchFamily="34" charset="-122"/>
                <a:ea typeface="思源黑体" panose="020B0500000000000000" pitchFamily="34" charset="-122"/>
              </a:rPr>
              <a:t>）</a:t>
            </a:r>
            <a:endParaRPr lang="en-US" altLang="zh-CN" sz="1400" dirty="0" smtClean="0">
              <a:latin typeface="思源黑体" panose="020B0500000000000000" pitchFamily="34" charset="-122"/>
              <a:ea typeface="思源黑体" panose="020B0500000000000000" pitchFamily="34" charset="-122"/>
            </a:endParaRPr>
          </a:p>
          <a:p>
            <a:r>
              <a:rPr lang="en-US" altLang="zh-CN" sz="1400" dirty="0" smtClean="0">
                <a:latin typeface="思源黑体" panose="020B0500000000000000" pitchFamily="34" charset="-122"/>
                <a:ea typeface="思源黑体" panose="020B0500000000000000" pitchFamily="34" charset="-122"/>
              </a:rPr>
              <a:t>	raw</a:t>
            </a:r>
            <a:r>
              <a:rPr lang="zh-CN" altLang="en-US" sz="1400" dirty="0" smtClean="0"/>
              <a:t> ：绕过连接追踪（少用）</a:t>
            </a:r>
            <a:endParaRPr lang="en-US" altLang="zh-CN" sz="1400" dirty="0" smtClean="0"/>
          </a:p>
          <a:p>
            <a:r>
              <a:rPr lang="en-US" altLang="zh-CN" sz="1400" dirty="0" smtClean="0"/>
              <a:t>	</a:t>
            </a:r>
            <a:r>
              <a:rPr lang="en-US" altLang="zh-CN" sz="1400" b="1" dirty="0" smtClean="0"/>
              <a:t>mangle</a:t>
            </a:r>
            <a:r>
              <a:rPr lang="zh-CN" altLang="en-US" sz="1400" dirty="0" smtClean="0"/>
              <a:t>：修改数据包内容（如 </a:t>
            </a:r>
            <a:r>
              <a:rPr lang="en-US" altLang="zh-CN" sz="1400" dirty="0" smtClean="0"/>
              <a:t>TTL</a:t>
            </a:r>
            <a:r>
              <a:rPr lang="zh-CN" altLang="en-US" sz="1400" dirty="0" smtClean="0"/>
              <a:t>）</a:t>
            </a:r>
            <a:endParaRPr lang="en-US" altLang="zh-CN" sz="1400" dirty="0" smtClean="0"/>
          </a:p>
          <a:p>
            <a:r>
              <a:rPr lang="en-US" altLang="zh-CN" sz="1400" dirty="0" smtClean="0"/>
              <a:t>	</a:t>
            </a:r>
            <a:r>
              <a:rPr lang="en-US" altLang="zh-CN" sz="1400" b="1" dirty="0" err="1" smtClean="0"/>
              <a:t>nat</a:t>
            </a:r>
            <a:r>
              <a:rPr lang="zh-CN" altLang="en-US" sz="1400" dirty="0" smtClean="0"/>
              <a:t>：地址转换（端口转发、</a:t>
            </a:r>
            <a:r>
              <a:rPr lang="en-US" altLang="zh-CN" sz="1400" dirty="0" smtClean="0"/>
              <a:t>SNAT/DNAT</a:t>
            </a:r>
            <a:r>
              <a:rPr lang="zh-CN" altLang="en-US" sz="1400" dirty="0" smtClean="0"/>
              <a:t>）</a:t>
            </a:r>
            <a:endParaRPr lang="en-US" altLang="zh-CN" sz="1400" dirty="0" smtClean="0"/>
          </a:p>
          <a:p>
            <a:r>
              <a:rPr lang="en-US" altLang="zh-CN" sz="1400" dirty="0" smtClean="0"/>
              <a:t>	</a:t>
            </a:r>
            <a:r>
              <a:rPr lang="en-US" altLang="zh-CN" sz="1400" b="1" dirty="0" smtClean="0"/>
              <a:t>filter</a:t>
            </a:r>
            <a:r>
              <a:rPr lang="zh-CN" altLang="en-US" sz="1400" dirty="0" smtClean="0"/>
              <a:t>：过滤（默认表，管理</a:t>
            </a:r>
            <a:r>
              <a:rPr lang="en-US" altLang="zh-CN" sz="1400" dirty="0" smtClean="0"/>
              <a:t>ACCESS/DROP</a:t>
            </a:r>
            <a:r>
              <a:rPr lang="zh-CN" altLang="en-US" sz="1400" dirty="0" smtClean="0"/>
              <a:t>等）</a:t>
            </a:r>
          </a:p>
          <a:p>
            <a:r>
              <a:rPr lang="zh-CN" altLang="en-US" sz="1400" dirty="0" smtClean="0">
                <a:latin typeface="思源黑体" panose="020B0500000000000000" pitchFamily="34" charset="-122"/>
                <a:ea typeface="思源黑体" panose="020B0500000000000000" pitchFamily="34" charset="-122"/>
              </a:rPr>
              <a:t>        </a:t>
            </a:r>
            <a:r>
              <a:rPr lang="zh-CN" altLang="en-US" sz="1400" dirty="0" smtClean="0">
                <a:solidFill>
                  <a:srgbClr val="FF0000"/>
                </a:solidFill>
                <a:latin typeface="思源黑体" panose="020B0500000000000000" pitchFamily="34" charset="-122"/>
                <a:ea typeface="思源黑体" panose="020B0500000000000000" pitchFamily="34" charset="-122"/>
              </a:rPr>
              <a:t>五链</a:t>
            </a:r>
            <a:r>
              <a:rPr lang="zh-CN" altLang="en-US" sz="1400" dirty="0" smtClean="0">
                <a:latin typeface="思源黑体" panose="020B0500000000000000" pitchFamily="34" charset="-122"/>
                <a:ea typeface="思源黑体" panose="020B0500000000000000" pitchFamily="34" charset="-122"/>
              </a:rPr>
              <a:t>：</a:t>
            </a:r>
            <a:r>
              <a:rPr lang="en-US" altLang="zh-CN" sz="1400" dirty="0" smtClean="0">
                <a:latin typeface="思源黑体" panose="020B0500000000000000" pitchFamily="34" charset="-122"/>
                <a:ea typeface="思源黑体" panose="020B0500000000000000" pitchFamily="34" charset="-122"/>
              </a:rPr>
              <a:t>Linux</a:t>
            </a:r>
            <a:r>
              <a:rPr lang="zh-CN" altLang="en-US" sz="1400" dirty="0" smtClean="0">
                <a:latin typeface="思源黑体" panose="020B0500000000000000" pitchFamily="34" charset="-122"/>
                <a:ea typeface="思源黑体" panose="020B0500000000000000" pitchFamily="34" charset="-122"/>
              </a:rPr>
              <a:t>内核中内置有</a:t>
            </a:r>
            <a:r>
              <a:rPr lang="en-US" altLang="zh-CN" sz="1400" dirty="0" smtClean="0">
                <a:latin typeface="思源黑体" panose="020B0500000000000000" pitchFamily="34" charset="-122"/>
                <a:ea typeface="思源黑体" panose="020B0500000000000000" pitchFamily="34" charset="-122"/>
              </a:rPr>
              <a:t>5</a:t>
            </a:r>
            <a:r>
              <a:rPr lang="zh-CN" altLang="en-US" sz="1400" dirty="0" smtClean="0">
                <a:latin typeface="思源黑体" panose="020B0500000000000000" pitchFamily="34" charset="-122"/>
                <a:ea typeface="思源黑体" panose="020B0500000000000000" pitchFamily="34" charset="-122"/>
              </a:rPr>
              <a:t>条链，分别</a:t>
            </a:r>
            <a:r>
              <a:rPr lang="zh-CN" altLang="en-US" sz="1400" dirty="0" smtClean="0">
                <a:solidFill>
                  <a:srgbClr val="FF0000"/>
                </a:solidFill>
                <a:latin typeface="思源黑体" panose="020B0500000000000000" pitchFamily="34" charset="-122"/>
                <a:ea typeface="思源黑体" panose="020B0500000000000000" pitchFamily="34" charset="-122"/>
              </a:rPr>
              <a:t>对应</a:t>
            </a:r>
            <a:r>
              <a:rPr lang="en-US" altLang="zh-CN" sz="1400" dirty="0" err="1" smtClean="0">
                <a:solidFill>
                  <a:srgbClr val="FF0000"/>
                </a:solidFill>
                <a:latin typeface="思源黑体" panose="020B0500000000000000" pitchFamily="34" charset="-122"/>
                <a:ea typeface="思源黑体" panose="020B0500000000000000" pitchFamily="34" charset="-122"/>
              </a:rPr>
              <a:t>netfiter</a:t>
            </a:r>
            <a:r>
              <a:rPr lang="zh-CN" altLang="en-US" sz="1400" dirty="0" smtClean="0">
                <a:solidFill>
                  <a:srgbClr val="FF0000"/>
                </a:solidFill>
                <a:latin typeface="思源黑体" panose="020B0500000000000000" pitchFamily="34" charset="-122"/>
                <a:ea typeface="思源黑体" panose="020B0500000000000000" pitchFamily="34" charset="-122"/>
              </a:rPr>
              <a:t>提供的</a:t>
            </a:r>
            <a:r>
              <a:rPr lang="en-US" altLang="zh-CN" sz="1400" dirty="0" smtClean="0">
                <a:solidFill>
                  <a:srgbClr val="FF0000"/>
                </a:solidFill>
                <a:latin typeface="思源黑体" panose="020B0500000000000000" pitchFamily="34" charset="-122"/>
                <a:ea typeface="思源黑体" panose="020B0500000000000000" pitchFamily="34" charset="-122"/>
              </a:rPr>
              <a:t>5</a:t>
            </a:r>
            <a:r>
              <a:rPr lang="zh-CN" altLang="en-US" sz="1400" dirty="0" smtClean="0">
                <a:solidFill>
                  <a:srgbClr val="FF0000"/>
                </a:solidFill>
                <a:latin typeface="思源黑体" panose="020B0500000000000000" pitchFamily="34" charset="-122"/>
                <a:ea typeface="思源黑体" panose="020B0500000000000000" pitchFamily="34" charset="-122"/>
              </a:rPr>
              <a:t>个</a:t>
            </a:r>
            <a:r>
              <a:rPr lang="en-US" altLang="zh-CN" sz="1400" dirty="0" err="1" smtClean="0">
                <a:solidFill>
                  <a:srgbClr val="FF0000"/>
                </a:solidFill>
                <a:latin typeface="思源黑体" panose="020B0500000000000000" pitchFamily="34" charset="-122"/>
                <a:ea typeface="思源黑体" panose="020B0500000000000000" pitchFamily="34" charset="-122"/>
              </a:rPr>
              <a:t>HooK</a:t>
            </a:r>
            <a:r>
              <a:rPr lang="zh-CN" altLang="en-US" sz="1400" dirty="0" smtClean="0">
                <a:solidFill>
                  <a:srgbClr val="FF0000"/>
                </a:solidFill>
                <a:latin typeface="思源黑体" panose="020B0500000000000000" pitchFamily="34" charset="-122"/>
                <a:ea typeface="思源黑体" panose="020B0500000000000000" pitchFamily="34" charset="-122"/>
              </a:rPr>
              <a:t>点</a:t>
            </a:r>
            <a:r>
              <a:rPr lang="zh-CN" altLang="en-US" sz="1400" dirty="0" smtClean="0">
                <a:latin typeface="思源黑体" panose="020B0500000000000000" pitchFamily="34" charset="-122"/>
                <a:ea typeface="思源黑体" panose="020B0500000000000000" pitchFamily="34" charset="-122"/>
              </a:rPr>
              <a:t>。</a:t>
            </a:r>
            <a:endParaRPr lang="en-US" altLang="zh-CN" sz="1400" dirty="0" smtClean="0">
              <a:latin typeface="思源黑体" panose="020B0500000000000000" pitchFamily="34" charset="-122"/>
              <a:ea typeface="思源黑体" panose="020B0500000000000000" pitchFamily="34" charset="-122"/>
            </a:endParaRPr>
          </a:p>
          <a:p>
            <a:r>
              <a:rPr lang="en-US" altLang="zh-CN" sz="1400" b="1" dirty="0" smtClean="0"/>
              <a:t>	INPUT</a:t>
            </a:r>
            <a:r>
              <a:rPr lang="zh-CN" altLang="en-US" sz="1400" dirty="0" smtClean="0"/>
              <a:t>：进入本机的流量</a:t>
            </a:r>
          </a:p>
          <a:p>
            <a:r>
              <a:rPr lang="en-US" altLang="zh-CN" sz="1400" b="1" dirty="0" smtClean="0"/>
              <a:t>	OUTPUT</a:t>
            </a:r>
            <a:r>
              <a:rPr lang="zh-CN" altLang="en-US" sz="1400" dirty="0" smtClean="0"/>
              <a:t>：本机发出的流量</a:t>
            </a:r>
          </a:p>
          <a:p>
            <a:r>
              <a:rPr lang="en-US" altLang="zh-CN" sz="1400" b="1" dirty="0" smtClean="0"/>
              <a:t>	FORWARD</a:t>
            </a:r>
            <a:r>
              <a:rPr lang="zh-CN" altLang="en-US" sz="1400" dirty="0" smtClean="0"/>
              <a:t>：经过本机转发的流量</a:t>
            </a:r>
          </a:p>
          <a:p>
            <a:r>
              <a:rPr lang="en-US" altLang="zh-CN" sz="1400" b="1" dirty="0" smtClean="0"/>
              <a:t>	PREROUTING</a:t>
            </a:r>
            <a:r>
              <a:rPr lang="zh-CN" altLang="en-US" sz="1400" dirty="0" smtClean="0"/>
              <a:t>：路由前处理（改目标地址，</a:t>
            </a:r>
            <a:r>
              <a:rPr lang="en-US" altLang="zh-CN" sz="1400" dirty="0" smtClean="0"/>
              <a:t>DNAT</a:t>
            </a:r>
            <a:r>
              <a:rPr lang="zh-CN" altLang="en-US" sz="1400" dirty="0" smtClean="0"/>
              <a:t>）</a:t>
            </a:r>
          </a:p>
          <a:p>
            <a:r>
              <a:rPr lang="en-US" altLang="zh-CN" sz="1400" b="1" dirty="0" smtClean="0"/>
              <a:t>	POSTROUTING</a:t>
            </a:r>
            <a:r>
              <a:rPr lang="zh-CN" altLang="en-US" sz="1400" dirty="0" smtClean="0"/>
              <a:t>：路由后处理（改源地址，</a:t>
            </a:r>
            <a:r>
              <a:rPr lang="en-US" altLang="zh-CN" sz="1400" dirty="0" smtClean="0"/>
              <a:t>SNAT</a:t>
            </a:r>
            <a:r>
              <a:rPr lang="zh-CN" altLang="en-US" sz="1400" dirty="0" smtClean="0"/>
              <a:t>）</a:t>
            </a:r>
            <a:endParaRPr lang="en-US" altLang="zh-CN" sz="1400" dirty="0" smtClean="0">
              <a:latin typeface="思源黑体" panose="020B0500000000000000" pitchFamily="34" charset="-122"/>
              <a:ea typeface="思源黑体" panose="020B0500000000000000" pitchFamily="34" charset="-122"/>
            </a:endParaRPr>
          </a:p>
        </p:txBody>
      </p:sp>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340640" y="272809"/>
            <a:ext cx="2054690" cy="646331"/>
          </a:xfrm>
          <a:prstGeom prst="rect">
            <a:avLst/>
          </a:prstGeom>
          <a:noFill/>
        </p:spPr>
        <p:txBody>
          <a:bodyPr wrap="square" lIns="91440" tIns="45720" rIns="91440" bIns="45720">
            <a:spAutoFit/>
          </a:bodyPr>
          <a:lstStyle/>
          <a:p>
            <a:pPr algn="ctr"/>
            <a:r>
              <a:rPr lang="zh-CN" altLang="en-US" sz="3600" b="1" cap="none" spc="0" dirty="0" smtClean="0">
                <a:ln w="9525">
                  <a:noFill/>
                  <a:prstDash val="solid"/>
                </a:ln>
                <a:solidFill>
                  <a:schemeClr val="accent5">
                    <a:lumMod val="75000"/>
                  </a:schemeClr>
                </a:solidFill>
                <a:latin typeface="思源黑体" panose="020B0500000000000000" pitchFamily="34" charset="-122"/>
                <a:ea typeface="思源黑体" panose="020B0500000000000000" pitchFamily="34" charset="-122"/>
              </a:rPr>
              <a:t>本章小结</a:t>
            </a:r>
            <a:endParaRPr lang="zh-CN" altLang="en-US" sz="3600" b="1" cap="none" spc="0" dirty="0">
              <a:ln w="9525">
                <a:noFill/>
                <a:prstDash val="solid"/>
              </a:ln>
              <a:solidFill>
                <a:schemeClr val="accent5">
                  <a:lumMod val="75000"/>
                </a:schemeClr>
              </a:solidFill>
              <a:latin typeface="思源黑体" panose="020B0500000000000000" pitchFamily="34" charset="-122"/>
              <a:ea typeface="思源黑体" panose="020B0500000000000000" pitchFamily="34" charset="-122"/>
            </a:endParaRPr>
          </a:p>
        </p:txBody>
      </p:sp>
      <p:sp>
        <p:nvSpPr>
          <p:cNvPr id="47" name="TextBox 15"/>
          <p:cNvSpPr txBox="1"/>
          <p:nvPr/>
        </p:nvSpPr>
        <p:spPr>
          <a:xfrm>
            <a:off x="711890" y="1573816"/>
            <a:ext cx="5785337" cy="1364424"/>
          </a:xfrm>
          <a:prstGeom prst="rect">
            <a:avLst/>
          </a:prstGeom>
          <a:noFill/>
        </p:spPr>
        <p:txBody>
          <a:bodyPr wrap="square" lIns="71067" tIns="35534" rIns="71067" bIns="35534" rtlCol="0">
            <a:spAutoFit/>
          </a:bodyPr>
          <a:lstStyle>
            <a:defPPr>
              <a:defRPr lang="zh-CN"/>
            </a:defPPr>
            <a:lvl1pPr>
              <a:lnSpc>
                <a:spcPct val="150000"/>
              </a:lnSpc>
              <a:defRPr sz="1800">
                <a:solidFill>
                  <a:schemeClr val="tx1">
                    <a:lumMod val="50000"/>
                    <a:lumOff val="50000"/>
                  </a:schemeClr>
                </a:solidFill>
                <a:latin typeface="微软雅黑" panose="020B0503020204020204" charset="-122"/>
                <a:ea typeface="微软雅黑" panose="020B0503020204020204" charset="-122"/>
              </a:defRPr>
            </a:lvl1pPr>
          </a:lstStyle>
          <a:p>
            <a:r>
              <a:rPr lang="zh-CN" altLang="en-US" sz="1400" dirty="0">
                <a:solidFill>
                  <a:schemeClr val="tx1"/>
                </a:solidFill>
                <a:latin typeface="思源黑体" panose="020B0500000000000000" pitchFamily="34" charset="-122"/>
                <a:ea typeface="思源黑体" panose="020B0500000000000000" pitchFamily="34" charset="-122"/>
              </a:rPr>
              <a:t> </a:t>
            </a:r>
            <a:r>
              <a:rPr lang="zh-CN" altLang="en-US" sz="1400" dirty="0" smtClean="0">
                <a:solidFill>
                  <a:schemeClr val="tx1"/>
                </a:solidFill>
                <a:latin typeface="思源黑体" panose="020B0500000000000000" pitchFamily="34" charset="-122"/>
                <a:ea typeface="思源黑体" panose="020B0500000000000000" pitchFamily="34" charset="-122"/>
              </a:rPr>
              <a:t>      本章阐述了</a:t>
            </a:r>
            <a:r>
              <a:rPr lang="en-US" altLang="zh-CN" sz="1400" dirty="0" err="1" smtClean="0">
                <a:solidFill>
                  <a:schemeClr val="tx1"/>
                </a:solidFill>
                <a:latin typeface="思源黑体" panose="020B0500000000000000" pitchFamily="34" charset="-122"/>
                <a:ea typeface="思源黑体" panose="020B0500000000000000" pitchFamily="34" charset="-122"/>
              </a:rPr>
              <a:t>Iptables</a:t>
            </a:r>
            <a:r>
              <a:rPr lang="zh-CN" altLang="en-US" sz="1400" dirty="0" smtClean="0">
                <a:solidFill>
                  <a:schemeClr val="tx1"/>
                </a:solidFill>
                <a:latin typeface="思源黑体" panose="020B0500000000000000" pitchFamily="34" charset="-122"/>
                <a:ea typeface="思源黑体" panose="020B0500000000000000" pitchFamily="34" charset="-122"/>
              </a:rPr>
              <a:t> 和 </a:t>
            </a:r>
            <a:r>
              <a:rPr lang="en-US" altLang="zh-CN" sz="1400" dirty="0" err="1" smtClean="0">
                <a:solidFill>
                  <a:schemeClr val="tx1"/>
                </a:solidFill>
                <a:latin typeface="思源黑体" panose="020B0500000000000000" pitchFamily="34" charset="-122"/>
                <a:ea typeface="思源黑体" panose="020B0500000000000000" pitchFamily="34" charset="-122"/>
              </a:rPr>
              <a:t>Netfilter</a:t>
            </a:r>
            <a:r>
              <a:rPr lang="zh-CN" altLang="en-US" sz="1400" dirty="0" smtClean="0">
                <a:solidFill>
                  <a:schemeClr val="tx1"/>
                </a:solidFill>
                <a:latin typeface="思源黑体" panose="020B0500000000000000" pitchFamily="34" charset="-122"/>
                <a:ea typeface="思源黑体" panose="020B0500000000000000" pitchFamily="34" charset="-122"/>
              </a:rPr>
              <a:t>组合，</a:t>
            </a:r>
            <a:r>
              <a:rPr lang="en-US" altLang="zh-CN" sz="1400" dirty="0" err="1" smtClean="0">
                <a:solidFill>
                  <a:schemeClr val="tx1"/>
                </a:solidFill>
                <a:latin typeface="思源黑体" panose="020B0500000000000000" pitchFamily="34" charset="-122"/>
                <a:ea typeface="思源黑体" panose="020B0500000000000000" pitchFamily="34" charset="-122"/>
              </a:rPr>
              <a:t>Iptables</a:t>
            </a:r>
            <a:r>
              <a:rPr lang="zh-CN" altLang="en-US" sz="1400" dirty="0" smtClean="0">
                <a:solidFill>
                  <a:schemeClr val="tx1"/>
                </a:solidFill>
                <a:latin typeface="思源黑体" panose="020B0500000000000000" pitchFamily="34" charset="-122"/>
                <a:ea typeface="思源黑体" panose="020B0500000000000000" pitchFamily="34" charset="-122"/>
              </a:rPr>
              <a:t>的表、链、规则间的关系。介绍了</a:t>
            </a:r>
            <a:r>
              <a:rPr lang="en-US" altLang="zh-CN" sz="1400" dirty="0" smtClean="0">
                <a:solidFill>
                  <a:schemeClr val="tx1"/>
                </a:solidFill>
                <a:latin typeface="思源黑体" panose="020B0500000000000000" pitchFamily="34" charset="-122"/>
                <a:ea typeface="思源黑体" panose="020B0500000000000000" pitchFamily="34" charset="-122"/>
              </a:rPr>
              <a:t> Linux</a:t>
            </a:r>
            <a:r>
              <a:rPr lang="zh-CN" altLang="en-US" sz="1400" dirty="0" smtClean="0">
                <a:solidFill>
                  <a:schemeClr val="tx1"/>
                </a:solidFill>
                <a:latin typeface="思源黑体" panose="020B0500000000000000" pitchFamily="34" charset="-122"/>
                <a:ea typeface="思源黑体" panose="020B0500000000000000" pitchFamily="34" charset="-122"/>
              </a:rPr>
              <a:t>内核中内置的四表五链，五链与</a:t>
            </a:r>
            <a:r>
              <a:rPr lang="en-US" altLang="zh-CN" sz="1400" dirty="0" err="1" smtClean="0">
                <a:solidFill>
                  <a:schemeClr val="tx1"/>
                </a:solidFill>
                <a:latin typeface="思源黑体" panose="020B0500000000000000" pitchFamily="34" charset="-122"/>
                <a:ea typeface="思源黑体" panose="020B0500000000000000" pitchFamily="34" charset="-122"/>
              </a:rPr>
              <a:t>netfilter</a:t>
            </a:r>
            <a:r>
              <a:rPr lang="zh-CN" altLang="en-US" sz="1400" dirty="0" smtClean="0">
                <a:solidFill>
                  <a:schemeClr val="tx1"/>
                </a:solidFill>
                <a:latin typeface="思源黑体" panose="020B0500000000000000" pitchFamily="34" charset="-122"/>
                <a:ea typeface="思源黑体" panose="020B0500000000000000" pitchFamily="34" charset="-122"/>
              </a:rPr>
              <a:t>的</a:t>
            </a:r>
            <a:r>
              <a:rPr lang="en-US" altLang="zh-CN" sz="1400" dirty="0" smtClean="0">
                <a:solidFill>
                  <a:schemeClr val="tx1"/>
                </a:solidFill>
                <a:latin typeface="思源黑体" panose="020B0500000000000000" pitchFamily="34" charset="-122"/>
                <a:ea typeface="思源黑体" panose="020B0500000000000000" pitchFamily="34" charset="-122"/>
              </a:rPr>
              <a:t>5</a:t>
            </a:r>
            <a:r>
              <a:rPr lang="zh-CN" altLang="en-US" sz="1400" dirty="0" smtClean="0">
                <a:solidFill>
                  <a:schemeClr val="tx1"/>
                </a:solidFill>
                <a:latin typeface="思源黑体" panose="020B0500000000000000" pitchFamily="34" charset="-122"/>
                <a:ea typeface="思源黑体" panose="020B0500000000000000" pitchFamily="34" charset="-122"/>
              </a:rPr>
              <a:t>个</a:t>
            </a:r>
            <a:r>
              <a:rPr lang="en-US" altLang="zh-CN" sz="1400" dirty="0" err="1" smtClean="0">
                <a:solidFill>
                  <a:schemeClr val="tx1"/>
                </a:solidFill>
                <a:latin typeface="思源黑体" panose="020B0500000000000000" pitchFamily="34" charset="-122"/>
                <a:ea typeface="思源黑体" panose="020B0500000000000000" pitchFamily="34" charset="-122"/>
              </a:rPr>
              <a:t>HooK</a:t>
            </a:r>
            <a:r>
              <a:rPr lang="zh-CN" altLang="en-US" sz="1400" dirty="0" smtClean="0">
                <a:solidFill>
                  <a:schemeClr val="tx1"/>
                </a:solidFill>
                <a:latin typeface="思源黑体" panose="020B0500000000000000" pitchFamily="34" charset="-122"/>
                <a:ea typeface="思源黑体" panose="020B0500000000000000" pitchFamily="34" charset="-122"/>
              </a:rPr>
              <a:t>点的对应。</a:t>
            </a:r>
            <a:endParaRPr lang="en-US" altLang="zh-CN" sz="1400" dirty="0" smtClean="0">
              <a:solidFill>
                <a:schemeClr val="tx1"/>
              </a:solidFill>
              <a:latin typeface="思源黑体" panose="020B0500000000000000" pitchFamily="34" charset="-122"/>
              <a:ea typeface="思源黑体" panose="020B0500000000000000" pitchFamily="34" charset="-122"/>
            </a:endParaRPr>
          </a:p>
          <a:p>
            <a:r>
              <a:rPr lang="zh-CN" altLang="en-US" sz="1400" dirty="0" smtClean="0">
                <a:solidFill>
                  <a:schemeClr val="tx1"/>
                </a:solidFill>
                <a:latin typeface="思源黑体" panose="020B0500000000000000" pitchFamily="34" charset="-122"/>
                <a:ea typeface="思源黑体" panose="020B0500000000000000" pitchFamily="34" charset="-122"/>
              </a:rPr>
              <a:t>      了解</a:t>
            </a:r>
            <a:r>
              <a:rPr lang="en-US" altLang="zh-CN" sz="1400" dirty="0" err="1" smtClean="0">
                <a:solidFill>
                  <a:schemeClr val="tx1"/>
                </a:solidFill>
                <a:latin typeface="思源黑体" panose="020B0500000000000000" pitchFamily="34" charset="-122"/>
                <a:ea typeface="思源黑体" panose="020B0500000000000000" pitchFamily="34" charset="-122"/>
              </a:rPr>
              <a:t>Iptables</a:t>
            </a:r>
            <a:r>
              <a:rPr lang="zh-CN" altLang="en-US" sz="1400" dirty="0" smtClean="0">
                <a:solidFill>
                  <a:schemeClr val="tx1"/>
                </a:solidFill>
                <a:latin typeface="思源黑体" panose="020B0500000000000000" pitchFamily="34" charset="-122"/>
                <a:ea typeface="思源黑体" panose="020B0500000000000000" pitchFamily="34" charset="-122"/>
              </a:rPr>
              <a:t>的架构，对于更好地使用</a:t>
            </a:r>
            <a:r>
              <a:rPr lang="en-US" altLang="zh-CN" sz="1400" dirty="0" err="1" smtClean="0">
                <a:solidFill>
                  <a:schemeClr val="tx1"/>
                </a:solidFill>
                <a:latin typeface="思源黑体" panose="020B0500000000000000" pitchFamily="34" charset="-122"/>
                <a:ea typeface="思源黑体" panose="020B0500000000000000" pitchFamily="34" charset="-122"/>
              </a:rPr>
              <a:t>Iptables</a:t>
            </a:r>
            <a:r>
              <a:rPr lang="zh-CN" altLang="en-US" sz="1400" dirty="0" smtClean="0">
                <a:solidFill>
                  <a:schemeClr val="tx1"/>
                </a:solidFill>
                <a:latin typeface="思源黑体" panose="020B0500000000000000" pitchFamily="34" charset="-122"/>
                <a:ea typeface="思源黑体" panose="020B0500000000000000" pitchFamily="34" charset="-122"/>
              </a:rPr>
              <a:t>是事半功倍。</a:t>
            </a:r>
            <a:endParaRPr lang="en-US" altLang="zh-CN" sz="1400" dirty="0" smtClean="0">
              <a:solidFill>
                <a:schemeClr val="tx1"/>
              </a:solidFill>
              <a:latin typeface="思源黑体" panose="020B0500000000000000" pitchFamily="34" charset="-122"/>
              <a:ea typeface="思源黑体" panose="020B0500000000000000" pitchFamily="34" charset="-122"/>
            </a:endParaRPr>
          </a:p>
        </p:txBody>
      </p:sp>
      <p:sp>
        <p:nvSpPr>
          <p:cNvPr id="32" name="矩形 31"/>
          <p:cNvSpPr/>
          <p:nvPr/>
        </p:nvSpPr>
        <p:spPr>
          <a:xfrm>
            <a:off x="711890" y="1162078"/>
            <a:ext cx="1577676" cy="369332"/>
          </a:xfrm>
          <a:prstGeom prst="rect">
            <a:avLst/>
          </a:prstGeom>
        </p:spPr>
        <p:txBody>
          <a:bodyPr wrap="none">
            <a:spAutoFit/>
          </a:bodyPr>
          <a:lstStyle/>
          <a:p>
            <a:r>
              <a:rPr lang="en-US" altLang="zh-CN" b="1" dirty="0" err="1" smtClean="0">
                <a:solidFill>
                  <a:srgbClr val="0070C0"/>
                </a:solidFill>
                <a:latin typeface="思源黑体" panose="020B0500000000000000" pitchFamily="34" charset="-122"/>
                <a:ea typeface="思源黑体" panose="020B0500000000000000" pitchFamily="34" charset="-122"/>
                <a:sym typeface="+mn-lt"/>
              </a:rPr>
              <a:t>Iptables</a:t>
            </a:r>
            <a:r>
              <a:rPr lang="zh-CN" altLang="en-US" b="1" dirty="0" smtClean="0">
                <a:solidFill>
                  <a:srgbClr val="0070C0"/>
                </a:solidFill>
                <a:latin typeface="思源黑体" panose="020B0500000000000000" pitchFamily="34" charset="-122"/>
                <a:ea typeface="思源黑体" panose="020B0500000000000000" pitchFamily="34" charset="-122"/>
                <a:sym typeface="+mn-lt"/>
              </a:rPr>
              <a:t>架构</a:t>
            </a:r>
            <a:endParaRPr lang="en-US" altLang="zh-CN" b="1" dirty="0" smtClean="0">
              <a:solidFill>
                <a:srgbClr val="0070C0"/>
              </a:solidFill>
              <a:latin typeface="思源黑体" panose="020B0500000000000000" pitchFamily="34" charset="-122"/>
              <a:ea typeface="思源黑体" panose="020B0500000000000000" pitchFamily="34" charset="-122"/>
              <a:sym typeface="+mn-lt"/>
            </a:endParaRPr>
          </a:p>
        </p:txBody>
      </p:sp>
      <p:grpSp>
        <p:nvGrpSpPr>
          <p:cNvPr id="33" name="组合 32"/>
          <p:cNvGrpSpPr/>
          <p:nvPr/>
        </p:nvGrpSpPr>
        <p:grpSpPr>
          <a:xfrm>
            <a:off x="9108771" y="5142372"/>
            <a:ext cx="3083229" cy="1715628"/>
            <a:chOff x="3909171" y="5101626"/>
            <a:chExt cx="2312422" cy="1756375"/>
          </a:xfrm>
        </p:grpSpPr>
        <p:sp>
          <p:nvSpPr>
            <p:cNvPr id="34" name="任意多边形: 形状 14"/>
            <p:cNvSpPr/>
            <p:nvPr/>
          </p:nvSpPr>
          <p:spPr>
            <a:xfrm>
              <a:off x="3909171" y="5617900"/>
              <a:ext cx="2312422" cy="1240101"/>
            </a:xfrm>
            <a:custGeom>
              <a:avLst/>
              <a:gdLst>
                <a:gd name="connsiteX0" fmla="*/ 688066 w 2750572"/>
                <a:gd name="connsiteY0" fmla="*/ 0 h 1240101"/>
                <a:gd name="connsiteX1" fmla="*/ 2062507 w 2750572"/>
                <a:gd name="connsiteY1" fmla="*/ 0 h 1240101"/>
                <a:gd name="connsiteX2" fmla="*/ 2750572 w 2750572"/>
                <a:gd name="connsiteY2" fmla="*/ 1186787 h 1240101"/>
                <a:gd name="connsiteX3" fmla="*/ 2719750 w 2750572"/>
                <a:gd name="connsiteY3" fmla="*/ 1240101 h 1240101"/>
                <a:gd name="connsiteX4" fmla="*/ 30822 w 2750572"/>
                <a:gd name="connsiteY4" fmla="*/ 1240101 h 1240101"/>
                <a:gd name="connsiteX5" fmla="*/ 0 w 2750572"/>
                <a:gd name="connsiteY5" fmla="*/ 1186787 h 1240101"/>
                <a:gd name="connsiteX6" fmla="*/ 688066 w 2750572"/>
                <a:gd name="connsiteY6" fmla="*/ 0 h 1240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0572" h="1240101">
                  <a:moveTo>
                    <a:pt x="688066" y="0"/>
                  </a:moveTo>
                  <a:lnTo>
                    <a:pt x="2062507" y="0"/>
                  </a:lnTo>
                  <a:lnTo>
                    <a:pt x="2750572" y="1186787"/>
                  </a:lnTo>
                  <a:lnTo>
                    <a:pt x="2719750" y="1240101"/>
                  </a:lnTo>
                  <a:lnTo>
                    <a:pt x="30822" y="1240101"/>
                  </a:lnTo>
                  <a:lnTo>
                    <a:pt x="0" y="1186787"/>
                  </a:lnTo>
                  <a:lnTo>
                    <a:pt x="688066" y="0"/>
                  </a:lnTo>
                  <a:close/>
                </a:path>
              </a:pathLst>
            </a:custGeom>
            <a:solidFill>
              <a:schemeClr val="accent1">
                <a:alpha val="1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5" name="Freeform 21"/>
            <p:cNvSpPr/>
            <p:nvPr/>
          </p:nvSpPr>
          <p:spPr bwMode="auto">
            <a:xfrm>
              <a:off x="4021319" y="5101626"/>
              <a:ext cx="866775" cy="1026882"/>
            </a:xfrm>
            <a:custGeom>
              <a:avLst/>
              <a:gdLst>
                <a:gd name="T0" fmla="*/ 1220 w 1627"/>
                <a:gd name="T1" fmla="*/ 0 h 1406"/>
                <a:gd name="T2" fmla="*/ 407 w 1627"/>
                <a:gd name="T3" fmla="*/ 0 h 1406"/>
                <a:gd name="T4" fmla="*/ 0 w 1627"/>
                <a:gd name="T5" fmla="*/ 702 h 1406"/>
                <a:gd name="T6" fmla="*/ 407 w 1627"/>
                <a:gd name="T7" fmla="*/ 1406 h 1406"/>
                <a:gd name="T8" fmla="*/ 1220 w 1627"/>
                <a:gd name="T9" fmla="*/ 1406 h 1406"/>
                <a:gd name="T10" fmla="*/ 1627 w 1627"/>
                <a:gd name="T11" fmla="*/ 702 h 1406"/>
                <a:gd name="T12" fmla="*/ 1220 w 1627"/>
                <a:gd name="T13" fmla="*/ 0 h 1406"/>
              </a:gdLst>
              <a:ahLst/>
              <a:cxnLst>
                <a:cxn ang="0">
                  <a:pos x="T0" y="T1"/>
                </a:cxn>
                <a:cxn ang="0">
                  <a:pos x="T2" y="T3"/>
                </a:cxn>
                <a:cxn ang="0">
                  <a:pos x="T4" y="T5"/>
                </a:cxn>
                <a:cxn ang="0">
                  <a:pos x="T6" y="T7"/>
                </a:cxn>
                <a:cxn ang="0">
                  <a:pos x="T8" y="T9"/>
                </a:cxn>
                <a:cxn ang="0">
                  <a:pos x="T10" y="T11"/>
                </a:cxn>
                <a:cxn ang="0">
                  <a:pos x="T12" y="T13"/>
                </a:cxn>
              </a:cxnLst>
              <a:rect l="0" t="0" r="r" b="b"/>
              <a:pathLst>
                <a:path w="1627" h="1406">
                  <a:moveTo>
                    <a:pt x="1220" y="0"/>
                  </a:moveTo>
                  <a:lnTo>
                    <a:pt x="407" y="0"/>
                  </a:lnTo>
                  <a:lnTo>
                    <a:pt x="0" y="702"/>
                  </a:lnTo>
                  <a:lnTo>
                    <a:pt x="407" y="1406"/>
                  </a:lnTo>
                  <a:lnTo>
                    <a:pt x="1220" y="1406"/>
                  </a:lnTo>
                  <a:lnTo>
                    <a:pt x="1627" y="702"/>
                  </a:lnTo>
                  <a:lnTo>
                    <a:pt x="1220" y="0"/>
                  </a:lnTo>
                  <a:close/>
                </a:path>
              </a:pathLst>
            </a:custGeom>
            <a:solidFill>
              <a:schemeClr val="accent1">
                <a:alpha val="3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grpSp>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up)">
                                      <p:cBhvr>
                                        <p:cTn id="7" dur="500"/>
                                        <p:tgtEl>
                                          <p:spTgt spid="47"/>
                                        </p:tgtEl>
                                      </p:cBhvr>
                                    </p:animEffect>
                                  </p:childTnLst>
                                </p:cTn>
                              </p:par>
                              <p:par>
                                <p:cTn id="8" presetID="2" presetClass="entr" presetSubtype="4" fill="hold" nodeType="withEffect">
                                  <p:stCondLst>
                                    <p:cond delay="500"/>
                                  </p:stCondLst>
                                  <p:childTnLst>
                                    <p:set>
                                      <p:cBhvr>
                                        <p:cTn id="9" dur="1" fill="hold">
                                          <p:stCondLst>
                                            <p:cond delay="0"/>
                                          </p:stCondLst>
                                        </p:cTn>
                                        <p:tgtEl>
                                          <p:spTgt spid="33"/>
                                        </p:tgtEl>
                                        <p:attrNameLst>
                                          <p:attrName>style.visibility</p:attrName>
                                        </p:attrNameLst>
                                      </p:cBhvr>
                                      <p:to>
                                        <p:strVal val="visible"/>
                                      </p:to>
                                    </p:set>
                                    <p:anim calcmode="lin" valueType="num">
                                      <p:cBhvr additive="base">
                                        <p:cTn id="10" dur="500" fill="hold"/>
                                        <p:tgtEl>
                                          <p:spTgt spid="33"/>
                                        </p:tgtEl>
                                        <p:attrNameLst>
                                          <p:attrName>ppt_x</p:attrName>
                                        </p:attrNameLst>
                                      </p:cBhvr>
                                      <p:tavLst>
                                        <p:tav tm="0">
                                          <p:val>
                                            <p:strVal val="#ppt_x"/>
                                          </p:val>
                                        </p:tav>
                                        <p:tav tm="100000">
                                          <p:val>
                                            <p:strVal val="#ppt_x"/>
                                          </p:val>
                                        </p:tav>
                                      </p:tavLst>
                                    </p:anim>
                                    <p:anim calcmode="lin" valueType="num">
                                      <p:cBhvr additive="base">
                                        <p:cTn id="11"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389091"/>
            <a:ext cx="12192000" cy="129271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 name="文本框 17"/>
          <p:cNvSpPr txBox="1"/>
          <p:nvPr/>
        </p:nvSpPr>
        <p:spPr>
          <a:xfrm>
            <a:off x="4450112" y="2686634"/>
            <a:ext cx="4319425" cy="646331"/>
          </a:xfrm>
          <a:prstGeom prst="rect">
            <a:avLst/>
          </a:prstGeom>
          <a:noFill/>
        </p:spPr>
        <p:txBody>
          <a:bodyPr wrap="square" rtlCol="0">
            <a:spAutoFit/>
          </a:bodyPr>
          <a:lstStyle/>
          <a:p>
            <a:r>
              <a:rPr lang="zh-CN" altLang="en-US" sz="3600" b="1" dirty="0" smtClean="0">
                <a:solidFill>
                  <a:schemeClr val="bg1"/>
                </a:solidFill>
                <a:latin typeface="思源黑体" panose="020B0500000000000000" pitchFamily="34" charset="-122"/>
                <a:ea typeface="思源黑体" panose="020B0500000000000000" pitchFamily="34" charset="-122"/>
                <a:sym typeface="+mn-lt"/>
              </a:rPr>
              <a:t>基本语法</a:t>
            </a:r>
            <a:r>
              <a:rPr lang="en-US" altLang="zh-CN" sz="3600" b="1" dirty="0" smtClean="0">
                <a:solidFill>
                  <a:schemeClr val="bg1"/>
                </a:solidFill>
                <a:latin typeface="思源黑体" panose="020B0500000000000000" pitchFamily="34" charset="-122"/>
                <a:ea typeface="思源黑体" panose="020B0500000000000000" pitchFamily="34" charset="-122"/>
                <a:sym typeface="+mn-lt"/>
              </a:rPr>
              <a:t>/</a:t>
            </a:r>
            <a:r>
              <a:rPr lang="zh-CN" altLang="en-US" sz="3600" b="1" dirty="0" smtClean="0">
                <a:solidFill>
                  <a:schemeClr val="bg1"/>
                </a:solidFill>
                <a:latin typeface="思源黑体" panose="020B0500000000000000" pitchFamily="34" charset="-122"/>
                <a:ea typeface="思源黑体" panose="020B0500000000000000" pitchFamily="34" charset="-122"/>
                <a:sym typeface="+mn-lt"/>
              </a:rPr>
              <a:t>命令参数</a:t>
            </a:r>
            <a:r>
              <a:rPr lang="en-US" altLang="zh-CN" sz="3600" b="1" dirty="0" smtClean="0">
                <a:solidFill>
                  <a:schemeClr val="bg1"/>
                </a:solidFill>
                <a:latin typeface="思源黑体" panose="020B0500000000000000" pitchFamily="34" charset="-122"/>
                <a:ea typeface="思源黑体" panose="020B0500000000000000" pitchFamily="34" charset="-122"/>
              </a:rPr>
              <a:t> </a:t>
            </a:r>
            <a:endParaRPr lang="en-US" altLang="zh-CN" sz="3600" b="1" dirty="0">
              <a:solidFill>
                <a:schemeClr val="bg1"/>
              </a:solidFill>
              <a:latin typeface="思源黑体" panose="020B0500000000000000" pitchFamily="34" charset="-122"/>
              <a:ea typeface="思源黑体" panose="020B0500000000000000" pitchFamily="34" charset="-122"/>
            </a:endParaRPr>
          </a:p>
        </p:txBody>
      </p:sp>
      <p:grpSp>
        <p:nvGrpSpPr>
          <p:cNvPr id="41" name="组合 40"/>
          <p:cNvGrpSpPr/>
          <p:nvPr/>
        </p:nvGrpSpPr>
        <p:grpSpPr>
          <a:xfrm>
            <a:off x="1822608" y="1985811"/>
            <a:ext cx="2114741" cy="2697003"/>
            <a:chOff x="1041891" y="2887277"/>
            <a:chExt cx="1036261" cy="1321580"/>
          </a:xfrm>
        </p:grpSpPr>
        <p:sp>
          <p:nvSpPr>
            <p:cNvPr id="42" name="Oval 53"/>
            <p:cNvSpPr>
              <a:spLocks noChangeArrowheads="1"/>
            </p:cNvSpPr>
            <p:nvPr/>
          </p:nvSpPr>
          <p:spPr bwMode="auto">
            <a:xfrm>
              <a:off x="1041891" y="2887277"/>
              <a:ext cx="1036261" cy="1036518"/>
            </a:xfrm>
            <a:prstGeom prst="ellipse">
              <a:avLst/>
            </a:prstGeom>
            <a:solidFill>
              <a:srgbClr val="0070C0"/>
            </a:solidFill>
            <a:ln w="88900">
              <a:gradFill flip="none" rotWithShape="1">
                <a:gsLst>
                  <a:gs pos="0">
                    <a:srgbClr val="FFFFFF"/>
                  </a:gs>
                  <a:gs pos="100000">
                    <a:srgbClr val="D9D9DA"/>
                  </a:gs>
                </a:gsLst>
                <a:lin ang="2700000" scaled="0"/>
                <a:tileRect/>
              </a:grad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endParaRPr lang="zh-CN" altLang="en-US" sz="5865">
                <a:latin typeface="思源黑体" panose="020B0500000000000000" pitchFamily="34" charset="-122"/>
                <a:ea typeface="思源黑体" panose="020B0500000000000000" pitchFamily="34" charset="-122"/>
              </a:endParaRPr>
            </a:p>
          </p:txBody>
        </p:sp>
        <p:sp>
          <p:nvSpPr>
            <p:cNvPr id="43" name="Text Box 58"/>
            <p:cNvSpPr txBox="1">
              <a:spLocks noChangeArrowheads="1"/>
            </p:cNvSpPr>
            <p:nvPr/>
          </p:nvSpPr>
          <p:spPr bwMode="auto">
            <a:xfrm>
              <a:off x="1159958" y="3077737"/>
              <a:ext cx="782803" cy="11311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lIns="91440" tIns="45720" rIns="91440" bIns="45720">
              <a:spAutoFit/>
            </a:bodyPr>
            <a:lstStyle/>
            <a:p>
              <a:pPr algn="ctr"/>
              <a:r>
                <a:rPr lang="en-US" altLang="zh-CN" sz="5000" b="1" dirty="0">
                  <a:solidFill>
                    <a:schemeClr val="bg1"/>
                  </a:solidFill>
                  <a:latin typeface="Calibri" panose="020F0502020204030204" pitchFamily="34" charset="0"/>
                  <a:ea typeface="华文琥珀" panose="02010800040101010101" pitchFamily="2" charset="-122"/>
                  <a:cs typeface="Calibri" panose="020F0502020204030204" pitchFamily="34" charset="0"/>
                </a:rPr>
                <a:t>PART  </a:t>
              </a:r>
              <a:r>
                <a:rPr lang="en-US" altLang="zh-CN" sz="5000" b="1" dirty="0" smtClean="0">
                  <a:solidFill>
                    <a:schemeClr val="bg1"/>
                  </a:solidFill>
                  <a:latin typeface="Calibri" panose="020F0502020204030204" pitchFamily="34" charset="0"/>
                  <a:ea typeface="华文琥珀" panose="02010800040101010101" pitchFamily="2" charset="-122"/>
                  <a:cs typeface="Calibri" panose="020F0502020204030204" pitchFamily="34" charset="0"/>
                </a:rPr>
                <a:t>2</a:t>
              </a:r>
              <a:endParaRPr lang="en-US" altLang="zh-CN" sz="5000" b="1" dirty="0">
                <a:solidFill>
                  <a:schemeClr val="bg1"/>
                </a:solidFill>
                <a:latin typeface="Calibri" panose="020F0502020204030204" pitchFamily="34" charset="0"/>
                <a:ea typeface="华文琥珀" panose="02010800040101010101" pitchFamily="2" charset="-122"/>
                <a:cs typeface="Calibri" panose="020F0502020204030204" pitchFamily="34" charset="0"/>
              </a:endParaRPr>
            </a:p>
            <a:p>
              <a:pPr algn="ctr"/>
              <a:r>
                <a:rPr lang="en-US" altLang="zh-CN" sz="4400" dirty="0" smtClean="0">
                  <a:solidFill>
                    <a:schemeClr val="bg1"/>
                  </a:solidFill>
                  <a:latin typeface="Calibri" panose="020F0502020204030204" pitchFamily="34" charset="0"/>
                  <a:ea typeface="思源黑体" panose="020B0500000000000000" pitchFamily="34" charset="-122"/>
                  <a:cs typeface="Calibri" panose="020F0502020204030204" pitchFamily="34" charset="0"/>
                </a:rPr>
                <a:t> </a:t>
              </a:r>
              <a:endParaRPr lang="en-US" altLang="zh-CN" sz="4400" dirty="0">
                <a:solidFill>
                  <a:schemeClr val="bg1"/>
                </a:solidFill>
                <a:latin typeface="Calibri" panose="020F0502020204030204" pitchFamily="34" charset="0"/>
                <a:ea typeface="思源黑体" panose="020B0500000000000000" pitchFamily="34" charset="-122"/>
                <a:cs typeface="Calibri" panose="020F0502020204030204" pitchFamily="34" charset="0"/>
              </a:endParaRPr>
            </a:p>
          </p:txBody>
        </p:sp>
      </p:grpSp>
      <p:sp>
        <p:nvSpPr>
          <p:cNvPr id="44" name="矩形 43"/>
          <p:cNvSpPr/>
          <p:nvPr/>
        </p:nvSpPr>
        <p:spPr>
          <a:xfrm>
            <a:off x="4524489" y="3801377"/>
            <a:ext cx="3214341" cy="369332"/>
          </a:xfrm>
          <a:prstGeom prst="rect">
            <a:avLst/>
          </a:prstGeom>
        </p:spPr>
        <p:txBody>
          <a:bodyPr wrap="none">
            <a:spAutoFit/>
          </a:bodyPr>
          <a:lstStyle/>
          <a:p>
            <a:r>
              <a:rPr lang="en-US" altLang="zh-CN" sz="1800" b="1" dirty="0" smtClean="0">
                <a:solidFill>
                  <a:srgbClr val="0070C0"/>
                </a:solidFill>
                <a:latin typeface="思源黑体" panose="020B0500000000000000" pitchFamily="34" charset="-122"/>
                <a:ea typeface="思源黑体" panose="020B0500000000000000" pitchFamily="34" charset="-122"/>
              </a:rPr>
              <a:t>1</a:t>
            </a:r>
            <a:r>
              <a:rPr lang="zh-CN" altLang="en-US" sz="1800" b="1" dirty="0" smtClean="0">
                <a:solidFill>
                  <a:srgbClr val="0070C0"/>
                </a:solidFill>
                <a:latin typeface="思源黑体" panose="020B0500000000000000" pitchFamily="34" charset="-122"/>
                <a:ea typeface="思源黑体" panose="020B0500000000000000" pitchFamily="34" charset="-122"/>
              </a:rPr>
              <a:t>、</a:t>
            </a:r>
            <a:r>
              <a:rPr lang="en-US" altLang="zh-CN" sz="1800" b="1" dirty="0" err="1" smtClean="0">
                <a:solidFill>
                  <a:srgbClr val="0070C0"/>
                </a:solidFill>
                <a:latin typeface="思源黑体" panose="020B0500000000000000" pitchFamily="34" charset="-122"/>
                <a:ea typeface="思源黑体" panose="020B0500000000000000" pitchFamily="34" charset="-122"/>
              </a:rPr>
              <a:t>Iptables</a:t>
            </a:r>
            <a:r>
              <a:rPr lang="zh-CN" altLang="en-US" sz="1800" b="1" dirty="0" smtClean="0">
                <a:solidFill>
                  <a:srgbClr val="0070C0"/>
                </a:solidFill>
                <a:latin typeface="思源黑体" panose="020B0500000000000000" pitchFamily="34" charset="-122"/>
                <a:ea typeface="思源黑体" panose="020B0500000000000000" pitchFamily="34" charset="-122"/>
              </a:rPr>
              <a:t>命令的格式</a:t>
            </a:r>
            <a:r>
              <a:rPr lang="en-US" altLang="zh-CN" sz="1800" b="1" dirty="0" smtClean="0">
                <a:solidFill>
                  <a:srgbClr val="0070C0"/>
                </a:solidFill>
                <a:latin typeface="思源黑体" panose="020B0500000000000000" pitchFamily="34" charset="-122"/>
                <a:ea typeface="思源黑体" panose="020B0500000000000000" pitchFamily="34" charset="-122"/>
              </a:rPr>
              <a:t>/</a:t>
            </a:r>
            <a:r>
              <a:rPr lang="zh-CN" altLang="en-US" sz="1800" b="1" dirty="0" smtClean="0">
                <a:solidFill>
                  <a:srgbClr val="0070C0"/>
                </a:solidFill>
                <a:latin typeface="思源黑体" panose="020B0500000000000000" pitchFamily="34" charset="-122"/>
                <a:ea typeface="思源黑体" panose="020B0500000000000000" pitchFamily="34" charset="-122"/>
              </a:rPr>
              <a:t>组成</a:t>
            </a:r>
            <a:endParaRPr lang="zh-CN" altLang="en-US" sz="1800" b="1" dirty="0">
              <a:solidFill>
                <a:srgbClr val="0070C0"/>
              </a:solidFill>
            </a:endParaRPr>
          </a:p>
        </p:txBody>
      </p:sp>
      <p:grpSp>
        <p:nvGrpSpPr>
          <p:cNvPr id="45" name="组合 44"/>
          <p:cNvGrpSpPr/>
          <p:nvPr/>
        </p:nvGrpSpPr>
        <p:grpSpPr>
          <a:xfrm>
            <a:off x="10729790" y="2540217"/>
            <a:ext cx="1145728" cy="1261160"/>
            <a:chOff x="1696902" y="1658204"/>
            <a:chExt cx="1357422" cy="1785621"/>
          </a:xfrm>
        </p:grpSpPr>
        <p:grpSp>
          <p:nvGrpSpPr>
            <p:cNvPr id="46" name="组合 45"/>
            <p:cNvGrpSpPr/>
            <p:nvPr/>
          </p:nvGrpSpPr>
          <p:grpSpPr>
            <a:xfrm>
              <a:off x="1696902" y="1658204"/>
              <a:ext cx="1357422" cy="1785621"/>
              <a:chOff x="1434530" y="1923678"/>
              <a:chExt cx="875843" cy="1152128"/>
            </a:xfrm>
          </p:grpSpPr>
          <p:sp>
            <p:nvSpPr>
              <p:cNvPr id="51" name="椭圆 2"/>
              <p:cNvSpPr/>
              <p:nvPr/>
            </p:nvSpPr>
            <p:spPr>
              <a:xfrm rot="1761192">
                <a:off x="1734309" y="1923678"/>
                <a:ext cx="576064" cy="1152128"/>
              </a:xfrm>
              <a:custGeom>
                <a:avLst/>
                <a:gdLst/>
                <a:ahLst/>
                <a:cxnLst/>
                <a:rect l="l" t="t" r="r" b="b"/>
                <a:pathLst>
                  <a:path w="576064" h="1152128">
                    <a:moveTo>
                      <a:pt x="0" y="0"/>
                    </a:moveTo>
                    <a:cubicBezTo>
                      <a:pt x="318151" y="0"/>
                      <a:pt x="576064" y="257913"/>
                      <a:pt x="576064" y="576064"/>
                    </a:cubicBezTo>
                    <a:cubicBezTo>
                      <a:pt x="576064" y="894215"/>
                      <a:pt x="318151" y="1152128"/>
                      <a:pt x="0" y="1152128"/>
                    </a:cubicBezTo>
                    <a:close/>
                  </a:path>
                </a:pathLst>
              </a:custGeom>
              <a:solidFill>
                <a:srgbClr val="EAEAEA">
                  <a:alpha val="30196"/>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49" name="TextBox 4"/>
              <p:cNvSpPr txBox="1"/>
              <p:nvPr/>
            </p:nvSpPr>
            <p:spPr>
              <a:xfrm>
                <a:off x="1434530" y="2496128"/>
                <a:ext cx="728783" cy="42175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endParaRPr>
              </a:p>
            </p:txBody>
          </p:sp>
        </p:grpSp>
        <p:sp>
          <p:nvSpPr>
            <p:cNvPr id="47" name="Freeform 14"/>
            <p:cNvSpPr>
              <a:spLocks noEditPoints="1"/>
            </p:cNvSpPr>
            <p:nvPr/>
          </p:nvSpPr>
          <p:spPr bwMode="auto">
            <a:xfrm>
              <a:off x="2001870" y="1860853"/>
              <a:ext cx="824533" cy="812699"/>
            </a:xfrm>
            <a:custGeom>
              <a:avLst/>
              <a:gdLst>
                <a:gd name="T0" fmla="*/ 221450 w 427"/>
                <a:gd name="T1" fmla="*/ 125841 h 408"/>
                <a:gd name="T2" fmla="*/ 216788 w 427"/>
                <a:gd name="T3" fmla="*/ 135459 h 408"/>
                <a:gd name="T4" fmla="*/ 216011 w 427"/>
                <a:gd name="T5" fmla="*/ 141871 h 408"/>
                <a:gd name="T6" fmla="*/ 216011 w 427"/>
                <a:gd name="T7" fmla="*/ 153894 h 408"/>
                <a:gd name="T8" fmla="*/ 220673 w 427"/>
                <a:gd name="T9" fmla="*/ 165917 h 408"/>
                <a:gd name="T10" fmla="*/ 223781 w 427"/>
                <a:gd name="T11" fmla="*/ 171528 h 408"/>
                <a:gd name="T12" fmla="*/ 233106 w 427"/>
                <a:gd name="T13" fmla="*/ 179543 h 408"/>
                <a:gd name="T14" fmla="*/ 239322 w 427"/>
                <a:gd name="T15" fmla="*/ 182749 h 408"/>
                <a:gd name="T16" fmla="*/ 252531 w 427"/>
                <a:gd name="T17" fmla="*/ 109008 h 408"/>
                <a:gd name="T18" fmla="*/ 236991 w 427"/>
                <a:gd name="T19" fmla="*/ 112214 h 408"/>
                <a:gd name="T20" fmla="*/ 228444 w 427"/>
                <a:gd name="T21" fmla="*/ 117825 h 408"/>
                <a:gd name="T22" fmla="*/ 224558 w 427"/>
                <a:gd name="T23" fmla="*/ 121833 h 408"/>
                <a:gd name="T24" fmla="*/ 202802 w 427"/>
                <a:gd name="T25" fmla="*/ 37672 h 408"/>
                <a:gd name="T26" fmla="*/ 165505 w 427"/>
                <a:gd name="T27" fmla="*/ 76146 h 408"/>
                <a:gd name="T28" fmla="*/ 200471 w 427"/>
                <a:gd name="T29" fmla="*/ 153894 h 408"/>
                <a:gd name="T30" fmla="*/ 200471 w 427"/>
                <a:gd name="T31" fmla="*/ 138665 h 408"/>
                <a:gd name="T32" fmla="*/ 189593 w 427"/>
                <a:gd name="T33" fmla="*/ 83359 h 408"/>
                <a:gd name="T34" fmla="*/ 131316 w 427"/>
                <a:gd name="T35" fmla="*/ 146680 h 408"/>
                <a:gd name="T36" fmla="*/ 165505 w 427"/>
                <a:gd name="T37" fmla="*/ 215612 h 408"/>
                <a:gd name="T38" fmla="*/ 149188 w 427"/>
                <a:gd name="T39" fmla="*/ 218017 h 408"/>
                <a:gd name="T40" fmla="*/ 140640 w 427"/>
                <a:gd name="T41" fmla="*/ 208398 h 408"/>
                <a:gd name="T42" fmla="*/ 135201 w 427"/>
                <a:gd name="T43" fmla="*/ 203589 h 408"/>
                <a:gd name="T44" fmla="*/ 112668 w 427"/>
                <a:gd name="T45" fmla="*/ 193971 h 408"/>
                <a:gd name="T46" fmla="*/ 103343 w 427"/>
                <a:gd name="T47" fmla="*/ 193169 h 408"/>
                <a:gd name="T48" fmla="*/ 0 w 427"/>
                <a:gd name="T49" fmla="*/ 327025 h 408"/>
                <a:gd name="T50" fmla="*/ 43513 w 427"/>
                <a:gd name="T51" fmla="*/ 247673 h 408"/>
                <a:gd name="T52" fmla="*/ 113445 w 427"/>
                <a:gd name="T53" fmla="*/ 247673 h 408"/>
                <a:gd name="T54" fmla="*/ 158512 w 427"/>
                <a:gd name="T55" fmla="*/ 327025 h 408"/>
                <a:gd name="T56" fmla="*/ 149188 w 427"/>
                <a:gd name="T57" fmla="*/ 218017 h 408"/>
                <a:gd name="T58" fmla="*/ 228444 w 427"/>
                <a:gd name="T59" fmla="*/ 193169 h 408"/>
                <a:gd name="T60" fmla="*/ 218342 w 427"/>
                <a:gd name="T61" fmla="*/ 193971 h 408"/>
                <a:gd name="T62" fmla="*/ 190370 w 427"/>
                <a:gd name="T63" fmla="*/ 208398 h 408"/>
                <a:gd name="T64" fmla="*/ 186484 w 427"/>
                <a:gd name="T65" fmla="*/ 213207 h 408"/>
                <a:gd name="T66" fmla="*/ 205133 w 427"/>
                <a:gd name="T67" fmla="*/ 327025 h 408"/>
                <a:gd name="T68" fmla="*/ 216788 w 427"/>
                <a:gd name="T69" fmla="*/ 327025 h 408"/>
                <a:gd name="T70" fmla="*/ 298375 w 427"/>
                <a:gd name="T71" fmla="*/ 247673 h 408"/>
                <a:gd name="T72" fmla="*/ 331787 w 427"/>
                <a:gd name="T73" fmla="*/ 250879 h 408"/>
                <a:gd name="T74" fmla="*/ 79256 w 427"/>
                <a:gd name="T75" fmla="*/ 185154 h 408"/>
                <a:gd name="T76" fmla="*/ 97904 w 427"/>
                <a:gd name="T77" fmla="*/ 179543 h 408"/>
                <a:gd name="T78" fmla="*/ 103343 w 427"/>
                <a:gd name="T79" fmla="*/ 176337 h 408"/>
                <a:gd name="T80" fmla="*/ 113445 w 427"/>
                <a:gd name="T81" fmla="*/ 160306 h 408"/>
                <a:gd name="T82" fmla="*/ 115776 w 427"/>
                <a:gd name="T83" fmla="*/ 153093 h 408"/>
                <a:gd name="T84" fmla="*/ 115776 w 427"/>
                <a:gd name="T85" fmla="*/ 140268 h 408"/>
                <a:gd name="T86" fmla="*/ 112668 w 427"/>
                <a:gd name="T87" fmla="*/ 131451 h 408"/>
                <a:gd name="T88" fmla="*/ 110337 w 427"/>
                <a:gd name="T89" fmla="*/ 125841 h 408"/>
                <a:gd name="T90" fmla="*/ 103343 w 427"/>
                <a:gd name="T91" fmla="*/ 117825 h 408"/>
                <a:gd name="T92" fmla="*/ 97904 w 427"/>
                <a:gd name="T93" fmla="*/ 114619 h 408"/>
                <a:gd name="T94" fmla="*/ 79256 w 427"/>
                <a:gd name="T95" fmla="*/ 109008 h 40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427" h="408">
                  <a:moveTo>
                    <a:pt x="289" y="152"/>
                  </a:moveTo>
                  <a:cubicBezTo>
                    <a:pt x="288" y="154"/>
                    <a:pt x="286" y="155"/>
                    <a:pt x="285" y="157"/>
                  </a:cubicBezTo>
                  <a:cubicBezTo>
                    <a:pt x="285" y="157"/>
                    <a:pt x="285" y="157"/>
                    <a:pt x="285" y="157"/>
                  </a:cubicBezTo>
                  <a:cubicBezTo>
                    <a:pt x="284" y="159"/>
                    <a:pt x="283" y="161"/>
                    <a:pt x="282" y="162"/>
                  </a:cubicBezTo>
                  <a:cubicBezTo>
                    <a:pt x="282" y="163"/>
                    <a:pt x="282" y="163"/>
                    <a:pt x="282" y="164"/>
                  </a:cubicBezTo>
                  <a:cubicBezTo>
                    <a:pt x="281" y="165"/>
                    <a:pt x="280" y="167"/>
                    <a:pt x="279" y="169"/>
                  </a:cubicBezTo>
                  <a:cubicBezTo>
                    <a:pt x="279" y="169"/>
                    <a:pt x="279" y="169"/>
                    <a:pt x="279" y="170"/>
                  </a:cubicBezTo>
                  <a:cubicBezTo>
                    <a:pt x="279" y="171"/>
                    <a:pt x="278" y="173"/>
                    <a:pt x="278" y="175"/>
                  </a:cubicBezTo>
                  <a:cubicBezTo>
                    <a:pt x="278" y="176"/>
                    <a:pt x="278" y="176"/>
                    <a:pt x="278" y="177"/>
                  </a:cubicBezTo>
                  <a:cubicBezTo>
                    <a:pt x="277" y="179"/>
                    <a:pt x="277" y="181"/>
                    <a:pt x="277" y="183"/>
                  </a:cubicBezTo>
                  <a:cubicBezTo>
                    <a:pt x="277" y="186"/>
                    <a:pt x="278" y="189"/>
                    <a:pt x="278" y="191"/>
                  </a:cubicBezTo>
                  <a:cubicBezTo>
                    <a:pt x="278" y="192"/>
                    <a:pt x="278" y="192"/>
                    <a:pt x="278" y="192"/>
                  </a:cubicBezTo>
                  <a:cubicBezTo>
                    <a:pt x="279" y="195"/>
                    <a:pt x="279" y="197"/>
                    <a:pt x="280" y="199"/>
                  </a:cubicBezTo>
                  <a:cubicBezTo>
                    <a:pt x="280" y="200"/>
                    <a:pt x="280" y="200"/>
                    <a:pt x="280" y="200"/>
                  </a:cubicBezTo>
                  <a:cubicBezTo>
                    <a:pt x="281" y="203"/>
                    <a:pt x="282" y="205"/>
                    <a:pt x="284" y="207"/>
                  </a:cubicBezTo>
                  <a:cubicBezTo>
                    <a:pt x="284" y="207"/>
                    <a:pt x="284" y="208"/>
                    <a:pt x="284" y="208"/>
                  </a:cubicBezTo>
                  <a:cubicBezTo>
                    <a:pt x="285" y="210"/>
                    <a:pt x="287" y="212"/>
                    <a:pt x="288" y="214"/>
                  </a:cubicBezTo>
                  <a:cubicBezTo>
                    <a:pt x="288" y="214"/>
                    <a:pt x="288" y="214"/>
                    <a:pt x="288" y="214"/>
                  </a:cubicBezTo>
                  <a:cubicBezTo>
                    <a:pt x="290" y="216"/>
                    <a:pt x="292" y="218"/>
                    <a:pt x="294" y="219"/>
                  </a:cubicBezTo>
                  <a:cubicBezTo>
                    <a:pt x="294" y="219"/>
                    <a:pt x="294" y="220"/>
                    <a:pt x="294" y="220"/>
                  </a:cubicBezTo>
                  <a:cubicBezTo>
                    <a:pt x="296" y="221"/>
                    <a:pt x="298" y="223"/>
                    <a:pt x="300" y="224"/>
                  </a:cubicBezTo>
                  <a:cubicBezTo>
                    <a:pt x="300" y="224"/>
                    <a:pt x="301" y="224"/>
                    <a:pt x="301" y="224"/>
                  </a:cubicBezTo>
                  <a:cubicBezTo>
                    <a:pt x="303" y="226"/>
                    <a:pt x="305" y="227"/>
                    <a:pt x="308" y="228"/>
                  </a:cubicBezTo>
                  <a:cubicBezTo>
                    <a:pt x="308" y="228"/>
                    <a:pt x="308" y="228"/>
                    <a:pt x="308" y="228"/>
                  </a:cubicBezTo>
                  <a:cubicBezTo>
                    <a:pt x="313" y="230"/>
                    <a:pt x="319" y="231"/>
                    <a:pt x="325" y="231"/>
                  </a:cubicBezTo>
                  <a:cubicBezTo>
                    <a:pt x="351" y="231"/>
                    <a:pt x="372" y="210"/>
                    <a:pt x="372" y="183"/>
                  </a:cubicBezTo>
                  <a:cubicBezTo>
                    <a:pt x="372" y="157"/>
                    <a:pt x="351" y="136"/>
                    <a:pt x="325" y="136"/>
                  </a:cubicBezTo>
                  <a:cubicBezTo>
                    <a:pt x="318" y="136"/>
                    <a:pt x="312" y="137"/>
                    <a:pt x="306" y="140"/>
                  </a:cubicBezTo>
                  <a:cubicBezTo>
                    <a:pt x="306" y="140"/>
                    <a:pt x="306" y="140"/>
                    <a:pt x="306" y="140"/>
                  </a:cubicBezTo>
                  <a:cubicBezTo>
                    <a:pt x="306" y="140"/>
                    <a:pt x="306" y="140"/>
                    <a:pt x="305" y="140"/>
                  </a:cubicBezTo>
                  <a:cubicBezTo>
                    <a:pt x="304" y="141"/>
                    <a:pt x="302" y="142"/>
                    <a:pt x="301" y="143"/>
                  </a:cubicBezTo>
                  <a:cubicBezTo>
                    <a:pt x="300" y="143"/>
                    <a:pt x="300" y="143"/>
                    <a:pt x="299" y="143"/>
                  </a:cubicBezTo>
                  <a:cubicBezTo>
                    <a:pt x="298" y="144"/>
                    <a:pt x="296" y="146"/>
                    <a:pt x="294" y="147"/>
                  </a:cubicBezTo>
                  <a:cubicBezTo>
                    <a:pt x="294" y="147"/>
                    <a:pt x="294" y="147"/>
                    <a:pt x="294" y="147"/>
                  </a:cubicBezTo>
                  <a:cubicBezTo>
                    <a:pt x="293" y="148"/>
                    <a:pt x="291" y="150"/>
                    <a:pt x="290" y="151"/>
                  </a:cubicBezTo>
                  <a:cubicBezTo>
                    <a:pt x="290" y="151"/>
                    <a:pt x="289" y="152"/>
                    <a:pt x="289" y="152"/>
                  </a:cubicBezTo>
                  <a:close/>
                  <a:moveTo>
                    <a:pt x="213" y="95"/>
                  </a:moveTo>
                  <a:lnTo>
                    <a:pt x="213" y="95"/>
                  </a:lnTo>
                  <a:cubicBezTo>
                    <a:pt x="240" y="95"/>
                    <a:pt x="261" y="73"/>
                    <a:pt x="261" y="47"/>
                  </a:cubicBezTo>
                  <a:cubicBezTo>
                    <a:pt x="261" y="21"/>
                    <a:pt x="240" y="0"/>
                    <a:pt x="213" y="0"/>
                  </a:cubicBezTo>
                  <a:cubicBezTo>
                    <a:pt x="187" y="0"/>
                    <a:pt x="166" y="21"/>
                    <a:pt x="166" y="47"/>
                  </a:cubicBezTo>
                  <a:cubicBezTo>
                    <a:pt x="166" y="73"/>
                    <a:pt x="187" y="95"/>
                    <a:pt x="213" y="95"/>
                  </a:cubicBezTo>
                  <a:close/>
                  <a:moveTo>
                    <a:pt x="258" y="228"/>
                  </a:moveTo>
                  <a:lnTo>
                    <a:pt x="258" y="228"/>
                  </a:lnTo>
                  <a:lnTo>
                    <a:pt x="258" y="192"/>
                  </a:lnTo>
                  <a:cubicBezTo>
                    <a:pt x="258" y="189"/>
                    <a:pt x="257" y="186"/>
                    <a:pt x="257" y="183"/>
                  </a:cubicBezTo>
                  <a:cubicBezTo>
                    <a:pt x="257" y="180"/>
                    <a:pt x="258" y="178"/>
                    <a:pt x="258" y="175"/>
                  </a:cubicBezTo>
                  <a:lnTo>
                    <a:pt x="258" y="173"/>
                  </a:lnTo>
                  <a:cubicBezTo>
                    <a:pt x="262" y="151"/>
                    <a:pt x="275" y="134"/>
                    <a:pt x="293" y="124"/>
                  </a:cubicBezTo>
                  <a:cubicBezTo>
                    <a:pt x="280" y="112"/>
                    <a:pt x="263" y="104"/>
                    <a:pt x="244" y="104"/>
                  </a:cubicBezTo>
                  <a:lnTo>
                    <a:pt x="183" y="104"/>
                  </a:lnTo>
                  <a:cubicBezTo>
                    <a:pt x="164" y="104"/>
                    <a:pt x="147" y="112"/>
                    <a:pt x="134" y="124"/>
                  </a:cubicBezTo>
                  <a:cubicBezTo>
                    <a:pt x="155" y="135"/>
                    <a:pt x="169" y="158"/>
                    <a:pt x="169" y="183"/>
                  </a:cubicBezTo>
                  <a:cubicBezTo>
                    <a:pt x="169" y="189"/>
                    <a:pt x="169" y="194"/>
                    <a:pt x="168" y="199"/>
                  </a:cubicBezTo>
                  <a:lnTo>
                    <a:pt x="168" y="228"/>
                  </a:lnTo>
                  <a:cubicBezTo>
                    <a:pt x="187" y="236"/>
                    <a:pt x="203" y="251"/>
                    <a:pt x="213" y="269"/>
                  </a:cubicBezTo>
                  <a:cubicBezTo>
                    <a:pt x="223" y="251"/>
                    <a:pt x="239" y="237"/>
                    <a:pt x="258" y="228"/>
                  </a:cubicBezTo>
                  <a:close/>
                  <a:moveTo>
                    <a:pt x="192" y="272"/>
                  </a:moveTo>
                  <a:lnTo>
                    <a:pt x="192" y="272"/>
                  </a:lnTo>
                  <a:cubicBezTo>
                    <a:pt x="190" y="270"/>
                    <a:pt x="189" y="268"/>
                    <a:pt x="187" y="266"/>
                  </a:cubicBezTo>
                  <a:cubicBezTo>
                    <a:pt x="187" y="265"/>
                    <a:pt x="186" y="265"/>
                    <a:pt x="186" y="265"/>
                  </a:cubicBezTo>
                  <a:cubicBezTo>
                    <a:pt x="185" y="263"/>
                    <a:pt x="183" y="262"/>
                    <a:pt x="181" y="260"/>
                  </a:cubicBezTo>
                  <a:cubicBezTo>
                    <a:pt x="181" y="260"/>
                    <a:pt x="181" y="259"/>
                    <a:pt x="181" y="259"/>
                  </a:cubicBezTo>
                  <a:cubicBezTo>
                    <a:pt x="179" y="258"/>
                    <a:pt x="177" y="256"/>
                    <a:pt x="175" y="255"/>
                  </a:cubicBezTo>
                  <a:cubicBezTo>
                    <a:pt x="175" y="255"/>
                    <a:pt x="175" y="254"/>
                    <a:pt x="174" y="254"/>
                  </a:cubicBezTo>
                  <a:cubicBezTo>
                    <a:pt x="168" y="250"/>
                    <a:pt x="161" y="246"/>
                    <a:pt x="153" y="244"/>
                  </a:cubicBezTo>
                  <a:cubicBezTo>
                    <a:pt x="151" y="243"/>
                    <a:pt x="150" y="243"/>
                    <a:pt x="148" y="242"/>
                  </a:cubicBezTo>
                  <a:cubicBezTo>
                    <a:pt x="147" y="242"/>
                    <a:pt x="146" y="242"/>
                    <a:pt x="145" y="242"/>
                  </a:cubicBezTo>
                  <a:cubicBezTo>
                    <a:pt x="144" y="242"/>
                    <a:pt x="143" y="241"/>
                    <a:pt x="141" y="241"/>
                  </a:cubicBezTo>
                  <a:cubicBezTo>
                    <a:pt x="141" y="241"/>
                    <a:pt x="140" y="241"/>
                    <a:pt x="139" y="241"/>
                  </a:cubicBezTo>
                  <a:cubicBezTo>
                    <a:pt x="137" y="241"/>
                    <a:pt x="135" y="241"/>
                    <a:pt x="133" y="241"/>
                  </a:cubicBezTo>
                  <a:lnTo>
                    <a:pt x="71" y="241"/>
                  </a:lnTo>
                  <a:cubicBezTo>
                    <a:pt x="32" y="241"/>
                    <a:pt x="0" y="273"/>
                    <a:pt x="0" y="313"/>
                  </a:cubicBezTo>
                  <a:lnTo>
                    <a:pt x="0" y="408"/>
                  </a:lnTo>
                  <a:lnTo>
                    <a:pt x="42" y="408"/>
                  </a:lnTo>
                  <a:lnTo>
                    <a:pt x="42" y="309"/>
                  </a:lnTo>
                  <a:lnTo>
                    <a:pt x="56" y="309"/>
                  </a:lnTo>
                  <a:lnTo>
                    <a:pt x="56" y="408"/>
                  </a:lnTo>
                  <a:lnTo>
                    <a:pt x="146" y="408"/>
                  </a:lnTo>
                  <a:lnTo>
                    <a:pt x="146" y="309"/>
                  </a:lnTo>
                  <a:lnTo>
                    <a:pt x="161" y="309"/>
                  </a:lnTo>
                  <a:lnTo>
                    <a:pt x="161" y="408"/>
                  </a:lnTo>
                  <a:lnTo>
                    <a:pt x="204" y="408"/>
                  </a:lnTo>
                  <a:lnTo>
                    <a:pt x="204" y="313"/>
                  </a:lnTo>
                  <a:cubicBezTo>
                    <a:pt x="204" y="297"/>
                    <a:pt x="200" y="283"/>
                    <a:pt x="192" y="272"/>
                  </a:cubicBezTo>
                  <a:cubicBezTo>
                    <a:pt x="192" y="272"/>
                    <a:pt x="192" y="272"/>
                    <a:pt x="192" y="272"/>
                  </a:cubicBezTo>
                  <a:close/>
                  <a:moveTo>
                    <a:pt x="355" y="241"/>
                  </a:moveTo>
                  <a:lnTo>
                    <a:pt x="355" y="241"/>
                  </a:lnTo>
                  <a:lnTo>
                    <a:pt x="294" y="241"/>
                  </a:lnTo>
                  <a:cubicBezTo>
                    <a:pt x="292" y="241"/>
                    <a:pt x="290" y="241"/>
                    <a:pt x="288" y="241"/>
                  </a:cubicBezTo>
                  <a:cubicBezTo>
                    <a:pt x="287" y="241"/>
                    <a:pt x="286" y="241"/>
                    <a:pt x="285" y="241"/>
                  </a:cubicBezTo>
                  <a:cubicBezTo>
                    <a:pt x="284" y="241"/>
                    <a:pt x="283" y="242"/>
                    <a:pt x="281" y="242"/>
                  </a:cubicBezTo>
                  <a:cubicBezTo>
                    <a:pt x="280" y="242"/>
                    <a:pt x="280" y="242"/>
                    <a:pt x="279" y="242"/>
                  </a:cubicBezTo>
                  <a:cubicBezTo>
                    <a:pt x="277" y="243"/>
                    <a:pt x="276" y="243"/>
                    <a:pt x="274" y="244"/>
                  </a:cubicBezTo>
                  <a:cubicBezTo>
                    <a:pt x="263" y="247"/>
                    <a:pt x="254" y="252"/>
                    <a:pt x="245" y="260"/>
                  </a:cubicBezTo>
                  <a:cubicBezTo>
                    <a:pt x="245" y="260"/>
                    <a:pt x="245" y="260"/>
                    <a:pt x="245" y="260"/>
                  </a:cubicBezTo>
                  <a:cubicBezTo>
                    <a:pt x="243" y="262"/>
                    <a:pt x="242" y="263"/>
                    <a:pt x="240" y="265"/>
                  </a:cubicBezTo>
                  <a:cubicBezTo>
                    <a:pt x="240" y="265"/>
                    <a:pt x="240" y="266"/>
                    <a:pt x="240" y="266"/>
                  </a:cubicBezTo>
                  <a:cubicBezTo>
                    <a:pt x="229" y="278"/>
                    <a:pt x="222" y="295"/>
                    <a:pt x="222" y="313"/>
                  </a:cubicBezTo>
                  <a:lnTo>
                    <a:pt x="222" y="408"/>
                  </a:lnTo>
                  <a:lnTo>
                    <a:pt x="264" y="408"/>
                  </a:lnTo>
                  <a:lnTo>
                    <a:pt x="264" y="309"/>
                  </a:lnTo>
                  <a:lnTo>
                    <a:pt x="279" y="309"/>
                  </a:lnTo>
                  <a:lnTo>
                    <a:pt x="279" y="408"/>
                  </a:lnTo>
                  <a:lnTo>
                    <a:pt x="369" y="408"/>
                  </a:lnTo>
                  <a:lnTo>
                    <a:pt x="369" y="309"/>
                  </a:lnTo>
                  <a:lnTo>
                    <a:pt x="384" y="309"/>
                  </a:lnTo>
                  <a:lnTo>
                    <a:pt x="384" y="408"/>
                  </a:lnTo>
                  <a:lnTo>
                    <a:pt x="427" y="408"/>
                  </a:lnTo>
                  <a:lnTo>
                    <a:pt x="427" y="313"/>
                  </a:lnTo>
                  <a:cubicBezTo>
                    <a:pt x="427" y="273"/>
                    <a:pt x="395" y="241"/>
                    <a:pt x="355" y="241"/>
                  </a:cubicBezTo>
                  <a:close/>
                  <a:moveTo>
                    <a:pt x="102" y="231"/>
                  </a:moveTo>
                  <a:lnTo>
                    <a:pt x="102" y="231"/>
                  </a:lnTo>
                  <a:cubicBezTo>
                    <a:pt x="108" y="231"/>
                    <a:pt x="114" y="230"/>
                    <a:pt x="119" y="228"/>
                  </a:cubicBezTo>
                  <a:cubicBezTo>
                    <a:pt x="119" y="228"/>
                    <a:pt x="119" y="228"/>
                    <a:pt x="119" y="228"/>
                  </a:cubicBezTo>
                  <a:cubicBezTo>
                    <a:pt x="122" y="227"/>
                    <a:pt x="124" y="226"/>
                    <a:pt x="126" y="224"/>
                  </a:cubicBezTo>
                  <a:cubicBezTo>
                    <a:pt x="126" y="224"/>
                    <a:pt x="126" y="224"/>
                    <a:pt x="126" y="224"/>
                  </a:cubicBezTo>
                  <a:cubicBezTo>
                    <a:pt x="129" y="223"/>
                    <a:pt x="131" y="221"/>
                    <a:pt x="133" y="220"/>
                  </a:cubicBezTo>
                  <a:cubicBezTo>
                    <a:pt x="133" y="220"/>
                    <a:pt x="133" y="220"/>
                    <a:pt x="133" y="220"/>
                  </a:cubicBezTo>
                  <a:cubicBezTo>
                    <a:pt x="137" y="216"/>
                    <a:pt x="140" y="212"/>
                    <a:pt x="143" y="208"/>
                  </a:cubicBezTo>
                  <a:cubicBezTo>
                    <a:pt x="143" y="207"/>
                    <a:pt x="143" y="207"/>
                    <a:pt x="143" y="207"/>
                  </a:cubicBezTo>
                  <a:cubicBezTo>
                    <a:pt x="144" y="205"/>
                    <a:pt x="145" y="203"/>
                    <a:pt x="146" y="200"/>
                  </a:cubicBezTo>
                  <a:cubicBezTo>
                    <a:pt x="146" y="200"/>
                    <a:pt x="147" y="200"/>
                    <a:pt x="147" y="199"/>
                  </a:cubicBezTo>
                  <a:cubicBezTo>
                    <a:pt x="148" y="197"/>
                    <a:pt x="148" y="195"/>
                    <a:pt x="149" y="192"/>
                  </a:cubicBezTo>
                  <a:cubicBezTo>
                    <a:pt x="149" y="192"/>
                    <a:pt x="149" y="192"/>
                    <a:pt x="149" y="191"/>
                  </a:cubicBezTo>
                  <a:cubicBezTo>
                    <a:pt x="149" y="189"/>
                    <a:pt x="150" y="186"/>
                    <a:pt x="150" y="183"/>
                  </a:cubicBezTo>
                  <a:cubicBezTo>
                    <a:pt x="150" y="181"/>
                    <a:pt x="149" y="179"/>
                    <a:pt x="149" y="177"/>
                  </a:cubicBezTo>
                  <a:cubicBezTo>
                    <a:pt x="149" y="176"/>
                    <a:pt x="149" y="176"/>
                    <a:pt x="149" y="175"/>
                  </a:cubicBezTo>
                  <a:cubicBezTo>
                    <a:pt x="148" y="173"/>
                    <a:pt x="148" y="171"/>
                    <a:pt x="147" y="169"/>
                  </a:cubicBezTo>
                  <a:cubicBezTo>
                    <a:pt x="147" y="169"/>
                    <a:pt x="147" y="169"/>
                    <a:pt x="147" y="169"/>
                  </a:cubicBezTo>
                  <a:cubicBezTo>
                    <a:pt x="147" y="167"/>
                    <a:pt x="146" y="165"/>
                    <a:pt x="145" y="164"/>
                  </a:cubicBezTo>
                  <a:cubicBezTo>
                    <a:pt x="145" y="163"/>
                    <a:pt x="145" y="163"/>
                    <a:pt x="145" y="162"/>
                  </a:cubicBezTo>
                  <a:cubicBezTo>
                    <a:pt x="144" y="161"/>
                    <a:pt x="143" y="159"/>
                    <a:pt x="142" y="157"/>
                  </a:cubicBezTo>
                  <a:cubicBezTo>
                    <a:pt x="140" y="155"/>
                    <a:pt x="139" y="154"/>
                    <a:pt x="138" y="152"/>
                  </a:cubicBezTo>
                  <a:cubicBezTo>
                    <a:pt x="137" y="152"/>
                    <a:pt x="137" y="151"/>
                    <a:pt x="137" y="151"/>
                  </a:cubicBezTo>
                  <a:cubicBezTo>
                    <a:pt x="136" y="150"/>
                    <a:pt x="134" y="148"/>
                    <a:pt x="133" y="147"/>
                  </a:cubicBezTo>
                  <a:cubicBezTo>
                    <a:pt x="133" y="147"/>
                    <a:pt x="133" y="147"/>
                    <a:pt x="132" y="147"/>
                  </a:cubicBezTo>
                  <a:cubicBezTo>
                    <a:pt x="131" y="146"/>
                    <a:pt x="129" y="144"/>
                    <a:pt x="127" y="143"/>
                  </a:cubicBezTo>
                  <a:cubicBezTo>
                    <a:pt x="127" y="143"/>
                    <a:pt x="127" y="143"/>
                    <a:pt x="126" y="143"/>
                  </a:cubicBezTo>
                  <a:cubicBezTo>
                    <a:pt x="125" y="142"/>
                    <a:pt x="123" y="141"/>
                    <a:pt x="121" y="140"/>
                  </a:cubicBezTo>
                  <a:cubicBezTo>
                    <a:pt x="121" y="140"/>
                    <a:pt x="121" y="140"/>
                    <a:pt x="121" y="140"/>
                  </a:cubicBezTo>
                  <a:cubicBezTo>
                    <a:pt x="115" y="137"/>
                    <a:pt x="109" y="136"/>
                    <a:pt x="102" y="136"/>
                  </a:cubicBezTo>
                  <a:cubicBezTo>
                    <a:pt x="76" y="136"/>
                    <a:pt x="54" y="157"/>
                    <a:pt x="54" y="183"/>
                  </a:cubicBezTo>
                  <a:cubicBezTo>
                    <a:pt x="54" y="210"/>
                    <a:pt x="76" y="231"/>
                    <a:pt x="102" y="231"/>
                  </a:cubicBezTo>
                  <a:close/>
                </a:path>
              </a:pathLst>
            </a:custGeom>
            <a:solidFill>
              <a:srgbClr val="FFFFFF"/>
            </a:solidFill>
            <a:ln>
              <a:noFill/>
            </a:ln>
            <a:extLst>
              <a:ext uri="{91240B29-F687-4F45-9708-019B960494DF}">
                <a14:hiddenLine xmlns=""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宋体" panose="02010600030101010101" pitchFamily="2" charset="-122"/>
              </a:endParaRPr>
            </a:p>
          </p:txBody>
        </p:sp>
      </p:grpSp>
      <p:grpSp>
        <p:nvGrpSpPr>
          <p:cNvPr id="52" name="组合 51"/>
          <p:cNvGrpSpPr/>
          <p:nvPr/>
        </p:nvGrpSpPr>
        <p:grpSpPr>
          <a:xfrm>
            <a:off x="8480942" y="1718343"/>
            <a:ext cx="546976" cy="540745"/>
            <a:chOff x="6084168" y="1274820"/>
            <a:chExt cx="432048" cy="432834"/>
          </a:xfrm>
        </p:grpSpPr>
        <p:sp>
          <p:nvSpPr>
            <p:cNvPr id="53"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54"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55" name="组合 54"/>
          <p:cNvGrpSpPr/>
          <p:nvPr/>
        </p:nvGrpSpPr>
        <p:grpSpPr>
          <a:xfrm>
            <a:off x="6852304" y="1718409"/>
            <a:ext cx="546976" cy="539763"/>
            <a:chOff x="4788024" y="1275213"/>
            <a:chExt cx="432048" cy="432048"/>
          </a:xfrm>
        </p:grpSpPr>
        <p:sp>
          <p:nvSpPr>
            <p:cNvPr id="56"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57"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58" name="组合 57"/>
          <p:cNvGrpSpPr/>
          <p:nvPr/>
        </p:nvGrpSpPr>
        <p:grpSpPr>
          <a:xfrm>
            <a:off x="7682935" y="1726745"/>
            <a:ext cx="547970" cy="540745"/>
            <a:chOff x="5436096" y="1274820"/>
            <a:chExt cx="432833" cy="432834"/>
          </a:xfrm>
        </p:grpSpPr>
        <p:sp>
          <p:nvSpPr>
            <p:cNvPr id="59" name="椭圆 58"/>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60"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61" name="组合 60"/>
          <p:cNvGrpSpPr/>
          <p:nvPr/>
        </p:nvGrpSpPr>
        <p:grpSpPr>
          <a:xfrm>
            <a:off x="5211987" y="1715437"/>
            <a:ext cx="547970" cy="540745"/>
            <a:chOff x="3491880" y="1274820"/>
            <a:chExt cx="432833" cy="432834"/>
          </a:xfrm>
        </p:grpSpPr>
        <p:sp>
          <p:nvSpPr>
            <p:cNvPr id="62"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63"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64" name="组合 63"/>
          <p:cNvGrpSpPr/>
          <p:nvPr/>
        </p:nvGrpSpPr>
        <p:grpSpPr>
          <a:xfrm>
            <a:off x="6042699" y="1709107"/>
            <a:ext cx="547970" cy="540745"/>
            <a:chOff x="4139952" y="1274820"/>
            <a:chExt cx="432833" cy="432834"/>
          </a:xfrm>
        </p:grpSpPr>
        <p:sp>
          <p:nvSpPr>
            <p:cNvPr id="65"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66"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latin typeface="Roboto Light"/>
              </a:endParaRPr>
            </a:p>
          </p:txBody>
        </p:sp>
      </p:grpSp>
      <p:sp>
        <p:nvSpPr>
          <p:cNvPr id="29" name="矩形 28"/>
          <p:cNvSpPr/>
          <p:nvPr/>
        </p:nvSpPr>
        <p:spPr>
          <a:xfrm>
            <a:off x="4524489" y="4241019"/>
            <a:ext cx="1481496" cy="369332"/>
          </a:xfrm>
          <a:prstGeom prst="rect">
            <a:avLst/>
          </a:prstGeom>
        </p:spPr>
        <p:txBody>
          <a:bodyPr wrap="none">
            <a:spAutoFit/>
          </a:bodyPr>
          <a:lstStyle/>
          <a:p>
            <a:r>
              <a:rPr lang="en-US" altLang="zh-CN" sz="1800" b="1" dirty="0" smtClean="0">
                <a:solidFill>
                  <a:srgbClr val="0070C0"/>
                </a:solidFill>
                <a:latin typeface="思源黑体" panose="020B0500000000000000" pitchFamily="34" charset="-122"/>
                <a:ea typeface="思源黑体" panose="020B0500000000000000" pitchFamily="34" charset="-122"/>
              </a:rPr>
              <a:t>2</a:t>
            </a:r>
            <a:r>
              <a:rPr lang="zh-CN" altLang="en-US" sz="1800" b="1" dirty="0" smtClean="0">
                <a:solidFill>
                  <a:srgbClr val="0070C0"/>
                </a:solidFill>
                <a:latin typeface="思源黑体" panose="020B0500000000000000" pitchFamily="34" charset="-122"/>
                <a:ea typeface="思源黑体" panose="020B0500000000000000" pitchFamily="34" charset="-122"/>
              </a:rPr>
              <a:t>、管理选项</a:t>
            </a:r>
            <a:endParaRPr lang="zh-CN" altLang="en-US" sz="1800" b="1" dirty="0">
              <a:solidFill>
                <a:srgbClr val="0070C0"/>
              </a:solidFill>
            </a:endParaRPr>
          </a:p>
        </p:txBody>
      </p:sp>
      <p:sp>
        <p:nvSpPr>
          <p:cNvPr id="32" name="矩形 31"/>
          <p:cNvSpPr/>
          <p:nvPr/>
        </p:nvSpPr>
        <p:spPr>
          <a:xfrm>
            <a:off x="4536216" y="4701153"/>
            <a:ext cx="1481496" cy="369332"/>
          </a:xfrm>
          <a:prstGeom prst="rect">
            <a:avLst/>
          </a:prstGeom>
        </p:spPr>
        <p:txBody>
          <a:bodyPr wrap="none">
            <a:spAutoFit/>
          </a:bodyPr>
          <a:lstStyle/>
          <a:p>
            <a:r>
              <a:rPr lang="en-US" altLang="zh-CN" sz="1800" b="1" dirty="0" smtClean="0">
                <a:solidFill>
                  <a:srgbClr val="0070C0"/>
                </a:solidFill>
                <a:latin typeface="思源黑体" panose="020B0500000000000000" pitchFamily="34" charset="-122"/>
                <a:ea typeface="思源黑体" panose="020B0500000000000000" pitchFamily="34" charset="-122"/>
              </a:rPr>
              <a:t>3</a:t>
            </a:r>
            <a:r>
              <a:rPr lang="zh-CN" altLang="en-US" sz="1800" b="1" dirty="0" smtClean="0">
                <a:solidFill>
                  <a:srgbClr val="0070C0"/>
                </a:solidFill>
                <a:latin typeface="思源黑体" panose="020B0500000000000000" pitchFamily="34" charset="-122"/>
                <a:ea typeface="思源黑体" panose="020B0500000000000000" pitchFamily="34" charset="-122"/>
              </a:rPr>
              <a:t>、规则说明</a:t>
            </a:r>
            <a:endParaRPr lang="zh-CN" altLang="en-US" sz="1800" b="1" dirty="0">
              <a:solidFill>
                <a:srgbClr val="0070C0"/>
              </a:solidFill>
            </a:endParaRPr>
          </a:p>
        </p:txBody>
      </p:sp>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wheel(1)">
                                      <p:cBhvr>
                                        <p:cTn id="11" dur="650"/>
                                        <p:tgtEl>
                                          <p:spTgt spid="41"/>
                                        </p:tgtEl>
                                      </p:cBhvr>
                                    </p:animEffect>
                                  </p:childTnLst>
                                </p:cTn>
                              </p:par>
                            </p:childTnLst>
                          </p:cTn>
                        </p:par>
                        <p:par>
                          <p:cTn id="12" fill="hold">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par>
                          <p:cTn id="16" fill="hold">
                            <p:stCondLst>
                              <p:cond delay="2000"/>
                            </p:stCondLst>
                            <p:childTnLst>
                              <p:par>
                                <p:cTn id="17" presetID="15" presetClass="entr" presetSubtype="0" fill="hold" nodeType="afterEffect">
                                  <p:stCondLst>
                                    <p:cond delay="0"/>
                                  </p:stCondLst>
                                  <p:childTnLst>
                                    <p:set>
                                      <p:cBhvr>
                                        <p:cTn id="18" dur="1" fill="hold">
                                          <p:stCondLst>
                                            <p:cond delay="0"/>
                                          </p:stCondLst>
                                        </p:cTn>
                                        <p:tgtEl>
                                          <p:spTgt spid="45"/>
                                        </p:tgtEl>
                                        <p:attrNameLst>
                                          <p:attrName>style.visibility</p:attrName>
                                        </p:attrNameLst>
                                      </p:cBhvr>
                                      <p:to>
                                        <p:strVal val="visible"/>
                                      </p:to>
                                    </p:set>
                                    <p:anim calcmode="lin" valueType="num">
                                      <p:cBhvr>
                                        <p:cTn id="19" dur="1000" fill="hold"/>
                                        <p:tgtEl>
                                          <p:spTgt spid="45"/>
                                        </p:tgtEl>
                                        <p:attrNameLst>
                                          <p:attrName>ppt_w</p:attrName>
                                        </p:attrNameLst>
                                      </p:cBhvr>
                                      <p:tavLst>
                                        <p:tav tm="0">
                                          <p:val>
                                            <p:fltVal val="0"/>
                                          </p:val>
                                        </p:tav>
                                        <p:tav tm="100000">
                                          <p:val>
                                            <p:strVal val="#ppt_w"/>
                                          </p:val>
                                        </p:tav>
                                      </p:tavLst>
                                    </p:anim>
                                    <p:anim calcmode="lin" valueType="num">
                                      <p:cBhvr>
                                        <p:cTn id="20" dur="1000" fill="hold"/>
                                        <p:tgtEl>
                                          <p:spTgt spid="45"/>
                                        </p:tgtEl>
                                        <p:attrNameLst>
                                          <p:attrName>ppt_h</p:attrName>
                                        </p:attrNameLst>
                                      </p:cBhvr>
                                      <p:tavLst>
                                        <p:tav tm="0">
                                          <p:val>
                                            <p:fltVal val="0"/>
                                          </p:val>
                                        </p:tav>
                                        <p:tav tm="100000">
                                          <p:val>
                                            <p:strVal val="#ppt_h"/>
                                          </p:val>
                                        </p:tav>
                                      </p:tavLst>
                                    </p:anim>
                                    <p:anim calcmode="lin" valueType="num">
                                      <p:cBhvr>
                                        <p:cTn id="21" dur="1000" fill="hold"/>
                                        <p:tgtEl>
                                          <p:spTgt spid="45"/>
                                        </p:tgtEl>
                                        <p:attrNameLst>
                                          <p:attrName>ppt_x</p:attrName>
                                        </p:attrNameLst>
                                      </p:cBhvr>
                                      <p:tavLst>
                                        <p:tav tm="0" fmla="#ppt_x+(cos(-2*pi*(1-$))*-#ppt_x-sin(-2*pi*(1-$))*(1-#ppt_y))*(1-$)">
                                          <p:val>
                                            <p:fltVal val="0"/>
                                          </p:val>
                                        </p:tav>
                                        <p:tav tm="100000">
                                          <p:val>
                                            <p:fltVal val="1"/>
                                          </p:val>
                                        </p:tav>
                                      </p:tavLst>
                                    </p:anim>
                                    <p:anim calcmode="lin" valueType="num">
                                      <p:cBhvr>
                                        <p:cTn id="22" dur="1000" fill="hold"/>
                                        <p:tgtEl>
                                          <p:spTgt spid="45"/>
                                        </p:tgtEl>
                                        <p:attrNameLst>
                                          <p:attrName>ppt_y</p:attrName>
                                        </p:attrNameLst>
                                      </p:cBhvr>
                                      <p:tavLst>
                                        <p:tav tm="0" fmla="#ppt_y+(sin(-2*pi*(1-$))*-#ppt_x+cos(-2*pi*(1-$))*(1-#ppt_y))*(1-$)">
                                          <p:val>
                                            <p:fltVal val="0"/>
                                          </p:val>
                                        </p:tav>
                                        <p:tav tm="100000">
                                          <p:val>
                                            <p:fltVal val="1"/>
                                          </p:val>
                                        </p:tav>
                                      </p:tavLst>
                                    </p:anim>
                                  </p:childTnLst>
                                </p:cTn>
                              </p:par>
                            </p:childTnLst>
                          </p:cTn>
                        </p:par>
                        <p:par>
                          <p:cTn id="23" fill="hold">
                            <p:stCondLst>
                              <p:cond delay="3000"/>
                            </p:stCondLst>
                            <p:childTnLst>
                              <p:par>
                                <p:cTn id="24" presetID="53" presetClass="entr" presetSubtype="16" fill="hold" nodeType="afterEffect">
                                  <p:stCondLst>
                                    <p:cond delay="0"/>
                                  </p:stCondLst>
                                  <p:childTnLst>
                                    <p:set>
                                      <p:cBhvr>
                                        <p:cTn id="25" dur="1" fill="hold">
                                          <p:stCondLst>
                                            <p:cond delay="0"/>
                                          </p:stCondLst>
                                        </p:cTn>
                                        <p:tgtEl>
                                          <p:spTgt spid="61"/>
                                        </p:tgtEl>
                                        <p:attrNameLst>
                                          <p:attrName>style.visibility</p:attrName>
                                        </p:attrNameLst>
                                      </p:cBhvr>
                                      <p:to>
                                        <p:strVal val="visible"/>
                                      </p:to>
                                    </p:set>
                                    <p:anim calcmode="lin" valueType="num">
                                      <p:cBhvr>
                                        <p:cTn id="26" dur="500" fill="hold"/>
                                        <p:tgtEl>
                                          <p:spTgt spid="61"/>
                                        </p:tgtEl>
                                        <p:attrNameLst>
                                          <p:attrName>ppt_w</p:attrName>
                                        </p:attrNameLst>
                                      </p:cBhvr>
                                      <p:tavLst>
                                        <p:tav tm="0">
                                          <p:val>
                                            <p:fltVal val="0"/>
                                          </p:val>
                                        </p:tav>
                                        <p:tav tm="100000">
                                          <p:val>
                                            <p:strVal val="#ppt_w"/>
                                          </p:val>
                                        </p:tav>
                                      </p:tavLst>
                                    </p:anim>
                                    <p:anim calcmode="lin" valueType="num">
                                      <p:cBhvr>
                                        <p:cTn id="27" dur="500" fill="hold"/>
                                        <p:tgtEl>
                                          <p:spTgt spid="61"/>
                                        </p:tgtEl>
                                        <p:attrNameLst>
                                          <p:attrName>ppt_h</p:attrName>
                                        </p:attrNameLst>
                                      </p:cBhvr>
                                      <p:tavLst>
                                        <p:tav tm="0">
                                          <p:val>
                                            <p:fltVal val="0"/>
                                          </p:val>
                                        </p:tav>
                                        <p:tav tm="100000">
                                          <p:val>
                                            <p:strVal val="#ppt_h"/>
                                          </p:val>
                                        </p:tav>
                                      </p:tavLst>
                                    </p:anim>
                                    <p:animEffect transition="in" filter="fade">
                                      <p:cBhvr>
                                        <p:cTn id="28" dur="500"/>
                                        <p:tgtEl>
                                          <p:spTgt spid="61"/>
                                        </p:tgtEl>
                                      </p:cBhvr>
                                    </p:animEffect>
                                  </p:childTnLst>
                                </p:cTn>
                              </p:par>
                              <p:par>
                                <p:cTn id="29" presetID="53" presetClass="entr" presetSubtype="16" fill="hold" nodeType="withEffect">
                                  <p:stCondLst>
                                    <p:cond delay="200"/>
                                  </p:stCondLst>
                                  <p:childTnLst>
                                    <p:set>
                                      <p:cBhvr>
                                        <p:cTn id="30" dur="1" fill="hold">
                                          <p:stCondLst>
                                            <p:cond delay="0"/>
                                          </p:stCondLst>
                                        </p:cTn>
                                        <p:tgtEl>
                                          <p:spTgt spid="64"/>
                                        </p:tgtEl>
                                        <p:attrNameLst>
                                          <p:attrName>style.visibility</p:attrName>
                                        </p:attrNameLst>
                                      </p:cBhvr>
                                      <p:to>
                                        <p:strVal val="visible"/>
                                      </p:to>
                                    </p:set>
                                    <p:anim calcmode="lin" valueType="num">
                                      <p:cBhvr>
                                        <p:cTn id="31" dur="500" fill="hold"/>
                                        <p:tgtEl>
                                          <p:spTgt spid="64"/>
                                        </p:tgtEl>
                                        <p:attrNameLst>
                                          <p:attrName>ppt_w</p:attrName>
                                        </p:attrNameLst>
                                      </p:cBhvr>
                                      <p:tavLst>
                                        <p:tav tm="0">
                                          <p:val>
                                            <p:fltVal val="0"/>
                                          </p:val>
                                        </p:tav>
                                        <p:tav tm="100000">
                                          <p:val>
                                            <p:strVal val="#ppt_w"/>
                                          </p:val>
                                        </p:tav>
                                      </p:tavLst>
                                    </p:anim>
                                    <p:anim calcmode="lin" valueType="num">
                                      <p:cBhvr>
                                        <p:cTn id="32" dur="500" fill="hold"/>
                                        <p:tgtEl>
                                          <p:spTgt spid="64"/>
                                        </p:tgtEl>
                                        <p:attrNameLst>
                                          <p:attrName>ppt_h</p:attrName>
                                        </p:attrNameLst>
                                      </p:cBhvr>
                                      <p:tavLst>
                                        <p:tav tm="0">
                                          <p:val>
                                            <p:fltVal val="0"/>
                                          </p:val>
                                        </p:tav>
                                        <p:tav tm="100000">
                                          <p:val>
                                            <p:strVal val="#ppt_h"/>
                                          </p:val>
                                        </p:tav>
                                      </p:tavLst>
                                    </p:anim>
                                    <p:animEffect transition="in" filter="fade">
                                      <p:cBhvr>
                                        <p:cTn id="33" dur="500"/>
                                        <p:tgtEl>
                                          <p:spTgt spid="64"/>
                                        </p:tgtEl>
                                      </p:cBhvr>
                                    </p:animEffect>
                                  </p:childTnLst>
                                </p:cTn>
                              </p:par>
                              <p:par>
                                <p:cTn id="34" presetID="53" presetClass="entr" presetSubtype="16" fill="hold" nodeType="withEffect">
                                  <p:stCondLst>
                                    <p:cond delay="400"/>
                                  </p:stCondLst>
                                  <p:childTnLst>
                                    <p:set>
                                      <p:cBhvr>
                                        <p:cTn id="35" dur="1" fill="hold">
                                          <p:stCondLst>
                                            <p:cond delay="0"/>
                                          </p:stCondLst>
                                        </p:cTn>
                                        <p:tgtEl>
                                          <p:spTgt spid="55"/>
                                        </p:tgtEl>
                                        <p:attrNameLst>
                                          <p:attrName>style.visibility</p:attrName>
                                        </p:attrNameLst>
                                      </p:cBhvr>
                                      <p:to>
                                        <p:strVal val="visible"/>
                                      </p:to>
                                    </p:set>
                                    <p:anim calcmode="lin" valueType="num">
                                      <p:cBhvr>
                                        <p:cTn id="36" dur="500" fill="hold"/>
                                        <p:tgtEl>
                                          <p:spTgt spid="55"/>
                                        </p:tgtEl>
                                        <p:attrNameLst>
                                          <p:attrName>ppt_w</p:attrName>
                                        </p:attrNameLst>
                                      </p:cBhvr>
                                      <p:tavLst>
                                        <p:tav tm="0">
                                          <p:val>
                                            <p:fltVal val="0"/>
                                          </p:val>
                                        </p:tav>
                                        <p:tav tm="100000">
                                          <p:val>
                                            <p:strVal val="#ppt_w"/>
                                          </p:val>
                                        </p:tav>
                                      </p:tavLst>
                                    </p:anim>
                                    <p:anim calcmode="lin" valueType="num">
                                      <p:cBhvr>
                                        <p:cTn id="37" dur="500" fill="hold"/>
                                        <p:tgtEl>
                                          <p:spTgt spid="55"/>
                                        </p:tgtEl>
                                        <p:attrNameLst>
                                          <p:attrName>ppt_h</p:attrName>
                                        </p:attrNameLst>
                                      </p:cBhvr>
                                      <p:tavLst>
                                        <p:tav tm="0">
                                          <p:val>
                                            <p:fltVal val="0"/>
                                          </p:val>
                                        </p:tav>
                                        <p:tav tm="100000">
                                          <p:val>
                                            <p:strVal val="#ppt_h"/>
                                          </p:val>
                                        </p:tav>
                                      </p:tavLst>
                                    </p:anim>
                                    <p:animEffect transition="in" filter="fade">
                                      <p:cBhvr>
                                        <p:cTn id="38" dur="500"/>
                                        <p:tgtEl>
                                          <p:spTgt spid="55"/>
                                        </p:tgtEl>
                                      </p:cBhvr>
                                    </p:animEffect>
                                  </p:childTnLst>
                                </p:cTn>
                              </p:par>
                              <p:par>
                                <p:cTn id="39" presetID="53" presetClass="entr" presetSubtype="16" fill="hold" nodeType="withEffect">
                                  <p:stCondLst>
                                    <p:cond delay="600"/>
                                  </p:stCondLst>
                                  <p:childTnLst>
                                    <p:set>
                                      <p:cBhvr>
                                        <p:cTn id="40" dur="1" fill="hold">
                                          <p:stCondLst>
                                            <p:cond delay="0"/>
                                          </p:stCondLst>
                                        </p:cTn>
                                        <p:tgtEl>
                                          <p:spTgt spid="58"/>
                                        </p:tgtEl>
                                        <p:attrNameLst>
                                          <p:attrName>style.visibility</p:attrName>
                                        </p:attrNameLst>
                                      </p:cBhvr>
                                      <p:to>
                                        <p:strVal val="visible"/>
                                      </p:to>
                                    </p:set>
                                    <p:anim calcmode="lin" valueType="num">
                                      <p:cBhvr>
                                        <p:cTn id="41" dur="500" fill="hold"/>
                                        <p:tgtEl>
                                          <p:spTgt spid="58"/>
                                        </p:tgtEl>
                                        <p:attrNameLst>
                                          <p:attrName>ppt_w</p:attrName>
                                        </p:attrNameLst>
                                      </p:cBhvr>
                                      <p:tavLst>
                                        <p:tav tm="0">
                                          <p:val>
                                            <p:fltVal val="0"/>
                                          </p:val>
                                        </p:tav>
                                        <p:tav tm="100000">
                                          <p:val>
                                            <p:strVal val="#ppt_w"/>
                                          </p:val>
                                        </p:tav>
                                      </p:tavLst>
                                    </p:anim>
                                    <p:anim calcmode="lin" valueType="num">
                                      <p:cBhvr>
                                        <p:cTn id="42" dur="500" fill="hold"/>
                                        <p:tgtEl>
                                          <p:spTgt spid="58"/>
                                        </p:tgtEl>
                                        <p:attrNameLst>
                                          <p:attrName>ppt_h</p:attrName>
                                        </p:attrNameLst>
                                      </p:cBhvr>
                                      <p:tavLst>
                                        <p:tav tm="0">
                                          <p:val>
                                            <p:fltVal val="0"/>
                                          </p:val>
                                        </p:tav>
                                        <p:tav tm="100000">
                                          <p:val>
                                            <p:strVal val="#ppt_h"/>
                                          </p:val>
                                        </p:tav>
                                      </p:tavLst>
                                    </p:anim>
                                    <p:animEffect transition="in" filter="fade">
                                      <p:cBhvr>
                                        <p:cTn id="43" dur="500"/>
                                        <p:tgtEl>
                                          <p:spTgt spid="58"/>
                                        </p:tgtEl>
                                      </p:cBhvr>
                                    </p:animEffect>
                                  </p:childTnLst>
                                </p:cTn>
                              </p:par>
                              <p:par>
                                <p:cTn id="44" presetID="53" presetClass="entr" presetSubtype="16" fill="hold" nodeType="withEffect">
                                  <p:stCondLst>
                                    <p:cond delay="800"/>
                                  </p:stCondLst>
                                  <p:childTnLst>
                                    <p:set>
                                      <p:cBhvr>
                                        <p:cTn id="45" dur="1" fill="hold">
                                          <p:stCondLst>
                                            <p:cond delay="0"/>
                                          </p:stCondLst>
                                        </p:cTn>
                                        <p:tgtEl>
                                          <p:spTgt spid="52"/>
                                        </p:tgtEl>
                                        <p:attrNameLst>
                                          <p:attrName>style.visibility</p:attrName>
                                        </p:attrNameLst>
                                      </p:cBhvr>
                                      <p:to>
                                        <p:strVal val="visible"/>
                                      </p:to>
                                    </p:set>
                                    <p:anim calcmode="lin" valueType="num">
                                      <p:cBhvr>
                                        <p:cTn id="46" dur="500" fill="hold"/>
                                        <p:tgtEl>
                                          <p:spTgt spid="52"/>
                                        </p:tgtEl>
                                        <p:attrNameLst>
                                          <p:attrName>ppt_w</p:attrName>
                                        </p:attrNameLst>
                                      </p:cBhvr>
                                      <p:tavLst>
                                        <p:tav tm="0">
                                          <p:val>
                                            <p:fltVal val="0"/>
                                          </p:val>
                                        </p:tav>
                                        <p:tav tm="100000">
                                          <p:val>
                                            <p:strVal val="#ppt_w"/>
                                          </p:val>
                                        </p:tav>
                                      </p:tavLst>
                                    </p:anim>
                                    <p:anim calcmode="lin" valueType="num">
                                      <p:cBhvr>
                                        <p:cTn id="47" dur="500" fill="hold"/>
                                        <p:tgtEl>
                                          <p:spTgt spid="52"/>
                                        </p:tgtEl>
                                        <p:attrNameLst>
                                          <p:attrName>ppt_h</p:attrName>
                                        </p:attrNameLst>
                                      </p:cBhvr>
                                      <p:tavLst>
                                        <p:tav tm="0">
                                          <p:val>
                                            <p:fltVal val="0"/>
                                          </p:val>
                                        </p:tav>
                                        <p:tav tm="100000">
                                          <p:val>
                                            <p:strVal val="#ppt_h"/>
                                          </p:val>
                                        </p:tav>
                                      </p:tavLst>
                                    </p:anim>
                                    <p:animEffect transition="in" filter="fade">
                                      <p:cBhvr>
                                        <p:cTn id="48"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a:spLocks noChangeArrowheads="1"/>
          </p:cNvSpPr>
          <p:nvPr/>
        </p:nvSpPr>
        <p:spPr bwMode="auto">
          <a:xfrm>
            <a:off x="0" y="212519"/>
            <a:ext cx="352425" cy="400050"/>
          </a:xfrm>
          <a:prstGeom prst="rect">
            <a:avLst/>
          </a:prstGeom>
          <a:solidFill>
            <a:srgbClr val="5B9BD5">
              <a:lumMod val="50000"/>
            </a:srgbClr>
          </a:solidFill>
          <a:ln w="9525">
            <a:noFill/>
            <a:miter lim="800000"/>
          </a:ln>
        </p:spPr>
        <p:txBody>
          <a:bodyPr anchor="ctr"/>
          <a:lstStyle/>
          <a:p>
            <a:pPr algn="ctr" fontAlgn="base">
              <a:spcBef>
                <a:spcPct val="0"/>
              </a:spcBef>
              <a:spcAft>
                <a:spcPct val="0"/>
              </a:spcAft>
              <a:buFont typeface="Arial" panose="020B0604020202020204" pitchFamily="34" charset="0"/>
              <a:buNone/>
              <a:defRPr/>
            </a:pPr>
            <a:endParaRPr lang="zh-CN" altLang="en-US" kern="0">
              <a:solidFill>
                <a:srgbClr val="1F4E79"/>
              </a:solidFill>
              <a:latin typeface="黑体" panose="02010609060101010101" charset="-122"/>
              <a:ea typeface="黑体" panose="02010609060101010101" charset="-122"/>
            </a:endParaRPr>
          </a:p>
        </p:txBody>
      </p:sp>
      <p:sp>
        <p:nvSpPr>
          <p:cNvPr id="17" name="矩形 16"/>
          <p:cNvSpPr>
            <a:spLocks noChangeArrowheads="1"/>
          </p:cNvSpPr>
          <p:nvPr/>
        </p:nvSpPr>
        <p:spPr bwMode="auto">
          <a:xfrm>
            <a:off x="419100" y="212519"/>
            <a:ext cx="123825" cy="400050"/>
          </a:xfrm>
          <a:prstGeom prst="rect">
            <a:avLst/>
          </a:prstGeom>
          <a:solidFill>
            <a:srgbClr val="7F7F7F"/>
          </a:solidFill>
          <a:ln w="9525">
            <a:noFill/>
            <a:miter lim="800000"/>
          </a:ln>
        </p:spPr>
        <p:txBody>
          <a:bodyPr anchor="ctr"/>
          <a:lstStyle/>
          <a:p>
            <a:pPr algn="ctr" fontAlgn="base">
              <a:spcBef>
                <a:spcPct val="0"/>
              </a:spcBef>
              <a:spcAft>
                <a:spcPct val="0"/>
              </a:spcAft>
              <a:buFont typeface="Arial" panose="020B0604020202020204" pitchFamily="34" charset="0"/>
              <a:buNone/>
            </a:pPr>
            <a:endParaRPr lang="zh-CN" altLang="en-US">
              <a:solidFill>
                <a:srgbClr val="1F4E79"/>
              </a:solidFill>
              <a:latin typeface="黑体" panose="02010609060101010101" charset="-122"/>
              <a:ea typeface="黑体" panose="02010609060101010101" charset="-122"/>
            </a:endParaRPr>
          </a:p>
        </p:txBody>
      </p:sp>
      <p:sp>
        <p:nvSpPr>
          <p:cNvPr id="21" name="标题 1"/>
          <p:cNvSpPr txBox="1"/>
          <p:nvPr/>
        </p:nvSpPr>
        <p:spPr>
          <a:xfrm>
            <a:off x="609600" y="224766"/>
            <a:ext cx="9710057" cy="375557"/>
          </a:xfrm>
          <a:prstGeom prst="rect">
            <a:avLst/>
          </a:prstGeom>
        </p:spPr>
        <p:txBody>
          <a:bodyPr anchor="ctr"/>
          <a:lstStyle>
            <a:lvl1pPr algn="l" rtl="0" eaLnBrk="0" fontAlgn="base" hangingPunct="0">
              <a:spcBef>
                <a:spcPct val="0"/>
              </a:spcBef>
              <a:spcAft>
                <a:spcPct val="0"/>
              </a:spcAft>
              <a:defRPr sz="2800" b="1" kern="1200">
                <a:solidFill>
                  <a:srgbClr val="1F4E79"/>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lvl="0">
              <a:defRPr/>
            </a:pPr>
            <a:r>
              <a:rPr kumimoji="0" lang="en-US" altLang="zh-CN" sz="2400" b="1" i="0" u="none" strike="noStrike" kern="1200" cap="none" spc="0" normalizeH="0" baseline="0" noProof="0" dirty="0" smtClean="0">
                <a:ln>
                  <a:noFill/>
                </a:ln>
                <a:solidFill>
                  <a:srgbClr val="0070C0"/>
                </a:solidFill>
                <a:effectLst/>
                <a:uLnTx/>
                <a:uFillTx/>
                <a:latin typeface="思源黑体" panose="020B0500000000000000" pitchFamily="34" charset="-122"/>
                <a:ea typeface="思源黑体" panose="020B0500000000000000" pitchFamily="34" charset="-122"/>
                <a:cs typeface="+mj-cs"/>
              </a:rPr>
              <a:t>1</a:t>
            </a:r>
            <a:r>
              <a:rPr kumimoji="0" lang="zh-CN" altLang="en-US" sz="2400" b="1" i="0" u="none" strike="noStrike" kern="1200" cap="none" spc="0" normalizeH="0" baseline="0" noProof="0" dirty="0" smtClean="0">
                <a:ln>
                  <a:noFill/>
                </a:ln>
                <a:solidFill>
                  <a:srgbClr val="0070C0"/>
                </a:solidFill>
                <a:effectLst/>
                <a:uLnTx/>
                <a:uFillTx/>
                <a:latin typeface="思源黑体" panose="020B0500000000000000" pitchFamily="34" charset="-122"/>
                <a:ea typeface="思源黑体" panose="020B0500000000000000" pitchFamily="34" charset="-122"/>
                <a:cs typeface="+mj-cs"/>
              </a:rPr>
              <a:t>、</a:t>
            </a:r>
            <a:r>
              <a:rPr lang="en-US" altLang="zh-CN" sz="2400" dirty="0" smtClean="0">
                <a:solidFill>
                  <a:srgbClr val="0070C0"/>
                </a:solidFill>
                <a:latin typeface="思源黑体" panose="020B0500000000000000" pitchFamily="34" charset="-122"/>
                <a:ea typeface="思源黑体" panose="020B0500000000000000" pitchFamily="34" charset="-122"/>
              </a:rPr>
              <a:t> </a:t>
            </a:r>
            <a:r>
              <a:rPr lang="en-US" altLang="zh-CN" sz="2400" dirty="0" err="1" smtClean="0">
                <a:solidFill>
                  <a:srgbClr val="0070C0"/>
                </a:solidFill>
                <a:latin typeface="思源黑体" panose="020B0500000000000000" pitchFamily="34" charset="-122"/>
                <a:ea typeface="思源黑体" panose="020B0500000000000000" pitchFamily="34" charset="-122"/>
              </a:rPr>
              <a:t>Iptables</a:t>
            </a:r>
            <a:r>
              <a:rPr lang="zh-CN" altLang="en-US" sz="2400" dirty="0" smtClean="0">
                <a:solidFill>
                  <a:srgbClr val="0070C0"/>
                </a:solidFill>
                <a:latin typeface="思源黑体" panose="020B0500000000000000" pitchFamily="34" charset="-122"/>
                <a:ea typeface="思源黑体" panose="020B0500000000000000" pitchFamily="34" charset="-122"/>
              </a:rPr>
              <a:t>命令的格式</a:t>
            </a:r>
            <a:r>
              <a:rPr lang="en-US" altLang="zh-CN" sz="2400" dirty="0" smtClean="0">
                <a:solidFill>
                  <a:srgbClr val="0070C0"/>
                </a:solidFill>
                <a:latin typeface="思源黑体" panose="020B0500000000000000" pitchFamily="34" charset="-122"/>
                <a:ea typeface="思源黑体" panose="020B0500000000000000" pitchFamily="34" charset="-122"/>
              </a:rPr>
              <a:t>/</a:t>
            </a:r>
            <a:r>
              <a:rPr lang="zh-CN" altLang="en-US" sz="2400" dirty="0" smtClean="0">
                <a:solidFill>
                  <a:srgbClr val="0070C0"/>
                </a:solidFill>
                <a:latin typeface="思源黑体" panose="020B0500000000000000" pitchFamily="34" charset="-122"/>
                <a:ea typeface="思源黑体" panose="020B0500000000000000" pitchFamily="34" charset="-122"/>
              </a:rPr>
              <a:t>组成</a:t>
            </a:r>
            <a:endParaRPr kumimoji="0" lang="zh-CN" altLang="en-US" sz="2400" b="1" i="0" u="none" strike="noStrike" kern="1200" cap="none" spc="0" normalizeH="0" baseline="0" noProof="0" dirty="0">
              <a:ln>
                <a:noFill/>
              </a:ln>
              <a:solidFill>
                <a:srgbClr val="0070C0"/>
              </a:solidFill>
              <a:effectLst/>
              <a:uLnTx/>
              <a:uFillTx/>
              <a:latin typeface="思源黑体" panose="020B0500000000000000" pitchFamily="34" charset="-122"/>
              <a:ea typeface="思源黑体" panose="020B0500000000000000" pitchFamily="34" charset="-122"/>
              <a:cs typeface="+mj-cs"/>
            </a:endParaRPr>
          </a:p>
        </p:txBody>
      </p:sp>
      <p:sp>
        <p:nvSpPr>
          <p:cNvPr id="6" name="文本框 5"/>
          <p:cNvSpPr txBox="1"/>
          <p:nvPr/>
        </p:nvSpPr>
        <p:spPr>
          <a:xfrm>
            <a:off x="886324" y="3644774"/>
            <a:ext cx="10182727" cy="2031325"/>
          </a:xfrm>
          <a:prstGeom prst="rect">
            <a:avLst/>
          </a:prstGeom>
          <a:noFill/>
        </p:spPr>
        <p:txBody>
          <a:bodyPr wrap="square" rtlCol="0">
            <a:spAutoFit/>
          </a:bodyPr>
          <a:lstStyle/>
          <a:p>
            <a:r>
              <a:rPr lang="fr-FR" altLang="zh-CN" sz="1400" dirty="0" smtClean="0">
                <a:latin typeface="思源黑体" panose="020B0500000000000000" pitchFamily="34" charset="-122"/>
                <a:ea typeface="思源黑体" panose="020B0500000000000000" pitchFamily="34" charset="-122"/>
              </a:rPr>
              <a:t>iptables </a:t>
            </a:r>
            <a:r>
              <a:rPr lang="zh-CN" altLang="fr-FR" sz="1400" dirty="0" smtClean="0">
                <a:latin typeface="思源黑体" panose="020B0500000000000000" pitchFamily="34" charset="-122"/>
                <a:ea typeface="思源黑体" panose="020B0500000000000000" pitchFamily="34" charset="-122"/>
              </a:rPr>
              <a:t>命令基本格式</a:t>
            </a:r>
            <a:r>
              <a:rPr lang="zh-CN" altLang="en-US" sz="1400" dirty="0" smtClean="0">
                <a:latin typeface="思源黑体" panose="020B0500000000000000" pitchFamily="34" charset="-122"/>
                <a:ea typeface="思源黑体" panose="020B0500000000000000" pitchFamily="34" charset="-122"/>
              </a:rPr>
              <a:t>：</a:t>
            </a:r>
            <a:r>
              <a:rPr lang="en-US" altLang="zh-CN" sz="1400" dirty="0" err="1" smtClean="0">
                <a:latin typeface="思源黑体" panose="020B0500000000000000" pitchFamily="34" charset="-122"/>
                <a:ea typeface="思源黑体" panose="020B0500000000000000" pitchFamily="34" charset="-122"/>
              </a:rPr>
              <a:t>iptables</a:t>
            </a:r>
            <a:r>
              <a:rPr lang="en-US" altLang="zh-CN" sz="1400" dirty="0" smtClean="0">
                <a:latin typeface="思源黑体" panose="020B0500000000000000" pitchFamily="34" charset="-122"/>
                <a:ea typeface="思源黑体" panose="020B0500000000000000" pitchFamily="34" charset="-122"/>
              </a:rPr>
              <a:t> [-t </a:t>
            </a:r>
            <a:r>
              <a:rPr lang="zh-CN" altLang="en-US" sz="1400" dirty="0" smtClean="0">
                <a:latin typeface="思源黑体" panose="020B0500000000000000" pitchFamily="34" charset="-122"/>
                <a:ea typeface="思源黑体" panose="020B0500000000000000" pitchFamily="34" charset="-122"/>
              </a:rPr>
              <a:t>表名</a:t>
            </a:r>
            <a:r>
              <a:rPr lang="en-US" altLang="zh-CN" sz="1400" dirty="0" smtClean="0">
                <a:latin typeface="思源黑体" panose="020B0500000000000000" pitchFamily="34" charset="-122"/>
                <a:ea typeface="思源黑体" panose="020B0500000000000000" pitchFamily="34" charset="-122"/>
              </a:rPr>
              <a:t>] &lt;</a:t>
            </a:r>
            <a:r>
              <a:rPr lang="zh-CN" altLang="en-US" sz="1400" dirty="0" smtClean="0">
                <a:latin typeface="思源黑体" panose="020B0500000000000000" pitchFamily="34" charset="-122"/>
                <a:ea typeface="思源黑体" panose="020B0500000000000000" pitchFamily="34" charset="-122"/>
              </a:rPr>
              <a:t>管理选项</a:t>
            </a:r>
            <a:r>
              <a:rPr lang="en-US" altLang="zh-CN" sz="1400" dirty="0" smtClean="0">
                <a:latin typeface="思源黑体" panose="020B0500000000000000" pitchFamily="34" charset="-122"/>
                <a:ea typeface="思源黑体" panose="020B0500000000000000" pitchFamily="34" charset="-122"/>
              </a:rPr>
              <a:t>&gt; &lt;</a:t>
            </a:r>
            <a:r>
              <a:rPr lang="zh-CN" altLang="en-US" sz="1400" dirty="0" smtClean="0">
                <a:latin typeface="思源黑体" panose="020B0500000000000000" pitchFamily="34" charset="-122"/>
                <a:ea typeface="思源黑体" panose="020B0500000000000000" pitchFamily="34" charset="-122"/>
              </a:rPr>
              <a:t>链名</a:t>
            </a:r>
            <a:r>
              <a:rPr lang="en-US" altLang="zh-CN" sz="1400" dirty="0" smtClean="0">
                <a:latin typeface="思源黑体" panose="020B0500000000000000" pitchFamily="34" charset="-122"/>
                <a:ea typeface="思源黑体" panose="020B0500000000000000" pitchFamily="34" charset="-122"/>
              </a:rPr>
              <a:t>&gt; [</a:t>
            </a:r>
            <a:r>
              <a:rPr lang="zh-CN" altLang="en-US" sz="1400" dirty="0" smtClean="0">
                <a:latin typeface="思源黑体" panose="020B0500000000000000" pitchFamily="34" charset="-122"/>
                <a:ea typeface="思源黑体" panose="020B0500000000000000" pitchFamily="34" charset="-122"/>
              </a:rPr>
              <a:t>规则匹配条件</a:t>
            </a:r>
            <a:r>
              <a:rPr lang="en-US" altLang="zh-CN" sz="1400" dirty="0" smtClean="0">
                <a:latin typeface="思源黑体" panose="020B0500000000000000" pitchFamily="34" charset="-122"/>
                <a:ea typeface="思源黑体" panose="020B0500000000000000" pitchFamily="34" charset="-122"/>
              </a:rPr>
              <a:t>] -j &lt;</a:t>
            </a:r>
            <a:r>
              <a:rPr lang="zh-CN" altLang="en-US" sz="1400" dirty="0" smtClean="0">
                <a:latin typeface="思源黑体" panose="020B0500000000000000" pitchFamily="34" charset="-122"/>
                <a:ea typeface="思源黑体" panose="020B0500000000000000" pitchFamily="34" charset="-122"/>
              </a:rPr>
              <a:t>目标动作</a:t>
            </a:r>
            <a:r>
              <a:rPr lang="en-US" altLang="zh-CN" sz="1400" dirty="0" smtClean="0">
                <a:latin typeface="思源黑体" panose="020B0500000000000000" pitchFamily="34" charset="-122"/>
                <a:ea typeface="思源黑体" panose="020B0500000000000000" pitchFamily="34" charset="-122"/>
              </a:rPr>
              <a:t>&gt;</a:t>
            </a:r>
          </a:p>
          <a:p>
            <a:endParaRPr lang="en-US" altLang="zh-CN" sz="1400" dirty="0" smtClean="0">
              <a:latin typeface="思源黑体" panose="020B0500000000000000" pitchFamily="34" charset="-122"/>
              <a:ea typeface="思源黑体" panose="020B0500000000000000" pitchFamily="34" charset="-122"/>
            </a:endParaRPr>
          </a:p>
          <a:p>
            <a:r>
              <a:rPr lang="zh-CN" altLang="en-US" sz="1400" dirty="0" smtClean="0">
                <a:latin typeface="思源黑体" panose="020B0500000000000000" pitchFamily="34" charset="-122"/>
                <a:ea typeface="思源黑体" panose="020B0500000000000000" pitchFamily="34" charset="-122"/>
              </a:rPr>
              <a:t>这个结构可以分为四个主要部分：</a:t>
            </a:r>
          </a:p>
          <a:p>
            <a:r>
              <a:rPr lang="en-US" altLang="zh-CN" sz="1400" dirty="0" smtClean="0">
                <a:latin typeface="思源黑体" panose="020B0500000000000000" pitchFamily="34" charset="-122"/>
                <a:ea typeface="思源黑体" panose="020B0500000000000000" pitchFamily="34" charset="-122"/>
              </a:rPr>
              <a:t>① </a:t>
            </a:r>
            <a:r>
              <a:rPr lang="zh-CN" altLang="en-US" sz="1400" dirty="0" smtClean="0">
                <a:latin typeface="思源黑体" panose="020B0500000000000000" pitchFamily="34" charset="-122"/>
                <a:ea typeface="思源黑体" panose="020B0500000000000000" pitchFamily="34" charset="-122"/>
              </a:rPr>
              <a:t>表选择 </a:t>
            </a:r>
            <a:r>
              <a:rPr lang="en-US" altLang="zh-CN" sz="1400" dirty="0" smtClean="0">
                <a:latin typeface="思源黑体" panose="020B0500000000000000" pitchFamily="34" charset="-122"/>
                <a:ea typeface="思源黑体" panose="020B0500000000000000" pitchFamily="34" charset="-122"/>
              </a:rPr>
              <a:t>(-t table)</a:t>
            </a:r>
            <a:r>
              <a:rPr lang="zh-CN" altLang="en-US" sz="1400" dirty="0" smtClean="0">
                <a:latin typeface="思源黑体" panose="020B0500000000000000" pitchFamily="34" charset="-122"/>
                <a:ea typeface="思源黑体" panose="020B0500000000000000" pitchFamily="34" charset="-122"/>
              </a:rPr>
              <a:t>：指定要操作哪个表。如果省略，默认操作 </a:t>
            </a:r>
            <a:r>
              <a:rPr lang="en-US" altLang="zh-CN" sz="1400" dirty="0" smtClean="0">
                <a:latin typeface="思源黑体" panose="020B0500000000000000" pitchFamily="34" charset="-122"/>
                <a:ea typeface="思源黑体" panose="020B0500000000000000" pitchFamily="34" charset="-122"/>
              </a:rPr>
              <a:t>filter </a:t>
            </a:r>
            <a:r>
              <a:rPr lang="zh-CN" altLang="en-US" sz="1400" dirty="0" smtClean="0">
                <a:latin typeface="思源黑体" panose="020B0500000000000000" pitchFamily="34" charset="-122"/>
                <a:ea typeface="思源黑体" panose="020B0500000000000000" pitchFamily="34" charset="-122"/>
              </a:rPr>
              <a:t>表。</a:t>
            </a:r>
            <a:endParaRPr lang="en-US" altLang="zh-CN" sz="1400" dirty="0" smtClean="0">
              <a:latin typeface="思源黑体" panose="020B0500000000000000" pitchFamily="34" charset="-122"/>
              <a:ea typeface="思源黑体" panose="020B0500000000000000" pitchFamily="34" charset="-122"/>
            </a:endParaRPr>
          </a:p>
          <a:p>
            <a:r>
              <a:rPr lang="en-US" altLang="zh-CN" sz="1400" dirty="0" smtClean="0">
                <a:latin typeface="思源黑体" panose="020B0500000000000000" pitchFamily="34" charset="-122"/>
                <a:ea typeface="思源黑体" panose="020B0500000000000000" pitchFamily="34" charset="-122"/>
              </a:rPr>
              <a:t>②</a:t>
            </a:r>
            <a:r>
              <a:rPr lang="zh-CN" altLang="en-US" sz="1400" dirty="0" smtClean="0">
                <a:latin typeface="思源黑体" panose="020B0500000000000000" pitchFamily="34" charset="-122"/>
                <a:ea typeface="思源黑体" panose="020B0500000000000000" pitchFamily="34" charset="-122"/>
              </a:rPr>
              <a:t>管理选项 </a:t>
            </a:r>
            <a:r>
              <a:rPr lang="en-US" altLang="zh-CN" sz="1400" dirty="0" smtClean="0">
                <a:latin typeface="思源黑体" panose="020B0500000000000000" pitchFamily="34" charset="-122"/>
                <a:ea typeface="思源黑体" panose="020B0500000000000000" pitchFamily="34" charset="-122"/>
              </a:rPr>
              <a:t>(Option)</a:t>
            </a:r>
            <a:r>
              <a:rPr lang="zh-CN" altLang="en-US" sz="1400" dirty="0" smtClean="0">
                <a:latin typeface="思源黑体" panose="020B0500000000000000" pitchFamily="34" charset="-122"/>
                <a:ea typeface="思源黑体" panose="020B0500000000000000" pitchFamily="34" charset="-122"/>
              </a:rPr>
              <a:t>：必选的选项，告诉 </a:t>
            </a:r>
            <a:r>
              <a:rPr lang="en-US" altLang="zh-CN" sz="1400" dirty="0" err="1" smtClean="0">
                <a:latin typeface="思源黑体" panose="020B0500000000000000" pitchFamily="34" charset="-122"/>
                <a:ea typeface="思源黑体" panose="020B0500000000000000" pitchFamily="34" charset="-122"/>
              </a:rPr>
              <a:t>iptables</a:t>
            </a:r>
            <a:r>
              <a:rPr lang="en-US" altLang="zh-CN" sz="1400" dirty="0" smtClean="0">
                <a:latin typeface="思源黑体" panose="020B0500000000000000" pitchFamily="34" charset="-122"/>
                <a:ea typeface="思源黑体" panose="020B0500000000000000" pitchFamily="34" charset="-122"/>
              </a:rPr>
              <a:t> </a:t>
            </a:r>
            <a:r>
              <a:rPr lang="zh-CN" altLang="en-US" sz="1400" dirty="0" smtClean="0">
                <a:latin typeface="思源黑体" panose="020B0500000000000000" pitchFamily="34" charset="-122"/>
                <a:ea typeface="思源黑体" panose="020B0500000000000000" pitchFamily="34" charset="-122"/>
              </a:rPr>
              <a:t>要执行什么操作（增</a:t>
            </a:r>
            <a:r>
              <a:rPr lang="en-US" altLang="zh-CN" sz="1400" dirty="0" smtClean="0">
                <a:latin typeface="思源黑体" panose="020B0500000000000000" pitchFamily="34" charset="-122"/>
                <a:ea typeface="思源黑体" panose="020B0500000000000000" pitchFamily="34" charset="-122"/>
              </a:rPr>
              <a:t>/</a:t>
            </a:r>
            <a:r>
              <a:rPr lang="zh-CN" altLang="en-US" sz="1400" dirty="0" smtClean="0">
                <a:latin typeface="思源黑体" panose="020B0500000000000000" pitchFamily="34" charset="-122"/>
                <a:ea typeface="思源黑体" panose="020B0500000000000000" pitchFamily="34" charset="-122"/>
              </a:rPr>
              <a:t>删</a:t>
            </a:r>
            <a:r>
              <a:rPr lang="en-US" altLang="zh-CN" sz="1400" dirty="0" smtClean="0">
                <a:latin typeface="思源黑体" panose="020B0500000000000000" pitchFamily="34" charset="-122"/>
                <a:ea typeface="思源黑体" panose="020B0500000000000000" pitchFamily="34" charset="-122"/>
              </a:rPr>
              <a:t>/</a:t>
            </a:r>
            <a:r>
              <a:rPr lang="zh-CN" altLang="en-US" sz="1400" dirty="0" smtClean="0">
                <a:latin typeface="思源黑体" panose="020B0500000000000000" pitchFamily="34" charset="-122"/>
                <a:ea typeface="思源黑体" panose="020B0500000000000000" pitchFamily="34" charset="-122"/>
              </a:rPr>
              <a:t>改</a:t>
            </a:r>
            <a:r>
              <a:rPr lang="en-US" altLang="zh-CN" sz="1400" dirty="0" smtClean="0">
                <a:latin typeface="思源黑体" panose="020B0500000000000000" pitchFamily="34" charset="-122"/>
                <a:ea typeface="思源黑体" panose="020B0500000000000000" pitchFamily="34" charset="-122"/>
              </a:rPr>
              <a:t>/</a:t>
            </a:r>
            <a:r>
              <a:rPr lang="zh-CN" altLang="en-US" sz="1400" dirty="0" smtClean="0">
                <a:latin typeface="思源黑体" panose="020B0500000000000000" pitchFamily="34" charset="-122"/>
                <a:ea typeface="思源黑体" panose="020B0500000000000000" pitchFamily="34" charset="-122"/>
              </a:rPr>
              <a:t>查</a:t>
            </a:r>
            <a:r>
              <a:rPr lang="en-US" altLang="zh-CN" sz="1400" dirty="0" smtClean="0">
                <a:latin typeface="思源黑体" panose="020B0500000000000000" pitchFamily="34" charset="-122"/>
                <a:ea typeface="思源黑体" panose="020B0500000000000000" pitchFamily="34" charset="-122"/>
              </a:rPr>
              <a:t>/</a:t>
            </a:r>
            <a:r>
              <a:rPr lang="zh-CN" altLang="en-US" sz="1400" dirty="0" smtClean="0">
                <a:latin typeface="思源黑体" panose="020B0500000000000000" pitchFamily="34" charset="-122"/>
                <a:ea typeface="思源黑体" panose="020B0500000000000000" pitchFamily="34" charset="-122"/>
              </a:rPr>
              <a:t>设）。</a:t>
            </a:r>
            <a:endParaRPr lang="en-US" altLang="zh-CN" sz="1400" dirty="0" smtClean="0">
              <a:latin typeface="思源黑体" panose="020B0500000000000000" pitchFamily="34" charset="-122"/>
              <a:ea typeface="思源黑体" panose="020B0500000000000000" pitchFamily="34" charset="-122"/>
            </a:endParaRPr>
          </a:p>
          <a:p>
            <a:r>
              <a:rPr lang="en-US" altLang="zh-CN" sz="1400" dirty="0" smtClean="0">
                <a:latin typeface="思源黑体" panose="020B0500000000000000" pitchFamily="34" charset="-122"/>
                <a:ea typeface="思源黑体" panose="020B0500000000000000" pitchFamily="34" charset="-122"/>
              </a:rPr>
              <a:t>③ </a:t>
            </a:r>
            <a:r>
              <a:rPr lang="zh-CN" altLang="en-US" sz="1400" dirty="0" smtClean="0">
                <a:latin typeface="思源黑体" panose="020B0500000000000000" pitchFamily="34" charset="-122"/>
                <a:ea typeface="思源黑体" panose="020B0500000000000000" pitchFamily="34" charset="-122"/>
              </a:rPr>
              <a:t>链名 </a:t>
            </a:r>
            <a:r>
              <a:rPr lang="en-US" altLang="zh-CN" sz="1400" dirty="0" smtClean="0">
                <a:latin typeface="思源黑体" panose="020B0500000000000000" pitchFamily="34" charset="-122"/>
                <a:ea typeface="思源黑体" panose="020B0500000000000000" pitchFamily="34" charset="-122"/>
              </a:rPr>
              <a:t>(Chain)</a:t>
            </a:r>
            <a:r>
              <a:rPr lang="zh-CN" altLang="en-US" sz="1400" dirty="0" smtClean="0">
                <a:latin typeface="思源黑体" panose="020B0500000000000000" pitchFamily="34" charset="-122"/>
                <a:ea typeface="思源黑体" panose="020B0500000000000000" pitchFamily="34" charset="-122"/>
              </a:rPr>
              <a:t>：指定要操作哪条链。</a:t>
            </a:r>
            <a:endParaRPr lang="en-US" altLang="zh-CN" sz="1400" dirty="0" smtClean="0">
              <a:latin typeface="思源黑体" panose="020B0500000000000000" pitchFamily="34" charset="-122"/>
              <a:ea typeface="思源黑体" panose="020B0500000000000000" pitchFamily="34" charset="-122"/>
            </a:endParaRPr>
          </a:p>
          <a:p>
            <a:r>
              <a:rPr lang="en-US" altLang="zh-CN" sz="1400" dirty="0" smtClean="0">
                <a:latin typeface="思源黑体" panose="020B0500000000000000" pitchFamily="34" charset="-122"/>
                <a:ea typeface="思源黑体" panose="020B0500000000000000" pitchFamily="34" charset="-122"/>
              </a:rPr>
              <a:t>④</a:t>
            </a:r>
            <a:r>
              <a:rPr lang="zh-CN" altLang="en-US" sz="1400" dirty="0" smtClean="0">
                <a:latin typeface="思源黑体" panose="020B0500000000000000" pitchFamily="34" charset="-122"/>
                <a:ea typeface="思源黑体" panose="020B0500000000000000" pitchFamily="34" charset="-122"/>
              </a:rPr>
              <a:t>规则说明 </a:t>
            </a:r>
            <a:r>
              <a:rPr lang="en-US" altLang="zh-CN" sz="1400" dirty="0" smtClean="0">
                <a:latin typeface="思源黑体" panose="020B0500000000000000" pitchFamily="34" charset="-122"/>
                <a:ea typeface="思源黑体" panose="020B0500000000000000" pitchFamily="34" charset="-122"/>
              </a:rPr>
              <a:t>(</a:t>
            </a:r>
            <a:r>
              <a:rPr lang="zh-CN" altLang="en-US" sz="1400" dirty="0" smtClean="0">
                <a:latin typeface="思源黑体" panose="020B0500000000000000" pitchFamily="34" charset="-122"/>
                <a:ea typeface="思源黑体" panose="020B0500000000000000" pitchFamily="34" charset="-122"/>
              </a:rPr>
              <a:t>规则匹配条件 </a:t>
            </a:r>
            <a:r>
              <a:rPr lang="en-US" altLang="zh-CN" sz="1400" dirty="0" smtClean="0">
                <a:latin typeface="思源黑体" panose="020B0500000000000000" pitchFamily="34" charset="-122"/>
                <a:ea typeface="思源黑体" panose="020B0500000000000000" pitchFamily="34" charset="-122"/>
              </a:rPr>
              <a:t>+ </a:t>
            </a:r>
            <a:r>
              <a:rPr lang="zh-CN" altLang="en-US" sz="1400" dirty="0" smtClean="0">
                <a:latin typeface="思源黑体" panose="020B0500000000000000" pitchFamily="34" charset="-122"/>
                <a:ea typeface="思源黑体" panose="020B0500000000000000" pitchFamily="34" charset="-122"/>
              </a:rPr>
              <a:t>目标动作</a:t>
            </a:r>
            <a:r>
              <a:rPr lang="en-US" altLang="zh-CN" sz="1400" dirty="0" smtClean="0">
                <a:latin typeface="思源黑体" panose="020B0500000000000000" pitchFamily="34" charset="-122"/>
                <a:ea typeface="思源黑体" panose="020B0500000000000000" pitchFamily="34" charset="-122"/>
              </a:rPr>
              <a:t>)</a:t>
            </a:r>
            <a:r>
              <a:rPr lang="zh-CN" altLang="en-US" sz="1400" b="1" dirty="0" smtClean="0">
                <a:latin typeface="思源黑体" panose="020B0500000000000000" pitchFamily="34" charset="-122"/>
                <a:ea typeface="思源黑体" panose="020B0500000000000000" pitchFamily="34" charset="-122"/>
              </a:rPr>
              <a:t>：</a:t>
            </a:r>
            <a:endParaRPr lang="en-US" altLang="zh-CN" sz="1400" b="1" dirty="0" smtClean="0">
              <a:latin typeface="思源黑体" panose="020B0500000000000000" pitchFamily="34" charset="-122"/>
              <a:ea typeface="思源黑体" panose="020B0500000000000000" pitchFamily="34" charset="-122"/>
            </a:endParaRPr>
          </a:p>
          <a:p>
            <a:r>
              <a:rPr lang="zh-CN" altLang="en-US" sz="1400" b="1" dirty="0" smtClean="0">
                <a:latin typeface="思源黑体" panose="020B0500000000000000" pitchFamily="34" charset="-122"/>
                <a:ea typeface="思源黑体" panose="020B0500000000000000" pitchFamily="34" charset="-122"/>
              </a:rPr>
              <a:t>        </a:t>
            </a:r>
            <a:r>
              <a:rPr lang="zh-CN" altLang="en-US" sz="1400" dirty="0" smtClean="0">
                <a:latin typeface="思源黑体" panose="020B0500000000000000" pitchFamily="34" charset="-122"/>
                <a:ea typeface="思源黑体" panose="020B0500000000000000" pitchFamily="34" charset="-122"/>
              </a:rPr>
              <a:t>规则匹配条件 </a:t>
            </a:r>
            <a:r>
              <a:rPr lang="en-US" altLang="zh-CN" sz="1400" dirty="0" smtClean="0">
                <a:latin typeface="思源黑体" panose="020B0500000000000000" pitchFamily="34" charset="-122"/>
                <a:ea typeface="思源黑体" panose="020B0500000000000000" pitchFamily="34" charset="-122"/>
              </a:rPr>
              <a:t>(Rule Matches)</a:t>
            </a:r>
            <a:r>
              <a:rPr lang="zh-CN" altLang="en-US" sz="1400" dirty="0" smtClean="0">
                <a:latin typeface="思源黑体" panose="020B0500000000000000" pitchFamily="34" charset="-122"/>
                <a:ea typeface="思源黑体" panose="020B0500000000000000" pitchFamily="34" charset="-122"/>
              </a:rPr>
              <a:t>：用于匹配特定的网络数据包。可以同时指定多个条件，它们是“与”的关系。</a:t>
            </a:r>
            <a:endParaRPr lang="en-US" altLang="zh-CN" sz="1400" dirty="0" smtClean="0">
              <a:latin typeface="思源黑体" panose="020B0500000000000000" pitchFamily="34" charset="-122"/>
              <a:ea typeface="思源黑体" panose="020B0500000000000000" pitchFamily="34" charset="-122"/>
            </a:endParaRPr>
          </a:p>
          <a:p>
            <a:r>
              <a:rPr lang="zh-CN" altLang="en-US" sz="1400" dirty="0" smtClean="0">
                <a:latin typeface="思源黑体" panose="020B0500000000000000" pitchFamily="34" charset="-122"/>
                <a:ea typeface="思源黑体" panose="020B0500000000000000" pitchFamily="34" charset="-122"/>
              </a:rPr>
              <a:t>        目标动作 </a:t>
            </a:r>
            <a:r>
              <a:rPr lang="en-US" altLang="zh-CN" sz="1400" dirty="0" smtClean="0">
                <a:latin typeface="思源黑体" panose="020B0500000000000000" pitchFamily="34" charset="-122"/>
                <a:ea typeface="思源黑体" panose="020B0500000000000000" pitchFamily="34" charset="-122"/>
              </a:rPr>
              <a:t>(-j Target)</a:t>
            </a:r>
            <a:r>
              <a:rPr lang="zh-CN" altLang="en-US" sz="1400" dirty="0" smtClean="0">
                <a:latin typeface="思源黑体" panose="020B0500000000000000" pitchFamily="34" charset="-122"/>
                <a:ea typeface="思源黑体" panose="020B0500000000000000" pitchFamily="34" charset="-122"/>
              </a:rPr>
              <a:t>：当数据包匹配了所有条件后，要执行什么操作（</a:t>
            </a:r>
            <a:r>
              <a:rPr lang="en-US" altLang="zh-CN" sz="1400" dirty="0" smtClean="0">
                <a:latin typeface="思源黑体" panose="020B0500000000000000" pitchFamily="34" charset="-122"/>
                <a:ea typeface="思源黑体" panose="020B0500000000000000" pitchFamily="34" charset="-122"/>
              </a:rPr>
              <a:t>ACCEPT/DROP/REJECT/LOG</a:t>
            </a:r>
            <a:r>
              <a:rPr lang="zh-CN" altLang="en-US" sz="1400" dirty="0" smtClean="0">
                <a:latin typeface="思源黑体" panose="020B0500000000000000" pitchFamily="34" charset="-122"/>
                <a:ea typeface="思源黑体" panose="020B0500000000000000" pitchFamily="34" charset="-122"/>
              </a:rPr>
              <a:t>）。</a:t>
            </a:r>
          </a:p>
        </p:txBody>
      </p:sp>
      <p:pic>
        <p:nvPicPr>
          <p:cNvPr id="7" name="Picture 6" descr="C:\Users\mibin\AppData\Local\Temp\企业微信截图_17363307547589.png"/>
          <p:cNvPicPr>
            <a:picLocks noChangeAspect="1" noChangeArrowheads="1"/>
          </p:cNvPicPr>
          <p:nvPr/>
        </p:nvPicPr>
        <p:blipFill>
          <a:blip r:embed="rId2" cstate="print"/>
          <a:srcRect/>
          <a:stretch>
            <a:fillRect/>
          </a:stretch>
        </p:blipFill>
        <p:spPr bwMode="auto">
          <a:xfrm>
            <a:off x="1022685" y="1101407"/>
            <a:ext cx="9154150" cy="2184648"/>
          </a:xfrm>
          <a:prstGeom prst="rect">
            <a:avLst/>
          </a:prstGeom>
          <a:noFill/>
        </p:spPr>
      </p:pic>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a:spLocks noChangeArrowheads="1"/>
          </p:cNvSpPr>
          <p:nvPr/>
        </p:nvSpPr>
        <p:spPr bwMode="auto">
          <a:xfrm>
            <a:off x="0" y="212519"/>
            <a:ext cx="352425" cy="400050"/>
          </a:xfrm>
          <a:prstGeom prst="rect">
            <a:avLst/>
          </a:prstGeom>
          <a:solidFill>
            <a:srgbClr val="5B9BD5">
              <a:lumMod val="50000"/>
            </a:srgbClr>
          </a:solidFill>
          <a:ln w="9525">
            <a:noFill/>
            <a:miter lim="800000"/>
          </a:ln>
        </p:spPr>
        <p:txBody>
          <a:bodyPr anchor="ctr"/>
          <a:lstStyle/>
          <a:p>
            <a:pPr algn="ctr" fontAlgn="base">
              <a:spcBef>
                <a:spcPct val="0"/>
              </a:spcBef>
              <a:spcAft>
                <a:spcPct val="0"/>
              </a:spcAft>
              <a:buFont typeface="Arial" panose="020B0604020202020204" pitchFamily="34" charset="0"/>
              <a:buNone/>
              <a:defRPr/>
            </a:pPr>
            <a:endParaRPr lang="zh-CN" altLang="en-US" kern="0">
              <a:solidFill>
                <a:srgbClr val="1F4E79"/>
              </a:solidFill>
              <a:latin typeface="黑体" panose="02010609060101010101" charset="-122"/>
              <a:ea typeface="黑体" panose="02010609060101010101" charset="-122"/>
            </a:endParaRPr>
          </a:p>
        </p:txBody>
      </p:sp>
      <p:sp>
        <p:nvSpPr>
          <p:cNvPr id="17" name="矩形 16"/>
          <p:cNvSpPr>
            <a:spLocks noChangeArrowheads="1"/>
          </p:cNvSpPr>
          <p:nvPr/>
        </p:nvSpPr>
        <p:spPr bwMode="auto">
          <a:xfrm>
            <a:off x="419100" y="212519"/>
            <a:ext cx="123825" cy="400050"/>
          </a:xfrm>
          <a:prstGeom prst="rect">
            <a:avLst/>
          </a:prstGeom>
          <a:solidFill>
            <a:srgbClr val="7F7F7F"/>
          </a:solidFill>
          <a:ln w="9525">
            <a:noFill/>
            <a:miter lim="800000"/>
          </a:ln>
        </p:spPr>
        <p:txBody>
          <a:bodyPr anchor="ctr"/>
          <a:lstStyle/>
          <a:p>
            <a:pPr algn="ctr" fontAlgn="base">
              <a:spcBef>
                <a:spcPct val="0"/>
              </a:spcBef>
              <a:spcAft>
                <a:spcPct val="0"/>
              </a:spcAft>
              <a:buFont typeface="Arial" panose="020B0604020202020204" pitchFamily="34" charset="0"/>
              <a:buNone/>
            </a:pPr>
            <a:endParaRPr lang="zh-CN" altLang="en-US">
              <a:solidFill>
                <a:srgbClr val="1F4E79"/>
              </a:solidFill>
              <a:latin typeface="黑体" panose="02010609060101010101" charset="-122"/>
              <a:ea typeface="黑体" panose="02010609060101010101" charset="-122"/>
            </a:endParaRPr>
          </a:p>
        </p:txBody>
      </p:sp>
      <p:sp>
        <p:nvSpPr>
          <p:cNvPr id="21" name="标题 1"/>
          <p:cNvSpPr txBox="1"/>
          <p:nvPr/>
        </p:nvSpPr>
        <p:spPr>
          <a:xfrm>
            <a:off x="609600" y="224766"/>
            <a:ext cx="9710057" cy="375557"/>
          </a:xfrm>
          <a:prstGeom prst="rect">
            <a:avLst/>
          </a:prstGeom>
        </p:spPr>
        <p:txBody>
          <a:bodyPr anchor="ctr"/>
          <a:lstStyle>
            <a:lvl1pPr algn="l" rtl="0" eaLnBrk="0" fontAlgn="base" hangingPunct="0">
              <a:spcBef>
                <a:spcPct val="0"/>
              </a:spcBef>
              <a:spcAft>
                <a:spcPct val="0"/>
              </a:spcAft>
              <a:defRPr sz="2800" b="1" kern="1200">
                <a:solidFill>
                  <a:srgbClr val="1F4E79"/>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lvl="0">
              <a:defRPr/>
            </a:pPr>
            <a:r>
              <a:rPr lang="en-US" altLang="zh-CN" sz="2400" dirty="0" smtClean="0">
                <a:solidFill>
                  <a:srgbClr val="0070C0"/>
                </a:solidFill>
                <a:latin typeface="思源黑体" panose="020B0500000000000000" pitchFamily="34" charset="-122"/>
                <a:ea typeface="思源黑体" panose="020B0500000000000000" pitchFamily="34" charset="-122"/>
              </a:rPr>
              <a:t>2</a:t>
            </a:r>
            <a:r>
              <a:rPr lang="zh-CN" altLang="en-US" sz="2400" dirty="0" smtClean="0">
                <a:solidFill>
                  <a:srgbClr val="0070C0"/>
                </a:solidFill>
                <a:latin typeface="思源黑体" panose="020B0500000000000000" pitchFamily="34" charset="-122"/>
                <a:ea typeface="思源黑体" panose="020B0500000000000000" pitchFamily="34" charset="-122"/>
              </a:rPr>
              <a:t>、管理选项</a:t>
            </a:r>
            <a:endParaRPr kumimoji="0" lang="zh-CN" altLang="en-US" sz="2400" b="1" i="0" u="none" strike="noStrike" kern="1200" cap="none" spc="0" normalizeH="0" baseline="0" noProof="0" dirty="0">
              <a:ln>
                <a:noFill/>
              </a:ln>
              <a:solidFill>
                <a:srgbClr val="0070C0"/>
              </a:solidFill>
              <a:effectLst/>
              <a:uLnTx/>
              <a:uFillTx/>
              <a:latin typeface="思源黑体" panose="020B0500000000000000" pitchFamily="34" charset="-122"/>
              <a:ea typeface="思源黑体" panose="020B0500000000000000" pitchFamily="34" charset="-122"/>
              <a:cs typeface="+mj-cs"/>
            </a:endParaRPr>
          </a:p>
        </p:txBody>
      </p:sp>
      <p:sp>
        <p:nvSpPr>
          <p:cNvPr id="6" name="文本框 5"/>
          <p:cNvSpPr txBox="1"/>
          <p:nvPr/>
        </p:nvSpPr>
        <p:spPr>
          <a:xfrm>
            <a:off x="1453662" y="1009394"/>
            <a:ext cx="6898042" cy="307777"/>
          </a:xfrm>
          <a:prstGeom prst="rect">
            <a:avLst/>
          </a:prstGeom>
          <a:noFill/>
        </p:spPr>
        <p:txBody>
          <a:bodyPr wrap="none" rtlCol="0">
            <a:spAutoFit/>
          </a:bodyPr>
          <a:lstStyle/>
          <a:p>
            <a:r>
              <a:rPr lang="zh-CN" altLang="en-US" sz="1400" dirty="0" smtClean="0">
                <a:latin typeface="思源黑体" panose="020B0500000000000000" pitchFamily="34" charset="-122"/>
                <a:ea typeface="思源黑体" panose="020B0500000000000000" pitchFamily="34" charset="-122"/>
              </a:rPr>
              <a:t>管理选项 </a:t>
            </a:r>
            <a:r>
              <a:rPr lang="en-US" altLang="zh-CN" sz="1400" dirty="0" smtClean="0">
                <a:latin typeface="思源黑体" panose="020B0500000000000000" pitchFamily="34" charset="-122"/>
                <a:ea typeface="思源黑体" panose="020B0500000000000000" pitchFamily="34" charset="-122"/>
              </a:rPr>
              <a:t>(Option)</a:t>
            </a:r>
            <a:r>
              <a:rPr lang="zh-CN" altLang="en-US" sz="1400" dirty="0" smtClean="0">
                <a:latin typeface="思源黑体" panose="020B0500000000000000" pitchFamily="34" charset="-122"/>
                <a:ea typeface="思源黑体" panose="020B0500000000000000" pitchFamily="34" charset="-122"/>
              </a:rPr>
              <a:t>：必选的选项，告诉 </a:t>
            </a:r>
            <a:r>
              <a:rPr lang="en-US" altLang="zh-CN" sz="1400" dirty="0" err="1" smtClean="0">
                <a:latin typeface="思源黑体" panose="020B0500000000000000" pitchFamily="34" charset="-122"/>
                <a:ea typeface="思源黑体" panose="020B0500000000000000" pitchFamily="34" charset="-122"/>
              </a:rPr>
              <a:t>iptables</a:t>
            </a:r>
            <a:r>
              <a:rPr lang="en-US" altLang="zh-CN" sz="1400" dirty="0" smtClean="0">
                <a:latin typeface="思源黑体" panose="020B0500000000000000" pitchFamily="34" charset="-122"/>
                <a:ea typeface="思源黑体" panose="020B0500000000000000" pitchFamily="34" charset="-122"/>
              </a:rPr>
              <a:t> </a:t>
            </a:r>
            <a:r>
              <a:rPr lang="zh-CN" altLang="en-US" sz="1400" dirty="0" smtClean="0">
                <a:latin typeface="思源黑体" panose="020B0500000000000000" pitchFamily="34" charset="-122"/>
                <a:ea typeface="思源黑体" panose="020B0500000000000000" pitchFamily="34" charset="-122"/>
              </a:rPr>
              <a:t>要执行什么操作（增</a:t>
            </a:r>
            <a:r>
              <a:rPr lang="en-US" altLang="zh-CN" sz="1400" dirty="0" smtClean="0">
                <a:latin typeface="思源黑体" panose="020B0500000000000000" pitchFamily="34" charset="-122"/>
                <a:ea typeface="思源黑体" panose="020B0500000000000000" pitchFamily="34" charset="-122"/>
              </a:rPr>
              <a:t>/</a:t>
            </a:r>
            <a:r>
              <a:rPr lang="zh-CN" altLang="en-US" sz="1400" dirty="0" smtClean="0">
                <a:latin typeface="思源黑体" panose="020B0500000000000000" pitchFamily="34" charset="-122"/>
                <a:ea typeface="思源黑体" panose="020B0500000000000000" pitchFamily="34" charset="-122"/>
              </a:rPr>
              <a:t>删</a:t>
            </a:r>
            <a:r>
              <a:rPr lang="en-US" altLang="zh-CN" sz="1400" dirty="0" smtClean="0">
                <a:latin typeface="思源黑体" panose="020B0500000000000000" pitchFamily="34" charset="-122"/>
                <a:ea typeface="思源黑体" panose="020B0500000000000000" pitchFamily="34" charset="-122"/>
              </a:rPr>
              <a:t>/</a:t>
            </a:r>
            <a:r>
              <a:rPr lang="zh-CN" altLang="en-US" sz="1400" dirty="0" smtClean="0">
                <a:latin typeface="思源黑体" panose="020B0500000000000000" pitchFamily="34" charset="-122"/>
                <a:ea typeface="思源黑体" panose="020B0500000000000000" pitchFamily="34" charset="-122"/>
              </a:rPr>
              <a:t>改</a:t>
            </a:r>
            <a:r>
              <a:rPr lang="en-US" altLang="zh-CN" sz="1400" dirty="0" smtClean="0">
                <a:latin typeface="思源黑体" panose="020B0500000000000000" pitchFamily="34" charset="-122"/>
                <a:ea typeface="思源黑体" panose="020B0500000000000000" pitchFamily="34" charset="-122"/>
              </a:rPr>
              <a:t>/</a:t>
            </a:r>
            <a:r>
              <a:rPr lang="zh-CN" altLang="en-US" sz="1400" dirty="0" smtClean="0">
                <a:latin typeface="思源黑体" panose="020B0500000000000000" pitchFamily="34" charset="-122"/>
                <a:ea typeface="思源黑体" panose="020B0500000000000000" pitchFamily="34" charset="-122"/>
              </a:rPr>
              <a:t>查</a:t>
            </a:r>
            <a:r>
              <a:rPr lang="en-US" altLang="zh-CN" sz="1400" dirty="0" smtClean="0">
                <a:latin typeface="思源黑体" panose="020B0500000000000000" pitchFamily="34" charset="-122"/>
                <a:ea typeface="思源黑体" panose="020B0500000000000000" pitchFamily="34" charset="-122"/>
              </a:rPr>
              <a:t>/</a:t>
            </a:r>
            <a:r>
              <a:rPr lang="zh-CN" altLang="en-US" sz="1400" dirty="0" smtClean="0">
                <a:latin typeface="思源黑体" panose="020B0500000000000000" pitchFamily="34" charset="-122"/>
                <a:ea typeface="思源黑体" panose="020B0500000000000000" pitchFamily="34" charset="-122"/>
              </a:rPr>
              <a:t>设）</a:t>
            </a:r>
            <a:endParaRPr lang="zh-CN" altLang="en-US" sz="1400" dirty="0">
              <a:latin typeface="思源黑体" panose="020B0500000000000000" pitchFamily="34" charset="-122"/>
              <a:ea typeface="思源黑体" panose="020B0500000000000000" pitchFamily="34" charset="-122"/>
            </a:endParaRPr>
          </a:p>
        </p:txBody>
      </p:sp>
      <p:pic>
        <p:nvPicPr>
          <p:cNvPr id="14340" name="Picture 4" descr="C:\Users\mibin\AppData\Local\Temp\企业微信截图_1758626951925.png"/>
          <p:cNvPicPr>
            <a:picLocks noChangeAspect="1" noChangeArrowheads="1"/>
          </p:cNvPicPr>
          <p:nvPr/>
        </p:nvPicPr>
        <p:blipFill>
          <a:blip r:embed="rId2" cstate="print"/>
          <a:srcRect/>
          <a:stretch>
            <a:fillRect/>
          </a:stretch>
        </p:blipFill>
        <p:spPr bwMode="auto">
          <a:xfrm>
            <a:off x="2591043" y="1709859"/>
            <a:ext cx="4905375" cy="3619500"/>
          </a:xfrm>
          <a:prstGeom prst="rect">
            <a:avLst/>
          </a:prstGeom>
          <a:noFill/>
        </p:spPr>
      </p:pic>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a:spLocks noChangeArrowheads="1"/>
          </p:cNvSpPr>
          <p:nvPr/>
        </p:nvSpPr>
        <p:spPr bwMode="auto">
          <a:xfrm>
            <a:off x="0" y="212519"/>
            <a:ext cx="352425" cy="400050"/>
          </a:xfrm>
          <a:prstGeom prst="rect">
            <a:avLst/>
          </a:prstGeom>
          <a:solidFill>
            <a:srgbClr val="5B9BD5">
              <a:lumMod val="50000"/>
            </a:srgbClr>
          </a:solidFill>
          <a:ln w="9525">
            <a:noFill/>
            <a:miter lim="800000"/>
          </a:ln>
        </p:spPr>
        <p:txBody>
          <a:bodyPr anchor="ctr"/>
          <a:lstStyle/>
          <a:p>
            <a:pPr algn="ctr" fontAlgn="base">
              <a:spcBef>
                <a:spcPct val="0"/>
              </a:spcBef>
              <a:spcAft>
                <a:spcPct val="0"/>
              </a:spcAft>
              <a:buFont typeface="Arial" panose="020B0604020202020204" pitchFamily="34" charset="0"/>
              <a:buNone/>
              <a:defRPr/>
            </a:pPr>
            <a:endParaRPr lang="zh-CN" altLang="en-US" kern="0">
              <a:solidFill>
                <a:srgbClr val="1F4E79"/>
              </a:solidFill>
              <a:latin typeface="黑体" panose="02010609060101010101" charset="-122"/>
              <a:ea typeface="黑体" panose="02010609060101010101" charset="-122"/>
            </a:endParaRPr>
          </a:p>
        </p:txBody>
      </p:sp>
      <p:sp>
        <p:nvSpPr>
          <p:cNvPr id="17" name="矩形 16"/>
          <p:cNvSpPr>
            <a:spLocks noChangeArrowheads="1"/>
          </p:cNvSpPr>
          <p:nvPr/>
        </p:nvSpPr>
        <p:spPr bwMode="auto">
          <a:xfrm>
            <a:off x="419100" y="212519"/>
            <a:ext cx="123825" cy="400050"/>
          </a:xfrm>
          <a:prstGeom prst="rect">
            <a:avLst/>
          </a:prstGeom>
          <a:solidFill>
            <a:srgbClr val="7F7F7F"/>
          </a:solidFill>
          <a:ln w="9525">
            <a:noFill/>
            <a:miter lim="800000"/>
          </a:ln>
        </p:spPr>
        <p:txBody>
          <a:bodyPr anchor="ctr"/>
          <a:lstStyle/>
          <a:p>
            <a:pPr algn="ctr" fontAlgn="base">
              <a:spcBef>
                <a:spcPct val="0"/>
              </a:spcBef>
              <a:spcAft>
                <a:spcPct val="0"/>
              </a:spcAft>
              <a:buFont typeface="Arial" panose="020B0604020202020204" pitchFamily="34" charset="0"/>
              <a:buNone/>
            </a:pPr>
            <a:endParaRPr lang="zh-CN" altLang="en-US">
              <a:solidFill>
                <a:srgbClr val="1F4E79"/>
              </a:solidFill>
              <a:latin typeface="黑体" panose="02010609060101010101" charset="-122"/>
              <a:ea typeface="黑体" panose="02010609060101010101" charset="-122"/>
            </a:endParaRPr>
          </a:p>
        </p:txBody>
      </p:sp>
      <p:sp>
        <p:nvSpPr>
          <p:cNvPr id="21" name="标题 1"/>
          <p:cNvSpPr txBox="1"/>
          <p:nvPr/>
        </p:nvSpPr>
        <p:spPr>
          <a:xfrm>
            <a:off x="609600" y="224766"/>
            <a:ext cx="9710057" cy="375557"/>
          </a:xfrm>
          <a:prstGeom prst="rect">
            <a:avLst/>
          </a:prstGeom>
        </p:spPr>
        <p:txBody>
          <a:bodyPr anchor="ctr"/>
          <a:lstStyle>
            <a:lvl1pPr algn="l" rtl="0" eaLnBrk="0" fontAlgn="base" hangingPunct="0">
              <a:spcBef>
                <a:spcPct val="0"/>
              </a:spcBef>
              <a:spcAft>
                <a:spcPct val="0"/>
              </a:spcAft>
              <a:defRPr sz="2800" b="1" kern="1200">
                <a:solidFill>
                  <a:srgbClr val="1F4E79"/>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lvl="0">
              <a:defRPr/>
            </a:pPr>
            <a:r>
              <a:rPr lang="en-US" altLang="zh-CN" sz="2400" dirty="0" smtClean="0">
                <a:solidFill>
                  <a:srgbClr val="0070C0"/>
                </a:solidFill>
                <a:latin typeface="思源黑体" panose="020B0500000000000000" pitchFamily="34" charset="-122"/>
                <a:ea typeface="思源黑体" panose="020B0500000000000000" pitchFamily="34" charset="-122"/>
              </a:rPr>
              <a:t>3</a:t>
            </a:r>
            <a:r>
              <a:rPr lang="zh-CN" altLang="en-US" sz="2400" dirty="0" smtClean="0">
                <a:solidFill>
                  <a:srgbClr val="0070C0"/>
                </a:solidFill>
                <a:latin typeface="思源黑体" panose="020B0500000000000000" pitchFamily="34" charset="-122"/>
                <a:ea typeface="思源黑体" panose="020B0500000000000000" pitchFamily="34" charset="-122"/>
              </a:rPr>
              <a:t>、规则说明</a:t>
            </a:r>
            <a:endParaRPr kumimoji="0" lang="zh-CN" altLang="en-US" sz="2400" b="1" i="0" u="none" strike="noStrike" kern="1200" cap="none" spc="0" normalizeH="0" baseline="0" noProof="0" dirty="0">
              <a:ln>
                <a:noFill/>
              </a:ln>
              <a:solidFill>
                <a:srgbClr val="0070C0"/>
              </a:solidFill>
              <a:effectLst/>
              <a:uLnTx/>
              <a:uFillTx/>
              <a:latin typeface="思源黑体" panose="020B0500000000000000" pitchFamily="34" charset="-122"/>
              <a:ea typeface="思源黑体" panose="020B0500000000000000" pitchFamily="34" charset="-122"/>
              <a:cs typeface="+mj-cs"/>
            </a:endParaRPr>
          </a:p>
        </p:txBody>
      </p:sp>
      <p:sp>
        <p:nvSpPr>
          <p:cNvPr id="6" name="文本框 5"/>
          <p:cNvSpPr txBox="1"/>
          <p:nvPr/>
        </p:nvSpPr>
        <p:spPr>
          <a:xfrm>
            <a:off x="1216270" y="930264"/>
            <a:ext cx="9573455" cy="307777"/>
          </a:xfrm>
          <a:prstGeom prst="rect">
            <a:avLst/>
          </a:prstGeom>
          <a:noFill/>
        </p:spPr>
        <p:txBody>
          <a:bodyPr wrap="none" rtlCol="0">
            <a:spAutoFit/>
          </a:bodyPr>
          <a:lstStyle/>
          <a:p>
            <a:r>
              <a:rPr lang="zh-CN" altLang="en-US" sz="1400" dirty="0" smtClean="0">
                <a:latin typeface="思源黑体" panose="020B0500000000000000" pitchFamily="34" charset="-122"/>
                <a:ea typeface="思源黑体" panose="020B0500000000000000" pitchFamily="34" charset="-122"/>
              </a:rPr>
              <a:t>规则匹配条件 是语句中比较复杂的部分，用于匹配特定的网络数据包。可以同时指定多个条件，它们是“与”的关系。</a:t>
            </a:r>
            <a:endParaRPr lang="zh-CN" altLang="en-US" sz="1400" dirty="0">
              <a:latin typeface="思源黑体" panose="020B0500000000000000" pitchFamily="34" charset="-122"/>
              <a:ea typeface="思源黑体" panose="020B0500000000000000" pitchFamily="34" charset="-122"/>
            </a:endParaRPr>
          </a:p>
        </p:txBody>
      </p:sp>
      <p:pic>
        <p:nvPicPr>
          <p:cNvPr id="50180" name="Picture 4" descr="C:\Users\mibin\AppData\Local\Temp\企业微信截图_17586279183400.png"/>
          <p:cNvPicPr>
            <a:picLocks noChangeAspect="1" noChangeArrowheads="1"/>
          </p:cNvPicPr>
          <p:nvPr/>
        </p:nvPicPr>
        <p:blipFill>
          <a:blip r:embed="rId2" cstate="print"/>
          <a:srcRect/>
          <a:stretch>
            <a:fillRect/>
          </a:stretch>
        </p:blipFill>
        <p:spPr bwMode="auto">
          <a:xfrm>
            <a:off x="2611314" y="1312433"/>
            <a:ext cx="6110655" cy="5243948"/>
          </a:xfrm>
          <a:prstGeom prst="rect">
            <a:avLst/>
          </a:prstGeom>
          <a:noFill/>
        </p:spPr>
      </p:pic>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340640" y="272809"/>
            <a:ext cx="2054690" cy="646331"/>
          </a:xfrm>
          <a:prstGeom prst="rect">
            <a:avLst/>
          </a:prstGeom>
          <a:noFill/>
        </p:spPr>
        <p:txBody>
          <a:bodyPr wrap="square" lIns="91440" tIns="45720" rIns="91440" bIns="45720">
            <a:spAutoFit/>
          </a:bodyPr>
          <a:lstStyle/>
          <a:p>
            <a:pPr algn="ctr"/>
            <a:r>
              <a:rPr lang="zh-CN" altLang="en-US" sz="3600" b="1" cap="none" spc="0" dirty="0" smtClean="0">
                <a:ln w="9525">
                  <a:noFill/>
                  <a:prstDash val="solid"/>
                </a:ln>
                <a:solidFill>
                  <a:schemeClr val="accent5">
                    <a:lumMod val="75000"/>
                  </a:schemeClr>
                </a:solidFill>
                <a:latin typeface="思源黑体" panose="020B0500000000000000" pitchFamily="34" charset="-122"/>
                <a:ea typeface="思源黑体" panose="020B0500000000000000" pitchFamily="34" charset="-122"/>
              </a:rPr>
              <a:t>本章小结</a:t>
            </a:r>
            <a:endParaRPr lang="zh-CN" altLang="en-US" sz="3600" b="1" cap="none" spc="0" dirty="0">
              <a:ln w="9525">
                <a:noFill/>
                <a:prstDash val="solid"/>
              </a:ln>
              <a:solidFill>
                <a:schemeClr val="accent5">
                  <a:lumMod val="75000"/>
                </a:schemeClr>
              </a:solidFill>
              <a:latin typeface="思源黑体" panose="020B0500000000000000" pitchFamily="34" charset="-122"/>
              <a:ea typeface="思源黑体" panose="020B0500000000000000" pitchFamily="34" charset="-122"/>
            </a:endParaRPr>
          </a:p>
        </p:txBody>
      </p:sp>
      <p:sp>
        <p:nvSpPr>
          <p:cNvPr id="32" name="矩形 31"/>
          <p:cNvSpPr/>
          <p:nvPr/>
        </p:nvSpPr>
        <p:spPr>
          <a:xfrm>
            <a:off x="711890" y="1135702"/>
            <a:ext cx="2140330" cy="369332"/>
          </a:xfrm>
          <a:prstGeom prst="rect">
            <a:avLst/>
          </a:prstGeom>
        </p:spPr>
        <p:txBody>
          <a:bodyPr wrap="none">
            <a:spAutoFit/>
          </a:bodyPr>
          <a:lstStyle/>
          <a:p>
            <a:r>
              <a:rPr lang="zh-CN" altLang="en-US" b="1" dirty="0" smtClean="0">
                <a:solidFill>
                  <a:srgbClr val="0070C0"/>
                </a:solidFill>
                <a:latin typeface="思源黑体" panose="020B0500000000000000" pitchFamily="34" charset="-122"/>
                <a:ea typeface="思源黑体" panose="020B0500000000000000" pitchFamily="34" charset="-122"/>
                <a:sym typeface="+mn-lt"/>
              </a:rPr>
              <a:t>基本语法</a:t>
            </a:r>
            <a:r>
              <a:rPr lang="en-US" altLang="zh-CN" b="1" dirty="0" smtClean="0">
                <a:solidFill>
                  <a:srgbClr val="0070C0"/>
                </a:solidFill>
                <a:latin typeface="思源黑体" panose="020B0500000000000000" pitchFamily="34" charset="-122"/>
                <a:ea typeface="思源黑体" panose="020B0500000000000000" pitchFamily="34" charset="-122"/>
                <a:sym typeface="+mn-lt"/>
              </a:rPr>
              <a:t>/</a:t>
            </a:r>
            <a:r>
              <a:rPr lang="zh-CN" altLang="en-US" b="1" dirty="0" smtClean="0">
                <a:solidFill>
                  <a:srgbClr val="0070C0"/>
                </a:solidFill>
                <a:latin typeface="思源黑体" panose="020B0500000000000000" pitchFamily="34" charset="-122"/>
                <a:ea typeface="思源黑体" panose="020B0500000000000000" pitchFamily="34" charset="-122"/>
                <a:sym typeface="+mn-lt"/>
              </a:rPr>
              <a:t>命令参数</a:t>
            </a:r>
          </a:p>
        </p:txBody>
      </p:sp>
      <p:grpSp>
        <p:nvGrpSpPr>
          <p:cNvPr id="33" name="组合 32"/>
          <p:cNvGrpSpPr/>
          <p:nvPr/>
        </p:nvGrpSpPr>
        <p:grpSpPr>
          <a:xfrm>
            <a:off x="9108771" y="5142372"/>
            <a:ext cx="3083229" cy="1715628"/>
            <a:chOff x="3909171" y="5101626"/>
            <a:chExt cx="2312422" cy="1756375"/>
          </a:xfrm>
        </p:grpSpPr>
        <p:sp>
          <p:nvSpPr>
            <p:cNvPr id="34" name="任意多边形: 形状 14"/>
            <p:cNvSpPr/>
            <p:nvPr/>
          </p:nvSpPr>
          <p:spPr>
            <a:xfrm>
              <a:off x="3909171" y="5617900"/>
              <a:ext cx="2312422" cy="1240101"/>
            </a:xfrm>
            <a:custGeom>
              <a:avLst/>
              <a:gdLst>
                <a:gd name="connsiteX0" fmla="*/ 688066 w 2750572"/>
                <a:gd name="connsiteY0" fmla="*/ 0 h 1240101"/>
                <a:gd name="connsiteX1" fmla="*/ 2062507 w 2750572"/>
                <a:gd name="connsiteY1" fmla="*/ 0 h 1240101"/>
                <a:gd name="connsiteX2" fmla="*/ 2750572 w 2750572"/>
                <a:gd name="connsiteY2" fmla="*/ 1186787 h 1240101"/>
                <a:gd name="connsiteX3" fmla="*/ 2719750 w 2750572"/>
                <a:gd name="connsiteY3" fmla="*/ 1240101 h 1240101"/>
                <a:gd name="connsiteX4" fmla="*/ 30822 w 2750572"/>
                <a:gd name="connsiteY4" fmla="*/ 1240101 h 1240101"/>
                <a:gd name="connsiteX5" fmla="*/ 0 w 2750572"/>
                <a:gd name="connsiteY5" fmla="*/ 1186787 h 1240101"/>
                <a:gd name="connsiteX6" fmla="*/ 688066 w 2750572"/>
                <a:gd name="connsiteY6" fmla="*/ 0 h 1240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0572" h="1240101">
                  <a:moveTo>
                    <a:pt x="688066" y="0"/>
                  </a:moveTo>
                  <a:lnTo>
                    <a:pt x="2062507" y="0"/>
                  </a:lnTo>
                  <a:lnTo>
                    <a:pt x="2750572" y="1186787"/>
                  </a:lnTo>
                  <a:lnTo>
                    <a:pt x="2719750" y="1240101"/>
                  </a:lnTo>
                  <a:lnTo>
                    <a:pt x="30822" y="1240101"/>
                  </a:lnTo>
                  <a:lnTo>
                    <a:pt x="0" y="1186787"/>
                  </a:lnTo>
                  <a:lnTo>
                    <a:pt x="688066" y="0"/>
                  </a:lnTo>
                  <a:close/>
                </a:path>
              </a:pathLst>
            </a:custGeom>
            <a:solidFill>
              <a:schemeClr val="accent1">
                <a:alpha val="1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5" name="Freeform 21"/>
            <p:cNvSpPr/>
            <p:nvPr/>
          </p:nvSpPr>
          <p:spPr bwMode="auto">
            <a:xfrm>
              <a:off x="4021319" y="5101626"/>
              <a:ext cx="866775" cy="1026882"/>
            </a:xfrm>
            <a:custGeom>
              <a:avLst/>
              <a:gdLst>
                <a:gd name="T0" fmla="*/ 1220 w 1627"/>
                <a:gd name="T1" fmla="*/ 0 h 1406"/>
                <a:gd name="T2" fmla="*/ 407 w 1627"/>
                <a:gd name="T3" fmla="*/ 0 h 1406"/>
                <a:gd name="T4" fmla="*/ 0 w 1627"/>
                <a:gd name="T5" fmla="*/ 702 h 1406"/>
                <a:gd name="T6" fmla="*/ 407 w 1627"/>
                <a:gd name="T7" fmla="*/ 1406 h 1406"/>
                <a:gd name="T8" fmla="*/ 1220 w 1627"/>
                <a:gd name="T9" fmla="*/ 1406 h 1406"/>
                <a:gd name="T10" fmla="*/ 1627 w 1627"/>
                <a:gd name="T11" fmla="*/ 702 h 1406"/>
                <a:gd name="T12" fmla="*/ 1220 w 1627"/>
                <a:gd name="T13" fmla="*/ 0 h 1406"/>
              </a:gdLst>
              <a:ahLst/>
              <a:cxnLst>
                <a:cxn ang="0">
                  <a:pos x="T0" y="T1"/>
                </a:cxn>
                <a:cxn ang="0">
                  <a:pos x="T2" y="T3"/>
                </a:cxn>
                <a:cxn ang="0">
                  <a:pos x="T4" y="T5"/>
                </a:cxn>
                <a:cxn ang="0">
                  <a:pos x="T6" y="T7"/>
                </a:cxn>
                <a:cxn ang="0">
                  <a:pos x="T8" y="T9"/>
                </a:cxn>
                <a:cxn ang="0">
                  <a:pos x="T10" y="T11"/>
                </a:cxn>
                <a:cxn ang="0">
                  <a:pos x="T12" y="T13"/>
                </a:cxn>
              </a:cxnLst>
              <a:rect l="0" t="0" r="r" b="b"/>
              <a:pathLst>
                <a:path w="1627" h="1406">
                  <a:moveTo>
                    <a:pt x="1220" y="0"/>
                  </a:moveTo>
                  <a:lnTo>
                    <a:pt x="407" y="0"/>
                  </a:lnTo>
                  <a:lnTo>
                    <a:pt x="0" y="702"/>
                  </a:lnTo>
                  <a:lnTo>
                    <a:pt x="407" y="1406"/>
                  </a:lnTo>
                  <a:lnTo>
                    <a:pt x="1220" y="1406"/>
                  </a:lnTo>
                  <a:lnTo>
                    <a:pt x="1627" y="702"/>
                  </a:lnTo>
                  <a:lnTo>
                    <a:pt x="1220" y="0"/>
                  </a:lnTo>
                  <a:close/>
                </a:path>
              </a:pathLst>
            </a:custGeom>
            <a:solidFill>
              <a:schemeClr val="accent1">
                <a:alpha val="3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grpSp>
      <p:sp>
        <p:nvSpPr>
          <p:cNvPr id="8" name="TextBox 15"/>
          <p:cNvSpPr txBox="1"/>
          <p:nvPr/>
        </p:nvSpPr>
        <p:spPr>
          <a:xfrm>
            <a:off x="711890" y="1573816"/>
            <a:ext cx="5785337" cy="1041258"/>
          </a:xfrm>
          <a:prstGeom prst="rect">
            <a:avLst/>
          </a:prstGeom>
          <a:noFill/>
        </p:spPr>
        <p:txBody>
          <a:bodyPr wrap="square" lIns="71067" tIns="35534" rIns="71067" bIns="35534" rtlCol="0">
            <a:spAutoFit/>
          </a:bodyPr>
          <a:lstStyle>
            <a:defPPr>
              <a:defRPr lang="zh-CN"/>
            </a:defPPr>
            <a:lvl1pPr>
              <a:lnSpc>
                <a:spcPct val="150000"/>
              </a:lnSpc>
              <a:defRPr sz="1800">
                <a:solidFill>
                  <a:schemeClr val="tx1">
                    <a:lumMod val="50000"/>
                    <a:lumOff val="50000"/>
                  </a:schemeClr>
                </a:solidFill>
                <a:latin typeface="微软雅黑" panose="020B0503020204020204" charset="-122"/>
                <a:ea typeface="微软雅黑" panose="020B0503020204020204" charset="-122"/>
              </a:defRPr>
            </a:lvl1pPr>
          </a:lstStyle>
          <a:p>
            <a:r>
              <a:rPr lang="zh-CN" altLang="en-US" sz="1400" dirty="0">
                <a:solidFill>
                  <a:schemeClr val="tx1"/>
                </a:solidFill>
                <a:latin typeface="思源黑体" panose="020B0500000000000000" pitchFamily="34" charset="-122"/>
                <a:ea typeface="思源黑体" panose="020B0500000000000000" pitchFamily="34" charset="-122"/>
              </a:rPr>
              <a:t> </a:t>
            </a:r>
            <a:r>
              <a:rPr lang="zh-CN" altLang="en-US" sz="1400" dirty="0" smtClean="0">
                <a:solidFill>
                  <a:schemeClr val="tx1"/>
                </a:solidFill>
                <a:latin typeface="思源黑体" panose="020B0500000000000000" pitchFamily="34" charset="-122"/>
                <a:ea typeface="思源黑体" panose="020B0500000000000000" pitchFamily="34" charset="-122"/>
              </a:rPr>
              <a:t>      本章介绍了</a:t>
            </a:r>
            <a:r>
              <a:rPr lang="en-US" altLang="zh-CN" sz="1400" dirty="0" err="1" smtClean="0">
                <a:solidFill>
                  <a:schemeClr val="tx1"/>
                </a:solidFill>
                <a:latin typeface="思源黑体" panose="020B0500000000000000" pitchFamily="34" charset="-122"/>
                <a:ea typeface="思源黑体" panose="020B0500000000000000" pitchFamily="34" charset="-122"/>
              </a:rPr>
              <a:t>Iptables</a:t>
            </a:r>
            <a:r>
              <a:rPr lang="zh-CN" altLang="en-US" sz="1400" dirty="0" smtClean="0">
                <a:solidFill>
                  <a:schemeClr val="tx1"/>
                </a:solidFill>
                <a:latin typeface="思源黑体" panose="020B0500000000000000" pitchFamily="34" charset="-122"/>
                <a:ea typeface="思源黑体" panose="020B0500000000000000" pitchFamily="34" charset="-122"/>
              </a:rPr>
              <a:t>语句的格式</a:t>
            </a:r>
            <a:r>
              <a:rPr lang="en-US" altLang="zh-CN" sz="1400" dirty="0" smtClean="0">
                <a:solidFill>
                  <a:schemeClr val="tx1"/>
                </a:solidFill>
                <a:latin typeface="思源黑体" panose="020B0500000000000000" pitchFamily="34" charset="-122"/>
                <a:ea typeface="思源黑体" panose="020B0500000000000000" pitchFamily="34" charset="-122"/>
              </a:rPr>
              <a:t>/</a:t>
            </a:r>
            <a:r>
              <a:rPr lang="zh-CN" altLang="en-US" sz="1400" dirty="0" smtClean="0">
                <a:solidFill>
                  <a:schemeClr val="tx1"/>
                </a:solidFill>
                <a:latin typeface="思源黑体" panose="020B0500000000000000" pitchFamily="34" charset="-122"/>
                <a:ea typeface="思源黑体" panose="020B0500000000000000" pitchFamily="34" charset="-122"/>
              </a:rPr>
              <a:t>组成。对其中的管理选项和规则匹配条件进行了详细说明。</a:t>
            </a:r>
            <a:endParaRPr lang="en-US" altLang="zh-CN" sz="1400" dirty="0" smtClean="0">
              <a:solidFill>
                <a:schemeClr val="tx1"/>
              </a:solidFill>
              <a:latin typeface="思源黑体" panose="020B0500000000000000" pitchFamily="34" charset="-122"/>
              <a:ea typeface="思源黑体" panose="020B0500000000000000" pitchFamily="34" charset="-122"/>
            </a:endParaRPr>
          </a:p>
          <a:p>
            <a:r>
              <a:rPr lang="zh-CN" altLang="en-US" sz="1400" dirty="0" smtClean="0">
                <a:solidFill>
                  <a:schemeClr val="tx1"/>
                </a:solidFill>
                <a:latin typeface="思源黑体" panose="020B0500000000000000" pitchFamily="34" charset="-122"/>
                <a:ea typeface="思源黑体" panose="020B0500000000000000" pitchFamily="34" charset="-122"/>
              </a:rPr>
              <a:t>      了解</a:t>
            </a:r>
            <a:r>
              <a:rPr lang="en-US" altLang="zh-CN" sz="1400" dirty="0" err="1" smtClean="0">
                <a:solidFill>
                  <a:schemeClr val="tx1"/>
                </a:solidFill>
                <a:latin typeface="思源黑体" panose="020B0500000000000000" pitchFamily="34" charset="-122"/>
                <a:ea typeface="思源黑体" panose="020B0500000000000000" pitchFamily="34" charset="-122"/>
              </a:rPr>
              <a:t>Iptables</a:t>
            </a:r>
            <a:r>
              <a:rPr lang="zh-CN" altLang="en-US" sz="1400" dirty="0" smtClean="0">
                <a:solidFill>
                  <a:schemeClr val="tx1"/>
                </a:solidFill>
                <a:latin typeface="思源黑体" panose="020B0500000000000000" pitchFamily="34" charset="-122"/>
                <a:ea typeface="思源黑体" panose="020B0500000000000000" pitchFamily="34" charset="-122"/>
              </a:rPr>
              <a:t>基本语法及命令参数，为项目中实际应用打好基础。</a:t>
            </a:r>
            <a:endParaRPr lang="en-US" altLang="zh-CN" sz="1400" dirty="0" smtClean="0">
              <a:solidFill>
                <a:schemeClr val="tx1"/>
              </a:solidFill>
              <a:latin typeface="思源黑体" panose="020B0500000000000000" pitchFamily="34" charset="-122"/>
              <a:ea typeface="思源黑体" panose="020B0500000000000000" pitchFamily="34" charset="-122"/>
            </a:endParaRPr>
          </a:p>
        </p:txBody>
      </p:sp>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50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22" presetClass="entr" presetSubtype="1"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p:cNvPicPr>
            <a:picLocks noChangeAspect="1"/>
          </p:cNvPicPr>
          <p:nvPr/>
        </p:nvPicPr>
        <p:blipFill>
          <a:blip r:embed="rId11" cstate="print">
            <a:extLst>
              <a:ext uri="{BEBA8EAE-BF5A-486C-A8C5-ECC9F3942E4B}">
                <a14:imgProps xmlns="" xmlns:a14="http://schemas.microsoft.com/office/drawing/2010/main">
                  <a14:imgLayer r:embed="rId12">
                    <a14:imgEffect>
                      <a14:saturation sat="80000"/>
                    </a14:imgEffect>
                  </a14:imgLayer>
                </a14:imgProps>
              </a:ext>
              <a:ext uri="{28A0092B-C50C-407E-A947-70E740481C1C}">
                <a14:useLocalDpi xmlns="" xmlns:a14="http://schemas.microsoft.com/office/drawing/2010/main" val="0"/>
              </a:ext>
            </a:extLst>
          </a:blip>
          <a:stretch>
            <a:fillRect/>
          </a:stretch>
        </p:blipFill>
        <p:spPr>
          <a:xfrm>
            <a:off x="0" y="2704"/>
            <a:ext cx="5234342" cy="6852592"/>
          </a:xfrm>
          <a:prstGeom prst="rect">
            <a:avLst/>
          </a:prstGeom>
        </p:spPr>
      </p:pic>
      <p:grpSp>
        <p:nvGrpSpPr>
          <p:cNvPr id="2" name="组合 23"/>
          <p:cNvGrpSpPr/>
          <p:nvPr/>
        </p:nvGrpSpPr>
        <p:grpSpPr>
          <a:xfrm>
            <a:off x="0" y="4060494"/>
            <a:ext cx="3028950" cy="2797506"/>
            <a:chOff x="0" y="3609283"/>
            <a:chExt cx="3097161" cy="3248717"/>
          </a:xfrm>
        </p:grpSpPr>
        <p:sp>
          <p:nvSpPr>
            <p:cNvPr id="25" name="任意多边形: 形状 35"/>
            <p:cNvSpPr/>
            <p:nvPr/>
          </p:nvSpPr>
          <p:spPr>
            <a:xfrm>
              <a:off x="0" y="3609283"/>
              <a:ext cx="3097161" cy="3248717"/>
            </a:xfrm>
            <a:custGeom>
              <a:avLst/>
              <a:gdLst>
                <a:gd name="connsiteX0" fmla="*/ 0 w 3097161"/>
                <a:gd name="connsiteY0" fmla="*/ 0 h 3248717"/>
                <a:gd name="connsiteX1" fmla="*/ 1807845 w 3097161"/>
                <a:gd name="connsiteY1" fmla="*/ 0 h 3248717"/>
                <a:gd name="connsiteX2" fmla="*/ 3097161 w 3097161"/>
                <a:gd name="connsiteY2" fmla="*/ 2230611 h 3248717"/>
                <a:gd name="connsiteX3" fmla="*/ 2508869 w 3097161"/>
                <a:gd name="connsiteY3" fmla="*/ 3248717 h 3248717"/>
                <a:gd name="connsiteX4" fmla="*/ 0 w 3097161"/>
                <a:gd name="connsiteY4" fmla="*/ 3248717 h 3248717"/>
                <a:gd name="connsiteX5" fmla="*/ 0 w 3097161"/>
                <a:gd name="connsiteY5" fmla="*/ 0 h 3248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97161" h="3248717">
                  <a:moveTo>
                    <a:pt x="0" y="0"/>
                  </a:moveTo>
                  <a:lnTo>
                    <a:pt x="1807845" y="0"/>
                  </a:lnTo>
                  <a:lnTo>
                    <a:pt x="3097161" y="2230611"/>
                  </a:lnTo>
                  <a:lnTo>
                    <a:pt x="2508869" y="3248717"/>
                  </a:lnTo>
                  <a:lnTo>
                    <a:pt x="0" y="3248717"/>
                  </a:lnTo>
                  <a:lnTo>
                    <a:pt x="0" y="0"/>
                  </a:lnTo>
                  <a:close/>
                </a:path>
              </a:pathLst>
            </a:cu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Freeform 11"/>
            <p:cNvSpPr/>
            <p:nvPr/>
          </p:nvSpPr>
          <p:spPr bwMode="auto">
            <a:xfrm>
              <a:off x="0" y="3995737"/>
              <a:ext cx="2105025" cy="2862263"/>
            </a:xfrm>
            <a:custGeom>
              <a:avLst/>
              <a:gdLst>
                <a:gd name="T0" fmla="*/ 774 w 1326"/>
                <a:gd name="T1" fmla="*/ 0 h 1803"/>
                <a:gd name="T2" fmla="*/ 0 w 1326"/>
                <a:gd name="T3" fmla="*/ 0 h 1803"/>
                <a:gd name="T4" fmla="*/ 0 w 1326"/>
                <a:gd name="T5" fmla="*/ 1803 h 1803"/>
                <a:gd name="T6" fmla="*/ 836 w 1326"/>
                <a:gd name="T7" fmla="*/ 1803 h 1803"/>
                <a:gd name="T8" fmla="*/ 1326 w 1326"/>
                <a:gd name="T9" fmla="*/ 955 h 1803"/>
                <a:gd name="T10" fmla="*/ 774 w 1326"/>
                <a:gd name="T11" fmla="*/ 0 h 1803"/>
              </a:gdLst>
              <a:ahLst/>
              <a:cxnLst>
                <a:cxn ang="0">
                  <a:pos x="T0" y="T1"/>
                </a:cxn>
                <a:cxn ang="0">
                  <a:pos x="T2" y="T3"/>
                </a:cxn>
                <a:cxn ang="0">
                  <a:pos x="T4" y="T5"/>
                </a:cxn>
                <a:cxn ang="0">
                  <a:pos x="T6" y="T7"/>
                </a:cxn>
                <a:cxn ang="0">
                  <a:pos x="T8" y="T9"/>
                </a:cxn>
                <a:cxn ang="0">
                  <a:pos x="T10" y="T11"/>
                </a:cxn>
              </a:cxnLst>
              <a:rect l="0" t="0" r="r" b="b"/>
              <a:pathLst>
                <a:path w="1326" h="1803">
                  <a:moveTo>
                    <a:pt x="774" y="0"/>
                  </a:moveTo>
                  <a:lnTo>
                    <a:pt x="0" y="0"/>
                  </a:lnTo>
                  <a:lnTo>
                    <a:pt x="0" y="1803"/>
                  </a:lnTo>
                  <a:lnTo>
                    <a:pt x="836" y="1803"/>
                  </a:lnTo>
                  <a:lnTo>
                    <a:pt x="1326" y="955"/>
                  </a:lnTo>
                  <a:lnTo>
                    <a:pt x="774" y="0"/>
                  </a:lnTo>
                  <a:close/>
                </a:path>
              </a:pathLst>
            </a:custGeom>
            <a:solidFill>
              <a:schemeClr val="accent1">
                <a:alpha val="42000"/>
              </a:schemeClr>
            </a:solidFill>
            <a:ln>
              <a:noFill/>
            </a:ln>
          </p:spPr>
          <p:txBody>
            <a:bodyPr vert="horz" wrap="square" lIns="91440" tIns="45720" rIns="91440" bIns="45720" numCol="1" anchor="t" anchorCtr="0" compatLnSpc="1"/>
            <a:lstStyle/>
            <a:p>
              <a:endParaRPr lang="zh-CN" altLang="en-US"/>
            </a:p>
          </p:txBody>
        </p:sp>
      </p:grpSp>
      <p:sp>
        <p:nvSpPr>
          <p:cNvPr id="27" name="矩形 26"/>
          <p:cNvSpPr/>
          <p:nvPr/>
        </p:nvSpPr>
        <p:spPr>
          <a:xfrm>
            <a:off x="808811" y="450334"/>
            <a:ext cx="2778325" cy="1446550"/>
          </a:xfrm>
          <a:prstGeom prst="rect">
            <a:avLst/>
          </a:prstGeom>
        </p:spPr>
        <p:txBody>
          <a:bodyPr wrap="none">
            <a:spAutoFit/>
          </a:bodyPr>
          <a:lstStyle/>
          <a:p>
            <a:r>
              <a:rPr lang="zh-CN" altLang="en-US" sz="8800" b="1" dirty="0">
                <a:solidFill>
                  <a:schemeClr val="bg1"/>
                </a:solidFill>
                <a:latin typeface="思源黑体" panose="020B0500000000000000" pitchFamily="34" charset="-122"/>
                <a:ea typeface="思源黑体" panose="020B0500000000000000" pitchFamily="34" charset="-122"/>
                <a:sym typeface="+mn-lt"/>
              </a:rPr>
              <a:t>目 录</a:t>
            </a:r>
            <a:endParaRPr lang="zh-CN" altLang="en-US" sz="8800" b="1" dirty="0"/>
          </a:p>
        </p:txBody>
      </p:sp>
      <p:sp>
        <p:nvSpPr>
          <p:cNvPr id="28" name="文本框 45"/>
          <p:cNvSpPr>
            <a:spLocks noChangeArrowheads="1"/>
          </p:cNvSpPr>
          <p:nvPr/>
        </p:nvSpPr>
        <p:spPr bwMode="auto">
          <a:xfrm>
            <a:off x="905495" y="1709829"/>
            <a:ext cx="2613344" cy="769441"/>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altLang="zh-CN" sz="4400" dirty="0">
                <a:solidFill>
                  <a:schemeClr val="bg1"/>
                </a:solidFill>
                <a:latin typeface="思源黑体" panose="020B0500000000000000" pitchFamily="34" charset="-122"/>
                <a:ea typeface="思源黑体" panose="020B0500000000000000" pitchFamily="34" charset="-122"/>
                <a:sym typeface="+mn-lt"/>
              </a:rPr>
              <a:t>Contents</a:t>
            </a:r>
            <a:endParaRPr lang="zh-CN" altLang="en-US" sz="4400" dirty="0">
              <a:solidFill>
                <a:schemeClr val="bg1"/>
              </a:solidFill>
              <a:latin typeface="思源黑体" panose="020B0500000000000000" pitchFamily="34" charset="-122"/>
              <a:ea typeface="思源黑体" panose="020B0500000000000000" pitchFamily="34" charset="-122"/>
              <a:sym typeface="+mn-lt"/>
            </a:endParaRPr>
          </a:p>
        </p:txBody>
      </p:sp>
      <p:grpSp>
        <p:nvGrpSpPr>
          <p:cNvPr id="3" name="组合 28"/>
          <p:cNvGrpSpPr/>
          <p:nvPr/>
        </p:nvGrpSpPr>
        <p:grpSpPr>
          <a:xfrm>
            <a:off x="3471020" y="5029199"/>
            <a:ext cx="3667429" cy="1828801"/>
            <a:chOff x="3471021" y="4985765"/>
            <a:chExt cx="2750572" cy="1872236"/>
          </a:xfrm>
        </p:grpSpPr>
        <p:sp>
          <p:nvSpPr>
            <p:cNvPr id="30" name="任意多边形: 形状 29"/>
            <p:cNvSpPr/>
            <p:nvPr/>
          </p:nvSpPr>
          <p:spPr>
            <a:xfrm>
              <a:off x="3471021" y="5617900"/>
              <a:ext cx="2750572" cy="1240101"/>
            </a:xfrm>
            <a:custGeom>
              <a:avLst/>
              <a:gdLst>
                <a:gd name="connsiteX0" fmla="*/ 688066 w 2750572"/>
                <a:gd name="connsiteY0" fmla="*/ 0 h 1240101"/>
                <a:gd name="connsiteX1" fmla="*/ 2062507 w 2750572"/>
                <a:gd name="connsiteY1" fmla="*/ 0 h 1240101"/>
                <a:gd name="connsiteX2" fmla="*/ 2750572 w 2750572"/>
                <a:gd name="connsiteY2" fmla="*/ 1186787 h 1240101"/>
                <a:gd name="connsiteX3" fmla="*/ 2719750 w 2750572"/>
                <a:gd name="connsiteY3" fmla="*/ 1240101 h 1240101"/>
                <a:gd name="connsiteX4" fmla="*/ 30822 w 2750572"/>
                <a:gd name="connsiteY4" fmla="*/ 1240101 h 1240101"/>
                <a:gd name="connsiteX5" fmla="*/ 0 w 2750572"/>
                <a:gd name="connsiteY5" fmla="*/ 1186787 h 1240101"/>
                <a:gd name="connsiteX6" fmla="*/ 688066 w 2750572"/>
                <a:gd name="connsiteY6" fmla="*/ 0 h 1240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0572" h="1240101">
                  <a:moveTo>
                    <a:pt x="688066" y="0"/>
                  </a:moveTo>
                  <a:lnTo>
                    <a:pt x="2062507" y="0"/>
                  </a:lnTo>
                  <a:lnTo>
                    <a:pt x="2750572" y="1186787"/>
                  </a:lnTo>
                  <a:lnTo>
                    <a:pt x="2719750" y="1240101"/>
                  </a:lnTo>
                  <a:lnTo>
                    <a:pt x="30822" y="1240101"/>
                  </a:lnTo>
                  <a:lnTo>
                    <a:pt x="0" y="1186787"/>
                  </a:lnTo>
                  <a:lnTo>
                    <a:pt x="688066" y="0"/>
                  </a:lnTo>
                  <a:close/>
                </a:path>
              </a:pathLst>
            </a:custGeom>
            <a:solidFill>
              <a:schemeClr val="accent1">
                <a:alpha val="1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1" name="Freeform 21"/>
            <p:cNvSpPr/>
            <p:nvPr/>
          </p:nvSpPr>
          <p:spPr bwMode="auto">
            <a:xfrm>
              <a:off x="3558108" y="4985765"/>
              <a:ext cx="1042922" cy="1142742"/>
            </a:xfrm>
            <a:custGeom>
              <a:avLst/>
              <a:gdLst>
                <a:gd name="T0" fmla="*/ 1220 w 1627"/>
                <a:gd name="T1" fmla="*/ 0 h 1406"/>
                <a:gd name="T2" fmla="*/ 407 w 1627"/>
                <a:gd name="T3" fmla="*/ 0 h 1406"/>
                <a:gd name="T4" fmla="*/ 0 w 1627"/>
                <a:gd name="T5" fmla="*/ 702 h 1406"/>
                <a:gd name="T6" fmla="*/ 407 w 1627"/>
                <a:gd name="T7" fmla="*/ 1406 h 1406"/>
                <a:gd name="T8" fmla="*/ 1220 w 1627"/>
                <a:gd name="T9" fmla="*/ 1406 h 1406"/>
                <a:gd name="T10" fmla="*/ 1627 w 1627"/>
                <a:gd name="T11" fmla="*/ 702 h 1406"/>
                <a:gd name="T12" fmla="*/ 1220 w 1627"/>
                <a:gd name="T13" fmla="*/ 0 h 1406"/>
              </a:gdLst>
              <a:ahLst/>
              <a:cxnLst>
                <a:cxn ang="0">
                  <a:pos x="T0" y="T1"/>
                </a:cxn>
                <a:cxn ang="0">
                  <a:pos x="T2" y="T3"/>
                </a:cxn>
                <a:cxn ang="0">
                  <a:pos x="T4" y="T5"/>
                </a:cxn>
                <a:cxn ang="0">
                  <a:pos x="T6" y="T7"/>
                </a:cxn>
                <a:cxn ang="0">
                  <a:pos x="T8" y="T9"/>
                </a:cxn>
                <a:cxn ang="0">
                  <a:pos x="T10" y="T11"/>
                </a:cxn>
                <a:cxn ang="0">
                  <a:pos x="T12" y="T13"/>
                </a:cxn>
              </a:cxnLst>
              <a:rect l="0" t="0" r="r" b="b"/>
              <a:pathLst>
                <a:path w="1627" h="1406">
                  <a:moveTo>
                    <a:pt x="1220" y="0"/>
                  </a:moveTo>
                  <a:lnTo>
                    <a:pt x="407" y="0"/>
                  </a:lnTo>
                  <a:lnTo>
                    <a:pt x="0" y="702"/>
                  </a:lnTo>
                  <a:lnTo>
                    <a:pt x="407" y="1406"/>
                  </a:lnTo>
                  <a:lnTo>
                    <a:pt x="1220" y="1406"/>
                  </a:lnTo>
                  <a:lnTo>
                    <a:pt x="1627" y="702"/>
                  </a:lnTo>
                  <a:lnTo>
                    <a:pt x="1220" y="0"/>
                  </a:lnTo>
                  <a:close/>
                </a:path>
              </a:pathLst>
            </a:custGeom>
            <a:solidFill>
              <a:schemeClr val="accent1">
                <a:alpha val="3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grpSp>
      <p:grpSp>
        <p:nvGrpSpPr>
          <p:cNvPr id="4" name="组合 4"/>
          <p:cNvGrpSpPr/>
          <p:nvPr>
            <p:custDataLst>
              <p:tags r:id="rId1"/>
            </p:custDataLst>
          </p:nvPr>
        </p:nvGrpSpPr>
        <p:grpSpPr>
          <a:xfrm>
            <a:off x="6490340" y="1482723"/>
            <a:ext cx="3180109" cy="650877"/>
            <a:chOff x="6490340" y="1139823"/>
            <a:chExt cx="3180109" cy="650877"/>
          </a:xfrm>
        </p:grpSpPr>
        <p:sp>
          <p:nvSpPr>
            <p:cNvPr id="34" name="椭圆 16"/>
            <p:cNvSpPr>
              <a:spLocks noChangeArrowheads="1"/>
            </p:cNvSpPr>
            <p:nvPr>
              <p:custDataLst>
                <p:tags r:id="rId8"/>
              </p:custDataLst>
            </p:nvPr>
          </p:nvSpPr>
          <p:spPr bwMode="auto">
            <a:xfrm>
              <a:off x="6490340" y="1139823"/>
              <a:ext cx="659574" cy="650877"/>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b="1" dirty="0" smtClean="0">
                  <a:solidFill>
                    <a:srgbClr val="FFFFFF"/>
                  </a:solidFill>
                  <a:latin typeface="Calibri" panose="020F0502020204030204" pitchFamily="34" charset="0"/>
                </a:rPr>
                <a:t>1</a:t>
              </a:r>
              <a:endParaRPr lang="zh-CN" altLang="en-US" sz="2800" b="1" dirty="0">
                <a:solidFill>
                  <a:srgbClr val="FFFFFF"/>
                </a:solidFill>
                <a:latin typeface="Calibri" panose="020F0502020204030204" pitchFamily="34" charset="0"/>
              </a:endParaRPr>
            </a:p>
          </p:txBody>
        </p:sp>
        <p:sp>
          <p:nvSpPr>
            <p:cNvPr id="32" name="矩形 31"/>
            <p:cNvSpPr/>
            <p:nvPr>
              <p:custDataLst>
                <p:tags r:id="rId9"/>
              </p:custDataLst>
            </p:nvPr>
          </p:nvSpPr>
          <p:spPr>
            <a:xfrm>
              <a:off x="7321729" y="1203651"/>
              <a:ext cx="2348720" cy="523220"/>
            </a:xfrm>
            <a:prstGeom prst="rect">
              <a:avLst/>
            </a:prstGeom>
          </p:spPr>
          <p:txBody>
            <a:bodyPr wrap="none">
              <a:spAutoFit/>
            </a:bodyPr>
            <a:lstStyle/>
            <a:p>
              <a:r>
                <a:rPr lang="en-US" altLang="zh-CN" sz="2800" b="1" dirty="0" err="1" smtClean="0">
                  <a:solidFill>
                    <a:srgbClr val="0070C0"/>
                  </a:solidFill>
                  <a:latin typeface="思源黑体" panose="020B0500000000000000" pitchFamily="34" charset="-122"/>
                  <a:ea typeface="思源黑体" panose="020B0500000000000000" pitchFamily="34" charset="-122"/>
                  <a:sym typeface="+mn-lt"/>
                </a:rPr>
                <a:t>Iptables</a:t>
              </a:r>
              <a:r>
                <a:rPr lang="zh-CN" altLang="en-US" sz="2800" b="1" dirty="0" smtClean="0">
                  <a:solidFill>
                    <a:srgbClr val="0070C0"/>
                  </a:solidFill>
                  <a:latin typeface="思源黑体" panose="020B0500000000000000" pitchFamily="34" charset="-122"/>
                  <a:ea typeface="思源黑体" panose="020B0500000000000000" pitchFamily="34" charset="-122"/>
                  <a:sym typeface="+mn-lt"/>
                </a:rPr>
                <a:t>架构</a:t>
              </a:r>
              <a:endParaRPr lang="zh-CN" altLang="en-US" sz="2800" b="1" dirty="0">
                <a:solidFill>
                  <a:srgbClr val="0070C0"/>
                </a:solidFill>
                <a:latin typeface="思源黑体" panose="020B0500000000000000" pitchFamily="34" charset="-122"/>
                <a:ea typeface="思源黑体" panose="020B0500000000000000" pitchFamily="34" charset="-122"/>
                <a:sym typeface="+mn-lt"/>
              </a:endParaRPr>
            </a:p>
          </p:txBody>
        </p:sp>
      </p:grpSp>
      <p:grpSp>
        <p:nvGrpSpPr>
          <p:cNvPr id="5" name="组合 5"/>
          <p:cNvGrpSpPr/>
          <p:nvPr>
            <p:custDataLst>
              <p:tags r:id="rId2"/>
            </p:custDataLst>
          </p:nvPr>
        </p:nvGrpSpPr>
        <p:grpSpPr>
          <a:xfrm>
            <a:off x="6490340" y="2335210"/>
            <a:ext cx="4178780" cy="650877"/>
            <a:chOff x="6490340" y="1992310"/>
            <a:chExt cx="4178780" cy="650877"/>
          </a:xfrm>
        </p:grpSpPr>
        <p:sp>
          <p:nvSpPr>
            <p:cNvPr id="37" name="椭圆 16"/>
            <p:cNvSpPr>
              <a:spLocks noChangeArrowheads="1"/>
            </p:cNvSpPr>
            <p:nvPr>
              <p:custDataLst>
                <p:tags r:id="rId6"/>
              </p:custDataLst>
            </p:nvPr>
          </p:nvSpPr>
          <p:spPr bwMode="auto">
            <a:xfrm>
              <a:off x="6490340" y="1992310"/>
              <a:ext cx="659574" cy="650877"/>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b="1" dirty="0" smtClean="0">
                  <a:solidFill>
                    <a:srgbClr val="FFFFFF"/>
                  </a:solidFill>
                  <a:latin typeface="Calibri" panose="020F0502020204030204" pitchFamily="34" charset="0"/>
                </a:rPr>
                <a:t>2</a:t>
              </a:r>
              <a:endParaRPr lang="zh-CN" altLang="en-US" sz="2800" b="1" dirty="0">
                <a:solidFill>
                  <a:srgbClr val="FFFFFF"/>
                </a:solidFill>
                <a:latin typeface="Calibri" panose="020F0502020204030204" pitchFamily="34" charset="0"/>
              </a:endParaRPr>
            </a:p>
          </p:txBody>
        </p:sp>
        <p:sp>
          <p:nvSpPr>
            <p:cNvPr id="38" name="矩形 37"/>
            <p:cNvSpPr/>
            <p:nvPr>
              <p:custDataLst>
                <p:tags r:id="rId7"/>
              </p:custDataLst>
            </p:nvPr>
          </p:nvSpPr>
          <p:spPr>
            <a:xfrm>
              <a:off x="7321729" y="2047375"/>
              <a:ext cx="3347391" cy="523220"/>
            </a:xfrm>
            <a:prstGeom prst="rect">
              <a:avLst/>
            </a:prstGeom>
          </p:spPr>
          <p:txBody>
            <a:bodyPr wrap="none">
              <a:spAutoFit/>
            </a:bodyPr>
            <a:lstStyle/>
            <a:p>
              <a:r>
                <a:rPr lang="zh-CN" altLang="en-US" sz="2800" b="1" dirty="0" smtClean="0">
                  <a:solidFill>
                    <a:srgbClr val="0070C0"/>
                  </a:solidFill>
                  <a:latin typeface="思源黑体" panose="020B0500000000000000" pitchFamily="34" charset="-122"/>
                  <a:ea typeface="思源黑体" panose="020B0500000000000000" pitchFamily="34" charset="-122"/>
                  <a:sym typeface="+mn-lt"/>
                </a:rPr>
                <a:t>基本语法</a:t>
              </a:r>
              <a:r>
                <a:rPr lang="en-US" altLang="zh-CN" sz="2800" b="1" dirty="0" smtClean="0">
                  <a:solidFill>
                    <a:srgbClr val="0070C0"/>
                  </a:solidFill>
                  <a:latin typeface="思源黑体" panose="020B0500000000000000" pitchFamily="34" charset="-122"/>
                  <a:ea typeface="思源黑体" panose="020B0500000000000000" pitchFamily="34" charset="-122"/>
                  <a:sym typeface="+mn-lt"/>
                </a:rPr>
                <a:t>/</a:t>
              </a:r>
              <a:r>
                <a:rPr lang="zh-CN" altLang="en-US" sz="2800" b="1" dirty="0" smtClean="0">
                  <a:solidFill>
                    <a:srgbClr val="0070C0"/>
                  </a:solidFill>
                  <a:latin typeface="思源黑体" panose="020B0500000000000000" pitchFamily="34" charset="-122"/>
                  <a:ea typeface="思源黑体" panose="020B0500000000000000" pitchFamily="34" charset="-122"/>
                  <a:sym typeface="+mn-lt"/>
                </a:rPr>
                <a:t>命令参数</a:t>
              </a:r>
              <a:endParaRPr lang="zh-CN" altLang="en-US" sz="2800" b="1" dirty="0">
                <a:solidFill>
                  <a:srgbClr val="0070C0"/>
                </a:solidFill>
                <a:latin typeface="思源黑体" panose="020B0500000000000000" pitchFamily="34" charset="-122"/>
                <a:ea typeface="思源黑体" panose="020B0500000000000000" pitchFamily="34" charset="-122"/>
                <a:sym typeface="+mn-lt"/>
              </a:endParaRPr>
            </a:p>
          </p:txBody>
        </p:sp>
      </p:grpSp>
      <p:grpSp>
        <p:nvGrpSpPr>
          <p:cNvPr id="6" name="组合 6"/>
          <p:cNvGrpSpPr/>
          <p:nvPr>
            <p:custDataLst>
              <p:tags r:id="rId3"/>
            </p:custDataLst>
          </p:nvPr>
        </p:nvGrpSpPr>
        <p:grpSpPr>
          <a:xfrm>
            <a:off x="6490340" y="3187697"/>
            <a:ext cx="4616400" cy="650877"/>
            <a:chOff x="6490340" y="2844797"/>
            <a:chExt cx="4616400" cy="650877"/>
          </a:xfrm>
        </p:grpSpPr>
        <p:sp>
          <p:nvSpPr>
            <p:cNvPr id="40" name="椭圆 16"/>
            <p:cNvSpPr>
              <a:spLocks noChangeArrowheads="1"/>
            </p:cNvSpPr>
            <p:nvPr>
              <p:custDataLst>
                <p:tags r:id="rId4"/>
              </p:custDataLst>
            </p:nvPr>
          </p:nvSpPr>
          <p:spPr bwMode="auto">
            <a:xfrm>
              <a:off x="6490340" y="2844797"/>
              <a:ext cx="659574" cy="650877"/>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b="1" dirty="0" smtClean="0">
                  <a:solidFill>
                    <a:srgbClr val="FFFFFF"/>
                  </a:solidFill>
                  <a:latin typeface="Calibri" panose="020F0502020204030204" pitchFamily="34" charset="0"/>
                </a:rPr>
                <a:t>3</a:t>
              </a:r>
              <a:endParaRPr lang="zh-CN" altLang="en-US" sz="2800" b="1" dirty="0">
                <a:solidFill>
                  <a:srgbClr val="FFFFFF"/>
                </a:solidFill>
                <a:latin typeface="Calibri" panose="020F0502020204030204" pitchFamily="34" charset="0"/>
              </a:endParaRPr>
            </a:p>
          </p:txBody>
        </p:sp>
        <p:sp>
          <p:nvSpPr>
            <p:cNvPr id="41" name="矩形 40"/>
            <p:cNvSpPr/>
            <p:nvPr>
              <p:custDataLst>
                <p:tags r:id="rId5"/>
              </p:custDataLst>
            </p:nvPr>
          </p:nvSpPr>
          <p:spPr>
            <a:xfrm>
              <a:off x="7321729" y="2893581"/>
              <a:ext cx="3785011" cy="523220"/>
            </a:xfrm>
            <a:prstGeom prst="rect">
              <a:avLst/>
            </a:prstGeom>
          </p:spPr>
          <p:txBody>
            <a:bodyPr wrap="none">
              <a:spAutoFit/>
            </a:bodyPr>
            <a:lstStyle/>
            <a:p>
              <a:r>
                <a:rPr lang="en-US" altLang="zh-CN" sz="2800" b="1" dirty="0" err="1" smtClean="0">
                  <a:solidFill>
                    <a:srgbClr val="0070C0"/>
                  </a:solidFill>
                  <a:latin typeface="思源黑体" panose="020B0500000000000000" pitchFamily="34" charset="-122"/>
                  <a:ea typeface="思源黑体" panose="020B0500000000000000" pitchFamily="34" charset="-122"/>
                  <a:sym typeface="+mn-lt"/>
                </a:rPr>
                <a:t>Iptables</a:t>
              </a:r>
              <a:r>
                <a:rPr lang="zh-CN" altLang="en-US" sz="2800" b="1" dirty="0" smtClean="0">
                  <a:solidFill>
                    <a:srgbClr val="0070C0"/>
                  </a:solidFill>
                  <a:latin typeface="思源黑体" panose="020B0500000000000000" pitchFamily="34" charset="-122"/>
                  <a:ea typeface="思源黑体" panose="020B0500000000000000" pitchFamily="34" charset="-122"/>
                  <a:sym typeface="+mn-lt"/>
                </a:rPr>
                <a:t>在项目中应用</a:t>
              </a:r>
              <a:endParaRPr lang="zh-CN" altLang="en-US" sz="2800" b="1" dirty="0">
                <a:solidFill>
                  <a:srgbClr val="0070C0"/>
                </a:solidFill>
                <a:latin typeface="思源黑体" panose="020B0500000000000000" pitchFamily="34" charset="-122"/>
                <a:ea typeface="思源黑体" panose="020B0500000000000000" pitchFamily="34" charset="-122"/>
                <a:sym typeface="+mn-lt"/>
              </a:endParaRPr>
            </a:p>
          </p:txBody>
        </p:sp>
      </p:grpSp>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mc:AlternateContent xmlns:mc="http://schemas.openxmlformats.org/markup-compatibility/2006">
    <mc:Choice xmlns=""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nodeType="withEffect" p14:presetBounceEnd="42000">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14:bounceEnd="42000">
                                          <p:cBhvr additive="base">
                                            <p:cTn id="7" dur="500" fill="hold"/>
                                            <p:tgtEl>
                                              <p:spTgt spid="24"/>
                                            </p:tgtEl>
                                            <p:attrNameLst>
                                              <p:attrName>ppt_x</p:attrName>
                                            </p:attrNameLst>
                                          </p:cBhvr>
                                          <p:tavLst>
                                            <p:tav tm="0">
                                              <p:val>
                                                <p:strVal val="0-#ppt_w/2"/>
                                              </p:val>
                                            </p:tav>
                                            <p:tav tm="100000">
                                              <p:val>
                                                <p:strVal val="#ppt_x"/>
                                              </p:val>
                                            </p:tav>
                                          </p:tavLst>
                                        </p:anim>
                                        <p:anim calcmode="lin" valueType="num" p14:bounceEnd="42000">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9" fill="hold" grpId="0" nodeType="afterEffect" p14:presetBounceEnd="54000">
                                      <p:stCondLst>
                                        <p:cond delay="0"/>
                                      </p:stCondLst>
                                      <p:childTnLst>
                                        <p:set>
                                          <p:cBhvr>
                                            <p:cTn id="11" dur="1" fill="hold">
                                              <p:stCondLst>
                                                <p:cond delay="0"/>
                                              </p:stCondLst>
                                            </p:cTn>
                                            <p:tgtEl>
                                              <p:spTgt spid="27"/>
                                            </p:tgtEl>
                                            <p:attrNameLst>
                                              <p:attrName>style.visibility</p:attrName>
                                            </p:attrNameLst>
                                          </p:cBhvr>
                                          <p:to>
                                            <p:strVal val="visible"/>
                                          </p:to>
                                        </p:set>
                                        <p:anim calcmode="lin" valueType="num" p14:bounceEnd="54000">
                                          <p:cBhvr additive="base">
                                            <p:cTn id="12" dur="500" fill="hold"/>
                                            <p:tgtEl>
                                              <p:spTgt spid="27"/>
                                            </p:tgtEl>
                                            <p:attrNameLst>
                                              <p:attrName>ppt_x</p:attrName>
                                            </p:attrNameLst>
                                          </p:cBhvr>
                                          <p:tavLst>
                                            <p:tav tm="0">
                                              <p:val>
                                                <p:strVal val="0-#ppt_w/2"/>
                                              </p:val>
                                            </p:tav>
                                            <p:tav tm="100000">
                                              <p:val>
                                                <p:strVal val="#ppt_x"/>
                                              </p:val>
                                            </p:tav>
                                          </p:tavLst>
                                        </p:anim>
                                        <p:anim calcmode="lin" valueType="num" p14:bounceEnd="54000">
                                          <p:cBhvr additive="base">
                                            <p:cTn id="13" dur="500" fill="hold"/>
                                            <p:tgtEl>
                                              <p:spTgt spid="27"/>
                                            </p:tgtEl>
                                            <p:attrNameLst>
                                              <p:attrName>ppt_y</p:attrName>
                                            </p:attrNameLst>
                                          </p:cBhvr>
                                          <p:tavLst>
                                            <p:tav tm="0">
                                              <p:val>
                                                <p:strVal val="0-#ppt_h/2"/>
                                              </p:val>
                                            </p:tav>
                                            <p:tav tm="100000">
                                              <p:val>
                                                <p:strVal val="#ppt_y"/>
                                              </p:val>
                                            </p:tav>
                                          </p:tavLst>
                                        </p:anim>
                                      </p:childTnLst>
                                    </p:cTn>
                                  </p:par>
                                  <p:par>
                                    <p:cTn id="14" presetID="2" presetClass="entr" presetSubtype="9" fill="hold" grpId="0" nodeType="withEffect" p14:presetBounceEnd="54000">
                                      <p:stCondLst>
                                        <p:cond delay="0"/>
                                      </p:stCondLst>
                                      <p:childTnLst>
                                        <p:set>
                                          <p:cBhvr>
                                            <p:cTn id="15" dur="1" fill="hold">
                                              <p:stCondLst>
                                                <p:cond delay="0"/>
                                              </p:stCondLst>
                                            </p:cTn>
                                            <p:tgtEl>
                                              <p:spTgt spid="28"/>
                                            </p:tgtEl>
                                            <p:attrNameLst>
                                              <p:attrName>style.visibility</p:attrName>
                                            </p:attrNameLst>
                                          </p:cBhvr>
                                          <p:to>
                                            <p:strVal val="visible"/>
                                          </p:to>
                                        </p:set>
                                        <p:anim calcmode="lin" valueType="num" p14:bounceEnd="54000">
                                          <p:cBhvr additive="base">
                                            <p:cTn id="16" dur="500" fill="hold"/>
                                            <p:tgtEl>
                                              <p:spTgt spid="28"/>
                                            </p:tgtEl>
                                            <p:attrNameLst>
                                              <p:attrName>ppt_x</p:attrName>
                                            </p:attrNameLst>
                                          </p:cBhvr>
                                          <p:tavLst>
                                            <p:tav tm="0">
                                              <p:val>
                                                <p:strVal val="0-#ppt_w/2"/>
                                              </p:val>
                                            </p:tav>
                                            <p:tav tm="100000">
                                              <p:val>
                                                <p:strVal val="#ppt_x"/>
                                              </p:val>
                                            </p:tav>
                                          </p:tavLst>
                                        </p:anim>
                                        <p:anim calcmode="lin" valueType="num" p14:bounceEnd="54000">
                                          <p:cBhvr additive="base">
                                            <p:cTn id="17" dur="500" fill="hold"/>
                                            <p:tgtEl>
                                              <p:spTgt spid="28"/>
                                            </p:tgtEl>
                                            <p:attrNameLst>
                                              <p:attrName>ppt_y</p:attrName>
                                            </p:attrNameLst>
                                          </p:cBhvr>
                                          <p:tavLst>
                                            <p:tav tm="0">
                                              <p:val>
                                                <p:strVal val="0-#ppt_h/2"/>
                                              </p:val>
                                            </p:tav>
                                            <p:tav tm="100000">
                                              <p:val>
                                                <p:strVal val="#ppt_y"/>
                                              </p:val>
                                            </p:tav>
                                          </p:tavLst>
                                        </p:anim>
                                      </p:childTnLst>
                                    </p:cTn>
                                  </p:par>
                                  <p:par>
                                    <p:cTn id="18" presetID="2" presetClass="entr" presetSubtype="9" fill="hold" nodeType="withEffect" p14:presetBounceEnd="54000">
                                      <p:stCondLst>
                                        <p:cond delay="0"/>
                                      </p:stCondLst>
                                      <p:childTnLst>
                                        <p:set>
                                          <p:cBhvr>
                                            <p:cTn id="19" dur="1" fill="hold">
                                              <p:stCondLst>
                                                <p:cond delay="0"/>
                                              </p:stCondLst>
                                            </p:cTn>
                                            <p:tgtEl>
                                              <p:spTgt spid="29"/>
                                            </p:tgtEl>
                                            <p:attrNameLst>
                                              <p:attrName>style.visibility</p:attrName>
                                            </p:attrNameLst>
                                          </p:cBhvr>
                                          <p:to>
                                            <p:strVal val="visible"/>
                                          </p:to>
                                        </p:set>
                                        <p:anim calcmode="lin" valueType="num" p14:bounceEnd="54000">
                                          <p:cBhvr additive="base">
                                            <p:cTn id="20" dur="500" fill="hold"/>
                                            <p:tgtEl>
                                              <p:spTgt spid="29"/>
                                            </p:tgtEl>
                                            <p:attrNameLst>
                                              <p:attrName>ppt_x</p:attrName>
                                            </p:attrNameLst>
                                          </p:cBhvr>
                                          <p:tavLst>
                                            <p:tav tm="0">
                                              <p:val>
                                                <p:strVal val="0-#ppt_w/2"/>
                                              </p:val>
                                            </p:tav>
                                            <p:tav tm="100000">
                                              <p:val>
                                                <p:strVal val="#ppt_x"/>
                                              </p:val>
                                            </p:tav>
                                          </p:tavLst>
                                        </p:anim>
                                        <p:anim calcmode="lin" valueType="num" p14:bounceEnd="54000">
                                          <p:cBhvr additive="base">
                                            <p:cTn id="21" dur="500" fill="hold"/>
                                            <p:tgtEl>
                                              <p:spTgt spid="2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9" fill="hold" grpId="0" nodeType="afterEffect">
                                      <p:stCondLst>
                                        <p:cond delay="0"/>
                                      </p:stCondLst>
                                      <p:childTnLst>
                                        <p:set>
                                          <p:cBhvr>
                                            <p:cTn id="11" dur="1" fill="hold">
                                              <p:stCondLst>
                                                <p:cond delay="0"/>
                                              </p:stCondLst>
                                            </p:cTn>
                                            <p:tgtEl>
                                              <p:spTgt spid="27"/>
                                            </p:tgtEl>
                                            <p:attrNameLst>
                                              <p:attrName>style.visibility</p:attrName>
                                            </p:attrNameLst>
                                          </p:cBhvr>
                                          <p:to>
                                            <p:strVal val="visible"/>
                                          </p:to>
                                        </p:set>
                                        <p:anim calcmode="lin" valueType="num">
                                          <p:cBhvr additive="base">
                                            <p:cTn id="12" dur="500" fill="hold"/>
                                            <p:tgtEl>
                                              <p:spTgt spid="27"/>
                                            </p:tgtEl>
                                            <p:attrNameLst>
                                              <p:attrName>ppt_x</p:attrName>
                                            </p:attrNameLst>
                                          </p:cBhvr>
                                          <p:tavLst>
                                            <p:tav tm="0">
                                              <p:val>
                                                <p:strVal val="0-#ppt_w/2"/>
                                              </p:val>
                                            </p:tav>
                                            <p:tav tm="100000">
                                              <p:val>
                                                <p:strVal val="#ppt_x"/>
                                              </p:val>
                                            </p:tav>
                                          </p:tavLst>
                                        </p:anim>
                                        <p:anim calcmode="lin" valueType="num">
                                          <p:cBhvr additive="base">
                                            <p:cTn id="13" dur="500" fill="hold"/>
                                            <p:tgtEl>
                                              <p:spTgt spid="27"/>
                                            </p:tgtEl>
                                            <p:attrNameLst>
                                              <p:attrName>ppt_y</p:attrName>
                                            </p:attrNameLst>
                                          </p:cBhvr>
                                          <p:tavLst>
                                            <p:tav tm="0">
                                              <p:val>
                                                <p:strVal val="0-#ppt_h/2"/>
                                              </p:val>
                                            </p:tav>
                                            <p:tav tm="100000">
                                              <p:val>
                                                <p:strVal val="#ppt_y"/>
                                              </p:val>
                                            </p:tav>
                                          </p:tavLst>
                                        </p:anim>
                                      </p:childTnLst>
                                    </p:cTn>
                                  </p:par>
                                  <p:par>
                                    <p:cTn id="14" presetID="2" presetClass="entr" presetSubtype="9" fill="hold" grpId="0" nodeType="withEffect">
                                      <p:stCondLst>
                                        <p:cond delay="0"/>
                                      </p:stCondLst>
                                      <p:childTnLst>
                                        <p:set>
                                          <p:cBhvr>
                                            <p:cTn id="15" dur="1" fill="hold">
                                              <p:stCondLst>
                                                <p:cond delay="0"/>
                                              </p:stCondLst>
                                            </p:cTn>
                                            <p:tgtEl>
                                              <p:spTgt spid="28"/>
                                            </p:tgtEl>
                                            <p:attrNameLst>
                                              <p:attrName>style.visibility</p:attrName>
                                            </p:attrNameLst>
                                          </p:cBhvr>
                                          <p:to>
                                            <p:strVal val="visible"/>
                                          </p:to>
                                        </p:set>
                                        <p:anim calcmode="lin" valueType="num">
                                          <p:cBhvr additive="base">
                                            <p:cTn id="16" dur="500" fill="hold"/>
                                            <p:tgtEl>
                                              <p:spTgt spid="28"/>
                                            </p:tgtEl>
                                            <p:attrNameLst>
                                              <p:attrName>ppt_x</p:attrName>
                                            </p:attrNameLst>
                                          </p:cBhvr>
                                          <p:tavLst>
                                            <p:tav tm="0">
                                              <p:val>
                                                <p:strVal val="0-#ppt_w/2"/>
                                              </p:val>
                                            </p:tav>
                                            <p:tav tm="100000">
                                              <p:val>
                                                <p:strVal val="#ppt_x"/>
                                              </p:val>
                                            </p:tav>
                                          </p:tavLst>
                                        </p:anim>
                                        <p:anim calcmode="lin" valueType="num">
                                          <p:cBhvr additive="base">
                                            <p:cTn id="17" dur="500" fill="hold"/>
                                            <p:tgtEl>
                                              <p:spTgt spid="28"/>
                                            </p:tgtEl>
                                            <p:attrNameLst>
                                              <p:attrName>ppt_y</p:attrName>
                                            </p:attrNameLst>
                                          </p:cBhvr>
                                          <p:tavLst>
                                            <p:tav tm="0">
                                              <p:val>
                                                <p:strVal val="0-#ppt_h/2"/>
                                              </p:val>
                                            </p:tav>
                                            <p:tav tm="100000">
                                              <p:val>
                                                <p:strVal val="#ppt_y"/>
                                              </p:val>
                                            </p:tav>
                                          </p:tavLst>
                                        </p:anim>
                                      </p:childTnLst>
                                    </p:cTn>
                                  </p:par>
                                  <p:par>
                                    <p:cTn id="18" presetID="2" presetClass="entr" presetSubtype="9" fill="hold" nodeType="with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additive="base">
                                            <p:cTn id="20" dur="500" fill="hold"/>
                                            <p:tgtEl>
                                              <p:spTgt spid="3"/>
                                            </p:tgtEl>
                                            <p:attrNameLst>
                                              <p:attrName>ppt_x</p:attrName>
                                            </p:attrNameLst>
                                          </p:cBhvr>
                                          <p:tavLst>
                                            <p:tav tm="0">
                                              <p:val>
                                                <p:strVal val="0-#ppt_w/2"/>
                                              </p:val>
                                            </p:tav>
                                            <p:tav tm="100000">
                                              <p:val>
                                                <p:strVal val="#ppt_x"/>
                                              </p:val>
                                            </p:tav>
                                          </p:tavLst>
                                        </p:anim>
                                        <p:anim calcmode="lin" valueType="num">
                                          <p:cBhvr additive="base">
                                            <p:cTn id="21" dur="500" fill="hold"/>
                                            <p:tgtEl>
                                              <p:spTgt spid="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Lst>
      </p:timing>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389091"/>
            <a:ext cx="12192000" cy="129271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 name="文本框 17"/>
          <p:cNvSpPr txBox="1"/>
          <p:nvPr/>
        </p:nvSpPr>
        <p:spPr>
          <a:xfrm>
            <a:off x="4450112" y="2686634"/>
            <a:ext cx="5089542" cy="646331"/>
          </a:xfrm>
          <a:prstGeom prst="rect">
            <a:avLst/>
          </a:prstGeom>
          <a:noFill/>
        </p:spPr>
        <p:txBody>
          <a:bodyPr wrap="square" rtlCol="0">
            <a:spAutoFit/>
          </a:bodyPr>
          <a:lstStyle/>
          <a:p>
            <a:r>
              <a:rPr lang="en-US" altLang="zh-CN" sz="3600" b="1" dirty="0" err="1" smtClean="0">
                <a:solidFill>
                  <a:schemeClr val="bg1"/>
                </a:solidFill>
                <a:latin typeface="思源黑体" panose="020B0500000000000000" pitchFamily="34" charset="-122"/>
                <a:ea typeface="思源黑体" panose="020B0500000000000000" pitchFamily="34" charset="-122"/>
                <a:sym typeface="+mn-lt"/>
              </a:rPr>
              <a:t>Iptables</a:t>
            </a:r>
            <a:r>
              <a:rPr lang="zh-CN" altLang="en-US" sz="3600" b="1" dirty="0" smtClean="0">
                <a:solidFill>
                  <a:schemeClr val="bg1"/>
                </a:solidFill>
                <a:latin typeface="思源黑体" panose="020B0500000000000000" pitchFamily="34" charset="-122"/>
                <a:ea typeface="思源黑体" panose="020B0500000000000000" pitchFamily="34" charset="-122"/>
                <a:sym typeface="+mn-lt"/>
              </a:rPr>
              <a:t>在项目中应用</a:t>
            </a:r>
            <a:endParaRPr lang="en-US" altLang="zh-CN" sz="3600" b="1" dirty="0">
              <a:solidFill>
                <a:schemeClr val="bg1"/>
              </a:solidFill>
              <a:latin typeface="思源黑体" panose="020B0500000000000000" pitchFamily="34" charset="-122"/>
              <a:ea typeface="思源黑体" panose="020B0500000000000000" pitchFamily="34" charset="-122"/>
            </a:endParaRPr>
          </a:p>
        </p:txBody>
      </p:sp>
      <p:grpSp>
        <p:nvGrpSpPr>
          <p:cNvPr id="41" name="组合 40"/>
          <p:cNvGrpSpPr/>
          <p:nvPr/>
        </p:nvGrpSpPr>
        <p:grpSpPr>
          <a:xfrm>
            <a:off x="1822608" y="1985811"/>
            <a:ext cx="2114741" cy="2697003"/>
            <a:chOff x="1041891" y="2887277"/>
            <a:chExt cx="1036261" cy="1321580"/>
          </a:xfrm>
        </p:grpSpPr>
        <p:sp>
          <p:nvSpPr>
            <p:cNvPr id="42" name="Oval 53"/>
            <p:cNvSpPr>
              <a:spLocks noChangeArrowheads="1"/>
            </p:cNvSpPr>
            <p:nvPr/>
          </p:nvSpPr>
          <p:spPr bwMode="auto">
            <a:xfrm>
              <a:off x="1041891" y="2887277"/>
              <a:ext cx="1036261" cy="1036518"/>
            </a:xfrm>
            <a:prstGeom prst="ellipse">
              <a:avLst/>
            </a:prstGeom>
            <a:solidFill>
              <a:srgbClr val="0070C0"/>
            </a:solidFill>
            <a:ln w="88900">
              <a:gradFill flip="none" rotWithShape="1">
                <a:gsLst>
                  <a:gs pos="0">
                    <a:srgbClr val="FFFFFF"/>
                  </a:gs>
                  <a:gs pos="100000">
                    <a:srgbClr val="D9D9DA"/>
                  </a:gs>
                </a:gsLst>
                <a:lin ang="2700000" scaled="0"/>
                <a:tileRect/>
              </a:gradFill>
            </a:ln>
            <a:effectLst>
              <a:outerShdw blurRad="279400" dist="76200" dir="2700000" sx="101000" sy="101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endParaRPr lang="zh-CN" altLang="en-US" sz="5865">
                <a:latin typeface="思源黑体" panose="020B0500000000000000" pitchFamily="34" charset="-122"/>
                <a:ea typeface="思源黑体" panose="020B0500000000000000" pitchFamily="34" charset="-122"/>
              </a:endParaRPr>
            </a:p>
          </p:txBody>
        </p:sp>
        <p:sp>
          <p:nvSpPr>
            <p:cNvPr id="43" name="Text Box 58"/>
            <p:cNvSpPr txBox="1">
              <a:spLocks noChangeArrowheads="1"/>
            </p:cNvSpPr>
            <p:nvPr/>
          </p:nvSpPr>
          <p:spPr bwMode="auto">
            <a:xfrm>
              <a:off x="1159958" y="3077737"/>
              <a:ext cx="782803" cy="11311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lIns="91440" tIns="45720" rIns="91440" bIns="45720">
              <a:spAutoFit/>
            </a:bodyPr>
            <a:lstStyle/>
            <a:p>
              <a:pPr algn="ctr"/>
              <a:r>
                <a:rPr lang="en-US" altLang="zh-CN" sz="5000" b="1" dirty="0">
                  <a:solidFill>
                    <a:schemeClr val="bg1"/>
                  </a:solidFill>
                  <a:latin typeface="Calibri" panose="020F0502020204030204" pitchFamily="34" charset="0"/>
                  <a:ea typeface="华文琥珀" panose="02010800040101010101" pitchFamily="2" charset="-122"/>
                  <a:cs typeface="Calibri" panose="020F0502020204030204" pitchFamily="34" charset="0"/>
                </a:rPr>
                <a:t>PART  </a:t>
              </a:r>
              <a:r>
                <a:rPr lang="en-US" altLang="zh-CN" sz="5000" b="1" dirty="0" smtClean="0">
                  <a:solidFill>
                    <a:schemeClr val="bg1"/>
                  </a:solidFill>
                  <a:latin typeface="Calibri" panose="020F0502020204030204" pitchFamily="34" charset="0"/>
                  <a:ea typeface="华文琥珀" panose="02010800040101010101" pitchFamily="2" charset="-122"/>
                  <a:cs typeface="Calibri" panose="020F0502020204030204" pitchFamily="34" charset="0"/>
                </a:rPr>
                <a:t>3</a:t>
              </a:r>
              <a:endParaRPr lang="en-US" altLang="zh-CN" sz="5000" b="1" dirty="0">
                <a:solidFill>
                  <a:schemeClr val="bg1"/>
                </a:solidFill>
                <a:latin typeface="Calibri" panose="020F0502020204030204" pitchFamily="34" charset="0"/>
                <a:ea typeface="华文琥珀" panose="02010800040101010101" pitchFamily="2" charset="-122"/>
                <a:cs typeface="Calibri" panose="020F0502020204030204" pitchFamily="34" charset="0"/>
              </a:endParaRPr>
            </a:p>
            <a:p>
              <a:pPr algn="ctr"/>
              <a:r>
                <a:rPr lang="en-US" altLang="zh-CN" sz="4400" dirty="0" smtClean="0">
                  <a:solidFill>
                    <a:schemeClr val="bg1"/>
                  </a:solidFill>
                  <a:latin typeface="Calibri" panose="020F0502020204030204" pitchFamily="34" charset="0"/>
                  <a:ea typeface="思源黑体" panose="020B0500000000000000" pitchFamily="34" charset="-122"/>
                  <a:cs typeface="Calibri" panose="020F0502020204030204" pitchFamily="34" charset="0"/>
                </a:rPr>
                <a:t> </a:t>
              </a:r>
              <a:endParaRPr lang="en-US" altLang="zh-CN" sz="4400" dirty="0">
                <a:solidFill>
                  <a:schemeClr val="bg1"/>
                </a:solidFill>
                <a:latin typeface="Calibri" panose="020F0502020204030204" pitchFamily="34" charset="0"/>
                <a:ea typeface="思源黑体" panose="020B0500000000000000" pitchFamily="34" charset="-122"/>
                <a:cs typeface="Calibri" panose="020F0502020204030204" pitchFamily="34" charset="0"/>
              </a:endParaRPr>
            </a:p>
          </p:txBody>
        </p:sp>
      </p:grpSp>
      <p:sp>
        <p:nvSpPr>
          <p:cNvPr id="44" name="矩形 43"/>
          <p:cNvSpPr/>
          <p:nvPr/>
        </p:nvSpPr>
        <p:spPr>
          <a:xfrm>
            <a:off x="4524489" y="3801377"/>
            <a:ext cx="3336170" cy="369332"/>
          </a:xfrm>
          <a:prstGeom prst="rect">
            <a:avLst/>
          </a:prstGeom>
        </p:spPr>
        <p:txBody>
          <a:bodyPr wrap="none">
            <a:spAutoFit/>
          </a:bodyPr>
          <a:lstStyle/>
          <a:p>
            <a:r>
              <a:rPr lang="en-US" altLang="zh-CN" sz="1800" b="1" dirty="0" smtClean="0">
                <a:solidFill>
                  <a:srgbClr val="0070C0"/>
                </a:solidFill>
                <a:latin typeface="思源黑体" panose="020B0500000000000000" pitchFamily="34" charset="-122"/>
                <a:ea typeface="思源黑体" panose="020B0500000000000000" pitchFamily="34" charset="-122"/>
              </a:rPr>
              <a:t>1</a:t>
            </a:r>
            <a:r>
              <a:rPr lang="zh-CN" altLang="en-US" sz="1800" b="1" dirty="0" smtClean="0">
                <a:solidFill>
                  <a:srgbClr val="0070C0"/>
                </a:solidFill>
                <a:latin typeface="思源黑体" panose="020B0500000000000000" pitchFamily="34" charset="-122"/>
                <a:ea typeface="思源黑体" panose="020B0500000000000000" pitchFamily="34" charset="-122"/>
              </a:rPr>
              <a:t>、项目上常用的</a:t>
            </a:r>
            <a:r>
              <a:rPr lang="en-US" altLang="zh-CN" sz="1800" b="1" dirty="0" err="1" smtClean="0">
                <a:solidFill>
                  <a:srgbClr val="0070C0"/>
                </a:solidFill>
                <a:latin typeface="思源黑体" panose="020B0500000000000000" pitchFamily="34" charset="-122"/>
                <a:ea typeface="思源黑体" panose="020B0500000000000000" pitchFamily="34" charset="-122"/>
              </a:rPr>
              <a:t>Iptables</a:t>
            </a:r>
            <a:r>
              <a:rPr lang="zh-CN" altLang="en-US" sz="1800" b="1" dirty="0" smtClean="0">
                <a:solidFill>
                  <a:srgbClr val="0070C0"/>
                </a:solidFill>
                <a:latin typeface="思源黑体" panose="020B0500000000000000" pitchFamily="34" charset="-122"/>
                <a:ea typeface="思源黑体" panose="020B0500000000000000" pitchFamily="34" charset="-122"/>
              </a:rPr>
              <a:t>命令</a:t>
            </a:r>
            <a:endParaRPr lang="zh-CN" altLang="en-US" sz="1800" b="1" dirty="0">
              <a:solidFill>
                <a:srgbClr val="0070C0"/>
              </a:solidFill>
            </a:endParaRPr>
          </a:p>
        </p:txBody>
      </p:sp>
      <p:grpSp>
        <p:nvGrpSpPr>
          <p:cNvPr id="45" name="组合 44"/>
          <p:cNvGrpSpPr/>
          <p:nvPr/>
        </p:nvGrpSpPr>
        <p:grpSpPr>
          <a:xfrm>
            <a:off x="10729790" y="2540217"/>
            <a:ext cx="1145728" cy="1261160"/>
            <a:chOff x="1696902" y="1658204"/>
            <a:chExt cx="1357422" cy="1785621"/>
          </a:xfrm>
        </p:grpSpPr>
        <p:grpSp>
          <p:nvGrpSpPr>
            <p:cNvPr id="46" name="组合 45"/>
            <p:cNvGrpSpPr/>
            <p:nvPr/>
          </p:nvGrpSpPr>
          <p:grpSpPr>
            <a:xfrm>
              <a:off x="1696902" y="1658204"/>
              <a:ext cx="1357422" cy="1785621"/>
              <a:chOff x="1434530" y="1923678"/>
              <a:chExt cx="875843" cy="1152128"/>
            </a:xfrm>
          </p:grpSpPr>
          <p:sp>
            <p:nvSpPr>
              <p:cNvPr id="51" name="椭圆 2"/>
              <p:cNvSpPr/>
              <p:nvPr/>
            </p:nvSpPr>
            <p:spPr>
              <a:xfrm rot="1761192">
                <a:off x="1734309" y="1923678"/>
                <a:ext cx="576064" cy="1152128"/>
              </a:xfrm>
              <a:custGeom>
                <a:avLst/>
                <a:gdLst/>
                <a:ahLst/>
                <a:cxnLst/>
                <a:rect l="l" t="t" r="r" b="b"/>
                <a:pathLst>
                  <a:path w="576064" h="1152128">
                    <a:moveTo>
                      <a:pt x="0" y="0"/>
                    </a:moveTo>
                    <a:cubicBezTo>
                      <a:pt x="318151" y="0"/>
                      <a:pt x="576064" y="257913"/>
                      <a:pt x="576064" y="576064"/>
                    </a:cubicBezTo>
                    <a:cubicBezTo>
                      <a:pt x="576064" y="894215"/>
                      <a:pt x="318151" y="1152128"/>
                      <a:pt x="0" y="1152128"/>
                    </a:cubicBezTo>
                    <a:close/>
                  </a:path>
                </a:pathLst>
              </a:custGeom>
              <a:solidFill>
                <a:srgbClr val="EAEAEA">
                  <a:alpha val="30196"/>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49" name="TextBox 4"/>
              <p:cNvSpPr txBox="1"/>
              <p:nvPr/>
            </p:nvSpPr>
            <p:spPr>
              <a:xfrm>
                <a:off x="1434530" y="2496128"/>
                <a:ext cx="728783" cy="42175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endParaRPr>
              </a:p>
            </p:txBody>
          </p:sp>
        </p:grpSp>
        <p:sp>
          <p:nvSpPr>
            <p:cNvPr id="47" name="Freeform 14"/>
            <p:cNvSpPr>
              <a:spLocks noEditPoints="1"/>
            </p:cNvSpPr>
            <p:nvPr/>
          </p:nvSpPr>
          <p:spPr bwMode="auto">
            <a:xfrm>
              <a:off x="2001870" y="1860853"/>
              <a:ext cx="824533" cy="812699"/>
            </a:xfrm>
            <a:custGeom>
              <a:avLst/>
              <a:gdLst>
                <a:gd name="T0" fmla="*/ 221450 w 427"/>
                <a:gd name="T1" fmla="*/ 125841 h 408"/>
                <a:gd name="T2" fmla="*/ 216788 w 427"/>
                <a:gd name="T3" fmla="*/ 135459 h 408"/>
                <a:gd name="T4" fmla="*/ 216011 w 427"/>
                <a:gd name="T5" fmla="*/ 141871 h 408"/>
                <a:gd name="T6" fmla="*/ 216011 w 427"/>
                <a:gd name="T7" fmla="*/ 153894 h 408"/>
                <a:gd name="T8" fmla="*/ 220673 w 427"/>
                <a:gd name="T9" fmla="*/ 165917 h 408"/>
                <a:gd name="T10" fmla="*/ 223781 w 427"/>
                <a:gd name="T11" fmla="*/ 171528 h 408"/>
                <a:gd name="T12" fmla="*/ 233106 w 427"/>
                <a:gd name="T13" fmla="*/ 179543 h 408"/>
                <a:gd name="T14" fmla="*/ 239322 w 427"/>
                <a:gd name="T15" fmla="*/ 182749 h 408"/>
                <a:gd name="T16" fmla="*/ 252531 w 427"/>
                <a:gd name="T17" fmla="*/ 109008 h 408"/>
                <a:gd name="T18" fmla="*/ 236991 w 427"/>
                <a:gd name="T19" fmla="*/ 112214 h 408"/>
                <a:gd name="T20" fmla="*/ 228444 w 427"/>
                <a:gd name="T21" fmla="*/ 117825 h 408"/>
                <a:gd name="T22" fmla="*/ 224558 w 427"/>
                <a:gd name="T23" fmla="*/ 121833 h 408"/>
                <a:gd name="T24" fmla="*/ 202802 w 427"/>
                <a:gd name="T25" fmla="*/ 37672 h 408"/>
                <a:gd name="T26" fmla="*/ 165505 w 427"/>
                <a:gd name="T27" fmla="*/ 76146 h 408"/>
                <a:gd name="T28" fmla="*/ 200471 w 427"/>
                <a:gd name="T29" fmla="*/ 153894 h 408"/>
                <a:gd name="T30" fmla="*/ 200471 w 427"/>
                <a:gd name="T31" fmla="*/ 138665 h 408"/>
                <a:gd name="T32" fmla="*/ 189593 w 427"/>
                <a:gd name="T33" fmla="*/ 83359 h 408"/>
                <a:gd name="T34" fmla="*/ 131316 w 427"/>
                <a:gd name="T35" fmla="*/ 146680 h 408"/>
                <a:gd name="T36" fmla="*/ 165505 w 427"/>
                <a:gd name="T37" fmla="*/ 215612 h 408"/>
                <a:gd name="T38" fmla="*/ 149188 w 427"/>
                <a:gd name="T39" fmla="*/ 218017 h 408"/>
                <a:gd name="T40" fmla="*/ 140640 w 427"/>
                <a:gd name="T41" fmla="*/ 208398 h 408"/>
                <a:gd name="T42" fmla="*/ 135201 w 427"/>
                <a:gd name="T43" fmla="*/ 203589 h 408"/>
                <a:gd name="T44" fmla="*/ 112668 w 427"/>
                <a:gd name="T45" fmla="*/ 193971 h 408"/>
                <a:gd name="T46" fmla="*/ 103343 w 427"/>
                <a:gd name="T47" fmla="*/ 193169 h 408"/>
                <a:gd name="T48" fmla="*/ 0 w 427"/>
                <a:gd name="T49" fmla="*/ 327025 h 408"/>
                <a:gd name="T50" fmla="*/ 43513 w 427"/>
                <a:gd name="T51" fmla="*/ 247673 h 408"/>
                <a:gd name="T52" fmla="*/ 113445 w 427"/>
                <a:gd name="T53" fmla="*/ 247673 h 408"/>
                <a:gd name="T54" fmla="*/ 158512 w 427"/>
                <a:gd name="T55" fmla="*/ 327025 h 408"/>
                <a:gd name="T56" fmla="*/ 149188 w 427"/>
                <a:gd name="T57" fmla="*/ 218017 h 408"/>
                <a:gd name="T58" fmla="*/ 228444 w 427"/>
                <a:gd name="T59" fmla="*/ 193169 h 408"/>
                <a:gd name="T60" fmla="*/ 218342 w 427"/>
                <a:gd name="T61" fmla="*/ 193971 h 408"/>
                <a:gd name="T62" fmla="*/ 190370 w 427"/>
                <a:gd name="T63" fmla="*/ 208398 h 408"/>
                <a:gd name="T64" fmla="*/ 186484 w 427"/>
                <a:gd name="T65" fmla="*/ 213207 h 408"/>
                <a:gd name="T66" fmla="*/ 205133 w 427"/>
                <a:gd name="T67" fmla="*/ 327025 h 408"/>
                <a:gd name="T68" fmla="*/ 216788 w 427"/>
                <a:gd name="T69" fmla="*/ 327025 h 408"/>
                <a:gd name="T70" fmla="*/ 298375 w 427"/>
                <a:gd name="T71" fmla="*/ 247673 h 408"/>
                <a:gd name="T72" fmla="*/ 331787 w 427"/>
                <a:gd name="T73" fmla="*/ 250879 h 408"/>
                <a:gd name="T74" fmla="*/ 79256 w 427"/>
                <a:gd name="T75" fmla="*/ 185154 h 408"/>
                <a:gd name="T76" fmla="*/ 97904 w 427"/>
                <a:gd name="T77" fmla="*/ 179543 h 408"/>
                <a:gd name="T78" fmla="*/ 103343 w 427"/>
                <a:gd name="T79" fmla="*/ 176337 h 408"/>
                <a:gd name="T80" fmla="*/ 113445 w 427"/>
                <a:gd name="T81" fmla="*/ 160306 h 408"/>
                <a:gd name="T82" fmla="*/ 115776 w 427"/>
                <a:gd name="T83" fmla="*/ 153093 h 408"/>
                <a:gd name="T84" fmla="*/ 115776 w 427"/>
                <a:gd name="T85" fmla="*/ 140268 h 408"/>
                <a:gd name="T86" fmla="*/ 112668 w 427"/>
                <a:gd name="T87" fmla="*/ 131451 h 408"/>
                <a:gd name="T88" fmla="*/ 110337 w 427"/>
                <a:gd name="T89" fmla="*/ 125841 h 408"/>
                <a:gd name="T90" fmla="*/ 103343 w 427"/>
                <a:gd name="T91" fmla="*/ 117825 h 408"/>
                <a:gd name="T92" fmla="*/ 97904 w 427"/>
                <a:gd name="T93" fmla="*/ 114619 h 408"/>
                <a:gd name="T94" fmla="*/ 79256 w 427"/>
                <a:gd name="T95" fmla="*/ 109008 h 40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427" h="408">
                  <a:moveTo>
                    <a:pt x="289" y="152"/>
                  </a:moveTo>
                  <a:cubicBezTo>
                    <a:pt x="288" y="154"/>
                    <a:pt x="286" y="155"/>
                    <a:pt x="285" y="157"/>
                  </a:cubicBezTo>
                  <a:cubicBezTo>
                    <a:pt x="285" y="157"/>
                    <a:pt x="285" y="157"/>
                    <a:pt x="285" y="157"/>
                  </a:cubicBezTo>
                  <a:cubicBezTo>
                    <a:pt x="284" y="159"/>
                    <a:pt x="283" y="161"/>
                    <a:pt x="282" y="162"/>
                  </a:cubicBezTo>
                  <a:cubicBezTo>
                    <a:pt x="282" y="163"/>
                    <a:pt x="282" y="163"/>
                    <a:pt x="282" y="164"/>
                  </a:cubicBezTo>
                  <a:cubicBezTo>
                    <a:pt x="281" y="165"/>
                    <a:pt x="280" y="167"/>
                    <a:pt x="279" y="169"/>
                  </a:cubicBezTo>
                  <a:cubicBezTo>
                    <a:pt x="279" y="169"/>
                    <a:pt x="279" y="169"/>
                    <a:pt x="279" y="170"/>
                  </a:cubicBezTo>
                  <a:cubicBezTo>
                    <a:pt x="279" y="171"/>
                    <a:pt x="278" y="173"/>
                    <a:pt x="278" y="175"/>
                  </a:cubicBezTo>
                  <a:cubicBezTo>
                    <a:pt x="278" y="176"/>
                    <a:pt x="278" y="176"/>
                    <a:pt x="278" y="177"/>
                  </a:cubicBezTo>
                  <a:cubicBezTo>
                    <a:pt x="277" y="179"/>
                    <a:pt x="277" y="181"/>
                    <a:pt x="277" y="183"/>
                  </a:cubicBezTo>
                  <a:cubicBezTo>
                    <a:pt x="277" y="186"/>
                    <a:pt x="278" y="189"/>
                    <a:pt x="278" y="191"/>
                  </a:cubicBezTo>
                  <a:cubicBezTo>
                    <a:pt x="278" y="192"/>
                    <a:pt x="278" y="192"/>
                    <a:pt x="278" y="192"/>
                  </a:cubicBezTo>
                  <a:cubicBezTo>
                    <a:pt x="279" y="195"/>
                    <a:pt x="279" y="197"/>
                    <a:pt x="280" y="199"/>
                  </a:cubicBezTo>
                  <a:cubicBezTo>
                    <a:pt x="280" y="200"/>
                    <a:pt x="280" y="200"/>
                    <a:pt x="280" y="200"/>
                  </a:cubicBezTo>
                  <a:cubicBezTo>
                    <a:pt x="281" y="203"/>
                    <a:pt x="282" y="205"/>
                    <a:pt x="284" y="207"/>
                  </a:cubicBezTo>
                  <a:cubicBezTo>
                    <a:pt x="284" y="207"/>
                    <a:pt x="284" y="208"/>
                    <a:pt x="284" y="208"/>
                  </a:cubicBezTo>
                  <a:cubicBezTo>
                    <a:pt x="285" y="210"/>
                    <a:pt x="287" y="212"/>
                    <a:pt x="288" y="214"/>
                  </a:cubicBezTo>
                  <a:cubicBezTo>
                    <a:pt x="288" y="214"/>
                    <a:pt x="288" y="214"/>
                    <a:pt x="288" y="214"/>
                  </a:cubicBezTo>
                  <a:cubicBezTo>
                    <a:pt x="290" y="216"/>
                    <a:pt x="292" y="218"/>
                    <a:pt x="294" y="219"/>
                  </a:cubicBezTo>
                  <a:cubicBezTo>
                    <a:pt x="294" y="219"/>
                    <a:pt x="294" y="220"/>
                    <a:pt x="294" y="220"/>
                  </a:cubicBezTo>
                  <a:cubicBezTo>
                    <a:pt x="296" y="221"/>
                    <a:pt x="298" y="223"/>
                    <a:pt x="300" y="224"/>
                  </a:cubicBezTo>
                  <a:cubicBezTo>
                    <a:pt x="300" y="224"/>
                    <a:pt x="301" y="224"/>
                    <a:pt x="301" y="224"/>
                  </a:cubicBezTo>
                  <a:cubicBezTo>
                    <a:pt x="303" y="226"/>
                    <a:pt x="305" y="227"/>
                    <a:pt x="308" y="228"/>
                  </a:cubicBezTo>
                  <a:cubicBezTo>
                    <a:pt x="308" y="228"/>
                    <a:pt x="308" y="228"/>
                    <a:pt x="308" y="228"/>
                  </a:cubicBezTo>
                  <a:cubicBezTo>
                    <a:pt x="313" y="230"/>
                    <a:pt x="319" y="231"/>
                    <a:pt x="325" y="231"/>
                  </a:cubicBezTo>
                  <a:cubicBezTo>
                    <a:pt x="351" y="231"/>
                    <a:pt x="372" y="210"/>
                    <a:pt x="372" y="183"/>
                  </a:cubicBezTo>
                  <a:cubicBezTo>
                    <a:pt x="372" y="157"/>
                    <a:pt x="351" y="136"/>
                    <a:pt x="325" y="136"/>
                  </a:cubicBezTo>
                  <a:cubicBezTo>
                    <a:pt x="318" y="136"/>
                    <a:pt x="312" y="137"/>
                    <a:pt x="306" y="140"/>
                  </a:cubicBezTo>
                  <a:cubicBezTo>
                    <a:pt x="306" y="140"/>
                    <a:pt x="306" y="140"/>
                    <a:pt x="306" y="140"/>
                  </a:cubicBezTo>
                  <a:cubicBezTo>
                    <a:pt x="306" y="140"/>
                    <a:pt x="306" y="140"/>
                    <a:pt x="305" y="140"/>
                  </a:cubicBezTo>
                  <a:cubicBezTo>
                    <a:pt x="304" y="141"/>
                    <a:pt x="302" y="142"/>
                    <a:pt x="301" y="143"/>
                  </a:cubicBezTo>
                  <a:cubicBezTo>
                    <a:pt x="300" y="143"/>
                    <a:pt x="300" y="143"/>
                    <a:pt x="299" y="143"/>
                  </a:cubicBezTo>
                  <a:cubicBezTo>
                    <a:pt x="298" y="144"/>
                    <a:pt x="296" y="146"/>
                    <a:pt x="294" y="147"/>
                  </a:cubicBezTo>
                  <a:cubicBezTo>
                    <a:pt x="294" y="147"/>
                    <a:pt x="294" y="147"/>
                    <a:pt x="294" y="147"/>
                  </a:cubicBezTo>
                  <a:cubicBezTo>
                    <a:pt x="293" y="148"/>
                    <a:pt x="291" y="150"/>
                    <a:pt x="290" y="151"/>
                  </a:cubicBezTo>
                  <a:cubicBezTo>
                    <a:pt x="290" y="151"/>
                    <a:pt x="289" y="152"/>
                    <a:pt x="289" y="152"/>
                  </a:cubicBezTo>
                  <a:close/>
                  <a:moveTo>
                    <a:pt x="213" y="95"/>
                  </a:moveTo>
                  <a:lnTo>
                    <a:pt x="213" y="95"/>
                  </a:lnTo>
                  <a:cubicBezTo>
                    <a:pt x="240" y="95"/>
                    <a:pt x="261" y="73"/>
                    <a:pt x="261" y="47"/>
                  </a:cubicBezTo>
                  <a:cubicBezTo>
                    <a:pt x="261" y="21"/>
                    <a:pt x="240" y="0"/>
                    <a:pt x="213" y="0"/>
                  </a:cubicBezTo>
                  <a:cubicBezTo>
                    <a:pt x="187" y="0"/>
                    <a:pt x="166" y="21"/>
                    <a:pt x="166" y="47"/>
                  </a:cubicBezTo>
                  <a:cubicBezTo>
                    <a:pt x="166" y="73"/>
                    <a:pt x="187" y="95"/>
                    <a:pt x="213" y="95"/>
                  </a:cubicBezTo>
                  <a:close/>
                  <a:moveTo>
                    <a:pt x="258" y="228"/>
                  </a:moveTo>
                  <a:lnTo>
                    <a:pt x="258" y="228"/>
                  </a:lnTo>
                  <a:lnTo>
                    <a:pt x="258" y="192"/>
                  </a:lnTo>
                  <a:cubicBezTo>
                    <a:pt x="258" y="189"/>
                    <a:pt x="257" y="186"/>
                    <a:pt x="257" y="183"/>
                  </a:cubicBezTo>
                  <a:cubicBezTo>
                    <a:pt x="257" y="180"/>
                    <a:pt x="258" y="178"/>
                    <a:pt x="258" y="175"/>
                  </a:cubicBezTo>
                  <a:lnTo>
                    <a:pt x="258" y="173"/>
                  </a:lnTo>
                  <a:cubicBezTo>
                    <a:pt x="262" y="151"/>
                    <a:pt x="275" y="134"/>
                    <a:pt x="293" y="124"/>
                  </a:cubicBezTo>
                  <a:cubicBezTo>
                    <a:pt x="280" y="112"/>
                    <a:pt x="263" y="104"/>
                    <a:pt x="244" y="104"/>
                  </a:cubicBezTo>
                  <a:lnTo>
                    <a:pt x="183" y="104"/>
                  </a:lnTo>
                  <a:cubicBezTo>
                    <a:pt x="164" y="104"/>
                    <a:pt x="147" y="112"/>
                    <a:pt x="134" y="124"/>
                  </a:cubicBezTo>
                  <a:cubicBezTo>
                    <a:pt x="155" y="135"/>
                    <a:pt x="169" y="158"/>
                    <a:pt x="169" y="183"/>
                  </a:cubicBezTo>
                  <a:cubicBezTo>
                    <a:pt x="169" y="189"/>
                    <a:pt x="169" y="194"/>
                    <a:pt x="168" y="199"/>
                  </a:cubicBezTo>
                  <a:lnTo>
                    <a:pt x="168" y="228"/>
                  </a:lnTo>
                  <a:cubicBezTo>
                    <a:pt x="187" y="236"/>
                    <a:pt x="203" y="251"/>
                    <a:pt x="213" y="269"/>
                  </a:cubicBezTo>
                  <a:cubicBezTo>
                    <a:pt x="223" y="251"/>
                    <a:pt x="239" y="237"/>
                    <a:pt x="258" y="228"/>
                  </a:cubicBezTo>
                  <a:close/>
                  <a:moveTo>
                    <a:pt x="192" y="272"/>
                  </a:moveTo>
                  <a:lnTo>
                    <a:pt x="192" y="272"/>
                  </a:lnTo>
                  <a:cubicBezTo>
                    <a:pt x="190" y="270"/>
                    <a:pt x="189" y="268"/>
                    <a:pt x="187" y="266"/>
                  </a:cubicBezTo>
                  <a:cubicBezTo>
                    <a:pt x="187" y="265"/>
                    <a:pt x="186" y="265"/>
                    <a:pt x="186" y="265"/>
                  </a:cubicBezTo>
                  <a:cubicBezTo>
                    <a:pt x="185" y="263"/>
                    <a:pt x="183" y="262"/>
                    <a:pt x="181" y="260"/>
                  </a:cubicBezTo>
                  <a:cubicBezTo>
                    <a:pt x="181" y="260"/>
                    <a:pt x="181" y="259"/>
                    <a:pt x="181" y="259"/>
                  </a:cubicBezTo>
                  <a:cubicBezTo>
                    <a:pt x="179" y="258"/>
                    <a:pt x="177" y="256"/>
                    <a:pt x="175" y="255"/>
                  </a:cubicBezTo>
                  <a:cubicBezTo>
                    <a:pt x="175" y="255"/>
                    <a:pt x="175" y="254"/>
                    <a:pt x="174" y="254"/>
                  </a:cubicBezTo>
                  <a:cubicBezTo>
                    <a:pt x="168" y="250"/>
                    <a:pt x="161" y="246"/>
                    <a:pt x="153" y="244"/>
                  </a:cubicBezTo>
                  <a:cubicBezTo>
                    <a:pt x="151" y="243"/>
                    <a:pt x="150" y="243"/>
                    <a:pt x="148" y="242"/>
                  </a:cubicBezTo>
                  <a:cubicBezTo>
                    <a:pt x="147" y="242"/>
                    <a:pt x="146" y="242"/>
                    <a:pt x="145" y="242"/>
                  </a:cubicBezTo>
                  <a:cubicBezTo>
                    <a:pt x="144" y="242"/>
                    <a:pt x="143" y="241"/>
                    <a:pt x="141" y="241"/>
                  </a:cubicBezTo>
                  <a:cubicBezTo>
                    <a:pt x="141" y="241"/>
                    <a:pt x="140" y="241"/>
                    <a:pt x="139" y="241"/>
                  </a:cubicBezTo>
                  <a:cubicBezTo>
                    <a:pt x="137" y="241"/>
                    <a:pt x="135" y="241"/>
                    <a:pt x="133" y="241"/>
                  </a:cubicBezTo>
                  <a:lnTo>
                    <a:pt x="71" y="241"/>
                  </a:lnTo>
                  <a:cubicBezTo>
                    <a:pt x="32" y="241"/>
                    <a:pt x="0" y="273"/>
                    <a:pt x="0" y="313"/>
                  </a:cubicBezTo>
                  <a:lnTo>
                    <a:pt x="0" y="408"/>
                  </a:lnTo>
                  <a:lnTo>
                    <a:pt x="42" y="408"/>
                  </a:lnTo>
                  <a:lnTo>
                    <a:pt x="42" y="309"/>
                  </a:lnTo>
                  <a:lnTo>
                    <a:pt x="56" y="309"/>
                  </a:lnTo>
                  <a:lnTo>
                    <a:pt x="56" y="408"/>
                  </a:lnTo>
                  <a:lnTo>
                    <a:pt x="146" y="408"/>
                  </a:lnTo>
                  <a:lnTo>
                    <a:pt x="146" y="309"/>
                  </a:lnTo>
                  <a:lnTo>
                    <a:pt x="161" y="309"/>
                  </a:lnTo>
                  <a:lnTo>
                    <a:pt x="161" y="408"/>
                  </a:lnTo>
                  <a:lnTo>
                    <a:pt x="204" y="408"/>
                  </a:lnTo>
                  <a:lnTo>
                    <a:pt x="204" y="313"/>
                  </a:lnTo>
                  <a:cubicBezTo>
                    <a:pt x="204" y="297"/>
                    <a:pt x="200" y="283"/>
                    <a:pt x="192" y="272"/>
                  </a:cubicBezTo>
                  <a:cubicBezTo>
                    <a:pt x="192" y="272"/>
                    <a:pt x="192" y="272"/>
                    <a:pt x="192" y="272"/>
                  </a:cubicBezTo>
                  <a:close/>
                  <a:moveTo>
                    <a:pt x="355" y="241"/>
                  </a:moveTo>
                  <a:lnTo>
                    <a:pt x="355" y="241"/>
                  </a:lnTo>
                  <a:lnTo>
                    <a:pt x="294" y="241"/>
                  </a:lnTo>
                  <a:cubicBezTo>
                    <a:pt x="292" y="241"/>
                    <a:pt x="290" y="241"/>
                    <a:pt x="288" y="241"/>
                  </a:cubicBezTo>
                  <a:cubicBezTo>
                    <a:pt x="287" y="241"/>
                    <a:pt x="286" y="241"/>
                    <a:pt x="285" y="241"/>
                  </a:cubicBezTo>
                  <a:cubicBezTo>
                    <a:pt x="284" y="241"/>
                    <a:pt x="283" y="242"/>
                    <a:pt x="281" y="242"/>
                  </a:cubicBezTo>
                  <a:cubicBezTo>
                    <a:pt x="280" y="242"/>
                    <a:pt x="280" y="242"/>
                    <a:pt x="279" y="242"/>
                  </a:cubicBezTo>
                  <a:cubicBezTo>
                    <a:pt x="277" y="243"/>
                    <a:pt x="276" y="243"/>
                    <a:pt x="274" y="244"/>
                  </a:cubicBezTo>
                  <a:cubicBezTo>
                    <a:pt x="263" y="247"/>
                    <a:pt x="254" y="252"/>
                    <a:pt x="245" y="260"/>
                  </a:cubicBezTo>
                  <a:cubicBezTo>
                    <a:pt x="245" y="260"/>
                    <a:pt x="245" y="260"/>
                    <a:pt x="245" y="260"/>
                  </a:cubicBezTo>
                  <a:cubicBezTo>
                    <a:pt x="243" y="262"/>
                    <a:pt x="242" y="263"/>
                    <a:pt x="240" y="265"/>
                  </a:cubicBezTo>
                  <a:cubicBezTo>
                    <a:pt x="240" y="265"/>
                    <a:pt x="240" y="266"/>
                    <a:pt x="240" y="266"/>
                  </a:cubicBezTo>
                  <a:cubicBezTo>
                    <a:pt x="229" y="278"/>
                    <a:pt x="222" y="295"/>
                    <a:pt x="222" y="313"/>
                  </a:cubicBezTo>
                  <a:lnTo>
                    <a:pt x="222" y="408"/>
                  </a:lnTo>
                  <a:lnTo>
                    <a:pt x="264" y="408"/>
                  </a:lnTo>
                  <a:lnTo>
                    <a:pt x="264" y="309"/>
                  </a:lnTo>
                  <a:lnTo>
                    <a:pt x="279" y="309"/>
                  </a:lnTo>
                  <a:lnTo>
                    <a:pt x="279" y="408"/>
                  </a:lnTo>
                  <a:lnTo>
                    <a:pt x="369" y="408"/>
                  </a:lnTo>
                  <a:lnTo>
                    <a:pt x="369" y="309"/>
                  </a:lnTo>
                  <a:lnTo>
                    <a:pt x="384" y="309"/>
                  </a:lnTo>
                  <a:lnTo>
                    <a:pt x="384" y="408"/>
                  </a:lnTo>
                  <a:lnTo>
                    <a:pt x="427" y="408"/>
                  </a:lnTo>
                  <a:lnTo>
                    <a:pt x="427" y="313"/>
                  </a:lnTo>
                  <a:cubicBezTo>
                    <a:pt x="427" y="273"/>
                    <a:pt x="395" y="241"/>
                    <a:pt x="355" y="241"/>
                  </a:cubicBezTo>
                  <a:close/>
                  <a:moveTo>
                    <a:pt x="102" y="231"/>
                  </a:moveTo>
                  <a:lnTo>
                    <a:pt x="102" y="231"/>
                  </a:lnTo>
                  <a:cubicBezTo>
                    <a:pt x="108" y="231"/>
                    <a:pt x="114" y="230"/>
                    <a:pt x="119" y="228"/>
                  </a:cubicBezTo>
                  <a:cubicBezTo>
                    <a:pt x="119" y="228"/>
                    <a:pt x="119" y="228"/>
                    <a:pt x="119" y="228"/>
                  </a:cubicBezTo>
                  <a:cubicBezTo>
                    <a:pt x="122" y="227"/>
                    <a:pt x="124" y="226"/>
                    <a:pt x="126" y="224"/>
                  </a:cubicBezTo>
                  <a:cubicBezTo>
                    <a:pt x="126" y="224"/>
                    <a:pt x="126" y="224"/>
                    <a:pt x="126" y="224"/>
                  </a:cubicBezTo>
                  <a:cubicBezTo>
                    <a:pt x="129" y="223"/>
                    <a:pt x="131" y="221"/>
                    <a:pt x="133" y="220"/>
                  </a:cubicBezTo>
                  <a:cubicBezTo>
                    <a:pt x="133" y="220"/>
                    <a:pt x="133" y="220"/>
                    <a:pt x="133" y="220"/>
                  </a:cubicBezTo>
                  <a:cubicBezTo>
                    <a:pt x="137" y="216"/>
                    <a:pt x="140" y="212"/>
                    <a:pt x="143" y="208"/>
                  </a:cubicBezTo>
                  <a:cubicBezTo>
                    <a:pt x="143" y="207"/>
                    <a:pt x="143" y="207"/>
                    <a:pt x="143" y="207"/>
                  </a:cubicBezTo>
                  <a:cubicBezTo>
                    <a:pt x="144" y="205"/>
                    <a:pt x="145" y="203"/>
                    <a:pt x="146" y="200"/>
                  </a:cubicBezTo>
                  <a:cubicBezTo>
                    <a:pt x="146" y="200"/>
                    <a:pt x="147" y="200"/>
                    <a:pt x="147" y="199"/>
                  </a:cubicBezTo>
                  <a:cubicBezTo>
                    <a:pt x="148" y="197"/>
                    <a:pt x="148" y="195"/>
                    <a:pt x="149" y="192"/>
                  </a:cubicBezTo>
                  <a:cubicBezTo>
                    <a:pt x="149" y="192"/>
                    <a:pt x="149" y="192"/>
                    <a:pt x="149" y="191"/>
                  </a:cubicBezTo>
                  <a:cubicBezTo>
                    <a:pt x="149" y="189"/>
                    <a:pt x="150" y="186"/>
                    <a:pt x="150" y="183"/>
                  </a:cubicBezTo>
                  <a:cubicBezTo>
                    <a:pt x="150" y="181"/>
                    <a:pt x="149" y="179"/>
                    <a:pt x="149" y="177"/>
                  </a:cubicBezTo>
                  <a:cubicBezTo>
                    <a:pt x="149" y="176"/>
                    <a:pt x="149" y="176"/>
                    <a:pt x="149" y="175"/>
                  </a:cubicBezTo>
                  <a:cubicBezTo>
                    <a:pt x="148" y="173"/>
                    <a:pt x="148" y="171"/>
                    <a:pt x="147" y="169"/>
                  </a:cubicBezTo>
                  <a:cubicBezTo>
                    <a:pt x="147" y="169"/>
                    <a:pt x="147" y="169"/>
                    <a:pt x="147" y="169"/>
                  </a:cubicBezTo>
                  <a:cubicBezTo>
                    <a:pt x="147" y="167"/>
                    <a:pt x="146" y="165"/>
                    <a:pt x="145" y="164"/>
                  </a:cubicBezTo>
                  <a:cubicBezTo>
                    <a:pt x="145" y="163"/>
                    <a:pt x="145" y="163"/>
                    <a:pt x="145" y="162"/>
                  </a:cubicBezTo>
                  <a:cubicBezTo>
                    <a:pt x="144" y="161"/>
                    <a:pt x="143" y="159"/>
                    <a:pt x="142" y="157"/>
                  </a:cubicBezTo>
                  <a:cubicBezTo>
                    <a:pt x="140" y="155"/>
                    <a:pt x="139" y="154"/>
                    <a:pt x="138" y="152"/>
                  </a:cubicBezTo>
                  <a:cubicBezTo>
                    <a:pt x="137" y="152"/>
                    <a:pt x="137" y="151"/>
                    <a:pt x="137" y="151"/>
                  </a:cubicBezTo>
                  <a:cubicBezTo>
                    <a:pt x="136" y="150"/>
                    <a:pt x="134" y="148"/>
                    <a:pt x="133" y="147"/>
                  </a:cubicBezTo>
                  <a:cubicBezTo>
                    <a:pt x="133" y="147"/>
                    <a:pt x="133" y="147"/>
                    <a:pt x="132" y="147"/>
                  </a:cubicBezTo>
                  <a:cubicBezTo>
                    <a:pt x="131" y="146"/>
                    <a:pt x="129" y="144"/>
                    <a:pt x="127" y="143"/>
                  </a:cubicBezTo>
                  <a:cubicBezTo>
                    <a:pt x="127" y="143"/>
                    <a:pt x="127" y="143"/>
                    <a:pt x="126" y="143"/>
                  </a:cubicBezTo>
                  <a:cubicBezTo>
                    <a:pt x="125" y="142"/>
                    <a:pt x="123" y="141"/>
                    <a:pt x="121" y="140"/>
                  </a:cubicBezTo>
                  <a:cubicBezTo>
                    <a:pt x="121" y="140"/>
                    <a:pt x="121" y="140"/>
                    <a:pt x="121" y="140"/>
                  </a:cubicBezTo>
                  <a:cubicBezTo>
                    <a:pt x="115" y="137"/>
                    <a:pt x="109" y="136"/>
                    <a:pt x="102" y="136"/>
                  </a:cubicBezTo>
                  <a:cubicBezTo>
                    <a:pt x="76" y="136"/>
                    <a:pt x="54" y="157"/>
                    <a:pt x="54" y="183"/>
                  </a:cubicBezTo>
                  <a:cubicBezTo>
                    <a:pt x="54" y="210"/>
                    <a:pt x="76" y="231"/>
                    <a:pt x="102" y="231"/>
                  </a:cubicBezTo>
                  <a:close/>
                </a:path>
              </a:pathLst>
            </a:custGeom>
            <a:solidFill>
              <a:srgbClr val="FFFFFF"/>
            </a:solidFill>
            <a:ln>
              <a:noFill/>
            </a:ln>
            <a:extLst>
              <a:ext uri="{91240B29-F687-4F45-9708-019B960494DF}">
                <a14:hiddenLine xmlns=""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宋体" panose="02010600030101010101" pitchFamily="2" charset="-122"/>
              </a:endParaRPr>
            </a:p>
          </p:txBody>
        </p:sp>
      </p:grpSp>
      <p:grpSp>
        <p:nvGrpSpPr>
          <p:cNvPr id="52" name="组合 51"/>
          <p:cNvGrpSpPr/>
          <p:nvPr/>
        </p:nvGrpSpPr>
        <p:grpSpPr>
          <a:xfrm>
            <a:off x="8480942" y="1718343"/>
            <a:ext cx="546976" cy="540745"/>
            <a:chOff x="6084168" y="1274820"/>
            <a:chExt cx="432048" cy="432834"/>
          </a:xfrm>
        </p:grpSpPr>
        <p:sp>
          <p:nvSpPr>
            <p:cNvPr id="53"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54"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55" name="组合 54"/>
          <p:cNvGrpSpPr/>
          <p:nvPr/>
        </p:nvGrpSpPr>
        <p:grpSpPr>
          <a:xfrm>
            <a:off x="6852304" y="1718409"/>
            <a:ext cx="546976" cy="539763"/>
            <a:chOff x="4788024" y="1275213"/>
            <a:chExt cx="432048" cy="432048"/>
          </a:xfrm>
        </p:grpSpPr>
        <p:sp>
          <p:nvSpPr>
            <p:cNvPr id="56"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57"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58" name="组合 57"/>
          <p:cNvGrpSpPr/>
          <p:nvPr/>
        </p:nvGrpSpPr>
        <p:grpSpPr>
          <a:xfrm>
            <a:off x="7682935" y="1726745"/>
            <a:ext cx="547970" cy="540745"/>
            <a:chOff x="5436096" y="1274820"/>
            <a:chExt cx="432833" cy="432834"/>
          </a:xfrm>
        </p:grpSpPr>
        <p:sp>
          <p:nvSpPr>
            <p:cNvPr id="59" name="椭圆 58"/>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60"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61" name="组合 60"/>
          <p:cNvGrpSpPr/>
          <p:nvPr/>
        </p:nvGrpSpPr>
        <p:grpSpPr>
          <a:xfrm>
            <a:off x="5211987" y="1715437"/>
            <a:ext cx="547970" cy="540745"/>
            <a:chOff x="3491880" y="1274820"/>
            <a:chExt cx="432833" cy="432834"/>
          </a:xfrm>
        </p:grpSpPr>
        <p:sp>
          <p:nvSpPr>
            <p:cNvPr id="62"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63"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64" name="组合 63"/>
          <p:cNvGrpSpPr/>
          <p:nvPr/>
        </p:nvGrpSpPr>
        <p:grpSpPr>
          <a:xfrm>
            <a:off x="6042699" y="1709107"/>
            <a:ext cx="547970" cy="540745"/>
            <a:chOff x="4139952" y="1274820"/>
            <a:chExt cx="432833" cy="432834"/>
          </a:xfrm>
        </p:grpSpPr>
        <p:sp>
          <p:nvSpPr>
            <p:cNvPr id="65"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66"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latin typeface="Roboto Light"/>
              </a:endParaRPr>
            </a:p>
          </p:txBody>
        </p:sp>
      </p:grpSp>
      <p:sp>
        <p:nvSpPr>
          <p:cNvPr id="29" name="矩形 28"/>
          <p:cNvSpPr/>
          <p:nvPr/>
        </p:nvSpPr>
        <p:spPr>
          <a:xfrm>
            <a:off x="4524489" y="4259531"/>
            <a:ext cx="2635658" cy="369332"/>
          </a:xfrm>
          <a:prstGeom prst="rect">
            <a:avLst/>
          </a:prstGeom>
        </p:spPr>
        <p:txBody>
          <a:bodyPr wrap="none">
            <a:spAutoFit/>
          </a:bodyPr>
          <a:lstStyle/>
          <a:p>
            <a:r>
              <a:rPr lang="en-US" altLang="zh-CN" sz="1800" b="1" dirty="0" smtClean="0">
                <a:solidFill>
                  <a:srgbClr val="0070C0"/>
                </a:solidFill>
                <a:latin typeface="思源黑体" panose="020B0500000000000000" pitchFamily="34" charset="-122"/>
                <a:ea typeface="思源黑体" panose="020B0500000000000000" pitchFamily="34" charset="-122"/>
              </a:rPr>
              <a:t>2</a:t>
            </a:r>
            <a:r>
              <a:rPr lang="zh-CN" altLang="en-US" sz="1800" b="1" dirty="0" smtClean="0">
                <a:solidFill>
                  <a:srgbClr val="0070C0"/>
                </a:solidFill>
                <a:latin typeface="思源黑体" panose="020B0500000000000000" pitchFamily="34" charset="-122"/>
                <a:ea typeface="思源黑体" panose="020B0500000000000000" pitchFamily="34" charset="-122"/>
              </a:rPr>
              <a:t>、项目中的较特殊应用</a:t>
            </a:r>
            <a:endParaRPr lang="zh-CN" altLang="en-US" sz="1800" b="1" dirty="0">
              <a:solidFill>
                <a:srgbClr val="0070C0"/>
              </a:solidFill>
            </a:endParaRPr>
          </a:p>
        </p:txBody>
      </p:sp>
      <p:sp>
        <p:nvSpPr>
          <p:cNvPr id="31" name="矩形 30"/>
          <p:cNvSpPr/>
          <p:nvPr/>
        </p:nvSpPr>
        <p:spPr>
          <a:xfrm>
            <a:off x="4536213" y="4729381"/>
            <a:ext cx="1481496" cy="369332"/>
          </a:xfrm>
          <a:prstGeom prst="rect">
            <a:avLst/>
          </a:prstGeom>
        </p:spPr>
        <p:txBody>
          <a:bodyPr wrap="none">
            <a:spAutoFit/>
          </a:bodyPr>
          <a:lstStyle/>
          <a:p>
            <a:pPr marL="0" lvl="1"/>
            <a:r>
              <a:rPr lang="en-US" altLang="zh-CN" sz="1800" b="1" dirty="0" smtClean="0">
                <a:solidFill>
                  <a:srgbClr val="0070C0"/>
                </a:solidFill>
                <a:latin typeface="思源黑体" panose="020B0500000000000000" pitchFamily="34" charset="-122"/>
                <a:ea typeface="思源黑体" panose="020B0500000000000000" pitchFamily="34" charset="-122"/>
              </a:rPr>
              <a:t>3</a:t>
            </a:r>
            <a:r>
              <a:rPr lang="zh-CN" altLang="en-US" b="1" dirty="0" smtClean="0">
                <a:solidFill>
                  <a:srgbClr val="0070C0"/>
                </a:solidFill>
                <a:latin typeface="思源黑体" panose="020B0500000000000000" pitchFamily="34" charset="-122"/>
                <a:ea typeface="思源黑体" panose="020B0500000000000000" pitchFamily="34" charset="-122"/>
              </a:rPr>
              <a:t>、拓展</a:t>
            </a:r>
            <a:r>
              <a:rPr lang="zh-CN" altLang="en-US" b="1" dirty="0" smtClean="0">
                <a:solidFill>
                  <a:srgbClr val="0070C0"/>
                </a:solidFill>
                <a:latin typeface="思源黑体" panose="020B0500000000000000" pitchFamily="34" charset="-122"/>
                <a:ea typeface="思源黑体" panose="020B0500000000000000" pitchFamily="34" charset="-122"/>
              </a:rPr>
              <a:t>思考</a:t>
            </a:r>
            <a:endParaRPr lang="zh-CN" altLang="en-US" sz="1800" b="1" dirty="0">
              <a:solidFill>
                <a:srgbClr val="0070C0"/>
              </a:solidFill>
            </a:endParaRPr>
          </a:p>
        </p:txBody>
      </p:sp>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wheel(1)">
                                      <p:cBhvr>
                                        <p:cTn id="11" dur="650"/>
                                        <p:tgtEl>
                                          <p:spTgt spid="41"/>
                                        </p:tgtEl>
                                      </p:cBhvr>
                                    </p:animEffect>
                                  </p:childTnLst>
                                </p:cTn>
                              </p:par>
                            </p:childTnLst>
                          </p:cTn>
                        </p:par>
                        <p:par>
                          <p:cTn id="12" fill="hold">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par>
                          <p:cTn id="16" fill="hold">
                            <p:stCondLst>
                              <p:cond delay="2000"/>
                            </p:stCondLst>
                            <p:childTnLst>
                              <p:par>
                                <p:cTn id="17" presetID="15" presetClass="entr" presetSubtype="0" fill="hold" nodeType="afterEffect">
                                  <p:stCondLst>
                                    <p:cond delay="0"/>
                                  </p:stCondLst>
                                  <p:childTnLst>
                                    <p:set>
                                      <p:cBhvr>
                                        <p:cTn id="18" dur="1" fill="hold">
                                          <p:stCondLst>
                                            <p:cond delay="0"/>
                                          </p:stCondLst>
                                        </p:cTn>
                                        <p:tgtEl>
                                          <p:spTgt spid="45"/>
                                        </p:tgtEl>
                                        <p:attrNameLst>
                                          <p:attrName>style.visibility</p:attrName>
                                        </p:attrNameLst>
                                      </p:cBhvr>
                                      <p:to>
                                        <p:strVal val="visible"/>
                                      </p:to>
                                    </p:set>
                                    <p:anim calcmode="lin" valueType="num">
                                      <p:cBhvr>
                                        <p:cTn id="19" dur="1000" fill="hold"/>
                                        <p:tgtEl>
                                          <p:spTgt spid="45"/>
                                        </p:tgtEl>
                                        <p:attrNameLst>
                                          <p:attrName>ppt_w</p:attrName>
                                        </p:attrNameLst>
                                      </p:cBhvr>
                                      <p:tavLst>
                                        <p:tav tm="0">
                                          <p:val>
                                            <p:fltVal val="0"/>
                                          </p:val>
                                        </p:tav>
                                        <p:tav tm="100000">
                                          <p:val>
                                            <p:strVal val="#ppt_w"/>
                                          </p:val>
                                        </p:tav>
                                      </p:tavLst>
                                    </p:anim>
                                    <p:anim calcmode="lin" valueType="num">
                                      <p:cBhvr>
                                        <p:cTn id="20" dur="1000" fill="hold"/>
                                        <p:tgtEl>
                                          <p:spTgt spid="45"/>
                                        </p:tgtEl>
                                        <p:attrNameLst>
                                          <p:attrName>ppt_h</p:attrName>
                                        </p:attrNameLst>
                                      </p:cBhvr>
                                      <p:tavLst>
                                        <p:tav tm="0">
                                          <p:val>
                                            <p:fltVal val="0"/>
                                          </p:val>
                                        </p:tav>
                                        <p:tav tm="100000">
                                          <p:val>
                                            <p:strVal val="#ppt_h"/>
                                          </p:val>
                                        </p:tav>
                                      </p:tavLst>
                                    </p:anim>
                                    <p:anim calcmode="lin" valueType="num">
                                      <p:cBhvr>
                                        <p:cTn id="21" dur="1000" fill="hold"/>
                                        <p:tgtEl>
                                          <p:spTgt spid="45"/>
                                        </p:tgtEl>
                                        <p:attrNameLst>
                                          <p:attrName>ppt_x</p:attrName>
                                        </p:attrNameLst>
                                      </p:cBhvr>
                                      <p:tavLst>
                                        <p:tav tm="0" fmla="#ppt_x+(cos(-2*pi*(1-$))*-#ppt_x-sin(-2*pi*(1-$))*(1-#ppt_y))*(1-$)">
                                          <p:val>
                                            <p:fltVal val="0"/>
                                          </p:val>
                                        </p:tav>
                                        <p:tav tm="100000">
                                          <p:val>
                                            <p:fltVal val="1"/>
                                          </p:val>
                                        </p:tav>
                                      </p:tavLst>
                                    </p:anim>
                                    <p:anim calcmode="lin" valueType="num">
                                      <p:cBhvr>
                                        <p:cTn id="22" dur="1000" fill="hold"/>
                                        <p:tgtEl>
                                          <p:spTgt spid="45"/>
                                        </p:tgtEl>
                                        <p:attrNameLst>
                                          <p:attrName>ppt_y</p:attrName>
                                        </p:attrNameLst>
                                      </p:cBhvr>
                                      <p:tavLst>
                                        <p:tav tm="0" fmla="#ppt_y+(sin(-2*pi*(1-$))*-#ppt_x+cos(-2*pi*(1-$))*(1-#ppt_y))*(1-$)">
                                          <p:val>
                                            <p:fltVal val="0"/>
                                          </p:val>
                                        </p:tav>
                                        <p:tav tm="100000">
                                          <p:val>
                                            <p:fltVal val="1"/>
                                          </p:val>
                                        </p:tav>
                                      </p:tavLst>
                                    </p:anim>
                                  </p:childTnLst>
                                </p:cTn>
                              </p:par>
                            </p:childTnLst>
                          </p:cTn>
                        </p:par>
                        <p:par>
                          <p:cTn id="23" fill="hold">
                            <p:stCondLst>
                              <p:cond delay="3000"/>
                            </p:stCondLst>
                            <p:childTnLst>
                              <p:par>
                                <p:cTn id="24" presetID="53" presetClass="entr" presetSubtype="16" fill="hold" nodeType="afterEffect">
                                  <p:stCondLst>
                                    <p:cond delay="0"/>
                                  </p:stCondLst>
                                  <p:childTnLst>
                                    <p:set>
                                      <p:cBhvr>
                                        <p:cTn id="25" dur="1" fill="hold">
                                          <p:stCondLst>
                                            <p:cond delay="0"/>
                                          </p:stCondLst>
                                        </p:cTn>
                                        <p:tgtEl>
                                          <p:spTgt spid="61"/>
                                        </p:tgtEl>
                                        <p:attrNameLst>
                                          <p:attrName>style.visibility</p:attrName>
                                        </p:attrNameLst>
                                      </p:cBhvr>
                                      <p:to>
                                        <p:strVal val="visible"/>
                                      </p:to>
                                    </p:set>
                                    <p:anim calcmode="lin" valueType="num">
                                      <p:cBhvr>
                                        <p:cTn id="26" dur="500" fill="hold"/>
                                        <p:tgtEl>
                                          <p:spTgt spid="61"/>
                                        </p:tgtEl>
                                        <p:attrNameLst>
                                          <p:attrName>ppt_w</p:attrName>
                                        </p:attrNameLst>
                                      </p:cBhvr>
                                      <p:tavLst>
                                        <p:tav tm="0">
                                          <p:val>
                                            <p:fltVal val="0"/>
                                          </p:val>
                                        </p:tav>
                                        <p:tav tm="100000">
                                          <p:val>
                                            <p:strVal val="#ppt_w"/>
                                          </p:val>
                                        </p:tav>
                                      </p:tavLst>
                                    </p:anim>
                                    <p:anim calcmode="lin" valueType="num">
                                      <p:cBhvr>
                                        <p:cTn id="27" dur="500" fill="hold"/>
                                        <p:tgtEl>
                                          <p:spTgt spid="61"/>
                                        </p:tgtEl>
                                        <p:attrNameLst>
                                          <p:attrName>ppt_h</p:attrName>
                                        </p:attrNameLst>
                                      </p:cBhvr>
                                      <p:tavLst>
                                        <p:tav tm="0">
                                          <p:val>
                                            <p:fltVal val="0"/>
                                          </p:val>
                                        </p:tav>
                                        <p:tav tm="100000">
                                          <p:val>
                                            <p:strVal val="#ppt_h"/>
                                          </p:val>
                                        </p:tav>
                                      </p:tavLst>
                                    </p:anim>
                                    <p:animEffect transition="in" filter="fade">
                                      <p:cBhvr>
                                        <p:cTn id="28" dur="500"/>
                                        <p:tgtEl>
                                          <p:spTgt spid="61"/>
                                        </p:tgtEl>
                                      </p:cBhvr>
                                    </p:animEffect>
                                  </p:childTnLst>
                                </p:cTn>
                              </p:par>
                              <p:par>
                                <p:cTn id="29" presetID="53" presetClass="entr" presetSubtype="16" fill="hold" nodeType="withEffect">
                                  <p:stCondLst>
                                    <p:cond delay="200"/>
                                  </p:stCondLst>
                                  <p:childTnLst>
                                    <p:set>
                                      <p:cBhvr>
                                        <p:cTn id="30" dur="1" fill="hold">
                                          <p:stCondLst>
                                            <p:cond delay="0"/>
                                          </p:stCondLst>
                                        </p:cTn>
                                        <p:tgtEl>
                                          <p:spTgt spid="64"/>
                                        </p:tgtEl>
                                        <p:attrNameLst>
                                          <p:attrName>style.visibility</p:attrName>
                                        </p:attrNameLst>
                                      </p:cBhvr>
                                      <p:to>
                                        <p:strVal val="visible"/>
                                      </p:to>
                                    </p:set>
                                    <p:anim calcmode="lin" valueType="num">
                                      <p:cBhvr>
                                        <p:cTn id="31" dur="500" fill="hold"/>
                                        <p:tgtEl>
                                          <p:spTgt spid="64"/>
                                        </p:tgtEl>
                                        <p:attrNameLst>
                                          <p:attrName>ppt_w</p:attrName>
                                        </p:attrNameLst>
                                      </p:cBhvr>
                                      <p:tavLst>
                                        <p:tav tm="0">
                                          <p:val>
                                            <p:fltVal val="0"/>
                                          </p:val>
                                        </p:tav>
                                        <p:tav tm="100000">
                                          <p:val>
                                            <p:strVal val="#ppt_w"/>
                                          </p:val>
                                        </p:tav>
                                      </p:tavLst>
                                    </p:anim>
                                    <p:anim calcmode="lin" valueType="num">
                                      <p:cBhvr>
                                        <p:cTn id="32" dur="500" fill="hold"/>
                                        <p:tgtEl>
                                          <p:spTgt spid="64"/>
                                        </p:tgtEl>
                                        <p:attrNameLst>
                                          <p:attrName>ppt_h</p:attrName>
                                        </p:attrNameLst>
                                      </p:cBhvr>
                                      <p:tavLst>
                                        <p:tav tm="0">
                                          <p:val>
                                            <p:fltVal val="0"/>
                                          </p:val>
                                        </p:tav>
                                        <p:tav tm="100000">
                                          <p:val>
                                            <p:strVal val="#ppt_h"/>
                                          </p:val>
                                        </p:tav>
                                      </p:tavLst>
                                    </p:anim>
                                    <p:animEffect transition="in" filter="fade">
                                      <p:cBhvr>
                                        <p:cTn id="33" dur="500"/>
                                        <p:tgtEl>
                                          <p:spTgt spid="64"/>
                                        </p:tgtEl>
                                      </p:cBhvr>
                                    </p:animEffect>
                                  </p:childTnLst>
                                </p:cTn>
                              </p:par>
                              <p:par>
                                <p:cTn id="34" presetID="53" presetClass="entr" presetSubtype="16" fill="hold" nodeType="withEffect">
                                  <p:stCondLst>
                                    <p:cond delay="400"/>
                                  </p:stCondLst>
                                  <p:childTnLst>
                                    <p:set>
                                      <p:cBhvr>
                                        <p:cTn id="35" dur="1" fill="hold">
                                          <p:stCondLst>
                                            <p:cond delay="0"/>
                                          </p:stCondLst>
                                        </p:cTn>
                                        <p:tgtEl>
                                          <p:spTgt spid="55"/>
                                        </p:tgtEl>
                                        <p:attrNameLst>
                                          <p:attrName>style.visibility</p:attrName>
                                        </p:attrNameLst>
                                      </p:cBhvr>
                                      <p:to>
                                        <p:strVal val="visible"/>
                                      </p:to>
                                    </p:set>
                                    <p:anim calcmode="lin" valueType="num">
                                      <p:cBhvr>
                                        <p:cTn id="36" dur="500" fill="hold"/>
                                        <p:tgtEl>
                                          <p:spTgt spid="55"/>
                                        </p:tgtEl>
                                        <p:attrNameLst>
                                          <p:attrName>ppt_w</p:attrName>
                                        </p:attrNameLst>
                                      </p:cBhvr>
                                      <p:tavLst>
                                        <p:tav tm="0">
                                          <p:val>
                                            <p:fltVal val="0"/>
                                          </p:val>
                                        </p:tav>
                                        <p:tav tm="100000">
                                          <p:val>
                                            <p:strVal val="#ppt_w"/>
                                          </p:val>
                                        </p:tav>
                                      </p:tavLst>
                                    </p:anim>
                                    <p:anim calcmode="lin" valueType="num">
                                      <p:cBhvr>
                                        <p:cTn id="37" dur="500" fill="hold"/>
                                        <p:tgtEl>
                                          <p:spTgt spid="55"/>
                                        </p:tgtEl>
                                        <p:attrNameLst>
                                          <p:attrName>ppt_h</p:attrName>
                                        </p:attrNameLst>
                                      </p:cBhvr>
                                      <p:tavLst>
                                        <p:tav tm="0">
                                          <p:val>
                                            <p:fltVal val="0"/>
                                          </p:val>
                                        </p:tav>
                                        <p:tav tm="100000">
                                          <p:val>
                                            <p:strVal val="#ppt_h"/>
                                          </p:val>
                                        </p:tav>
                                      </p:tavLst>
                                    </p:anim>
                                    <p:animEffect transition="in" filter="fade">
                                      <p:cBhvr>
                                        <p:cTn id="38" dur="500"/>
                                        <p:tgtEl>
                                          <p:spTgt spid="55"/>
                                        </p:tgtEl>
                                      </p:cBhvr>
                                    </p:animEffect>
                                  </p:childTnLst>
                                </p:cTn>
                              </p:par>
                              <p:par>
                                <p:cTn id="39" presetID="53" presetClass="entr" presetSubtype="16" fill="hold" nodeType="withEffect">
                                  <p:stCondLst>
                                    <p:cond delay="600"/>
                                  </p:stCondLst>
                                  <p:childTnLst>
                                    <p:set>
                                      <p:cBhvr>
                                        <p:cTn id="40" dur="1" fill="hold">
                                          <p:stCondLst>
                                            <p:cond delay="0"/>
                                          </p:stCondLst>
                                        </p:cTn>
                                        <p:tgtEl>
                                          <p:spTgt spid="58"/>
                                        </p:tgtEl>
                                        <p:attrNameLst>
                                          <p:attrName>style.visibility</p:attrName>
                                        </p:attrNameLst>
                                      </p:cBhvr>
                                      <p:to>
                                        <p:strVal val="visible"/>
                                      </p:to>
                                    </p:set>
                                    <p:anim calcmode="lin" valueType="num">
                                      <p:cBhvr>
                                        <p:cTn id="41" dur="500" fill="hold"/>
                                        <p:tgtEl>
                                          <p:spTgt spid="58"/>
                                        </p:tgtEl>
                                        <p:attrNameLst>
                                          <p:attrName>ppt_w</p:attrName>
                                        </p:attrNameLst>
                                      </p:cBhvr>
                                      <p:tavLst>
                                        <p:tav tm="0">
                                          <p:val>
                                            <p:fltVal val="0"/>
                                          </p:val>
                                        </p:tav>
                                        <p:tav tm="100000">
                                          <p:val>
                                            <p:strVal val="#ppt_w"/>
                                          </p:val>
                                        </p:tav>
                                      </p:tavLst>
                                    </p:anim>
                                    <p:anim calcmode="lin" valueType="num">
                                      <p:cBhvr>
                                        <p:cTn id="42" dur="500" fill="hold"/>
                                        <p:tgtEl>
                                          <p:spTgt spid="58"/>
                                        </p:tgtEl>
                                        <p:attrNameLst>
                                          <p:attrName>ppt_h</p:attrName>
                                        </p:attrNameLst>
                                      </p:cBhvr>
                                      <p:tavLst>
                                        <p:tav tm="0">
                                          <p:val>
                                            <p:fltVal val="0"/>
                                          </p:val>
                                        </p:tav>
                                        <p:tav tm="100000">
                                          <p:val>
                                            <p:strVal val="#ppt_h"/>
                                          </p:val>
                                        </p:tav>
                                      </p:tavLst>
                                    </p:anim>
                                    <p:animEffect transition="in" filter="fade">
                                      <p:cBhvr>
                                        <p:cTn id="43" dur="500"/>
                                        <p:tgtEl>
                                          <p:spTgt spid="58"/>
                                        </p:tgtEl>
                                      </p:cBhvr>
                                    </p:animEffect>
                                  </p:childTnLst>
                                </p:cTn>
                              </p:par>
                              <p:par>
                                <p:cTn id="44" presetID="53" presetClass="entr" presetSubtype="16" fill="hold" nodeType="withEffect">
                                  <p:stCondLst>
                                    <p:cond delay="800"/>
                                  </p:stCondLst>
                                  <p:childTnLst>
                                    <p:set>
                                      <p:cBhvr>
                                        <p:cTn id="45" dur="1" fill="hold">
                                          <p:stCondLst>
                                            <p:cond delay="0"/>
                                          </p:stCondLst>
                                        </p:cTn>
                                        <p:tgtEl>
                                          <p:spTgt spid="52"/>
                                        </p:tgtEl>
                                        <p:attrNameLst>
                                          <p:attrName>style.visibility</p:attrName>
                                        </p:attrNameLst>
                                      </p:cBhvr>
                                      <p:to>
                                        <p:strVal val="visible"/>
                                      </p:to>
                                    </p:set>
                                    <p:anim calcmode="lin" valueType="num">
                                      <p:cBhvr>
                                        <p:cTn id="46" dur="500" fill="hold"/>
                                        <p:tgtEl>
                                          <p:spTgt spid="52"/>
                                        </p:tgtEl>
                                        <p:attrNameLst>
                                          <p:attrName>ppt_w</p:attrName>
                                        </p:attrNameLst>
                                      </p:cBhvr>
                                      <p:tavLst>
                                        <p:tav tm="0">
                                          <p:val>
                                            <p:fltVal val="0"/>
                                          </p:val>
                                        </p:tav>
                                        <p:tav tm="100000">
                                          <p:val>
                                            <p:strVal val="#ppt_w"/>
                                          </p:val>
                                        </p:tav>
                                      </p:tavLst>
                                    </p:anim>
                                    <p:anim calcmode="lin" valueType="num">
                                      <p:cBhvr>
                                        <p:cTn id="47" dur="500" fill="hold"/>
                                        <p:tgtEl>
                                          <p:spTgt spid="52"/>
                                        </p:tgtEl>
                                        <p:attrNameLst>
                                          <p:attrName>ppt_h</p:attrName>
                                        </p:attrNameLst>
                                      </p:cBhvr>
                                      <p:tavLst>
                                        <p:tav tm="0">
                                          <p:val>
                                            <p:fltVal val="0"/>
                                          </p:val>
                                        </p:tav>
                                        <p:tav tm="100000">
                                          <p:val>
                                            <p:strVal val="#ppt_h"/>
                                          </p:val>
                                        </p:tav>
                                      </p:tavLst>
                                    </p:anim>
                                    <p:animEffect transition="in" filter="fade">
                                      <p:cBhvr>
                                        <p:cTn id="48"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a:spLocks noChangeArrowheads="1"/>
          </p:cNvSpPr>
          <p:nvPr/>
        </p:nvSpPr>
        <p:spPr bwMode="auto">
          <a:xfrm>
            <a:off x="0" y="212519"/>
            <a:ext cx="352425" cy="400050"/>
          </a:xfrm>
          <a:prstGeom prst="rect">
            <a:avLst/>
          </a:prstGeom>
          <a:solidFill>
            <a:srgbClr val="5B9BD5">
              <a:lumMod val="50000"/>
            </a:srgbClr>
          </a:solidFill>
          <a:ln w="9525">
            <a:noFill/>
            <a:miter lim="800000"/>
          </a:ln>
        </p:spPr>
        <p:txBody>
          <a:bodyPr anchor="ctr"/>
          <a:lstStyle/>
          <a:p>
            <a:pPr algn="ctr" fontAlgn="base">
              <a:spcBef>
                <a:spcPct val="0"/>
              </a:spcBef>
              <a:spcAft>
                <a:spcPct val="0"/>
              </a:spcAft>
              <a:buFont typeface="Arial" panose="020B0604020202020204" pitchFamily="34" charset="0"/>
              <a:buNone/>
              <a:defRPr/>
            </a:pPr>
            <a:endParaRPr lang="zh-CN" altLang="en-US" kern="0">
              <a:solidFill>
                <a:srgbClr val="1F4E79"/>
              </a:solidFill>
              <a:latin typeface="黑体" panose="02010609060101010101" charset="-122"/>
              <a:ea typeface="黑体" panose="02010609060101010101" charset="-122"/>
            </a:endParaRPr>
          </a:p>
        </p:txBody>
      </p:sp>
      <p:sp>
        <p:nvSpPr>
          <p:cNvPr id="17" name="矩形 16"/>
          <p:cNvSpPr>
            <a:spLocks noChangeArrowheads="1"/>
          </p:cNvSpPr>
          <p:nvPr/>
        </p:nvSpPr>
        <p:spPr bwMode="auto">
          <a:xfrm>
            <a:off x="419100" y="212519"/>
            <a:ext cx="123825" cy="400050"/>
          </a:xfrm>
          <a:prstGeom prst="rect">
            <a:avLst/>
          </a:prstGeom>
          <a:solidFill>
            <a:srgbClr val="7F7F7F"/>
          </a:solidFill>
          <a:ln w="9525">
            <a:noFill/>
            <a:miter lim="800000"/>
          </a:ln>
        </p:spPr>
        <p:txBody>
          <a:bodyPr anchor="ctr"/>
          <a:lstStyle/>
          <a:p>
            <a:pPr algn="ctr" fontAlgn="base">
              <a:spcBef>
                <a:spcPct val="0"/>
              </a:spcBef>
              <a:spcAft>
                <a:spcPct val="0"/>
              </a:spcAft>
              <a:buFont typeface="Arial" panose="020B0604020202020204" pitchFamily="34" charset="0"/>
              <a:buNone/>
            </a:pPr>
            <a:endParaRPr lang="zh-CN" altLang="en-US">
              <a:solidFill>
                <a:srgbClr val="1F4E79"/>
              </a:solidFill>
              <a:latin typeface="黑体" panose="02010609060101010101" charset="-122"/>
              <a:ea typeface="黑体" panose="02010609060101010101" charset="-122"/>
            </a:endParaRPr>
          </a:p>
        </p:txBody>
      </p:sp>
      <p:sp>
        <p:nvSpPr>
          <p:cNvPr id="21" name="标题 1"/>
          <p:cNvSpPr txBox="1"/>
          <p:nvPr/>
        </p:nvSpPr>
        <p:spPr>
          <a:xfrm>
            <a:off x="609600" y="224766"/>
            <a:ext cx="9710057" cy="375557"/>
          </a:xfrm>
          <a:prstGeom prst="rect">
            <a:avLst/>
          </a:prstGeom>
        </p:spPr>
        <p:txBody>
          <a:bodyPr anchor="ctr"/>
          <a:lstStyle>
            <a:lvl1pPr algn="l" rtl="0" eaLnBrk="0" fontAlgn="base" hangingPunct="0">
              <a:spcBef>
                <a:spcPct val="0"/>
              </a:spcBef>
              <a:spcAft>
                <a:spcPct val="0"/>
              </a:spcAft>
              <a:defRPr sz="2800" b="1" kern="1200">
                <a:solidFill>
                  <a:srgbClr val="1F4E79"/>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defRPr/>
            </a:pPr>
            <a:r>
              <a:rPr lang="en-US" altLang="zh-CN" sz="2400" dirty="0" smtClean="0">
                <a:solidFill>
                  <a:srgbClr val="0070C0"/>
                </a:solidFill>
                <a:latin typeface="思源黑体" panose="020B0500000000000000" pitchFamily="34" charset="-122"/>
                <a:ea typeface="思源黑体" panose="020B0500000000000000" pitchFamily="34" charset="-122"/>
              </a:rPr>
              <a:t>1</a:t>
            </a:r>
            <a:r>
              <a:rPr lang="zh-CN" altLang="en-US" sz="2400" dirty="0" smtClean="0">
                <a:solidFill>
                  <a:srgbClr val="0070C0"/>
                </a:solidFill>
                <a:latin typeface="思源黑体" panose="020B0500000000000000" pitchFamily="34" charset="-122"/>
                <a:ea typeface="思源黑体" panose="020B0500000000000000" pitchFamily="34" charset="-122"/>
              </a:rPr>
              <a:t>、项目上常用的</a:t>
            </a:r>
            <a:r>
              <a:rPr lang="en-US" altLang="zh-CN" sz="2400" dirty="0" err="1" smtClean="0">
                <a:solidFill>
                  <a:srgbClr val="0070C0"/>
                </a:solidFill>
                <a:latin typeface="思源黑体" panose="020B0500000000000000" pitchFamily="34" charset="-122"/>
                <a:ea typeface="思源黑体" panose="020B0500000000000000" pitchFamily="34" charset="-122"/>
              </a:rPr>
              <a:t>Iptables</a:t>
            </a:r>
            <a:r>
              <a:rPr lang="zh-CN" altLang="en-US" sz="2400" dirty="0" smtClean="0">
                <a:solidFill>
                  <a:srgbClr val="0070C0"/>
                </a:solidFill>
                <a:latin typeface="思源黑体" panose="020B0500000000000000" pitchFamily="34" charset="-122"/>
                <a:ea typeface="思源黑体" panose="020B0500000000000000" pitchFamily="34" charset="-122"/>
              </a:rPr>
              <a:t>命令</a:t>
            </a:r>
            <a:r>
              <a:rPr lang="en-US" altLang="zh-CN" sz="2400" dirty="0" smtClean="0">
                <a:solidFill>
                  <a:srgbClr val="0070C0"/>
                </a:solidFill>
                <a:latin typeface="思源黑体" panose="020B0500000000000000" pitchFamily="34" charset="-122"/>
                <a:ea typeface="思源黑体" panose="020B0500000000000000" pitchFamily="34" charset="-122"/>
              </a:rPr>
              <a:t>—</a:t>
            </a:r>
            <a:r>
              <a:rPr lang="zh-CN" altLang="en-US" sz="2400" dirty="0" smtClean="0">
                <a:solidFill>
                  <a:srgbClr val="0070C0"/>
                </a:solidFill>
                <a:latin typeface="思源黑体" panose="020B0500000000000000" pitchFamily="34" charset="-122"/>
                <a:ea typeface="思源黑体" panose="020B0500000000000000" pitchFamily="34" charset="-122"/>
              </a:rPr>
              <a:t>查看规则</a:t>
            </a:r>
            <a:endParaRPr lang="zh-CN" altLang="en-US" sz="2400" dirty="0" smtClean="0">
              <a:solidFill>
                <a:srgbClr val="0070C0"/>
              </a:solidFill>
            </a:endParaRPr>
          </a:p>
        </p:txBody>
      </p:sp>
      <p:pic>
        <p:nvPicPr>
          <p:cNvPr id="1032" name="Picture 8" descr="C:\Users\mibin\AppData\Local\Temp\企业微信截图_17587105561515.png"/>
          <p:cNvPicPr>
            <a:picLocks noChangeAspect="1" noChangeArrowheads="1"/>
          </p:cNvPicPr>
          <p:nvPr/>
        </p:nvPicPr>
        <p:blipFill>
          <a:blip r:embed="rId2" cstate="print"/>
          <a:srcRect/>
          <a:stretch>
            <a:fillRect/>
          </a:stretch>
        </p:blipFill>
        <p:spPr bwMode="auto">
          <a:xfrm>
            <a:off x="1175481" y="1219566"/>
            <a:ext cx="8553450" cy="1390651"/>
          </a:xfrm>
          <a:prstGeom prst="rect">
            <a:avLst/>
          </a:prstGeom>
          <a:noFill/>
        </p:spPr>
      </p:pic>
      <p:pic>
        <p:nvPicPr>
          <p:cNvPr id="1034" name="Picture 10" descr="C:\Users\mibin\AppData\Local\Temp\企业微信截图_17587110872035.png"/>
          <p:cNvPicPr>
            <a:picLocks noChangeAspect="1" noChangeArrowheads="1"/>
          </p:cNvPicPr>
          <p:nvPr/>
        </p:nvPicPr>
        <p:blipFill>
          <a:blip r:embed="rId3" cstate="print"/>
          <a:srcRect/>
          <a:stretch>
            <a:fillRect/>
          </a:stretch>
        </p:blipFill>
        <p:spPr bwMode="auto">
          <a:xfrm>
            <a:off x="1149108" y="3792415"/>
            <a:ext cx="9267825" cy="2305050"/>
          </a:xfrm>
          <a:prstGeom prst="rect">
            <a:avLst/>
          </a:prstGeom>
          <a:noFill/>
        </p:spPr>
      </p:pic>
      <p:sp>
        <p:nvSpPr>
          <p:cNvPr id="14" name="TextBox 15"/>
          <p:cNvSpPr txBox="1"/>
          <p:nvPr/>
        </p:nvSpPr>
        <p:spPr>
          <a:xfrm>
            <a:off x="2945135" y="2655270"/>
            <a:ext cx="5785337" cy="394927"/>
          </a:xfrm>
          <a:prstGeom prst="rect">
            <a:avLst/>
          </a:prstGeom>
          <a:noFill/>
        </p:spPr>
        <p:txBody>
          <a:bodyPr wrap="square" lIns="71067" tIns="35534" rIns="71067" bIns="35534" rtlCol="0">
            <a:spAutoFit/>
          </a:bodyPr>
          <a:lstStyle>
            <a:defPPr>
              <a:defRPr lang="zh-CN"/>
            </a:defPPr>
            <a:lvl1pPr>
              <a:lnSpc>
                <a:spcPct val="150000"/>
              </a:lnSpc>
              <a:defRPr sz="1800">
                <a:solidFill>
                  <a:schemeClr val="tx1">
                    <a:lumMod val="50000"/>
                    <a:lumOff val="50000"/>
                  </a:schemeClr>
                </a:solidFill>
                <a:latin typeface="微软雅黑" panose="020B0503020204020204" charset="-122"/>
                <a:ea typeface="微软雅黑" panose="020B0503020204020204" charset="-122"/>
              </a:defRPr>
            </a:lvl1pPr>
          </a:lstStyle>
          <a:p>
            <a:r>
              <a:rPr lang="zh-CN" altLang="en-US" sz="1400" dirty="0">
                <a:solidFill>
                  <a:schemeClr val="tx1"/>
                </a:solidFill>
                <a:latin typeface="思源黑体" panose="020B0500000000000000" pitchFamily="34" charset="-122"/>
                <a:ea typeface="思源黑体" panose="020B0500000000000000" pitchFamily="34" charset="-122"/>
              </a:rPr>
              <a:t> </a:t>
            </a:r>
            <a:r>
              <a:rPr lang="zh-CN" altLang="en-US" sz="1400" dirty="0" smtClean="0">
                <a:solidFill>
                  <a:schemeClr val="tx1"/>
                </a:solidFill>
                <a:latin typeface="思源黑体" panose="020B0500000000000000" pitchFamily="34" charset="-122"/>
                <a:ea typeface="思源黑体" panose="020B0500000000000000" pitchFamily="34" charset="-122"/>
              </a:rPr>
              <a:t>      </a:t>
            </a:r>
            <a:r>
              <a:rPr lang="zh-CN" altLang="en-US" sz="1400" dirty="0" smtClean="0">
                <a:solidFill>
                  <a:schemeClr val="tx1"/>
                </a:solidFill>
                <a:latin typeface="思源黑体" panose="020B0500000000000000" pitchFamily="34" charset="-122"/>
                <a:ea typeface="思源黑体" panose="020B0500000000000000" pitchFamily="34" charset="-122"/>
              </a:rPr>
              <a:t>不指定表名时，默认针对</a:t>
            </a:r>
            <a:r>
              <a:rPr lang="en-US" altLang="zh-CN" sz="1400" dirty="0" smtClean="0">
                <a:solidFill>
                  <a:schemeClr val="tx1"/>
                </a:solidFill>
                <a:latin typeface="思源黑体" panose="020B0500000000000000" pitchFamily="34" charset="-122"/>
                <a:ea typeface="思源黑体" panose="020B0500000000000000" pitchFamily="34" charset="-122"/>
              </a:rPr>
              <a:t>filter</a:t>
            </a:r>
            <a:r>
              <a:rPr lang="zh-CN" altLang="en-US" sz="1400" dirty="0" smtClean="0">
                <a:solidFill>
                  <a:schemeClr val="tx1"/>
                </a:solidFill>
                <a:latin typeface="思源黑体" panose="020B0500000000000000" pitchFamily="34" charset="-122"/>
                <a:ea typeface="思源黑体" panose="020B0500000000000000" pitchFamily="34" charset="-122"/>
              </a:rPr>
              <a:t>表查看</a:t>
            </a:r>
            <a:r>
              <a:rPr lang="en-US" altLang="zh-CN" sz="1400" dirty="0" smtClean="0">
                <a:solidFill>
                  <a:schemeClr val="tx1"/>
                </a:solidFill>
                <a:latin typeface="思源黑体" panose="020B0500000000000000" pitchFamily="34" charset="-122"/>
                <a:ea typeface="思源黑体" panose="020B0500000000000000" pitchFamily="34" charset="-122"/>
              </a:rPr>
              <a:t>filter</a:t>
            </a:r>
            <a:r>
              <a:rPr lang="zh-CN" altLang="en-US" sz="1400" dirty="0" smtClean="0">
                <a:solidFill>
                  <a:schemeClr val="tx1"/>
                </a:solidFill>
                <a:latin typeface="思源黑体" panose="020B0500000000000000" pitchFamily="34" charset="-122"/>
                <a:ea typeface="思源黑体" panose="020B0500000000000000" pitchFamily="34" charset="-122"/>
              </a:rPr>
              <a:t>表。</a:t>
            </a:r>
            <a:endParaRPr lang="en-US" altLang="zh-CN" sz="1400" dirty="0" smtClean="0">
              <a:solidFill>
                <a:schemeClr val="tx1"/>
              </a:solidFill>
              <a:latin typeface="思源黑体" panose="020B0500000000000000" pitchFamily="34" charset="-122"/>
              <a:ea typeface="思源黑体" panose="020B0500000000000000" pitchFamily="34" charset="-122"/>
            </a:endParaRPr>
          </a:p>
        </p:txBody>
      </p:sp>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a:spLocks noChangeArrowheads="1"/>
          </p:cNvSpPr>
          <p:nvPr/>
        </p:nvSpPr>
        <p:spPr bwMode="auto">
          <a:xfrm>
            <a:off x="0" y="212519"/>
            <a:ext cx="352425" cy="400050"/>
          </a:xfrm>
          <a:prstGeom prst="rect">
            <a:avLst/>
          </a:prstGeom>
          <a:solidFill>
            <a:srgbClr val="5B9BD5">
              <a:lumMod val="50000"/>
            </a:srgbClr>
          </a:solidFill>
          <a:ln w="9525">
            <a:noFill/>
            <a:miter lim="800000"/>
          </a:ln>
        </p:spPr>
        <p:txBody>
          <a:bodyPr anchor="ctr"/>
          <a:lstStyle/>
          <a:p>
            <a:pPr algn="ctr" fontAlgn="base">
              <a:spcBef>
                <a:spcPct val="0"/>
              </a:spcBef>
              <a:spcAft>
                <a:spcPct val="0"/>
              </a:spcAft>
              <a:buFont typeface="Arial" panose="020B0604020202020204" pitchFamily="34" charset="0"/>
              <a:buNone/>
              <a:defRPr/>
            </a:pPr>
            <a:endParaRPr lang="zh-CN" altLang="en-US" kern="0">
              <a:solidFill>
                <a:srgbClr val="1F4E79"/>
              </a:solidFill>
              <a:latin typeface="黑体" panose="02010609060101010101" charset="-122"/>
              <a:ea typeface="黑体" panose="02010609060101010101" charset="-122"/>
            </a:endParaRPr>
          </a:p>
        </p:txBody>
      </p:sp>
      <p:sp>
        <p:nvSpPr>
          <p:cNvPr id="17" name="矩形 16"/>
          <p:cNvSpPr>
            <a:spLocks noChangeArrowheads="1"/>
          </p:cNvSpPr>
          <p:nvPr/>
        </p:nvSpPr>
        <p:spPr bwMode="auto">
          <a:xfrm>
            <a:off x="419100" y="212519"/>
            <a:ext cx="123825" cy="400050"/>
          </a:xfrm>
          <a:prstGeom prst="rect">
            <a:avLst/>
          </a:prstGeom>
          <a:solidFill>
            <a:srgbClr val="7F7F7F"/>
          </a:solidFill>
          <a:ln w="9525">
            <a:noFill/>
            <a:miter lim="800000"/>
          </a:ln>
        </p:spPr>
        <p:txBody>
          <a:bodyPr anchor="ctr"/>
          <a:lstStyle/>
          <a:p>
            <a:pPr algn="ctr" fontAlgn="base">
              <a:spcBef>
                <a:spcPct val="0"/>
              </a:spcBef>
              <a:spcAft>
                <a:spcPct val="0"/>
              </a:spcAft>
              <a:buFont typeface="Arial" panose="020B0604020202020204" pitchFamily="34" charset="0"/>
              <a:buNone/>
            </a:pPr>
            <a:endParaRPr lang="zh-CN" altLang="en-US">
              <a:solidFill>
                <a:srgbClr val="1F4E79"/>
              </a:solidFill>
              <a:latin typeface="黑体" panose="02010609060101010101" charset="-122"/>
              <a:ea typeface="黑体" panose="02010609060101010101" charset="-122"/>
            </a:endParaRPr>
          </a:p>
        </p:txBody>
      </p:sp>
      <p:sp>
        <p:nvSpPr>
          <p:cNvPr id="21" name="标题 1"/>
          <p:cNvSpPr txBox="1"/>
          <p:nvPr/>
        </p:nvSpPr>
        <p:spPr>
          <a:xfrm>
            <a:off x="609600" y="224766"/>
            <a:ext cx="9710057" cy="375557"/>
          </a:xfrm>
          <a:prstGeom prst="rect">
            <a:avLst/>
          </a:prstGeom>
        </p:spPr>
        <p:txBody>
          <a:bodyPr anchor="ctr"/>
          <a:lstStyle>
            <a:lvl1pPr algn="l" rtl="0" eaLnBrk="0" fontAlgn="base" hangingPunct="0">
              <a:spcBef>
                <a:spcPct val="0"/>
              </a:spcBef>
              <a:spcAft>
                <a:spcPct val="0"/>
              </a:spcAft>
              <a:defRPr sz="2800" b="1" kern="1200">
                <a:solidFill>
                  <a:srgbClr val="1F4E79"/>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defRPr/>
            </a:pPr>
            <a:r>
              <a:rPr lang="en-US" altLang="zh-CN" sz="2400" dirty="0" smtClean="0">
                <a:solidFill>
                  <a:srgbClr val="0070C0"/>
                </a:solidFill>
                <a:latin typeface="思源黑体" panose="020B0500000000000000" pitchFamily="34" charset="-122"/>
                <a:ea typeface="思源黑体" panose="020B0500000000000000" pitchFamily="34" charset="-122"/>
              </a:rPr>
              <a:t>1</a:t>
            </a:r>
            <a:r>
              <a:rPr lang="zh-CN" altLang="en-US" sz="2400" dirty="0" smtClean="0">
                <a:solidFill>
                  <a:srgbClr val="0070C0"/>
                </a:solidFill>
                <a:latin typeface="思源黑体" panose="020B0500000000000000" pitchFamily="34" charset="-122"/>
                <a:ea typeface="思源黑体" panose="020B0500000000000000" pitchFamily="34" charset="-122"/>
              </a:rPr>
              <a:t>、项目上常用的</a:t>
            </a:r>
            <a:r>
              <a:rPr lang="en-US" altLang="zh-CN" sz="2400" dirty="0" err="1" smtClean="0">
                <a:solidFill>
                  <a:srgbClr val="0070C0"/>
                </a:solidFill>
                <a:latin typeface="思源黑体" panose="020B0500000000000000" pitchFamily="34" charset="-122"/>
                <a:ea typeface="思源黑体" panose="020B0500000000000000" pitchFamily="34" charset="-122"/>
              </a:rPr>
              <a:t>Iptables</a:t>
            </a:r>
            <a:r>
              <a:rPr lang="zh-CN" altLang="en-US" sz="2400" dirty="0" smtClean="0">
                <a:solidFill>
                  <a:srgbClr val="0070C0"/>
                </a:solidFill>
                <a:latin typeface="思源黑体" panose="020B0500000000000000" pitchFamily="34" charset="-122"/>
                <a:ea typeface="思源黑体" panose="020B0500000000000000" pitchFamily="34" charset="-122"/>
              </a:rPr>
              <a:t>命令</a:t>
            </a:r>
            <a:r>
              <a:rPr lang="en-US" altLang="zh-CN" sz="2400" dirty="0" smtClean="0">
                <a:solidFill>
                  <a:srgbClr val="0070C0"/>
                </a:solidFill>
                <a:latin typeface="思源黑体" panose="020B0500000000000000" pitchFamily="34" charset="-122"/>
                <a:ea typeface="思源黑体" panose="020B0500000000000000" pitchFamily="34" charset="-122"/>
              </a:rPr>
              <a:t>—</a:t>
            </a:r>
            <a:r>
              <a:rPr lang="zh-CN" altLang="en-US" sz="2400" dirty="0" smtClean="0">
                <a:solidFill>
                  <a:srgbClr val="0070C0"/>
                </a:solidFill>
                <a:latin typeface="思源黑体" panose="020B0500000000000000" pitchFamily="34" charset="-122"/>
                <a:ea typeface="思源黑体" panose="020B0500000000000000" pitchFamily="34" charset="-122"/>
              </a:rPr>
              <a:t>添加规则</a:t>
            </a:r>
            <a:endParaRPr lang="zh-CN" altLang="en-US" sz="2400" dirty="0" smtClean="0">
              <a:solidFill>
                <a:srgbClr val="0070C0"/>
              </a:solidFill>
            </a:endParaRPr>
          </a:p>
        </p:txBody>
      </p:sp>
      <p:pic>
        <p:nvPicPr>
          <p:cNvPr id="14339" name="Picture 3"/>
          <p:cNvPicPr>
            <a:picLocks noChangeAspect="1" noChangeArrowheads="1"/>
          </p:cNvPicPr>
          <p:nvPr/>
        </p:nvPicPr>
        <p:blipFill>
          <a:blip r:embed="rId2" cstate="print"/>
          <a:srcRect/>
          <a:stretch>
            <a:fillRect/>
          </a:stretch>
        </p:blipFill>
        <p:spPr bwMode="auto">
          <a:xfrm>
            <a:off x="782515" y="931235"/>
            <a:ext cx="6444762" cy="5460771"/>
          </a:xfrm>
          <a:prstGeom prst="rect">
            <a:avLst/>
          </a:prstGeom>
          <a:noFill/>
          <a:ln w="9525">
            <a:noFill/>
            <a:miter lim="800000"/>
            <a:headEnd/>
            <a:tailEnd/>
          </a:ln>
        </p:spPr>
      </p:pic>
      <p:sp>
        <p:nvSpPr>
          <p:cNvPr id="14340" name="Rectangle 4"/>
          <p:cNvSpPr>
            <a:spLocks noChangeArrowheads="1"/>
          </p:cNvSpPr>
          <p:nvPr/>
        </p:nvSpPr>
        <p:spPr bwMode="auto">
          <a:xfrm>
            <a:off x="8247185" y="2045818"/>
            <a:ext cx="3367453" cy="1928669"/>
          </a:xfrm>
          <a:prstGeom prst="rect">
            <a:avLst/>
          </a:prstGeom>
          <a:solidFill>
            <a:srgbClr val="FFFFFF"/>
          </a:solidFill>
          <a:ln w="9525">
            <a:noFill/>
            <a:miter lim="800000"/>
            <a:headEnd/>
            <a:tailEnd/>
          </a:ln>
          <a:effectLst/>
        </p:spPr>
        <p:txBody>
          <a:bodyPr vert="horz" wrap="square" lIns="0" tIns="101568" rIns="0" bIns="101568"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lang="zh-CN" altLang="en-US" sz="1400" dirty="0" smtClean="0">
                <a:latin typeface="思源黑体" panose="020B0500000000000000" pitchFamily="34" charset="-122"/>
                <a:ea typeface="思源黑体" panose="020B0500000000000000" pitchFamily="34" charset="-122"/>
              </a:rPr>
              <a:t>需要注意：</a:t>
            </a:r>
            <a:endParaRPr lang="en-US" altLang="zh-CN" sz="1400" dirty="0" smtClean="0">
              <a:latin typeface="思源黑体" panose="020B0500000000000000" pitchFamily="34" charset="-122"/>
              <a:ea typeface="思源黑体" panose="020B0500000000000000" pitchFamily="34" charset="-122"/>
            </a:endParaRPr>
          </a:p>
          <a:p>
            <a:pPr marL="0" marR="0" lvl="0" indent="0" algn="l" defTabSz="914400" rtl="0" eaLnBrk="1" fontAlgn="base" latinLnBrk="0" hangingPunct="1">
              <a:lnSpc>
                <a:spcPct val="100000"/>
              </a:lnSpc>
              <a:spcBef>
                <a:spcPct val="0"/>
              </a:spcBef>
              <a:spcAft>
                <a:spcPct val="0"/>
              </a:spcAft>
              <a:buClrTx/>
              <a:buSzTx/>
              <a:buFontTx/>
              <a:buNone/>
              <a:tabLst/>
            </a:pPr>
            <a:endParaRPr lang="en-US" altLang="zh-CN" sz="1400" dirty="0" smtClean="0">
              <a:latin typeface="思源黑体" panose="020B0500000000000000" pitchFamily="34" charset="-122"/>
              <a:ea typeface="思源黑体" panose="020B0500000000000000" pitchFamily="34" charset="-122"/>
            </a:endParaRPr>
          </a:p>
          <a:p>
            <a:pPr marL="0" marR="0" lvl="0" indent="0" algn="l" defTabSz="914400" rtl="0" eaLnBrk="1" fontAlgn="base" latinLnBrk="0" hangingPunct="1">
              <a:lnSpc>
                <a:spcPct val="100000"/>
              </a:lnSpc>
              <a:spcBef>
                <a:spcPct val="0"/>
              </a:spcBef>
              <a:spcAft>
                <a:spcPct val="0"/>
              </a:spcAft>
              <a:buClrTx/>
              <a:buSzTx/>
              <a:buFontTx/>
              <a:buNone/>
              <a:tabLst/>
            </a:pPr>
            <a:r>
              <a:rPr lang="zh-CN" altLang="en-US" sz="1400" dirty="0" smtClean="0">
                <a:latin typeface="思源黑体" panose="020B0500000000000000" pitchFamily="34" charset="-122"/>
                <a:ea typeface="思源黑体" panose="020B0500000000000000" pitchFamily="34" charset="-122"/>
              </a:rPr>
              <a:t> </a:t>
            </a:r>
            <a:r>
              <a:rPr lang="zh-CN" altLang="en-US" sz="1400" dirty="0" smtClean="0">
                <a:latin typeface="思源黑体" panose="020B0500000000000000" pitchFamily="34" charset="-122"/>
                <a:ea typeface="思源黑体" panose="020B0500000000000000" pitchFamily="34" charset="-122"/>
              </a:rPr>
              <a:t>       </a:t>
            </a:r>
            <a:r>
              <a:rPr lang="en-US" altLang="zh-CN" sz="1400" dirty="0" smtClean="0">
                <a:latin typeface="思源黑体" panose="020B0500000000000000" pitchFamily="34" charset="-122"/>
                <a:ea typeface="思源黑体" panose="020B0500000000000000" pitchFamily="34" charset="-122"/>
              </a:rPr>
              <a:t>I</a:t>
            </a:r>
            <a:r>
              <a:rPr lang="zh-CN" altLang="zh-CN" sz="1400" dirty="0" smtClean="0">
                <a:latin typeface="思源黑体" panose="020B0500000000000000" pitchFamily="34" charset="-122"/>
                <a:ea typeface="思源黑体" panose="020B0500000000000000" pitchFamily="34" charset="-122"/>
              </a:rPr>
              <a:t>ptables </a:t>
            </a:r>
            <a:r>
              <a:rPr lang="zh-CN" altLang="en-US" sz="1400" dirty="0" smtClean="0">
                <a:latin typeface="思源黑体" panose="020B0500000000000000" pitchFamily="34" charset="-122"/>
                <a:ea typeface="思源黑体" panose="020B0500000000000000" pitchFamily="34" charset="-122"/>
              </a:rPr>
              <a:t>规则是按顺序匹配的，匹配到第一条规则后就会停止。</a:t>
            </a:r>
          </a:p>
          <a:p>
            <a:pPr lvl="0" eaLnBrk="0" fontAlgn="base" hangingPunct="0">
              <a:spcBef>
                <a:spcPct val="0"/>
              </a:spcBef>
              <a:spcAft>
                <a:spcPct val="0"/>
              </a:spcAft>
            </a:pPr>
            <a:endParaRPr lang="en-US" altLang="zh-CN" sz="1400" dirty="0" smtClean="0">
              <a:latin typeface="思源黑体" panose="020B0500000000000000" pitchFamily="34" charset="-122"/>
              <a:ea typeface="思源黑体" panose="020B0500000000000000" pitchFamily="34" charset="-122"/>
            </a:endParaRPr>
          </a:p>
          <a:p>
            <a:pPr lvl="0" eaLnBrk="0" fontAlgn="base" hangingPunct="0">
              <a:spcBef>
                <a:spcPct val="0"/>
              </a:spcBef>
              <a:spcAft>
                <a:spcPct val="0"/>
              </a:spcAft>
            </a:pPr>
            <a:r>
              <a:rPr lang="zh-CN" altLang="en-US" sz="1400" dirty="0" smtClean="0">
                <a:latin typeface="思源黑体" panose="020B0500000000000000" pitchFamily="34" charset="-122"/>
                <a:ea typeface="思源黑体" panose="020B0500000000000000" pitchFamily="34" charset="-122"/>
              </a:rPr>
              <a:t>        </a:t>
            </a:r>
            <a:r>
              <a:rPr lang="zh-CN" altLang="en-US" sz="1400" dirty="0" smtClean="0">
                <a:latin typeface="思源黑体" panose="020B0500000000000000" pitchFamily="34" charset="-122"/>
                <a:ea typeface="思源黑体" panose="020B0500000000000000" pitchFamily="34" charset="-122"/>
              </a:rPr>
              <a:t>如果在前面已经设置</a:t>
            </a:r>
            <a:r>
              <a:rPr lang="en-US" altLang="zh-CN" sz="1400" dirty="0" smtClean="0">
                <a:latin typeface="思源黑体" panose="020B0500000000000000" pitchFamily="34" charset="-122"/>
                <a:ea typeface="思源黑体" panose="020B0500000000000000" pitchFamily="34" charset="-122"/>
              </a:rPr>
              <a:t>DROP</a:t>
            </a:r>
            <a:r>
              <a:rPr lang="zh-CN" altLang="en-US" sz="1400" dirty="0" smtClean="0">
                <a:latin typeface="思源黑体" panose="020B0500000000000000" pitchFamily="34" charset="-122"/>
                <a:ea typeface="思源黑体" panose="020B0500000000000000" pitchFamily="34" charset="-122"/>
              </a:rPr>
              <a:t>所有</a:t>
            </a:r>
            <a:r>
              <a:rPr lang="en-US" altLang="zh-CN" sz="1400" dirty="0" err="1" smtClean="0">
                <a:latin typeface="思源黑体" panose="020B0500000000000000" pitchFamily="34" charset="-122"/>
                <a:ea typeface="思源黑体" panose="020B0500000000000000" pitchFamily="34" charset="-122"/>
              </a:rPr>
              <a:t>icmp</a:t>
            </a:r>
            <a:r>
              <a:rPr lang="zh-CN" altLang="en-US" sz="1400" dirty="0" smtClean="0">
                <a:latin typeface="思源黑体" panose="020B0500000000000000" pitchFamily="34" charset="-122"/>
                <a:ea typeface="思源黑体" panose="020B0500000000000000" pitchFamily="34" charset="-122"/>
              </a:rPr>
              <a:t>报文，后面再设置</a:t>
            </a:r>
            <a:r>
              <a:rPr lang="en-US" altLang="zh-CN" sz="1400" dirty="0" smtClean="0">
                <a:latin typeface="思源黑体" panose="020B0500000000000000" pitchFamily="34" charset="-122"/>
                <a:ea typeface="思源黑体" panose="020B0500000000000000" pitchFamily="34" charset="-122"/>
              </a:rPr>
              <a:t>ACCEPT</a:t>
            </a:r>
            <a:r>
              <a:rPr lang="zh-CN" altLang="en-US" sz="1400" dirty="0" smtClean="0">
                <a:latin typeface="思源黑体" panose="020B0500000000000000" pitchFamily="34" charset="-122"/>
                <a:ea typeface="思源黑体" panose="020B0500000000000000" pitchFamily="34" charset="-122"/>
              </a:rPr>
              <a:t>某个</a:t>
            </a:r>
            <a:r>
              <a:rPr lang="en-US" altLang="zh-CN" sz="1400" dirty="0" smtClean="0">
                <a:latin typeface="思源黑体" panose="020B0500000000000000" pitchFamily="34" charset="-122"/>
                <a:ea typeface="思源黑体" panose="020B0500000000000000" pitchFamily="34" charset="-122"/>
              </a:rPr>
              <a:t>IP</a:t>
            </a:r>
            <a:r>
              <a:rPr lang="zh-CN" altLang="en-US" sz="1400" dirty="0" smtClean="0">
                <a:latin typeface="思源黑体" panose="020B0500000000000000" pitchFamily="34" charset="-122"/>
                <a:ea typeface="思源黑体" panose="020B0500000000000000" pitchFamily="34" charset="-122"/>
              </a:rPr>
              <a:t>上的</a:t>
            </a:r>
            <a:r>
              <a:rPr lang="en-US" altLang="zh-CN" sz="1400" dirty="0" err="1" smtClean="0">
                <a:latin typeface="思源黑体" panose="020B0500000000000000" pitchFamily="34" charset="-122"/>
                <a:ea typeface="思源黑体" panose="020B0500000000000000" pitchFamily="34" charset="-122"/>
              </a:rPr>
              <a:t>icmp</a:t>
            </a:r>
            <a:r>
              <a:rPr lang="zh-CN" altLang="en-US" sz="1400" dirty="0" smtClean="0">
                <a:latin typeface="思源黑体" panose="020B0500000000000000" pitchFamily="34" charset="-122"/>
                <a:ea typeface="思源黑体" panose="020B0500000000000000" pitchFamily="34" charset="-122"/>
              </a:rPr>
              <a:t>报文还有效吗</a:t>
            </a:r>
          </a:p>
        </p:txBody>
      </p:sp>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a:spLocks noChangeArrowheads="1"/>
          </p:cNvSpPr>
          <p:nvPr/>
        </p:nvSpPr>
        <p:spPr bwMode="auto">
          <a:xfrm>
            <a:off x="0" y="212519"/>
            <a:ext cx="352425" cy="400050"/>
          </a:xfrm>
          <a:prstGeom prst="rect">
            <a:avLst/>
          </a:prstGeom>
          <a:solidFill>
            <a:srgbClr val="5B9BD5">
              <a:lumMod val="50000"/>
            </a:srgbClr>
          </a:solidFill>
          <a:ln w="9525">
            <a:noFill/>
            <a:miter lim="800000"/>
          </a:ln>
        </p:spPr>
        <p:txBody>
          <a:bodyPr anchor="ctr"/>
          <a:lstStyle/>
          <a:p>
            <a:pPr algn="ctr" fontAlgn="base">
              <a:spcBef>
                <a:spcPct val="0"/>
              </a:spcBef>
              <a:spcAft>
                <a:spcPct val="0"/>
              </a:spcAft>
              <a:buFont typeface="Arial" panose="020B0604020202020204" pitchFamily="34" charset="0"/>
              <a:buNone/>
              <a:defRPr/>
            </a:pPr>
            <a:endParaRPr lang="zh-CN" altLang="en-US" kern="0">
              <a:solidFill>
                <a:srgbClr val="1F4E79"/>
              </a:solidFill>
              <a:latin typeface="黑体" panose="02010609060101010101" charset="-122"/>
              <a:ea typeface="黑体" panose="02010609060101010101" charset="-122"/>
            </a:endParaRPr>
          </a:p>
        </p:txBody>
      </p:sp>
      <p:sp>
        <p:nvSpPr>
          <p:cNvPr id="17" name="矩形 16"/>
          <p:cNvSpPr>
            <a:spLocks noChangeArrowheads="1"/>
          </p:cNvSpPr>
          <p:nvPr/>
        </p:nvSpPr>
        <p:spPr bwMode="auto">
          <a:xfrm>
            <a:off x="419100" y="212519"/>
            <a:ext cx="123825" cy="400050"/>
          </a:xfrm>
          <a:prstGeom prst="rect">
            <a:avLst/>
          </a:prstGeom>
          <a:solidFill>
            <a:srgbClr val="7F7F7F"/>
          </a:solidFill>
          <a:ln w="9525">
            <a:noFill/>
            <a:miter lim="800000"/>
          </a:ln>
        </p:spPr>
        <p:txBody>
          <a:bodyPr anchor="ctr"/>
          <a:lstStyle/>
          <a:p>
            <a:pPr algn="ctr" fontAlgn="base">
              <a:spcBef>
                <a:spcPct val="0"/>
              </a:spcBef>
              <a:spcAft>
                <a:spcPct val="0"/>
              </a:spcAft>
              <a:buFont typeface="Arial" panose="020B0604020202020204" pitchFamily="34" charset="0"/>
              <a:buNone/>
            </a:pPr>
            <a:endParaRPr lang="zh-CN" altLang="en-US">
              <a:solidFill>
                <a:srgbClr val="1F4E79"/>
              </a:solidFill>
              <a:latin typeface="黑体" panose="02010609060101010101" charset="-122"/>
              <a:ea typeface="黑体" panose="02010609060101010101" charset="-122"/>
            </a:endParaRPr>
          </a:p>
        </p:txBody>
      </p:sp>
      <p:sp>
        <p:nvSpPr>
          <p:cNvPr id="21" name="标题 1"/>
          <p:cNvSpPr txBox="1"/>
          <p:nvPr/>
        </p:nvSpPr>
        <p:spPr>
          <a:xfrm>
            <a:off x="609600" y="224766"/>
            <a:ext cx="9710057" cy="375557"/>
          </a:xfrm>
          <a:prstGeom prst="rect">
            <a:avLst/>
          </a:prstGeom>
        </p:spPr>
        <p:txBody>
          <a:bodyPr anchor="ctr"/>
          <a:lstStyle>
            <a:lvl1pPr algn="l" rtl="0" eaLnBrk="0" fontAlgn="base" hangingPunct="0">
              <a:spcBef>
                <a:spcPct val="0"/>
              </a:spcBef>
              <a:spcAft>
                <a:spcPct val="0"/>
              </a:spcAft>
              <a:defRPr sz="2800" b="1" kern="1200">
                <a:solidFill>
                  <a:srgbClr val="1F4E79"/>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defRPr/>
            </a:pPr>
            <a:r>
              <a:rPr lang="en-US" altLang="zh-CN" sz="2400" dirty="0" smtClean="0">
                <a:solidFill>
                  <a:srgbClr val="0070C0"/>
                </a:solidFill>
                <a:latin typeface="思源黑体" panose="020B0500000000000000" pitchFamily="34" charset="-122"/>
                <a:ea typeface="思源黑体" panose="020B0500000000000000" pitchFamily="34" charset="-122"/>
              </a:rPr>
              <a:t>1</a:t>
            </a:r>
            <a:r>
              <a:rPr lang="zh-CN" altLang="en-US" sz="2400" dirty="0" smtClean="0">
                <a:solidFill>
                  <a:srgbClr val="0070C0"/>
                </a:solidFill>
                <a:latin typeface="思源黑体" panose="020B0500000000000000" pitchFamily="34" charset="-122"/>
                <a:ea typeface="思源黑体" panose="020B0500000000000000" pitchFamily="34" charset="-122"/>
              </a:rPr>
              <a:t>、项目上常用的</a:t>
            </a:r>
            <a:r>
              <a:rPr lang="en-US" altLang="zh-CN" sz="2400" dirty="0" err="1" smtClean="0">
                <a:solidFill>
                  <a:srgbClr val="0070C0"/>
                </a:solidFill>
                <a:latin typeface="思源黑体" panose="020B0500000000000000" pitchFamily="34" charset="-122"/>
                <a:ea typeface="思源黑体" panose="020B0500000000000000" pitchFamily="34" charset="-122"/>
              </a:rPr>
              <a:t>Iptables</a:t>
            </a:r>
            <a:r>
              <a:rPr lang="zh-CN" altLang="en-US" sz="2400" dirty="0" smtClean="0">
                <a:solidFill>
                  <a:srgbClr val="0070C0"/>
                </a:solidFill>
                <a:latin typeface="思源黑体" panose="020B0500000000000000" pitchFamily="34" charset="-122"/>
                <a:ea typeface="思源黑体" panose="020B0500000000000000" pitchFamily="34" charset="-122"/>
              </a:rPr>
              <a:t>命令</a:t>
            </a:r>
            <a:r>
              <a:rPr lang="en-US" altLang="zh-CN" sz="2400" dirty="0" smtClean="0">
                <a:solidFill>
                  <a:srgbClr val="0070C0"/>
                </a:solidFill>
                <a:latin typeface="思源黑体" panose="020B0500000000000000" pitchFamily="34" charset="-122"/>
                <a:ea typeface="思源黑体" panose="020B0500000000000000" pitchFamily="34" charset="-122"/>
              </a:rPr>
              <a:t>—</a:t>
            </a:r>
            <a:r>
              <a:rPr lang="zh-CN" altLang="en-US" sz="2400" dirty="0" smtClean="0">
                <a:solidFill>
                  <a:srgbClr val="0070C0"/>
                </a:solidFill>
                <a:latin typeface="思源黑体" panose="020B0500000000000000" pitchFamily="34" charset="-122"/>
                <a:ea typeface="思源黑体" panose="020B0500000000000000" pitchFamily="34" charset="-122"/>
              </a:rPr>
              <a:t>保存</a:t>
            </a:r>
            <a:r>
              <a:rPr lang="en-US" altLang="zh-CN" sz="2400" dirty="0" smtClean="0">
                <a:solidFill>
                  <a:srgbClr val="0070C0"/>
                </a:solidFill>
                <a:latin typeface="思源黑体" panose="020B0500000000000000" pitchFamily="34" charset="-122"/>
                <a:ea typeface="思源黑体" panose="020B0500000000000000" pitchFamily="34" charset="-122"/>
              </a:rPr>
              <a:t>/</a:t>
            </a:r>
            <a:r>
              <a:rPr lang="zh-CN" altLang="en-US" sz="2400" dirty="0" smtClean="0">
                <a:solidFill>
                  <a:srgbClr val="0070C0"/>
                </a:solidFill>
                <a:latin typeface="思源黑体" panose="020B0500000000000000" pitchFamily="34" charset="-122"/>
                <a:ea typeface="思源黑体" panose="020B0500000000000000" pitchFamily="34" charset="-122"/>
              </a:rPr>
              <a:t>删除</a:t>
            </a:r>
            <a:r>
              <a:rPr lang="en-US" altLang="zh-CN" sz="2400" dirty="0" smtClean="0">
                <a:solidFill>
                  <a:srgbClr val="0070C0"/>
                </a:solidFill>
                <a:latin typeface="思源黑体" panose="020B0500000000000000" pitchFamily="34" charset="-122"/>
                <a:ea typeface="思源黑体" panose="020B0500000000000000" pitchFamily="34" charset="-122"/>
              </a:rPr>
              <a:t>/</a:t>
            </a:r>
            <a:r>
              <a:rPr lang="zh-CN" altLang="en-US" sz="2400" dirty="0" smtClean="0">
                <a:solidFill>
                  <a:srgbClr val="0070C0"/>
                </a:solidFill>
                <a:latin typeface="思源黑体" panose="020B0500000000000000" pitchFamily="34" charset="-122"/>
                <a:ea typeface="思源黑体" panose="020B0500000000000000" pitchFamily="34" charset="-122"/>
              </a:rPr>
              <a:t>清空</a:t>
            </a:r>
            <a:r>
              <a:rPr lang="en-US" altLang="zh-CN" sz="2400" dirty="0" smtClean="0">
                <a:solidFill>
                  <a:srgbClr val="0070C0"/>
                </a:solidFill>
                <a:latin typeface="思源黑体" panose="020B0500000000000000" pitchFamily="34" charset="-122"/>
                <a:ea typeface="思源黑体" panose="020B0500000000000000" pitchFamily="34" charset="-122"/>
              </a:rPr>
              <a:t>/</a:t>
            </a:r>
            <a:r>
              <a:rPr lang="zh-CN" altLang="en-US" sz="2400" dirty="0" smtClean="0">
                <a:solidFill>
                  <a:srgbClr val="0070C0"/>
                </a:solidFill>
                <a:latin typeface="思源黑体" panose="020B0500000000000000" pitchFamily="34" charset="-122"/>
                <a:ea typeface="思源黑体" panose="020B0500000000000000" pitchFamily="34" charset="-122"/>
              </a:rPr>
              <a:t>恢复规则</a:t>
            </a:r>
            <a:endParaRPr lang="en-US" altLang="zh-CN" sz="2400" dirty="0" smtClean="0">
              <a:solidFill>
                <a:srgbClr val="0070C0"/>
              </a:solidFill>
              <a:latin typeface="思源黑体" panose="020B0500000000000000" pitchFamily="34" charset="-122"/>
              <a:ea typeface="思源黑体" panose="020B0500000000000000" pitchFamily="34" charset="-122"/>
            </a:endParaRPr>
          </a:p>
        </p:txBody>
      </p:sp>
      <p:pic>
        <p:nvPicPr>
          <p:cNvPr id="54274" name="Picture 2" descr="C:\Users\mibin\AppData\Local\Temp\企业微信截图_17587984782407.png"/>
          <p:cNvPicPr>
            <a:picLocks noChangeAspect="1" noChangeArrowheads="1"/>
          </p:cNvPicPr>
          <p:nvPr/>
        </p:nvPicPr>
        <p:blipFill>
          <a:blip r:embed="rId2" cstate="print"/>
          <a:srcRect/>
          <a:stretch>
            <a:fillRect/>
          </a:stretch>
        </p:blipFill>
        <p:spPr bwMode="auto">
          <a:xfrm>
            <a:off x="180976" y="1046580"/>
            <a:ext cx="11750198" cy="1528178"/>
          </a:xfrm>
          <a:prstGeom prst="rect">
            <a:avLst/>
          </a:prstGeom>
          <a:noFill/>
        </p:spPr>
      </p:pic>
      <p:pic>
        <p:nvPicPr>
          <p:cNvPr id="54276" name="Picture 4" descr="C:\Users\mibin\AppData\Local\Temp\企业微信截图_17587988873820.png"/>
          <p:cNvPicPr>
            <a:picLocks noChangeAspect="1" noChangeArrowheads="1"/>
          </p:cNvPicPr>
          <p:nvPr/>
        </p:nvPicPr>
        <p:blipFill>
          <a:blip r:embed="rId3" cstate="print"/>
          <a:srcRect/>
          <a:stretch>
            <a:fillRect/>
          </a:stretch>
        </p:blipFill>
        <p:spPr bwMode="auto">
          <a:xfrm>
            <a:off x="1454985" y="3160295"/>
            <a:ext cx="8184232" cy="2145631"/>
          </a:xfrm>
          <a:prstGeom prst="rect">
            <a:avLst/>
          </a:prstGeom>
          <a:noFill/>
        </p:spPr>
      </p:pic>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a:spLocks noChangeArrowheads="1"/>
          </p:cNvSpPr>
          <p:nvPr/>
        </p:nvSpPr>
        <p:spPr bwMode="auto">
          <a:xfrm>
            <a:off x="0" y="212519"/>
            <a:ext cx="352425" cy="400050"/>
          </a:xfrm>
          <a:prstGeom prst="rect">
            <a:avLst/>
          </a:prstGeom>
          <a:solidFill>
            <a:srgbClr val="5B9BD5">
              <a:lumMod val="50000"/>
            </a:srgbClr>
          </a:solidFill>
          <a:ln w="9525">
            <a:noFill/>
            <a:miter lim="800000"/>
          </a:ln>
        </p:spPr>
        <p:txBody>
          <a:bodyPr anchor="ctr"/>
          <a:lstStyle/>
          <a:p>
            <a:pPr algn="ctr" fontAlgn="base">
              <a:spcBef>
                <a:spcPct val="0"/>
              </a:spcBef>
              <a:spcAft>
                <a:spcPct val="0"/>
              </a:spcAft>
              <a:buFont typeface="Arial" panose="020B0604020202020204" pitchFamily="34" charset="0"/>
              <a:buNone/>
              <a:defRPr/>
            </a:pPr>
            <a:endParaRPr lang="zh-CN" altLang="en-US" kern="0">
              <a:solidFill>
                <a:srgbClr val="1F4E79"/>
              </a:solidFill>
              <a:latin typeface="黑体" panose="02010609060101010101" charset="-122"/>
              <a:ea typeface="黑体" panose="02010609060101010101" charset="-122"/>
            </a:endParaRPr>
          </a:p>
        </p:txBody>
      </p:sp>
      <p:sp>
        <p:nvSpPr>
          <p:cNvPr id="17" name="矩形 16"/>
          <p:cNvSpPr>
            <a:spLocks noChangeArrowheads="1"/>
          </p:cNvSpPr>
          <p:nvPr/>
        </p:nvSpPr>
        <p:spPr bwMode="auto">
          <a:xfrm>
            <a:off x="419100" y="212519"/>
            <a:ext cx="123825" cy="400050"/>
          </a:xfrm>
          <a:prstGeom prst="rect">
            <a:avLst/>
          </a:prstGeom>
          <a:solidFill>
            <a:srgbClr val="7F7F7F"/>
          </a:solidFill>
          <a:ln w="9525">
            <a:noFill/>
            <a:miter lim="800000"/>
          </a:ln>
        </p:spPr>
        <p:txBody>
          <a:bodyPr anchor="ctr"/>
          <a:lstStyle/>
          <a:p>
            <a:pPr algn="ctr" fontAlgn="base">
              <a:spcBef>
                <a:spcPct val="0"/>
              </a:spcBef>
              <a:spcAft>
                <a:spcPct val="0"/>
              </a:spcAft>
              <a:buFont typeface="Arial" panose="020B0604020202020204" pitchFamily="34" charset="0"/>
              <a:buNone/>
            </a:pPr>
            <a:endParaRPr lang="zh-CN" altLang="en-US">
              <a:solidFill>
                <a:srgbClr val="1F4E79"/>
              </a:solidFill>
              <a:latin typeface="黑体" panose="02010609060101010101" charset="-122"/>
              <a:ea typeface="黑体" panose="02010609060101010101" charset="-122"/>
            </a:endParaRPr>
          </a:p>
        </p:txBody>
      </p:sp>
      <p:sp>
        <p:nvSpPr>
          <p:cNvPr id="21" name="标题 1"/>
          <p:cNvSpPr txBox="1"/>
          <p:nvPr/>
        </p:nvSpPr>
        <p:spPr>
          <a:xfrm>
            <a:off x="609600" y="224766"/>
            <a:ext cx="9710057" cy="375557"/>
          </a:xfrm>
          <a:prstGeom prst="rect">
            <a:avLst/>
          </a:prstGeom>
        </p:spPr>
        <p:txBody>
          <a:bodyPr anchor="ctr"/>
          <a:lstStyle>
            <a:lvl1pPr algn="l" rtl="0" eaLnBrk="0" fontAlgn="base" hangingPunct="0">
              <a:spcBef>
                <a:spcPct val="0"/>
              </a:spcBef>
              <a:spcAft>
                <a:spcPct val="0"/>
              </a:spcAft>
              <a:defRPr sz="2800" b="1" kern="1200">
                <a:solidFill>
                  <a:srgbClr val="1F4E79"/>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defRPr/>
            </a:pPr>
            <a:r>
              <a:rPr lang="en-US" altLang="zh-CN" sz="2400" dirty="0" smtClean="0">
                <a:solidFill>
                  <a:srgbClr val="0070C0"/>
                </a:solidFill>
                <a:latin typeface="思源黑体" panose="020B0500000000000000" pitchFamily="34" charset="-122"/>
                <a:ea typeface="思源黑体" panose="020B0500000000000000" pitchFamily="34" charset="-122"/>
              </a:rPr>
              <a:t>1</a:t>
            </a:r>
            <a:r>
              <a:rPr lang="zh-CN" altLang="en-US" sz="2400" dirty="0" smtClean="0">
                <a:solidFill>
                  <a:srgbClr val="0070C0"/>
                </a:solidFill>
                <a:latin typeface="思源黑体" panose="020B0500000000000000" pitchFamily="34" charset="-122"/>
                <a:ea typeface="思源黑体" panose="020B0500000000000000" pitchFamily="34" charset="-122"/>
              </a:rPr>
              <a:t>、项目上常用的</a:t>
            </a:r>
            <a:r>
              <a:rPr lang="en-US" altLang="zh-CN" sz="2400" dirty="0" err="1" smtClean="0">
                <a:solidFill>
                  <a:srgbClr val="0070C0"/>
                </a:solidFill>
                <a:latin typeface="思源黑体" panose="020B0500000000000000" pitchFamily="34" charset="-122"/>
                <a:ea typeface="思源黑体" panose="020B0500000000000000" pitchFamily="34" charset="-122"/>
              </a:rPr>
              <a:t>Iptables</a:t>
            </a:r>
            <a:r>
              <a:rPr lang="zh-CN" altLang="en-US" sz="2400" dirty="0" smtClean="0">
                <a:solidFill>
                  <a:srgbClr val="0070C0"/>
                </a:solidFill>
                <a:latin typeface="思源黑体" panose="020B0500000000000000" pitchFamily="34" charset="-122"/>
                <a:ea typeface="思源黑体" panose="020B0500000000000000" pitchFamily="34" charset="-122"/>
              </a:rPr>
              <a:t>命令</a:t>
            </a:r>
            <a:r>
              <a:rPr lang="en-US" altLang="zh-CN" sz="2400" dirty="0" smtClean="0">
                <a:solidFill>
                  <a:srgbClr val="0070C0"/>
                </a:solidFill>
                <a:latin typeface="思源黑体" panose="020B0500000000000000" pitchFamily="34" charset="-122"/>
                <a:ea typeface="思源黑体" panose="020B0500000000000000" pitchFamily="34" charset="-122"/>
              </a:rPr>
              <a:t>—</a:t>
            </a:r>
            <a:r>
              <a:rPr lang="zh-CN" altLang="en-US" sz="2400" dirty="0" smtClean="0">
                <a:solidFill>
                  <a:srgbClr val="0070C0"/>
                </a:solidFill>
                <a:latin typeface="思源黑体" panose="020B0500000000000000" pitchFamily="34" charset="-122"/>
                <a:ea typeface="思源黑体" panose="020B0500000000000000" pitchFamily="34" charset="-122"/>
              </a:rPr>
              <a:t>日志记录</a:t>
            </a:r>
            <a:endParaRPr lang="zh-CN" altLang="en-US" sz="2400" dirty="0" smtClean="0">
              <a:solidFill>
                <a:srgbClr val="0070C0"/>
              </a:solidFill>
            </a:endParaRPr>
          </a:p>
        </p:txBody>
      </p:sp>
      <p:sp>
        <p:nvSpPr>
          <p:cNvPr id="14" name="矩形 13"/>
          <p:cNvSpPr/>
          <p:nvPr/>
        </p:nvSpPr>
        <p:spPr>
          <a:xfrm>
            <a:off x="1382308" y="3841521"/>
            <a:ext cx="8424936" cy="738664"/>
          </a:xfrm>
          <a:prstGeom prst="rect">
            <a:avLst/>
          </a:prstGeom>
        </p:spPr>
        <p:txBody>
          <a:bodyPr wrap="square">
            <a:spAutoFit/>
          </a:bodyPr>
          <a:lstStyle/>
          <a:p>
            <a:r>
              <a:rPr lang="en-US" altLang="zh-CN" sz="1400" dirty="0" err="1" smtClean="0">
                <a:latin typeface="思源黑体" panose="020B0500000000000000" pitchFamily="34" charset="-122"/>
                <a:ea typeface="思源黑体" panose="020B0500000000000000" pitchFamily="34" charset="-122"/>
              </a:rPr>
              <a:t>iptables</a:t>
            </a:r>
            <a:r>
              <a:rPr lang="en-US" altLang="zh-CN" sz="1400" dirty="0" smtClean="0">
                <a:latin typeface="思源黑体" panose="020B0500000000000000" pitchFamily="34" charset="-122"/>
                <a:ea typeface="思源黑体" panose="020B0500000000000000" pitchFamily="34" charset="-122"/>
              </a:rPr>
              <a:t> </a:t>
            </a:r>
            <a:r>
              <a:rPr lang="zh-CN" altLang="en-US" sz="1400" dirty="0" smtClean="0">
                <a:latin typeface="思源黑体" panose="020B0500000000000000" pitchFamily="34" charset="-122"/>
                <a:ea typeface="思源黑体" panose="020B0500000000000000" pitchFamily="34" charset="-122"/>
              </a:rPr>
              <a:t>可以将匹配规则的数据包记录到系统日志中，便于监控和调试</a:t>
            </a:r>
            <a:r>
              <a:rPr lang="zh-CN" altLang="en-US" sz="1400" dirty="0" smtClean="0">
                <a:latin typeface="思源黑体" panose="020B0500000000000000" pitchFamily="34" charset="-122"/>
                <a:ea typeface="思源黑体" panose="020B0500000000000000" pitchFamily="34" charset="-122"/>
              </a:rPr>
              <a:t>。</a:t>
            </a:r>
            <a:endParaRPr lang="en-US" altLang="zh-CN" sz="1400" dirty="0" smtClean="0">
              <a:latin typeface="思源黑体" panose="020B0500000000000000" pitchFamily="34" charset="-122"/>
              <a:ea typeface="思源黑体" panose="020B0500000000000000" pitchFamily="34" charset="-122"/>
            </a:endParaRPr>
          </a:p>
          <a:p>
            <a:endParaRPr lang="zh-CN" altLang="en-US" sz="1400" dirty="0" smtClean="0">
              <a:latin typeface="思源黑体" panose="020B0500000000000000" pitchFamily="34" charset="-122"/>
              <a:ea typeface="思源黑体" panose="020B0500000000000000" pitchFamily="34" charset="-122"/>
            </a:endParaRPr>
          </a:p>
          <a:p>
            <a:r>
              <a:rPr lang="zh-CN" altLang="en-US" sz="1400" dirty="0" smtClean="0">
                <a:latin typeface="思源黑体" panose="020B0500000000000000" pitchFamily="34" charset="-122"/>
                <a:ea typeface="思源黑体" panose="020B0500000000000000" pitchFamily="34" charset="-122"/>
              </a:rPr>
              <a:t>实际项目中，记录用于</a:t>
            </a:r>
            <a:r>
              <a:rPr lang="en-US" altLang="zh-CN" sz="1400" dirty="0" smtClean="0">
                <a:latin typeface="思源黑体" panose="020B0500000000000000" pitchFamily="34" charset="-122"/>
                <a:ea typeface="思源黑体" panose="020B0500000000000000" pitchFamily="34" charset="-122"/>
              </a:rPr>
              <a:t>IDPS</a:t>
            </a:r>
            <a:r>
              <a:rPr lang="zh-CN" altLang="en-US" sz="1400" dirty="0" smtClean="0">
                <a:latin typeface="思源黑体" panose="020B0500000000000000" pitchFamily="34" charset="-122"/>
                <a:ea typeface="思源黑体" panose="020B0500000000000000" pitchFamily="34" charset="-122"/>
              </a:rPr>
              <a:t>。</a:t>
            </a:r>
            <a:endParaRPr lang="en-US" altLang="zh-CN" sz="1400" dirty="0">
              <a:latin typeface="思源黑体" panose="020B0500000000000000" pitchFamily="34" charset="-122"/>
              <a:ea typeface="思源黑体" panose="020B0500000000000000" pitchFamily="34" charset="-122"/>
            </a:endParaRPr>
          </a:p>
        </p:txBody>
      </p:sp>
      <p:pic>
        <p:nvPicPr>
          <p:cNvPr id="56324" name="Picture 4" descr="C:\Users\mibin\AppData\Local\Temp\企业微信截图_17587966894884.png"/>
          <p:cNvPicPr>
            <a:picLocks noChangeAspect="1" noChangeArrowheads="1"/>
          </p:cNvPicPr>
          <p:nvPr/>
        </p:nvPicPr>
        <p:blipFill>
          <a:blip r:embed="rId2" cstate="print"/>
          <a:srcRect/>
          <a:stretch>
            <a:fillRect/>
          </a:stretch>
        </p:blipFill>
        <p:spPr bwMode="auto">
          <a:xfrm>
            <a:off x="648870" y="1433596"/>
            <a:ext cx="10884954" cy="1718677"/>
          </a:xfrm>
          <a:prstGeom prst="rect">
            <a:avLst/>
          </a:prstGeom>
          <a:noFill/>
        </p:spPr>
      </p:pic>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a:spLocks noChangeArrowheads="1"/>
          </p:cNvSpPr>
          <p:nvPr/>
        </p:nvSpPr>
        <p:spPr bwMode="auto">
          <a:xfrm>
            <a:off x="0" y="212519"/>
            <a:ext cx="352425" cy="400050"/>
          </a:xfrm>
          <a:prstGeom prst="rect">
            <a:avLst/>
          </a:prstGeom>
          <a:solidFill>
            <a:srgbClr val="5B9BD5">
              <a:lumMod val="50000"/>
            </a:srgbClr>
          </a:solidFill>
          <a:ln w="9525">
            <a:noFill/>
            <a:miter lim="800000"/>
          </a:ln>
        </p:spPr>
        <p:txBody>
          <a:bodyPr anchor="ctr"/>
          <a:lstStyle/>
          <a:p>
            <a:pPr algn="ctr" fontAlgn="base">
              <a:spcBef>
                <a:spcPct val="0"/>
              </a:spcBef>
              <a:spcAft>
                <a:spcPct val="0"/>
              </a:spcAft>
              <a:buFont typeface="Arial" panose="020B0604020202020204" pitchFamily="34" charset="0"/>
              <a:buNone/>
              <a:defRPr/>
            </a:pPr>
            <a:endParaRPr lang="zh-CN" altLang="en-US" kern="0">
              <a:solidFill>
                <a:srgbClr val="1F4E79"/>
              </a:solidFill>
              <a:latin typeface="黑体" panose="02010609060101010101" charset="-122"/>
              <a:ea typeface="黑体" panose="02010609060101010101" charset="-122"/>
            </a:endParaRPr>
          </a:p>
        </p:txBody>
      </p:sp>
      <p:sp>
        <p:nvSpPr>
          <p:cNvPr id="17" name="矩形 16"/>
          <p:cNvSpPr>
            <a:spLocks noChangeArrowheads="1"/>
          </p:cNvSpPr>
          <p:nvPr/>
        </p:nvSpPr>
        <p:spPr bwMode="auto">
          <a:xfrm>
            <a:off x="419100" y="212519"/>
            <a:ext cx="123825" cy="400050"/>
          </a:xfrm>
          <a:prstGeom prst="rect">
            <a:avLst/>
          </a:prstGeom>
          <a:solidFill>
            <a:srgbClr val="7F7F7F"/>
          </a:solidFill>
          <a:ln w="9525">
            <a:noFill/>
            <a:miter lim="800000"/>
          </a:ln>
        </p:spPr>
        <p:txBody>
          <a:bodyPr anchor="ctr"/>
          <a:lstStyle/>
          <a:p>
            <a:pPr algn="ctr" fontAlgn="base">
              <a:spcBef>
                <a:spcPct val="0"/>
              </a:spcBef>
              <a:spcAft>
                <a:spcPct val="0"/>
              </a:spcAft>
              <a:buFont typeface="Arial" panose="020B0604020202020204" pitchFamily="34" charset="0"/>
              <a:buNone/>
            </a:pPr>
            <a:endParaRPr lang="zh-CN" altLang="en-US">
              <a:solidFill>
                <a:srgbClr val="1F4E79"/>
              </a:solidFill>
              <a:latin typeface="黑体" panose="02010609060101010101" charset="-122"/>
              <a:ea typeface="黑体" panose="02010609060101010101" charset="-122"/>
            </a:endParaRPr>
          </a:p>
        </p:txBody>
      </p:sp>
      <p:sp>
        <p:nvSpPr>
          <p:cNvPr id="21" name="标题 1"/>
          <p:cNvSpPr txBox="1"/>
          <p:nvPr/>
        </p:nvSpPr>
        <p:spPr>
          <a:xfrm>
            <a:off x="609600" y="224766"/>
            <a:ext cx="9710057" cy="375557"/>
          </a:xfrm>
          <a:prstGeom prst="rect">
            <a:avLst/>
          </a:prstGeom>
        </p:spPr>
        <p:txBody>
          <a:bodyPr anchor="ctr"/>
          <a:lstStyle>
            <a:lvl1pPr algn="l" rtl="0" eaLnBrk="0" fontAlgn="base" hangingPunct="0">
              <a:spcBef>
                <a:spcPct val="0"/>
              </a:spcBef>
              <a:spcAft>
                <a:spcPct val="0"/>
              </a:spcAft>
              <a:defRPr sz="2800" b="1" kern="1200">
                <a:solidFill>
                  <a:srgbClr val="1F4E79"/>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defRPr/>
            </a:pPr>
            <a:r>
              <a:rPr lang="en-US" altLang="zh-CN" sz="2400" dirty="0" smtClean="0">
                <a:solidFill>
                  <a:srgbClr val="0070C0"/>
                </a:solidFill>
                <a:latin typeface="思源黑体" panose="020B0500000000000000" pitchFamily="34" charset="-122"/>
                <a:ea typeface="思源黑体" panose="020B0500000000000000" pitchFamily="34" charset="-122"/>
              </a:rPr>
              <a:t>1</a:t>
            </a:r>
            <a:r>
              <a:rPr lang="zh-CN" altLang="en-US" sz="2400" dirty="0" smtClean="0">
                <a:solidFill>
                  <a:srgbClr val="0070C0"/>
                </a:solidFill>
                <a:latin typeface="思源黑体" panose="020B0500000000000000" pitchFamily="34" charset="-122"/>
                <a:ea typeface="思源黑体" panose="020B0500000000000000" pitchFamily="34" charset="-122"/>
              </a:rPr>
              <a:t>、项目上常用的</a:t>
            </a:r>
            <a:r>
              <a:rPr lang="en-US" altLang="zh-CN" sz="2400" dirty="0" err="1" smtClean="0">
                <a:solidFill>
                  <a:srgbClr val="0070C0"/>
                </a:solidFill>
                <a:latin typeface="思源黑体" panose="020B0500000000000000" pitchFamily="34" charset="-122"/>
                <a:ea typeface="思源黑体" panose="020B0500000000000000" pitchFamily="34" charset="-122"/>
              </a:rPr>
              <a:t>Iptables</a:t>
            </a:r>
            <a:r>
              <a:rPr lang="zh-CN" altLang="en-US" sz="2400" dirty="0" smtClean="0">
                <a:solidFill>
                  <a:srgbClr val="0070C0"/>
                </a:solidFill>
                <a:latin typeface="思源黑体" panose="020B0500000000000000" pitchFamily="34" charset="-122"/>
                <a:ea typeface="思源黑体" panose="020B0500000000000000" pitchFamily="34" charset="-122"/>
              </a:rPr>
              <a:t>命令</a:t>
            </a:r>
            <a:r>
              <a:rPr lang="en-US" altLang="zh-CN" sz="2400" dirty="0" smtClean="0">
                <a:solidFill>
                  <a:srgbClr val="0070C0"/>
                </a:solidFill>
                <a:latin typeface="思源黑体" panose="020B0500000000000000" pitchFamily="34" charset="-122"/>
                <a:ea typeface="思源黑体" panose="020B0500000000000000" pitchFamily="34" charset="-122"/>
              </a:rPr>
              <a:t>—</a:t>
            </a:r>
            <a:r>
              <a:rPr lang="zh-CN" altLang="en-US" sz="2400" dirty="0" smtClean="0">
                <a:solidFill>
                  <a:srgbClr val="0070C0"/>
                </a:solidFill>
                <a:latin typeface="思源黑体" panose="020B0500000000000000" pitchFamily="34" charset="-122"/>
                <a:ea typeface="思源黑体" panose="020B0500000000000000" pitchFamily="34" charset="-122"/>
              </a:rPr>
              <a:t>常用规则</a:t>
            </a:r>
            <a:endParaRPr lang="zh-CN" altLang="en-US" sz="2400" dirty="0" smtClean="0">
              <a:solidFill>
                <a:srgbClr val="0070C0"/>
              </a:solidFill>
            </a:endParaRPr>
          </a:p>
        </p:txBody>
      </p:sp>
      <p:sp>
        <p:nvSpPr>
          <p:cNvPr id="11" name="矩形 10"/>
          <p:cNvSpPr/>
          <p:nvPr/>
        </p:nvSpPr>
        <p:spPr>
          <a:xfrm>
            <a:off x="1098921" y="3033111"/>
            <a:ext cx="9970132" cy="1200329"/>
          </a:xfrm>
          <a:prstGeom prst="rect">
            <a:avLst/>
          </a:prstGeom>
        </p:spPr>
        <p:txBody>
          <a:bodyPr wrap="square">
            <a:spAutoFit/>
          </a:bodyPr>
          <a:lstStyle/>
          <a:p>
            <a:r>
              <a:rPr lang="zh-CN" altLang="en-US" b="1" dirty="0" smtClean="0"/>
              <a:t>端口转发</a:t>
            </a:r>
            <a:r>
              <a:rPr lang="zh-CN" altLang="en-US" dirty="0" smtClean="0"/>
              <a:t>：</a:t>
            </a:r>
          </a:p>
          <a:p>
            <a:r>
              <a:rPr lang="zh-CN" altLang="en-US" dirty="0" smtClean="0"/>
              <a:t>将外部请求转发到内部服务器。</a:t>
            </a:r>
          </a:p>
          <a:p>
            <a:r>
              <a:rPr lang="zh-CN" altLang="en-US" dirty="0" smtClean="0"/>
              <a:t>示例：将外部 </a:t>
            </a:r>
            <a:r>
              <a:rPr lang="en-US" altLang="zh-CN" dirty="0" smtClean="0"/>
              <a:t>8080 </a:t>
            </a:r>
            <a:r>
              <a:rPr lang="zh-CN" altLang="en-US" dirty="0" smtClean="0"/>
              <a:t>端口转发到内部 </a:t>
            </a:r>
            <a:r>
              <a:rPr lang="en-US" altLang="zh-CN" dirty="0" smtClean="0"/>
              <a:t>80 </a:t>
            </a:r>
            <a:r>
              <a:rPr lang="zh-CN" altLang="en-US" dirty="0" smtClean="0"/>
              <a:t>端口</a:t>
            </a:r>
            <a:r>
              <a:rPr lang="zh-CN" altLang="en-US" dirty="0" smtClean="0"/>
              <a:t>：</a:t>
            </a:r>
            <a:endParaRPr lang="en-US" altLang="zh-CN" dirty="0" smtClean="0"/>
          </a:p>
          <a:p>
            <a:r>
              <a:rPr lang="en-US" altLang="zh-CN" dirty="0" err="1" smtClean="0"/>
              <a:t>iptables</a:t>
            </a:r>
            <a:r>
              <a:rPr lang="en-US" altLang="zh-CN" dirty="0" smtClean="0"/>
              <a:t> </a:t>
            </a:r>
            <a:r>
              <a:rPr lang="en-US" altLang="zh-CN" dirty="0" smtClean="0"/>
              <a:t>-t </a:t>
            </a:r>
            <a:r>
              <a:rPr lang="en-US" altLang="zh-CN" dirty="0" err="1" smtClean="0"/>
              <a:t>nat</a:t>
            </a:r>
            <a:r>
              <a:rPr lang="en-US" altLang="zh-CN" dirty="0" smtClean="0"/>
              <a:t> -A PREROUTING -p </a:t>
            </a:r>
            <a:r>
              <a:rPr lang="en-US" altLang="zh-CN" dirty="0" err="1" smtClean="0"/>
              <a:t>tcp</a:t>
            </a:r>
            <a:r>
              <a:rPr lang="en-US" altLang="zh-CN" dirty="0" smtClean="0"/>
              <a:t> --</a:t>
            </a:r>
            <a:r>
              <a:rPr lang="en-US" altLang="zh-CN" dirty="0" err="1" smtClean="0"/>
              <a:t>dport</a:t>
            </a:r>
            <a:r>
              <a:rPr lang="en-US" altLang="zh-CN" dirty="0" smtClean="0"/>
              <a:t> 8080 -j DNAT --to-destination 192.168.1.100:80</a:t>
            </a:r>
            <a:endParaRPr lang="zh-CN" altLang="en-US" dirty="0"/>
          </a:p>
        </p:txBody>
      </p:sp>
      <p:sp>
        <p:nvSpPr>
          <p:cNvPr id="12" name="矩形 11"/>
          <p:cNvSpPr/>
          <p:nvPr/>
        </p:nvSpPr>
        <p:spPr>
          <a:xfrm>
            <a:off x="1098740" y="4328887"/>
            <a:ext cx="7920880" cy="923330"/>
          </a:xfrm>
          <a:prstGeom prst="rect">
            <a:avLst/>
          </a:prstGeom>
        </p:spPr>
        <p:txBody>
          <a:bodyPr wrap="square">
            <a:spAutoFit/>
          </a:bodyPr>
          <a:lstStyle/>
          <a:p>
            <a:r>
              <a:rPr lang="zh-CN" altLang="en-US" b="1" dirty="0" smtClean="0"/>
              <a:t>共享上网</a:t>
            </a:r>
            <a:r>
              <a:rPr lang="zh-CN" altLang="en-US" dirty="0" smtClean="0"/>
              <a:t>：</a:t>
            </a:r>
          </a:p>
          <a:p>
            <a:r>
              <a:rPr lang="zh-CN" altLang="en-US" dirty="0" smtClean="0"/>
              <a:t>使用 </a:t>
            </a:r>
            <a:r>
              <a:rPr lang="en-US" altLang="zh-CN" dirty="0" smtClean="0"/>
              <a:t>SNAT </a:t>
            </a:r>
            <a:r>
              <a:rPr lang="zh-CN" altLang="en-US" dirty="0" smtClean="0"/>
              <a:t>实现内网设备共享公网 </a:t>
            </a:r>
            <a:r>
              <a:rPr lang="en-US" altLang="zh-CN" dirty="0" smtClean="0"/>
              <a:t>IP </a:t>
            </a:r>
            <a:r>
              <a:rPr lang="zh-CN" altLang="en-US" dirty="0" smtClean="0"/>
              <a:t>上网。</a:t>
            </a:r>
          </a:p>
          <a:p>
            <a:r>
              <a:rPr lang="zh-CN" altLang="en-US" dirty="0" smtClean="0"/>
              <a:t>示例：</a:t>
            </a:r>
            <a:r>
              <a:rPr lang="fr-FR" altLang="zh-CN" dirty="0" smtClean="0"/>
              <a:t>iptables -t nat -A POSTROUTING -o eth0 -j MASQUERADE</a:t>
            </a:r>
            <a:endParaRPr lang="zh-CN" altLang="en-US" dirty="0"/>
          </a:p>
        </p:txBody>
      </p:sp>
      <p:sp>
        <p:nvSpPr>
          <p:cNvPr id="13" name="矩形 12"/>
          <p:cNvSpPr/>
          <p:nvPr/>
        </p:nvSpPr>
        <p:spPr>
          <a:xfrm>
            <a:off x="1086525" y="5384397"/>
            <a:ext cx="9032031" cy="923330"/>
          </a:xfrm>
          <a:prstGeom prst="rect">
            <a:avLst/>
          </a:prstGeom>
        </p:spPr>
        <p:txBody>
          <a:bodyPr wrap="square">
            <a:spAutoFit/>
          </a:bodyPr>
          <a:lstStyle/>
          <a:p>
            <a:r>
              <a:rPr lang="zh-CN" altLang="en-US" b="1" dirty="0" smtClean="0"/>
              <a:t>防止 </a:t>
            </a:r>
            <a:r>
              <a:rPr lang="en-US" altLang="zh-CN" b="1" dirty="0" err="1" smtClean="0"/>
              <a:t>DDoS</a:t>
            </a:r>
            <a:r>
              <a:rPr lang="en-US" altLang="zh-CN" b="1" dirty="0" smtClean="0"/>
              <a:t> </a:t>
            </a:r>
            <a:r>
              <a:rPr lang="zh-CN" altLang="en-US" b="1" dirty="0" smtClean="0"/>
              <a:t>攻击</a:t>
            </a:r>
            <a:r>
              <a:rPr lang="zh-CN" altLang="en-US" dirty="0" smtClean="0"/>
              <a:t>：</a:t>
            </a:r>
          </a:p>
          <a:p>
            <a:r>
              <a:rPr lang="zh-CN" altLang="en-US" dirty="0" smtClean="0"/>
              <a:t>限制同一 </a:t>
            </a:r>
            <a:r>
              <a:rPr lang="en-US" altLang="zh-CN" dirty="0" smtClean="0"/>
              <a:t>IP </a:t>
            </a:r>
            <a:r>
              <a:rPr lang="zh-CN" altLang="en-US" dirty="0" smtClean="0"/>
              <a:t>的连接数。</a:t>
            </a:r>
          </a:p>
          <a:p>
            <a:r>
              <a:rPr lang="zh-CN" altLang="en-US" dirty="0" smtClean="0"/>
              <a:t>示例：</a:t>
            </a:r>
            <a:r>
              <a:rPr lang="en-US" altLang="zh-CN" dirty="0" err="1" smtClean="0"/>
              <a:t>iptables</a:t>
            </a:r>
            <a:r>
              <a:rPr lang="en-US" altLang="zh-CN" dirty="0" smtClean="0"/>
              <a:t> -A INPUT -p </a:t>
            </a:r>
            <a:r>
              <a:rPr lang="en-US" altLang="zh-CN" dirty="0" err="1" smtClean="0"/>
              <a:t>tcp</a:t>
            </a:r>
            <a:r>
              <a:rPr lang="en-US" altLang="zh-CN" dirty="0" smtClean="0"/>
              <a:t> --</a:t>
            </a:r>
            <a:r>
              <a:rPr lang="en-US" altLang="zh-CN" dirty="0" err="1" smtClean="0"/>
              <a:t>dport</a:t>
            </a:r>
            <a:r>
              <a:rPr lang="en-US" altLang="zh-CN" dirty="0" smtClean="0"/>
              <a:t> 80 -m </a:t>
            </a:r>
            <a:r>
              <a:rPr lang="en-US" altLang="zh-CN" dirty="0" err="1" smtClean="0"/>
              <a:t>connlimit</a:t>
            </a:r>
            <a:r>
              <a:rPr lang="en-US" altLang="zh-CN" dirty="0" smtClean="0"/>
              <a:t> --</a:t>
            </a:r>
            <a:r>
              <a:rPr lang="en-US" altLang="zh-CN" dirty="0" err="1" smtClean="0"/>
              <a:t>connlimit</a:t>
            </a:r>
            <a:r>
              <a:rPr lang="en-US" altLang="zh-CN" dirty="0" smtClean="0"/>
              <a:t>-above 50 -j DROP</a:t>
            </a:r>
            <a:endParaRPr lang="zh-CN" altLang="en-US" dirty="0"/>
          </a:p>
        </p:txBody>
      </p:sp>
      <p:sp>
        <p:nvSpPr>
          <p:cNvPr id="9" name="矩形 8"/>
          <p:cNvSpPr/>
          <p:nvPr/>
        </p:nvSpPr>
        <p:spPr>
          <a:xfrm>
            <a:off x="1117794" y="836893"/>
            <a:ext cx="9421869" cy="2031325"/>
          </a:xfrm>
          <a:prstGeom prst="rect">
            <a:avLst/>
          </a:prstGeom>
        </p:spPr>
        <p:txBody>
          <a:bodyPr wrap="square">
            <a:spAutoFit/>
          </a:bodyPr>
          <a:lstStyle/>
          <a:p>
            <a:r>
              <a:rPr lang="zh-CN" altLang="en-US" b="1" dirty="0" smtClean="0"/>
              <a:t>数据包</a:t>
            </a:r>
            <a:r>
              <a:rPr lang="zh-CN" altLang="en-US" b="1" dirty="0" smtClean="0"/>
              <a:t>过滤</a:t>
            </a:r>
          </a:p>
          <a:p>
            <a:r>
              <a:rPr lang="en-US" altLang="zh-CN" dirty="0" err="1" smtClean="0"/>
              <a:t>Iptables</a:t>
            </a:r>
            <a:r>
              <a:rPr lang="en-US" altLang="zh-CN" dirty="0" smtClean="0"/>
              <a:t> </a:t>
            </a:r>
            <a:r>
              <a:rPr lang="zh-CN" altLang="en-US" dirty="0" smtClean="0"/>
              <a:t>可以根据协议、端口、</a:t>
            </a:r>
            <a:r>
              <a:rPr lang="en-US" altLang="zh-CN" dirty="0" smtClean="0"/>
              <a:t>IP </a:t>
            </a:r>
            <a:r>
              <a:rPr lang="zh-CN" altLang="en-US" dirty="0" smtClean="0"/>
              <a:t>地址等条件过滤数据包。</a:t>
            </a:r>
          </a:p>
          <a:p>
            <a:r>
              <a:rPr lang="zh-CN" altLang="en-US" b="1" dirty="0" smtClean="0"/>
              <a:t>允许</a:t>
            </a:r>
            <a:r>
              <a:rPr lang="zh-CN" altLang="en-US" dirty="0" smtClean="0"/>
              <a:t>特定协议，示例：允许 </a:t>
            </a:r>
            <a:r>
              <a:rPr lang="en-US" altLang="zh-CN" dirty="0" smtClean="0"/>
              <a:t>ICMP</a:t>
            </a:r>
            <a:r>
              <a:rPr lang="zh-CN" altLang="en-US" dirty="0" smtClean="0"/>
              <a:t>（</a:t>
            </a:r>
            <a:r>
              <a:rPr lang="en-US" altLang="zh-CN" dirty="0" smtClean="0"/>
              <a:t>ping</a:t>
            </a:r>
            <a:r>
              <a:rPr lang="zh-CN" altLang="en-US" dirty="0" smtClean="0"/>
              <a:t>）：</a:t>
            </a:r>
            <a:r>
              <a:rPr lang="en-US" altLang="zh-CN" dirty="0" err="1" smtClean="0"/>
              <a:t>iptables</a:t>
            </a:r>
            <a:r>
              <a:rPr lang="en-US" altLang="zh-CN" dirty="0" smtClean="0"/>
              <a:t> -A INPUT -p </a:t>
            </a:r>
            <a:r>
              <a:rPr lang="en-US" altLang="zh-CN" dirty="0" err="1" smtClean="0"/>
              <a:t>icmp</a:t>
            </a:r>
            <a:r>
              <a:rPr lang="en-US" altLang="zh-CN" dirty="0" smtClean="0"/>
              <a:t> -j </a:t>
            </a:r>
            <a:r>
              <a:rPr lang="en-US" altLang="zh-CN" dirty="0" smtClean="0"/>
              <a:t>ACCEPT</a:t>
            </a:r>
          </a:p>
          <a:p>
            <a:r>
              <a:rPr lang="zh-CN" altLang="en-US" dirty="0" smtClean="0"/>
              <a:t>               端口    示例</a:t>
            </a:r>
            <a:r>
              <a:rPr lang="zh-CN" altLang="en-US" dirty="0" smtClean="0"/>
              <a:t>：允许 </a:t>
            </a:r>
            <a:r>
              <a:rPr lang="en-US" altLang="zh-CN" dirty="0" smtClean="0"/>
              <a:t>SSH </a:t>
            </a:r>
            <a:r>
              <a:rPr lang="zh-CN" altLang="en-US" dirty="0" smtClean="0"/>
              <a:t>访问：</a:t>
            </a:r>
            <a:r>
              <a:rPr lang="en-US" altLang="zh-CN" dirty="0" err="1" smtClean="0"/>
              <a:t>iptables</a:t>
            </a:r>
            <a:r>
              <a:rPr lang="en-US" altLang="zh-CN" dirty="0" smtClean="0"/>
              <a:t> -A INPUT -p </a:t>
            </a:r>
            <a:r>
              <a:rPr lang="en-US" altLang="zh-CN" dirty="0" err="1" smtClean="0"/>
              <a:t>tcp</a:t>
            </a:r>
            <a:r>
              <a:rPr lang="en-US" altLang="zh-CN" dirty="0" smtClean="0"/>
              <a:t> --</a:t>
            </a:r>
            <a:r>
              <a:rPr lang="en-US" altLang="zh-CN" dirty="0" err="1" smtClean="0"/>
              <a:t>dport</a:t>
            </a:r>
            <a:r>
              <a:rPr lang="en-US" altLang="zh-CN" dirty="0" smtClean="0"/>
              <a:t> 22 -j ACCEPT</a:t>
            </a:r>
            <a:endParaRPr lang="zh-CN" altLang="en-US" dirty="0" smtClean="0"/>
          </a:p>
          <a:p>
            <a:r>
              <a:rPr lang="zh-CN" altLang="en-US" b="1" dirty="0" smtClean="0"/>
              <a:t>阻止</a:t>
            </a:r>
            <a:r>
              <a:rPr lang="zh-CN" altLang="en-US" dirty="0" smtClean="0"/>
              <a:t>特定协议，示例：阻止 </a:t>
            </a:r>
            <a:r>
              <a:rPr lang="en-US" altLang="zh-CN" dirty="0" smtClean="0"/>
              <a:t>UDP </a:t>
            </a:r>
            <a:r>
              <a:rPr lang="zh-CN" altLang="en-US" dirty="0" smtClean="0"/>
              <a:t>流量：</a:t>
            </a:r>
            <a:r>
              <a:rPr lang="en-US" altLang="zh-CN" dirty="0" err="1" smtClean="0"/>
              <a:t>iptables</a:t>
            </a:r>
            <a:r>
              <a:rPr lang="en-US" altLang="zh-CN" dirty="0" smtClean="0"/>
              <a:t> -A INPUT -p </a:t>
            </a:r>
            <a:r>
              <a:rPr lang="en-US" altLang="zh-CN" dirty="0" err="1" smtClean="0"/>
              <a:t>udp</a:t>
            </a:r>
            <a:r>
              <a:rPr lang="en-US" altLang="zh-CN" dirty="0" smtClean="0"/>
              <a:t> -j </a:t>
            </a:r>
            <a:r>
              <a:rPr lang="en-US" altLang="zh-CN" dirty="0" smtClean="0"/>
              <a:t>DROP</a:t>
            </a:r>
          </a:p>
          <a:p>
            <a:pPr lvl="0" fontAlgn="base">
              <a:spcBef>
                <a:spcPct val="0"/>
              </a:spcBef>
              <a:spcAft>
                <a:spcPct val="0"/>
              </a:spcAft>
            </a:pPr>
            <a:r>
              <a:rPr lang="zh-CN" altLang="en-US" dirty="0" smtClean="0"/>
              <a:t>                                     阻止从 </a:t>
            </a:r>
            <a:r>
              <a:rPr lang="zh-CN" altLang="zh-CN" dirty="0" smtClean="0"/>
              <a:t>VLAN 10 </a:t>
            </a:r>
            <a:r>
              <a:rPr lang="zh-CN" altLang="en-US" dirty="0" smtClean="0"/>
              <a:t>接口发送 </a:t>
            </a:r>
            <a:r>
              <a:rPr lang="zh-CN" altLang="zh-CN" dirty="0" smtClean="0"/>
              <a:t>mDNS </a:t>
            </a:r>
            <a:r>
              <a:rPr lang="zh-CN" altLang="en-US" dirty="0" smtClean="0"/>
              <a:t>组播包（</a:t>
            </a:r>
            <a:r>
              <a:rPr lang="zh-CN" altLang="zh-CN" dirty="0" smtClean="0"/>
              <a:t>IPv4</a:t>
            </a:r>
            <a:r>
              <a:rPr lang="zh-CN" altLang="en-US" dirty="0" smtClean="0"/>
              <a:t>）</a:t>
            </a:r>
            <a:endParaRPr lang="en-US" altLang="zh-CN" dirty="0" smtClean="0"/>
          </a:p>
          <a:p>
            <a:pPr lvl="0" fontAlgn="base">
              <a:spcBef>
                <a:spcPct val="0"/>
              </a:spcBef>
              <a:spcAft>
                <a:spcPct val="0"/>
              </a:spcAft>
            </a:pPr>
            <a:r>
              <a:rPr lang="zh-CN" altLang="en-US" dirty="0" smtClean="0"/>
              <a:t>                  </a:t>
            </a:r>
            <a:r>
              <a:rPr lang="zh-CN" altLang="zh-CN" dirty="0" smtClean="0"/>
              <a:t>iptables -A OUTPUT -o eth0.10 -p udp --dport 5353 -d 224.0.0.251 -j DROP </a:t>
            </a:r>
            <a:endParaRPr lang="en-US" altLang="zh-CN" dirty="0"/>
          </a:p>
        </p:txBody>
      </p:sp>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a:spLocks noChangeArrowheads="1"/>
          </p:cNvSpPr>
          <p:nvPr/>
        </p:nvSpPr>
        <p:spPr bwMode="auto">
          <a:xfrm>
            <a:off x="0" y="212519"/>
            <a:ext cx="352425" cy="400050"/>
          </a:xfrm>
          <a:prstGeom prst="rect">
            <a:avLst/>
          </a:prstGeom>
          <a:solidFill>
            <a:srgbClr val="5B9BD5">
              <a:lumMod val="50000"/>
            </a:srgbClr>
          </a:solidFill>
          <a:ln w="9525">
            <a:noFill/>
            <a:miter lim="800000"/>
          </a:ln>
        </p:spPr>
        <p:txBody>
          <a:bodyPr anchor="ctr"/>
          <a:lstStyle/>
          <a:p>
            <a:pPr algn="ctr" fontAlgn="base">
              <a:spcBef>
                <a:spcPct val="0"/>
              </a:spcBef>
              <a:spcAft>
                <a:spcPct val="0"/>
              </a:spcAft>
              <a:buFont typeface="Arial" panose="020B0604020202020204" pitchFamily="34" charset="0"/>
              <a:buNone/>
              <a:defRPr/>
            </a:pPr>
            <a:endParaRPr lang="zh-CN" altLang="en-US" kern="0">
              <a:solidFill>
                <a:srgbClr val="1F4E79"/>
              </a:solidFill>
              <a:latin typeface="黑体" panose="02010609060101010101" charset="-122"/>
              <a:ea typeface="黑体" panose="02010609060101010101" charset="-122"/>
            </a:endParaRPr>
          </a:p>
        </p:txBody>
      </p:sp>
      <p:sp>
        <p:nvSpPr>
          <p:cNvPr id="17" name="矩形 16"/>
          <p:cNvSpPr>
            <a:spLocks noChangeArrowheads="1"/>
          </p:cNvSpPr>
          <p:nvPr/>
        </p:nvSpPr>
        <p:spPr bwMode="auto">
          <a:xfrm>
            <a:off x="419100" y="212519"/>
            <a:ext cx="123825" cy="400050"/>
          </a:xfrm>
          <a:prstGeom prst="rect">
            <a:avLst/>
          </a:prstGeom>
          <a:solidFill>
            <a:srgbClr val="7F7F7F"/>
          </a:solidFill>
          <a:ln w="9525">
            <a:noFill/>
            <a:miter lim="800000"/>
          </a:ln>
        </p:spPr>
        <p:txBody>
          <a:bodyPr anchor="ctr"/>
          <a:lstStyle/>
          <a:p>
            <a:pPr algn="ctr" fontAlgn="base">
              <a:spcBef>
                <a:spcPct val="0"/>
              </a:spcBef>
              <a:spcAft>
                <a:spcPct val="0"/>
              </a:spcAft>
              <a:buFont typeface="Arial" panose="020B0604020202020204" pitchFamily="34" charset="0"/>
              <a:buNone/>
            </a:pPr>
            <a:endParaRPr lang="zh-CN" altLang="en-US">
              <a:solidFill>
                <a:srgbClr val="1F4E79"/>
              </a:solidFill>
              <a:latin typeface="黑体" panose="02010609060101010101" charset="-122"/>
              <a:ea typeface="黑体" panose="02010609060101010101" charset="-122"/>
            </a:endParaRPr>
          </a:p>
        </p:txBody>
      </p:sp>
      <p:sp>
        <p:nvSpPr>
          <p:cNvPr id="21" name="标题 1"/>
          <p:cNvSpPr txBox="1"/>
          <p:nvPr/>
        </p:nvSpPr>
        <p:spPr>
          <a:xfrm>
            <a:off x="609600" y="224766"/>
            <a:ext cx="9710057" cy="375557"/>
          </a:xfrm>
          <a:prstGeom prst="rect">
            <a:avLst/>
          </a:prstGeom>
        </p:spPr>
        <p:txBody>
          <a:bodyPr anchor="ctr"/>
          <a:lstStyle>
            <a:lvl1pPr algn="l" rtl="0" eaLnBrk="0" fontAlgn="base" hangingPunct="0">
              <a:spcBef>
                <a:spcPct val="0"/>
              </a:spcBef>
              <a:spcAft>
                <a:spcPct val="0"/>
              </a:spcAft>
              <a:defRPr sz="2800" b="1" kern="1200">
                <a:solidFill>
                  <a:srgbClr val="1F4E79"/>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0" lvl="1" algn="l"/>
            <a:r>
              <a:rPr lang="en-US" altLang="zh-CN" sz="2400" b="1" dirty="0" smtClean="0">
                <a:solidFill>
                  <a:srgbClr val="0070C0"/>
                </a:solidFill>
                <a:latin typeface="思源黑体" panose="020B0500000000000000" pitchFamily="34" charset="-122"/>
                <a:ea typeface="思源黑体" panose="020B0500000000000000" pitchFamily="34" charset="-122"/>
              </a:rPr>
              <a:t>2</a:t>
            </a:r>
            <a:r>
              <a:rPr lang="zh-CN" altLang="en-US" sz="2400" b="1" dirty="0" smtClean="0">
                <a:solidFill>
                  <a:srgbClr val="0070C0"/>
                </a:solidFill>
                <a:latin typeface="思源黑体" panose="020B0500000000000000" pitchFamily="34" charset="-122"/>
                <a:ea typeface="思源黑体" panose="020B0500000000000000" pitchFamily="34" charset="-122"/>
              </a:rPr>
              <a:t>、较特殊应用</a:t>
            </a:r>
            <a:r>
              <a:rPr lang="en-US" altLang="zh-CN" sz="2400" b="1" dirty="0" smtClean="0">
                <a:solidFill>
                  <a:srgbClr val="0070C0"/>
                </a:solidFill>
                <a:latin typeface="思源黑体" panose="020B0500000000000000" pitchFamily="34" charset="-122"/>
                <a:ea typeface="思源黑体" panose="020B0500000000000000" pitchFamily="34" charset="-122"/>
              </a:rPr>
              <a:t>—</a:t>
            </a:r>
            <a:r>
              <a:rPr lang="zh-CN" altLang="en-US" sz="2400" b="1" dirty="0" smtClean="0">
                <a:solidFill>
                  <a:srgbClr val="0070C0"/>
                </a:solidFill>
                <a:latin typeface="思源黑体" panose="020B0500000000000000" pitchFamily="34" charset="-122"/>
                <a:ea typeface="思源黑体" panose="020B0500000000000000" pitchFamily="34" charset="-122"/>
              </a:rPr>
              <a:t>设置</a:t>
            </a:r>
            <a:r>
              <a:rPr lang="en-US" altLang="zh-CN" sz="2400" b="1" dirty="0" smtClean="0">
                <a:solidFill>
                  <a:srgbClr val="0070C0"/>
                </a:solidFill>
                <a:latin typeface="思源黑体" panose="020B0500000000000000" pitchFamily="34" charset="-122"/>
                <a:ea typeface="思源黑体" panose="020B0500000000000000" pitchFamily="34" charset="-122"/>
              </a:rPr>
              <a:t>TTL</a:t>
            </a:r>
            <a:endParaRPr lang="zh-CN" altLang="en-US" sz="2400" b="1" dirty="0" smtClean="0">
              <a:solidFill>
                <a:srgbClr val="0070C0"/>
              </a:solidFill>
              <a:latin typeface="思源黑体" panose="020B0500000000000000" pitchFamily="34" charset="-122"/>
              <a:ea typeface="思源黑体" panose="020B0500000000000000" pitchFamily="34" charset="-122"/>
            </a:endParaRPr>
          </a:p>
        </p:txBody>
      </p:sp>
      <p:sp>
        <p:nvSpPr>
          <p:cNvPr id="9" name="Rectangle 3"/>
          <p:cNvSpPr>
            <a:spLocks noChangeArrowheads="1"/>
          </p:cNvSpPr>
          <p:nvPr/>
        </p:nvSpPr>
        <p:spPr bwMode="auto">
          <a:xfrm>
            <a:off x="8289759" y="1407302"/>
            <a:ext cx="3503724" cy="1508105"/>
          </a:xfrm>
          <a:prstGeom prst="rect">
            <a:avLst/>
          </a:prstGeom>
          <a:noFill/>
          <a:ln w="9525">
            <a:noFill/>
            <a:miter lim="800000"/>
            <a:headEnd/>
            <a:tailEnd/>
          </a:ln>
          <a:effectLst/>
        </p:spPr>
        <p:txBody>
          <a:bodyPr vert="horz" wrap="square" lIns="0" tIns="0" rIns="0" bIns="0" numCol="1" anchor="ctr" anchorCtr="0" compatLnSpc="1">
            <a:prstTxWarp prst="textNoShape">
              <a:avLst/>
            </a:prstTxWarp>
            <a:spAutoFit/>
          </a:bodyPr>
          <a:lstStyle/>
          <a:p>
            <a:r>
              <a:rPr lang="en-US" altLang="zh-CN" sz="1400" dirty="0" smtClean="0">
                <a:latin typeface="思源黑体" panose="020B0500000000000000" pitchFamily="34" charset="-122"/>
                <a:ea typeface="思源黑体" panose="020B0500000000000000" pitchFamily="34" charset="-122"/>
              </a:rPr>
              <a:t>IP</a:t>
            </a:r>
            <a:r>
              <a:rPr lang="zh-CN" altLang="en-US" sz="1400" dirty="0" smtClean="0">
                <a:latin typeface="思源黑体" panose="020B0500000000000000" pitchFamily="34" charset="-122"/>
                <a:ea typeface="思源黑体" panose="020B0500000000000000" pitchFamily="34" charset="-122"/>
              </a:rPr>
              <a:t>层的</a:t>
            </a:r>
            <a:r>
              <a:rPr lang="en-US" altLang="zh-CN" sz="1400" dirty="0" smtClean="0">
                <a:latin typeface="思源黑体" panose="020B0500000000000000" pitchFamily="34" charset="-122"/>
                <a:ea typeface="思源黑体" panose="020B0500000000000000" pitchFamily="34" charset="-122"/>
              </a:rPr>
              <a:t>TTL</a:t>
            </a:r>
            <a:r>
              <a:rPr lang="zh-CN" altLang="en-US" sz="1400" dirty="0" smtClean="0">
                <a:latin typeface="思源黑体" panose="020B0500000000000000" pitchFamily="34" charset="-122"/>
                <a:ea typeface="思源黑体" panose="020B0500000000000000" pitchFamily="34" charset="-122"/>
              </a:rPr>
              <a:t>：网络层的机制，用于防止数据包在网络中无限循环，确保网络稳定性。它关注的是数据包传输的路径和跳数。</a:t>
            </a:r>
            <a:endParaRPr lang="en-US" altLang="zh-CN" sz="1400" dirty="0" smtClean="0">
              <a:latin typeface="思源黑体" panose="020B0500000000000000" pitchFamily="34" charset="-122"/>
              <a:ea typeface="思源黑体" panose="020B0500000000000000" pitchFamily="34" charset="-122"/>
            </a:endParaRPr>
          </a:p>
          <a:p>
            <a:endParaRPr lang="zh-CN" altLang="en-US" sz="1400" dirty="0" smtClean="0"/>
          </a:p>
          <a:p>
            <a:r>
              <a:rPr lang="en-US" altLang="zh-CN" sz="1400" dirty="0" smtClean="0">
                <a:latin typeface="思源黑体" panose="020B0500000000000000" pitchFamily="34" charset="-122"/>
                <a:ea typeface="思源黑体" panose="020B0500000000000000" pitchFamily="34" charset="-122"/>
              </a:rPr>
              <a:t>SOME/IP</a:t>
            </a:r>
            <a:r>
              <a:rPr lang="zh-CN" altLang="en-US" sz="1400" dirty="0" smtClean="0">
                <a:latin typeface="思源黑体" panose="020B0500000000000000" pitchFamily="34" charset="-122"/>
                <a:ea typeface="思源黑体" panose="020B0500000000000000" pitchFamily="34" charset="-122"/>
              </a:rPr>
              <a:t>中的</a:t>
            </a:r>
            <a:r>
              <a:rPr lang="en-US" altLang="zh-CN" sz="1400" dirty="0" smtClean="0">
                <a:latin typeface="思源黑体" panose="020B0500000000000000" pitchFamily="34" charset="-122"/>
                <a:ea typeface="思源黑体" panose="020B0500000000000000" pitchFamily="34" charset="-122"/>
              </a:rPr>
              <a:t>TTL</a:t>
            </a:r>
            <a:r>
              <a:rPr lang="zh-CN" altLang="en-US" sz="1400" dirty="0" smtClean="0">
                <a:latin typeface="思源黑体" panose="020B0500000000000000" pitchFamily="34" charset="-122"/>
                <a:ea typeface="思源黑体" panose="020B0500000000000000" pitchFamily="34" charset="-122"/>
              </a:rPr>
              <a:t>：应用层</a:t>
            </a:r>
            <a:r>
              <a:rPr lang="en-US" altLang="zh-CN" sz="1400" dirty="0" smtClean="0">
                <a:latin typeface="思源黑体" panose="020B0500000000000000" pitchFamily="34" charset="-122"/>
                <a:ea typeface="思源黑体" panose="020B0500000000000000" pitchFamily="34" charset="-122"/>
              </a:rPr>
              <a:t>/</a:t>
            </a:r>
            <a:r>
              <a:rPr lang="zh-CN" altLang="en-US" sz="1400" dirty="0" smtClean="0">
                <a:latin typeface="思源黑体" panose="020B0500000000000000" pitchFamily="34" charset="-122"/>
                <a:ea typeface="思源黑体" panose="020B0500000000000000" pitchFamily="34" charset="-122"/>
              </a:rPr>
              <a:t>中间件层的机制，用于管理服务的可用性和生命周期。它关注的是服务实例本身的有效存活时间。</a:t>
            </a:r>
          </a:p>
        </p:txBody>
      </p:sp>
      <p:pic>
        <p:nvPicPr>
          <p:cNvPr id="10242" name="Picture 2" descr="C:\Users\mibin\AppData\Local\Temp\企业微信截图_17587922384500.png"/>
          <p:cNvPicPr>
            <a:picLocks noChangeAspect="1" noChangeArrowheads="1"/>
          </p:cNvPicPr>
          <p:nvPr/>
        </p:nvPicPr>
        <p:blipFill>
          <a:blip r:embed="rId2" cstate="print"/>
          <a:srcRect/>
          <a:stretch>
            <a:fillRect/>
          </a:stretch>
        </p:blipFill>
        <p:spPr bwMode="auto">
          <a:xfrm>
            <a:off x="1347536" y="760663"/>
            <a:ext cx="5907507" cy="3410092"/>
          </a:xfrm>
          <a:prstGeom prst="rect">
            <a:avLst/>
          </a:prstGeom>
          <a:noFill/>
        </p:spPr>
      </p:pic>
      <p:pic>
        <p:nvPicPr>
          <p:cNvPr id="10244" name="Picture 4" descr="C:\Users\mibin\AppData\Local\Temp\企业微信截图_17587925246324.png"/>
          <p:cNvPicPr>
            <a:picLocks noChangeAspect="1" noChangeArrowheads="1"/>
          </p:cNvPicPr>
          <p:nvPr/>
        </p:nvPicPr>
        <p:blipFill>
          <a:blip r:embed="rId3" cstate="print"/>
          <a:srcRect/>
          <a:stretch>
            <a:fillRect/>
          </a:stretch>
        </p:blipFill>
        <p:spPr bwMode="auto">
          <a:xfrm>
            <a:off x="336051" y="3248528"/>
            <a:ext cx="7405223" cy="3392905"/>
          </a:xfrm>
          <a:prstGeom prst="rect">
            <a:avLst/>
          </a:prstGeom>
          <a:noFill/>
        </p:spPr>
      </p:pic>
      <p:sp>
        <p:nvSpPr>
          <p:cNvPr id="10" name="Rectangle 3"/>
          <p:cNvSpPr>
            <a:spLocks noChangeArrowheads="1"/>
          </p:cNvSpPr>
          <p:nvPr/>
        </p:nvSpPr>
        <p:spPr bwMode="auto">
          <a:xfrm>
            <a:off x="8273717" y="3302595"/>
            <a:ext cx="3503724" cy="861774"/>
          </a:xfrm>
          <a:prstGeom prst="rect">
            <a:avLst/>
          </a:prstGeom>
          <a:noFill/>
          <a:ln w="9525">
            <a:noFill/>
            <a:miter lim="800000"/>
            <a:headEnd/>
            <a:tailEnd/>
          </a:ln>
          <a:effectLst/>
        </p:spPr>
        <p:txBody>
          <a:bodyPr vert="horz" wrap="square" lIns="0" tIns="0" rIns="0" bIns="0" numCol="1" anchor="ctr" anchorCtr="0" compatLnSpc="1">
            <a:prstTxWarp prst="textNoShape">
              <a:avLst/>
            </a:prstTxWarp>
            <a:spAutoFit/>
          </a:bodyPr>
          <a:lstStyle/>
          <a:p>
            <a:r>
              <a:rPr lang="zh-CN" altLang="en-US" sz="1400" dirty="0" smtClean="0">
                <a:latin typeface="思源黑体" panose="020B0500000000000000" pitchFamily="34" charset="-122"/>
                <a:ea typeface="思源黑体" panose="020B0500000000000000" pitchFamily="34" charset="-122"/>
              </a:rPr>
              <a:t>系统默认的</a:t>
            </a:r>
            <a:r>
              <a:rPr lang="en-US" altLang="zh-CN" sz="1400" dirty="0" smtClean="0">
                <a:latin typeface="思源黑体" panose="020B0500000000000000" pitchFamily="34" charset="-122"/>
                <a:ea typeface="思源黑体" panose="020B0500000000000000" pitchFamily="34" charset="-122"/>
              </a:rPr>
              <a:t>IP</a:t>
            </a:r>
            <a:r>
              <a:rPr lang="zh-CN" altLang="en-US" sz="1400" dirty="0" smtClean="0">
                <a:latin typeface="思源黑体" panose="020B0500000000000000" pitchFamily="34" charset="-122"/>
                <a:ea typeface="思源黑体" panose="020B0500000000000000" pitchFamily="34" charset="-122"/>
              </a:rPr>
              <a:t>层的</a:t>
            </a:r>
            <a:r>
              <a:rPr lang="en-US" altLang="zh-CN" sz="1400" dirty="0" smtClean="0">
                <a:latin typeface="思源黑体" panose="020B0500000000000000" pitchFamily="34" charset="-122"/>
                <a:ea typeface="思源黑体" panose="020B0500000000000000" pitchFamily="34" charset="-122"/>
              </a:rPr>
              <a:t>TTL</a:t>
            </a:r>
            <a:r>
              <a:rPr lang="zh-CN" altLang="en-US" sz="1400" dirty="0" smtClean="0">
                <a:latin typeface="思源黑体" panose="020B0500000000000000" pitchFamily="34" charset="-122"/>
                <a:ea typeface="思源黑体" panose="020B0500000000000000" pitchFamily="34" charset="-122"/>
              </a:rPr>
              <a:t>值是</a:t>
            </a:r>
            <a:r>
              <a:rPr lang="en-US" altLang="zh-CN" sz="1400" dirty="0" smtClean="0">
                <a:latin typeface="思源黑体" panose="020B0500000000000000" pitchFamily="34" charset="-122"/>
                <a:ea typeface="思源黑体" panose="020B0500000000000000" pitchFamily="34" charset="-122"/>
              </a:rPr>
              <a:t>64</a:t>
            </a:r>
            <a:r>
              <a:rPr lang="zh-CN" altLang="en-US" sz="1400" dirty="0" smtClean="0">
                <a:latin typeface="思源黑体" panose="020B0500000000000000" pitchFamily="34" charset="-122"/>
                <a:ea typeface="思源黑体" panose="020B0500000000000000" pitchFamily="34" charset="-122"/>
              </a:rPr>
              <a:t>，可以修改，但不同</a:t>
            </a:r>
            <a:r>
              <a:rPr lang="en-US" altLang="zh-CN" sz="1400" dirty="0" smtClean="0">
                <a:latin typeface="思源黑体" panose="020B0500000000000000" pitchFamily="34" charset="-122"/>
                <a:ea typeface="思源黑体" panose="020B0500000000000000" pitchFamily="34" charset="-122"/>
              </a:rPr>
              <a:t>VLAN</a:t>
            </a:r>
            <a:r>
              <a:rPr lang="zh-CN" altLang="en-US" sz="1400" dirty="0" smtClean="0">
                <a:latin typeface="思源黑体" panose="020B0500000000000000" pitchFamily="34" charset="-122"/>
                <a:ea typeface="思源黑体" panose="020B0500000000000000" pitchFamily="34" charset="-122"/>
              </a:rPr>
              <a:t>要求不同的</a:t>
            </a:r>
            <a:r>
              <a:rPr lang="en-US" altLang="zh-CN" sz="1400" dirty="0" smtClean="0">
                <a:latin typeface="思源黑体" panose="020B0500000000000000" pitchFamily="34" charset="-122"/>
                <a:ea typeface="思源黑体" panose="020B0500000000000000" pitchFamily="34" charset="-122"/>
              </a:rPr>
              <a:t>TTL</a:t>
            </a:r>
            <a:r>
              <a:rPr lang="zh-CN" altLang="en-US" sz="1400" dirty="0" smtClean="0">
                <a:latin typeface="思源黑体" panose="020B0500000000000000" pitchFamily="34" charset="-122"/>
                <a:ea typeface="思源黑体" panose="020B0500000000000000" pitchFamily="34" charset="-122"/>
              </a:rPr>
              <a:t>，怎么办？</a:t>
            </a:r>
            <a:endParaRPr lang="en-US" altLang="zh-CN" sz="1400" dirty="0" smtClean="0">
              <a:latin typeface="思源黑体" panose="020B0500000000000000" pitchFamily="34" charset="-122"/>
              <a:ea typeface="思源黑体" panose="020B0500000000000000" pitchFamily="34" charset="-122"/>
            </a:endParaRPr>
          </a:p>
          <a:p>
            <a:r>
              <a:rPr lang="zh-CN" altLang="en-US" sz="1400" dirty="0" smtClean="0">
                <a:latin typeface="思源黑体" panose="020B0500000000000000" pitchFamily="34" charset="-122"/>
                <a:ea typeface="思源黑体" panose="020B0500000000000000" pitchFamily="34" charset="-122"/>
              </a:rPr>
              <a:t>除了在代码中使用</a:t>
            </a:r>
            <a:r>
              <a:rPr lang="en-US" altLang="zh-CN" sz="1400" dirty="0" err="1" smtClean="0">
                <a:latin typeface="思源黑体" panose="020B0500000000000000" pitchFamily="34" charset="-122"/>
                <a:ea typeface="思源黑体" panose="020B0500000000000000" pitchFamily="34" charset="-122"/>
              </a:rPr>
              <a:t>setsockopt</a:t>
            </a:r>
            <a:r>
              <a:rPr lang="zh-CN" altLang="en-US" sz="1400" dirty="0" smtClean="0">
                <a:latin typeface="思源黑体" panose="020B0500000000000000" pitchFamily="34" charset="-122"/>
                <a:ea typeface="思源黑体" panose="020B0500000000000000" pitchFamily="34" charset="-122"/>
              </a:rPr>
              <a:t>设置外，有其他方法吗</a:t>
            </a:r>
          </a:p>
        </p:txBody>
      </p:sp>
      <p:sp>
        <p:nvSpPr>
          <p:cNvPr id="11" name="矩形 10"/>
          <p:cNvSpPr/>
          <p:nvPr/>
        </p:nvSpPr>
        <p:spPr>
          <a:xfrm>
            <a:off x="8265695" y="4476891"/>
            <a:ext cx="3717758" cy="738664"/>
          </a:xfrm>
          <a:prstGeom prst="rect">
            <a:avLst/>
          </a:prstGeom>
        </p:spPr>
        <p:txBody>
          <a:bodyPr wrap="square">
            <a:spAutoFit/>
          </a:bodyPr>
          <a:lstStyle/>
          <a:p>
            <a:r>
              <a:rPr lang="zh-CN" altLang="en-US" sz="1400" dirty="0" smtClean="0">
                <a:latin typeface="思源黑体" panose="020B0500000000000000" pitchFamily="34" charset="-122"/>
                <a:ea typeface="思源黑体" panose="020B0500000000000000" pitchFamily="34" charset="-122"/>
              </a:rPr>
              <a:t>直接去修改</a:t>
            </a:r>
            <a:r>
              <a:rPr lang="en-US" altLang="zh-CN" sz="1400" dirty="0" smtClean="0">
                <a:latin typeface="思源黑体" panose="020B0500000000000000" pitchFamily="34" charset="-122"/>
                <a:ea typeface="思源黑体" panose="020B0500000000000000" pitchFamily="34" charset="-122"/>
              </a:rPr>
              <a:t>IP</a:t>
            </a:r>
            <a:r>
              <a:rPr lang="zh-CN" altLang="en-US" sz="1400" dirty="0" smtClean="0">
                <a:latin typeface="思源黑体" panose="020B0500000000000000" pitchFamily="34" charset="-122"/>
                <a:ea typeface="思源黑体" panose="020B0500000000000000" pitchFamily="34" charset="-122"/>
              </a:rPr>
              <a:t>报文的头部一般是不推荐的。</a:t>
            </a:r>
            <a:endParaRPr lang="en-US" altLang="zh-CN" sz="1400" dirty="0" smtClean="0">
              <a:latin typeface="思源黑体" panose="020B0500000000000000" pitchFamily="34" charset="-122"/>
              <a:ea typeface="思源黑体" panose="020B0500000000000000" pitchFamily="34" charset="-122"/>
            </a:endParaRPr>
          </a:p>
          <a:p>
            <a:r>
              <a:rPr lang="en-US" altLang="zh-CN" sz="1400" dirty="0" smtClean="0">
                <a:latin typeface="思源黑体" panose="020B0500000000000000" pitchFamily="34" charset="-122"/>
                <a:ea typeface="思源黑体" panose="020B0500000000000000" pitchFamily="34" charset="-122"/>
              </a:rPr>
              <a:t>mangle: </a:t>
            </a:r>
            <a:r>
              <a:rPr lang="zh-CN" altLang="zh-CN" sz="1400" dirty="0" smtClean="0">
                <a:latin typeface="思源黑体" panose="020B0500000000000000" pitchFamily="34" charset="-122"/>
                <a:ea typeface="思源黑体" panose="020B0500000000000000" pitchFamily="34" charset="-122"/>
              </a:rPr>
              <a:t>碾压</a:t>
            </a:r>
            <a:r>
              <a:rPr lang="zh-CN" altLang="en-US" sz="1400" dirty="0" smtClean="0">
                <a:latin typeface="思源黑体" panose="020B0500000000000000" pitchFamily="34" charset="-122"/>
                <a:ea typeface="思源黑体" panose="020B0500000000000000" pitchFamily="34" charset="-122"/>
              </a:rPr>
              <a:t>；</a:t>
            </a:r>
            <a:r>
              <a:rPr lang="zh-CN" altLang="zh-CN" sz="1400" dirty="0" smtClean="0">
                <a:latin typeface="思源黑体" panose="020B0500000000000000" pitchFamily="34" charset="-122"/>
                <a:ea typeface="思源黑体" panose="020B0500000000000000" pitchFamily="34" charset="-122"/>
              </a:rPr>
              <a:t>肢解</a:t>
            </a:r>
            <a:r>
              <a:rPr lang="en-US" altLang="zh-CN" sz="1400" dirty="0" smtClean="0">
                <a:latin typeface="思源黑体" panose="020B0500000000000000" pitchFamily="34" charset="-122"/>
                <a:ea typeface="思源黑体" panose="020B0500000000000000" pitchFamily="34" charset="-122"/>
              </a:rPr>
              <a:t>/</a:t>
            </a:r>
            <a:r>
              <a:rPr lang="zh-CN" altLang="zh-CN" sz="1400" dirty="0" smtClean="0">
                <a:latin typeface="思源黑体" panose="020B0500000000000000" pitchFamily="34" charset="-122"/>
                <a:ea typeface="思源黑体" panose="020B0500000000000000" pitchFamily="34" charset="-122"/>
              </a:rPr>
              <a:t>乱砍乱切</a:t>
            </a:r>
            <a:r>
              <a:rPr lang="zh-CN" altLang="en-US" sz="1400" dirty="0" smtClean="0">
                <a:latin typeface="思源黑体" panose="020B0500000000000000" pitchFamily="34" charset="-122"/>
                <a:ea typeface="思源黑体" panose="020B0500000000000000" pitchFamily="34" charset="-122"/>
              </a:rPr>
              <a:t>；</a:t>
            </a:r>
            <a:r>
              <a:rPr lang="zh-CN" altLang="zh-CN" sz="1400" dirty="0" smtClean="0">
                <a:latin typeface="思源黑体" panose="020B0500000000000000" pitchFamily="34" charset="-122"/>
                <a:ea typeface="思源黑体" panose="020B0500000000000000" pitchFamily="34" charset="-122"/>
              </a:rPr>
              <a:t>篡改</a:t>
            </a:r>
            <a:endParaRPr lang="en-US" altLang="zh-CN" sz="1400" dirty="0" smtClean="0">
              <a:latin typeface="思源黑体" panose="020B0500000000000000" pitchFamily="34" charset="-122"/>
              <a:ea typeface="思源黑体" panose="020B0500000000000000" pitchFamily="34" charset="-122"/>
            </a:endParaRPr>
          </a:p>
          <a:p>
            <a:r>
              <a:rPr lang="zh-CN" altLang="en-US" sz="1400" dirty="0" smtClean="0">
                <a:latin typeface="思源黑体" panose="020B0500000000000000" pitchFamily="34" charset="-122"/>
                <a:ea typeface="思源黑体" panose="020B0500000000000000" pitchFamily="34" charset="-122"/>
              </a:rPr>
              <a:t> </a:t>
            </a:r>
            <a:r>
              <a:rPr lang="zh-CN" altLang="en-US" sz="1400" dirty="0" smtClean="0">
                <a:latin typeface="思源黑体" panose="020B0500000000000000" pitchFamily="34" charset="-122"/>
                <a:ea typeface="思源黑体" panose="020B0500000000000000" pitchFamily="34" charset="-122"/>
              </a:rPr>
              <a:t>             可以音译为“蛮搞”</a:t>
            </a:r>
            <a:endParaRPr lang="zh-CN" altLang="en-US" sz="1400" dirty="0" smtClean="0">
              <a:latin typeface="思源黑体" panose="020B0500000000000000" pitchFamily="34" charset="-122"/>
              <a:ea typeface="思源黑体" panose="020B0500000000000000" pitchFamily="34" charset="-122"/>
            </a:endParaRPr>
          </a:p>
        </p:txBody>
      </p:sp>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a:spLocks noChangeArrowheads="1"/>
          </p:cNvSpPr>
          <p:nvPr/>
        </p:nvSpPr>
        <p:spPr bwMode="auto">
          <a:xfrm>
            <a:off x="0" y="212519"/>
            <a:ext cx="352425" cy="400050"/>
          </a:xfrm>
          <a:prstGeom prst="rect">
            <a:avLst/>
          </a:prstGeom>
          <a:solidFill>
            <a:srgbClr val="5B9BD5">
              <a:lumMod val="50000"/>
            </a:srgbClr>
          </a:solidFill>
          <a:ln w="9525">
            <a:noFill/>
            <a:miter lim="800000"/>
          </a:ln>
        </p:spPr>
        <p:txBody>
          <a:bodyPr anchor="ctr"/>
          <a:lstStyle/>
          <a:p>
            <a:pPr algn="ctr" fontAlgn="base">
              <a:spcBef>
                <a:spcPct val="0"/>
              </a:spcBef>
              <a:spcAft>
                <a:spcPct val="0"/>
              </a:spcAft>
              <a:buFont typeface="Arial" panose="020B0604020202020204" pitchFamily="34" charset="0"/>
              <a:buNone/>
              <a:defRPr/>
            </a:pPr>
            <a:endParaRPr lang="zh-CN" altLang="en-US" kern="0">
              <a:solidFill>
                <a:srgbClr val="1F4E79"/>
              </a:solidFill>
              <a:latin typeface="黑体" panose="02010609060101010101" charset="-122"/>
              <a:ea typeface="黑体" panose="02010609060101010101" charset="-122"/>
            </a:endParaRPr>
          </a:p>
        </p:txBody>
      </p:sp>
      <p:sp>
        <p:nvSpPr>
          <p:cNvPr id="17" name="矩形 16"/>
          <p:cNvSpPr>
            <a:spLocks noChangeArrowheads="1"/>
          </p:cNvSpPr>
          <p:nvPr/>
        </p:nvSpPr>
        <p:spPr bwMode="auto">
          <a:xfrm>
            <a:off x="419100" y="212519"/>
            <a:ext cx="123825" cy="400050"/>
          </a:xfrm>
          <a:prstGeom prst="rect">
            <a:avLst/>
          </a:prstGeom>
          <a:solidFill>
            <a:srgbClr val="7F7F7F"/>
          </a:solidFill>
          <a:ln w="9525">
            <a:noFill/>
            <a:miter lim="800000"/>
          </a:ln>
        </p:spPr>
        <p:txBody>
          <a:bodyPr anchor="ctr"/>
          <a:lstStyle/>
          <a:p>
            <a:pPr algn="ctr" fontAlgn="base">
              <a:spcBef>
                <a:spcPct val="0"/>
              </a:spcBef>
              <a:spcAft>
                <a:spcPct val="0"/>
              </a:spcAft>
              <a:buFont typeface="Arial" panose="020B0604020202020204" pitchFamily="34" charset="0"/>
              <a:buNone/>
            </a:pPr>
            <a:endParaRPr lang="zh-CN" altLang="en-US">
              <a:solidFill>
                <a:srgbClr val="1F4E79"/>
              </a:solidFill>
              <a:latin typeface="黑体" panose="02010609060101010101" charset="-122"/>
              <a:ea typeface="黑体" panose="02010609060101010101" charset="-122"/>
            </a:endParaRPr>
          </a:p>
        </p:txBody>
      </p:sp>
      <p:sp>
        <p:nvSpPr>
          <p:cNvPr id="21" name="标题 1"/>
          <p:cNvSpPr txBox="1"/>
          <p:nvPr/>
        </p:nvSpPr>
        <p:spPr>
          <a:xfrm>
            <a:off x="609600" y="224766"/>
            <a:ext cx="9710057" cy="375557"/>
          </a:xfrm>
          <a:prstGeom prst="rect">
            <a:avLst/>
          </a:prstGeom>
        </p:spPr>
        <p:txBody>
          <a:bodyPr anchor="ctr"/>
          <a:lstStyle>
            <a:lvl1pPr algn="l" rtl="0" eaLnBrk="0" fontAlgn="base" hangingPunct="0">
              <a:spcBef>
                <a:spcPct val="0"/>
              </a:spcBef>
              <a:spcAft>
                <a:spcPct val="0"/>
              </a:spcAft>
              <a:defRPr sz="2800" b="1" kern="1200">
                <a:solidFill>
                  <a:srgbClr val="1F4E79"/>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0" lvl="1" algn="l"/>
            <a:r>
              <a:rPr lang="en-US" altLang="zh-CN" sz="2400" b="1" dirty="0" smtClean="0">
                <a:solidFill>
                  <a:srgbClr val="0070C0"/>
                </a:solidFill>
                <a:latin typeface="思源黑体" panose="020B0500000000000000" pitchFamily="34" charset="-122"/>
                <a:ea typeface="思源黑体" panose="020B0500000000000000" pitchFamily="34" charset="-122"/>
              </a:rPr>
              <a:t>2</a:t>
            </a:r>
            <a:r>
              <a:rPr lang="zh-CN" altLang="en-US" sz="2400" b="1" dirty="0" smtClean="0">
                <a:solidFill>
                  <a:srgbClr val="0070C0"/>
                </a:solidFill>
                <a:latin typeface="思源黑体" panose="020B0500000000000000" pitchFamily="34" charset="-122"/>
                <a:ea typeface="思源黑体" panose="020B0500000000000000" pitchFamily="34" charset="-122"/>
              </a:rPr>
              <a:t>、较特殊应用</a:t>
            </a:r>
            <a:r>
              <a:rPr lang="en-US" altLang="zh-CN" sz="2400" b="1" dirty="0" smtClean="0">
                <a:solidFill>
                  <a:srgbClr val="0070C0"/>
                </a:solidFill>
                <a:latin typeface="思源黑体" panose="020B0500000000000000" pitchFamily="34" charset="-122"/>
                <a:ea typeface="思源黑体" panose="020B0500000000000000" pitchFamily="34" charset="-122"/>
              </a:rPr>
              <a:t>--</a:t>
            </a:r>
            <a:r>
              <a:rPr lang="zh-CN" altLang="en-US" sz="2400" b="1" dirty="0" smtClean="0">
                <a:solidFill>
                  <a:srgbClr val="0070C0"/>
                </a:solidFill>
                <a:latin typeface="思源黑体" panose="020B0500000000000000" pitchFamily="34" charset="-122"/>
                <a:ea typeface="思源黑体" panose="020B0500000000000000" pitchFamily="34" charset="-122"/>
              </a:rPr>
              <a:t>根据</a:t>
            </a:r>
            <a:r>
              <a:rPr lang="en-US" altLang="zh-CN" sz="2400" b="1" dirty="0" smtClean="0">
                <a:solidFill>
                  <a:srgbClr val="0070C0"/>
                </a:solidFill>
                <a:latin typeface="思源黑体" panose="020B0500000000000000" pitchFamily="34" charset="-122"/>
                <a:ea typeface="思源黑体" panose="020B0500000000000000" pitchFamily="34" charset="-122"/>
              </a:rPr>
              <a:t>MAC</a:t>
            </a:r>
            <a:r>
              <a:rPr lang="zh-CN" altLang="en-US" sz="2400" b="1" dirty="0" smtClean="0">
                <a:solidFill>
                  <a:srgbClr val="0070C0"/>
                </a:solidFill>
                <a:latin typeface="思源黑体" panose="020B0500000000000000" pitchFamily="34" charset="-122"/>
                <a:ea typeface="思源黑体" panose="020B0500000000000000" pitchFamily="34" charset="-122"/>
              </a:rPr>
              <a:t>地址过滤数据包</a:t>
            </a:r>
          </a:p>
        </p:txBody>
      </p:sp>
      <p:pic>
        <p:nvPicPr>
          <p:cNvPr id="7" name="Picture 2" descr="C:\Users\mibin\AppData\Local\Temp\企业微信截图_17393324473204.png"/>
          <p:cNvPicPr>
            <a:picLocks noChangeAspect="1" noChangeArrowheads="1"/>
          </p:cNvPicPr>
          <p:nvPr/>
        </p:nvPicPr>
        <p:blipFill>
          <a:blip r:embed="rId2" cstate="print"/>
          <a:srcRect/>
          <a:stretch>
            <a:fillRect/>
          </a:stretch>
        </p:blipFill>
        <p:spPr bwMode="auto">
          <a:xfrm>
            <a:off x="1076327" y="1777044"/>
            <a:ext cx="8859228" cy="2232248"/>
          </a:xfrm>
          <a:prstGeom prst="rect">
            <a:avLst/>
          </a:prstGeom>
          <a:noFill/>
        </p:spPr>
      </p:pic>
      <p:sp>
        <p:nvSpPr>
          <p:cNvPr id="8" name="Rectangle 3"/>
          <p:cNvSpPr>
            <a:spLocks noChangeArrowheads="1"/>
          </p:cNvSpPr>
          <p:nvPr/>
        </p:nvSpPr>
        <p:spPr bwMode="auto">
          <a:xfrm>
            <a:off x="2220996" y="4595753"/>
            <a:ext cx="5794150" cy="646331"/>
          </a:xfrm>
          <a:prstGeom prst="rect">
            <a:avLst/>
          </a:prstGeom>
          <a:noFill/>
          <a:ln w="9525">
            <a:noFill/>
            <a:miter lim="800000"/>
            <a:headEnd/>
            <a:tailEnd/>
          </a:ln>
          <a:effectLst/>
        </p:spPr>
        <p:txBody>
          <a:bodyPr vert="horz" wrap="none" lIns="0" tIns="0" rIns="0" bIns="0" numCol="1" anchor="ctr" anchorCtr="0" compatLnSpc="1">
            <a:prstTxWarp prst="textNoShape">
              <a:avLst/>
            </a:prstTxWarp>
            <a:spAutoFit/>
          </a:bodyPr>
          <a:lstStyle/>
          <a:p>
            <a:pPr fontAlgn="base">
              <a:spcBef>
                <a:spcPct val="0"/>
              </a:spcBef>
              <a:spcAft>
                <a:spcPct val="0"/>
              </a:spcAft>
            </a:pPr>
            <a:r>
              <a:rPr lang="zh-CN" altLang="en-US" sz="1400" dirty="0" smtClean="0">
                <a:latin typeface="思源黑体" panose="020B0500000000000000" pitchFamily="34" charset="-122"/>
                <a:ea typeface="思源黑体" panose="020B0500000000000000" pitchFamily="34" charset="-122"/>
              </a:rPr>
              <a:t>另一种工具：</a:t>
            </a:r>
            <a:endParaRPr lang="en-US" altLang="zh-CN" sz="1400" dirty="0" smtClean="0">
              <a:latin typeface="思源黑体" panose="020B0500000000000000" pitchFamily="34" charset="-122"/>
              <a:ea typeface="思源黑体" panose="020B0500000000000000" pitchFamily="34" charset="-122"/>
            </a:endParaRPr>
          </a:p>
          <a:p>
            <a:pPr fontAlgn="base">
              <a:spcBef>
                <a:spcPct val="0"/>
              </a:spcBef>
              <a:spcAft>
                <a:spcPct val="0"/>
              </a:spcAft>
            </a:pPr>
            <a:r>
              <a:rPr lang="zh-CN" altLang="en-US" sz="1400" dirty="0" smtClean="0">
                <a:latin typeface="思源黑体" panose="020B0500000000000000" pitchFamily="34" charset="-122"/>
                <a:ea typeface="思源黑体" panose="020B0500000000000000" pitchFamily="34" charset="-122"/>
              </a:rPr>
              <a:t>        </a:t>
            </a:r>
            <a:r>
              <a:rPr lang="zh-CN" altLang="zh-CN" sz="1400" dirty="0" smtClean="0">
                <a:latin typeface="思源黑体" panose="020B0500000000000000" pitchFamily="34" charset="-122"/>
                <a:ea typeface="思源黑体" panose="020B0500000000000000" pitchFamily="34" charset="-122"/>
              </a:rPr>
              <a:t>arptables -A INPUT --source-mac 00:1A:2B:3C:4D:5E -j ACCEPT</a:t>
            </a:r>
            <a:endParaRPr lang="en-US" altLang="zh-CN" sz="1400" dirty="0" smtClean="0">
              <a:latin typeface="思源黑体" panose="020B0500000000000000" pitchFamily="34" charset="-122"/>
              <a:ea typeface="思源黑体" panose="020B0500000000000000" pitchFamily="34" charset="-122"/>
            </a:endParaRPr>
          </a:p>
          <a:p>
            <a:pPr fontAlgn="base">
              <a:spcBef>
                <a:spcPct val="0"/>
              </a:spcBef>
              <a:spcAft>
                <a:spcPct val="0"/>
              </a:spcAft>
            </a:pPr>
            <a:r>
              <a:rPr lang="zh-CN" altLang="en-US" sz="1400" dirty="0" smtClean="0">
                <a:latin typeface="思源黑体" panose="020B0500000000000000" pitchFamily="34" charset="-122"/>
                <a:ea typeface="思源黑体" panose="020B0500000000000000" pitchFamily="34" charset="-122"/>
              </a:rPr>
              <a:t>        </a:t>
            </a:r>
            <a:r>
              <a:rPr lang="en-US" altLang="zh-CN" sz="1400" dirty="0" err="1" smtClean="0">
                <a:latin typeface="思源黑体" panose="020B0500000000000000" pitchFamily="34" charset="-122"/>
                <a:ea typeface="思源黑体" panose="020B0500000000000000" pitchFamily="34" charset="-122"/>
              </a:rPr>
              <a:t>arptables</a:t>
            </a:r>
            <a:r>
              <a:rPr lang="en-US" altLang="zh-CN" sz="1400" dirty="0" smtClean="0">
                <a:latin typeface="思源黑体" panose="020B0500000000000000" pitchFamily="34" charset="-122"/>
                <a:ea typeface="思源黑体" panose="020B0500000000000000" pitchFamily="34" charset="-122"/>
              </a:rPr>
              <a:t> -A INPUT -j DROP</a:t>
            </a:r>
            <a:r>
              <a:rPr lang="zh-CN" altLang="zh-CN" sz="1400" dirty="0" smtClean="0">
                <a:latin typeface="思源黑体" panose="020B0500000000000000" pitchFamily="34" charset="-122"/>
                <a:ea typeface="思源黑体" panose="020B0500000000000000" pitchFamily="34" charset="-122"/>
              </a:rPr>
              <a:t> </a:t>
            </a:r>
          </a:p>
        </p:txBody>
      </p:sp>
      <p:sp>
        <p:nvSpPr>
          <p:cNvPr id="9" name="Rectangle 3"/>
          <p:cNvSpPr>
            <a:spLocks noChangeArrowheads="1"/>
          </p:cNvSpPr>
          <p:nvPr/>
        </p:nvSpPr>
        <p:spPr bwMode="auto">
          <a:xfrm>
            <a:off x="1076327" y="1391162"/>
            <a:ext cx="1583190" cy="215444"/>
          </a:xfrm>
          <a:prstGeom prst="rect">
            <a:avLst/>
          </a:prstGeom>
          <a:noFill/>
          <a:ln w="9525">
            <a:noFill/>
            <a:miter lim="800000"/>
            <a:headEnd/>
            <a:tailEnd/>
          </a:ln>
          <a:effectLst/>
        </p:spPr>
        <p:txBody>
          <a:bodyPr vert="horz" wrap="non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sz="1400" dirty="0" smtClean="0">
                <a:latin typeface="思源黑体" panose="020B0500000000000000" pitchFamily="34" charset="-122"/>
                <a:ea typeface="思源黑体" panose="020B0500000000000000" pitchFamily="34" charset="-122"/>
              </a:rPr>
              <a:t>3YA</a:t>
            </a:r>
            <a:r>
              <a:rPr lang="zh-CN" altLang="en-US" sz="1400" dirty="0" smtClean="0">
                <a:latin typeface="思源黑体" panose="020B0500000000000000" pitchFamily="34" charset="-122"/>
                <a:ea typeface="思源黑体" panose="020B0500000000000000" pitchFamily="34" charset="-122"/>
              </a:rPr>
              <a:t>项目中的应用：</a:t>
            </a:r>
            <a:endParaRPr lang="zh-CN" altLang="zh-CN" sz="1400" dirty="0" smtClean="0">
              <a:latin typeface="思源黑体" panose="020B0500000000000000" pitchFamily="34" charset="-122"/>
              <a:ea typeface="思源黑体" panose="020B0500000000000000" pitchFamily="34" charset="-122"/>
            </a:endParaRPr>
          </a:p>
        </p:txBody>
      </p:sp>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a:spLocks noChangeArrowheads="1"/>
          </p:cNvSpPr>
          <p:nvPr/>
        </p:nvSpPr>
        <p:spPr bwMode="auto">
          <a:xfrm>
            <a:off x="0" y="212519"/>
            <a:ext cx="352425" cy="400050"/>
          </a:xfrm>
          <a:prstGeom prst="rect">
            <a:avLst/>
          </a:prstGeom>
          <a:solidFill>
            <a:srgbClr val="5B9BD5">
              <a:lumMod val="50000"/>
            </a:srgbClr>
          </a:solidFill>
          <a:ln w="9525">
            <a:noFill/>
            <a:miter lim="800000"/>
          </a:ln>
        </p:spPr>
        <p:txBody>
          <a:bodyPr anchor="ctr"/>
          <a:lstStyle/>
          <a:p>
            <a:pPr algn="ctr" fontAlgn="base">
              <a:spcBef>
                <a:spcPct val="0"/>
              </a:spcBef>
              <a:spcAft>
                <a:spcPct val="0"/>
              </a:spcAft>
              <a:buFont typeface="Arial" panose="020B0604020202020204" pitchFamily="34" charset="0"/>
              <a:buNone/>
              <a:defRPr/>
            </a:pPr>
            <a:endParaRPr lang="zh-CN" altLang="en-US" kern="0">
              <a:solidFill>
                <a:srgbClr val="1F4E79"/>
              </a:solidFill>
              <a:latin typeface="黑体" panose="02010609060101010101" charset="-122"/>
              <a:ea typeface="黑体" panose="02010609060101010101" charset="-122"/>
            </a:endParaRPr>
          </a:p>
        </p:txBody>
      </p:sp>
      <p:sp>
        <p:nvSpPr>
          <p:cNvPr id="17" name="矩形 16"/>
          <p:cNvSpPr>
            <a:spLocks noChangeArrowheads="1"/>
          </p:cNvSpPr>
          <p:nvPr/>
        </p:nvSpPr>
        <p:spPr bwMode="auto">
          <a:xfrm>
            <a:off x="419100" y="212519"/>
            <a:ext cx="123825" cy="400050"/>
          </a:xfrm>
          <a:prstGeom prst="rect">
            <a:avLst/>
          </a:prstGeom>
          <a:solidFill>
            <a:srgbClr val="7F7F7F"/>
          </a:solidFill>
          <a:ln w="9525">
            <a:noFill/>
            <a:miter lim="800000"/>
          </a:ln>
        </p:spPr>
        <p:txBody>
          <a:bodyPr anchor="ctr"/>
          <a:lstStyle/>
          <a:p>
            <a:pPr algn="ctr" fontAlgn="base">
              <a:spcBef>
                <a:spcPct val="0"/>
              </a:spcBef>
              <a:spcAft>
                <a:spcPct val="0"/>
              </a:spcAft>
              <a:buFont typeface="Arial" panose="020B0604020202020204" pitchFamily="34" charset="0"/>
              <a:buNone/>
            </a:pPr>
            <a:endParaRPr lang="zh-CN" altLang="en-US">
              <a:solidFill>
                <a:srgbClr val="1F4E79"/>
              </a:solidFill>
              <a:latin typeface="黑体" panose="02010609060101010101" charset="-122"/>
              <a:ea typeface="黑体" panose="02010609060101010101" charset="-122"/>
            </a:endParaRPr>
          </a:p>
        </p:txBody>
      </p:sp>
      <p:sp>
        <p:nvSpPr>
          <p:cNvPr id="21" name="标题 1"/>
          <p:cNvSpPr txBox="1"/>
          <p:nvPr/>
        </p:nvSpPr>
        <p:spPr>
          <a:xfrm>
            <a:off x="609600" y="224766"/>
            <a:ext cx="9710057" cy="375557"/>
          </a:xfrm>
          <a:prstGeom prst="rect">
            <a:avLst/>
          </a:prstGeom>
        </p:spPr>
        <p:txBody>
          <a:bodyPr anchor="ctr"/>
          <a:lstStyle>
            <a:lvl1pPr algn="l" rtl="0" eaLnBrk="0" fontAlgn="base" hangingPunct="0">
              <a:spcBef>
                <a:spcPct val="0"/>
              </a:spcBef>
              <a:spcAft>
                <a:spcPct val="0"/>
              </a:spcAft>
              <a:defRPr sz="2800" b="1" kern="1200">
                <a:solidFill>
                  <a:srgbClr val="1F4E79"/>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r>
              <a:rPr lang="en-US" altLang="zh-CN" sz="2400" dirty="0" smtClean="0">
                <a:solidFill>
                  <a:srgbClr val="0070C0"/>
                </a:solidFill>
                <a:latin typeface="思源黑体" panose="020B0500000000000000" pitchFamily="34" charset="-122"/>
                <a:ea typeface="思源黑体" panose="020B0500000000000000" pitchFamily="34" charset="-122"/>
              </a:rPr>
              <a:t>2</a:t>
            </a:r>
            <a:r>
              <a:rPr lang="zh-CN" altLang="en-US" sz="2400" dirty="0" smtClean="0">
                <a:solidFill>
                  <a:srgbClr val="0070C0"/>
                </a:solidFill>
                <a:latin typeface="思源黑体" panose="020B0500000000000000" pitchFamily="34" charset="-122"/>
                <a:ea typeface="思源黑体" panose="020B0500000000000000" pitchFamily="34" charset="-122"/>
              </a:rPr>
              <a:t>、较特殊应用</a:t>
            </a:r>
            <a:r>
              <a:rPr lang="en-US" altLang="zh-CN" sz="2400" dirty="0" smtClean="0">
                <a:solidFill>
                  <a:srgbClr val="0070C0"/>
                </a:solidFill>
                <a:latin typeface="思源黑体" panose="020B0500000000000000" pitchFamily="34" charset="-122"/>
                <a:ea typeface="思源黑体" panose="020B0500000000000000" pitchFamily="34" charset="-122"/>
              </a:rPr>
              <a:t>--</a:t>
            </a:r>
            <a:r>
              <a:rPr lang="en-US" altLang="zh-CN" sz="2400" dirty="0" err="1" smtClean="0">
                <a:solidFill>
                  <a:srgbClr val="0070C0"/>
                </a:solidFill>
                <a:latin typeface="思源黑体" panose="020B0500000000000000" pitchFamily="34" charset="-122"/>
                <a:ea typeface="思源黑体" panose="020B0500000000000000" pitchFamily="34" charset="-122"/>
              </a:rPr>
              <a:t>dns</a:t>
            </a:r>
            <a:r>
              <a:rPr lang="zh-CN" altLang="en-US" sz="2400" dirty="0" smtClean="0">
                <a:solidFill>
                  <a:srgbClr val="0070C0"/>
                </a:solidFill>
                <a:latin typeface="思源黑体" panose="020B0500000000000000" pitchFamily="34" charset="-122"/>
                <a:ea typeface="思源黑体" panose="020B0500000000000000" pitchFamily="34" charset="-122"/>
              </a:rPr>
              <a:t>报文路由设置</a:t>
            </a:r>
            <a:endParaRPr lang="zh-CN" altLang="en-US" sz="2400" dirty="0">
              <a:solidFill>
                <a:srgbClr val="0070C0"/>
              </a:solidFill>
            </a:endParaRPr>
          </a:p>
        </p:txBody>
      </p:sp>
      <p:sp>
        <p:nvSpPr>
          <p:cNvPr id="6" name="文本框 5"/>
          <p:cNvSpPr txBox="1"/>
          <p:nvPr/>
        </p:nvSpPr>
        <p:spPr>
          <a:xfrm>
            <a:off x="1042737" y="1009857"/>
            <a:ext cx="8630652" cy="523220"/>
          </a:xfrm>
          <a:prstGeom prst="rect">
            <a:avLst/>
          </a:prstGeom>
          <a:noFill/>
        </p:spPr>
        <p:txBody>
          <a:bodyPr wrap="square" rtlCol="0">
            <a:spAutoFit/>
          </a:bodyPr>
          <a:lstStyle/>
          <a:p>
            <a:r>
              <a:rPr lang="zh-CN" altLang="en-US" sz="1400" dirty="0" smtClean="0">
                <a:latin typeface="思源黑体" panose="020B0500000000000000" pitchFamily="34" charset="-122"/>
                <a:ea typeface="思源黑体" panose="020B0500000000000000" pitchFamily="34" charset="-122"/>
              </a:rPr>
              <a:t>        这个应用的来源是通过</a:t>
            </a:r>
            <a:r>
              <a:rPr lang="en-US" altLang="zh-CN" sz="1400" dirty="0" err="1" smtClean="0">
                <a:latin typeface="思源黑体" panose="020B0500000000000000" pitchFamily="34" charset="-122"/>
                <a:ea typeface="思源黑体" panose="020B0500000000000000" pitchFamily="34" charset="-122"/>
              </a:rPr>
              <a:t>wifi</a:t>
            </a:r>
            <a:r>
              <a:rPr lang="zh-CN" altLang="en-US" sz="1400" dirty="0" smtClean="0">
                <a:latin typeface="思源黑体" panose="020B0500000000000000" pitchFamily="34" charset="-122"/>
                <a:ea typeface="思源黑体" panose="020B0500000000000000" pitchFamily="34" charset="-122"/>
              </a:rPr>
              <a:t>上网时，分配给</a:t>
            </a:r>
            <a:r>
              <a:rPr lang="en-US" altLang="zh-CN" sz="1400" dirty="0" smtClean="0">
                <a:latin typeface="思源黑体" panose="020B0500000000000000" pitchFamily="34" charset="-122"/>
                <a:ea typeface="思源黑体" panose="020B0500000000000000" pitchFamily="34" charset="-122"/>
              </a:rPr>
              <a:t>WLAN0</a:t>
            </a:r>
            <a:r>
              <a:rPr lang="zh-CN" altLang="en-US" sz="1400" dirty="0" smtClean="0">
                <a:latin typeface="思源黑体" panose="020B0500000000000000" pitchFamily="34" charset="-122"/>
                <a:ea typeface="思源黑体" panose="020B0500000000000000" pitchFamily="34" charset="-122"/>
              </a:rPr>
              <a:t>的</a:t>
            </a:r>
            <a:r>
              <a:rPr lang="en-US" altLang="zh-CN" sz="1400" dirty="0" smtClean="0">
                <a:latin typeface="思源黑体" panose="020B0500000000000000" pitchFamily="34" charset="-122"/>
                <a:ea typeface="思源黑体" panose="020B0500000000000000" pitchFamily="34" charset="-122"/>
              </a:rPr>
              <a:t>IP</a:t>
            </a:r>
            <a:r>
              <a:rPr lang="zh-CN" altLang="en-US" sz="1400" dirty="0" smtClean="0">
                <a:latin typeface="思源黑体" panose="020B0500000000000000" pitchFamily="34" charset="-122"/>
                <a:ea typeface="思源黑体" panose="020B0500000000000000" pitchFamily="34" charset="-122"/>
              </a:rPr>
              <a:t>地址与内部以太网</a:t>
            </a:r>
            <a:r>
              <a:rPr lang="zh-CN" altLang="en-US" sz="1400" dirty="0" smtClean="0">
                <a:latin typeface="思源黑体" panose="020B0500000000000000" pitchFamily="34" charset="-122"/>
                <a:ea typeface="思源黑体" panose="020B0500000000000000" pitchFamily="34" charset="-122"/>
              </a:rPr>
              <a:t>网</a:t>
            </a:r>
            <a:r>
              <a:rPr lang="zh-CN" altLang="en-US" sz="1400" dirty="0" smtClean="0">
                <a:latin typeface="思源黑体" panose="020B0500000000000000" pitchFamily="34" charset="-122"/>
                <a:ea typeface="思源黑体" panose="020B0500000000000000" pitchFamily="34" charset="-122"/>
              </a:rPr>
              <a:t>段冲突，</a:t>
            </a:r>
            <a:endParaRPr lang="en-US" altLang="zh-CN" sz="1400" dirty="0" smtClean="0">
              <a:latin typeface="思源黑体" panose="020B0500000000000000" pitchFamily="34" charset="-122"/>
              <a:ea typeface="思源黑体" panose="020B0500000000000000" pitchFamily="34" charset="-122"/>
            </a:endParaRPr>
          </a:p>
          <a:p>
            <a:r>
              <a:rPr lang="zh-CN" altLang="en-US" sz="1400" dirty="0" smtClean="0">
                <a:latin typeface="思源黑体" panose="020B0500000000000000" pitchFamily="34" charset="-122"/>
                <a:ea typeface="思源黑体" panose="020B0500000000000000" pitchFamily="34" charset="-122"/>
              </a:rPr>
              <a:t>甚至无线路由器的</a:t>
            </a:r>
            <a:r>
              <a:rPr lang="en-US" altLang="zh-CN" sz="1400" dirty="0" smtClean="0">
                <a:latin typeface="思源黑体" panose="020B0500000000000000" pitchFamily="34" charset="-122"/>
                <a:ea typeface="思源黑体" panose="020B0500000000000000" pitchFamily="34" charset="-122"/>
              </a:rPr>
              <a:t>IP</a:t>
            </a:r>
            <a:r>
              <a:rPr lang="zh-CN" altLang="en-US" sz="1400" dirty="0" smtClean="0">
                <a:latin typeface="思源黑体" panose="020B0500000000000000" pitchFamily="34" charset="-122"/>
                <a:ea typeface="思源黑体" panose="020B0500000000000000" pitchFamily="34" charset="-122"/>
              </a:rPr>
              <a:t>地址与车内</a:t>
            </a:r>
            <a:r>
              <a:rPr lang="en-US" altLang="zh-CN" sz="1400" dirty="0" smtClean="0">
                <a:latin typeface="思源黑体" panose="020B0500000000000000" pitchFamily="34" charset="-122"/>
                <a:ea typeface="思源黑体" panose="020B0500000000000000" pitchFamily="34" charset="-122"/>
              </a:rPr>
              <a:t>IP</a:t>
            </a:r>
            <a:r>
              <a:rPr lang="zh-CN" altLang="en-US" sz="1400" dirty="0" smtClean="0">
                <a:latin typeface="思源黑体" panose="020B0500000000000000" pitchFamily="34" charset="-122"/>
                <a:ea typeface="思源黑体" panose="020B0500000000000000" pitchFamily="34" charset="-122"/>
              </a:rPr>
              <a:t>重合，此场景下上网异常。对策如下：</a:t>
            </a:r>
            <a:endParaRPr lang="en-US" altLang="zh-CN" sz="1400" dirty="0" smtClean="0">
              <a:latin typeface="思源黑体" panose="020B0500000000000000" pitchFamily="34" charset="-122"/>
              <a:ea typeface="思源黑体" panose="020B0500000000000000" pitchFamily="34" charset="-122"/>
            </a:endParaRPr>
          </a:p>
        </p:txBody>
      </p:sp>
      <p:pic>
        <p:nvPicPr>
          <p:cNvPr id="8194" name="Picture 2" descr="C:\Users\mibin\AppData\Local\Temp\企业微信截图_17586320649729.png"/>
          <p:cNvPicPr>
            <a:picLocks noChangeAspect="1" noChangeArrowheads="1"/>
          </p:cNvPicPr>
          <p:nvPr/>
        </p:nvPicPr>
        <p:blipFill>
          <a:blip r:embed="rId2" cstate="print"/>
          <a:srcRect/>
          <a:stretch>
            <a:fillRect/>
          </a:stretch>
        </p:blipFill>
        <p:spPr bwMode="auto">
          <a:xfrm>
            <a:off x="1031107" y="2276737"/>
            <a:ext cx="9129702" cy="658968"/>
          </a:xfrm>
          <a:prstGeom prst="rect">
            <a:avLst/>
          </a:prstGeom>
          <a:noFill/>
        </p:spPr>
      </p:pic>
      <p:pic>
        <p:nvPicPr>
          <p:cNvPr id="8198" name="Picture 6" descr="C:\Users\mibin\AppData\Local\Temp\企业微信截图_17586321972693.png"/>
          <p:cNvPicPr>
            <a:picLocks noChangeAspect="1" noChangeArrowheads="1"/>
          </p:cNvPicPr>
          <p:nvPr/>
        </p:nvPicPr>
        <p:blipFill>
          <a:blip r:embed="rId3" cstate="print"/>
          <a:srcRect/>
          <a:stretch>
            <a:fillRect/>
          </a:stretch>
        </p:blipFill>
        <p:spPr bwMode="auto">
          <a:xfrm>
            <a:off x="1045452" y="3364130"/>
            <a:ext cx="6741912" cy="401754"/>
          </a:xfrm>
          <a:prstGeom prst="rect">
            <a:avLst/>
          </a:prstGeom>
          <a:noFill/>
        </p:spPr>
      </p:pic>
      <p:pic>
        <p:nvPicPr>
          <p:cNvPr id="8200" name="Picture 8" descr="C:\Users\mibin\AppData\Local\Temp\企业微信截图_17586323149461.png"/>
          <p:cNvPicPr>
            <a:picLocks noChangeAspect="1" noChangeArrowheads="1"/>
          </p:cNvPicPr>
          <p:nvPr/>
        </p:nvPicPr>
        <p:blipFill>
          <a:blip r:embed="rId4" cstate="print"/>
          <a:srcRect/>
          <a:stretch>
            <a:fillRect/>
          </a:stretch>
        </p:blipFill>
        <p:spPr bwMode="auto">
          <a:xfrm>
            <a:off x="1031106" y="4269998"/>
            <a:ext cx="6320190" cy="556271"/>
          </a:xfrm>
          <a:prstGeom prst="rect">
            <a:avLst/>
          </a:prstGeom>
          <a:noFill/>
        </p:spPr>
      </p:pic>
      <p:pic>
        <p:nvPicPr>
          <p:cNvPr id="8202" name="Picture 10" descr="C:\Users\mibin\AppData\Local\Temp\企业微信截图_17586323568121.png"/>
          <p:cNvPicPr>
            <a:picLocks noChangeAspect="1" noChangeArrowheads="1"/>
          </p:cNvPicPr>
          <p:nvPr/>
        </p:nvPicPr>
        <p:blipFill>
          <a:blip r:embed="rId5" cstate="print"/>
          <a:srcRect/>
          <a:stretch>
            <a:fillRect/>
          </a:stretch>
        </p:blipFill>
        <p:spPr bwMode="auto">
          <a:xfrm>
            <a:off x="1027867" y="4860483"/>
            <a:ext cx="9169304" cy="1371878"/>
          </a:xfrm>
          <a:prstGeom prst="rect">
            <a:avLst/>
          </a:prstGeom>
          <a:noFill/>
        </p:spPr>
      </p:pic>
      <p:sp>
        <p:nvSpPr>
          <p:cNvPr id="11" name="文本框 5"/>
          <p:cNvSpPr txBox="1"/>
          <p:nvPr/>
        </p:nvSpPr>
        <p:spPr>
          <a:xfrm>
            <a:off x="1002632" y="1920247"/>
            <a:ext cx="1677062" cy="307777"/>
          </a:xfrm>
          <a:prstGeom prst="rect">
            <a:avLst/>
          </a:prstGeom>
          <a:noFill/>
        </p:spPr>
        <p:txBody>
          <a:bodyPr wrap="none" rtlCol="0">
            <a:spAutoFit/>
          </a:bodyPr>
          <a:lstStyle/>
          <a:p>
            <a:r>
              <a:rPr lang="en-US" altLang="zh-CN" sz="1400" dirty="0" smtClean="0">
                <a:latin typeface="思源黑体" panose="020B0500000000000000" pitchFamily="34" charset="-122"/>
                <a:ea typeface="思源黑体" panose="020B0500000000000000" pitchFamily="34" charset="-122"/>
              </a:rPr>
              <a:t>1</a:t>
            </a:r>
            <a:r>
              <a:rPr lang="zh-CN" altLang="en-US" sz="1400" dirty="0" smtClean="0">
                <a:latin typeface="思源黑体" panose="020B0500000000000000" pitchFamily="34" charset="-122"/>
                <a:ea typeface="思源黑体" panose="020B0500000000000000" pitchFamily="34" charset="-122"/>
              </a:rPr>
              <a:t>、标记</a:t>
            </a:r>
            <a:r>
              <a:rPr lang="en-US" altLang="zh-CN" sz="1400" dirty="0" err="1" smtClean="0">
                <a:latin typeface="思源黑体" panose="020B0500000000000000" pitchFamily="34" charset="-122"/>
                <a:ea typeface="思源黑体" panose="020B0500000000000000" pitchFamily="34" charset="-122"/>
              </a:rPr>
              <a:t>dns</a:t>
            </a:r>
            <a:r>
              <a:rPr lang="zh-CN" altLang="en-US" sz="1400" dirty="0" smtClean="0">
                <a:latin typeface="思源黑体" panose="020B0500000000000000" pitchFamily="34" charset="-122"/>
                <a:ea typeface="思源黑体" panose="020B0500000000000000" pitchFamily="34" charset="-122"/>
              </a:rPr>
              <a:t>报文：</a:t>
            </a:r>
            <a:endParaRPr lang="en-US" altLang="zh-CN" sz="1400" dirty="0" smtClean="0">
              <a:latin typeface="思源黑体" panose="020B0500000000000000" pitchFamily="34" charset="-122"/>
              <a:ea typeface="思源黑体" panose="020B0500000000000000" pitchFamily="34" charset="-122"/>
            </a:endParaRPr>
          </a:p>
        </p:txBody>
      </p:sp>
      <p:sp>
        <p:nvSpPr>
          <p:cNvPr id="12" name="文本框 5"/>
          <p:cNvSpPr txBox="1"/>
          <p:nvPr/>
        </p:nvSpPr>
        <p:spPr>
          <a:xfrm>
            <a:off x="1022684" y="3071268"/>
            <a:ext cx="2265364" cy="307777"/>
          </a:xfrm>
          <a:prstGeom prst="rect">
            <a:avLst/>
          </a:prstGeom>
          <a:noFill/>
        </p:spPr>
        <p:txBody>
          <a:bodyPr wrap="none" rtlCol="0">
            <a:spAutoFit/>
          </a:bodyPr>
          <a:lstStyle/>
          <a:p>
            <a:r>
              <a:rPr lang="en-US" altLang="zh-CN" sz="1400" dirty="0" smtClean="0">
                <a:latin typeface="思源黑体" panose="020B0500000000000000" pitchFamily="34" charset="-122"/>
                <a:ea typeface="思源黑体" panose="020B0500000000000000" pitchFamily="34" charset="-122"/>
              </a:rPr>
              <a:t>2</a:t>
            </a:r>
            <a:r>
              <a:rPr lang="zh-CN" altLang="en-US" sz="1400" dirty="0" smtClean="0">
                <a:latin typeface="思源黑体" panose="020B0500000000000000" pitchFamily="34" charset="-122"/>
                <a:ea typeface="思源黑体" panose="020B0500000000000000" pitchFamily="34" charset="-122"/>
              </a:rPr>
              <a:t>、针对标记添加路由表：</a:t>
            </a:r>
            <a:endParaRPr lang="en-US" altLang="zh-CN" sz="1400" dirty="0" smtClean="0">
              <a:latin typeface="思源黑体" panose="020B0500000000000000" pitchFamily="34" charset="-122"/>
              <a:ea typeface="思源黑体" panose="020B0500000000000000" pitchFamily="34" charset="-122"/>
            </a:endParaRPr>
          </a:p>
        </p:txBody>
      </p:sp>
      <p:sp>
        <p:nvSpPr>
          <p:cNvPr id="13" name="文本框 5"/>
          <p:cNvSpPr txBox="1"/>
          <p:nvPr/>
        </p:nvSpPr>
        <p:spPr>
          <a:xfrm>
            <a:off x="1030706" y="3921500"/>
            <a:ext cx="2444900" cy="307777"/>
          </a:xfrm>
          <a:prstGeom prst="rect">
            <a:avLst/>
          </a:prstGeom>
          <a:noFill/>
        </p:spPr>
        <p:txBody>
          <a:bodyPr wrap="none" rtlCol="0">
            <a:spAutoFit/>
          </a:bodyPr>
          <a:lstStyle/>
          <a:p>
            <a:r>
              <a:rPr lang="en-US" altLang="zh-CN" sz="1400" dirty="0" smtClean="0">
                <a:latin typeface="思源黑体" panose="020B0500000000000000" pitchFamily="34" charset="-122"/>
                <a:ea typeface="思源黑体" panose="020B0500000000000000" pitchFamily="34" charset="-122"/>
              </a:rPr>
              <a:t>3</a:t>
            </a:r>
            <a:r>
              <a:rPr lang="zh-CN" altLang="en-US" sz="1400" dirty="0" smtClean="0">
                <a:latin typeface="思源黑体" panose="020B0500000000000000" pitchFamily="34" charset="-122"/>
                <a:ea typeface="思源黑体" panose="020B0500000000000000" pitchFamily="34" charset="-122"/>
              </a:rPr>
              <a:t>、根据上网方式设置路由：</a:t>
            </a:r>
            <a:endParaRPr lang="en-US" altLang="zh-CN" sz="1400" dirty="0" smtClean="0">
              <a:latin typeface="思源黑体" panose="020B0500000000000000" pitchFamily="34" charset="-122"/>
              <a:ea typeface="思源黑体" panose="020B0500000000000000" pitchFamily="34" charset="-122"/>
            </a:endParaRPr>
          </a:p>
        </p:txBody>
      </p:sp>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a:spLocks noChangeArrowheads="1"/>
          </p:cNvSpPr>
          <p:nvPr/>
        </p:nvSpPr>
        <p:spPr bwMode="auto">
          <a:xfrm>
            <a:off x="0" y="212519"/>
            <a:ext cx="352425" cy="400050"/>
          </a:xfrm>
          <a:prstGeom prst="rect">
            <a:avLst/>
          </a:prstGeom>
          <a:solidFill>
            <a:srgbClr val="5B9BD5">
              <a:lumMod val="50000"/>
            </a:srgbClr>
          </a:solidFill>
          <a:ln w="9525">
            <a:noFill/>
            <a:miter lim="800000"/>
          </a:ln>
        </p:spPr>
        <p:txBody>
          <a:bodyPr anchor="ctr"/>
          <a:lstStyle/>
          <a:p>
            <a:pPr algn="ctr" fontAlgn="base">
              <a:spcBef>
                <a:spcPct val="0"/>
              </a:spcBef>
              <a:spcAft>
                <a:spcPct val="0"/>
              </a:spcAft>
              <a:buFont typeface="Arial" panose="020B0604020202020204" pitchFamily="34" charset="0"/>
              <a:buNone/>
              <a:defRPr/>
            </a:pPr>
            <a:endParaRPr lang="zh-CN" altLang="en-US" kern="0">
              <a:solidFill>
                <a:srgbClr val="1F4E79"/>
              </a:solidFill>
              <a:latin typeface="黑体" panose="02010609060101010101" charset="-122"/>
              <a:ea typeface="黑体" panose="02010609060101010101" charset="-122"/>
            </a:endParaRPr>
          </a:p>
        </p:txBody>
      </p:sp>
      <p:sp>
        <p:nvSpPr>
          <p:cNvPr id="17" name="矩形 16"/>
          <p:cNvSpPr>
            <a:spLocks noChangeArrowheads="1"/>
          </p:cNvSpPr>
          <p:nvPr/>
        </p:nvSpPr>
        <p:spPr bwMode="auto">
          <a:xfrm>
            <a:off x="419100" y="212519"/>
            <a:ext cx="123825" cy="400050"/>
          </a:xfrm>
          <a:prstGeom prst="rect">
            <a:avLst/>
          </a:prstGeom>
          <a:solidFill>
            <a:srgbClr val="7F7F7F"/>
          </a:solidFill>
          <a:ln w="9525">
            <a:noFill/>
            <a:miter lim="800000"/>
          </a:ln>
        </p:spPr>
        <p:txBody>
          <a:bodyPr anchor="ctr"/>
          <a:lstStyle/>
          <a:p>
            <a:pPr algn="ctr" fontAlgn="base">
              <a:spcBef>
                <a:spcPct val="0"/>
              </a:spcBef>
              <a:spcAft>
                <a:spcPct val="0"/>
              </a:spcAft>
              <a:buFont typeface="Arial" panose="020B0604020202020204" pitchFamily="34" charset="0"/>
              <a:buNone/>
            </a:pPr>
            <a:endParaRPr lang="zh-CN" altLang="en-US">
              <a:solidFill>
                <a:srgbClr val="1F4E79"/>
              </a:solidFill>
              <a:latin typeface="黑体" panose="02010609060101010101" charset="-122"/>
              <a:ea typeface="黑体" panose="02010609060101010101" charset="-122"/>
            </a:endParaRPr>
          </a:p>
        </p:txBody>
      </p:sp>
      <p:sp>
        <p:nvSpPr>
          <p:cNvPr id="21" name="标题 1"/>
          <p:cNvSpPr txBox="1"/>
          <p:nvPr/>
        </p:nvSpPr>
        <p:spPr>
          <a:xfrm>
            <a:off x="609600" y="224766"/>
            <a:ext cx="9710057" cy="375557"/>
          </a:xfrm>
          <a:prstGeom prst="rect">
            <a:avLst/>
          </a:prstGeom>
        </p:spPr>
        <p:txBody>
          <a:bodyPr anchor="ctr"/>
          <a:lstStyle>
            <a:lvl1pPr algn="l" rtl="0" eaLnBrk="0" fontAlgn="base" hangingPunct="0">
              <a:spcBef>
                <a:spcPct val="0"/>
              </a:spcBef>
              <a:spcAft>
                <a:spcPct val="0"/>
              </a:spcAft>
              <a:defRPr sz="2800" b="1" kern="1200">
                <a:solidFill>
                  <a:srgbClr val="1F4E79"/>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0" lvl="1" algn="l"/>
            <a:r>
              <a:rPr lang="en-US" altLang="zh-CN" sz="2400" b="1" dirty="0" smtClean="0">
                <a:solidFill>
                  <a:srgbClr val="0070C0"/>
                </a:solidFill>
                <a:latin typeface="思源黑体" panose="020B0500000000000000" pitchFamily="34" charset="-122"/>
                <a:ea typeface="思源黑体" panose="020B0500000000000000" pitchFamily="34" charset="-122"/>
              </a:rPr>
              <a:t>4</a:t>
            </a:r>
            <a:r>
              <a:rPr lang="zh-CN" altLang="en-US" sz="2400" b="1" dirty="0" smtClean="0">
                <a:solidFill>
                  <a:srgbClr val="0070C0"/>
                </a:solidFill>
                <a:latin typeface="思源黑体" panose="020B0500000000000000" pitchFamily="34" charset="-122"/>
                <a:ea typeface="思源黑体" panose="020B0500000000000000" pitchFamily="34" charset="-122"/>
              </a:rPr>
              <a:t>、拓展思考</a:t>
            </a:r>
            <a:r>
              <a:rPr lang="en-US" altLang="zh-CN" sz="2400" b="1" dirty="0" smtClean="0">
                <a:solidFill>
                  <a:srgbClr val="0070C0"/>
                </a:solidFill>
                <a:latin typeface="思源黑体" panose="020B0500000000000000" pitchFamily="34" charset="-122"/>
                <a:ea typeface="思源黑体" panose="020B0500000000000000" pitchFamily="34" charset="-122"/>
              </a:rPr>
              <a:t>1</a:t>
            </a:r>
            <a:r>
              <a:rPr lang="zh-CN" altLang="en-US" sz="2400" b="1" dirty="0" smtClean="0">
                <a:solidFill>
                  <a:srgbClr val="0070C0"/>
                </a:solidFill>
                <a:latin typeface="思源黑体" panose="020B0500000000000000" pitchFamily="34" charset="-122"/>
                <a:ea typeface="思源黑体" panose="020B0500000000000000" pitchFamily="34" charset="-122"/>
              </a:rPr>
              <a:t>：</a:t>
            </a:r>
            <a:r>
              <a:rPr lang="en-US" altLang="zh-CN" sz="2400" b="1" dirty="0" err="1" smtClean="0">
                <a:solidFill>
                  <a:srgbClr val="0070C0"/>
                </a:solidFill>
                <a:latin typeface="思源黑体" panose="020B0500000000000000" pitchFamily="34" charset="-122"/>
                <a:ea typeface="思源黑体" panose="020B0500000000000000" pitchFamily="34" charset="-122"/>
              </a:rPr>
              <a:t>tcpdump</a:t>
            </a:r>
            <a:r>
              <a:rPr lang="zh-CN" altLang="en-US" sz="2400" b="1" dirty="0" smtClean="0">
                <a:solidFill>
                  <a:srgbClr val="0070C0"/>
                </a:solidFill>
                <a:latin typeface="思源黑体" panose="020B0500000000000000" pitchFamily="34" charset="-122"/>
                <a:ea typeface="思源黑体" panose="020B0500000000000000" pitchFamily="34" charset="-122"/>
              </a:rPr>
              <a:t>能抓到被</a:t>
            </a:r>
            <a:r>
              <a:rPr lang="en-US" altLang="zh-CN" sz="2400" b="1" dirty="0" err="1" smtClean="0">
                <a:solidFill>
                  <a:srgbClr val="0070C0"/>
                </a:solidFill>
                <a:latin typeface="思源黑体" panose="020B0500000000000000" pitchFamily="34" charset="-122"/>
                <a:ea typeface="思源黑体" panose="020B0500000000000000" pitchFamily="34" charset="-122"/>
              </a:rPr>
              <a:t>Iptables</a:t>
            </a:r>
            <a:r>
              <a:rPr lang="en-US" altLang="zh-CN" sz="2400" b="1" dirty="0" smtClean="0">
                <a:solidFill>
                  <a:srgbClr val="0070C0"/>
                </a:solidFill>
                <a:latin typeface="思源黑体" panose="020B0500000000000000" pitchFamily="34" charset="-122"/>
                <a:ea typeface="思源黑体" panose="020B0500000000000000" pitchFamily="34" charset="-122"/>
              </a:rPr>
              <a:t> DROP</a:t>
            </a:r>
            <a:r>
              <a:rPr lang="zh-CN" altLang="en-US" sz="2400" b="1" dirty="0" smtClean="0">
                <a:solidFill>
                  <a:srgbClr val="0070C0"/>
                </a:solidFill>
                <a:latin typeface="思源黑体" panose="020B0500000000000000" pitchFamily="34" charset="-122"/>
                <a:ea typeface="思源黑体" panose="020B0500000000000000" pitchFamily="34" charset="-122"/>
              </a:rPr>
              <a:t>掉的包吗</a:t>
            </a:r>
            <a:endParaRPr lang="en-US" altLang="zh-CN" sz="2400" b="1" dirty="0" smtClean="0">
              <a:solidFill>
                <a:srgbClr val="0070C0"/>
              </a:solidFill>
              <a:latin typeface="思源黑体" panose="020B0500000000000000" pitchFamily="34" charset="-122"/>
              <a:ea typeface="思源黑体" panose="020B0500000000000000" pitchFamily="34" charset="-122"/>
            </a:endParaRPr>
          </a:p>
        </p:txBody>
      </p:sp>
      <p:pic>
        <p:nvPicPr>
          <p:cNvPr id="7" name="Picture 2" descr="请输入图片描述"/>
          <p:cNvPicPr>
            <a:picLocks noChangeAspect="1" noChangeArrowheads="1"/>
          </p:cNvPicPr>
          <p:nvPr/>
        </p:nvPicPr>
        <p:blipFill>
          <a:blip r:embed="rId2" cstate="print"/>
          <a:srcRect/>
          <a:stretch>
            <a:fillRect/>
          </a:stretch>
        </p:blipFill>
        <p:spPr bwMode="auto">
          <a:xfrm>
            <a:off x="1826154" y="1013919"/>
            <a:ext cx="7915721" cy="5465277"/>
          </a:xfrm>
          <a:prstGeom prst="rect">
            <a:avLst/>
          </a:prstGeom>
          <a:noFill/>
        </p:spPr>
      </p:pic>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a:spLocks noChangeArrowheads="1"/>
          </p:cNvSpPr>
          <p:nvPr/>
        </p:nvSpPr>
        <p:spPr bwMode="auto">
          <a:xfrm>
            <a:off x="0" y="212519"/>
            <a:ext cx="352425" cy="400050"/>
          </a:xfrm>
          <a:prstGeom prst="rect">
            <a:avLst/>
          </a:prstGeom>
          <a:solidFill>
            <a:srgbClr val="5B9BD5">
              <a:lumMod val="50000"/>
            </a:srgbClr>
          </a:solidFill>
          <a:ln w="9525">
            <a:noFill/>
            <a:miter lim="800000"/>
          </a:ln>
        </p:spPr>
        <p:txBody>
          <a:bodyPr anchor="ctr"/>
          <a:lstStyle/>
          <a:p>
            <a:pPr algn="ctr" fontAlgn="base">
              <a:spcBef>
                <a:spcPct val="0"/>
              </a:spcBef>
              <a:spcAft>
                <a:spcPct val="0"/>
              </a:spcAft>
              <a:buFont typeface="Arial" panose="020B0604020202020204" pitchFamily="34" charset="0"/>
              <a:buNone/>
              <a:defRPr/>
            </a:pPr>
            <a:endParaRPr lang="zh-CN" altLang="en-US" kern="0">
              <a:solidFill>
                <a:srgbClr val="1F4E79"/>
              </a:solidFill>
              <a:latin typeface="黑体" panose="02010609060101010101" charset="-122"/>
              <a:ea typeface="黑体" panose="02010609060101010101" charset="-122"/>
            </a:endParaRPr>
          </a:p>
        </p:txBody>
      </p:sp>
      <p:sp>
        <p:nvSpPr>
          <p:cNvPr id="17" name="矩形 16"/>
          <p:cNvSpPr>
            <a:spLocks noChangeArrowheads="1"/>
          </p:cNvSpPr>
          <p:nvPr/>
        </p:nvSpPr>
        <p:spPr bwMode="auto">
          <a:xfrm>
            <a:off x="419100" y="212519"/>
            <a:ext cx="123825" cy="400050"/>
          </a:xfrm>
          <a:prstGeom prst="rect">
            <a:avLst/>
          </a:prstGeom>
          <a:solidFill>
            <a:srgbClr val="7F7F7F"/>
          </a:solidFill>
          <a:ln w="9525">
            <a:noFill/>
            <a:miter lim="800000"/>
          </a:ln>
        </p:spPr>
        <p:txBody>
          <a:bodyPr anchor="ctr"/>
          <a:lstStyle/>
          <a:p>
            <a:pPr algn="ctr" fontAlgn="base">
              <a:spcBef>
                <a:spcPct val="0"/>
              </a:spcBef>
              <a:spcAft>
                <a:spcPct val="0"/>
              </a:spcAft>
              <a:buFont typeface="Arial" panose="020B0604020202020204" pitchFamily="34" charset="0"/>
              <a:buNone/>
            </a:pPr>
            <a:endParaRPr lang="zh-CN" altLang="en-US">
              <a:solidFill>
                <a:srgbClr val="1F4E79"/>
              </a:solidFill>
              <a:latin typeface="黑体" panose="02010609060101010101" charset="-122"/>
              <a:ea typeface="黑体" panose="02010609060101010101" charset="-122"/>
            </a:endParaRPr>
          </a:p>
        </p:txBody>
      </p:sp>
      <p:sp>
        <p:nvSpPr>
          <p:cNvPr id="21" name="标题 1"/>
          <p:cNvSpPr txBox="1"/>
          <p:nvPr/>
        </p:nvSpPr>
        <p:spPr>
          <a:xfrm>
            <a:off x="609600" y="224766"/>
            <a:ext cx="9710057" cy="375557"/>
          </a:xfrm>
          <a:prstGeom prst="rect">
            <a:avLst/>
          </a:prstGeom>
        </p:spPr>
        <p:txBody>
          <a:bodyPr anchor="ctr"/>
          <a:lstStyle>
            <a:lvl1pPr algn="l" rtl="0" eaLnBrk="0" fontAlgn="base" hangingPunct="0">
              <a:spcBef>
                <a:spcPct val="0"/>
              </a:spcBef>
              <a:spcAft>
                <a:spcPct val="0"/>
              </a:spcAft>
              <a:defRPr sz="2800" b="1" kern="1200">
                <a:solidFill>
                  <a:srgbClr val="1F4E79"/>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0" lvl="1" algn="l"/>
            <a:r>
              <a:rPr lang="en-US" altLang="zh-CN" sz="2400" b="1" dirty="0" smtClean="0">
                <a:solidFill>
                  <a:srgbClr val="0070C0"/>
                </a:solidFill>
                <a:latin typeface="思源黑体" panose="020B0500000000000000" pitchFamily="34" charset="-122"/>
                <a:ea typeface="思源黑体" panose="020B0500000000000000" pitchFamily="34" charset="-122"/>
              </a:rPr>
              <a:t>4</a:t>
            </a:r>
            <a:r>
              <a:rPr lang="zh-CN" altLang="en-US" sz="2400" b="1" dirty="0" smtClean="0">
                <a:solidFill>
                  <a:srgbClr val="0070C0"/>
                </a:solidFill>
                <a:latin typeface="思源黑体" panose="020B0500000000000000" pitchFamily="34" charset="-122"/>
                <a:ea typeface="思源黑体" panose="020B0500000000000000" pitchFamily="34" charset="-122"/>
              </a:rPr>
              <a:t>、拓展思考</a:t>
            </a:r>
            <a:r>
              <a:rPr lang="en-US" altLang="zh-CN" sz="2400" b="1" dirty="0" smtClean="0">
                <a:solidFill>
                  <a:srgbClr val="0070C0"/>
                </a:solidFill>
                <a:latin typeface="思源黑体" panose="020B0500000000000000" pitchFamily="34" charset="-122"/>
                <a:ea typeface="思源黑体" panose="020B0500000000000000" pitchFamily="34" charset="-122"/>
              </a:rPr>
              <a:t>2</a:t>
            </a:r>
            <a:r>
              <a:rPr lang="zh-CN" altLang="en-US" sz="2400" b="1" dirty="0" smtClean="0">
                <a:solidFill>
                  <a:srgbClr val="0070C0"/>
                </a:solidFill>
                <a:latin typeface="思源黑体" panose="020B0500000000000000" pitchFamily="34" charset="-122"/>
                <a:ea typeface="思源黑体" panose="020B0500000000000000" pitchFamily="34" charset="-122"/>
              </a:rPr>
              <a:t>：丢包了？</a:t>
            </a:r>
            <a:endParaRPr lang="zh-CN" altLang="en-US" sz="2400" b="1" dirty="0">
              <a:solidFill>
                <a:srgbClr val="0070C0"/>
              </a:solidFill>
            </a:endParaRPr>
          </a:p>
        </p:txBody>
      </p:sp>
      <p:sp>
        <p:nvSpPr>
          <p:cNvPr id="7" name="矩形 6"/>
          <p:cNvSpPr/>
          <p:nvPr/>
        </p:nvSpPr>
        <p:spPr>
          <a:xfrm>
            <a:off x="7491047" y="3371688"/>
            <a:ext cx="4360984" cy="1815882"/>
          </a:xfrm>
          <a:prstGeom prst="rect">
            <a:avLst/>
          </a:prstGeom>
        </p:spPr>
        <p:txBody>
          <a:bodyPr wrap="square">
            <a:spAutoFit/>
          </a:bodyPr>
          <a:lstStyle/>
          <a:p>
            <a:r>
              <a:rPr lang="en-US" altLang="zh-CN" sz="1400" dirty="0" err="1" smtClean="0">
                <a:latin typeface="思源黑体" panose="020B0500000000000000" pitchFamily="34" charset="-122"/>
                <a:ea typeface="思源黑体" panose="020B0500000000000000" pitchFamily="34" charset="-122"/>
              </a:rPr>
              <a:t>Iptables</a:t>
            </a:r>
            <a:r>
              <a:rPr lang="zh-CN" altLang="en-US" sz="1400" dirty="0" smtClean="0">
                <a:latin typeface="思源黑体" panose="020B0500000000000000" pitchFamily="34" charset="-122"/>
                <a:ea typeface="思源黑体" panose="020B0500000000000000" pitchFamily="34" charset="-122"/>
              </a:rPr>
              <a:t>的限速设置：</a:t>
            </a:r>
            <a:endParaRPr lang="en-US" altLang="zh-CN" sz="1400" dirty="0" smtClean="0">
              <a:latin typeface="思源黑体" panose="020B0500000000000000" pitchFamily="34" charset="-122"/>
              <a:ea typeface="思源黑体" panose="020B0500000000000000" pitchFamily="34" charset="-122"/>
            </a:endParaRPr>
          </a:p>
          <a:p>
            <a:r>
              <a:rPr lang="en-US" altLang="zh-CN" sz="1400" dirty="0" smtClean="0">
                <a:latin typeface="思源黑体" panose="020B0500000000000000" pitchFamily="34" charset="-122"/>
                <a:ea typeface="思源黑体" panose="020B0500000000000000" pitchFamily="34" charset="-122"/>
              </a:rPr>
              <a:t>/system/bin/</a:t>
            </a:r>
            <a:r>
              <a:rPr lang="en-US" altLang="zh-CN" sz="1400" dirty="0" err="1" smtClean="0">
                <a:latin typeface="思源黑体" panose="020B0500000000000000" pitchFamily="34" charset="-122"/>
                <a:ea typeface="思源黑体" panose="020B0500000000000000" pitchFamily="34" charset="-122"/>
              </a:rPr>
              <a:t>iptables</a:t>
            </a:r>
            <a:r>
              <a:rPr lang="en-US" altLang="zh-CN" sz="1400" dirty="0" smtClean="0">
                <a:latin typeface="思源黑体" panose="020B0500000000000000" pitchFamily="34" charset="-122"/>
                <a:ea typeface="思源黑体" panose="020B0500000000000000" pitchFamily="34" charset="-122"/>
              </a:rPr>
              <a:t> -A </a:t>
            </a:r>
            <a:r>
              <a:rPr lang="en-US" altLang="zh-CN" sz="1400" dirty="0" err="1" smtClean="0">
                <a:latin typeface="思源黑体" panose="020B0500000000000000" pitchFamily="34" charset="-122"/>
                <a:ea typeface="思源黑体" panose="020B0500000000000000" pitchFamily="34" charset="-122"/>
              </a:rPr>
              <a:t>dos_filter_input_forward</a:t>
            </a:r>
            <a:r>
              <a:rPr lang="en-US" altLang="zh-CN" sz="1400" dirty="0" smtClean="0">
                <a:latin typeface="思源黑体" panose="020B0500000000000000" pitchFamily="34" charset="-122"/>
                <a:ea typeface="思源黑体" panose="020B0500000000000000" pitchFamily="34" charset="-122"/>
              </a:rPr>
              <a:t> -m limit --limit-burst 1000 --limit 1000/second -j ACCEPT</a:t>
            </a:r>
          </a:p>
          <a:p>
            <a:r>
              <a:rPr lang="en-US" altLang="zh-CN" sz="1400" dirty="0" smtClean="0">
                <a:latin typeface="思源黑体" panose="020B0500000000000000" pitchFamily="34" charset="-122"/>
                <a:ea typeface="思源黑体" panose="020B0500000000000000" pitchFamily="34" charset="-122"/>
              </a:rPr>
              <a:t>……</a:t>
            </a:r>
          </a:p>
          <a:p>
            <a:r>
              <a:rPr lang="en-US" altLang="zh-CN" sz="1400" dirty="0" smtClean="0">
                <a:latin typeface="思源黑体" panose="020B0500000000000000" pitchFamily="34" charset="-122"/>
                <a:ea typeface="思源黑体" panose="020B0500000000000000" pitchFamily="34" charset="-122"/>
              </a:rPr>
              <a:t>/system/bin/</a:t>
            </a:r>
            <a:r>
              <a:rPr lang="en-US" altLang="zh-CN" sz="1400" dirty="0" err="1" smtClean="0">
                <a:latin typeface="思源黑体" panose="020B0500000000000000" pitchFamily="34" charset="-122"/>
                <a:ea typeface="思源黑体" panose="020B0500000000000000" pitchFamily="34" charset="-122"/>
              </a:rPr>
              <a:t>iptables</a:t>
            </a:r>
            <a:r>
              <a:rPr lang="en-US" altLang="zh-CN" sz="1400" dirty="0" smtClean="0">
                <a:latin typeface="思源黑体" panose="020B0500000000000000" pitchFamily="34" charset="-122"/>
                <a:ea typeface="思源黑体" panose="020B0500000000000000" pitchFamily="34" charset="-122"/>
              </a:rPr>
              <a:t> -A </a:t>
            </a:r>
            <a:r>
              <a:rPr lang="en-US" altLang="zh-CN" sz="1400" dirty="0" err="1" smtClean="0">
                <a:latin typeface="思源黑体" panose="020B0500000000000000" pitchFamily="34" charset="-122"/>
                <a:ea typeface="思源黑体" panose="020B0500000000000000" pitchFamily="34" charset="-122"/>
              </a:rPr>
              <a:t>dos_filter_output</a:t>
            </a:r>
            <a:r>
              <a:rPr lang="en-US" altLang="zh-CN" sz="1400" dirty="0" smtClean="0">
                <a:latin typeface="思源黑体" panose="020B0500000000000000" pitchFamily="34" charset="-122"/>
                <a:ea typeface="思源黑体" panose="020B0500000000000000" pitchFamily="34" charset="-122"/>
              </a:rPr>
              <a:t> -m limit --limit-burst 1000 --limit 1000/second -j ACCEPT</a:t>
            </a:r>
          </a:p>
        </p:txBody>
      </p:sp>
      <p:pic>
        <p:nvPicPr>
          <p:cNvPr id="8" name="Picture 5" descr="D:\MB\WXWork\1688856973580446\Cache\Image\2024-11\企业微信截图_17307075154478.png"/>
          <p:cNvPicPr>
            <a:picLocks noChangeAspect="1" noChangeArrowheads="1"/>
          </p:cNvPicPr>
          <p:nvPr/>
        </p:nvPicPr>
        <p:blipFill>
          <a:blip r:embed="rId2" cstate="print"/>
          <a:srcRect/>
          <a:stretch>
            <a:fillRect/>
          </a:stretch>
        </p:blipFill>
        <p:spPr bwMode="auto">
          <a:xfrm>
            <a:off x="724635" y="993748"/>
            <a:ext cx="6200775" cy="5010150"/>
          </a:xfrm>
          <a:prstGeom prst="rect">
            <a:avLst/>
          </a:prstGeom>
          <a:noFill/>
        </p:spPr>
      </p:pic>
      <p:sp>
        <p:nvSpPr>
          <p:cNvPr id="9" name="TextBox 8"/>
          <p:cNvSpPr txBox="1"/>
          <p:nvPr/>
        </p:nvSpPr>
        <p:spPr>
          <a:xfrm>
            <a:off x="7358162" y="1425352"/>
            <a:ext cx="4063045" cy="954107"/>
          </a:xfrm>
          <a:prstGeom prst="rect">
            <a:avLst/>
          </a:prstGeom>
          <a:noFill/>
        </p:spPr>
        <p:txBody>
          <a:bodyPr wrap="square" rtlCol="0">
            <a:spAutoFit/>
          </a:bodyPr>
          <a:lstStyle/>
          <a:p>
            <a:r>
              <a:rPr lang="zh-CN" altLang="en-US" sz="1400" dirty="0" smtClean="0">
                <a:latin typeface="思源黑体" panose="020B0500000000000000" pitchFamily="34" charset="-122"/>
                <a:ea typeface="思源黑体" panose="020B0500000000000000" pitchFamily="34" charset="-122"/>
              </a:rPr>
              <a:t>    </a:t>
            </a:r>
            <a:r>
              <a:rPr lang="en-US" altLang="zh-CN" sz="1400" dirty="0" smtClean="0">
                <a:latin typeface="思源黑体" panose="020B0500000000000000" pitchFamily="34" charset="-122"/>
                <a:ea typeface="思源黑体" panose="020B0500000000000000" pitchFamily="34" charset="-122"/>
              </a:rPr>
              <a:t>3YA</a:t>
            </a:r>
            <a:r>
              <a:rPr lang="zh-CN" altLang="en-US" sz="1400" dirty="0" smtClean="0">
                <a:latin typeface="思源黑体" panose="020B0500000000000000" pitchFamily="34" charset="-122"/>
                <a:ea typeface="思源黑体" panose="020B0500000000000000" pitchFamily="34" charset="-122"/>
              </a:rPr>
              <a:t>项目在使用</a:t>
            </a:r>
            <a:r>
              <a:rPr lang="en-US" altLang="zh-CN" sz="1400" dirty="0" smtClean="0">
                <a:latin typeface="思源黑体" panose="020B0500000000000000" pitchFamily="34" charset="-122"/>
                <a:ea typeface="思源黑体" panose="020B0500000000000000" pitchFamily="34" charset="-122"/>
              </a:rPr>
              <a:t>iperf3</a:t>
            </a:r>
            <a:r>
              <a:rPr lang="zh-CN" altLang="en-US" sz="1400" dirty="0" smtClean="0">
                <a:latin typeface="思源黑体" panose="020B0500000000000000" pitchFamily="34" charset="-122"/>
                <a:ea typeface="思源黑体" panose="020B0500000000000000" pitchFamily="34" charset="-122"/>
              </a:rPr>
              <a:t>进行测试时，出现非常高的丢包率。</a:t>
            </a:r>
            <a:endParaRPr lang="en-US" altLang="zh-CN" sz="1400" dirty="0" smtClean="0">
              <a:latin typeface="思源黑体" panose="020B0500000000000000" pitchFamily="34" charset="-122"/>
              <a:ea typeface="思源黑体" panose="020B0500000000000000" pitchFamily="34" charset="-122"/>
            </a:endParaRPr>
          </a:p>
          <a:p>
            <a:endParaRPr lang="en-US" altLang="zh-CN" sz="1400" dirty="0" smtClean="0">
              <a:latin typeface="思源黑体" panose="020B0500000000000000" pitchFamily="34" charset="-122"/>
              <a:ea typeface="思源黑体" panose="020B0500000000000000" pitchFamily="34" charset="-122"/>
            </a:endParaRPr>
          </a:p>
          <a:p>
            <a:r>
              <a:rPr lang="zh-CN" altLang="en-US" sz="1400" dirty="0" smtClean="0">
                <a:latin typeface="思源黑体" panose="020B0500000000000000" pitchFamily="34" charset="-122"/>
                <a:ea typeface="思源黑体" panose="020B0500000000000000" pitchFamily="34" charset="-122"/>
              </a:rPr>
              <a:t>    解决方法：取消限速！</a:t>
            </a:r>
            <a:endParaRPr lang="en-US" altLang="zh-CN" sz="1400" dirty="0" smtClean="0">
              <a:latin typeface="思源黑体" panose="020B0500000000000000" pitchFamily="34" charset="-122"/>
              <a:ea typeface="思源黑体" panose="020B0500000000000000" pitchFamily="34" charset="-122"/>
            </a:endParaRPr>
          </a:p>
        </p:txBody>
      </p:sp>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a:spLocks noChangeArrowheads="1"/>
          </p:cNvSpPr>
          <p:nvPr/>
        </p:nvSpPr>
        <p:spPr bwMode="auto">
          <a:xfrm>
            <a:off x="0" y="212519"/>
            <a:ext cx="352425" cy="400050"/>
          </a:xfrm>
          <a:prstGeom prst="rect">
            <a:avLst/>
          </a:prstGeom>
          <a:solidFill>
            <a:srgbClr val="5B9BD5">
              <a:lumMod val="50000"/>
            </a:srgbClr>
          </a:solidFill>
          <a:ln w="9525">
            <a:noFill/>
            <a:miter lim="800000"/>
          </a:ln>
        </p:spPr>
        <p:txBody>
          <a:bodyPr anchor="ctr"/>
          <a:lstStyle/>
          <a:p>
            <a:pPr algn="ctr" fontAlgn="base">
              <a:spcBef>
                <a:spcPct val="0"/>
              </a:spcBef>
              <a:spcAft>
                <a:spcPct val="0"/>
              </a:spcAft>
              <a:buFont typeface="Arial" panose="020B0604020202020204" pitchFamily="34" charset="0"/>
              <a:buNone/>
              <a:defRPr/>
            </a:pPr>
            <a:endParaRPr lang="zh-CN" altLang="en-US" kern="0">
              <a:solidFill>
                <a:srgbClr val="1F4E79"/>
              </a:solidFill>
              <a:latin typeface="黑体" panose="02010609060101010101" charset="-122"/>
              <a:ea typeface="黑体" panose="02010609060101010101" charset="-122"/>
            </a:endParaRPr>
          </a:p>
        </p:txBody>
      </p:sp>
      <p:sp>
        <p:nvSpPr>
          <p:cNvPr id="17" name="矩形 16"/>
          <p:cNvSpPr>
            <a:spLocks noChangeArrowheads="1"/>
          </p:cNvSpPr>
          <p:nvPr/>
        </p:nvSpPr>
        <p:spPr bwMode="auto">
          <a:xfrm>
            <a:off x="419100" y="212519"/>
            <a:ext cx="123825" cy="400050"/>
          </a:xfrm>
          <a:prstGeom prst="rect">
            <a:avLst/>
          </a:prstGeom>
          <a:solidFill>
            <a:srgbClr val="7F7F7F"/>
          </a:solidFill>
          <a:ln w="9525">
            <a:noFill/>
            <a:miter lim="800000"/>
          </a:ln>
        </p:spPr>
        <p:txBody>
          <a:bodyPr anchor="ctr"/>
          <a:lstStyle/>
          <a:p>
            <a:pPr algn="ctr" fontAlgn="base">
              <a:spcBef>
                <a:spcPct val="0"/>
              </a:spcBef>
              <a:spcAft>
                <a:spcPct val="0"/>
              </a:spcAft>
              <a:buFont typeface="Arial" panose="020B0604020202020204" pitchFamily="34" charset="0"/>
              <a:buNone/>
            </a:pPr>
            <a:endParaRPr lang="zh-CN" altLang="en-US">
              <a:solidFill>
                <a:srgbClr val="1F4E79"/>
              </a:solidFill>
              <a:latin typeface="黑体" panose="02010609060101010101" charset="-122"/>
              <a:ea typeface="黑体" panose="02010609060101010101" charset="-122"/>
            </a:endParaRPr>
          </a:p>
        </p:txBody>
      </p:sp>
      <p:sp>
        <p:nvSpPr>
          <p:cNvPr id="21" name="标题 1"/>
          <p:cNvSpPr txBox="1"/>
          <p:nvPr/>
        </p:nvSpPr>
        <p:spPr>
          <a:xfrm>
            <a:off x="609600" y="224766"/>
            <a:ext cx="9710057" cy="375557"/>
          </a:xfrm>
          <a:prstGeom prst="rect">
            <a:avLst/>
          </a:prstGeom>
        </p:spPr>
        <p:txBody>
          <a:bodyPr anchor="ctr"/>
          <a:lstStyle>
            <a:lvl1pPr algn="l" rtl="0" eaLnBrk="0" fontAlgn="base" hangingPunct="0">
              <a:spcBef>
                <a:spcPct val="0"/>
              </a:spcBef>
              <a:spcAft>
                <a:spcPct val="0"/>
              </a:spcAft>
              <a:defRPr sz="2800" b="1" kern="1200">
                <a:solidFill>
                  <a:srgbClr val="1F4E79"/>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0" lvl="1" algn="l"/>
            <a:r>
              <a:rPr lang="en-US" altLang="zh-CN" sz="2400" b="1" dirty="0" smtClean="0">
                <a:solidFill>
                  <a:srgbClr val="0070C0"/>
                </a:solidFill>
                <a:latin typeface="思源黑体" panose="020B0500000000000000" pitchFamily="34" charset="-122"/>
                <a:ea typeface="思源黑体" panose="020B0500000000000000" pitchFamily="34" charset="-122"/>
              </a:rPr>
              <a:t>4</a:t>
            </a:r>
            <a:r>
              <a:rPr lang="zh-CN" altLang="en-US" sz="2400" b="1" dirty="0" smtClean="0">
                <a:solidFill>
                  <a:srgbClr val="0070C0"/>
                </a:solidFill>
                <a:latin typeface="思源黑体" panose="020B0500000000000000" pitchFamily="34" charset="-122"/>
                <a:ea typeface="思源黑体" panose="020B0500000000000000" pitchFamily="34" charset="-122"/>
              </a:rPr>
              <a:t>、拓展思考</a:t>
            </a:r>
            <a:r>
              <a:rPr lang="en-US" altLang="zh-CN" sz="2400" b="1" dirty="0" smtClean="0">
                <a:solidFill>
                  <a:srgbClr val="0070C0"/>
                </a:solidFill>
                <a:latin typeface="思源黑体" panose="020B0500000000000000" pitchFamily="34" charset="-122"/>
                <a:ea typeface="思源黑体" panose="020B0500000000000000" pitchFamily="34" charset="-122"/>
              </a:rPr>
              <a:t>3</a:t>
            </a:r>
            <a:r>
              <a:rPr lang="zh-CN" altLang="en-US" sz="2400" b="1" dirty="0" smtClean="0">
                <a:solidFill>
                  <a:srgbClr val="0070C0"/>
                </a:solidFill>
                <a:latin typeface="思源黑体" panose="020B0500000000000000" pitchFamily="34" charset="-122"/>
                <a:ea typeface="思源黑体" panose="020B0500000000000000" pitchFamily="34" charset="-122"/>
              </a:rPr>
              <a:t>：冲突？</a:t>
            </a:r>
            <a:endParaRPr lang="zh-CN" altLang="en-US" sz="2400" b="1" dirty="0">
              <a:solidFill>
                <a:srgbClr val="0070C0"/>
              </a:solidFill>
            </a:endParaRPr>
          </a:p>
        </p:txBody>
      </p:sp>
      <p:sp>
        <p:nvSpPr>
          <p:cNvPr id="7" name="TextBox 6"/>
          <p:cNvSpPr txBox="1"/>
          <p:nvPr/>
        </p:nvSpPr>
        <p:spPr>
          <a:xfrm>
            <a:off x="1077996" y="3447919"/>
            <a:ext cx="10079441" cy="1384995"/>
          </a:xfrm>
          <a:prstGeom prst="rect">
            <a:avLst/>
          </a:prstGeom>
          <a:noFill/>
        </p:spPr>
        <p:txBody>
          <a:bodyPr wrap="square" rtlCol="0">
            <a:spAutoFit/>
          </a:bodyPr>
          <a:lstStyle/>
          <a:p>
            <a:r>
              <a:rPr lang="zh-CN" altLang="en-US" sz="1400" dirty="0" smtClean="0">
                <a:latin typeface="思源黑体" panose="020B0500000000000000" pitchFamily="34" charset="-122"/>
                <a:ea typeface="思源黑体" panose="020B0500000000000000" pitchFamily="34" charset="-122"/>
              </a:rPr>
              <a:t>        </a:t>
            </a:r>
            <a:r>
              <a:rPr lang="en-US" altLang="zh-CN" sz="1400" dirty="0" smtClean="0">
                <a:latin typeface="思源黑体" panose="020B0500000000000000" pitchFamily="34" charset="-122"/>
                <a:ea typeface="思源黑体" panose="020B0500000000000000" pitchFamily="34" charset="-122"/>
              </a:rPr>
              <a:t>N626</a:t>
            </a:r>
            <a:r>
              <a:rPr lang="zh-CN" altLang="en-US" sz="1400" dirty="0" smtClean="0">
                <a:latin typeface="思源黑体" panose="020B0500000000000000" pitchFamily="34" charset="-122"/>
                <a:ea typeface="思源黑体" panose="020B0500000000000000" pitchFamily="34" charset="-122"/>
              </a:rPr>
              <a:t>项目在</a:t>
            </a:r>
            <a:r>
              <a:rPr lang="en-US" altLang="zh-CN" sz="1400" dirty="0" err="1" smtClean="0">
                <a:latin typeface="思源黑体" panose="020B0500000000000000" pitchFamily="34" charset="-122"/>
                <a:ea typeface="思源黑体" panose="020B0500000000000000" pitchFamily="34" charset="-122"/>
              </a:rPr>
              <a:t>CarPlay</a:t>
            </a:r>
            <a:r>
              <a:rPr lang="zh-CN" altLang="en-US" sz="1400" dirty="0" smtClean="0">
                <a:latin typeface="思源黑体" panose="020B0500000000000000" pitchFamily="34" charset="-122"/>
                <a:ea typeface="思源黑体" panose="020B0500000000000000" pitchFamily="34" charset="-122"/>
              </a:rPr>
              <a:t>认证时，手机端的测试工具连不上。发现是与上面的第</a:t>
            </a:r>
            <a:r>
              <a:rPr lang="en-US" altLang="zh-CN" sz="1400" dirty="0" smtClean="0">
                <a:latin typeface="思源黑体" panose="020B0500000000000000" pitchFamily="34" charset="-122"/>
                <a:ea typeface="思源黑体" panose="020B0500000000000000" pitchFamily="34" charset="-122"/>
              </a:rPr>
              <a:t>2</a:t>
            </a:r>
            <a:r>
              <a:rPr lang="zh-CN" altLang="en-US" sz="1400" dirty="0" smtClean="0">
                <a:latin typeface="思源黑体" panose="020B0500000000000000" pitchFamily="34" charset="-122"/>
                <a:ea typeface="思源黑体" panose="020B0500000000000000" pitchFamily="34" charset="-122"/>
              </a:rPr>
              <a:t>、第</a:t>
            </a:r>
            <a:r>
              <a:rPr lang="en-US" altLang="zh-CN" sz="1400" dirty="0" smtClean="0">
                <a:latin typeface="思源黑体" panose="020B0500000000000000" pitchFamily="34" charset="-122"/>
                <a:ea typeface="思源黑体" panose="020B0500000000000000" pitchFamily="34" charset="-122"/>
              </a:rPr>
              <a:t>3</a:t>
            </a:r>
            <a:r>
              <a:rPr lang="zh-CN" altLang="en-US" sz="1400" dirty="0" smtClean="0">
                <a:latin typeface="思源黑体" panose="020B0500000000000000" pitchFamily="34" charset="-122"/>
                <a:ea typeface="思源黑体" panose="020B0500000000000000" pitchFamily="34" charset="-122"/>
              </a:rPr>
              <a:t>条设置相关。</a:t>
            </a:r>
            <a:endParaRPr lang="en-US" altLang="zh-CN" sz="1400" dirty="0" smtClean="0">
              <a:latin typeface="思源黑体" panose="020B0500000000000000" pitchFamily="34" charset="-122"/>
              <a:ea typeface="思源黑体" panose="020B0500000000000000" pitchFamily="34" charset="-122"/>
            </a:endParaRPr>
          </a:p>
          <a:p>
            <a:endParaRPr lang="en-US" altLang="zh-CN" sz="1400" dirty="0" smtClean="0">
              <a:latin typeface="思源黑体" panose="020B0500000000000000" pitchFamily="34" charset="-122"/>
              <a:ea typeface="思源黑体" panose="020B0500000000000000" pitchFamily="34" charset="-122"/>
            </a:endParaRPr>
          </a:p>
          <a:p>
            <a:r>
              <a:rPr lang="zh-CN" altLang="en-US" sz="1400" dirty="0" smtClean="0">
                <a:latin typeface="思源黑体" panose="020B0500000000000000" pitchFamily="34" charset="-122"/>
                <a:ea typeface="思源黑体" panose="020B0500000000000000" pitchFamily="34" charset="-122"/>
              </a:rPr>
              <a:t>        上面的设置不影响正常情况下的连接，但在认证测试（性能测试）时，触发了规则，相关的报文被</a:t>
            </a:r>
            <a:r>
              <a:rPr lang="en-US" altLang="zh-CN" sz="1400" dirty="0" smtClean="0">
                <a:latin typeface="思源黑体" panose="020B0500000000000000" pitchFamily="34" charset="-122"/>
                <a:ea typeface="思源黑体" panose="020B0500000000000000" pitchFamily="34" charset="-122"/>
              </a:rPr>
              <a:t>REJECT</a:t>
            </a:r>
            <a:r>
              <a:rPr lang="zh-CN" altLang="en-US" sz="1400" dirty="0" smtClean="0">
                <a:latin typeface="思源黑体" panose="020B0500000000000000" pitchFamily="34" charset="-122"/>
                <a:ea typeface="思源黑体" panose="020B0500000000000000" pitchFamily="34" charset="-122"/>
              </a:rPr>
              <a:t>了，导致手机端的测试工具连不上。</a:t>
            </a:r>
            <a:endParaRPr lang="en-US" altLang="zh-CN" sz="1400" dirty="0" smtClean="0">
              <a:latin typeface="思源黑体" panose="020B0500000000000000" pitchFamily="34" charset="-122"/>
              <a:ea typeface="思源黑体" panose="020B0500000000000000" pitchFamily="34" charset="-122"/>
            </a:endParaRPr>
          </a:p>
          <a:p>
            <a:endParaRPr lang="en-US" altLang="zh-CN" sz="1400" dirty="0" smtClean="0">
              <a:latin typeface="思源黑体" panose="020B0500000000000000" pitchFamily="34" charset="-122"/>
              <a:ea typeface="思源黑体" panose="020B0500000000000000" pitchFamily="34" charset="-122"/>
            </a:endParaRPr>
          </a:p>
          <a:p>
            <a:r>
              <a:rPr lang="zh-CN" altLang="en-US" sz="1400" dirty="0" smtClean="0">
                <a:latin typeface="思源黑体" panose="020B0500000000000000" pitchFamily="34" charset="-122"/>
                <a:ea typeface="思源黑体" panose="020B0500000000000000" pitchFamily="34" charset="-122"/>
              </a:rPr>
              <a:t>        解决方法：取消第</a:t>
            </a:r>
            <a:r>
              <a:rPr lang="en-US" altLang="zh-CN" sz="1400" dirty="0" smtClean="0">
                <a:latin typeface="思源黑体" panose="020B0500000000000000" pitchFamily="34" charset="-122"/>
                <a:ea typeface="思源黑体" panose="020B0500000000000000" pitchFamily="34" charset="-122"/>
              </a:rPr>
              <a:t>2</a:t>
            </a:r>
            <a:r>
              <a:rPr lang="zh-CN" altLang="en-US" sz="1400" dirty="0" smtClean="0">
                <a:latin typeface="思源黑体" panose="020B0500000000000000" pitchFamily="34" charset="-122"/>
                <a:ea typeface="思源黑体" panose="020B0500000000000000" pitchFamily="34" charset="-122"/>
              </a:rPr>
              <a:t>、第</a:t>
            </a:r>
            <a:r>
              <a:rPr lang="en-US" altLang="zh-CN" sz="1400" dirty="0" smtClean="0">
                <a:latin typeface="思源黑体" panose="020B0500000000000000" pitchFamily="34" charset="-122"/>
                <a:ea typeface="思源黑体" panose="020B0500000000000000" pitchFamily="34" charset="-122"/>
              </a:rPr>
              <a:t>3</a:t>
            </a:r>
            <a:r>
              <a:rPr lang="zh-CN" altLang="en-US" sz="1400" dirty="0" smtClean="0">
                <a:latin typeface="思源黑体" panose="020B0500000000000000" pitchFamily="34" charset="-122"/>
                <a:ea typeface="思源黑体" panose="020B0500000000000000" pitchFamily="34" charset="-122"/>
              </a:rPr>
              <a:t>条设置！</a:t>
            </a:r>
            <a:endParaRPr lang="en-US" altLang="zh-CN" sz="1400" dirty="0" smtClean="0">
              <a:latin typeface="思源黑体" panose="020B0500000000000000" pitchFamily="34" charset="-122"/>
              <a:ea typeface="思源黑体" panose="020B0500000000000000" pitchFamily="34" charset="-122"/>
            </a:endParaRPr>
          </a:p>
        </p:txBody>
      </p:sp>
      <p:pic>
        <p:nvPicPr>
          <p:cNvPr id="8" name="Picture 2" descr="D:\MB\WXWork\1688856973580446\Cache\Image\2024-10\企业微信截图_17291596127994.png"/>
          <p:cNvPicPr>
            <a:picLocks noChangeAspect="1" noChangeArrowheads="1"/>
          </p:cNvPicPr>
          <p:nvPr/>
        </p:nvPicPr>
        <p:blipFill>
          <a:blip r:embed="rId2" cstate="print"/>
          <a:srcRect/>
          <a:stretch>
            <a:fillRect/>
          </a:stretch>
        </p:blipFill>
        <p:spPr bwMode="auto">
          <a:xfrm>
            <a:off x="1016451" y="1396081"/>
            <a:ext cx="10222818" cy="1435041"/>
          </a:xfrm>
          <a:prstGeom prst="rect">
            <a:avLst/>
          </a:prstGeom>
          <a:noFill/>
        </p:spPr>
      </p:pic>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340640" y="272809"/>
            <a:ext cx="2054690" cy="646331"/>
          </a:xfrm>
          <a:prstGeom prst="rect">
            <a:avLst/>
          </a:prstGeom>
          <a:noFill/>
        </p:spPr>
        <p:txBody>
          <a:bodyPr wrap="square" lIns="91440" tIns="45720" rIns="91440" bIns="45720">
            <a:spAutoFit/>
          </a:bodyPr>
          <a:lstStyle/>
          <a:p>
            <a:pPr algn="ctr"/>
            <a:r>
              <a:rPr lang="zh-CN" altLang="en-US" sz="3600" b="1" cap="none" spc="0" dirty="0" smtClean="0">
                <a:ln w="9525">
                  <a:noFill/>
                  <a:prstDash val="solid"/>
                </a:ln>
                <a:solidFill>
                  <a:schemeClr val="accent5">
                    <a:lumMod val="75000"/>
                  </a:schemeClr>
                </a:solidFill>
                <a:latin typeface="思源黑体" panose="020B0500000000000000" pitchFamily="34" charset="-122"/>
                <a:ea typeface="思源黑体" panose="020B0500000000000000" pitchFamily="34" charset="-122"/>
              </a:rPr>
              <a:t>本章小结</a:t>
            </a:r>
            <a:endParaRPr lang="zh-CN" altLang="en-US" sz="3600" b="1" cap="none" spc="0" dirty="0">
              <a:ln w="9525">
                <a:noFill/>
                <a:prstDash val="solid"/>
              </a:ln>
              <a:solidFill>
                <a:schemeClr val="accent5">
                  <a:lumMod val="75000"/>
                </a:schemeClr>
              </a:solidFill>
              <a:latin typeface="思源黑体" panose="020B0500000000000000" pitchFamily="34" charset="-122"/>
              <a:ea typeface="思源黑体" panose="020B0500000000000000" pitchFamily="34" charset="-122"/>
            </a:endParaRPr>
          </a:p>
        </p:txBody>
      </p:sp>
      <p:sp>
        <p:nvSpPr>
          <p:cNvPr id="47" name="TextBox 15"/>
          <p:cNvSpPr txBox="1"/>
          <p:nvPr/>
        </p:nvSpPr>
        <p:spPr>
          <a:xfrm>
            <a:off x="711890" y="1573816"/>
            <a:ext cx="5785337" cy="1041258"/>
          </a:xfrm>
          <a:prstGeom prst="rect">
            <a:avLst/>
          </a:prstGeom>
          <a:noFill/>
        </p:spPr>
        <p:txBody>
          <a:bodyPr wrap="square" lIns="71067" tIns="35534" rIns="71067" bIns="35534" rtlCol="0">
            <a:spAutoFit/>
          </a:bodyPr>
          <a:lstStyle>
            <a:defPPr>
              <a:defRPr lang="zh-CN"/>
            </a:defPPr>
            <a:lvl1pPr>
              <a:lnSpc>
                <a:spcPct val="150000"/>
              </a:lnSpc>
              <a:defRPr sz="1800">
                <a:solidFill>
                  <a:schemeClr val="tx1">
                    <a:lumMod val="50000"/>
                    <a:lumOff val="50000"/>
                  </a:schemeClr>
                </a:solidFill>
                <a:latin typeface="微软雅黑" panose="020B0503020204020204" charset="-122"/>
                <a:ea typeface="微软雅黑" panose="020B0503020204020204" charset="-122"/>
              </a:defRPr>
            </a:lvl1pPr>
          </a:lstStyle>
          <a:p>
            <a:r>
              <a:rPr lang="zh-CN" altLang="en-US" sz="1400" dirty="0">
                <a:solidFill>
                  <a:schemeClr val="tx1"/>
                </a:solidFill>
                <a:latin typeface="思源黑体" panose="020B0500000000000000" pitchFamily="34" charset="-122"/>
                <a:ea typeface="思源黑体" panose="020B0500000000000000" pitchFamily="34" charset="-122"/>
              </a:rPr>
              <a:t> </a:t>
            </a:r>
            <a:r>
              <a:rPr lang="zh-CN" altLang="en-US" sz="1400" dirty="0" smtClean="0">
                <a:solidFill>
                  <a:schemeClr val="tx1"/>
                </a:solidFill>
                <a:latin typeface="思源黑体" panose="020B0500000000000000" pitchFamily="34" charset="-122"/>
                <a:ea typeface="思源黑体" panose="020B0500000000000000" pitchFamily="34" charset="-122"/>
              </a:rPr>
              <a:t>      本章介绍了项目上常用的</a:t>
            </a:r>
            <a:r>
              <a:rPr lang="en-US" altLang="zh-CN" sz="1400" dirty="0" err="1" smtClean="0">
                <a:solidFill>
                  <a:schemeClr val="tx1"/>
                </a:solidFill>
                <a:latin typeface="思源黑体" panose="020B0500000000000000" pitchFamily="34" charset="-122"/>
                <a:ea typeface="思源黑体" panose="020B0500000000000000" pitchFamily="34" charset="-122"/>
              </a:rPr>
              <a:t>Iptables</a:t>
            </a:r>
            <a:r>
              <a:rPr lang="zh-CN" altLang="en-US" sz="1400" dirty="0" smtClean="0">
                <a:solidFill>
                  <a:schemeClr val="tx1"/>
                </a:solidFill>
                <a:latin typeface="思源黑体" panose="020B0500000000000000" pitchFamily="34" charset="-122"/>
                <a:ea typeface="思源黑体" panose="020B0500000000000000" pitchFamily="34" charset="-122"/>
              </a:rPr>
              <a:t>命令，并详细举例说明了项目</a:t>
            </a:r>
            <a:r>
              <a:rPr lang="zh-CN" altLang="en-US" sz="1400" dirty="0" smtClean="0">
                <a:solidFill>
                  <a:schemeClr val="tx1"/>
                </a:solidFill>
                <a:latin typeface="思源黑体" panose="020B0500000000000000" pitchFamily="34" charset="-122"/>
                <a:ea typeface="思源黑体" panose="020B0500000000000000" pitchFamily="34" charset="-122"/>
              </a:rPr>
              <a:t>中较为</a:t>
            </a:r>
            <a:r>
              <a:rPr lang="zh-CN" altLang="en-US" sz="1400" dirty="0" smtClean="0">
                <a:solidFill>
                  <a:schemeClr val="tx1"/>
                </a:solidFill>
                <a:latin typeface="思源黑体" panose="020B0500000000000000" pitchFamily="34" charset="-122"/>
                <a:ea typeface="思源黑体" panose="020B0500000000000000" pitchFamily="34" charset="-122"/>
              </a:rPr>
              <a:t>复杂场景下的</a:t>
            </a:r>
            <a:r>
              <a:rPr lang="en-US" altLang="zh-CN" sz="1400" dirty="0" err="1" smtClean="0">
                <a:solidFill>
                  <a:schemeClr val="tx1"/>
                </a:solidFill>
                <a:latin typeface="思源黑体" panose="020B0500000000000000" pitchFamily="34" charset="-122"/>
                <a:ea typeface="思源黑体" panose="020B0500000000000000" pitchFamily="34" charset="-122"/>
              </a:rPr>
              <a:t>Iptables</a:t>
            </a:r>
            <a:r>
              <a:rPr lang="zh-CN" altLang="en-US" sz="1400" dirty="0" smtClean="0">
                <a:solidFill>
                  <a:schemeClr val="tx1"/>
                </a:solidFill>
                <a:latin typeface="思源黑体" panose="020B0500000000000000" pitchFamily="34" charset="-122"/>
                <a:ea typeface="思源黑体" panose="020B0500000000000000" pitchFamily="34" charset="-122"/>
              </a:rPr>
              <a:t>应用。</a:t>
            </a:r>
            <a:endParaRPr lang="en-US" altLang="zh-CN" sz="1400" dirty="0" smtClean="0">
              <a:solidFill>
                <a:schemeClr val="tx1"/>
              </a:solidFill>
              <a:latin typeface="思源黑体" panose="020B0500000000000000" pitchFamily="34" charset="-122"/>
              <a:ea typeface="思源黑体" panose="020B0500000000000000" pitchFamily="34" charset="-122"/>
            </a:endParaRPr>
          </a:p>
          <a:p>
            <a:r>
              <a:rPr lang="zh-CN" altLang="en-US" sz="1400" dirty="0" smtClean="0">
                <a:solidFill>
                  <a:schemeClr val="tx1"/>
                </a:solidFill>
                <a:latin typeface="思源黑体" panose="020B0500000000000000" pitchFamily="34" charset="-122"/>
                <a:ea typeface="思源黑体" panose="020B0500000000000000" pitchFamily="34" charset="-122"/>
              </a:rPr>
              <a:t>      本章还引导学习者进行了拓展思考。</a:t>
            </a:r>
            <a:endParaRPr lang="en-US" altLang="zh-CN" sz="1400" dirty="0" smtClean="0">
              <a:solidFill>
                <a:schemeClr val="tx1"/>
              </a:solidFill>
              <a:latin typeface="思源黑体" panose="020B0500000000000000" pitchFamily="34" charset="-122"/>
              <a:ea typeface="思源黑体" panose="020B0500000000000000" pitchFamily="34" charset="-122"/>
            </a:endParaRPr>
          </a:p>
        </p:txBody>
      </p:sp>
      <p:sp>
        <p:nvSpPr>
          <p:cNvPr id="32" name="矩形 31"/>
          <p:cNvSpPr/>
          <p:nvPr/>
        </p:nvSpPr>
        <p:spPr>
          <a:xfrm>
            <a:off x="711890" y="1135702"/>
            <a:ext cx="2501006" cy="369332"/>
          </a:xfrm>
          <a:prstGeom prst="rect">
            <a:avLst/>
          </a:prstGeom>
        </p:spPr>
        <p:txBody>
          <a:bodyPr wrap="none">
            <a:spAutoFit/>
          </a:bodyPr>
          <a:lstStyle/>
          <a:p>
            <a:r>
              <a:rPr lang="en-US" altLang="zh-CN" b="1" dirty="0" err="1" smtClean="0">
                <a:solidFill>
                  <a:srgbClr val="0070C0"/>
                </a:solidFill>
                <a:latin typeface="思源黑体" panose="020B0500000000000000" pitchFamily="34" charset="-122"/>
                <a:ea typeface="思源黑体" panose="020B0500000000000000" pitchFamily="34" charset="-122"/>
                <a:sym typeface="+mn-lt"/>
              </a:rPr>
              <a:t>Iptables</a:t>
            </a:r>
            <a:r>
              <a:rPr lang="zh-CN" altLang="en-US" b="1" dirty="0" smtClean="0">
                <a:solidFill>
                  <a:srgbClr val="0070C0"/>
                </a:solidFill>
                <a:latin typeface="思源黑体" panose="020B0500000000000000" pitchFamily="34" charset="-122"/>
                <a:ea typeface="思源黑体" panose="020B0500000000000000" pitchFamily="34" charset="-122"/>
                <a:sym typeface="+mn-lt"/>
              </a:rPr>
              <a:t>在项目中应用</a:t>
            </a:r>
            <a:endParaRPr lang="zh-CN" altLang="en-US" b="1" dirty="0">
              <a:solidFill>
                <a:srgbClr val="0070C0"/>
              </a:solidFill>
              <a:latin typeface="思源黑体" panose="020B0500000000000000" pitchFamily="34" charset="-122"/>
              <a:ea typeface="思源黑体" panose="020B0500000000000000" pitchFamily="34" charset="-122"/>
            </a:endParaRPr>
          </a:p>
        </p:txBody>
      </p:sp>
      <p:grpSp>
        <p:nvGrpSpPr>
          <p:cNvPr id="33" name="组合 32"/>
          <p:cNvGrpSpPr/>
          <p:nvPr/>
        </p:nvGrpSpPr>
        <p:grpSpPr>
          <a:xfrm>
            <a:off x="9108771" y="5142372"/>
            <a:ext cx="3083229" cy="1715628"/>
            <a:chOff x="3909171" y="5101626"/>
            <a:chExt cx="2312422" cy="1756375"/>
          </a:xfrm>
        </p:grpSpPr>
        <p:sp>
          <p:nvSpPr>
            <p:cNvPr id="34" name="任意多边形: 形状 14"/>
            <p:cNvSpPr/>
            <p:nvPr/>
          </p:nvSpPr>
          <p:spPr>
            <a:xfrm>
              <a:off x="3909171" y="5617900"/>
              <a:ext cx="2312422" cy="1240101"/>
            </a:xfrm>
            <a:custGeom>
              <a:avLst/>
              <a:gdLst>
                <a:gd name="connsiteX0" fmla="*/ 688066 w 2750572"/>
                <a:gd name="connsiteY0" fmla="*/ 0 h 1240101"/>
                <a:gd name="connsiteX1" fmla="*/ 2062507 w 2750572"/>
                <a:gd name="connsiteY1" fmla="*/ 0 h 1240101"/>
                <a:gd name="connsiteX2" fmla="*/ 2750572 w 2750572"/>
                <a:gd name="connsiteY2" fmla="*/ 1186787 h 1240101"/>
                <a:gd name="connsiteX3" fmla="*/ 2719750 w 2750572"/>
                <a:gd name="connsiteY3" fmla="*/ 1240101 h 1240101"/>
                <a:gd name="connsiteX4" fmla="*/ 30822 w 2750572"/>
                <a:gd name="connsiteY4" fmla="*/ 1240101 h 1240101"/>
                <a:gd name="connsiteX5" fmla="*/ 0 w 2750572"/>
                <a:gd name="connsiteY5" fmla="*/ 1186787 h 1240101"/>
                <a:gd name="connsiteX6" fmla="*/ 688066 w 2750572"/>
                <a:gd name="connsiteY6" fmla="*/ 0 h 1240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0572" h="1240101">
                  <a:moveTo>
                    <a:pt x="688066" y="0"/>
                  </a:moveTo>
                  <a:lnTo>
                    <a:pt x="2062507" y="0"/>
                  </a:lnTo>
                  <a:lnTo>
                    <a:pt x="2750572" y="1186787"/>
                  </a:lnTo>
                  <a:lnTo>
                    <a:pt x="2719750" y="1240101"/>
                  </a:lnTo>
                  <a:lnTo>
                    <a:pt x="30822" y="1240101"/>
                  </a:lnTo>
                  <a:lnTo>
                    <a:pt x="0" y="1186787"/>
                  </a:lnTo>
                  <a:lnTo>
                    <a:pt x="688066" y="0"/>
                  </a:lnTo>
                  <a:close/>
                </a:path>
              </a:pathLst>
            </a:custGeom>
            <a:solidFill>
              <a:schemeClr val="accent1">
                <a:alpha val="1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5" name="Freeform 21"/>
            <p:cNvSpPr/>
            <p:nvPr/>
          </p:nvSpPr>
          <p:spPr bwMode="auto">
            <a:xfrm>
              <a:off x="4021319" y="5101626"/>
              <a:ext cx="866775" cy="1026882"/>
            </a:xfrm>
            <a:custGeom>
              <a:avLst/>
              <a:gdLst>
                <a:gd name="T0" fmla="*/ 1220 w 1627"/>
                <a:gd name="T1" fmla="*/ 0 h 1406"/>
                <a:gd name="T2" fmla="*/ 407 w 1627"/>
                <a:gd name="T3" fmla="*/ 0 h 1406"/>
                <a:gd name="T4" fmla="*/ 0 w 1627"/>
                <a:gd name="T5" fmla="*/ 702 h 1406"/>
                <a:gd name="T6" fmla="*/ 407 w 1627"/>
                <a:gd name="T7" fmla="*/ 1406 h 1406"/>
                <a:gd name="T8" fmla="*/ 1220 w 1627"/>
                <a:gd name="T9" fmla="*/ 1406 h 1406"/>
                <a:gd name="T10" fmla="*/ 1627 w 1627"/>
                <a:gd name="T11" fmla="*/ 702 h 1406"/>
                <a:gd name="T12" fmla="*/ 1220 w 1627"/>
                <a:gd name="T13" fmla="*/ 0 h 1406"/>
              </a:gdLst>
              <a:ahLst/>
              <a:cxnLst>
                <a:cxn ang="0">
                  <a:pos x="T0" y="T1"/>
                </a:cxn>
                <a:cxn ang="0">
                  <a:pos x="T2" y="T3"/>
                </a:cxn>
                <a:cxn ang="0">
                  <a:pos x="T4" y="T5"/>
                </a:cxn>
                <a:cxn ang="0">
                  <a:pos x="T6" y="T7"/>
                </a:cxn>
                <a:cxn ang="0">
                  <a:pos x="T8" y="T9"/>
                </a:cxn>
                <a:cxn ang="0">
                  <a:pos x="T10" y="T11"/>
                </a:cxn>
                <a:cxn ang="0">
                  <a:pos x="T12" y="T13"/>
                </a:cxn>
              </a:cxnLst>
              <a:rect l="0" t="0" r="r" b="b"/>
              <a:pathLst>
                <a:path w="1627" h="1406">
                  <a:moveTo>
                    <a:pt x="1220" y="0"/>
                  </a:moveTo>
                  <a:lnTo>
                    <a:pt x="407" y="0"/>
                  </a:lnTo>
                  <a:lnTo>
                    <a:pt x="0" y="702"/>
                  </a:lnTo>
                  <a:lnTo>
                    <a:pt x="407" y="1406"/>
                  </a:lnTo>
                  <a:lnTo>
                    <a:pt x="1220" y="1406"/>
                  </a:lnTo>
                  <a:lnTo>
                    <a:pt x="1627" y="702"/>
                  </a:lnTo>
                  <a:lnTo>
                    <a:pt x="1220" y="0"/>
                  </a:lnTo>
                  <a:close/>
                </a:path>
              </a:pathLst>
            </a:custGeom>
            <a:solidFill>
              <a:schemeClr val="accent1">
                <a:alpha val="3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grpSp>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up)">
                                      <p:cBhvr>
                                        <p:cTn id="7" dur="500"/>
                                        <p:tgtEl>
                                          <p:spTgt spid="47"/>
                                        </p:tgtEl>
                                      </p:cBhvr>
                                    </p:animEffect>
                                  </p:childTnLst>
                                </p:cTn>
                              </p:par>
                              <p:par>
                                <p:cTn id="8" presetID="2" presetClass="entr" presetSubtype="4" fill="hold" nodeType="withEffect">
                                  <p:stCondLst>
                                    <p:cond delay="500"/>
                                  </p:stCondLst>
                                  <p:childTnLst>
                                    <p:set>
                                      <p:cBhvr>
                                        <p:cTn id="9" dur="1" fill="hold">
                                          <p:stCondLst>
                                            <p:cond delay="0"/>
                                          </p:stCondLst>
                                        </p:cTn>
                                        <p:tgtEl>
                                          <p:spTgt spid="33"/>
                                        </p:tgtEl>
                                        <p:attrNameLst>
                                          <p:attrName>style.visibility</p:attrName>
                                        </p:attrNameLst>
                                      </p:cBhvr>
                                      <p:to>
                                        <p:strVal val="visible"/>
                                      </p:to>
                                    </p:set>
                                    <p:anim calcmode="lin" valueType="num">
                                      <p:cBhvr additive="base">
                                        <p:cTn id="10" dur="500" fill="hold"/>
                                        <p:tgtEl>
                                          <p:spTgt spid="33"/>
                                        </p:tgtEl>
                                        <p:attrNameLst>
                                          <p:attrName>ppt_x</p:attrName>
                                        </p:attrNameLst>
                                      </p:cBhvr>
                                      <p:tavLst>
                                        <p:tav tm="0">
                                          <p:val>
                                            <p:strVal val="#ppt_x"/>
                                          </p:val>
                                        </p:tav>
                                        <p:tav tm="100000">
                                          <p:val>
                                            <p:strVal val="#ppt_x"/>
                                          </p:val>
                                        </p:tav>
                                      </p:tavLst>
                                    </p:anim>
                                    <p:anim calcmode="lin" valueType="num">
                                      <p:cBhvr additive="base">
                                        <p:cTn id="11"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3273425" y="2372995"/>
            <a:ext cx="5645150" cy="2329815"/>
          </a:xfrm>
          <a:prstGeom prst="rect">
            <a:avLst/>
          </a:prstGeom>
          <a:noFill/>
        </p:spPr>
        <p:txBody>
          <a:bodyPr wrap="square" lIns="91440" tIns="45720" rIns="91440" bIns="45720">
            <a:noAutofit/>
          </a:bodyPr>
          <a:lstStyle/>
          <a:p>
            <a:pPr algn="ctr"/>
            <a:r>
              <a:rPr lang="en-US" altLang="zh-CN" sz="8800" b="1" cap="none" spc="0" dirty="0" smtClean="0">
                <a:ln w="9525">
                  <a:noFill/>
                  <a:prstDash val="solid"/>
                </a:ln>
                <a:solidFill>
                  <a:schemeClr val="accent5">
                    <a:lumMod val="75000"/>
                  </a:schemeClr>
                </a:solidFill>
                <a:latin typeface="思源黑体" panose="020B0500000000000000" pitchFamily="34" charset="-122"/>
                <a:ea typeface="思源黑体" panose="020B0500000000000000" pitchFamily="34" charset="-122"/>
              </a:rPr>
              <a:t>Q&amp;A</a:t>
            </a:r>
          </a:p>
        </p:txBody>
      </p:sp>
      <p:grpSp>
        <p:nvGrpSpPr>
          <p:cNvPr id="33" name="组合 32"/>
          <p:cNvGrpSpPr/>
          <p:nvPr/>
        </p:nvGrpSpPr>
        <p:grpSpPr>
          <a:xfrm>
            <a:off x="9108771" y="5142372"/>
            <a:ext cx="3083229" cy="1715628"/>
            <a:chOff x="3909171" y="5101626"/>
            <a:chExt cx="2312422" cy="1756375"/>
          </a:xfrm>
        </p:grpSpPr>
        <p:sp>
          <p:nvSpPr>
            <p:cNvPr id="34" name="任意多边形: 形状 14"/>
            <p:cNvSpPr/>
            <p:nvPr/>
          </p:nvSpPr>
          <p:spPr>
            <a:xfrm>
              <a:off x="3909171" y="5617900"/>
              <a:ext cx="2312422" cy="1240101"/>
            </a:xfrm>
            <a:custGeom>
              <a:avLst/>
              <a:gdLst>
                <a:gd name="connsiteX0" fmla="*/ 688066 w 2750572"/>
                <a:gd name="connsiteY0" fmla="*/ 0 h 1240101"/>
                <a:gd name="connsiteX1" fmla="*/ 2062507 w 2750572"/>
                <a:gd name="connsiteY1" fmla="*/ 0 h 1240101"/>
                <a:gd name="connsiteX2" fmla="*/ 2750572 w 2750572"/>
                <a:gd name="connsiteY2" fmla="*/ 1186787 h 1240101"/>
                <a:gd name="connsiteX3" fmla="*/ 2719750 w 2750572"/>
                <a:gd name="connsiteY3" fmla="*/ 1240101 h 1240101"/>
                <a:gd name="connsiteX4" fmla="*/ 30822 w 2750572"/>
                <a:gd name="connsiteY4" fmla="*/ 1240101 h 1240101"/>
                <a:gd name="connsiteX5" fmla="*/ 0 w 2750572"/>
                <a:gd name="connsiteY5" fmla="*/ 1186787 h 1240101"/>
                <a:gd name="connsiteX6" fmla="*/ 688066 w 2750572"/>
                <a:gd name="connsiteY6" fmla="*/ 0 h 1240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0572" h="1240101">
                  <a:moveTo>
                    <a:pt x="688066" y="0"/>
                  </a:moveTo>
                  <a:lnTo>
                    <a:pt x="2062507" y="0"/>
                  </a:lnTo>
                  <a:lnTo>
                    <a:pt x="2750572" y="1186787"/>
                  </a:lnTo>
                  <a:lnTo>
                    <a:pt x="2719750" y="1240101"/>
                  </a:lnTo>
                  <a:lnTo>
                    <a:pt x="30822" y="1240101"/>
                  </a:lnTo>
                  <a:lnTo>
                    <a:pt x="0" y="1186787"/>
                  </a:lnTo>
                  <a:lnTo>
                    <a:pt x="688066" y="0"/>
                  </a:lnTo>
                  <a:close/>
                </a:path>
              </a:pathLst>
            </a:custGeom>
            <a:solidFill>
              <a:schemeClr val="accent1">
                <a:alpha val="1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5" name="Freeform 21"/>
            <p:cNvSpPr/>
            <p:nvPr/>
          </p:nvSpPr>
          <p:spPr bwMode="auto">
            <a:xfrm>
              <a:off x="4021319" y="5101626"/>
              <a:ext cx="866775" cy="1026882"/>
            </a:xfrm>
            <a:custGeom>
              <a:avLst/>
              <a:gdLst>
                <a:gd name="T0" fmla="*/ 1220 w 1627"/>
                <a:gd name="T1" fmla="*/ 0 h 1406"/>
                <a:gd name="T2" fmla="*/ 407 w 1627"/>
                <a:gd name="T3" fmla="*/ 0 h 1406"/>
                <a:gd name="T4" fmla="*/ 0 w 1627"/>
                <a:gd name="T5" fmla="*/ 702 h 1406"/>
                <a:gd name="T6" fmla="*/ 407 w 1627"/>
                <a:gd name="T7" fmla="*/ 1406 h 1406"/>
                <a:gd name="T8" fmla="*/ 1220 w 1627"/>
                <a:gd name="T9" fmla="*/ 1406 h 1406"/>
                <a:gd name="T10" fmla="*/ 1627 w 1627"/>
                <a:gd name="T11" fmla="*/ 702 h 1406"/>
                <a:gd name="T12" fmla="*/ 1220 w 1627"/>
                <a:gd name="T13" fmla="*/ 0 h 1406"/>
              </a:gdLst>
              <a:ahLst/>
              <a:cxnLst>
                <a:cxn ang="0">
                  <a:pos x="T0" y="T1"/>
                </a:cxn>
                <a:cxn ang="0">
                  <a:pos x="T2" y="T3"/>
                </a:cxn>
                <a:cxn ang="0">
                  <a:pos x="T4" y="T5"/>
                </a:cxn>
                <a:cxn ang="0">
                  <a:pos x="T6" y="T7"/>
                </a:cxn>
                <a:cxn ang="0">
                  <a:pos x="T8" y="T9"/>
                </a:cxn>
                <a:cxn ang="0">
                  <a:pos x="T10" y="T11"/>
                </a:cxn>
                <a:cxn ang="0">
                  <a:pos x="T12" y="T13"/>
                </a:cxn>
              </a:cxnLst>
              <a:rect l="0" t="0" r="r" b="b"/>
              <a:pathLst>
                <a:path w="1627" h="1406">
                  <a:moveTo>
                    <a:pt x="1220" y="0"/>
                  </a:moveTo>
                  <a:lnTo>
                    <a:pt x="407" y="0"/>
                  </a:lnTo>
                  <a:lnTo>
                    <a:pt x="0" y="702"/>
                  </a:lnTo>
                  <a:lnTo>
                    <a:pt x="407" y="1406"/>
                  </a:lnTo>
                  <a:lnTo>
                    <a:pt x="1220" y="1406"/>
                  </a:lnTo>
                  <a:lnTo>
                    <a:pt x="1627" y="702"/>
                  </a:lnTo>
                  <a:lnTo>
                    <a:pt x="1220" y="0"/>
                  </a:lnTo>
                  <a:close/>
                </a:path>
              </a:pathLst>
            </a:custGeom>
            <a:solidFill>
              <a:schemeClr val="accent1">
                <a:alpha val="3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grpSp>
      <p:sp>
        <p:nvSpPr>
          <p:cNvPr id="3" name="矩形 2"/>
          <p:cNvSpPr/>
          <p:nvPr/>
        </p:nvSpPr>
        <p:spPr>
          <a:xfrm>
            <a:off x="340640" y="272809"/>
            <a:ext cx="2054690" cy="645160"/>
          </a:xfrm>
          <a:prstGeom prst="rect">
            <a:avLst/>
          </a:prstGeom>
          <a:noFill/>
        </p:spPr>
        <p:txBody>
          <a:bodyPr wrap="square" lIns="91440" tIns="45720" rIns="91440" bIns="45720">
            <a:spAutoFit/>
          </a:bodyPr>
          <a:lstStyle/>
          <a:p>
            <a:pPr algn="ctr"/>
            <a:r>
              <a:rPr lang="zh-CN" altLang="en-US" sz="3600" b="1" cap="none" spc="0" dirty="0">
                <a:ln w="9525">
                  <a:noFill/>
                  <a:prstDash val="solid"/>
                </a:ln>
                <a:solidFill>
                  <a:schemeClr val="accent5">
                    <a:lumMod val="75000"/>
                  </a:schemeClr>
                </a:solidFill>
                <a:latin typeface="思源黑体" panose="020B0500000000000000" pitchFamily="34" charset="-122"/>
                <a:ea typeface="思源黑体" panose="020B0500000000000000" pitchFamily="34" charset="-122"/>
              </a:rPr>
              <a:t>问答环节</a:t>
            </a:r>
          </a:p>
        </p:txBody>
      </p:sp>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mc:AlternateContent xmlns:mc="http://schemas.openxmlformats.org/markup-compatibility/2006">
    <mc:Choice xmlns=""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14:presetBounceEnd="36000">
                                      <p:stCondLst>
                                        <p:cond delay="500"/>
                                      </p:stCondLst>
                                      <p:childTnLst>
                                        <p:set>
                                          <p:cBhvr>
                                            <p:cTn id="6" dur="1" fill="hold">
                                              <p:stCondLst>
                                                <p:cond delay="0"/>
                                              </p:stCondLst>
                                            </p:cTn>
                                            <p:tgtEl>
                                              <p:spTgt spid="33"/>
                                            </p:tgtEl>
                                            <p:attrNameLst>
                                              <p:attrName>style.visibility</p:attrName>
                                            </p:attrNameLst>
                                          </p:cBhvr>
                                          <p:to>
                                            <p:strVal val="visible"/>
                                          </p:to>
                                        </p:set>
                                        <p:anim calcmode="lin" valueType="num" p14:bounceEnd="36000">
                                          <p:cBhvr additive="base">
                                            <p:cTn id="7" dur="500" fill="hold"/>
                                            <p:tgtEl>
                                              <p:spTgt spid="33"/>
                                            </p:tgtEl>
                                            <p:attrNameLst>
                                              <p:attrName>ppt_x</p:attrName>
                                            </p:attrNameLst>
                                          </p:cBhvr>
                                          <p:tavLst>
                                            <p:tav tm="0">
                                              <p:val>
                                                <p:strVal val="#ppt_x"/>
                                              </p:val>
                                            </p:tav>
                                            <p:tav tm="100000">
                                              <p:val>
                                                <p:strVal val="#ppt_x"/>
                                              </p:val>
                                            </p:tav>
                                          </p:tavLst>
                                        </p:anim>
                                        <p:anim calcmode="lin" valueType="num" p14:bounceEnd="36000">
                                          <p:cBhvr additive="base">
                                            <p:cTn id="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50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340640" y="272809"/>
            <a:ext cx="2054690" cy="645160"/>
          </a:xfrm>
          <a:prstGeom prst="rect">
            <a:avLst/>
          </a:prstGeom>
          <a:noFill/>
        </p:spPr>
        <p:txBody>
          <a:bodyPr wrap="square" lIns="91440" tIns="45720" rIns="91440" bIns="45720">
            <a:spAutoFit/>
          </a:bodyPr>
          <a:lstStyle/>
          <a:p>
            <a:pPr algn="ctr"/>
            <a:r>
              <a:rPr lang="zh-CN" altLang="en-US" sz="3600" b="1" cap="none" spc="0" dirty="0" smtClean="0">
                <a:ln w="9525">
                  <a:noFill/>
                  <a:prstDash val="solid"/>
                </a:ln>
                <a:solidFill>
                  <a:schemeClr val="accent5">
                    <a:lumMod val="75000"/>
                  </a:schemeClr>
                </a:solidFill>
                <a:latin typeface="思源黑体" panose="020B0500000000000000" pitchFamily="34" charset="-122"/>
                <a:ea typeface="思源黑体" panose="020B0500000000000000" pitchFamily="34" charset="-122"/>
              </a:rPr>
              <a:t>课程总结</a:t>
            </a:r>
            <a:endParaRPr lang="zh-CN" altLang="en-US" sz="3600" b="1" cap="none" spc="0" dirty="0">
              <a:ln w="9525">
                <a:noFill/>
                <a:prstDash val="solid"/>
              </a:ln>
              <a:solidFill>
                <a:schemeClr val="accent5">
                  <a:lumMod val="75000"/>
                </a:schemeClr>
              </a:solidFill>
              <a:latin typeface="思源黑体" panose="020B0500000000000000" pitchFamily="34" charset="-122"/>
              <a:ea typeface="思源黑体" panose="020B0500000000000000" pitchFamily="34" charset="-122"/>
            </a:endParaRPr>
          </a:p>
        </p:txBody>
      </p:sp>
      <p:sp>
        <p:nvSpPr>
          <p:cNvPr id="47" name="TextBox 15"/>
          <p:cNvSpPr txBox="1"/>
          <p:nvPr/>
        </p:nvSpPr>
        <p:spPr>
          <a:xfrm>
            <a:off x="711835" y="1573530"/>
            <a:ext cx="8014335" cy="3568700"/>
          </a:xfrm>
          <a:prstGeom prst="rect">
            <a:avLst/>
          </a:prstGeom>
          <a:noFill/>
        </p:spPr>
        <p:txBody>
          <a:bodyPr wrap="square" lIns="71067" tIns="35534" rIns="71067" bIns="35534" rtlCol="0">
            <a:noAutofit/>
          </a:bodyPr>
          <a:lstStyle>
            <a:defPPr>
              <a:defRPr lang="zh-CN"/>
            </a:defPPr>
            <a:lvl1pPr>
              <a:lnSpc>
                <a:spcPct val="150000"/>
              </a:lnSpc>
              <a:defRPr sz="1800">
                <a:solidFill>
                  <a:schemeClr val="tx1">
                    <a:lumMod val="50000"/>
                    <a:lumOff val="50000"/>
                  </a:schemeClr>
                </a:solidFill>
                <a:latin typeface="微软雅黑" panose="020B0503020204020204" charset="-122"/>
                <a:ea typeface="微软雅黑" panose="020B0503020204020204" charset="-122"/>
              </a:defRPr>
            </a:lvl1pPr>
          </a:lstStyle>
          <a:p>
            <a:pPr lvl="0"/>
            <a:r>
              <a:rPr lang="zh-CN" altLang="en-US" sz="1400" dirty="0" smtClean="0">
                <a:solidFill>
                  <a:schemeClr val="tx1"/>
                </a:solidFill>
                <a:latin typeface="思源黑体" panose="020B0500000000000000" pitchFamily="34" charset="-122"/>
                <a:ea typeface="思源黑体" panose="020B0500000000000000" pitchFamily="34" charset="-122"/>
              </a:rPr>
              <a:t>       本课程讲解了</a:t>
            </a:r>
            <a:r>
              <a:rPr lang="en-US" altLang="zh-CN" sz="1400" dirty="0" err="1" smtClean="0">
                <a:solidFill>
                  <a:schemeClr val="tx1"/>
                </a:solidFill>
                <a:latin typeface="思源黑体" panose="020B0500000000000000" pitchFamily="34" charset="-122"/>
                <a:ea typeface="思源黑体" panose="020B0500000000000000" pitchFamily="34" charset="-122"/>
              </a:rPr>
              <a:t>Iptables</a:t>
            </a:r>
            <a:r>
              <a:rPr lang="zh-CN" altLang="en-US" sz="1400" dirty="0" smtClean="0">
                <a:solidFill>
                  <a:schemeClr val="tx1"/>
                </a:solidFill>
                <a:latin typeface="思源黑体" panose="020B0500000000000000" pitchFamily="34" charset="-122"/>
                <a:ea typeface="思源黑体" panose="020B0500000000000000" pitchFamily="34" charset="-122"/>
              </a:rPr>
              <a:t>的架构、基本语法，介绍了在实际项目中的应用，并引导学习者进行了拓展思考。</a:t>
            </a:r>
            <a:endParaRPr lang="en-US" altLang="zh-CN" sz="1400" dirty="0" smtClean="0">
              <a:solidFill>
                <a:schemeClr val="tx1"/>
              </a:solidFill>
              <a:latin typeface="思源黑体" panose="020B0500000000000000" pitchFamily="34" charset="-122"/>
              <a:ea typeface="思源黑体" panose="020B0500000000000000" pitchFamily="34" charset="-122"/>
            </a:endParaRPr>
          </a:p>
          <a:p>
            <a:pPr lvl="0" algn="l"/>
            <a:r>
              <a:rPr lang="zh-CN" altLang="en-US" sz="1400" dirty="0" smtClean="0">
                <a:solidFill>
                  <a:schemeClr val="tx1"/>
                </a:solidFill>
                <a:latin typeface="思源黑体" panose="020B0500000000000000" pitchFamily="34" charset="-122"/>
                <a:ea typeface="思源黑体" panose="020B0500000000000000" pitchFamily="34" charset="-122"/>
              </a:rPr>
              <a:t>       总结应评估教学目标达成情况，分析教学内容实施效果与学员反馈，并据此提出教学方法和内容的改进建议，以优化后续教学。</a:t>
            </a:r>
          </a:p>
          <a:p>
            <a:endParaRPr lang="en-US" altLang="zh-CN" sz="1400" dirty="0">
              <a:solidFill>
                <a:schemeClr val="tx1"/>
              </a:solidFill>
              <a:latin typeface="思源黑体" panose="020B0500000000000000" pitchFamily="34" charset="-122"/>
              <a:ea typeface="思源黑体" panose="020B0500000000000000" pitchFamily="34" charset="-122"/>
            </a:endParaRPr>
          </a:p>
          <a:p>
            <a:endParaRPr lang="zh-CN" altLang="en-US" sz="1400" dirty="0">
              <a:latin typeface="思源黑体" panose="020B0500000000000000" pitchFamily="34" charset="-122"/>
              <a:ea typeface="思源黑体" panose="020B0500000000000000" pitchFamily="34" charset="-122"/>
            </a:endParaRPr>
          </a:p>
        </p:txBody>
      </p:sp>
      <p:sp>
        <p:nvSpPr>
          <p:cNvPr id="32" name="矩形 31"/>
          <p:cNvSpPr/>
          <p:nvPr/>
        </p:nvSpPr>
        <p:spPr>
          <a:xfrm>
            <a:off x="711890" y="1135702"/>
            <a:ext cx="2039341" cy="369332"/>
          </a:xfrm>
          <a:prstGeom prst="rect">
            <a:avLst/>
          </a:prstGeom>
        </p:spPr>
        <p:txBody>
          <a:bodyPr wrap="none">
            <a:spAutoFit/>
          </a:bodyPr>
          <a:lstStyle/>
          <a:p>
            <a:r>
              <a:rPr lang="zh-CN" altLang="en-US" sz="1800" b="1" dirty="0" smtClean="0">
                <a:solidFill>
                  <a:srgbClr val="0070C0"/>
                </a:solidFill>
                <a:latin typeface="思源黑体" panose="020B0500000000000000" pitchFamily="34" charset="-122"/>
                <a:ea typeface="思源黑体" panose="020B0500000000000000" pitchFamily="34" charset="-122"/>
              </a:rPr>
              <a:t>掌握</a:t>
            </a:r>
            <a:r>
              <a:rPr lang="en-US" altLang="zh-CN" sz="1800" b="1" dirty="0" err="1" smtClean="0">
                <a:solidFill>
                  <a:srgbClr val="0070C0"/>
                </a:solidFill>
                <a:latin typeface="思源黑体" panose="020B0500000000000000" pitchFamily="34" charset="-122"/>
                <a:ea typeface="思源黑体" panose="020B0500000000000000" pitchFamily="34" charset="-122"/>
              </a:rPr>
              <a:t>Iptables</a:t>
            </a:r>
            <a:r>
              <a:rPr lang="zh-CN" altLang="en-US" sz="1800" b="1" dirty="0" smtClean="0">
                <a:solidFill>
                  <a:srgbClr val="0070C0"/>
                </a:solidFill>
                <a:latin typeface="思源黑体" panose="020B0500000000000000" pitchFamily="34" charset="-122"/>
                <a:ea typeface="思源黑体" panose="020B0500000000000000" pitchFamily="34" charset="-122"/>
              </a:rPr>
              <a:t>使用</a:t>
            </a:r>
            <a:endParaRPr lang="zh-CN" altLang="en-US" sz="1800" b="1" dirty="0">
              <a:solidFill>
                <a:srgbClr val="0070C0"/>
              </a:solidFill>
            </a:endParaRPr>
          </a:p>
        </p:txBody>
      </p:sp>
      <p:grpSp>
        <p:nvGrpSpPr>
          <p:cNvPr id="33" name="组合 32"/>
          <p:cNvGrpSpPr/>
          <p:nvPr/>
        </p:nvGrpSpPr>
        <p:grpSpPr>
          <a:xfrm>
            <a:off x="9108771" y="5142372"/>
            <a:ext cx="3083229" cy="1715628"/>
            <a:chOff x="3909171" y="5101626"/>
            <a:chExt cx="2312422" cy="1756375"/>
          </a:xfrm>
        </p:grpSpPr>
        <p:sp>
          <p:nvSpPr>
            <p:cNvPr id="34" name="任意多边形: 形状 14"/>
            <p:cNvSpPr/>
            <p:nvPr/>
          </p:nvSpPr>
          <p:spPr>
            <a:xfrm>
              <a:off x="3909171" y="5617900"/>
              <a:ext cx="2312422" cy="1240101"/>
            </a:xfrm>
            <a:custGeom>
              <a:avLst/>
              <a:gdLst>
                <a:gd name="connsiteX0" fmla="*/ 688066 w 2750572"/>
                <a:gd name="connsiteY0" fmla="*/ 0 h 1240101"/>
                <a:gd name="connsiteX1" fmla="*/ 2062507 w 2750572"/>
                <a:gd name="connsiteY1" fmla="*/ 0 h 1240101"/>
                <a:gd name="connsiteX2" fmla="*/ 2750572 w 2750572"/>
                <a:gd name="connsiteY2" fmla="*/ 1186787 h 1240101"/>
                <a:gd name="connsiteX3" fmla="*/ 2719750 w 2750572"/>
                <a:gd name="connsiteY3" fmla="*/ 1240101 h 1240101"/>
                <a:gd name="connsiteX4" fmla="*/ 30822 w 2750572"/>
                <a:gd name="connsiteY4" fmla="*/ 1240101 h 1240101"/>
                <a:gd name="connsiteX5" fmla="*/ 0 w 2750572"/>
                <a:gd name="connsiteY5" fmla="*/ 1186787 h 1240101"/>
                <a:gd name="connsiteX6" fmla="*/ 688066 w 2750572"/>
                <a:gd name="connsiteY6" fmla="*/ 0 h 1240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0572" h="1240101">
                  <a:moveTo>
                    <a:pt x="688066" y="0"/>
                  </a:moveTo>
                  <a:lnTo>
                    <a:pt x="2062507" y="0"/>
                  </a:lnTo>
                  <a:lnTo>
                    <a:pt x="2750572" y="1186787"/>
                  </a:lnTo>
                  <a:lnTo>
                    <a:pt x="2719750" y="1240101"/>
                  </a:lnTo>
                  <a:lnTo>
                    <a:pt x="30822" y="1240101"/>
                  </a:lnTo>
                  <a:lnTo>
                    <a:pt x="0" y="1186787"/>
                  </a:lnTo>
                  <a:lnTo>
                    <a:pt x="688066" y="0"/>
                  </a:lnTo>
                  <a:close/>
                </a:path>
              </a:pathLst>
            </a:custGeom>
            <a:solidFill>
              <a:schemeClr val="accent1">
                <a:alpha val="1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5" name="Freeform 21"/>
            <p:cNvSpPr/>
            <p:nvPr/>
          </p:nvSpPr>
          <p:spPr bwMode="auto">
            <a:xfrm>
              <a:off x="4021319" y="5101626"/>
              <a:ext cx="866775" cy="1026882"/>
            </a:xfrm>
            <a:custGeom>
              <a:avLst/>
              <a:gdLst>
                <a:gd name="T0" fmla="*/ 1220 w 1627"/>
                <a:gd name="T1" fmla="*/ 0 h 1406"/>
                <a:gd name="T2" fmla="*/ 407 w 1627"/>
                <a:gd name="T3" fmla="*/ 0 h 1406"/>
                <a:gd name="T4" fmla="*/ 0 w 1627"/>
                <a:gd name="T5" fmla="*/ 702 h 1406"/>
                <a:gd name="T6" fmla="*/ 407 w 1627"/>
                <a:gd name="T7" fmla="*/ 1406 h 1406"/>
                <a:gd name="T8" fmla="*/ 1220 w 1627"/>
                <a:gd name="T9" fmla="*/ 1406 h 1406"/>
                <a:gd name="T10" fmla="*/ 1627 w 1627"/>
                <a:gd name="T11" fmla="*/ 702 h 1406"/>
                <a:gd name="T12" fmla="*/ 1220 w 1627"/>
                <a:gd name="T13" fmla="*/ 0 h 1406"/>
              </a:gdLst>
              <a:ahLst/>
              <a:cxnLst>
                <a:cxn ang="0">
                  <a:pos x="T0" y="T1"/>
                </a:cxn>
                <a:cxn ang="0">
                  <a:pos x="T2" y="T3"/>
                </a:cxn>
                <a:cxn ang="0">
                  <a:pos x="T4" y="T5"/>
                </a:cxn>
                <a:cxn ang="0">
                  <a:pos x="T6" y="T7"/>
                </a:cxn>
                <a:cxn ang="0">
                  <a:pos x="T8" y="T9"/>
                </a:cxn>
                <a:cxn ang="0">
                  <a:pos x="T10" y="T11"/>
                </a:cxn>
                <a:cxn ang="0">
                  <a:pos x="T12" y="T13"/>
                </a:cxn>
              </a:cxnLst>
              <a:rect l="0" t="0" r="r" b="b"/>
              <a:pathLst>
                <a:path w="1627" h="1406">
                  <a:moveTo>
                    <a:pt x="1220" y="0"/>
                  </a:moveTo>
                  <a:lnTo>
                    <a:pt x="407" y="0"/>
                  </a:lnTo>
                  <a:lnTo>
                    <a:pt x="0" y="702"/>
                  </a:lnTo>
                  <a:lnTo>
                    <a:pt x="407" y="1406"/>
                  </a:lnTo>
                  <a:lnTo>
                    <a:pt x="1220" y="1406"/>
                  </a:lnTo>
                  <a:lnTo>
                    <a:pt x="1627" y="702"/>
                  </a:lnTo>
                  <a:lnTo>
                    <a:pt x="1220" y="0"/>
                  </a:lnTo>
                  <a:close/>
                </a:path>
              </a:pathLst>
            </a:custGeom>
            <a:solidFill>
              <a:schemeClr val="accent1">
                <a:alpha val="3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grpSp>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up)">
                                      <p:cBhvr>
                                        <p:cTn id="7" dur="500"/>
                                        <p:tgtEl>
                                          <p:spTgt spid="47"/>
                                        </p:tgtEl>
                                      </p:cBhvr>
                                    </p:animEffect>
                                  </p:childTnLst>
                                </p:cTn>
                              </p:par>
                              <p:par>
                                <p:cTn id="8" presetID="2" presetClass="entr" presetSubtype="4" fill="hold" nodeType="withEffect">
                                  <p:stCondLst>
                                    <p:cond delay="500"/>
                                  </p:stCondLst>
                                  <p:childTnLst>
                                    <p:set>
                                      <p:cBhvr>
                                        <p:cTn id="9" dur="1" fill="hold">
                                          <p:stCondLst>
                                            <p:cond delay="0"/>
                                          </p:stCondLst>
                                        </p:cTn>
                                        <p:tgtEl>
                                          <p:spTgt spid="33"/>
                                        </p:tgtEl>
                                        <p:attrNameLst>
                                          <p:attrName>style.visibility</p:attrName>
                                        </p:attrNameLst>
                                      </p:cBhvr>
                                      <p:to>
                                        <p:strVal val="visible"/>
                                      </p:to>
                                    </p:set>
                                    <p:anim calcmode="lin" valueType="num">
                                      <p:cBhvr additive="base">
                                        <p:cTn id="10" dur="500" fill="hold"/>
                                        <p:tgtEl>
                                          <p:spTgt spid="33"/>
                                        </p:tgtEl>
                                        <p:attrNameLst>
                                          <p:attrName>ppt_x</p:attrName>
                                        </p:attrNameLst>
                                      </p:cBhvr>
                                      <p:tavLst>
                                        <p:tav tm="0">
                                          <p:val>
                                            <p:strVal val="#ppt_x"/>
                                          </p:val>
                                        </p:tav>
                                        <p:tav tm="100000">
                                          <p:val>
                                            <p:strVal val="#ppt_x"/>
                                          </p:val>
                                        </p:tav>
                                      </p:tavLst>
                                    </p:anim>
                                    <p:anim calcmode="lin" valueType="num">
                                      <p:cBhvr additive="base">
                                        <p:cTn id="11"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7657241" y="2900573"/>
            <a:ext cx="4045320" cy="1476375"/>
          </a:xfrm>
          <a:prstGeom prst="rect">
            <a:avLst/>
          </a:prstGeom>
        </p:spPr>
        <p:txBody>
          <a:bodyPr wrap="square">
            <a:spAutoFit/>
          </a:bodyPr>
          <a:lstStyle/>
          <a:p>
            <a:pPr>
              <a:lnSpc>
                <a:spcPct val="150000"/>
              </a:lnSpc>
            </a:pPr>
            <a:r>
              <a:rPr lang="zh-CN" altLang="en-US" sz="6000" b="1" dirty="0" smtClean="0">
                <a:solidFill>
                  <a:schemeClr val="bg1"/>
                </a:solidFill>
                <a:latin typeface="思源黑体" panose="020B0500000000000000" pitchFamily="34" charset="-122"/>
                <a:ea typeface="思源黑体" panose="020B0500000000000000" pitchFamily="34" charset="-122"/>
              </a:rPr>
              <a:t>感谢</a:t>
            </a:r>
            <a:r>
              <a:rPr lang="zh-CN" altLang="en-US" sz="6000" b="1" dirty="0">
                <a:solidFill>
                  <a:schemeClr val="bg1"/>
                </a:solidFill>
                <a:latin typeface="思源黑体" panose="020B0500000000000000" pitchFamily="34" charset="-122"/>
                <a:ea typeface="思源黑体" panose="020B0500000000000000" pitchFamily="34" charset="-122"/>
              </a:rPr>
              <a:t>参与</a:t>
            </a:r>
          </a:p>
        </p:txBody>
      </p:sp>
      <p:grpSp>
        <p:nvGrpSpPr>
          <p:cNvPr id="8" name="组合 7"/>
          <p:cNvGrpSpPr/>
          <p:nvPr/>
        </p:nvGrpSpPr>
        <p:grpSpPr>
          <a:xfrm>
            <a:off x="9004796" y="5939755"/>
            <a:ext cx="2016224" cy="432048"/>
            <a:chOff x="1125067" y="5445224"/>
            <a:chExt cx="3024336" cy="648072"/>
          </a:xfrm>
        </p:grpSpPr>
        <p:sp>
          <p:nvSpPr>
            <p:cNvPr id="9" name="椭圆 8"/>
            <p:cNvSpPr/>
            <p:nvPr/>
          </p:nvSpPr>
          <p:spPr>
            <a:xfrm>
              <a:off x="1125067" y="5445224"/>
              <a:ext cx="648072" cy="64807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2349203" y="5445224"/>
              <a:ext cx="648072" cy="64807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3501331" y="5445224"/>
              <a:ext cx="648072" cy="64807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142"/>
            <p:cNvSpPr>
              <a:spLocks noEditPoints="1"/>
            </p:cNvSpPr>
            <p:nvPr/>
          </p:nvSpPr>
          <p:spPr bwMode="auto">
            <a:xfrm>
              <a:off x="1259558" y="5555332"/>
              <a:ext cx="425450" cy="404813"/>
            </a:xfrm>
            <a:custGeom>
              <a:avLst/>
              <a:gdLst>
                <a:gd name="T0" fmla="*/ 68 w 113"/>
                <a:gd name="T1" fmla="*/ 54 h 108"/>
                <a:gd name="T2" fmla="*/ 45 w 113"/>
                <a:gd name="T3" fmla="*/ 54 h 108"/>
                <a:gd name="T4" fmla="*/ 48 w 113"/>
                <a:gd name="T5" fmla="*/ 32 h 108"/>
                <a:gd name="T6" fmla="*/ 0 w 113"/>
                <a:gd name="T7" fmla="*/ 54 h 108"/>
                <a:gd name="T8" fmla="*/ 17 w 113"/>
                <a:gd name="T9" fmla="*/ 93 h 108"/>
                <a:gd name="T10" fmla="*/ 62 w 113"/>
                <a:gd name="T11" fmla="*/ 78 h 108"/>
                <a:gd name="T12" fmla="*/ 38 w 113"/>
                <a:gd name="T13" fmla="*/ 84 h 108"/>
                <a:gd name="T14" fmla="*/ 26 w 113"/>
                <a:gd name="T15" fmla="*/ 73 h 108"/>
                <a:gd name="T16" fmla="*/ 57 w 113"/>
                <a:gd name="T17" fmla="*/ 76 h 108"/>
                <a:gd name="T18" fmla="*/ 79 w 113"/>
                <a:gd name="T19" fmla="*/ 82 h 108"/>
                <a:gd name="T20" fmla="*/ 64 w 113"/>
                <a:gd name="T21" fmla="*/ 89 h 108"/>
                <a:gd name="T22" fmla="*/ 52 w 113"/>
                <a:gd name="T23" fmla="*/ 89 h 108"/>
                <a:gd name="T24" fmla="*/ 80 w 113"/>
                <a:gd name="T25" fmla="*/ 105 h 108"/>
                <a:gd name="T26" fmla="*/ 86 w 113"/>
                <a:gd name="T27" fmla="*/ 73 h 108"/>
                <a:gd name="T28" fmla="*/ 113 w 113"/>
                <a:gd name="T29" fmla="*/ 54 h 108"/>
                <a:gd name="T30" fmla="*/ 70 w 113"/>
                <a:gd name="T31" fmla="*/ 32 h 108"/>
                <a:gd name="T32" fmla="*/ 76 w 113"/>
                <a:gd name="T33" fmla="*/ 23 h 108"/>
                <a:gd name="T34" fmla="*/ 88 w 113"/>
                <a:gd name="T35" fmla="*/ 33 h 108"/>
                <a:gd name="T36" fmla="*/ 96 w 113"/>
                <a:gd name="T37" fmla="*/ 14 h 108"/>
                <a:gd name="T38" fmla="*/ 63 w 113"/>
                <a:gd name="T39" fmla="*/ 20 h 108"/>
                <a:gd name="T40" fmla="*/ 33 w 113"/>
                <a:gd name="T41" fmla="*/ 3 h 108"/>
                <a:gd name="T42" fmla="*/ 26 w 113"/>
                <a:gd name="T43" fmla="*/ 29 h 108"/>
                <a:gd name="T44" fmla="*/ 34 w 113"/>
                <a:gd name="T45" fmla="*/ 25 h 108"/>
                <a:gd name="T46" fmla="*/ 49 w 113"/>
                <a:gd name="T47" fmla="*/ 18 h 108"/>
                <a:gd name="T48" fmla="*/ 48 w 113"/>
                <a:gd name="T49" fmla="*/ 32 h 108"/>
                <a:gd name="T50" fmla="*/ 92 w 113"/>
                <a:gd name="T51" fmla="*/ 45 h 108"/>
                <a:gd name="T52" fmla="*/ 92 w 113"/>
                <a:gd name="T53" fmla="*/ 62 h 108"/>
                <a:gd name="T54" fmla="*/ 77 w 113"/>
                <a:gd name="T55" fmla="*/ 44 h 108"/>
                <a:gd name="T56" fmla="*/ 75 w 113"/>
                <a:gd name="T57" fmla="*/ 66 h 108"/>
                <a:gd name="T58" fmla="*/ 65 w 113"/>
                <a:gd name="T59" fmla="*/ 41 h 108"/>
                <a:gd name="T60" fmla="*/ 51 w 113"/>
                <a:gd name="T61" fmla="*/ 41 h 108"/>
                <a:gd name="T62" fmla="*/ 47 w 113"/>
                <a:gd name="T63" fmla="*/ 44 h 108"/>
                <a:gd name="T64" fmla="*/ 57 w 113"/>
                <a:gd name="T65" fmla="*/ 67 h 108"/>
                <a:gd name="T66" fmla="*/ 22 w 113"/>
                <a:gd name="T67" fmla="*/ 62 h 108"/>
                <a:gd name="T68" fmla="*/ 9 w 113"/>
                <a:gd name="T69" fmla="*/ 54 h 108"/>
                <a:gd name="T70" fmla="*/ 37 w 113"/>
                <a:gd name="T71" fmla="*/ 42 h 108"/>
                <a:gd name="T72" fmla="*/ 64 w 113"/>
                <a:gd name="T73" fmla="*/ 50 h 108"/>
                <a:gd name="T74" fmla="*/ 64 w 113"/>
                <a:gd name="T75" fmla="*/ 50 h 108"/>
                <a:gd name="T76" fmla="*/ 50 w 113"/>
                <a:gd name="T77" fmla="*/ 53 h 108"/>
                <a:gd name="T78" fmla="*/ 49 w 113"/>
                <a:gd name="T79" fmla="*/ 57 h 108"/>
                <a:gd name="T80" fmla="*/ 51 w 113"/>
                <a:gd name="T81" fmla="*/ 52 h 108"/>
                <a:gd name="T82" fmla="*/ 56 w 113"/>
                <a:gd name="T83" fmla="*/ 45 h 108"/>
                <a:gd name="T84" fmla="*/ 58 w 113"/>
                <a:gd name="T85" fmla="*/ 45 h 108"/>
                <a:gd name="T86" fmla="*/ 60 w 113"/>
                <a:gd name="T87" fmla="*/ 46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13" h="108">
                  <a:moveTo>
                    <a:pt x="57" y="42"/>
                  </a:moveTo>
                  <a:cubicBezTo>
                    <a:pt x="63" y="42"/>
                    <a:pt x="68" y="47"/>
                    <a:pt x="68" y="54"/>
                  </a:cubicBezTo>
                  <a:cubicBezTo>
                    <a:pt x="68" y="60"/>
                    <a:pt x="63" y="65"/>
                    <a:pt x="57" y="65"/>
                  </a:cubicBezTo>
                  <a:cubicBezTo>
                    <a:pt x="50" y="65"/>
                    <a:pt x="45" y="60"/>
                    <a:pt x="45" y="54"/>
                  </a:cubicBezTo>
                  <a:cubicBezTo>
                    <a:pt x="45" y="47"/>
                    <a:pt x="50" y="42"/>
                    <a:pt x="57" y="42"/>
                  </a:cubicBezTo>
                  <a:close/>
                  <a:moveTo>
                    <a:pt x="48" y="32"/>
                  </a:moveTo>
                  <a:cubicBezTo>
                    <a:pt x="36" y="32"/>
                    <a:pt x="26" y="34"/>
                    <a:pt x="19" y="37"/>
                  </a:cubicBezTo>
                  <a:cubicBezTo>
                    <a:pt x="7" y="41"/>
                    <a:pt x="0" y="47"/>
                    <a:pt x="0" y="54"/>
                  </a:cubicBezTo>
                  <a:cubicBezTo>
                    <a:pt x="0" y="60"/>
                    <a:pt x="7" y="66"/>
                    <a:pt x="17" y="70"/>
                  </a:cubicBezTo>
                  <a:cubicBezTo>
                    <a:pt x="13" y="80"/>
                    <a:pt x="12" y="89"/>
                    <a:pt x="17" y="93"/>
                  </a:cubicBezTo>
                  <a:cubicBezTo>
                    <a:pt x="22" y="98"/>
                    <a:pt x="31" y="98"/>
                    <a:pt x="42" y="92"/>
                  </a:cubicBezTo>
                  <a:cubicBezTo>
                    <a:pt x="48" y="89"/>
                    <a:pt x="55" y="84"/>
                    <a:pt x="62" y="78"/>
                  </a:cubicBezTo>
                  <a:cubicBezTo>
                    <a:pt x="48" y="78"/>
                    <a:pt x="48" y="78"/>
                    <a:pt x="48" y="78"/>
                  </a:cubicBezTo>
                  <a:cubicBezTo>
                    <a:pt x="44" y="81"/>
                    <a:pt x="41" y="83"/>
                    <a:pt x="38" y="84"/>
                  </a:cubicBezTo>
                  <a:cubicBezTo>
                    <a:pt x="31" y="88"/>
                    <a:pt x="25" y="89"/>
                    <a:pt x="23" y="87"/>
                  </a:cubicBezTo>
                  <a:cubicBezTo>
                    <a:pt x="21" y="85"/>
                    <a:pt x="23" y="80"/>
                    <a:pt x="26" y="73"/>
                  </a:cubicBezTo>
                  <a:cubicBezTo>
                    <a:pt x="26" y="73"/>
                    <a:pt x="26" y="73"/>
                    <a:pt x="26" y="73"/>
                  </a:cubicBezTo>
                  <a:cubicBezTo>
                    <a:pt x="35" y="75"/>
                    <a:pt x="45" y="76"/>
                    <a:pt x="57" y="76"/>
                  </a:cubicBezTo>
                  <a:cubicBezTo>
                    <a:pt x="64" y="76"/>
                    <a:pt x="71" y="75"/>
                    <a:pt x="77" y="74"/>
                  </a:cubicBezTo>
                  <a:cubicBezTo>
                    <a:pt x="78" y="77"/>
                    <a:pt x="78" y="80"/>
                    <a:pt x="79" y="82"/>
                  </a:cubicBezTo>
                  <a:cubicBezTo>
                    <a:pt x="79" y="90"/>
                    <a:pt x="79" y="95"/>
                    <a:pt x="76" y="96"/>
                  </a:cubicBezTo>
                  <a:cubicBezTo>
                    <a:pt x="74" y="98"/>
                    <a:pt x="69" y="95"/>
                    <a:pt x="64" y="89"/>
                  </a:cubicBezTo>
                  <a:cubicBezTo>
                    <a:pt x="62" y="88"/>
                    <a:pt x="61" y="86"/>
                    <a:pt x="60" y="84"/>
                  </a:cubicBezTo>
                  <a:cubicBezTo>
                    <a:pt x="52" y="89"/>
                    <a:pt x="52" y="89"/>
                    <a:pt x="52" y="89"/>
                  </a:cubicBezTo>
                  <a:cubicBezTo>
                    <a:pt x="54" y="91"/>
                    <a:pt x="56" y="93"/>
                    <a:pt x="57" y="95"/>
                  </a:cubicBezTo>
                  <a:cubicBezTo>
                    <a:pt x="65" y="104"/>
                    <a:pt x="74" y="108"/>
                    <a:pt x="80" y="105"/>
                  </a:cubicBezTo>
                  <a:cubicBezTo>
                    <a:pt x="86" y="102"/>
                    <a:pt x="89" y="93"/>
                    <a:pt x="88" y="81"/>
                  </a:cubicBezTo>
                  <a:cubicBezTo>
                    <a:pt x="87" y="79"/>
                    <a:pt x="87" y="76"/>
                    <a:pt x="86" y="73"/>
                  </a:cubicBezTo>
                  <a:cubicBezTo>
                    <a:pt x="89" y="72"/>
                    <a:pt x="92" y="71"/>
                    <a:pt x="95" y="70"/>
                  </a:cubicBezTo>
                  <a:cubicBezTo>
                    <a:pt x="106" y="67"/>
                    <a:pt x="113" y="61"/>
                    <a:pt x="113" y="54"/>
                  </a:cubicBezTo>
                  <a:cubicBezTo>
                    <a:pt x="113" y="47"/>
                    <a:pt x="106" y="41"/>
                    <a:pt x="95" y="37"/>
                  </a:cubicBezTo>
                  <a:cubicBezTo>
                    <a:pt x="88" y="35"/>
                    <a:pt x="80" y="33"/>
                    <a:pt x="70" y="32"/>
                  </a:cubicBezTo>
                  <a:cubicBezTo>
                    <a:pt x="69" y="31"/>
                    <a:pt x="69" y="29"/>
                    <a:pt x="68" y="28"/>
                  </a:cubicBezTo>
                  <a:cubicBezTo>
                    <a:pt x="70" y="26"/>
                    <a:pt x="73" y="24"/>
                    <a:pt x="76" y="23"/>
                  </a:cubicBezTo>
                  <a:cubicBezTo>
                    <a:pt x="83" y="20"/>
                    <a:pt x="88" y="18"/>
                    <a:pt x="90" y="20"/>
                  </a:cubicBezTo>
                  <a:cubicBezTo>
                    <a:pt x="92" y="22"/>
                    <a:pt x="91" y="27"/>
                    <a:pt x="88" y="33"/>
                  </a:cubicBezTo>
                  <a:cubicBezTo>
                    <a:pt x="97" y="35"/>
                    <a:pt x="97" y="35"/>
                    <a:pt x="97" y="35"/>
                  </a:cubicBezTo>
                  <a:cubicBezTo>
                    <a:pt x="101" y="26"/>
                    <a:pt x="101" y="18"/>
                    <a:pt x="96" y="14"/>
                  </a:cubicBezTo>
                  <a:cubicBezTo>
                    <a:pt x="91" y="9"/>
                    <a:pt x="82" y="10"/>
                    <a:pt x="72" y="15"/>
                  </a:cubicBezTo>
                  <a:cubicBezTo>
                    <a:pt x="69" y="16"/>
                    <a:pt x="66" y="18"/>
                    <a:pt x="63" y="20"/>
                  </a:cubicBezTo>
                  <a:cubicBezTo>
                    <a:pt x="60" y="17"/>
                    <a:pt x="58" y="15"/>
                    <a:pt x="56" y="12"/>
                  </a:cubicBezTo>
                  <a:cubicBezTo>
                    <a:pt x="48" y="4"/>
                    <a:pt x="39" y="0"/>
                    <a:pt x="33" y="3"/>
                  </a:cubicBezTo>
                  <a:cubicBezTo>
                    <a:pt x="27" y="6"/>
                    <a:pt x="24" y="14"/>
                    <a:pt x="26" y="26"/>
                  </a:cubicBezTo>
                  <a:cubicBezTo>
                    <a:pt x="26" y="27"/>
                    <a:pt x="26" y="28"/>
                    <a:pt x="26" y="29"/>
                  </a:cubicBezTo>
                  <a:cubicBezTo>
                    <a:pt x="35" y="29"/>
                    <a:pt x="35" y="29"/>
                    <a:pt x="35" y="29"/>
                  </a:cubicBezTo>
                  <a:cubicBezTo>
                    <a:pt x="35" y="27"/>
                    <a:pt x="35" y="26"/>
                    <a:pt x="34" y="25"/>
                  </a:cubicBezTo>
                  <a:cubicBezTo>
                    <a:pt x="34" y="17"/>
                    <a:pt x="34" y="12"/>
                    <a:pt x="37" y="11"/>
                  </a:cubicBezTo>
                  <a:cubicBezTo>
                    <a:pt x="39" y="10"/>
                    <a:pt x="44" y="13"/>
                    <a:pt x="49" y="18"/>
                  </a:cubicBezTo>
                  <a:cubicBezTo>
                    <a:pt x="51" y="20"/>
                    <a:pt x="53" y="23"/>
                    <a:pt x="55" y="25"/>
                  </a:cubicBezTo>
                  <a:cubicBezTo>
                    <a:pt x="53" y="27"/>
                    <a:pt x="50" y="30"/>
                    <a:pt x="48" y="32"/>
                  </a:cubicBezTo>
                  <a:close/>
                  <a:moveTo>
                    <a:pt x="75" y="42"/>
                  </a:moveTo>
                  <a:cubicBezTo>
                    <a:pt x="82" y="43"/>
                    <a:pt x="87" y="44"/>
                    <a:pt x="92" y="45"/>
                  </a:cubicBezTo>
                  <a:cubicBezTo>
                    <a:pt x="99" y="48"/>
                    <a:pt x="104" y="51"/>
                    <a:pt x="104" y="54"/>
                  </a:cubicBezTo>
                  <a:cubicBezTo>
                    <a:pt x="104" y="56"/>
                    <a:pt x="99" y="59"/>
                    <a:pt x="92" y="62"/>
                  </a:cubicBezTo>
                  <a:cubicBezTo>
                    <a:pt x="89" y="63"/>
                    <a:pt x="87" y="63"/>
                    <a:pt x="84" y="64"/>
                  </a:cubicBezTo>
                  <a:cubicBezTo>
                    <a:pt x="82" y="58"/>
                    <a:pt x="80" y="51"/>
                    <a:pt x="77" y="44"/>
                  </a:cubicBezTo>
                  <a:cubicBezTo>
                    <a:pt x="76" y="44"/>
                    <a:pt x="76" y="43"/>
                    <a:pt x="75" y="42"/>
                  </a:cubicBezTo>
                  <a:close/>
                  <a:moveTo>
                    <a:pt x="75" y="66"/>
                  </a:moveTo>
                  <a:cubicBezTo>
                    <a:pt x="73" y="60"/>
                    <a:pt x="71" y="54"/>
                    <a:pt x="69" y="48"/>
                  </a:cubicBezTo>
                  <a:cubicBezTo>
                    <a:pt x="67" y="46"/>
                    <a:pt x="66" y="43"/>
                    <a:pt x="65" y="41"/>
                  </a:cubicBezTo>
                  <a:cubicBezTo>
                    <a:pt x="62" y="41"/>
                    <a:pt x="59" y="41"/>
                    <a:pt x="57" y="41"/>
                  </a:cubicBezTo>
                  <a:cubicBezTo>
                    <a:pt x="55" y="41"/>
                    <a:pt x="53" y="41"/>
                    <a:pt x="51" y="41"/>
                  </a:cubicBezTo>
                  <a:cubicBezTo>
                    <a:pt x="50" y="42"/>
                    <a:pt x="49" y="43"/>
                    <a:pt x="47" y="44"/>
                  </a:cubicBezTo>
                  <a:cubicBezTo>
                    <a:pt x="47" y="44"/>
                    <a:pt x="47" y="44"/>
                    <a:pt x="47" y="44"/>
                  </a:cubicBezTo>
                  <a:cubicBezTo>
                    <a:pt x="41" y="51"/>
                    <a:pt x="35" y="58"/>
                    <a:pt x="31" y="64"/>
                  </a:cubicBezTo>
                  <a:cubicBezTo>
                    <a:pt x="38" y="66"/>
                    <a:pt x="47" y="67"/>
                    <a:pt x="57" y="67"/>
                  </a:cubicBezTo>
                  <a:cubicBezTo>
                    <a:pt x="63" y="67"/>
                    <a:pt x="69" y="66"/>
                    <a:pt x="75" y="66"/>
                  </a:cubicBezTo>
                  <a:close/>
                  <a:moveTo>
                    <a:pt x="22" y="62"/>
                  </a:moveTo>
                  <a:cubicBezTo>
                    <a:pt x="22" y="62"/>
                    <a:pt x="22" y="62"/>
                    <a:pt x="22" y="62"/>
                  </a:cubicBezTo>
                  <a:cubicBezTo>
                    <a:pt x="14" y="59"/>
                    <a:pt x="9" y="56"/>
                    <a:pt x="9" y="54"/>
                  </a:cubicBezTo>
                  <a:cubicBezTo>
                    <a:pt x="9" y="51"/>
                    <a:pt x="14" y="48"/>
                    <a:pt x="22" y="45"/>
                  </a:cubicBezTo>
                  <a:cubicBezTo>
                    <a:pt x="26" y="44"/>
                    <a:pt x="31" y="43"/>
                    <a:pt x="37" y="42"/>
                  </a:cubicBezTo>
                  <a:cubicBezTo>
                    <a:pt x="31" y="49"/>
                    <a:pt x="26" y="56"/>
                    <a:pt x="22" y="62"/>
                  </a:cubicBezTo>
                  <a:close/>
                  <a:moveTo>
                    <a:pt x="64" y="50"/>
                  </a:moveTo>
                  <a:cubicBezTo>
                    <a:pt x="63" y="55"/>
                    <a:pt x="61" y="59"/>
                    <a:pt x="57" y="62"/>
                  </a:cubicBezTo>
                  <a:cubicBezTo>
                    <a:pt x="63" y="62"/>
                    <a:pt x="66" y="55"/>
                    <a:pt x="64" y="50"/>
                  </a:cubicBezTo>
                  <a:close/>
                  <a:moveTo>
                    <a:pt x="49" y="57"/>
                  </a:moveTo>
                  <a:cubicBezTo>
                    <a:pt x="49" y="55"/>
                    <a:pt x="50" y="54"/>
                    <a:pt x="50" y="53"/>
                  </a:cubicBezTo>
                  <a:cubicBezTo>
                    <a:pt x="49" y="52"/>
                    <a:pt x="49" y="52"/>
                    <a:pt x="49" y="52"/>
                  </a:cubicBezTo>
                  <a:cubicBezTo>
                    <a:pt x="48" y="54"/>
                    <a:pt x="48" y="55"/>
                    <a:pt x="49" y="57"/>
                  </a:cubicBezTo>
                  <a:close/>
                  <a:moveTo>
                    <a:pt x="49" y="50"/>
                  </a:moveTo>
                  <a:cubicBezTo>
                    <a:pt x="51" y="52"/>
                    <a:pt x="51" y="52"/>
                    <a:pt x="51" y="52"/>
                  </a:cubicBezTo>
                  <a:cubicBezTo>
                    <a:pt x="53" y="50"/>
                    <a:pt x="55" y="49"/>
                    <a:pt x="57" y="47"/>
                  </a:cubicBezTo>
                  <a:cubicBezTo>
                    <a:pt x="56" y="45"/>
                    <a:pt x="56" y="45"/>
                    <a:pt x="56" y="45"/>
                  </a:cubicBezTo>
                  <a:cubicBezTo>
                    <a:pt x="53" y="45"/>
                    <a:pt x="50" y="47"/>
                    <a:pt x="49" y="50"/>
                  </a:cubicBezTo>
                  <a:close/>
                  <a:moveTo>
                    <a:pt x="58" y="45"/>
                  </a:moveTo>
                  <a:cubicBezTo>
                    <a:pt x="58" y="47"/>
                    <a:pt x="58" y="47"/>
                    <a:pt x="58" y="47"/>
                  </a:cubicBezTo>
                  <a:cubicBezTo>
                    <a:pt x="59" y="46"/>
                    <a:pt x="59" y="46"/>
                    <a:pt x="60" y="46"/>
                  </a:cubicBezTo>
                  <a:cubicBezTo>
                    <a:pt x="59" y="45"/>
                    <a:pt x="58" y="45"/>
                    <a:pt x="58" y="45"/>
                  </a:cubicBezTo>
                  <a:close/>
                </a:path>
              </a:pathLst>
            </a:custGeom>
            <a:solidFill>
              <a:schemeClr val="bg1"/>
            </a:solidFill>
            <a:ln w="9525">
              <a:noFill/>
            </a:ln>
          </p:spPr>
          <p:txBody>
            <a:bodyPr vert="horz" wrap="square" lIns="91440" tIns="45720" rIns="91440" bIns="45720" numCol="1" anchor="t" anchorCtr="0" compatLnSpc="1"/>
            <a:lstStyle/>
            <a:p>
              <a:endParaRPr lang="zh-CN" altLang="en-US"/>
            </a:p>
          </p:txBody>
        </p:sp>
        <p:sp>
          <p:nvSpPr>
            <p:cNvPr id="13" name="Freeform 154"/>
            <p:cNvSpPr>
              <a:spLocks noEditPoints="1"/>
            </p:cNvSpPr>
            <p:nvPr/>
          </p:nvSpPr>
          <p:spPr bwMode="auto">
            <a:xfrm>
              <a:off x="2527127" y="5589240"/>
              <a:ext cx="341313" cy="349250"/>
            </a:xfrm>
            <a:custGeom>
              <a:avLst/>
              <a:gdLst>
                <a:gd name="T0" fmla="*/ 80 w 91"/>
                <a:gd name="T1" fmla="*/ 44 h 93"/>
                <a:gd name="T2" fmla="*/ 87 w 91"/>
                <a:gd name="T3" fmla="*/ 37 h 93"/>
                <a:gd name="T4" fmla="*/ 87 w 91"/>
                <a:gd name="T5" fmla="*/ 23 h 93"/>
                <a:gd name="T6" fmla="*/ 68 w 91"/>
                <a:gd name="T7" fmla="*/ 4 h 93"/>
                <a:gd name="T8" fmla="*/ 54 w 91"/>
                <a:gd name="T9" fmla="*/ 4 h 93"/>
                <a:gd name="T10" fmla="*/ 47 w 91"/>
                <a:gd name="T11" fmla="*/ 11 h 93"/>
                <a:gd name="T12" fmla="*/ 80 w 91"/>
                <a:gd name="T13" fmla="*/ 44 h 93"/>
                <a:gd name="T14" fmla="*/ 52 w 91"/>
                <a:gd name="T15" fmla="*/ 23 h 93"/>
                <a:gd name="T16" fmla="*/ 68 w 91"/>
                <a:gd name="T17" fmla="*/ 39 h 93"/>
                <a:gd name="T18" fmla="*/ 77 w 91"/>
                <a:gd name="T19" fmla="*/ 48 h 93"/>
                <a:gd name="T20" fmla="*/ 43 w 91"/>
                <a:gd name="T21" fmla="*/ 81 h 93"/>
                <a:gd name="T22" fmla="*/ 34 w 91"/>
                <a:gd name="T23" fmla="*/ 73 h 93"/>
                <a:gd name="T24" fmla="*/ 19 w 91"/>
                <a:gd name="T25" fmla="*/ 59 h 93"/>
                <a:gd name="T26" fmla="*/ 41 w 91"/>
                <a:gd name="T27" fmla="*/ 37 h 93"/>
                <a:gd name="T28" fmla="*/ 39 w 91"/>
                <a:gd name="T29" fmla="*/ 34 h 93"/>
                <a:gd name="T30" fmla="*/ 16 w 91"/>
                <a:gd name="T31" fmla="*/ 57 h 93"/>
                <a:gd name="T32" fmla="*/ 10 w 91"/>
                <a:gd name="T33" fmla="*/ 48 h 93"/>
                <a:gd name="T34" fmla="*/ 43 w 91"/>
                <a:gd name="T35" fmla="*/ 14 h 93"/>
                <a:gd name="T36" fmla="*/ 52 w 91"/>
                <a:gd name="T37" fmla="*/ 23 h 93"/>
                <a:gd name="T38" fmla="*/ 4 w 91"/>
                <a:gd name="T39" fmla="*/ 69 h 93"/>
                <a:gd name="T40" fmla="*/ 0 w 91"/>
                <a:gd name="T41" fmla="*/ 86 h 93"/>
                <a:gd name="T42" fmla="*/ 6 w 91"/>
                <a:gd name="T43" fmla="*/ 93 h 93"/>
                <a:gd name="T44" fmla="*/ 24 w 91"/>
                <a:gd name="T45" fmla="*/ 89 h 93"/>
                <a:gd name="T46" fmla="*/ 4 w 91"/>
                <a:gd name="T47" fmla="*/ 69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1" h="93">
                  <a:moveTo>
                    <a:pt x="80" y="44"/>
                  </a:moveTo>
                  <a:cubicBezTo>
                    <a:pt x="87" y="37"/>
                    <a:pt x="87" y="37"/>
                    <a:pt x="87" y="37"/>
                  </a:cubicBezTo>
                  <a:cubicBezTo>
                    <a:pt x="91" y="33"/>
                    <a:pt x="91" y="27"/>
                    <a:pt x="87" y="23"/>
                  </a:cubicBezTo>
                  <a:cubicBezTo>
                    <a:pt x="68" y="4"/>
                    <a:pt x="68" y="4"/>
                    <a:pt x="68" y="4"/>
                  </a:cubicBezTo>
                  <a:cubicBezTo>
                    <a:pt x="64" y="0"/>
                    <a:pt x="58" y="0"/>
                    <a:pt x="54" y="4"/>
                  </a:cubicBezTo>
                  <a:cubicBezTo>
                    <a:pt x="47" y="11"/>
                    <a:pt x="47" y="11"/>
                    <a:pt x="47" y="11"/>
                  </a:cubicBezTo>
                  <a:cubicBezTo>
                    <a:pt x="80" y="44"/>
                    <a:pt x="80" y="44"/>
                    <a:pt x="80" y="44"/>
                  </a:cubicBezTo>
                  <a:close/>
                  <a:moveTo>
                    <a:pt x="52" y="23"/>
                  </a:moveTo>
                  <a:cubicBezTo>
                    <a:pt x="68" y="39"/>
                    <a:pt x="68" y="39"/>
                    <a:pt x="68" y="39"/>
                  </a:cubicBezTo>
                  <a:cubicBezTo>
                    <a:pt x="77" y="48"/>
                    <a:pt x="77" y="48"/>
                    <a:pt x="77" y="48"/>
                  </a:cubicBezTo>
                  <a:cubicBezTo>
                    <a:pt x="43" y="81"/>
                    <a:pt x="43" y="81"/>
                    <a:pt x="43" y="81"/>
                  </a:cubicBezTo>
                  <a:cubicBezTo>
                    <a:pt x="35" y="83"/>
                    <a:pt x="33" y="79"/>
                    <a:pt x="34" y="73"/>
                  </a:cubicBezTo>
                  <a:cubicBezTo>
                    <a:pt x="26" y="72"/>
                    <a:pt x="20" y="68"/>
                    <a:pt x="19" y="59"/>
                  </a:cubicBezTo>
                  <a:cubicBezTo>
                    <a:pt x="41" y="37"/>
                    <a:pt x="41" y="37"/>
                    <a:pt x="41" y="37"/>
                  </a:cubicBezTo>
                  <a:cubicBezTo>
                    <a:pt x="39" y="34"/>
                    <a:pt x="39" y="34"/>
                    <a:pt x="39" y="34"/>
                  </a:cubicBezTo>
                  <a:cubicBezTo>
                    <a:pt x="16" y="57"/>
                    <a:pt x="16" y="57"/>
                    <a:pt x="16" y="57"/>
                  </a:cubicBezTo>
                  <a:cubicBezTo>
                    <a:pt x="10" y="58"/>
                    <a:pt x="9" y="54"/>
                    <a:pt x="10" y="48"/>
                  </a:cubicBezTo>
                  <a:cubicBezTo>
                    <a:pt x="21" y="37"/>
                    <a:pt x="32" y="26"/>
                    <a:pt x="43" y="14"/>
                  </a:cubicBezTo>
                  <a:cubicBezTo>
                    <a:pt x="52" y="23"/>
                    <a:pt x="52" y="23"/>
                    <a:pt x="52" y="23"/>
                  </a:cubicBezTo>
                  <a:close/>
                  <a:moveTo>
                    <a:pt x="4" y="69"/>
                  </a:moveTo>
                  <a:cubicBezTo>
                    <a:pt x="0" y="86"/>
                    <a:pt x="0" y="86"/>
                    <a:pt x="0" y="86"/>
                  </a:cubicBezTo>
                  <a:cubicBezTo>
                    <a:pt x="6" y="93"/>
                    <a:pt x="6" y="93"/>
                    <a:pt x="6" y="93"/>
                  </a:cubicBezTo>
                  <a:cubicBezTo>
                    <a:pt x="24" y="89"/>
                    <a:pt x="24" y="89"/>
                    <a:pt x="24" y="89"/>
                  </a:cubicBezTo>
                  <a:lnTo>
                    <a:pt x="4" y="69"/>
                  </a:lnTo>
                  <a:close/>
                </a:path>
              </a:pathLst>
            </a:custGeom>
            <a:solidFill>
              <a:schemeClr val="bg1"/>
            </a:solidFill>
            <a:ln w="9525">
              <a:noFill/>
            </a:ln>
          </p:spPr>
          <p:txBody>
            <a:bodyPr vert="horz" wrap="square" lIns="91440" tIns="45720" rIns="91440" bIns="45720" numCol="1" anchor="t" anchorCtr="0" compatLnSpc="1"/>
            <a:lstStyle/>
            <a:p>
              <a:endParaRPr lang="zh-CN" altLang="en-US" dirty="0"/>
            </a:p>
          </p:txBody>
        </p:sp>
        <p:sp>
          <p:nvSpPr>
            <p:cNvPr id="14" name="Freeform 190"/>
            <p:cNvSpPr>
              <a:spLocks noEditPoints="1"/>
            </p:cNvSpPr>
            <p:nvPr/>
          </p:nvSpPr>
          <p:spPr bwMode="auto">
            <a:xfrm>
              <a:off x="3645347" y="5589240"/>
              <a:ext cx="409575" cy="330200"/>
            </a:xfrm>
            <a:custGeom>
              <a:avLst/>
              <a:gdLst>
                <a:gd name="T0" fmla="*/ 86 w 109"/>
                <a:gd name="T1" fmla="*/ 88 h 88"/>
                <a:gd name="T2" fmla="*/ 84 w 109"/>
                <a:gd name="T3" fmla="*/ 44 h 88"/>
                <a:gd name="T4" fmla="*/ 80 w 109"/>
                <a:gd name="T5" fmla="*/ 71 h 88"/>
                <a:gd name="T6" fmla="*/ 109 w 109"/>
                <a:gd name="T7" fmla="*/ 0 h 88"/>
                <a:gd name="T8" fmla="*/ 92 w 109"/>
                <a:gd name="T9" fmla="*/ 33 h 88"/>
                <a:gd name="T10" fmla="*/ 80 w 109"/>
                <a:gd name="T11" fmla="*/ 25 h 88"/>
                <a:gd name="T12" fmla="*/ 67 w 109"/>
                <a:gd name="T13" fmla="*/ 68 h 88"/>
                <a:gd name="T14" fmla="*/ 37 w 109"/>
                <a:gd name="T15" fmla="*/ 73 h 88"/>
                <a:gd name="T16" fmla="*/ 19 w 109"/>
                <a:gd name="T17" fmla="*/ 63 h 88"/>
                <a:gd name="T18" fmla="*/ 0 w 109"/>
                <a:gd name="T19" fmla="*/ 56 h 88"/>
                <a:gd name="T20" fmla="*/ 25 w 109"/>
                <a:gd name="T21" fmla="*/ 48 h 88"/>
                <a:gd name="T22" fmla="*/ 30 w 109"/>
                <a:gd name="T23" fmla="*/ 57 h 88"/>
                <a:gd name="T24" fmla="*/ 44 w 109"/>
                <a:gd name="T25" fmla="*/ 29 h 88"/>
                <a:gd name="T26" fmla="*/ 66 w 109"/>
                <a:gd name="T27" fmla="*/ 50 h 88"/>
                <a:gd name="T28" fmla="*/ 68 w 109"/>
                <a:gd name="T29" fmla="*/ 18 h 88"/>
                <a:gd name="T30" fmla="*/ 78 w 109"/>
                <a:gd name="T31" fmla="*/ 12 h 88"/>
                <a:gd name="T32" fmla="*/ 90 w 109"/>
                <a:gd name="T33" fmla="*/ 1 h 88"/>
                <a:gd name="T34" fmla="*/ 22 w 109"/>
                <a:gd name="T35" fmla="*/ 88 h 88"/>
                <a:gd name="T36" fmla="*/ 29 w 109"/>
                <a:gd name="T37" fmla="*/ 80 h 88"/>
                <a:gd name="T38" fmla="*/ 22 w 109"/>
                <a:gd name="T39" fmla="*/ 79 h 88"/>
                <a:gd name="T40" fmla="*/ 11 w 109"/>
                <a:gd name="T41" fmla="*/ 88 h 88"/>
                <a:gd name="T42" fmla="*/ 17 w 109"/>
                <a:gd name="T43" fmla="*/ 71 h 88"/>
                <a:gd name="T44" fmla="*/ 11 w 109"/>
                <a:gd name="T45" fmla="*/ 73 h 88"/>
                <a:gd name="T46" fmla="*/ 34 w 109"/>
                <a:gd name="T47" fmla="*/ 88 h 88"/>
                <a:gd name="T48" fmla="*/ 40 w 109"/>
                <a:gd name="T49" fmla="*/ 79 h 88"/>
                <a:gd name="T50" fmla="*/ 34 w 109"/>
                <a:gd name="T51" fmla="*/ 80 h 88"/>
                <a:gd name="T52" fmla="*/ 45 w 109"/>
                <a:gd name="T53" fmla="*/ 88 h 88"/>
                <a:gd name="T54" fmla="*/ 52 w 109"/>
                <a:gd name="T55" fmla="*/ 63 h 88"/>
                <a:gd name="T56" fmla="*/ 45 w 109"/>
                <a:gd name="T57" fmla="*/ 69 h 88"/>
                <a:gd name="T58" fmla="*/ 57 w 109"/>
                <a:gd name="T59" fmla="*/ 88 h 88"/>
                <a:gd name="T60" fmla="*/ 63 w 109"/>
                <a:gd name="T61" fmla="*/ 73 h 88"/>
                <a:gd name="T62" fmla="*/ 57 w 109"/>
                <a:gd name="T63" fmla="*/ 88 h 88"/>
                <a:gd name="T64" fmla="*/ 75 w 109"/>
                <a:gd name="T65" fmla="*/ 88 h 88"/>
                <a:gd name="T66" fmla="*/ 68 w 109"/>
                <a:gd name="T67" fmla="*/ 75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9" h="88">
                  <a:moveTo>
                    <a:pt x="80" y="88"/>
                  </a:moveTo>
                  <a:cubicBezTo>
                    <a:pt x="86" y="88"/>
                    <a:pt x="86" y="88"/>
                    <a:pt x="86" y="88"/>
                  </a:cubicBezTo>
                  <a:cubicBezTo>
                    <a:pt x="86" y="44"/>
                    <a:pt x="86" y="44"/>
                    <a:pt x="86" y="44"/>
                  </a:cubicBezTo>
                  <a:cubicBezTo>
                    <a:pt x="84" y="44"/>
                    <a:pt x="84" y="44"/>
                    <a:pt x="84" y="44"/>
                  </a:cubicBezTo>
                  <a:cubicBezTo>
                    <a:pt x="82" y="70"/>
                    <a:pt x="82" y="70"/>
                    <a:pt x="82" y="70"/>
                  </a:cubicBezTo>
                  <a:cubicBezTo>
                    <a:pt x="80" y="71"/>
                    <a:pt x="80" y="71"/>
                    <a:pt x="80" y="71"/>
                  </a:cubicBezTo>
                  <a:cubicBezTo>
                    <a:pt x="80" y="88"/>
                    <a:pt x="80" y="88"/>
                    <a:pt x="80" y="88"/>
                  </a:cubicBezTo>
                  <a:close/>
                  <a:moveTo>
                    <a:pt x="109" y="0"/>
                  </a:moveTo>
                  <a:cubicBezTo>
                    <a:pt x="100" y="17"/>
                    <a:pt x="100" y="17"/>
                    <a:pt x="100" y="17"/>
                  </a:cubicBezTo>
                  <a:cubicBezTo>
                    <a:pt x="92" y="33"/>
                    <a:pt x="92" y="33"/>
                    <a:pt x="92" y="33"/>
                  </a:cubicBezTo>
                  <a:cubicBezTo>
                    <a:pt x="84" y="22"/>
                    <a:pt x="84" y="22"/>
                    <a:pt x="84" y="22"/>
                  </a:cubicBezTo>
                  <a:cubicBezTo>
                    <a:pt x="80" y="25"/>
                    <a:pt x="80" y="25"/>
                    <a:pt x="80" y="25"/>
                  </a:cubicBezTo>
                  <a:cubicBezTo>
                    <a:pt x="77" y="64"/>
                    <a:pt x="77" y="64"/>
                    <a:pt x="77" y="64"/>
                  </a:cubicBezTo>
                  <a:cubicBezTo>
                    <a:pt x="67" y="68"/>
                    <a:pt x="67" y="68"/>
                    <a:pt x="67" y="68"/>
                  </a:cubicBezTo>
                  <a:cubicBezTo>
                    <a:pt x="48" y="50"/>
                    <a:pt x="48" y="50"/>
                    <a:pt x="48" y="50"/>
                  </a:cubicBezTo>
                  <a:cubicBezTo>
                    <a:pt x="37" y="73"/>
                    <a:pt x="37" y="73"/>
                    <a:pt x="37" y="73"/>
                  </a:cubicBezTo>
                  <a:cubicBezTo>
                    <a:pt x="26" y="73"/>
                    <a:pt x="26" y="73"/>
                    <a:pt x="26" y="73"/>
                  </a:cubicBezTo>
                  <a:cubicBezTo>
                    <a:pt x="19" y="63"/>
                    <a:pt x="19" y="63"/>
                    <a:pt x="19" y="63"/>
                  </a:cubicBezTo>
                  <a:cubicBezTo>
                    <a:pt x="4" y="67"/>
                    <a:pt x="4" y="67"/>
                    <a:pt x="4" y="67"/>
                  </a:cubicBezTo>
                  <a:cubicBezTo>
                    <a:pt x="0" y="56"/>
                    <a:pt x="0" y="56"/>
                    <a:pt x="0" y="56"/>
                  </a:cubicBezTo>
                  <a:cubicBezTo>
                    <a:pt x="20" y="50"/>
                    <a:pt x="20" y="50"/>
                    <a:pt x="20" y="50"/>
                  </a:cubicBezTo>
                  <a:cubicBezTo>
                    <a:pt x="25" y="48"/>
                    <a:pt x="25" y="48"/>
                    <a:pt x="25" y="48"/>
                  </a:cubicBezTo>
                  <a:cubicBezTo>
                    <a:pt x="27" y="52"/>
                    <a:pt x="27" y="52"/>
                    <a:pt x="27" y="52"/>
                  </a:cubicBezTo>
                  <a:cubicBezTo>
                    <a:pt x="30" y="57"/>
                    <a:pt x="30" y="57"/>
                    <a:pt x="30" y="57"/>
                  </a:cubicBezTo>
                  <a:cubicBezTo>
                    <a:pt x="40" y="37"/>
                    <a:pt x="40" y="37"/>
                    <a:pt x="40" y="37"/>
                  </a:cubicBezTo>
                  <a:cubicBezTo>
                    <a:pt x="44" y="29"/>
                    <a:pt x="44" y="29"/>
                    <a:pt x="44" y="29"/>
                  </a:cubicBezTo>
                  <a:cubicBezTo>
                    <a:pt x="50" y="35"/>
                    <a:pt x="50" y="35"/>
                    <a:pt x="50" y="35"/>
                  </a:cubicBezTo>
                  <a:cubicBezTo>
                    <a:pt x="66" y="50"/>
                    <a:pt x="66" y="50"/>
                    <a:pt x="66" y="50"/>
                  </a:cubicBezTo>
                  <a:cubicBezTo>
                    <a:pt x="68" y="21"/>
                    <a:pt x="68" y="21"/>
                    <a:pt x="68" y="21"/>
                  </a:cubicBezTo>
                  <a:cubicBezTo>
                    <a:pt x="68" y="18"/>
                    <a:pt x="68" y="18"/>
                    <a:pt x="68" y="18"/>
                  </a:cubicBezTo>
                  <a:cubicBezTo>
                    <a:pt x="71" y="16"/>
                    <a:pt x="71" y="16"/>
                    <a:pt x="71" y="16"/>
                  </a:cubicBezTo>
                  <a:cubicBezTo>
                    <a:pt x="78" y="12"/>
                    <a:pt x="78" y="12"/>
                    <a:pt x="78" y="12"/>
                  </a:cubicBezTo>
                  <a:cubicBezTo>
                    <a:pt x="72" y="2"/>
                    <a:pt x="72" y="2"/>
                    <a:pt x="72" y="2"/>
                  </a:cubicBezTo>
                  <a:cubicBezTo>
                    <a:pt x="90" y="1"/>
                    <a:pt x="90" y="1"/>
                    <a:pt x="90" y="1"/>
                  </a:cubicBezTo>
                  <a:cubicBezTo>
                    <a:pt x="109" y="0"/>
                    <a:pt x="109" y="0"/>
                    <a:pt x="109" y="0"/>
                  </a:cubicBezTo>
                  <a:close/>
                  <a:moveTo>
                    <a:pt x="22" y="88"/>
                  </a:moveTo>
                  <a:cubicBezTo>
                    <a:pt x="24" y="88"/>
                    <a:pt x="27" y="88"/>
                    <a:pt x="29" y="88"/>
                  </a:cubicBezTo>
                  <a:cubicBezTo>
                    <a:pt x="29" y="80"/>
                    <a:pt x="29" y="80"/>
                    <a:pt x="29" y="80"/>
                  </a:cubicBezTo>
                  <a:cubicBezTo>
                    <a:pt x="23" y="81"/>
                    <a:pt x="23" y="81"/>
                    <a:pt x="23" y="81"/>
                  </a:cubicBezTo>
                  <a:cubicBezTo>
                    <a:pt x="22" y="79"/>
                    <a:pt x="22" y="79"/>
                    <a:pt x="22" y="79"/>
                  </a:cubicBezTo>
                  <a:cubicBezTo>
                    <a:pt x="22" y="88"/>
                    <a:pt x="22" y="88"/>
                    <a:pt x="22" y="88"/>
                  </a:cubicBezTo>
                  <a:close/>
                  <a:moveTo>
                    <a:pt x="11" y="88"/>
                  </a:moveTo>
                  <a:cubicBezTo>
                    <a:pt x="17" y="88"/>
                    <a:pt x="17" y="88"/>
                    <a:pt x="17" y="88"/>
                  </a:cubicBezTo>
                  <a:cubicBezTo>
                    <a:pt x="17" y="71"/>
                    <a:pt x="17" y="71"/>
                    <a:pt x="17" y="71"/>
                  </a:cubicBezTo>
                  <a:cubicBezTo>
                    <a:pt x="17" y="71"/>
                    <a:pt x="17" y="71"/>
                    <a:pt x="17" y="71"/>
                  </a:cubicBezTo>
                  <a:cubicBezTo>
                    <a:pt x="11" y="73"/>
                    <a:pt x="11" y="73"/>
                    <a:pt x="11" y="73"/>
                  </a:cubicBezTo>
                  <a:cubicBezTo>
                    <a:pt x="11" y="88"/>
                    <a:pt x="11" y="88"/>
                    <a:pt x="11" y="88"/>
                  </a:cubicBezTo>
                  <a:close/>
                  <a:moveTo>
                    <a:pt x="34" y="88"/>
                  </a:moveTo>
                  <a:cubicBezTo>
                    <a:pt x="36" y="88"/>
                    <a:pt x="38" y="88"/>
                    <a:pt x="40" y="88"/>
                  </a:cubicBezTo>
                  <a:cubicBezTo>
                    <a:pt x="40" y="79"/>
                    <a:pt x="40" y="79"/>
                    <a:pt x="40" y="79"/>
                  </a:cubicBezTo>
                  <a:cubicBezTo>
                    <a:pt x="40" y="80"/>
                    <a:pt x="40" y="80"/>
                    <a:pt x="40" y="80"/>
                  </a:cubicBezTo>
                  <a:cubicBezTo>
                    <a:pt x="34" y="80"/>
                    <a:pt x="34" y="80"/>
                    <a:pt x="34" y="80"/>
                  </a:cubicBezTo>
                  <a:cubicBezTo>
                    <a:pt x="34" y="88"/>
                    <a:pt x="34" y="88"/>
                    <a:pt x="34" y="88"/>
                  </a:cubicBezTo>
                  <a:close/>
                  <a:moveTo>
                    <a:pt x="45" y="88"/>
                  </a:moveTo>
                  <a:cubicBezTo>
                    <a:pt x="47" y="88"/>
                    <a:pt x="50" y="88"/>
                    <a:pt x="52" y="88"/>
                  </a:cubicBezTo>
                  <a:cubicBezTo>
                    <a:pt x="52" y="63"/>
                    <a:pt x="52" y="63"/>
                    <a:pt x="52" y="63"/>
                  </a:cubicBezTo>
                  <a:cubicBezTo>
                    <a:pt x="49" y="60"/>
                    <a:pt x="49" y="60"/>
                    <a:pt x="49" y="60"/>
                  </a:cubicBezTo>
                  <a:cubicBezTo>
                    <a:pt x="45" y="69"/>
                    <a:pt x="45" y="69"/>
                    <a:pt x="45" y="69"/>
                  </a:cubicBezTo>
                  <a:cubicBezTo>
                    <a:pt x="45" y="88"/>
                    <a:pt x="45" y="88"/>
                    <a:pt x="45" y="88"/>
                  </a:cubicBezTo>
                  <a:close/>
                  <a:moveTo>
                    <a:pt x="57" y="88"/>
                  </a:moveTo>
                  <a:cubicBezTo>
                    <a:pt x="59" y="88"/>
                    <a:pt x="61" y="88"/>
                    <a:pt x="63" y="88"/>
                  </a:cubicBezTo>
                  <a:cubicBezTo>
                    <a:pt x="63" y="73"/>
                    <a:pt x="63" y="73"/>
                    <a:pt x="63" y="73"/>
                  </a:cubicBezTo>
                  <a:cubicBezTo>
                    <a:pt x="57" y="67"/>
                    <a:pt x="57" y="67"/>
                    <a:pt x="57" y="67"/>
                  </a:cubicBezTo>
                  <a:cubicBezTo>
                    <a:pt x="57" y="88"/>
                    <a:pt x="57" y="88"/>
                    <a:pt x="57" y="88"/>
                  </a:cubicBezTo>
                  <a:close/>
                  <a:moveTo>
                    <a:pt x="68" y="88"/>
                  </a:moveTo>
                  <a:cubicBezTo>
                    <a:pt x="70" y="88"/>
                    <a:pt x="73" y="88"/>
                    <a:pt x="75" y="88"/>
                  </a:cubicBezTo>
                  <a:cubicBezTo>
                    <a:pt x="75" y="72"/>
                    <a:pt x="75" y="72"/>
                    <a:pt x="75" y="72"/>
                  </a:cubicBezTo>
                  <a:cubicBezTo>
                    <a:pt x="68" y="75"/>
                    <a:pt x="68" y="75"/>
                    <a:pt x="68" y="75"/>
                  </a:cubicBezTo>
                  <a:lnTo>
                    <a:pt x="68" y="88"/>
                  </a:lnTo>
                  <a:close/>
                </a:path>
              </a:pathLst>
            </a:custGeom>
            <a:solidFill>
              <a:schemeClr val="bg1"/>
            </a:solidFill>
            <a:ln w="9525">
              <a:noFill/>
            </a:ln>
          </p:spPr>
          <p:txBody>
            <a:bodyPr vert="horz" wrap="square" lIns="91440" tIns="45720" rIns="91440" bIns="45720" numCol="1" anchor="t" anchorCtr="0" compatLnSpc="1"/>
            <a:lstStyle/>
            <a:p>
              <a:endParaRPr lang="zh-CN" altLang="en-US"/>
            </a:p>
          </p:txBody>
        </p:sp>
      </p:grpSp>
    </p:spTree>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mc:AlternateContent xmlns:mc="http://schemas.openxmlformats.org/markup-compatibility/2006">
    <mc:Choice xmlns=""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withEffect" p14:presetBounceEnd="62000">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14:bounceEnd="62000">
                                          <p:cBhvr additive="base">
                                            <p:cTn id="7" dur="500" fill="hold"/>
                                            <p:tgtEl>
                                              <p:spTgt spid="7"/>
                                            </p:tgtEl>
                                            <p:attrNameLst>
                                              <p:attrName>ppt_x</p:attrName>
                                            </p:attrNameLst>
                                          </p:cBhvr>
                                          <p:tavLst>
                                            <p:tav tm="0">
                                              <p:val>
                                                <p:strVal val="1+#ppt_w/2"/>
                                              </p:val>
                                            </p:tav>
                                            <p:tav tm="100000">
                                              <p:val>
                                                <p:strVal val="#ppt_x"/>
                                              </p:val>
                                            </p:tav>
                                          </p:tavLst>
                                        </p:anim>
                                        <p:anim calcmode="lin" valueType="num" p14:bounceEnd="62000">
                                          <p:cBhvr additive="base">
                                            <p:cTn id="8" dur="500" fill="hold"/>
                                            <p:tgtEl>
                                              <p:spTgt spid="7"/>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3" fill="hold" nodeType="afterEffect" p14:presetBounceEnd="62000">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14:bounceEnd="62000">
                                          <p:cBhvr additive="base">
                                            <p:cTn id="12" dur="500" fill="hold"/>
                                            <p:tgtEl>
                                              <p:spTgt spid="8"/>
                                            </p:tgtEl>
                                            <p:attrNameLst>
                                              <p:attrName>ppt_x</p:attrName>
                                            </p:attrNameLst>
                                          </p:cBhvr>
                                          <p:tavLst>
                                            <p:tav tm="0">
                                              <p:val>
                                                <p:strVal val="1+#ppt_w/2"/>
                                              </p:val>
                                            </p:tav>
                                            <p:tav tm="100000">
                                              <p:val>
                                                <p:strVal val="#ppt_x"/>
                                              </p:val>
                                            </p:tav>
                                          </p:tavLst>
                                        </p:anim>
                                        <p:anim calcmode="lin" valueType="num" p14:bounceEnd="62000">
                                          <p:cBhvr additive="base">
                                            <p:cTn id="13" dur="500" fill="hold"/>
                                            <p:tgtEl>
                                              <p:spTgt spid="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3"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1+#ppt_w/2"/>
                                              </p:val>
                                            </p:tav>
                                            <p:tav tm="100000">
                                              <p:val>
                                                <p:strVal val="#ppt_x"/>
                                              </p:val>
                                            </p:tav>
                                          </p:tavLst>
                                        </p:anim>
                                        <p:anim calcmode="lin" valueType="num">
                                          <p:cBhvr additive="base">
                                            <p:cTn id="13" dur="500" fill="hold"/>
                                            <p:tgtEl>
                                              <p:spTgt spid="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2JiYTU0ODI5ZDk0ZWQ3NGI1NDJhOWI0YmI4Y2FiNTkifQ=="/>
</p:tagLst>
</file>

<file path=ppt/tags/tag2.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PA" val="v5.1.0"/>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TABLE_ENDDRAG_ORIGIN_RECT" val="809*379"/>
  <p:tag name="TABLE_ENDDRAG_RECT" val="63*81*809*379"/>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52.62503937007872,&quot;left&quot;:511.05039370078737,&quot;top&quot;:89.74984251968503,&quot;width&quot;:164.82464566929139}"/>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52.62503937007872,&quot;left&quot;:511.05039370078737,&quot;top&quot;:89.74984251968503,&quot;width&quot;:164.82464566929139}"/>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52.62503937007872,&quot;left&quot;:511.05039370078737,&quot;top&quot;:89.74984251968503,&quot;width&quot;:164.82464566929139}"/>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52.62503937007872,&quot;left&quot;:511.05039370078737,&quot;top&quot;:89.74984251968503,&quot;width&quot;:164.82464566929139}"/>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52.62503937007872,&quot;left&quot;:511.05039370078737,&quot;top&quot;:89.74984251968503,&quot;width&quot;:164.82464566929139}"/>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52.62503937007872,&quot;left&quot;:511.05039370078737,&quot;top&quot;:89.74984251968503,&quot;width&quot;:164.82464566929139}"/>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52.62503937007872,&quot;left&quot;:511.05039370078737,&quot;top&quot;:89.74984251968503,&quot;width&quot;:164.82464566929139}"/>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52.62503937007872,&quot;left&quot;:511.05039370078737,&quot;top&quot;:89.74984251968503,&quot;width&quot;:164.82464566929139}"/>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52.62503937007872,&quot;left&quot;:511.05039370078737,&quot;top&quot;:89.74984251968503,&quot;width&quot;:164.82464566929139}"/>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52.62503937007872,&quot;left&quot;:511.05039370078737,&quot;top&quot;:89.74984251968503,&quot;width&quot;:164.82464566929139}"/>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52.62503937007872,&quot;left&quot;:511.05039370078737,&quot;top&quot;:89.74984251968503,&quot;width&quot;:164.82464566929139}"/>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52.62503937007872,&quot;left&quot;:511.05039370078737,&quot;top&quot;:89.74984251968503,&quot;width&quot;:164.82464566929139}"/>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52.62503937007872,&quot;left&quot;:511.05039370078737,&quot;top&quot;:89.74984251968503,&quot;width&quot;:164.82464566929139}"/>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52.62503937007872,&quot;left&quot;:511.05039370078737,&quot;top&quot;:89.74984251968503,&quot;width&quot;:164.82464566929139}"/>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52.62503937007872,&quot;left&quot;:511.05039370078737,&quot;top&quot;:89.74984251968503,&quot;width&quot;:164.82464566929139}"/>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52.62503937007872,&quot;left&quot;:511.05039370078737,&quot;top&quot;:89.74984251968503,&quot;width&quot;:164.82464566929139}"/>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52.62503937007872,&quot;left&quot;:511.05039370078737,&quot;top&quot;:89.74984251968503,&quot;width&quot;:164.82464566929139}"/>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52.62503937007872,&quot;left&quot;:511.05039370078737,&quot;top&quot;:89.74984251968503,&quot;width&quot;:164.82464566929139}"/>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封面">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思源黑体"/>
        <a:cs typeface=""/>
      </a:majorFont>
      <a:minorFont>
        <a:latin typeface="Arial"/>
        <a:ea typeface="思源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思源黑体"/>
        <a:cs typeface=""/>
      </a:majorFont>
      <a:minorFont>
        <a:latin typeface="Arial"/>
        <a:ea typeface="思源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6303</TotalTime>
  <Words>1975</Words>
  <Application>Microsoft Office PowerPoint</Application>
  <PresentationFormat>自定义</PresentationFormat>
  <Paragraphs>258</Paragraphs>
  <Slides>35</Slides>
  <Notes>0</Notes>
  <HiddenSlides>1</HiddenSlides>
  <MMClips>0</MMClips>
  <ScaleCrop>false</ScaleCrop>
  <HeadingPairs>
    <vt:vector size="4" baseType="variant">
      <vt:variant>
        <vt:lpstr>主题</vt:lpstr>
      </vt:variant>
      <vt:variant>
        <vt:i4>3</vt:i4>
      </vt:variant>
      <vt:variant>
        <vt:lpstr>幻灯片标题</vt:lpstr>
      </vt:variant>
      <vt:variant>
        <vt:i4>35</vt:i4>
      </vt:variant>
    </vt:vector>
  </HeadingPairs>
  <TitlesOfParts>
    <vt:vector size="38" baseType="lpstr">
      <vt:lpstr>Office 主题​​</vt:lpstr>
      <vt:lpstr>封面</vt:lpstr>
      <vt:lpstr>自定义设计方案</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赵爽</dc:creator>
  <cp:lastModifiedBy>mibin</cp:lastModifiedBy>
  <cp:revision>140</cp:revision>
  <dcterms:created xsi:type="dcterms:W3CDTF">2023-08-24T06:48:00Z</dcterms:created>
  <dcterms:modified xsi:type="dcterms:W3CDTF">2025-09-25T11:29:35Z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E8D327BD1DC44C898E30A2F7AC37211F_13</vt:lpwstr>
  </property>
  <property fmtid="{D5CDD505-2E9C-101B-9397-08002B2CF9AE}" pid="3" name="KSOProductBuildVer">
    <vt:lpwstr>2052-12.1.0.21915</vt:lpwstr>
  </property>
</Properties>
</file>