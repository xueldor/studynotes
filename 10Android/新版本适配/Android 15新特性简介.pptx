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9" r:id="rId2"/>
    <p:sldId id="268" r:id="rId3"/>
    <p:sldId id="257" r:id="rId4"/>
    <p:sldId id="259" r:id="rId5"/>
    <p:sldId id="258" r:id="rId6"/>
    <p:sldId id="260" r:id="rId7"/>
    <p:sldId id="261" r:id="rId8"/>
    <p:sldId id="262" r:id="rId9"/>
    <p:sldId id="266" r:id="rId10"/>
    <p:sldId id="263" r:id="rId11"/>
    <p:sldId id="264" r:id="rId12"/>
    <p:sldId id="265" r:id="rId13"/>
    <p:sldId id="267" r:id="rId1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54" d="100"/>
          <a:sy n="154" d="100"/>
        </p:scale>
        <p:origin x="53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70BC6EC-6842-BC9A-97BE-E79CA3CB0A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1BE07E94-5D8B-ADB8-47E3-ADCE22A99E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A170123-7FC1-D53E-BE59-19B4334F45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CAD6C4-5F98-4E01-ADDC-680CEC425FF9}" type="datetimeFigureOut">
              <a:rPr lang="zh-CN" altLang="en-US" smtClean="0"/>
              <a:t>2025/5/16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56E15F1-F3E2-5BC6-4BD9-7688B33571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D9079E9-1A45-211F-5224-6F24348A38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EFEB8-CD2C-4CB1-BE50-8063DFEA1DA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894423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FA46BF3-0C95-86EC-896B-975B0FB091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89FC217-58E2-DEEC-5131-D2A0B7486C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DF6834A-E099-2713-48AA-DDB75CF4C0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CAD6C4-5F98-4E01-ADDC-680CEC425FF9}" type="datetimeFigureOut">
              <a:rPr lang="zh-CN" altLang="en-US" smtClean="0"/>
              <a:t>2025/5/16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72E4069-F27C-4834-39D6-F4C563442D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8002571-85D9-BAA4-0C70-E733984A41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EFEB8-CD2C-4CB1-BE50-8063DFEA1DA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379856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38CB33A-F997-95DE-1A7A-4A6513FE8F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C950C71-5142-0A6C-FBC1-5EAB69DAD2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DCDE85F-04A5-651B-2FD8-9AAEBBA614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CAD6C4-5F98-4E01-ADDC-680CEC425FF9}" type="datetimeFigureOut">
              <a:rPr lang="zh-CN" altLang="en-US" smtClean="0"/>
              <a:t>2025/5/16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548D6B3-13CE-69F3-AECA-BDF46C00B1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C7E445C-99B3-1F2D-9AE9-6A41EE9511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EFEB8-CD2C-4CB1-BE50-8063DFEA1DA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440464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86E083-5DCD-10ED-6518-99D16C3886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7FB026C-7AF1-EEE4-0FFE-4FAF3B44D37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C8F0369-886D-4ADC-002C-E6B54F6526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5AD5B23-DCE0-3D00-A2DC-427B8D0788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CAD6C4-5F98-4E01-ADDC-680CEC425FF9}" type="datetimeFigureOut">
              <a:rPr lang="zh-CN" altLang="en-US" smtClean="0"/>
              <a:t>2025/5/16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7430893-59C0-DCDB-C4BA-5EC7AD81A6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E39F83A-4226-55CD-575A-191F7CD840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EFEB8-CD2C-4CB1-BE50-8063DFEA1DA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031763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78D8FFE-B99F-F197-9C6E-05D5E3ADB9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94A92F3-83CC-65B1-3471-BB682EEB3C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CEC4113-BF5D-4654-D689-008282E3B5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8DE77FC4-B63B-058A-AD58-5C285ACF48D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4037E029-7347-6CAB-2C36-A2C3CE2C3F5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0EE0D5B1-75EE-8214-AD08-864CF6E0CD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CAD6C4-5F98-4E01-ADDC-680CEC425FF9}" type="datetimeFigureOut">
              <a:rPr lang="zh-CN" altLang="en-US" smtClean="0"/>
              <a:t>2025/5/16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FE12F4F1-56EB-DE54-9EA2-FA0293436F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E0A2F57A-FD6D-3E05-07AB-8743627C94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EFEB8-CD2C-4CB1-BE50-8063DFEA1DA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658322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AD477A7-7A80-4A03-008B-91AD82DC30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0FD8946F-2C9C-DD56-CF7F-4899942946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CAD6C4-5F98-4E01-ADDC-680CEC425FF9}" type="datetimeFigureOut">
              <a:rPr lang="zh-CN" altLang="en-US" smtClean="0"/>
              <a:t>2025/5/16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2AE425A-971E-9417-5D55-9237D5A6BB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E7B2B934-004B-C14D-DA3B-CB7EA3B4A4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EFEB8-CD2C-4CB1-BE50-8063DFEA1DA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906894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568EC6E1-BD22-C8F2-08DA-9C828605BC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CAD6C4-5F98-4E01-ADDC-680CEC425FF9}" type="datetimeFigureOut">
              <a:rPr lang="zh-CN" altLang="en-US" smtClean="0"/>
              <a:t>2025/5/16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E4D6583-B3C9-707F-6FA0-06C990063E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5A018F3-5413-8C29-B40A-65DA572B58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EFEB8-CD2C-4CB1-BE50-8063DFEA1DA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93707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38AD301-1F8E-DE46-F018-6D5AC4E7D8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1172FA5-C89D-FB39-C95D-2BCA216340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1DF30A0-F68D-C972-4E6E-A59CE628B8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CFF6C33-73C7-9EF7-E00F-C2827AD774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CAD6C4-5F98-4E01-ADDC-680CEC425FF9}" type="datetimeFigureOut">
              <a:rPr lang="zh-CN" altLang="en-US" smtClean="0"/>
              <a:t>2025/5/16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2301E7F-A536-706C-E773-BAB5680BAE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1052712-67ED-1032-C28A-32A59BD83E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EFEB8-CD2C-4CB1-BE50-8063DFEA1DA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250771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009171F-6341-232B-FA7D-C48B0623B2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4983C682-50D0-C57D-8C96-0B296091D64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7D81BA0-8C93-17DC-5EC3-F6B0967175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9A6C2C7-B121-6683-A665-25FC6D7CCD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CAD6C4-5F98-4E01-ADDC-680CEC425FF9}" type="datetimeFigureOut">
              <a:rPr lang="zh-CN" altLang="en-US" smtClean="0"/>
              <a:t>2025/5/16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8E786E8-ED04-6F3C-A385-AE1F2C0A69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FB93120-FFED-77D2-324C-F37BBC73B5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EFEB8-CD2C-4CB1-BE50-8063DFEA1DA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368456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D2F7EC5-CDBD-AE71-52BB-19E04ADBD4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4B720CE-8A10-4660-0216-C99438A1D5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A802612-4606-1FA0-1400-23755BC666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CAD6C4-5F98-4E01-ADDC-680CEC425FF9}" type="datetimeFigureOut">
              <a:rPr lang="zh-CN" altLang="en-US" smtClean="0"/>
              <a:t>2025/5/16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74E67B9-A9A3-7209-08DA-EC8ECC86E2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F2DAA22-2ED5-B067-B2F9-320ACB635D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EFEB8-CD2C-4CB1-BE50-8063DFEA1DA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815503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AE7A6A39-5259-EBAA-DF34-EA0DFB713DB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1BFC815-A8A9-67A1-6059-00B3958F13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743B737-5BCF-BE5E-116E-21949F143A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CAD6C4-5F98-4E01-ADDC-680CEC425FF9}" type="datetimeFigureOut">
              <a:rPr lang="zh-CN" altLang="en-US" smtClean="0"/>
              <a:t>2025/5/16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0A677BE-5729-A4C0-BF75-EFF2CC1777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14192CF-8D3C-BB0B-C6D6-4247CEB0BF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EFEB8-CD2C-4CB1-BE50-8063DFEA1DA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4501703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579082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BC2E386-7616-634D-0A9E-AB37000E91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F4A768D-E4E3-0FBE-D204-E20C131E21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45EC598-14F2-1E45-FCBF-384925AD7EC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CAD6C4-5F98-4E01-ADDC-680CEC425FF9}" type="datetimeFigureOut">
              <a:rPr lang="zh-CN" altLang="en-US" smtClean="0"/>
              <a:t>2025/5/16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C0D7626-48E7-4D7B-BEE8-2D8B940F202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A249C4F-719F-C0A5-61B1-992F1F5A0B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CEFEB8-CD2C-4CB1-BE50-8063DFEA1DA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1067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2423592" y="3573017"/>
            <a:ext cx="788436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400" dirty="0">
                <a:gradFill flip="none" rotWithShape="1">
                  <a:gsLst>
                    <a:gs pos="0">
                      <a:srgbClr val="0070C0">
                        <a:shade val="30000"/>
                        <a:satMod val="115000"/>
                      </a:srgbClr>
                    </a:gs>
                    <a:gs pos="50000">
                      <a:srgbClr val="0070C0">
                        <a:shade val="67500"/>
                        <a:satMod val="115000"/>
                      </a:srgbClr>
                    </a:gs>
                    <a:gs pos="100000">
                      <a:srgbClr val="0070C0">
                        <a:shade val="100000"/>
                        <a:satMod val="115000"/>
                      </a:srgbClr>
                    </a:gs>
                  </a:gsLst>
                  <a:lin ang="16200000" scaled="1"/>
                  <a:tileRect/>
                </a:gradFill>
                <a:latin typeface="黑体" panose="02010609060101010101" pitchFamily="49" charset="-122"/>
                <a:ea typeface="黑体" panose="02010609060101010101" pitchFamily="49" charset="-122"/>
              </a:rPr>
              <a:t>Android 15</a:t>
            </a:r>
            <a:r>
              <a:rPr lang="zh-CN" altLang="en-US" sz="4400" dirty="0">
                <a:gradFill flip="none" rotWithShape="1">
                  <a:gsLst>
                    <a:gs pos="0">
                      <a:srgbClr val="0070C0">
                        <a:shade val="30000"/>
                        <a:satMod val="115000"/>
                      </a:srgbClr>
                    </a:gs>
                    <a:gs pos="50000">
                      <a:srgbClr val="0070C0">
                        <a:shade val="67500"/>
                        <a:satMod val="115000"/>
                      </a:srgbClr>
                    </a:gs>
                    <a:gs pos="100000">
                      <a:srgbClr val="0070C0">
                        <a:shade val="100000"/>
                        <a:satMod val="115000"/>
                      </a:srgbClr>
                    </a:gs>
                  </a:gsLst>
                  <a:lin ang="16200000" scaled="1"/>
                  <a:tileRect/>
                </a:gradFill>
                <a:latin typeface="黑体" panose="02010609060101010101" pitchFamily="49" charset="-122"/>
                <a:ea typeface="黑体" panose="02010609060101010101" pitchFamily="49" charset="-122"/>
              </a:rPr>
              <a:t>新特性简介</a:t>
            </a:r>
            <a:endParaRPr lang="en-US" altLang="zh-CN" sz="3200" dirty="0">
              <a:gradFill flip="none" rotWithShape="1">
                <a:gsLst>
                  <a:gs pos="0">
                    <a:srgbClr val="0070C0">
                      <a:shade val="30000"/>
                      <a:satMod val="115000"/>
                    </a:srgbClr>
                  </a:gs>
                  <a:gs pos="50000">
                    <a:srgbClr val="0070C0">
                      <a:shade val="67500"/>
                      <a:satMod val="115000"/>
                    </a:srgbClr>
                  </a:gs>
                  <a:gs pos="100000">
                    <a:srgbClr val="0070C0">
                      <a:shade val="100000"/>
                      <a:satMod val="115000"/>
                    </a:srgbClr>
                  </a:gs>
                </a:gsLst>
                <a:lin ang="16200000" scaled="1"/>
                <a:tileRect/>
              </a:gra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67B4AF-9EEA-6101-AB50-90EBED4B9C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732DFE4-6C7E-7118-7EBF-B17DCDEF9D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477837"/>
          </a:xfrm>
        </p:spPr>
        <p:txBody>
          <a:bodyPr>
            <a:normAutofit fontScale="90000"/>
          </a:bodyPr>
          <a:lstStyle/>
          <a:p>
            <a:pPr algn="l"/>
            <a:r>
              <a:rPr lang="zh-CN" altLang="en-US" dirty="0"/>
              <a:t>废弃 </a:t>
            </a:r>
            <a:r>
              <a:rPr lang="en-US" altLang="zh-CN" dirty="0"/>
              <a:t>VNDK</a:t>
            </a:r>
            <a:endParaRPr lang="zh-CN" altLang="en-US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8760DC63-F37C-7BFE-94CF-D464F9279C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903863"/>
            <a:ext cx="9144000" cy="3353937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en-US" altLang="zh-CN" b="0" i="0" dirty="0">
                <a:solidFill>
                  <a:srgbClr val="202124"/>
                </a:solidFill>
                <a:effectLst/>
                <a:latin typeface="Google Sans Text"/>
              </a:rPr>
              <a:t>VNDK </a:t>
            </a:r>
            <a:r>
              <a:rPr lang="zh-CN" altLang="en-US" b="0" i="0" dirty="0">
                <a:solidFill>
                  <a:srgbClr val="202124"/>
                </a:solidFill>
                <a:effectLst/>
                <a:latin typeface="Google Sans Text"/>
              </a:rPr>
              <a:t>是在 </a:t>
            </a:r>
            <a:r>
              <a:rPr lang="en-US" altLang="zh-CN" b="0" i="0" dirty="0">
                <a:solidFill>
                  <a:srgbClr val="202124"/>
                </a:solidFill>
                <a:effectLst/>
                <a:latin typeface="Google Sans Text"/>
              </a:rPr>
              <a:t>Android 8.0 </a:t>
            </a:r>
            <a:r>
              <a:rPr lang="zh-CN" altLang="en-US" b="0" i="0" dirty="0">
                <a:solidFill>
                  <a:srgbClr val="202124"/>
                </a:solidFill>
                <a:effectLst/>
                <a:latin typeface="Google Sans Text"/>
              </a:rPr>
              <a:t>中引入的，虽然 </a:t>
            </a:r>
            <a:r>
              <a:rPr lang="en-US" altLang="zh-CN" b="0" i="0" dirty="0">
                <a:solidFill>
                  <a:srgbClr val="202124"/>
                </a:solidFill>
                <a:effectLst/>
                <a:latin typeface="Google Sans Text"/>
              </a:rPr>
              <a:t>VNDK </a:t>
            </a:r>
            <a:r>
              <a:rPr lang="zh-CN" altLang="en-US" b="0" i="0" dirty="0">
                <a:solidFill>
                  <a:srgbClr val="202124"/>
                </a:solidFill>
                <a:effectLst/>
                <a:latin typeface="Google Sans Text"/>
              </a:rPr>
              <a:t>已成功使用多年，但也存在一些缺点</a:t>
            </a:r>
            <a:r>
              <a:rPr lang="zh-CN" altLang="en-US" dirty="0">
                <a:solidFill>
                  <a:srgbClr val="202124"/>
                </a:solidFill>
                <a:latin typeface="Google Sans Text"/>
              </a:rPr>
              <a:t>。</a:t>
            </a:r>
            <a:endParaRPr lang="en-US" altLang="zh-CN" dirty="0">
              <a:solidFill>
                <a:srgbClr val="202124"/>
              </a:solidFill>
              <a:latin typeface="Google Sans Text"/>
            </a:endParaRPr>
          </a:p>
          <a:p>
            <a:pPr algn="l"/>
            <a:r>
              <a:rPr lang="zh-CN" altLang="en-US" dirty="0"/>
              <a:t> 随着 </a:t>
            </a:r>
            <a:r>
              <a:rPr lang="en-US" altLang="zh-CN" dirty="0"/>
              <a:t>VNDK </a:t>
            </a:r>
            <a:r>
              <a:rPr lang="zh-CN" altLang="en-US" dirty="0"/>
              <a:t>被废弃，以下功能也将被移除：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zh-CN" altLang="en-US" dirty="0"/>
              <a:t>适用于 </a:t>
            </a:r>
            <a:r>
              <a:rPr lang="en-US" altLang="zh-CN" dirty="0"/>
              <a:t>Android 15 </a:t>
            </a:r>
            <a:r>
              <a:rPr lang="zh-CN" altLang="en-US" dirty="0"/>
              <a:t>的 </a:t>
            </a:r>
            <a:r>
              <a:rPr lang="en-US" altLang="zh-CN" dirty="0"/>
              <a:t>VNDK APEX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zh-CN" altLang="en-US" dirty="0"/>
              <a:t>如果 </a:t>
            </a:r>
            <a:r>
              <a:rPr lang="en-US" altLang="zh-CN" dirty="0"/>
              <a:t>vendor </a:t>
            </a:r>
            <a:r>
              <a:rPr lang="zh-CN" altLang="en-US" dirty="0"/>
              <a:t>或 </a:t>
            </a:r>
            <a:r>
              <a:rPr lang="en-US" altLang="zh-CN" dirty="0"/>
              <a:t>product </a:t>
            </a:r>
            <a:r>
              <a:rPr lang="zh-CN" altLang="en-US" dirty="0"/>
              <a:t>分区针对 </a:t>
            </a:r>
            <a:r>
              <a:rPr lang="en-US" altLang="zh-CN" dirty="0"/>
              <a:t>Android 15 </a:t>
            </a:r>
            <a:r>
              <a:rPr lang="zh-CN" altLang="en-US" dirty="0"/>
              <a:t>进行构建，指示目标 </a:t>
            </a:r>
            <a:r>
              <a:rPr lang="en-US" altLang="zh-CN" dirty="0"/>
              <a:t>VNDK </a:t>
            </a:r>
            <a:r>
              <a:rPr lang="zh-CN" altLang="en-US" dirty="0"/>
              <a:t>版本的系统属性会被移除：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US" altLang="zh-CN" dirty="0" err="1"/>
              <a:t>ro.vndk.version</a:t>
            </a:r>
            <a:endParaRPr lang="en-US" altLang="zh-CN" dirty="0"/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US" altLang="zh-CN" dirty="0" err="1"/>
              <a:t>ro.product.vndk.version</a:t>
            </a:r>
            <a:endParaRPr lang="en-US" altLang="zh-CN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zh-CN" altLang="en-US" dirty="0"/>
              <a:t>由于没有 </a:t>
            </a:r>
            <a:r>
              <a:rPr lang="en-US" altLang="zh-CN" dirty="0"/>
              <a:t>VNDK</a:t>
            </a:r>
            <a:r>
              <a:rPr lang="zh-CN" altLang="en-US" dirty="0"/>
              <a:t>，因此无法使用 </a:t>
            </a:r>
            <a:r>
              <a:rPr lang="en-US" altLang="zh-CN" dirty="0"/>
              <a:t>VNDK </a:t>
            </a:r>
            <a:r>
              <a:rPr lang="zh-CN" altLang="en-US" dirty="0"/>
              <a:t>优化功能</a:t>
            </a:r>
            <a:endParaRPr lang="en-US" altLang="zh-CN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zh-CN" altLang="en-US" dirty="0"/>
              <a:t>供应商快照，高度依赖于 </a:t>
            </a:r>
            <a:r>
              <a:rPr lang="en-US" altLang="zh-CN" dirty="0"/>
              <a:t>VNDK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81133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5F2CD4D-8705-0048-7364-5052A65A0C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启用 </a:t>
            </a:r>
            <a:r>
              <a:rPr lang="en-US" altLang="zh-CN" dirty="0"/>
              <a:t>16KB </a:t>
            </a:r>
            <a:r>
              <a:rPr lang="zh-CN" altLang="en-US" dirty="0"/>
              <a:t>页面大小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739A49C-2423-A14D-9EB9-6D7E3D8DCB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2000" dirty="0"/>
              <a:t>Android 15 </a:t>
            </a:r>
            <a:r>
              <a:rPr lang="zh-CN" altLang="en-US" sz="2000" dirty="0"/>
              <a:t>及更高版本支持构建具有 </a:t>
            </a:r>
            <a:r>
              <a:rPr lang="en-US" altLang="zh-CN" sz="2000" dirty="0"/>
              <a:t>16KB </a:t>
            </a:r>
            <a:r>
              <a:rPr lang="zh-CN" altLang="en-US" sz="2000" dirty="0"/>
              <a:t>页面大小的 </a:t>
            </a:r>
            <a:r>
              <a:rPr lang="en-US" altLang="zh-CN" sz="2000" dirty="0"/>
              <a:t>Android.</a:t>
            </a:r>
          </a:p>
          <a:p>
            <a:pPr marL="0" indent="0">
              <a:buNone/>
            </a:pPr>
            <a:r>
              <a:rPr lang="zh-CN" altLang="en-US" sz="2000" dirty="0"/>
              <a:t>配置为使用 </a:t>
            </a:r>
            <a:r>
              <a:rPr lang="en-US" altLang="zh-CN" sz="2000" dirty="0"/>
              <a:t>16 KB </a:t>
            </a:r>
            <a:r>
              <a:rPr lang="zh-CN" altLang="en-US" sz="2000" dirty="0"/>
              <a:t>页面大小的设备平均会使用略多一些的内存，但系统和应用的性能也会得到各种提升：</a:t>
            </a:r>
          </a:p>
          <a:p>
            <a:pPr marL="0" indent="0">
              <a:buNone/>
            </a:pPr>
            <a:endParaRPr lang="zh-CN" altLang="en-US" sz="2000" dirty="0"/>
          </a:p>
          <a:p>
            <a:pPr marL="0" indent="0">
              <a:buNone/>
            </a:pPr>
            <a:r>
              <a:rPr lang="en-US" altLang="zh-CN" sz="2000" dirty="0"/>
              <a:t>- </a:t>
            </a:r>
            <a:r>
              <a:rPr lang="zh-CN" altLang="en-US" sz="2000" dirty="0"/>
              <a:t>缩短了系统内存压力时的应用启动时间：平均降低了 </a:t>
            </a:r>
            <a:r>
              <a:rPr lang="en-US" altLang="zh-CN" sz="2000" dirty="0"/>
              <a:t>3.16%</a:t>
            </a:r>
            <a:r>
              <a:rPr lang="zh-CN" altLang="en-US" sz="2000" dirty="0"/>
              <a:t>；对于我们测试的某些应用而言，改进幅度更大（最高可达 </a:t>
            </a:r>
            <a:r>
              <a:rPr lang="en-US" altLang="zh-CN" sz="2000" dirty="0"/>
              <a:t>30%</a:t>
            </a:r>
            <a:r>
              <a:rPr lang="zh-CN" altLang="en-US" sz="2000" dirty="0"/>
              <a:t>）</a:t>
            </a:r>
          </a:p>
          <a:p>
            <a:pPr marL="0" indent="0">
              <a:buNone/>
            </a:pPr>
            <a:r>
              <a:rPr lang="en-US" altLang="zh-CN" sz="2000" dirty="0"/>
              <a:t>- </a:t>
            </a:r>
            <a:r>
              <a:rPr lang="zh-CN" altLang="en-US" sz="2000" dirty="0"/>
              <a:t>应用启动期间的功耗降低：平均降低了 </a:t>
            </a:r>
            <a:r>
              <a:rPr lang="en-US" altLang="zh-CN" sz="2000" dirty="0"/>
              <a:t>4.56%</a:t>
            </a:r>
          </a:p>
          <a:p>
            <a:pPr marL="0" indent="0">
              <a:buNone/>
            </a:pPr>
            <a:r>
              <a:rPr lang="en-US" altLang="zh-CN" sz="2000" dirty="0"/>
              <a:t>- </a:t>
            </a:r>
            <a:r>
              <a:rPr lang="zh-CN" altLang="en-US" sz="2000" dirty="0"/>
              <a:t>相机启动更快：热启动速度平均提高了 </a:t>
            </a:r>
            <a:r>
              <a:rPr lang="en-US" altLang="zh-CN" sz="2000" dirty="0"/>
              <a:t>4.48%</a:t>
            </a:r>
            <a:r>
              <a:rPr lang="zh-CN" altLang="en-US" sz="2000" dirty="0"/>
              <a:t>，冷启动速度平均提高了 </a:t>
            </a:r>
            <a:r>
              <a:rPr lang="en-US" altLang="zh-CN" sz="2000" dirty="0"/>
              <a:t>6.60%</a:t>
            </a:r>
          </a:p>
          <a:p>
            <a:pPr marL="0" indent="0">
              <a:buNone/>
            </a:pPr>
            <a:r>
              <a:rPr lang="en-US" altLang="zh-CN" sz="2000" dirty="0"/>
              <a:t>- </a:t>
            </a:r>
            <a:r>
              <a:rPr lang="zh-CN" altLang="en-US" sz="2000" dirty="0"/>
              <a:t>缩短了系统启动时间：平均缩短了 </a:t>
            </a:r>
            <a:r>
              <a:rPr lang="en-US" altLang="zh-CN" sz="2000" dirty="0"/>
              <a:t>8%</a:t>
            </a:r>
            <a:r>
              <a:rPr lang="zh-CN" altLang="en-US" sz="2000" dirty="0"/>
              <a:t>（约 </a:t>
            </a:r>
            <a:r>
              <a:rPr lang="en-US" altLang="zh-CN" sz="2000" dirty="0"/>
              <a:t>950 </a:t>
            </a:r>
            <a:r>
              <a:rPr lang="zh-CN" altLang="en-US" sz="2000" dirty="0"/>
              <a:t>毫秒）</a:t>
            </a:r>
          </a:p>
        </p:txBody>
      </p:sp>
    </p:spTree>
    <p:extLst>
      <p:ext uri="{BB962C8B-B14F-4D97-AF65-F5344CB8AC3E}">
        <p14:creationId xmlns:p14="http://schemas.microsoft.com/office/powerpoint/2010/main" val="31685272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D4BFE5-EDBB-F5A2-ED10-38726C3FE1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9C09522-67B1-BE99-DA4B-F362FA25AB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相机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2664B5C-937D-7967-EF26-ED2E09519E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sz="2000" dirty="0"/>
              <a:t>从 </a:t>
            </a:r>
            <a:r>
              <a:rPr lang="en-US" altLang="zh-CN" sz="2000" dirty="0"/>
              <a:t>Android 15 </a:t>
            </a:r>
            <a:r>
              <a:rPr lang="zh-CN" altLang="en-US" sz="2000" dirty="0"/>
              <a:t>开始，</a:t>
            </a:r>
            <a:r>
              <a:rPr lang="en-US" altLang="zh-CN" sz="2000" dirty="0"/>
              <a:t>Android </a:t>
            </a:r>
            <a:r>
              <a:rPr lang="zh-CN" altLang="en-US" sz="2000" dirty="0"/>
              <a:t>平台提供用于查询相机功能组合的 </a:t>
            </a:r>
            <a:r>
              <a:rPr lang="en-US" altLang="zh-CN" sz="2000" dirty="0"/>
              <a:t>API</a:t>
            </a:r>
            <a:r>
              <a:rPr lang="zh-CN" altLang="en-US" sz="2000" dirty="0"/>
              <a:t>。</a:t>
            </a:r>
            <a:endParaRPr lang="en-US" altLang="zh-CN" sz="2000" dirty="0"/>
          </a:p>
          <a:p>
            <a:pPr marL="0" indent="0">
              <a:buNone/>
            </a:pPr>
            <a:r>
              <a:rPr lang="zh-CN" altLang="en-US" sz="2000" dirty="0"/>
              <a:t>借助此 </a:t>
            </a:r>
            <a:r>
              <a:rPr lang="en-US" altLang="zh-CN" sz="2000" dirty="0"/>
              <a:t>API</a:t>
            </a:r>
            <a:r>
              <a:rPr lang="zh-CN" altLang="en-US" sz="2000" dirty="0"/>
              <a:t>，摄像头客户端可以查询设备是否可支持指定的功能组合。此 </a:t>
            </a:r>
            <a:r>
              <a:rPr lang="en-US" altLang="zh-CN" sz="2000" dirty="0"/>
              <a:t>API </a:t>
            </a:r>
            <a:r>
              <a:rPr lang="zh-CN" altLang="en-US" sz="2000" dirty="0"/>
              <a:t>是必需的，因为 </a:t>
            </a:r>
            <a:r>
              <a:rPr lang="en-US" altLang="zh-CN" sz="2000" dirty="0"/>
              <a:t>camera2 API </a:t>
            </a:r>
            <a:r>
              <a:rPr lang="zh-CN" altLang="en-US" sz="2000" dirty="0"/>
              <a:t>会将 </a:t>
            </a:r>
            <a:r>
              <a:rPr lang="en-US" altLang="zh-CN" sz="2000" dirty="0"/>
              <a:t>4K</a:t>
            </a:r>
            <a:r>
              <a:rPr lang="zh-CN" altLang="en-US" sz="2000" dirty="0"/>
              <a:t>、</a:t>
            </a:r>
            <a:r>
              <a:rPr lang="en-US" altLang="zh-CN" sz="2000" dirty="0"/>
              <a:t>60fps</a:t>
            </a:r>
            <a:r>
              <a:rPr lang="zh-CN" altLang="en-US" sz="2000" dirty="0"/>
              <a:t>、</a:t>
            </a:r>
            <a:r>
              <a:rPr lang="en-US" altLang="zh-CN" sz="2000" dirty="0"/>
              <a:t>HDR </a:t>
            </a:r>
            <a:r>
              <a:rPr lang="zh-CN" altLang="en-US" sz="2000" dirty="0"/>
              <a:t>视频、</a:t>
            </a:r>
            <a:r>
              <a:rPr lang="en-US" altLang="zh-CN" sz="2000" dirty="0" err="1"/>
              <a:t>UltraHDR</a:t>
            </a:r>
            <a:r>
              <a:rPr lang="zh-CN" altLang="en-US" sz="2000" dirty="0"/>
              <a:t>、超广角变焦和防抖等不同功能建模为正交控件。</a:t>
            </a:r>
            <a:endParaRPr lang="en-US" altLang="zh-CN" sz="2000" dirty="0"/>
          </a:p>
          <a:p>
            <a:pPr marL="0" indent="0">
              <a:buNone/>
            </a:pPr>
            <a:endParaRPr lang="en-US" altLang="zh-CN" sz="2000" dirty="0"/>
          </a:p>
          <a:p>
            <a:pPr marL="0" indent="0">
              <a:buNone/>
            </a:pPr>
            <a:r>
              <a:rPr lang="zh-CN" altLang="en-US" sz="2000" dirty="0"/>
              <a:t>弱光增强</a:t>
            </a:r>
          </a:p>
          <a:p>
            <a:pPr marL="0" indent="0">
              <a:buNone/>
            </a:pPr>
            <a:r>
              <a:rPr lang="en-US" altLang="zh-CN" sz="2000" dirty="0"/>
              <a:t>Android 15 </a:t>
            </a:r>
            <a:r>
              <a:rPr lang="zh-CN" altLang="en-US" sz="2000" dirty="0"/>
              <a:t>引入了弱光增强功能，这是一种新的自动曝光模式，可在 </a:t>
            </a:r>
            <a:r>
              <a:rPr lang="en-US" altLang="zh-CN" sz="2000" dirty="0"/>
              <a:t>HAL </a:t>
            </a:r>
            <a:r>
              <a:rPr lang="zh-CN" altLang="en-US" sz="2000" dirty="0"/>
              <a:t>的 </a:t>
            </a:r>
            <a:r>
              <a:rPr lang="en-US" altLang="zh-CN" sz="2000" dirty="0"/>
              <a:t>Camera2 </a:t>
            </a:r>
            <a:r>
              <a:rPr lang="zh-CN" altLang="en-US" sz="2000" dirty="0"/>
              <a:t>中实现，也可在相机扩展</a:t>
            </a:r>
            <a:r>
              <a:rPr lang="en-US" altLang="zh-CN" sz="2000" dirty="0"/>
              <a:t>]</a:t>
            </a:r>
            <a:r>
              <a:rPr lang="zh-CN" altLang="en-US" sz="2000" dirty="0"/>
              <a:t>（例如夜间模式）中实现。弱光增强功能会在弱光条件下自动调整预览流的亮度。</a:t>
            </a:r>
          </a:p>
        </p:txBody>
      </p:sp>
    </p:spTree>
    <p:extLst>
      <p:ext uri="{BB962C8B-B14F-4D97-AF65-F5344CB8AC3E}">
        <p14:creationId xmlns:p14="http://schemas.microsoft.com/office/powerpoint/2010/main" val="42074015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CD8AF9-2132-0D9A-9D1A-F44DAC204B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4FBD678-C902-ACAE-6FA4-A9D576DBF6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字体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B914423-4A7B-31B6-36C8-91186CC5C0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sz="2000" dirty="0"/>
              <a:t>对可变字体的支持</a:t>
            </a:r>
          </a:p>
          <a:p>
            <a:pPr marL="0" indent="0">
              <a:buNone/>
            </a:pPr>
            <a:r>
              <a:rPr lang="zh-CN" altLang="en-US" sz="2000" dirty="0"/>
              <a:t>从 </a:t>
            </a:r>
            <a:r>
              <a:rPr lang="en-US" altLang="zh-CN" sz="2000" dirty="0"/>
              <a:t>Android 15 </a:t>
            </a:r>
            <a:r>
              <a:rPr lang="zh-CN" altLang="en-US" sz="2000" dirty="0"/>
              <a:t>开始，可变字体会在运行时呈现，并且效率和精细度更高。字体配置文件 </a:t>
            </a:r>
            <a:r>
              <a:rPr lang="en-US" altLang="zh-CN" sz="2000" dirty="0"/>
              <a:t>fonts.xml</a:t>
            </a:r>
            <a:r>
              <a:rPr lang="zh-CN" altLang="en-US" sz="2000" dirty="0"/>
              <a:t>已废弃。</a:t>
            </a:r>
            <a:endParaRPr lang="en-US" altLang="zh-CN" sz="2000" dirty="0"/>
          </a:p>
          <a:p>
            <a:pPr marL="0" indent="0">
              <a:buNone/>
            </a:pPr>
            <a:endParaRPr lang="en-US" altLang="zh-CN" sz="2000" dirty="0"/>
          </a:p>
          <a:p>
            <a:pPr marL="0" indent="0">
              <a:buNone/>
            </a:pPr>
            <a:r>
              <a:rPr lang="zh-CN" altLang="en-US" sz="2000" dirty="0"/>
              <a:t>移除了基于 </a:t>
            </a:r>
            <a:r>
              <a:rPr lang="en-US" altLang="zh-CN" sz="2000" dirty="0"/>
              <a:t>PNG </a:t>
            </a:r>
            <a:r>
              <a:rPr lang="zh-CN" altLang="en-US" sz="2000" dirty="0"/>
              <a:t>的旧版表情符号字体文件 </a:t>
            </a:r>
            <a:r>
              <a:rPr lang="en-US" altLang="zh-CN" sz="2000" dirty="0"/>
              <a:t>(NotoColorEmojiLegacy.ttf)</a:t>
            </a:r>
            <a:r>
              <a:rPr lang="zh-CN" altLang="en-US" sz="2000" dirty="0"/>
              <a:t>，只保留了基于矢量的文件。从 </a:t>
            </a:r>
            <a:r>
              <a:rPr lang="en-US" altLang="zh-CN" sz="2000" dirty="0"/>
              <a:t>Android 13</a:t>
            </a:r>
            <a:r>
              <a:rPr lang="zh-CN" altLang="en-US" sz="2000" dirty="0"/>
              <a:t>（</a:t>
            </a:r>
            <a:r>
              <a:rPr lang="en-US" altLang="zh-CN" sz="2000" dirty="0"/>
              <a:t>API </a:t>
            </a:r>
            <a:r>
              <a:rPr lang="zh-CN" altLang="en-US" sz="2000" dirty="0"/>
              <a:t>级别 </a:t>
            </a:r>
            <a:r>
              <a:rPr lang="en-US" altLang="zh-CN" sz="2000" dirty="0"/>
              <a:t>33</a:t>
            </a:r>
            <a:r>
              <a:rPr lang="zh-CN" altLang="en-US" sz="2000" dirty="0"/>
              <a:t>）开始，系统表情符号渲染程序使用的表情符号字体文件已从基于 </a:t>
            </a:r>
            <a:r>
              <a:rPr lang="en-US" altLang="zh-CN" sz="2000" dirty="0"/>
              <a:t>PNG </a:t>
            </a:r>
            <a:r>
              <a:rPr lang="zh-CN" altLang="en-US" sz="2000" dirty="0"/>
              <a:t>的文件更改为基于矢量的文件。</a:t>
            </a:r>
          </a:p>
        </p:txBody>
      </p:sp>
    </p:spTree>
    <p:extLst>
      <p:ext uri="{BB962C8B-B14F-4D97-AF65-F5344CB8AC3E}">
        <p14:creationId xmlns:p14="http://schemas.microsoft.com/office/powerpoint/2010/main" val="7845947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9B3319-7AB5-458F-5212-209A6E2F63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3B3BC7A-7BF6-FDC2-CD01-BDFDDEA0FD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AI</a:t>
            </a:r>
            <a:br>
              <a:rPr lang="en-US" altLang="zh-CN" dirty="0"/>
            </a:b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493C228-1ECE-CBAA-4148-3B74EF284D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2000" dirty="0"/>
              <a:t>废弃</a:t>
            </a:r>
            <a:r>
              <a:rPr lang="en-US" altLang="zh-CN" sz="2000" dirty="0"/>
              <a:t>Neural Networks</a:t>
            </a:r>
          </a:p>
          <a:p>
            <a:pPr marL="0" indent="0">
              <a:buNone/>
            </a:pPr>
            <a:r>
              <a:rPr lang="zh-CN" altLang="en-US" sz="1800" dirty="0"/>
              <a:t>从 </a:t>
            </a:r>
            <a:r>
              <a:rPr lang="en-US" altLang="zh-CN" sz="1800" dirty="0"/>
              <a:t>Android 15 </a:t>
            </a:r>
            <a:r>
              <a:rPr lang="zh-CN" altLang="en-US" sz="1800" dirty="0"/>
              <a:t>开始，</a:t>
            </a:r>
            <a:r>
              <a:rPr lang="en-US" altLang="zh-CN" sz="1800" dirty="0"/>
              <a:t>Neural Networks API (NNAPI NDK API) </a:t>
            </a:r>
            <a:r>
              <a:rPr lang="zh-CN" altLang="en-US" sz="1800" dirty="0"/>
              <a:t>已被废弃。神经网络 </a:t>
            </a:r>
            <a:r>
              <a:rPr lang="en-US" altLang="zh-CN" sz="1800" dirty="0"/>
              <a:t>HAL </a:t>
            </a:r>
            <a:r>
              <a:rPr lang="zh-CN" altLang="en-US" sz="1800" dirty="0"/>
              <a:t>接口继续受到支持。</a:t>
            </a:r>
            <a:endParaRPr lang="en-US" altLang="zh-CN" sz="1800" dirty="0"/>
          </a:p>
          <a:p>
            <a:pPr marL="0" indent="0">
              <a:buNone/>
            </a:pPr>
            <a:r>
              <a:rPr lang="en-US" altLang="zh-CN" sz="1800" dirty="0"/>
              <a:t>Neural Networks API</a:t>
            </a:r>
            <a:r>
              <a:rPr lang="zh-CN" altLang="en-US" sz="1800" dirty="0"/>
              <a:t>旨在为设备端机器学习提供硬件加速推理统一接口，由于机器学习 </a:t>
            </a:r>
            <a:r>
              <a:rPr lang="en-US" altLang="zh-CN" sz="1800" dirty="0"/>
              <a:t>(ODML) </a:t>
            </a:r>
            <a:r>
              <a:rPr lang="zh-CN" altLang="en-US" sz="1800" dirty="0"/>
              <a:t>领域迅速发展，</a:t>
            </a:r>
            <a:r>
              <a:rPr lang="en-US" altLang="zh-CN" sz="1800" dirty="0"/>
              <a:t>Transformer </a:t>
            </a:r>
            <a:r>
              <a:rPr lang="zh-CN" altLang="en-US" sz="1800" dirty="0"/>
              <a:t>和扩散模型等突破性成果，开发者需要经常更新的工具和基础架构。</a:t>
            </a:r>
            <a:endParaRPr lang="en-US" altLang="zh-CN" sz="2000" dirty="0"/>
          </a:p>
          <a:p>
            <a:r>
              <a:rPr lang="zh-CN" altLang="en-US" sz="2000" dirty="0"/>
              <a:t>融入</a:t>
            </a:r>
            <a:r>
              <a:rPr lang="en-US" altLang="zh-CN" sz="2000" dirty="0"/>
              <a:t>Gemini </a:t>
            </a:r>
            <a:r>
              <a:rPr lang="zh-CN" altLang="en-US" sz="2000" dirty="0"/>
              <a:t>模型</a:t>
            </a:r>
          </a:p>
        </p:txBody>
      </p:sp>
    </p:spTree>
    <p:extLst>
      <p:ext uri="{BB962C8B-B14F-4D97-AF65-F5344CB8AC3E}">
        <p14:creationId xmlns:p14="http://schemas.microsoft.com/office/powerpoint/2010/main" val="1837858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0CFB2D-1177-4A4A-ABEC-65EA163A95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7E34360-18B9-F429-A22A-A58919BDAB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权限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0E7C785-6E9E-F827-86B8-1FD214434F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sz="2000" dirty="0"/>
              <a:t>平台签名的共享 </a:t>
            </a:r>
            <a:r>
              <a:rPr lang="en-US" altLang="zh-CN" sz="2000" dirty="0"/>
              <a:t>UID </a:t>
            </a:r>
            <a:r>
              <a:rPr lang="zh-CN" altLang="en-US" sz="2000" dirty="0"/>
              <a:t>许可名单</a:t>
            </a:r>
          </a:p>
          <a:p>
            <a:pPr marL="0" indent="0">
              <a:buNone/>
            </a:pPr>
            <a:r>
              <a:rPr lang="en-US" altLang="zh-CN" sz="2000" dirty="0"/>
              <a:t>Android 15 </a:t>
            </a:r>
            <a:r>
              <a:rPr lang="zh-CN" altLang="en-US" sz="2000" dirty="0"/>
              <a:t>引入了明确的许可名单，以便平台签名的非系统应用加入（平台签名的）共享 </a:t>
            </a:r>
            <a:r>
              <a:rPr lang="en-US" altLang="zh-CN" sz="2000" dirty="0"/>
              <a:t>UID</a:t>
            </a:r>
            <a:r>
              <a:rPr lang="zh-CN" altLang="en-US" sz="2000" dirty="0"/>
              <a:t>。</a:t>
            </a:r>
            <a:endParaRPr lang="en-US" altLang="zh-CN" sz="2000" dirty="0"/>
          </a:p>
          <a:p>
            <a:pPr marL="0" indent="0">
              <a:buNone/>
            </a:pPr>
            <a:endParaRPr lang="en-US" altLang="zh-CN" sz="2000" dirty="0"/>
          </a:p>
          <a:p>
            <a:pPr marL="0" indent="0">
              <a:buNone/>
            </a:pPr>
            <a:r>
              <a:rPr lang="zh-CN" altLang="en-US" sz="2000" dirty="0"/>
              <a:t>将应用的许可名单列在单个 </a:t>
            </a:r>
            <a:r>
              <a:rPr lang="en-US" altLang="zh-CN" sz="2000" dirty="0"/>
              <a:t>XML </a:t>
            </a:r>
            <a:r>
              <a:rPr lang="zh-CN" altLang="en-US" sz="2000" dirty="0"/>
              <a:t>文件或多个 </a:t>
            </a:r>
            <a:r>
              <a:rPr lang="en-US" altLang="zh-CN" sz="2000" dirty="0"/>
              <a:t>XML </a:t>
            </a:r>
            <a:r>
              <a:rPr lang="zh-CN" altLang="en-US" sz="2000" dirty="0"/>
              <a:t>文件中，类似于 </a:t>
            </a:r>
            <a:r>
              <a:rPr lang="en-US" altLang="zh-CN" sz="2000" dirty="0"/>
              <a:t>frameworks/base/data/</a:t>
            </a:r>
            <a:r>
              <a:rPr lang="en-US" altLang="zh-CN" sz="2000" dirty="0" err="1"/>
              <a:t>etc</a:t>
            </a:r>
            <a:r>
              <a:rPr lang="en-US" altLang="zh-CN" sz="2000" dirty="0"/>
              <a:t>/package-shareduid-allowlist.xml</a:t>
            </a:r>
            <a:r>
              <a:rPr lang="zh-CN" altLang="en-US" sz="2000" dirty="0"/>
              <a:t>：</a:t>
            </a:r>
            <a:endParaRPr lang="en-US" altLang="zh-CN" sz="2000" dirty="0"/>
          </a:p>
          <a:p>
            <a:pPr marL="0" indent="0">
              <a:buNone/>
            </a:pPr>
            <a:r>
              <a:rPr lang="en-US" altLang="zh-CN" sz="2000" dirty="0"/>
              <a:t>&lt;config&gt;</a:t>
            </a:r>
          </a:p>
          <a:p>
            <a:pPr marL="0" indent="0">
              <a:buNone/>
            </a:pPr>
            <a:r>
              <a:rPr lang="en-US" altLang="zh-CN" sz="2000" dirty="0"/>
              <a:t>    &lt;allow-package-</a:t>
            </a:r>
            <a:r>
              <a:rPr lang="en-US" altLang="zh-CN" sz="2000" dirty="0" err="1"/>
              <a:t>shareduid</a:t>
            </a:r>
            <a:r>
              <a:rPr lang="en-US" altLang="zh-CN" sz="2000" dirty="0"/>
              <a:t> package="</a:t>
            </a:r>
            <a:r>
              <a:rPr lang="en-US" altLang="zh-CN" sz="2000" dirty="0" err="1"/>
              <a:t>android.test.settings</a:t>
            </a:r>
            <a:r>
              <a:rPr lang="en-US" altLang="zh-CN" sz="2000" dirty="0"/>
              <a:t>" </a:t>
            </a:r>
            <a:r>
              <a:rPr lang="en-US" altLang="zh-CN" sz="2000" dirty="0" err="1"/>
              <a:t>shareduid</a:t>
            </a:r>
            <a:r>
              <a:rPr lang="en-US" altLang="zh-CN" sz="2000" dirty="0"/>
              <a:t>="</a:t>
            </a:r>
            <a:r>
              <a:rPr lang="en-US" altLang="zh-CN" sz="2000" dirty="0" err="1"/>
              <a:t>android.uid.system</a:t>
            </a:r>
            <a:r>
              <a:rPr lang="en-US" altLang="zh-CN" sz="2000" dirty="0"/>
              <a:t>" /&gt;</a:t>
            </a:r>
          </a:p>
          <a:p>
            <a:pPr marL="0" indent="0">
              <a:buNone/>
            </a:pPr>
            <a:r>
              <a:rPr lang="en-US" altLang="zh-CN" sz="2000" dirty="0"/>
              <a:t>&lt;/config&gt;</a:t>
            </a:r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11592389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C77744-D108-1146-25A3-FB0E523E49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BCC9970-B616-73B1-3924-88D877FD32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权限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31EC72F-9512-F030-E5B5-0D8079F75C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l">
              <a:buNone/>
            </a:pPr>
            <a:r>
              <a:rPr lang="zh-CN" altLang="en-US" sz="1400" b="1" i="0" dirty="0">
                <a:solidFill>
                  <a:srgbClr val="202124"/>
                </a:solidFill>
                <a:effectLst/>
              </a:rPr>
              <a:t>限制后台 </a:t>
            </a:r>
            <a:r>
              <a:rPr lang="en-US" altLang="zh-CN" sz="1400" b="1" i="0" dirty="0">
                <a:solidFill>
                  <a:srgbClr val="202124"/>
                </a:solidFill>
                <a:effectLst/>
              </a:rPr>
              <a:t>activity </a:t>
            </a:r>
            <a:r>
              <a:rPr lang="zh-CN" altLang="en-US" sz="1400" b="1" i="0" dirty="0">
                <a:solidFill>
                  <a:srgbClr val="202124"/>
                </a:solidFill>
                <a:effectLst/>
              </a:rPr>
              <a:t>启动</a:t>
            </a:r>
            <a:endParaRPr lang="en-US" altLang="zh-CN" sz="1400" b="1" i="0" dirty="0">
              <a:solidFill>
                <a:srgbClr val="202124"/>
              </a:solidFill>
              <a:effectLst/>
            </a:endParaRPr>
          </a:p>
          <a:p>
            <a:r>
              <a:rPr lang="zh-CN" altLang="en-US" sz="1050" i="0" dirty="0">
                <a:solidFill>
                  <a:srgbClr val="202124"/>
                </a:solidFill>
                <a:effectLst/>
              </a:rPr>
              <a:t>禁止与堆栈中的顶部 </a:t>
            </a:r>
            <a:r>
              <a:rPr lang="en-US" altLang="zh-CN" sz="1050" i="0" dirty="0">
                <a:solidFill>
                  <a:srgbClr val="202124"/>
                </a:solidFill>
                <a:effectLst/>
              </a:rPr>
              <a:t>UID </a:t>
            </a:r>
            <a:r>
              <a:rPr lang="zh-CN" altLang="en-US" sz="1050" i="0" dirty="0">
                <a:solidFill>
                  <a:srgbClr val="202124"/>
                </a:solidFill>
                <a:effectLst/>
              </a:rPr>
              <a:t>不匹配的应用启动 </a:t>
            </a:r>
            <a:r>
              <a:rPr lang="en-US" altLang="zh-CN" sz="1050" i="0" dirty="0">
                <a:solidFill>
                  <a:srgbClr val="202124"/>
                </a:solidFill>
                <a:effectLst/>
              </a:rPr>
              <a:t>activity</a:t>
            </a:r>
          </a:p>
          <a:p>
            <a:pPr algn="l"/>
            <a:r>
              <a:rPr lang="zh-CN" altLang="en-US" sz="1050" i="0" dirty="0">
                <a:solidFill>
                  <a:srgbClr val="202124"/>
                </a:solidFill>
                <a:effectLst/>
                <a:latin typeface="Google Sans Text"/>
              </a:rPr>
              <a:t>更改 </a:t>
            </a:r>
            <a:r>
              <a:rPr lang="en-US" altLang="zh-CN" sz="1050" i="0" dirty="0" err="1">
                <a:solidFill>
                  <a:srgbClr val="202124"/>
                </a:solidFill>
                <a:effectLst/>
                <a:latin typeface="Google Sans Text"/>
              </a:rPr>
              <a:t>PendingIntent</a:t>
            </a:r>
            <a:r>
              <a:rPr lang="en-US" altLang="zh-CN" sz="1050" i="0" dirty="0">
                <a:solidFill>
                  <a:srgbClr val="202124"/>
                </a:solidFill>
                <a:effectLst/>
                <a:latin typeface="Google Sans Text"/>
              </a:rPr>
              <a:t> </a:t>
            </a:r>
            <a:r>
              <a:rPr lang="zh-CN" altLang="en-US" sz="1050" dirty="0">
                <a:solidFill>
                  <a:srgbClr val="202124"/>
                </a:solidFill>
                <a:latin typeface="Google Sans Text"/>
              </a:rPr>
              <a:t>创建</a:t>
            </a:r>
            <a:r>
              <a:rPr lang="zh-CN" altLang="en-US" sz="1050" i="0" dirty="0">
                <a:solidFill>
                  <a:srgbClr val="202124"/>
                </a:solidFill>
                <a:effectLst/>
                <a:latin typeface="Google Sans Text"/>
              </a:rPr>
              <a:t>者，以阻止后台活动启动</a:t>
            </a:r>
            <a:endParaRPr lang="en-US" altLang="zh-CN" sz="1050" i="0" dirty="0">
              <a:solidFill>
                <a:srgbClr val="202124"/>
              </a:solidFill>
              <a:effectLst/>
              <a:latin typeface="Google Sans Text"/>
            </a:endParaRPr>
          </a:p>
          <a:p>
            <a:pPr algn="l"/>
            <a:r>
              <a:rPr lang="zh-CN" altLang="en-US" sz="1050" i="0" dirty="0">
                <a:solidFill>
                  <a:srgbClr val="202124"/>
                </a:solidFill>
                <a:effectLst/>
                <a:latin typeface="Google Sans Text"/>
              </a:rPr>
              <a:t>请勿将应用调到前台，除非 </a:t>
            </a:r>
            <a:r>
              <a:rPr lang="en-US" altLang="zh-CN" sz="1050" i="0" dirty="0" err="1">
                <a:solidFill>
                  <a:srgbClr val="202124"/>
                </a:solidFill>
                <a:effectLst/>
                <a:latin typeface="Google Sans Text"/>
              </a:rPr>
              <a:t>PendingIntent</a:t>
            </a:r>
            <a:r>
              <a:rPr lang="en-US" altLang="zh-CN" sz="1050" i="0" dirty="0">
                <a:solidFill>
                  <a:srgbClr val="202124"/>
                </a:solidFill>
                <a:effectLst/>
                <a:latin typeface="Google Sans Text"/>
              </a:rPr>
              <a:t> </a:t>
            </a:r>
            <a:r>
              <a:rPr lang="zh-CN" altLang="en-US" sz="1050" i="0" dirty="0">
                <a:solidFill>
                  <a:srgbClr val="202124"/>
                </a:solidFill>
                <a:effectLst/>
                <a:latin typeface="Google Sans Text"/>
              </a:rPr>
              <a:t>发送者 允许它。</a:t>
            </a:r>
            <a:endParaRPr lang="en-US" altLang="zh-CN" sz="1050" i="0" dirty="0">
              <a:solidFill>
                <a:srgbClr val="202124"/>
              </a:solidFill>
              <a:effectLst/>
              <a:latin typeface="Google Sans Text"/>
            </a:endParaRPr>
          </a:p>
          <a:p>
            <a:pPr algn="l"/>
            <a:r>
              <a:rPr lang="zh-CN" altLang="en-US" sz="1050" i="0" dirty="0">
                <a:solidFill>
                  <a:srgbClr val="202124"/>
                </a:solidFill>
                <a:effectLst/>
                <a:latin typeface="Google Sans Text"/>
              </a:rPr>
              <a:t>防止将其他应用中的任意 </a:t>
            </a:r>
            <a:r>
              <a:rPr lang="en-US" altLang="zh-CN" sz="1050" i="0" dirty="0">
                <a:solidFill>
                  <a:srgbClr val="202124"/>
                </a:solidFill>
                <a:effectLst/>
                <a:latin typeface="Google Sans Text"/>
              </a:rPr>
              <a:t>activity </a:t>
            </a:r>
            <a:r>
              <a:rPr lang="zh-CN" altLang="en-US" sz="1050" i="0" dirty="0">
                <a:solidFill>
                  <a:srgbClr val="202124"/>
                </a:solidFill>
                <a:effectLst/>
                <a:latin typeface="Google Sans Text"/>
              </a:rPr>
              <a:t>启动到您自己的 </a:t>
            </a:r>
            <a:r>
              <a:rPr lang="en-US" altLang="zh-CN" sz="1050" i="0" dirty="0">
                <a:solidFill>
                  <a:srgbClr val="202124"/>
                </a:solidFill>
                <a:effectLst/>
                <a:latin typeface="Google Sans Text"/>
              </a:rPr>
              <a:t>activity </a:t>
            </a:r>
            <a:r>
              <a:rPr lang="zh-CN" altLang="en-US" sz="1050" i="0" dirty="0">
                <a:solidFill>
                  <a:srgbClr val="202124"/>
                </a:solidFill>
                <a:effectLst/>
                <a:latin typeface="Google Sans Text"/>
              </a:rPr>
              <a:t>任务</a:t>
            </a:r>
            <a:endParaRPr lang="en-US" altLang="zh-CN" sz="1050" i="0" dirty="0">
              <a:solidFill>
                <a:srgbClr val="202124"/>
              </a:solidFill>
              <a:effectLst/>
              <a:latin typeface="Google Sans Text"/>
            </a:endParaRPr>
          </a:p>
          <a:p>
            <a:pPr algn="l"/>
            <a:r>
              <a:rPr lang="zh-CN" altLang="en-US" sz="1050" i="0" dirty="0">
                <a:solidFill>
                  <a:srgbClr val="202124"/>
                </a:solidFill>
                <a:effectLst/>
                <a:latin typeface="Google Sans Text"/>
              </a:rPr>
              <a:t>禁止将不可见窗口视为后台活动 发布。防止恶意应用滥用后台 </a:t>
            </a:r>
            <a:r>
              <a:rPr lang="en-US" altLang="zh-CN" sz="1050" i="0" dirty="0">
                <a:solidFill>
                  <a:srgbClr val="202124"/>
                </a:solidFill>
                <a:effectLst/>
                <a:latin typeface="Google Sans Text"/>
              </a:rPr>
              <a:t>activity </a:t>
            </a:r>
            <a:r>
              <a:rPr lang="zh-CN" altLang="en-US" sz="1050" i="0" dirty="0">
                <a:solidFill>
                  <a:srgbClr val="202124"/>
                </a:solidFill>
                <a:effectLst/>
                <a:latin typeface="Google Sans Text"/>
              </a:rPr>
              <a:t>来向用户显示不需要或恶意的内容。</a:t>
            </a:r>
            <a:endParaRPr lang="en-US" altLang="zh-CN" sz="1050" i="0" dirty="0">
              <a:solidFill>
                <a:srgbClr val="202124"/>
              </a:solidFill>
              <a:effectLst/>
              <a:latin typeface="Google Sans Text"/>
            </a:endParaRPr>
          </a:p>
          <a:p>
            <a:pPr marL="0" indent="0" algn="l">
              <a:buNone/>
            </a:pPr>
            <a:endParaRPr lang="en-US" altLang="zh-CN" sz="1400" b="1" i="0" dirty="0">
              <a:solidFill>
                <a:srgbClr val="202124"/>
              </a:solidFill>
              <a:effectLst/>
            </a:endParaRPr>
          </a:p>
          <a:p>
            <a:pPr marL="0" indent="0">
              <a:buNone/>
            </a:pPr>
            <a:r>
              <a:rPr lang="zh-CN" altLang="en-US" sz="1050" b="1" i="0" dirty="0">
                <a:solidFill>
                  <a:srgbClr val="202124"/>
                </a:solidFill>
                <a:effectLst/>
              </a:rPr>
              <a:t>提高 </a:t>
            </a:r>
            <a:r>
              <a:rPr lang="en-US" altLang="zh-CN" sz="1050" b="1" i="0" dirty="0">
                <a:solidFill>
                  <a:srgbClr val="202124"/>
                </a:solidFill>
                <a:effectLst/>
              </a:rPr>
              <a:t>intent </a:t>
            </a:r>
            <a:r>
              <a:rPr lang="zh-CN" altLang="en-US" sz="1050" b="1" i="0" dirty="0">
                <a:solidFill>
                  <a:srgbClr val="202124"/>
                </a:solidFill>
                <a:effectLst/>
              </a:rPr>
              <a:t>安全性</a:t>
            </a:r>
          </a:p>
          <a:p>
            <a:r>
              <a:rPr lang="zh-CN" altLang="en-US" sz="1050" b="0" i="0" dirty="0">
                <a:solidFill>
                  <a:srgbClr val="202124"/>
                </a:solidFill>
                <a:effectLst/>
                <a:latin typeface="Google Sans Text"/>
              </a:rPr>
              <a:t>定位到特定组件的 </a:t>
            </a:r>
            <a:r>
              <a:rPr lang="en-US" altLang="zh-CN" sz="1050" b="0" i="0" dirty="0">
                <a:solidFill>
                  <a:srgbClr val="202124"/>
                </a:solidFill>
                <a:effectLst/>
                <a:latin typeface="Google Sans Text"/>
              </a:rPr>
              <a:t>intent </a:t>
            </a:r>
            <a:r>
              <a:rPr lang="zh-CN" altLang="en-US" sz="1050" b="0" i="0" dirty="0">
                <a:solidFill>
                  <a:srgbClr val="202124"/>
                </a:solidFill>
                <a:effectLst/>
                <a:latin typeface="Google Sans Text"/>
              </a:rPr>
              <a:t>必须与目标的 </a:t>
            </a:r>
            <a:r>
              <a:rPr lang="en-US" altLang="zh-CN" sz="1050" b="0" i="0" dirty="0">
                <a:solidFill>
                  <a:srgbClr val="202124"/>
                </a:solidFill>
                <a:effectLst/>
                <a:latin typeface="Google Sans Text"/>
              </a:rPr>
              <a:t>intent </a:t>
            </a:r>
            <a:r>
              <a:rPr lang="zh-CN" altLang="en-US" sz="1050" b="0" i="0" dirty="0">
                <a:solidFill>
                  <a:srgbClr val="202124"/>
                </a:solidFill>
                <a:effectLst/>
                <a:latin typeface="Google Sans Text"/>
              </a:rPr>
              <a:t>过滤器规范完全匹配。</a:t>
            </a:r>
            <a:endParaRPr lang="en-US" altLang="zh-CN" sz="1050" b="0" i="0" dirty="0">
              <a:solidFill>
                <a:srgbClr val="202124"/>
              </a:solidFill>
              <a:effectLst/>
              <a:latin typeface="Google Sans Text"/>
            </a:endParaRPr>
          </a:p>
          <a:p>
            <a:r>
              <a:rPr lang="en-US" altLang="zh-CN" sz="1050" dirty="0">
                <a:solidFill>
                  <a:srgbClr val="202124"/>
                </a:solidFill>
                <a:latin typeface="Google Sans Text"/>
              </a:rPr>
              <a:t>intent </a:t>
            </a:r>
            <a:r>
              <a:rPr lang="zh-CN" altLang="en-US" sz="1050" dirty="0">
                <a:solidFill>
                  <a:srgbClr val="202124"/>
                </a:solidFill>
                <a:latin typeface="Google Sans Text"/>
              </a:rPr>
              <a:t>必须具有操作：没有操作的 </a:t>
            </a:r>
            <a:r>
              <a:rPr lang="en-US" altLang="zh-CN" sz="1050" dirty="0">
                <a:solidFill>
                  <a:srgbClr val="202124"/>
                </a:solidFill>
                <a:latin typeface="Google Sans Text"/>
              </a:rPr>
              <a:t>intent </a:t>
            </a:r>
            <a:r>
              <a:rPr lang="zh-CN" altLang="en-US" sz="1050" dirty="0">
                <a:solidFill>
                  <a:srgbClr val="202124"/>
                </a:solidFill>
                <a:latin typeface="Google Sans Text"/>
              </a:rPr>
              <a:t>将不再与任何 </a:t>
            </a:r>
            <a:r>
              <a:rPr lang="en-US" altLang="zh-CN" sz="1050" dirty="0">
                <a:solidFill>
                  <a:srgbClr val="202124"/>
                </a:solidFill>
                <a:latin typeface="Google Sans Text"/>
              </a:rPr>
              <a:t>intent </a:t>
            </a:r>
            <a:r>
              <a:rPr lang="zh-CN" altLang="en-US" sz="1050" dirty="0">
                <a:solidFill>
                  <a:srgbClr val="202124"/>
                </a:solidFill>
                <a:latin typeface="Google Sans Text"/>
              </a:rPr>
              <a:t>过滤器匹配。这意味着，用于启动 </a:t>
            </a:r>
            <a:r>
              <a:rPr lang="en-US" altLang="zh-CN" sz="1050" dirty="0">
                <a:solidFill>
                  <a:srgbClr val="202124"/>
                </a:solidFill>
                <a:latin typeface="Google Sans Text"/>
              </a:rPr>
              <a:t>activity </a:t>
            </a:r>
            <a:r>
              <a:rPr lang="zh-CN" altLang="en-US" sz="1050" dirty="0">
                <a:solidFill>
                  <a:srgbClr val="202124"/>
                </a:solidFill>
                <a:latin typeface="Google Sans Text"/>
              </a:rPr>
              <a:t>或服务的 </a:t>
            </a:r>
            <a:r>
              <a:rPr lang="en-US" altLang="zh-CN" sz="1050" dirty="0">
                <a:solidFill>
                  <a:srgbClr val="202124"/>
                </a:solidFill>
                <a:latin typeface="Google Sans Text"/>
              </a:rPr>
              <a:t>intent </a:t>
            </a:r>
            <a:r>
              <a:rPr lang="zh-CN" altLang="en-US" sz="1050" dirty="0">
                <a:solidFill>
                  <a:srgbClr val="202124"/>
                </a:solidFill>
                <a:latin typeface="Google Sans Text"/>
              </a:rPr>
              <a:t>必须具有明确定义的操作。</a:t>
            </a:r>
          </a:p>
        </p:txBody>
      </p:sp>
    </p:spTree>
    <p:extLst>
      <p:ext uri="{BB962C8B-B14F-4D97-AF65-F5344CB8AC3E}">
        <p14:creationId xmlns:p14="http://schemas.microsoft.com/office/powerpoint/2010/main" val="38918847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7478EE-7BB7-A731-D0FA-D64060147C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8242896-4D9E-3C84-E0E2-37F7E316A7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权限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9583FAC-B919-BB12-3184-17C9CBD585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l">
              <a:buNone/>
            </a:pPr>
            <a:r>
              <a:rPr lang="zh-CN" altLang="en-US" sz="1400" b="1" i="0" dirty="0">
                <a:solidFill>
                  <a:srgbClr val="202124"/>
                </a:solidFill>
                <a:effectLst/>
              </a:rPr>
              <a:t>后台网络访问权限限制</a:t>
            </a:r>
            <a:endParaRPr lang="en-US" altLang="zh-CN" sz="1400" b="1" i="0" dirty="0">
              <a:solidFill>
                <a:srgbClr val="202124"/>
              </a:solidFill>
              <a:effectLst/>
            </a:endParaRPr>
          </a:p>
          <a:p>
            <a:pPr marL="0" indent="0" algn="l">
              <a:buNone/>
            </a:pPr>
            <a:r>
              <a:rPr lang="zh-CN" altLang="en-US" sz="1400" i="0" dirty="0">
                <a:solidFill>
                  <a:srgbClr val="202124"/>
                </a:solidFill>
                <a:effectLst/>
              </a:rPr>
              <a:t>在 </a:t>
            </a:r>
            <a:r>
              <a:rPr lang="en-US" altLang="zh-CN" sz="1400" i="0" dirty="0">
                <a:solidFill>
                  <a:srgbClr val="202124"/>
                </a:solidFill>
                <a:effectLst/>
              </a:rPr>
              <a:t>Android 15 </a:t>
            </a:r>
            <a:r>
              <a:rPr lang="zh-CN" altLang="en-US" sz="1400" i="0" dirty="0">
                <a:solidFill>
                  <a:srgbClr val="202124"/>
                </a:solidFill>
                <a:effectLst/>
              </a:rPr>
              <a:t>中，如果应用在有效的进程生命周期之外启动网络请求，则会收到异常。</a:t>
            </a:r>
            <a:endParaRPr lang="en-US" altLang="zh-CN" sz="1400" i="0" dirty="0">
              <a:solidFill>
                <a:srgbClr val="202124"/>
              </a:solidFill>
              <a:effectLst/>
            </a:endParaRPr>
          </a:p>
          <a:p>
            <a:pPr marL="0" indent="0" algn="l">
              <a:buNone/>
            </a:pPr>
            <a:r>
              <a:rPr lang="zh-CN" altLang="en-US" sz="1400" i="0" dirty="0">
                <a:solidFill>
                  <a:srgbClr val="202124"/>
                </a:solidFill>
                <a:effectLst/>
              </a:rPr>
              <a:t>通常是 </a:t>
            </a:r>
            <a:r>
              <a:rPr lang="en-US" altLang="zh-CN" sz="1400" i="0" dirty="0" err="1">
                <a:solidFill>
                  <a:srgbClr val="202124"/>
                </a:solidFill>
                <a:effectLst/>
              </a:rPr>
              <a:t>UnknownHostException</a:t>
            </a:r>
            <a:r>
              <a:rPr lang="zh-CN" altLang="en-US" sz="1400" i="0" dirty="0">
                <a:solidFill>
                  <a:srgbClr val="202124"/>
                </a:solidFill>
                <a:effectLst/>
              </a:rPr>
              <a:t>或其他与套接字相关的 </a:t>
            </a:r>
            <a:r>
              <a:rPr lang="en-US" altLang="zh-CN" sz="1400" i="0" dirty="0">
                <a:solidFill>
                  <a:srgbClr val="202124"/>
                </a:solidFill>
                <a:effectLst/>
              </a:rPr>
              <a:t>`</a:t>
            </a:r>
            <a:r>
              <a:rPr lang="en-US" altLang="zh-CN" sz="1400" i="0" dirty="0" err="1">
                <a:solidFill>
                  <a:srgbClr val="202124"/>
                </a:solidFill>
                <a:effectLst/>
              </a:rPr>
              <a:t>IOException</a:t>
            </a:r>
            <a:r>
              <a:rPr lang="en-US" altLang="zh-CN" sz="1400" i="0" dirty="0">
                <a:solidFill>
                  <a:srgbClr val="202124"/>
                </a:solidFill>
                <a:effectLst/>
              </a:rPr>
              <a:t>`</a:t>
            </a:r>
            <a:r>
              <a:rPr lang="zh-CN" altLang="en-US" sz="1400" i="0" dirty="0">
                <a:solidFill>
                  <a:srgbClr val="202124"/>
                </a:solidFill>
                <a:effectLst/>
              </a:rPr>
              <a:t>。</a:t>
            </a:r>
            <a:endParaRPr lang="en-US" altLang="zh-CN" sz="1400" i="0" dirty="0">
              <a:solidFill>
                <a:srgbClr val="202124"/>
              </a:solidFill>
              <a:effectLst/>
            </a:endParaRPr>
          </a:p>
          <a:p>
            <a:pPr marL="0" indent="0" algn="l">
              <a:buNone/>
            </a:pPr>
            <a:r>
              <a:rPr lang="zh-CN" altLang="en-US" sz="1400" i="0" dirty="0">
                <a:solidFill>
                  <a:srgbClr val="202124"/>
                </a:solidFill>
                <a:effectLst/>
              </a:rPr>
              <a:t>在有效生命周期之外发生的网络请求通常是因为应用在不再活跃后，不知不觉地继续发出网络请求。</a:t>
            </a:r>
            <a:endParaRPr lang="en-US" altLang="zh-CN" sz="1400" i="0" dirty="0">
              <a:solidFill>
                <a:srgbClr val="202124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9766354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BE7580-61FE-8C55-82E6-FBDD0B384F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501A07E-3111-4D93-19D3-DFD8F9F777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升级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729DE99-7AFF-166E-AA7D-7F7D906AB8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l">
              <a:buNone/>
            </a:pPr>
            <a:r>
              <a:rPr lang="en-US" altLang="zh-CN" sz="1400" b="1" dirty="0">
                <a:solidFill>
                  <a:srgbClr val="202124"/>
                </a:solidFill>
              </a:rPr>
              <a:t>Virtual A/B version 3</a:t>
            </a:r>
          </a:p>
          <a:p>
            <a:pPr marL="0" indent="0" algn="l">
              <a:buNone/>
            </a:pPr>
            <a:r>
              <a:rPr lang="zh-CN" altLang="en-US" sz="1050" dirty="0">
                <a:solidFill>
                  <a:srgbClr val="202124"/>
                </a:solidFill>
                <a:latin typeface="Google Sans Text"/>
              </a:rPr>
              <a:t>引入了新版本的 </a:t>
            </a:r>
            <a:r>
              <a:rPr lang="en-US" altLang="zh-CN" sz="1050" dirty="0">
                <a:solidFill>
                  <a:srgbClr val="202124"/>
                </a:solidFill>
                <a:latin typeface="Google Sans Text"/>
              </a:rPr>
              <a:t>Android </a:t>
            </a:r>
            <a:r>
              <a:rPr lang="zh-CN" altLang="en-US" sz="1050" dirty="0">
                <a:solidFill>
                  <a:srgbClr val="202124"/>
                </a:solidFill>
                <a:latin typeface="Google Sans Text"/>
              </a:rPr>
              <a:t>虚拟 </a:t>
            </a:r>
            <a:r>
              <a:rPr lang="en-US" altLang="zh-CN" sz="1050" dirty="0">
                <a:solidFill>
                  <a:srgbClr val="202124"/>
                </a:solidFill>
                <a:latin typeface="Google Sans Text"/>
              </a:rPr>
              <a:t>A/B </a:t>
            </a:r>
            <a:r>
              <a:rPr lang="zh-CN" altLang="en-US" sz="1050" dirty="0">
                <a:solidFill>
                  <a:srgbClr val="202124"/>
                </a:solidFill>
                <a:latin typeface="Google Sans Text"/>
              </a:rPr>
              <a:t>更新机制。这项新功能可实现更快、更小且性能更高的 </a:t>
            </a:r>
            <a:r>
              <a:rPr lang="en-US" altLang="zh-CN" sz="1050" dirty="0">
                <a:solidFill>
                  <a:srgbClr val="202124"/>
                </a:solidFill>
                <a:latin typeface="Google Sans Text"/>
              </a:rPr>
              <a:t>OTA </a:t>
            </a:r>
            <a:r>
              <a:rPr lang="zh-CN" altLang="en-US" sz="1050" dirty="0">
                <a:solidFill>
                  <a:srgbClr val="202124"/>
                </a:solidFill>
                <a:latin typeface="Google Sans Text"/>
              </a:rPr>
              <a:t>更新。</a:t>
            </a:r>
          </a:p>
        </p:txBody>
      </p:sp>
    </p:spTree>
    <p:extLst>
      <p:ext uri="{BB962C8B-B14F-4D97-AF65-F5344CB8AC3E}">
        <p14:creationId xmlns:p14="http://schemas.microsoft.com/office/powerpoint/2010/main" val="8712593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42028A-A0E6-7187-1D80-2C57D0CDAA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9721196-4538-0218-BF0F-F1464938A8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私密空间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47A5EF6-293E-87C6-9D2C-138D8C2493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l">
              <a:buNone/>
            </a:pPr>
            <a:r>
              <a:rPr lang="en-US" altLang="zh-CN" sz="1050" dirty="0">
                <a:solidFill>
                  <a:srgbClr val="202124"/>
                </a:solidFill>
                <a:latin typeface="Google Sans Text"/>
              </a:rPr>
              <a:t>Android 15 </a:t>
            </a:r>
            <a:r>
              <a:rPr lang="zh-CN" altLang="en-US" sz="1050" dirty="0">
                <a:solidFill>
                  <a:srgbClr val="202124"/>
                </a:solidFill>
                <a:latin typeface="Google Sans Text"/>
              </a:rPr>
              <a:t>中推出的一项新功能，可让用户在设备上创建一个单独的空间，在额外的身份验证层保护下，防止敏感应用遭到窥探。</a:t>
            </a:r>
          </a:p>
        </p:txBody>
      </p:sp>
    </p:spTree>
    <p:extLst>
      <p:ext uri="{BB962C8B-B14F-4D97-AF65-F5344CB8AC3E}">
        <p14:creationId xmlns:p14="http://schemas.microsoft.com/office/powerpoint/2010/main" val="6445475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54948A-6026-5193-D107-814BC248DE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58215A6-79F1-584B-D603-1BD7AF362D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targetSdk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A9A0749-E837-6DAE-B952-6D121598CE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l">
              <a:buNone/>
            </a:pPr>
            <a:r>
              <a:rPr lang="zh-CN" altLang="en-US" sz="1050" dirty="0">
                <a:solidFill>
                  <a:srgbClr val="202124"/>
                </a:solidFill>
                <a:latin typeface="Google Sans Text"/>
              </a:rPr>
              <a:t>在 </a:t>
            </a:r>
            <a:r>
              <a:rPr lang="en-US" altLang="zh-CN" sz="1050" dirty="0">
                <a:solidFill>
                  <a:srgbClr val="202124"/>
                </a:solidFill>
                <a:latin typeface="Google Sans Text"/>
              </a:rPr>
              <a:t>Android 15 </a:t>
            </a:r>
            <a:r>
              <a:rPr lang="zh-CN" altLang="en-US" sz="1050" dirty="0">
                <a:solidFill>
                  <a:srgbClr val="202124"/>
                </a:solidFill>
                <a:latin typeface="Google Sans Text"/>
              </a:rPr>
              <a:t>中， 无法安装低于 </a:t>
            </a:r>
            <a:r>
              <a:rPr lang="en-US" altLang="zh-CN" sz="1050" dirty="0">
                <a:solidFill>
                  <a:srgbClr val="202124"/>
                </a:solidFill>
                <a:latin typeface="Google Sans Text"/>
              </a:rPr>
              <a:t>24 </a:t>
            </a:r>
            <a:r>
              <a:rPr lang="zh-CN" altLang="en-US" sz="1050" dirty="0">
                <a:solidFill>
                  <a:srgbClr val="202124"/>
                </a:solidFill>
                <a:latin typeface="Google Sans Text"/>
              </a:rPr>
              <a:t>的 </a:t>
            </a:r>
            <a:r>
              <a:rPr lang="en-US" altLang="zh-CN" sz="1050" dirty="0" err="1">
                <a:solidFill>
                  <a:srgbClr val="202124"/>
                </a:solidFill>
                <a:latin typeface="Google Sans Text"/>
              </a:rPr>
              <a:t>targetSdkVersion</a:t>
            </a:r>
            <a:r>
              <a:rPr lang="zh-CN" altLang="en-US" sz="1050" dirty="0">
                <a:solidFill>
                  <a:srgbClr val="202124"/>
                </a:solidFill>
                <a:latin typeface="Google Sans Text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26103084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3BFD6B-D54B-5F9A-38CE-A754755141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CA536DD-073B-2E5A-F3D2-C08AE17D20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适配指南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8331222-9D7F-18B9-5E84-1909853B0C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l">
              <a:buNone/>
            </a:pPr>
            <a:endParaRPr lang="zh-CN" altLang="en-US" sz="1050" dirty="0">
              <a:solidFill>
                <a:srgbClr val="202124"/>
              </a:solidFill>
              <a:latin typeface="Google Sans Text"/>
            </a:endParaRPr>
          </a:p>
        </p:txBody>
      </p:sp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6406A3AA-8263-FC74-2768-0829AAA048F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53088201"/>
              </p:ext>
            </p:extLst>
          </p:nvPr>
        </p:nvGraphicFramePr>
        <p:xfrm>
          <a:off x="1180322" y="2194184"/>
          <a:ext cx="196215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包装程序外壳对象" showAsIcon="1" r:id="rId2" imgW="1962156" imgH="533536" progId="Package">
                  <p:embed/>
                </p:oleObj>
              </mc:Choice>
              <mc:Fallback>
                <p:oleObj name="包装程序外壳对象" showAsIcon="1" r:id="rId2" imgW="1962156" imgH="533536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180322" y="2194184"/>
                        <a:ext cx="1962150" cy="533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1243242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924</Words>
  <Application>Microsoft Office PowerPoint</Application>
  <PresentationFormat>宽屏</PresentationFormat>
  <Paragraphs>66</Paragraphs>
  <Slides>13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0" baseType="lpstr">
      <vt:lpstr>Google Sans Text</vt:lpstr>
      <vt:lpstr>等线</vt:lpstr>
      <vt:lpstr>等线 Light</vt:lpstr>
      <vt:lpstr>黑体</vt:lpstr>
      <vt:lpstr>Arial</vt:lpstr>
      <vt:lpstr>Office 主题​​</vt:lpstr>
      <vt:lpstr>程序包</vt:lpstr>
      <vt:lpstr>PowerPoint 演示文稿</vt:lpstr>
      <vt:lpstr>废弃 VNDK</vt:lpstr>
      <vt:lpstr>启用 16KB 页面大小</vt:lpstr>
      <vt:lpstr>相机</vt:lpstr>
      <vt:lpstr>字体</vt:lpstr>
      <vt:lpstr>AI </vt:lpstr>
      <vt:lpstr>权限</vt:lpstr>
      <vt:lpstr>权限</vt:lpstr>
      <vt:lpstr>权限</vt:lpstr>
      <vt:lpstr>升级</vt:lpstr>
      <vt:lpstr>私密空间</vt:lpstr>
      <vt:lpstr>targetSdk</vt:lpstr>
      <vt:lpstr>适配指南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Administrator</dc:creator>
  <cp:lastModifiedBy>Administrator</cp:lastModifiedBy>
  <cp:revision>14</cp:revision>
  <dcterms:created xsi:type="dcterms:W3CDTF">2025-05-16T01:43:08Z</dcterms:created>
  <dcterms:modified xsi:type="dcterms:W3CDTF">2025-05-16T02:25:28Z</dcterms:modified>
</cp:coreProperties>
</file>