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4.xml" ContentType="application/vnd.openxmlformats-officedocument.theme+xml"/>
  <Override PartName="/ppt/theme/theme5.xml" ContentType="application/vnd.openxmlformats-officedocument.them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63" r:id="rId3"/>
  </p:sldMasterIdLst>
  <p:notesMasterIdLst>
    <p:notesMasterId r:id="rId58"/>
  </p:notesMasterIdLst>
  <p:handoutMasterIdLst>
    <p:handoutMasterId r:id="rId59"/>
  </p:handoutMasterIdLst>
  <p:sldIdLst>
    <p:sldId id="286" r:id="rId4"/>
    <p:sldId id="257" r:id="rId5"/>
    <p:sldId id="311" r:id="rId6"/>
    <p:sldId id="264" r:id="rId7"/>
    <p:sldId id="266" r:id="rId8"/>
    <p:sldId id="269" r:id="rId9"/>
    <p:sldId id="265" r:id="rId10"/>
    <p:sldId id="270" r:id="rId11"/>
    <p:sldId id="313" r:id="rId12"/>
    <p:sldId id="279" r:id="rId13"/>
    <p:sldId id="283" r:id="rId14"/>
    <p:sldId id="282" r:id="rId15"/>
    <p:sldId id="314" r:id="rId16"/>
    <p:sldId id="315" r:id="rId17"/>
    <p:sldId id="316" r:id="rId18"/>
    <p:sldId id="317" r:id="rId19"/>
    <p:sldId id="318" r:id="rId20"/>
    <p:sldId id="319" r:id="rId21"/>
    <p:sldId id="320" r:id="rId22"/>
    <p:sldId id="347" r:id="rId23"/>
    <p:sldId id="321" r:id="rId24"/>
    <p:sldId id="322" r:id="rId25"/>
    <p:sldId id="346" r:id="rId26"/>
    <p:sldId id="323" r:id="rId27"/>
    <p:sldId id="324" r:id="rId28"/>
    <p:sldId id="325" r:id="rId29"/>
    <p:sldId id="326" r:id="rId30"/>
    <p:sldId id="327" r:id="rId31"/>
    <p:sldId id="328" r:id="rId32"/>
    <p:sldId id="329" r:id="rId33"/>
    <p:sldId id="330" r:id="rId34"/>
    <p:sldId id="273" r:id="rId35"/>
    <p:sldId id="331" r:id="rId36"/>
    <p:sldId id="280" r:id="rId37"/>
    <p:sldId id="284" r:id="rId38"/>
    <p:sldId id="285" r:id="rId39"/>
    <p:sldId id="332" r:id="rId40"/>
    <p:sldId id="333" r:id="rId41"/>
    <p:sldId id="334" r:id="rId42"/>
    <p:sldId id="335" r:id="rId43"/>
    <p:sldId id="276" r:id="rId44"/>
    <p:sldId id="336" r:id="rId45"/>
    <p:sldId id="337" r:id="rId46"/>
    <p:sldId id="338" r:id="rId47"/>
    <p:sldId id="345" r:id="rId48"/>
    <p:sldId id="339" r:id="rId49"/>
    <p:sldId id="340" r:id="rId50"/>
    <p:sldId id="341" r:id="rId51"/>
    <p:sldId id="342" r:id="rId52"/>
    <p:sldId id="343" r:id="rId53"/>
    <p:sldId id="344" r:id="rId54"/>
    <p:sldId id="305" r:id="rId55"/>
    <p:sldId id="310" r:id="rId56"/>
    <p:sldId id="263" r:id="rId57"/>
  </p:sldIdLst>
  <p:sldSz cx="12192000" cy="6858000"/>
  <p:notesSz cx="6858000" cy="9144000"/>
  <p:custDataLst>
    <p:tags r:id="rId6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992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54" d="100"/>
          <a:sy n="154" d="100"/>
        </p:scale>
        <p:origin x="336" y="138"/>
      </p:cViewPr>
      <p:guideLst>
        <p:guide orient="horz" pos="215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7" d="100"/>
          <a:sy n="127" d="100"/>
        </p:scale>
        <p:origin x="3900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63" Type="http://schemas.openxmlformats.org/officeDocument/2006/relationships/theme" Target="theme/theme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1" Type="http://schemas.openxmlformats.org/officeDocument/2006/relationships/presProps" Target="presProps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tableStyles" Target="tableStyle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handoutMaster" Target="handoutMasters/handoutMaster1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tags" Target="tags/tag1.xml"/><Relationship Id="rId4" Type="http://schemas.openxmlformats.org/officeDocument/2006/relationships/slide" Target="slides/slide1.xml"/><Relationship Id="rId9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E5C280-1B2D-4781-B707-4B0EC071CFB8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01CA09-FBF4-4941-B7E5-5E91EF28B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534D5-ABFC-4AD4-8958-9371162AF869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AA2BF-139C-4AD3-A005-CF241C041F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534D5-ABFC-4AD4-8958-9371162AF869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AA2BF-139C-4AD3-A005-CF241C041F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534D5-ABFC-4AD4-8958-9371162AF869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AA2BF-139C-4AD3-A005-CF241C041F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534D5-ABFC-4AD4-8958-9371162AF869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AA2BF-139C-4AD3-A005-CF241C041F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534D5-ABFC-4AD4-8958-9371162AF869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AA2BF-139C-4AD3-A005-CF241C041F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534D5-ABFC-4AD4-8958-9371162AF869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AA2BF-139C-4AD3-A005-CF241C041F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534D5-ABFC-4AD4-8958-9371162AF869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AA2BF-139C-4AD3-A005-CF241C041F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534D5-ABFC-4AD4-8958-9371162AF869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AA2BF-139C-4AD3-A005-CF241C041F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534D5-ABFC-4AD4-8958-9371162AF869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AA2BF-139C-4AD3-A005-CF241C041F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534D5-ABFC-4AD4-8958-9371162AF869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AA2BF-139C-4AD3-A005-CF241C041F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/>
        </p:nvSpPr>
        <p:spPr>
          <a:xfrm>
            <a:off x="5294631" y="1931671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思源黑体" panose="020B0500000000000000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7" Type="http://schemas.microsoft.com/office/2007/relationships/hdphoto" Target="../media/hdphoto1.wdp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.png"/><Relationship Id="rId5" Type="http://schemas.openxmlformats.org/officeDocument/2006/relationships/tags" Target="../tags/tag3.xml"/><Relationship Id="rId4" Type="http://schemas.openxmlformats.org/officeDocument/2006/relationships/tags" Target="../tags/tag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7" Type="http://schemas.openxmlformats.org/officeDocument/2006/relationships/image" Target="../media/image2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4.xml"/><Relationship Id="rId6" Type="http://schemas.microsoft.com/office/2007/relationships/hdphoto" Target="../media/hdphoto1.wdp"/><Relationship Id="rId5" Type="http://schemas.openxmlformats.org/officeDocument/2006/relationships/image" Target="../media/image1.png"/><Relationship Id="rId4" Type="http://schemas.openxmlformats.org/officeDocument/2006/relationships/tags" Target="../tags/tag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5534D5-ABFC-4AD4-8958-9371162AF869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DAA2BF-139C-4AD3-A005-CF241C041F6D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9601200" y="405735"/>
            <a:ext cx="1919288" cy="456511"/>
            <a:chOff x="7836774" y="258763"/>
            <a:chExt cx="4044824" cy="906292"/>
          </a:xfrm>
        </p:grpSpPr>
        <p:sp>
          <p:nvSpPr>
            <p:cNvPr id="14" name="Freeform 5"/>
            <p:cNvSpPr/>
            <p:nvPr/>
          </p:nvSpPr>
          <p:spPr bwMode="auto">
            <a:xfrm>
              <a:off x="8618539" y="282576"/>
              <a:ext cx="544513" cy="374650"/>
            </a:xfrm>
            <a:custGeom>
              <a:avLst/>
              <a:gdLst>
                <a:gd name="T0" fmla="*/ 0 w 704"/>
                <a:gd name="T1" fmla="*/ 416 h 528"/>
                <a:gd name="T2" fmla="*/ 432 w 704"/>
                <a:gd name="T3" fmla="*/ 416 h 528"/>
                <a:gd name="T4" fmla="*/ 480 w 704"/>
                <a:gd name="T5" fmla="*/ 384 h 528"/>
                <a:gd name="T6" fmla="*/ 480 w 704"/>
                <a:gd name="T7" fmla="*/ 352 h 528"/>
                <a:gd name="T8" fmla="*/ 432 w 704"/>
                <a:gd name="T9" fmla="*/ 320 h 528"/>
                <a:gd name="T10" fmla="*/ 160 w 704"/>
                <a:gd name="T11" fmla="*/ 256 h 528"/>
                <a:gd name="T12" fmla="*/ 0 w 704"/>
                <a:gd name="T13" fmla="*/ 144 h 528"/>
                <a:gd name="T14" fmla="*/ 0 w 704"/>
                <a:gd name="T15" fmla="*/ 64 h 528"/>
                <a:gd name="T16" fmla="*/ 80 w 704"/>
                <a:gd name="T17" fmla="*/ 0 h 528"/>
                <a:gd name="T18" fmla="*/ 704 w 704"/>
                <a:gd name="T19" fmla="*/ 0 h 528"/>
                <a:gd name="T20" fmla="*/ 704 w 704"/>
                <a:gd name="T21" fmla="*/ 96 h 528"/>
                <a:gd name="T22" fmla="*/ 224 w 704"/>
                <a:gd name="T23" fmla="*/ 96 h 528"/>
                <a:gd name="T24" fmla="*/ 224 w 704"/>
                <a:gd name="T25" fmla="*/ 160 h 528"/>
                <a:gd name="T26" fmla="*/ 272 w 704"/>
                <a:gd name="T27" fmla="*/ 192 h 528"/>
                <a:gd name="T28" fmla="*/ 608 w 704"/>
                <a:gd name="T29" fmla="*/ 256 h 528"/>
                <a:gd name="T30" fmla="*/ 704 w 704"/>
                <a:gd name="T31" fmla="*/ 336 h 528"/>
                <a:gd name="T32" fmla="*/ 704 w 704"/>
                <a:gd name="T33" fmla="*/ 432 h 528"/>
                <a:gd name="T34" fmla="*/ 624 w 704"/>
                <a:gd name="T35" fmla="*/ 528 h 528"/>
                <a:gd name="T36" fmla="*/ 0 w 704"/>
                <a:gd name="T37" fmla="*/ 528 h 528"/>
                <a:gd name="T38" fmla="*/ 0 w 704"/>
                <a:gd name="T39" fmla="*/ 416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04" h="528">
                  <a:moveTo>
                    <a:pt x="0" y="416"/>
                  </a:moveTo>
                  <a:lnTo>
                    <a:pt x="432" y="416"/>
                  </a:lnTo>
                  <a:cubicBezTo>
                    <a:pt x="464" y="416"/>
                    <a:pt x="480" y="416"/>
                    <a:pt x="480" y="384"/>
                  </a:cubicBezTo>
                  <a:lnTo>
                    <a:pt x="480" y="352"/>
                  </a:lnTo>
                  <a:cubicBezTo>
                    <a:pt x="480" y="336"/>
                    <a:pt x="448" y="320"/>
                    <a:pt x="432" y="320"/>
                  </a:cubicBezTo>
                  <a:lnTo>
                    <a:pt x="160" y="256"/>
                  </a:lnTo>
                  <a:cubicBezTo>
                    <a:pt x="64" y="240"/>
                    <a:pt x="16" y="208"/>
                    <a:pt x="0" y="144"/>
                  </a:cubicBezTo>
                  <a:lnTo>
                    <a:pt x="0" y="64"/>
                  </a:lnTo>
                  <a:cubicBezTo>
                    <a:pt x="0" y="32"/>
                    <a:pt x="32" y="0"/>
                    <a:pt x="80" y="0"/>
                  </a:cubicBezTo>
                  <a:lnTo>
                    <a:pt x="704" y="0"/>
                  </a:lnTo>
                  <a:lnTo>
                    <a:pt x="704" y="96"/>
                  </a:lnTo>
                  <a:lnTo>
                    <a:pt x="224" y="96"/>
                  </a:lnTo>
                  <a:lnTo>
                    <a:pt x="224" y="160"/>
                  </a:lnTo>
                  <a:cubicBezTo>
                    <a:pt x="224" y="176"/>
                    <a:pt x="256" y="176"/>
                    <a:pt x="272" y="192"/>
                  </a:cubicBezTo>
                  <a:lnTo>
                    <a:pt x="608" y="256"/>
                  </a:lnTo>
                  <a:cubicBezTo>
                    <a:pt x="656" y="272"/>
                    <a:pt x="704" y="288"/>
                    <a:pt x="704" y="336"/>
                  </a:cubicBezTo>
                  <a:lnTo>
                    <a:pt x="704" y="432"/>
                  </a:lnTo>
                  <a:cubicBezTo>
                    <a:pt x="704" y="480"/>
                    <a:pt x="672" y="528"/>
                    <a:pt x="624" y="528"/>
                  </a:cubicBezTo>
                  <a:lnTo>
                    <a:pt x="0" y="528"/>
                  </a:lnTo>
                  <a:lnTo>
                    <a:pt x="0" y="416"/>
                  </a:lnTo>
                  <a:close/>
                </a:path>
              </a:pathLst>
            </a:custGeom>
            <a:solidFill>
              <a:srgbClr val="0070C0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15" name="Freeform 6"/>
            <p:cNvSpPr/>
            <p:nvPr/>
          </p:nvSpPr>
          <p:spPr bwMode="auto">
            <a:xfrm>
              <a:off x="7974014" y="271463"/>
              <a:ext cx="593724" cy="374650"/>
            </a:xfrm>
            <a:custGeom>
              <a:avLst/>
              <a:gdLst>
                <a:gd name="T0" fmla="*/ 93 w 374"/>
                <a:gd name="T1" fmla="*/ 93 h 236"/>
                <a:gd name="T2" fmla="*/ 281 w 374"/>
                <a:gd name="T3" fmla="*/ 93 h 236"/>
                <a:gd name="T4" fmla="*/ 281 w 374"/>
                <a:gd name="T5" fmla="*/ 0 h 236"/>
                <a:gd name="T6" fmla="*/ 374 w 374"/>
                <a:gd name="T7" fmla="*/ 0 h 236"/>
                <a:gd name="T8" fmla="*/ 374 w 374"/>
                <a:gd name="T9" fmla="*/ 236 h 236"/>
                <a:gd name="T10" fmla="*/ 281 w 374"/>
                <a:gd name="T11" fmla="*/ 236 h 236"/>
                <a:gd name="T12" fmla="*/ 281 w 374"/>
                <a:gd name="T13" fmla="*/ 136 h 236"/>
                <a:gd name="T14" fmla="*/ 93 w 374"/>
                <a:gd name="T15" fmla="*/ 136 h 236"/>
                <a:gd name="T16" fmla="*/ 93 w 374"/>
                <a:gd name="T17" fmla="*/ 236 h 236"/>
                <a:gd name="T18" fmla="*/ 0 w 374"/>
                <a:gd name="T19" fmla="*/ 236 h 236"/>
                <a:gd name="T20" fmla="*/ 0 w 374"/>
                <a:gd name="T21" fmla="*/ 0 h 236"/>
                <a:gd name="T22" fmla="*/ 93 w 374"/>
                <a:gd name="T23" fmla="*/ 0 h 236"/>
                <a:gd name="T24" fmla="*/ 93 w 374"/>
                <a:gd name="T25" fmla="*/ 93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74" h="236">
                  <a:moveTo>
                    <a:pt x="93" y="93"/>
                  </a:moveTo>
                  <a:lnTo>
                    <a:pt x="281" y="93"/>
                  </a:lnTo>
                  <a:lnTo>
                    <a:pt x="281" y="0"/>
                  </a:lnTo>
                  <a:lnTo>
                    <a:pt x="374" y="0"/>
                  </a:lnTo>
                  <a:lnTo>
                    <a:pt x="374" y="236"/>
                  </a:lnTo>
                  <a:lnTo>
                    <a:pt x="281" y="236"/>
                  </a:lnTo>
                  <a:lnTo>
                    <a:pt x="281" y="136"/>
                  </a:lnTo>
                  <a:lnTo>
                    <a:pt x="93" y="136"/>
                  </a:lnTo>
                  <a:lnTo>
                    <a:pt x="93" y="236"/>
                  </a:lnTo>
                  <a:lnTo>
                    <a:pt x="0" y="236"/>
                  </a:lnTo>
                  <a:lnTo>
                    <a:pt x="0" y="0"/>
                  </a:lnTo>
                  <a:lnTo>
                    <a:pt x="93" y="0"/>
                  </a:lnTo>
                  <a:lnTo>
                    <a:pt x="93" y="93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16" name="Freeform 7"/>
            <p:cNvSpPr>
              <a:spLocks noEditPoints="1"/>
            </p:cNvSpPr>
            <p:nvPr/>
          </p:nvSpPr>
          <p:spPr bwMode="auto">
            <a:xfrm>
              <a:off x="9163052" y="282576"/>
              <a:ext cx="693738" cy="374650"/>
            </a:xfrm>
            <a:custGeom>
              <a:avLst/>
              <a:gdLst>
                <a:gd name="T0" fmla="*/ 16 w 896"/>
                <a:gd name="T1" fmla="*/ 512 h 528"/>
                <a:gd name="T2" fmla="*/ 144 w 896"/>
                <a:gd name="T3" fmla="*/ 304 h 528"/>
                <a:gd name="T4" fmla="*/ 0 w 896"/>
                <a:gd name="T5" fmla="*/ 240 h 528"/>
                <a:gd name="T6" fmla="*/ 160 w 896"/>
                <a:gd name="T7" fmla="*/ 288 h 528"/>
                <a:gd name="T8" fmla="*/ 288 w 896"/>
                <a:gd name="T9" fmla="*/ 32 h 528"/>
                <a:gd name="T10" fmla="*/ 352 w 896"/>
                <a:gd name="T11" fmla="*/ 0 h 528"/>
                <a:gd name="T12" fmla="*/ 544 w 896"/>
                <a:gd name="T13" fmla="*/ 0 h 528"/>
                <a:gd name="T14" fmla="*/ 592 w 896"/>
                <a:gd name="T15" fmla="*/ 32 h 528"/>
                <a:gd name="T16" fmla="*/ 720 w 896"/>
                <a:gd name="T17" fmla="*/ 256 h 528"/>
                <a:gd name="T18" fmla="*/ 832 w 896"/>
                <a:gd name="T19" fmla="*/ 208 h 528"/>
                <a:gd name="T20" fmla="*/ 896 w 896"/>
                <a:gd name="T21" fmla="*/ 320 h 528"/>
                <a:gd name="T22" fmla="*/ 336 w 896"/>
                <a:gd name="T23" fmla="*/ 368 h 528"/>
                <a:gd name="T24" fmla="*/ 240 w 896"/>
                <a:gd name="T25" fmla="*/ 528 h 528"/>
                <a:gd name="T26" fmla="*/ 16 w 896"/>
                <a:gd name="T27" fmla="*/ 512 h 528"/>
                <a:gd name="T28" fmla="*/ 576 w 896"/>
                <a:gd name="T29" fmla="*/ 384 h 528"/>
                <a:gd name="T30" fmla="*/ 656 w 896"/>
                <a:gd name="T31" fmla="*/ 512 h 528"/>
                <a:gd name="T32" fmla="*/ 880 w 896"/>
                <a:gd name="T33" fmla="*/ 512 h 528"/>
                <a:gd name="T34" fmla="*/ 784 w 896"/>
                <a:gd name="T35" fmla="*/ 368 h 528"/>
                <a:gd name="T36" fmla="*/ 576 w 896"/>
                <a:gd name="T37" fmla="*/ 384 h 528"/>
                <a:gd name="T38" fmla="*/ 368 w 896"/>
                <a:gd name="T39" fmla="*/ 304 h 528"/>
                <a:gd name="T40" fmla="*/ 448 w 896"/>
                <a:gd name="T41" fmla="*/ 160 h 528"/>
                <a:gd name="T42" fmla="*/ 528 w 896"/>
                <a:gd name="T43" fmla="*/ 288 h 528"/>
                <a:gd name="T44" fmla="*/ 368 w 896"/>
                <a:gd name="T45" fmla="*/ 304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96" h="528">
                  <a:moveTo>
                    <a:pt x="16" y="512"/>
                  </a:moveTo>
                  <a:lnTo>
                    <a:pt x="144" y="304"/>
                  </a:lnTo>
                  <a:cubicBezTo>
                    <a:pt x="80" y="288"/>
                    <a:pt x="48" y="272"/>
                    <a:pt x="0" y="240"/>
                  </a:cubicBezTo>
                  <a:cubicBezTo>
                    <a:pt x="48" y="256"/>
                    <a:pt x="96" y="272"/>
                    <a:pt x="160" y="288"/>
                  </a:cubicBezTo>
                  <a:lnTo>
                    <a:pt x="288" y="32"/>
                  </a:lnTo>
                  <a:cubicBezTo>
                    <a:pt x="304" y="16"/>
                    <a:pt x="336" y="0"/>
                    <a:pt x="352" y="0"/>
                  </a:cubicBezTo>
                  <a:lnTo>
                    <a:pt x="544" y="0"/>
                  </a:lnTo>
                  <a:cubicBezTo>
                    <a:pt x="560" y="0"/>
                    <a:pt x="576" y="16"/>
                    <a:pt x="592" y="32"/>
                  </a:cubicBezTo>
                  <a:lnTo>
                    <a:pt x="720" y="256"/>
                  </a:lnTo>
                  <a:lnTo>
                    <a:pt x="832" y="208"/>
                  </a:lnTo>
                  <a:lnTo>
                    <a:pt x="896" y="320"/>
                  </a:lnTo>
                  <a:cubicBezTo>
                    <a:pt x="720" y="368"/>
                    <a:pt x="544" y="384"/>
                    <a:pt x="336" y="368"/>
                  </a:cubicBezTo>
                  <a:lnTo>
                    <a:pt x="240" y="528"/>
                  </a:lnTo>
                  <a:lnTo>
                    <a:pt x="16" y="512"/>
                  </a:lnTo>
                  <a:close/>
                  <a:moveTo>
                    <a:pt x="576" y="384"/>
                  </a:moveTo>
                  <a:lnTo>
                    <a:pt x="656" y="512"/>
                  </a:lnTo>
                  <a:lnTo>
                    <a:pt x="880" y="512"/>
                  </a:lnTo>
                  <a:lnTo>
                    <a:pt x="784" y="368"/>
                  </a:lnTo>
                  <a:cubicBezTo>
                    <a:pt x="720" y="368"/>
                    <a:pt x="656" y="384"/>
                    <a:pt x="576" y="384"/>
                  </a:cubicBezTo>
                  <a:close/>
                  <a:moveTo>
                    <a:pt x="368" y="304"/>
                  </a:moveTo>
                  <a:lnTo>
                    <a:pt x="448" y="160"/>
                  </a:lnTo>
                  <a:lnTo>
                    <a:pt x="528" y="288"/>
                  </a:lnTo>
                  <a:cubicBezTo>
                    <a:pt x="464" y="304"/>
                    <a:pt x="416" y="304"/>
                    <a:pt x="368" y="304"/>
                  </a:cubicBezTo>
                  <a:close/>
                </a:path>
              </a:pathLst>
            </a:custGeom>
            <a:solidFill>
              <a:srgbClr val="0070C0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19" name="Freeform 8"/>
            <p:cNvSpPr/>
            <p:nvPr/>
          </p:nvSpPr>
          <p:spPr bwMode="auto">
            <a:xfrm>
              <a:off x="9882189" y="282576"/>
              <a:ext cx="569912" cy="363538"/>
            </a:xfrm>
            <a:custGeom>
              <a:avLst/>
              <a:gdLst>
                <a:gd name="T0" fmla="*/ 0 w 736"/>
                <a:gd name="T1" fmla="*/ 480 h 512"/>
                <a:gd name="T2" fmla="*/ 0 w 736"/>
                <a:gd name="T3" fmla="*/ 32 h 512"/>
                <a:gd name="T4" fmla="*/ 48 w 736"/>
                <a:gd name="T5" fmla="*/ 0 h 512"/>
                <a:gd name="T6" fmla="*/ 736 w 736"/>
                <a:gd name="T7" fmla="*/ 0 h 512"/>
                <a:gd name="T8" fmla="*/ 736 w 736"/>
                <a:gd name="T9" fmla="*/ 96 h 512"/>
                <a:gd name="T10" fmla="*/ 208 w 736"/>
                <a:gd name="T11" fmla="*/ 96 h 512"/>
                <a:gd name="T12" fmla="*/ 208 w 736"/>
                <a:gd name="T13" fmla="*/ 192 h 512"/>
                <a:gd name="T14" fmla="*/ 448 w 736"/>
                <a:gd name="T15" fmla="*/ 192 h 512"/>
                <a:gd name="T16" fmla="*/ 448 w 736"/>
                <a:gd name="T17" fmla="*/ 288 h 512"/>
                <a:gd name="T18" fmla="*/ 208 w 736"/>
                <a:gd name="T19" fmla="*/ 288 h 512"/>
                <a:gd name="T20" fmla="*/ 208 w 736"/>
                <a:gd name="T21" fmla="*/ 416 h 512"/>
                <a:gd name="T22" fmla="*/ 736 w 736"/>
                <a:gd name="T23" fmla="*/ 416 h 512"/>
                <a:gd name="T24" fmla="*/ 736 w 736"/>
                <a:gd name="T25" fmla="*/ 512 h 512"/>
                <a:gd name="T26" fmla="*/ 32 w 736"/>
                <a:gd name="T27" fmla="*/ 512 h 512"/>
                <a:gd name="T28" fmla="*/ 0 w 736"/>
                <a:gd name="T29" fmla="*/ 48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36" h="512">
                  <a:moveTo>
                    <a:pt x="0" y="480"/>
                  </a:moveTo>
                  <a:lnTo>
                    <a:pt x="0" y="32"/>
                  </a:lnTo>
                  <a:cubicBezTo>
                    <a:pt x="0" y="16"/>
                    <a:pt x="16" y="0"/>
                    <a:pt x="48" y="0"/>
                  </a:cubicBezTo>
                  <a:lnTo>
                    <a:pt x="736" y="0"/>
                  </a:lnTo>
                  <a:lnTo>
                    <a:pt x="736" y="96"/>
                  </a:lnTo>
                  <a:lnTo>
                    <a:pt x="208" y="96"/>
                  </a:lnTo>
                  <a:lnTo>
                    <a:pt x="208" y="192"/>
                  </a:lnTo>
                  <a:lnTo>
                    <a:pt x="448" y="192"/>
                  </a:lnTo>
                  <a:lnTo>
                    <a:pt x="448" y="288"/>
                  </a:lnTo>
                  <a:lnTo>
                    <a:pt x="208" y="288"/>
                  </a:lnTo>
                  <a:lnTo>
                    <a:pt x="208" y="416"/>
                  </a:lnTo>
                  <a:lnTo>
                    <a:pt x="736" y="416"/>
                  </a:lnTo>
                  <a:lnTo>
                    <a:pt x="736" y="512"/>
                  </a:lnTo>
                  <a:lnTo>
                    <a:pt x="32" y="512"/>
                  </a:lnTo>
                  <a:cubicBezTo>
                    <a:pt x="16" y="512"/>
                    <a:pt x="0" y="496"/>
                    <a:pt x="0" y="480"/>
                  </a:cubicBezTo>
                  <a:close/>
                </a:path>
              </a:pathLst>
            </a:custGeom>
            <a:solidFill>
              <a:srgbClr val="0070C0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20" name="Freeform 9"/>
            <p:cNvSpPr>
              <a:spLocks noEditPoints="1"/>
            </p:cNvSpPr>
            <p:nvPr/>
          </p:nvSpPr>
          <p:spPr bwMode="auto">
            <a:xfrm>
              <a:off x="10612439" y="258763"/>
              <a:ext cx="520701" cy="398463"/>
            </a:xfrm>
            <a:custGeom>
              <a:avLst/>
              <a:gdLst>
                <a:gd name="T0" fmla="*/ 128 w 672"/>
                <a:gd name="T1" fmla="*/ 256 h 560"/>
                <a:gd name="T2" fmla="*/ 128 w 672"/>
                <a:gd name="T3" fmla="*/ 128 h 560"/>
                <a:gd name="T4" fmla="*/ 160 w 672"/>
                <a:gd name="T5" fmla="*/ 224 h 560"/>
                <a:gd name="T6" fmla="*/ 240 w 672"/>
                <a:gd name="T7" fmla="*/ 224 h 560"/>
                <a:gd name="T8" fmla="*/ 208 w 672"/>
                <a:gd name="T9" fmla="*/ 128 h 560"/>
                <a:gd name="T10" fmla="*/ 128 w 672"/>
                <a:gd name="T11" fmla="*/ 128 h 560"/>
                <a:gd name="T12" fmla="*/ 128 w 672"/>
                <a:gd name="T13" fmla="*/ 80 h 560"/>
                <a:gd name="T14" fmla="*/ 240 w 672"/>
                <a:gd name="T15" fmla="*/ 80 h 560"/>
                <a:gd name="T16" fmla="*/ 240 w 672"/>
                <a:gd name="T17" fmla="*/ 256 h 560"/>
                <a:gd name="T18" fmla="*/ 128 w 672"/>
                <a:gd name="T19" fmla="*/ 256 h 560"/>
                <a:gd name="T20" fmla="*/ 144 w 672"/>
                <a:gd name="T21" fmla="*/ 320 h 560"/>
                <a:gd name="T22" fmla="*/ 160 w 672"/>
                <a:gd name="T23" fmla="*/ 432 h 560"/>
                <a:gd name="T24" fmla="*/ 240 w 672"/>
                <a:gd name="T25" fmla="*/ 432 h 560"/>
                <a:gd name="T26" fmla="*/ 208 w 672"/>
                <a:gd name="T27" fmla="*/ 320 h 560"/>
                <a:gd name="T28" fmla="*/ 144 w 672"/>
                <a:gd name="T29" fmla="*/ 320 h 560"/>
                <a:gd name="T30" fmla="*/ 448 w 672"/>
                <a:gd name="T31" fmla="*/ 48 h 560"/>
                <a:gd name="T32" fmla="*/ 416 w 672"/>
                <a:gd name="T33" fmla="*/ 0 h 560"/>
                <a:gd name="T34" fmla="*/ 512 w 672"/>
                <a:gd name="T35" fmla="*/ 0 h 560"/>
                <a:gd name="T36" fmla="*/ 544 w 672"/>
                <a:gd name="T37" fmla="*/ 48 h 560"/>
                <a:gd name="T38" fmla="*/ 672 w 672"/>
                <a:gd name="T39" fmla="*/ 48 h 560"/>
                <a:gd name="T40" fmla="*/ 672 w 672"/>
                <a:gd name="T41" fmla="*/ 96 h 560"/>
                <a:gd name="T42" fmla="*/ 336 w 672"/>
                <a:gd name="T43" fmla="*/ 96 h 560"/>
                <a:gd name="T44" fmla="*/ 336 w 672"/>
                <a:gd name="T45" fmla="*/ 48 h 560"/>
                <a:gd name="T46" fmla="*/ 448 w 672"/>
                <a:gd name="T47" fmla="*/ 48 h 560"/>
                <a:gd name="T48" fmla="*/ 368 w 672"/>
                <a:gd name="T49" fmla="*/ 144 h 560"/>
                <a:gd name="T50" fmla="*/ 608 w 672"/>
                <a:gd name="T51" fmla="*/ 144 h 560"/>
                <a:gd name="T52" fmla="*/ 608 w 672"/>
                <a:gd name="T53" fmla="*/ 512 h 560"/>
                <a:gd name="T54" fmla="*/ 672 w 672"/>
                <a:gd name="T55" fmla="*/ 512 h 560"/>
                <a:gd name="T56" fmla="*/ 672 w 672"/>
                <a:gd name="T57" fmla="*/ 544 h 560"/>
                <a:gd name="T58" fmla="*/ 560 w 672"/>
                <a:gd name="T59" fmla="*/ 544 h 560"/>
                <a:gd name="T60" fmla="*/ 528 w 672"/>
                <a:gd name="T61" fmla="*/ 512 h 560"/>
                <a:gd name="T62" fmla="*/ 528 w 672"/>
                <a:gd name="T63" fmla="*/ 192 h 560"/>
                <a:gd name="T64" fmla="*/ 464 w 672"/>
                <a:gd name="T65" fmla="*/ 192 h 560"/>
                <a:gd name="T66" fmla="*/ 464 w 672"/>
                <a:gd name="T67" fmla="*/ 384 h 560"/>
                <a:gd name="T68" fmla="*/ 336 w 672"/>
                <a:gd name="T69" fmla="*/ 544 h 560"/>
                <a:gd name="T70" fmla="*/ 336 w 672"/>
                <a:gd name="T71" fmla="*/ 480 h 560"/>
                <a:gd name="T72" fmla="*/ 368 w 672"/>
                <a:gd name="T73" fmla="*/ 400 h 560"/>
                <a:gd name="T74" fmla="*/ 368 w 672"/>
                <a:gd name="T75" fmla="*/ 144 h 560"/>
                <a:gd name="T76" fmla="*/ 128 w 672"/>
                <a:gd name="T77" fmla="*/ 48 h 560"/>
                <a:gd name="T78" fmla="*/ 160 w 672"/>
                <a:gd name="T79" fmla="*/ 0 h 560"/>
                <a:gd name="T80" fmla="*/ 256 w 672"/>
                <a:gd name="T81" fmla="*/ 0 h 560"/>
                <a:gd name="T82" fmla="*/ 224 w 672"/>
                <a:gd name="T83" fmla="*/ 48 h 560"/>
                <a:gd name="T84" fmla="*/ 320 w 672"/>
                <a:gd name="T85" fmla="*/ 48 h 560"/>
                <a:gd name="T86" fmla="*/ 320 w 672"/>
                <a:gd name="T87" fmla="*/ 528 h 560"/>
                <a:gd name="T88" fmla="*/ 304 w 672"/>
                <a:gd name="T89" fmla="*/ 560 h 560"/>
                <a:gd name="T90" fmla="*/ 176 w 672"/>
                <a:gd name="T91" fmla="*/ 560 h 560"/>
                <a:gd name="T92" fmla="*/ 176 w 672"/>
                <a:gd name="T93" fmla="*/ 512 h 560"/>
                <a:gd name="T94" fmla="*/ 240 w 672"/>
                <a:gd name="T95" fmla="*/ 512 h 560"/>
                <a:gd name="T96" fmla="*/ 240 w 672"/>
                <a:gd name="T97" fmla="*/ 288 h 560"/>
                <a:gd name="T98" fmla="*/ 128 w 672"/>
                <a:gd name="T99" fmla="*/ 288 h 560"/>
                <a:gd name="T100" fmla="*/ 80 w 672"/>
                <a:gd name="T101" fmla="*/ 544 h 560"/>
                <a:gd name="T102" fmla="*/ 0 w 672"/>
                <a:gd name="T103" fmla="*/ 544 h 560"/>
                <a:gd name="T104" fmla="*/ 48 w 672"/>
                <a:gd name="T105" fmla="*/ 304 h 560"/>
                <a:gd name="T106" fmla="*/ 0 w 672"/>
                <a:gd name="T107" fmla="*/ 304 h 560"/>
                <a:gd name="T108" fmla="*/ 0 w 672"/>
                <a:gd name="T109" fmla="*/ 256 h 560"/>
                <a:gd name="T110" fmla="*/ 48 w 672"/>
                <a:gd name="T111" fmla="*/ 256 h 560"/>
                <a:gd name="T112" fmla="*/ 48 w 672"/>
                <a:gd name="T113" fmla="*/ 48 h 560"/>
                <a:gd name="T114" fmla="*/ 128 w 672"/>
                <a:gd name="T115" fmla="*/ 48 h 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672" h="560">
                  <a:moveTo>
                    <a:pt x="128" y="256"/>
                  </a:moveTo>
                  <a:lnTo>
                    <a:pt x="128" y="128"/>
                  </a:lnTo>
                  <a:lnTo>
                    <a:pt x="160" y="224"/>
                  </a:lnTo>
                  <a:lnTo>
                    <a:pt x="240" y="224"/>
                  </a:lnTo>
                  <a:lnTo>
                    <a:pt x="208" y="128"/>
                  </a:lnTo>
                  <a:lnTo>
                    <a:pt x="128" y="128"/>
                  </a:lnTo>
                  <a:lnTo>
                    <a:pt x="128" y="80"/>
                  </a:lnTo>
                  <a:lnTo>
                    <a:pt x="240" y="80"/>
                  </a:lnTo>
                  <a:lnTo>
                    <a:pt x="240" y="256"/>
                  </a:lnTo>
                  <a:lnTo>
                    <a:pt x="128" y="256"/>
                  </a:lnTo>
                  <a:close/>
                  <a:moveTo>
                    <a:pt x="144" y="320"/>
                  </a:moveTo>
                  <a:lnTo>
                    <a:pt x="160" y="432"/>
                  </a:lnTo>
                  <a:lnTo>
                    <a:pt x="240" y="432"/>
                  </a:lnTo>
                  <a:lnTo>
                    <a:pt x="208" y="320"/>
                  </a:lnTo>
                  <a:lnTo>
                    <a:pt x="144" y="320"/>
                  </a:lnTo>
                  <a:close/>
                  <a:moveTo>
                    <a:pt x="448" y="48"/>
                  </a:moveTo>
                  <a:lnTo>
                    <a:pt x="416" y="0"/>
                  </a:lnTo>
                  <a:lnTo>
                    <a:pt x="512" y="0"/>
                  </a:lnTo>
                  <a:lnTo>
                    <a:pt x="544" y="48"/>
                  </a:lnTo>
                  <a:lnTo>
                    <a:pt x="672" y="48"/>
                  </a:lnTo>
                  <a:lnTo>
                    <a:pt x="672" y="96"/>
                  </a:lnTo>
                  <a:lnTo>
                    <a:pt x="336" y="96"/>
                  </a:lnTo>
                  <a:lnTo>
                    <a:pt x="336" y="48"/>
                  </a:lnTo>
                  <a:lnTo>
                    <a:pt x="448" y="48"/>
                  </a:lnTo>
                  <a:close/>
                  <a:moveTo>
                    <a:pt x="368" y="144"/>
                  </a:moveTo>
                  <a:lnTo>
                    <a:pt x="608" y="144"/>
                  </a:lnTo>
                  <a:lnTo>
                    <a:pt x="608" y="512"/>
                  </a:lnTo>
                  <a:lnTo>
                    <a:pt x="672" y="512"/>
                  </a:lnTo>
                  <a:lnTo>
                    <a:pt x="672" y="544"/>
                  </a:lnTo>
                  <a:lnTo>
                    <a:pt x="560" y="544"/>
                  </a:lnTo>
                  <a:cubicBezTo>
                    <a:pt x="544" y="544"/>
                    <a:pt x="528" y="544"/>
                    <a:pt x="528" y="512"/>
                  </a:cubicBezTo>
                  <a:lnTo>
                    <a:pt x="528" y="192"/>
                  </a:lnTo>
                  <a:lnTo>
                    <a:pt x="464" y="192"/>
                  </a:lnTo>
                  <a:lnTo>
                    <a:pt x="464" y="384"/>
                  </a:lnTo>
                  <a:cubicBezTo>
                    <a:pt x="448" y="480"/>
                    <a:pt x="400" y="528"/>
                    <a:pt x="336" y="544"/>
                  </a:cubicBezTo>
                  <a:lnTo>
                    <a:pt x="336" y="480"/>
                  </a:lnTo>
                  <a:cubicBezTo>
                    <a:pt x="352" y="464"/>
                    <a:pt x="368" y="432"/>
                    <a:pt x="368" y="400"/>
                  </a:cubicBezTo>
                  <a:lnTo>
                    <a:pt x="368" y="144"/>
                  </a:lnTo>
                  <a:close/>
                  <a:moveTo>
                    <a:pt x="128" y="48"/>
                  </a:moveTo>
                  <a:lnTo>
                    <a:pt x="160" y="0"/>
                  </a:lnTo>
                  <a:lnTo>
                    <a:pt x="256" y="0"/>
                  </a:lnTo>
                  <a:lnTo>
                    <a:pt x="224" y="48"/>
                  </a:lnTo>
                  <a:lnTo>
                    <a:pt x="320" y="48"/>
                  </a:lnTo>
                  <a:lnTo>
                    <a:pt x="320" y="528"/>
                  </a:lnTo>
                  <a:cubicBezTo>
                    <a:pt x="320" y="544"/>
                    <a:pt x="320" y="560"/>
                    <a:pt x="304" y="560"/>
                  </a:cubicBezTo>
                  <a:lnTo>
                    <a:pt x="176" y="560"/>
                  </a:lnTo>
                  <a:lnTo>
                    <a:pt x="176" y="512"/>
                  </a:lnTo>
                  <a:lnTo>
                    <a:pt x="240" y="512"/>
                  </a:lnTo>
                  <a:lnTo>
                    <a:pt x="240" y="288"/>
                  </a:lnTo>
                  <a:lnTo>
                    <a:pt x="128" y="288"/>
                  </a:lnTo>
                  <a:cubicBezTo>
                    <a:pt x="144" y="400"/>
                    <a:pt x="128" y="480"/>
                    <a:pt x="80" y="544"/>
                  </a:cubicBezTo>
                  <a:lnTo>
                    <a:pt x="0" y="544"/>
                  </a:lnTo>
                  <a:cubicBezTo>
                    <a:pt x="32" y="480"/>
                    <a:pt x="48" y="400"/>
                    <a:pt x="48" y="304"/>
                  </a:cubicBezTo>
                  <a:lnTo>
                    <a:pt x="0" y="304"/>
                  </a:lnTo>
                  <a:lnTo>
                    <a:pt x="0" y="256"/>
                  </a:lnTo>
                  <a:lnTo>
                    <a:pt x="48" y="256"/>
                  </a:lnTo>
                  <a:lnTo>
                    <a:pt x="48" y="48"/>
                  </a:lnTo>
                  <a:lnTo>
                    <a:pt x="128" y="48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21" name="Freeform 10"/>
            <p:cNvSpPr>
              <a:spLocks noEditPoints="1"/>
            </p:cNvSpPr>
            <p:nvPr/>
          </p:nvSpPr>
          <p:spPr bwMode="auto">
            <a:xfrm>
              <a:off x="11220452" y="258763"/>
              <a:ext cx="507999" cy="398463"/>
            </a:xfrm>
            <a:custGeom>
              <a:avLst/>
              <a:gdLst>
                <a:gd name="T0" fmla="*/ 16 w 656"/>
                <a:gd name="T1" fmla="*/ 512 h 560"/>
                <a:gd name="T2" fmla="*/ 16 w 656"/>
                <a:gd name="T3" fmla="*/ 352 h 560"/>
                <a:gd name="T4" fmla="*/ 624 w 656"/>
                <a:gd name="T5" fmla="*/ 352 h 560"/>
                <a:gd name="T6" fmla="*/ 624 w 656"/>
                <a:gd name="T7" fmla="*/ 512 h 560"/>
                <a:gd name="T8" fmla="*/ 656 w 656"/>
                <a:gd name="T9" fmla="*/ 512 h 560"/>
                <a:gd name="T10" fmla="*/ 656 w 656"/>
                <a:gd name="T11" fmla="*/ 560 h 560"/>
                <a:gd name="T12" fmla="*/ 0 w 656"/>
                <a:gd name="T13" fmla="*/ 560 h 560"/>
                <a:gd name="T14" fmla="*/ 0 w 656"/>
                <a:gd name="T15" fmla="*/ 512 h 560"/>
                <a:gd name="T16" fmla="*/ 16 w 656"/>
                <a:gd name="T17" fmla="*/ 512 h 560"/>
                <a:gd name="T18" fmla="*/ 112 w 656"/>
                <a:gd name="T19" fmla="*/ 400 h 560"/>
                <a:gd name="T20" fmla="*/ 208 w 656"/>
                <a:gd name="T21" fmla="*/ 400 h 560"/>
                <a:gd name="T22" fmla="*/ 208 w 656"/>
                <a:gd name="T23" fmla="*/ 512 h 560"/>
                <a:gd name="T24" fmla="*/ 112 w 656"/>
                <a:gd name="T25" fmla="*/ 512 h 560"/>
                <a:gd name="T26" fmla="*/ 112 w 656"/>
                <a:gd name="T27" fmla="*/ 400 h 560"/>
                <a:gd name="T28" fmla="*/ 272 w 656"/>
                <a:gd name="T29" fmla="*/ 400 h 560"/>
                <a:gd name="T30" fmla="*/ 384 w 656"/>
                <a:gd name="T31" fmla="*/ 400 h 560"/>
                <a:gd name="T32" fmla="*/ 384 w 656"/>
                <a:gd name="T33" fmla="*/ 512 h 560"/>
                <a:gd name="T34" fmla="*/ 272 w 656"/>
                <a:gd name="T35" fmla="*/ 512 h 560"/>
                <a:gd name="T36" fmla="*/ 272 w 656"/>
                <a:gd name="T37" fmla="*/ 400 h 560"/>
                <a:gd name="T38" fmla="*/ 448 w 656"/>
                <a:gd name="T39" fmla="*/ 400 h 560"/>
                <a:gd name="T40" fmla="*/ 544 w 656"/>
                <a:gd name="T41" fmla="*/ 400 h 560"/>
                <a:gd name="T42" fmla="*/ 544 w 656"/>
                <a:gd name="T43" fmla="*/ 512 h 560"/>
                <a:gd name="T44" fmla="*/ 448 w 656"/>
                <a:gd name="T45" fmla="*/ 512 h 560"/>
                <a:gd name="T46" fmla="*/ 448 w 656"/>
                <a:gd name="T47" fmla="*/ 400 h 560"/>
                <a:gd name="T48" fmla="*/ 16 w 656"/>
                <a:gd name="T49" fmla="*/ 256 h 560"/>
                <a:gd name="T50" fmla="*/ 48 w 656"/>
                <a:gd name="T51" fmla="*/ 176 h 560"/>
                <a:gd name="T52" fmla="*/ 48 w 656"/>
                <a:gd name="T53" fmla="*/ 32 h 560"/>
                <a:gd name="T54" fmla="*/ 336 w 656"/>
                <a:gd name="T55" fmla="*/ 32 h 560"/>
                <a:gd name="T56" fmla="*/ 320 w 656"/>
                <a:gd name="T57" fmla="*/ 0 h 560"/>
                <a:gd name="T58" fmla="*/ 400 w 656"/>
                <a:gd name="T59" fmla="*/ 0 h 560"/>
                <a:gd name="T60" fmla="*/ 416 w 656"/>
                <a:gd name="T61" fmla="*/ 48 h 560"/>
                <a:gd name="T62" fmla="*/ 560 w 656"/>
                <a:gd name="T63" fmla="*/ 48 h 560"/>
                <a:gd name="T64" fmla="*/ 560 w 656"/>
                <a:gd name="T65" fmla="*/ 0 h 560"/>
                <a:gd name="T66" fmla="*/ 640 w 656"/>
                <a:gd name="T67" fmla="*/ 0 h 560"/>
                <a:gd name="T68" fmla="*/ 640 w 656"/>
                <a:gd name="T69" fmla="*/ 80 h 560"/>
                <a:gd name="T70" fmla="*/ 416 w 656"/>
                <a:gd name="T71" fmla="*/ 80 h 560"/>
                <a:gd name="T72" fmla="*/ 464 w 656"/>
                <a:gd name="T73" fmla="*/ 176 h 560"/>
                <a:gd name="T74" fmla="*/ 496 w 656"/>
                <a:gd name="T75" fmla="*/ 112 h 560"/>
                <a:gd name="T76" fmla="*/ 592 w 656"/>
                <a:gd name="T77" fmla="*/ 112 h 560"/>
                <a:gd name="T78" fmla="*/ 528 w 656"/>
                <a:gd name="T79" fmla="*/ 240 h 560"/>
                <a:gd name="T80" fmla="*/ 576 w 656"/>
                <a:gd name="T81" fmla="*/ 256 h 560"/>
                <a:gd name="T82" fmla="*/ 576 w 656"/>
                <a:gd name="T83" fmla="*/ 208 h 560"/>
                <a:gd name="T84" fmla="*/ 656 w 656"/>
                <a:gd name="T85" fmla="*/ 208 h 560"/>
                <a:gd name="T86" fmla="*/ 656 w 656"/>
                <a:gd name="T87" fmla="*/ 352 h 560"/>
                <a:gd name="T88" fmla="*/ 464 w 656"/>
                <a:gd name="T89" fmla="*/ 288 h 560"/>
                <a:gd name="T90" fmla="*/ 336 w 656"/>
                <a:gd name="T91" fmla="*/ 336 h 560"/>
                <a:gd name="T92" fmla="*/ 336 w 656"/>
                <a:gd name="T93" fmla="*/ 272 h 560"/>
                <a:gd name="T94" fmla="*/ 416 w 656"/>
                <a:gd name="T95" fmla="*/ 240 h 560"/>
                <a:gd name="T96" fmla="*/ 336 w 656"/>
                <a:gd name="T97" fmla="*/ 80 h 560"/>
                <a:gd name="T98" fmla="*/ 128 w 656"/>
                <a:gd name="T99" fmla="*/ 80 h 560"/>
                <a:gd name="T100" fmla="*/ 128 w 656"/>
                <a:gd name="T101" fmla="*/ 128 h 560"/>
                <a:gd name="T102" fmla="*/ 320 w 656"/>
                <a:gd name="T103" fmla="*/ 128 h 560"/>
                <a:gd name="T104" fmla="*/ 320 w 656"/>
                <a:gd name="T105" fmla="*/ 304 h 560"/>
                <a:gd name="T106" fmla="*/ 288 w 656"/>
                <a:gd name="T107" fmla="*/ 352 h 560"/>
                <a:gd name="T108" fmla="*/ 160 w 656"/>
                <a:gd name="T109" fmla="*/ 352 h 560"/>
                <a:gd name="T110" fmla="*/ 160 w 656"/>
                <a:gd name="T111" fmla="*/ 304 h 560"/>
                <a:gd name="T112" fmla="*/ 224 w 656"/>
                <a:gd name="T113" fmla="*/ 304 h 560"/>
                <a:gd name="T114" fmla="*/ 240 w 656"/>
                <a:gd name="T115" fmla="*/ 288 h 560"/>
                <a:gd name="T116" fmla="*/ 240 w 656"/>
                <a:gd name="T117" fmla="*/ 160 h 560"/>
                <a:gd name="T118" fmla="*/ 128 w 656"/>
                <a:gd name="T119" fmla="*/ 160 h 560"/>
                <a:gd name="T120" fmla="*/ 16 w 656"/>
                <a:gd name="T121" fmla="*/ 336 h 560"/>
                <a:gd name="T122" fmla="*/ 16 w 656"/>
                <a:gd name="T123" fmla="*/ 256 h 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56" h="560">
                  <a:moveTo>
                    <a:pt x="16" y="512"/>
                  </a:moveTo>
                  <a:lnTo>
                    <a:pt x="16" y="352"/>
                  </a:lnTo>
                  <a:lnTo>
                    <a:pt x="624" y="352"/>
                  </a:lnTo>
                  <a:lnTo>
                    <a:pt x="624" y="512"/>
                  </a:lnTo>
                  <a:lnTo>
                    <a:pt x="656" y="512"/>
                  </a:lnTo>
                  <a:lnTo>
                    <a:pt x="656" y="560"/>
                  </a:lnTo>
                  <a:lnTo>
                    <a:pt x="0" y="560"/>
                  </a:lnTo>
                  <a:lnTo>
                    <a:pt x="0" y="512"/>
                  </a:lnTo>
                  <a:lnTo>
                    <a:pt x="16" y="512"/>
                  </a:lnTo>
                  <a:close/>
                  <a:moveTo>
                    <a:pt x="112" y="400"/>
                  </a:moveTo>
                  <a:lnTo>
                    <a:pt x="208" y="400"/>
                  </a:lnTo>
                  <a:lnTo>
                    <a:pt x="208" y="512"/>
                  </a:lnTo>
                  <a:lnTo>
                    <a:pt x="112" y="512"/>
                  </a:lnTo>
                  <a:lnTo>
                    <a:pt x="112" y="400"/>
                  </a:lnTo>
                  <a:close/>
                  <a:moveTo>
                    <a:pt x="272" y="400"/>
                  </a:moveTo>
                  <a:lnTo>
                    <a:pt x="384" y="400"/>
                  </a:lnTo>
                  <a:lnTo>
                    <a:pt x="384" y="512"/>
                  </a:lnTo>
                  <a:lnTo>
                    <a:pt x="272" y="512"/>
                  </a:lnTo>
                  <a:lnTo>
                    <a:pt x="272" y="400"/>
                  </a:lnTo>
                  <a:close/>
                  <a:moveTo>
                    <a:pt x="448" y="400"/>
                  </a:moveTo>
                  <a:lnTo>
                    <a:pt x="544" y="400"/>
                  </a:lnTo>
                  <a:lnTo>
                    <a:pt x="544" y="512"/>
                  </a:lnTo>
                  <a:lnTo>
                    <a:pt x="448" y="512"/>
                  </a:lnTo>
                  <a:lnTo>
                    <a:pt x="448" y="400"/>
                  </a:lnTo>
                  <a:close/>
                  <a:moveTo>
                    <a:pt x="16" y="256"/>
                  </a:moveTo>
                  <a:cubicBezTo>
                    <a:pt x="32" y="240"/>
                    <a:pt x="48" y="208"/>
                    <a:pt x="48" y="176"/>
                  </a:cubicBezTo>
                  <a:lnTo>
                    <a:pt x="48" y="32"/>
                  </a:lnTo>
                  <a:lnTo>
                    <a:pt x="336" y="32"/>
                  </a:lnTo>
                  <a:cubicBezTo>
                    <a:pt x="320" y="16"/>
                    <a:pt x="320" y="16"/>
                    <a:pt x="320" y="0"/>
                  </a:cubicBezTo>
                  <a:lnTo>
                    <a:pt x="400" y="0"/>
                  </a:lnTo>
                  <a:cubicBezTo>
                    <a:pt x="400" y="16"/>
                    <a:pt x="400" y="32"/>
                    <a:pt x="416" y="48"/>
                  </a:cubicBezTo>
                  <a:lnTo>
                    <a:pt x="560" y="48"/>
                  </a:lnTo>
                  <a:lnTo>
                    <a:pt x="560" y="0"/>
                  </a:lnTo>
                  <a:lnTo>
                    <a:pt x="640" y="0"/>
                  </a:lnTo>
                  <a:lnTo>
                    <a:pt x="640" y="80"/>
                  </a:lnTo>
                  <a:lnTo>
                    <a:pt x="416" y="80"/>
                  </a:lnTo>
                  <a:cubicBezTo>
                    <a:pt x="432" y="112"/>
                    <a:pt x="448" y="144"/>
                    <a:pt x="464" y="176"/>
                  </a:cubicBezTo>
                  <a:lnTo>
                    <a:pt x="496" y="112"/>
                  </a:lnTo>
                  <a:lnTo>
                    <a:pt x="592" y="112"/>
                  </a:lnTo>
                  <a:cubicBezTo>
                    <a:pt x="576" y="160"/>
                    <a:pt x="560" y="192"/>
                    <a:pt x="528" y="240"/>
                  </a:cubicBezTo>
                  <a:cubicBezTo>
                    <a:pt x="544" y="240"/>
                    <a:pt x="560" y="256"/>
                    <a:pt x="576" y="256"/>
                  </a:cubicBezTo>
                  <a:lnTo>
                    <a:pt x="576" y="208"/>
                  </a:lnTo>
                  <a:lnTo>
                    <a:pt x="656" y="208"/>
                  </a:lnTo>
                  <a:lnTo>
                    <a:pt x="656" y="352"/>
                  </a:lnTo>
                  <a:cubicBezTo>
                    <a:pt x="576" y="352"/>
                    <a:pt x="528" y="320"/>
                    <a:pt x="464" y="288"/>
                  </a:cubicBezTo>
                  <a:cubicBezTo>
                    <a:pt x="432" y="304"/>
                    <a:pt x="384" y="320"/>
                    <a:pt x="336" y="336"/>
                  </a:cubicBezTo>
                  <a:lnTo>
                    <a:pt x="336" y="272"/>
                  </a:lnTo>
                  <a:cubicBezTo>
                    <a:pt x="368" y="256"/>
                    <a:pt x="384" y="256"/>
                    <a:pt x="416" y="240"/>
                  </a:cubicBezTo>
                  <a:cubicBezTo>
                    <a:pt x="368" y="176"/>
                    <a:pt x="352" y="128"/>
                    <a:pt x="336" y="80"/>
                  </a:cubicBezTo>
                  <a:lnTo>
                    <a:pt x="128" y="80"/>
                  </a:lnTo>
                  <a:lnTo>
                    <a:pt x="128" y="128"/>
                  </a:lnTo>
                  <a:lnTo>
                    <a:pt x="320" y="128"/>
                  </a:lnTo>
                  <a:lnTo>
                    <a:pt x="320" y="304"/>
                  </a:lnTo>
                  <a:cubicBezTo>
                    <a:pt x="320" y="320"/>
                    <a:pt x="304" y="352"/>
                    <a:pt x="288" y="352"/>
                  </a:cubicBezTo>
                  <a:lnTo>
                    <a:pt x="160" y="352"/>
                  </a:lnTo>
                  <a:lnTo>
                    <a:pt x="160" y="304"/>
                  </a:lnTo>
                  <a:lnTo>
                    <a:pt x="224" y="304"/>
                  </a:lnTo>
                  <a:cubicBezTo>
                    <a:pt x="224" y="304"/>
                    <a:pt x="240" y="304"/>
                    <a:pt x="240" y="288"/>
                  </a:cubicBezTo>
                  <a:lnTo>
                    <a:pt x="240" y="160"/>
                  </a:lnTo>
                  <a:lnTo>
                    <a:pt x="128" y="160"/>
                  </a:lnTo>
                  <a:cubicBezTo>
                    <a:pt x="128" y="272"/>
                    <a:pt x="80" y="320"/>
                    <a:pt x="16" y="336"/>
                  </a:cubicBezTo>
                  <a:lnTo>
                    <a:pt x="16" y="256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7836774" y="706794"/>
              <a:ext cx="4044824" cy="4582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CN" altLang="en-US" sz="900" dirty="0">
                  <a:solidFill>
                    <a:schemeClr val="bg1">
                      <a:lumMod val="50000"/>
                    </a:schemeClr>
                  </a:solidFill>
                </a:rPr>
                <a:t>科   技   创   新  </a:t>
              </a:r>
              <a:r>
                <a:rPr lang="zh-CN" altLang="en-US" sz="900" baseline="0" dirty="0">
                  <a:solidFill>
                    <a:schemeClr val="bg1">
                      <a:lumMod val="50000"/>
                    </a:schemeClr>
                  </a:solidFill>
                </a:rPr>
                <a:t>    </a:t>
              </a:r>
              <a:r>
                <a:rPr lang="zh-CN" altLang="en-US" sz="900" dirty="0">
                  <a:solidFill>
                    <a:schemeClr val="bg1">
                      <a:lumMod val="50000"/>
                    </a:schemeClr>
                  </a:solidFill>
                </a:rPr>
                <a:t> 文   化   护   航</a:t>
              </a: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6"/>
          <p:cNvSpPr/>
          <p:nvPr userDrawn="1"/>
        </p:nvSpPr>
        <p:spPr bwMode="auto">
          <a:xfrm>
            <a:off x="2522695" y="712470"/>
            <a:ext cx="9669305" cy="6487796"/>
          </a:xfrm>
          <a:custGeom>
            <a:avLst/>
            <a:gdLst>
              <a:gd name="T0" fmla="*/ 4653 w 4653"/>
              <a:gd name="T1" fmla="*/ 0 h 4322"/>
              <a:gd name="T2" fmla="*/ 2398 w 4653"/>
              <a:gd name="T3" fmla="*/ 0 h 4322"/>
              <a:gd name="T4" fmla="*/ 0 w 4653"/>
              <a:gd name="T5" fmla="*/ 4149 h 4322"/>
              <a:gd name="T6" fmla="*/ 100 w 4653"/>
              <a:gd name="T7" fmla="*/ 4322 h 4322"/>
              <a:gd name="T8" fmla="*/ 4653 w 4653"/>
              <a:gd name="T9" fmla="*/ 4322 h 4322"/>
              <a:gd name="T10" fmla="*/ 4653 w 4653"/>
              <a:gd name="T11" fmla="*/ 0 h 4322"/>
              <a:gd name="connsiteX0" fmla="*/ 10000 w 10000"/>
              <a:gd name="connsiteY0" fmla="*/ 0 h 10000"/>
              <a:gd name="connsiteX1" fmla="*/ 4967 w 10000"/>
              <a:gd name="connsiteY1" fmla="*/ 0 h 10000"/>
              <a:gd name="connsiteX2" fmla="*/ 0 w 10000"/>
              <a:gd name="connsiteY2" fmla="*/ 9600 h 10000"/>
              <a:gd name="connsiteX3" fmla="*/ 215 w 10000"/>
              <a:gd name="connsiteY3" fmla="*/ 10000 h 10000"/>
              <a:gd name="connsiteX4" fmla="*/ 10000 w 10000"/>
              <a:gd name="connsiteY4" fmla="*/ 10000 h 10000"/>
              <a:gd name="connsiteX5" fmla="*/ 10000 w 10000"/>
              <a:gd name="connsiteY5" fmla="*/ 0 h 10000"/>
              <a:gd name="connsiteX0-1" fmla="*/ 10000 w 10000"/>
              <a:gd name="connsiteY0-2" fmla="*/ 0 h 10000"/>
              <a:gd name="connsiteX1-3" fmla="*/ 4712 w 10000"/>
              <a:gd name="connsiteY1-4" fmla="*/ 0 h 10000"/>
              <a:gd name="connsiteX2-5" fmla="*/ 0 w 10000"/>
              <a:gd name="connsiteY2-6" fmla="*/ 9600 h 10000"/>
              <a:gd name="connsiteX3-7" fmla="*/ 215 w 10000"/>
              <a:gd name="connsiteY3-8" fmla="*/ 10000 h 10000"/>
              <a:gd name="connsiteX4-9" fmla="*/ 10000 w 10000"/>
              <a:gd name="connsiteY4-10" fmla="*/ 10000 h 10000"/>
              <a:gd name="connsiteX5-11" fmla="*/ 10000 w 10000"/>
              <a:gd name="connsiteY5-12" fmla="*/ 0 h 10000"/>
              <a:gd name="connsiteX0-13" fmla="*/ 10000 w 10000"/>
              <a:gd name="connsiteY0-14" fmla="*/ 0 h 10000"/>
              <a:gd name="connsiteX1-15" fmla="*/ 4464 w 10000"/>
              <a:gd name="connsiteY1-16" fmla="*/ 0 h 10000"/>
              <a:gd name="connsiteX2-17" fmla="*/ 0 w 10000"/>
              <a:gd name="connsiteY2-18" fmla="*/ 9600 h 10000"/>
              <a:gd name="connsiteX3-19" fmla="*/ 215 w 10000"/>
              <a:gd name="connsiteY3-20" fmla="*/ 10000 h 10000"/>
              <a:gd name="connsiteX4-21" fmla="*/ 10000 w 10000"/>
              <a:gd name="connsiteY4-22" fmla="*/ 10000 h 10000"/>
              <a:gd name="connsiteX5-23" fmla="*/ 10000 w 10000"/>
              <a:gd name="connsiteY5-24" fmla="*/ 0 h 10000"/>
              <a:gd name="connsiteX0-25" fmla="*/ 10000 w 10000"/>
              <a:gd name="connsiteY0-26" fmla="*/ 19 h 10019"/>
              <a:gd name="connsiteX1-27" fmla="*/ 4501 w 10000"/>
              <a:gd name="connsiteY1-28" fmla="*/ 0 h 10019"/>
              <a:gd name="connsiteX2-29" fmla="*/ 0 w 10000"/>
              <a:gd name="connsiteY2-30" fmla="*/ 9619 h 10019"/>
              <a:gd name="connsiteX3-31" fmla="*/ 215 w 10000"/>
              <a:gd name="connsiteY3-32" fmla="*/ 10019 h 10019"/>
              <a:gd name="connsiteX4-33" fmla="*/ 10000 w 10000"/>
              <a:gd name="connsiteY4-34" fmla="*/ 10019 h 10019"/>
              <a:gd name="connsiteX5-35" fmla="*/ 10000 w 10000"/>
              <a:gd name="connsiteY5-36" fmla="*/ 19 h 1001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000" h="10019">
                <a:moveTo>
                  <a:pt x="10000" y="19"/>
                </a:moveTo>
                <a:lnTo>
                  <a:pt x="4501" y="0"/>
                </a:lnTo>
                <a:cubicBezTo>
                  <a:pt x="2930" y="3200"/>
                  <a:pt x="1571" y="6419"/>
                  <a:pt x="0" y="9619"/>
                </a:cubicBezTo>
                <a:cubicBezTo>
                  <a:pt x="72" y="9752"/>
                  <a:pt x="143" y="9886"/>
                  <a:pt x="215" y="10019"/>
                </a:cubicBezTo>
                <a:lnTo>
                  <a:pt x="10000" y="10019"/>
                </a:lnTo>
                <a:lnTo>
                  <a:pt x="10000" y="19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2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ea typeface="思源黑体" panose="020B0500000000000000" pitchFamily="34" charset="-122"/>
            </a:endParaRPr>
          </a:p>
        </p:txBody>
      </p:sp>
      <p:sp>
        <p:nvSpPr>
          <p:cNvPr id="8" name="123"/>
          <p:cNvSpPr/>
          <p:nvPr userDrawn="1">
            <p:custDataLst>
              <p:tags r:id="rId5"/>
            </p:custDataLst>
          </p:nvPr>
        </p:nvSpPr>
        <p:spPr>
          <a:xfrm>
            <a:off x="11153505" y="5897007"/>
            <a:ext cx="609166" cy="609166"/>
          </a:xfrm>
          <a:prstGeom prst="ellipse">
            <a:avLst/>
          </a:prstGeom>
          <a:solidFill>
            <a:srgbClr val="062C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思源黑体" panose="020B0500000000000000" pitchFamily="34" charset="-122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8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04"/>
            <a:ext cx="5234342" cy="6852592"/>
          </a:xfrm>
          <a:prstGeom prst="rect">
            <a:avLst/>
          </a:prstGeom>
        </p:spPr>
      </p:pic>
      <p:grpSp>
        <p:nvGrpSpPr>
          <p:cNvPr id="12" name="组合 11"/>
          <p:cNvGrpSpPr/>
          <p:nvPr userDrawn="1"/>
        </p:nvGrpSpPr>
        <p:grpSpPr>
          <a:xfrm>
            <a:off x="3677174" y="5132000"/>
            <a:ext cx="3461275" cy="1726000"/>
            <a:chOff x="3471021" y="4985765"/>
            <a:chExt cx="2750572" cy="1872236"/>
          </a:xfrm>
        </p:grpSpPr>
        <p:sp>
          <p:nvSpPr>
            <p:cNvPr id="13" name="任意多边形: 形状 68"/>
            <p:cNvSpPr/>
            <p:nvPr/>
          </p:nvSpPr>
          <p:spPr>
            <a:xfrm>
              <a:off x="3471021" y="5617900"/>
              <a:ext cx="2750572" cy="1240101"/>
            </a:xfrm>
            <a:custGeom>
              <a:avLst/>
              <a:gdLst>
                <a:gd name="connsiteX0" fmla="*/ 688066 w 2750572"/>
                <a:gd name="connsiteY0" fmla="*/ 0 h 1240101"/>
                <a:gd name="connsiteX1" fmla="*/ 2062507 w 2750572"/>
                <a:gd name="connsiteY1" fmla="*/ 0 h 1240101"/>
                <a:gd name="connsiteX2" fmla="*/ 2750572 w 2750572"/>
                <a:gd name="connsiteY2" fmla="*/ 1186787 h 1240101"/>
                <a:gd name="connsiteX3" fmla="*/ 2719750 w 2750572"/>
                <a:gd name="connsiteY3" fmla="*/ 1240101 h 1240101"/>
                <a:gd name="connsiteX4" fmla="*/ 30822 w 2750572"/>
                <a:gd name="connsiteY4" fmla="*/ 1240101 h 1240101"/>
                <a:gd name="connsiteX5" fmla="*/ 0 w 2750572"/>
                <a:gd name="connsiteY5" fmla="*/ 1186787 h 1240101"/>
                <a:gd name="connsiteX6" fmla="*/ 688066 w 2750572"/>
                <a:gd name="connsiteY6" fmla="*/ 0 h 1240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50572" h="1240101">
                  <a:moveTo>
                    <a:pt x="688066" y="0"/>
                  </a:moveTo>
                  <a:lnTo>
                    <a:pt x="2062507" y="0"/>
                  </a:lnTo>
                  <a:lnTo>
                    <a:pt x="2750572" y="1186787"/>
                  </a:lnTo>
                  <a:lnTo>
                    <a:pt x="2719750" y="1240101"/>
                  </a:lnTo>
                  <a:lnTo>
                    <a:pt x="30822" y="1240101"/>
                  </a:lnTo>
                  <a:lnTo>
                    <a:pt x="0" y="1186787"/>
                  </a:lnTo>
                  <a:lnTo>
                    <a:pt x="688066" y="0"/>
                  </a:lnTo>
                  <a:close/>
                </a:path>
              </a:pathLst>
            </a:custGeom>
            <a:solidFill>
              <a:srgbClr val="7CBEE0">
                <a:alpha val="16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ea typeface="思源黑体" panose="020B0500000000000000" pitchFamily="34" charset="-122"/>
              </a:endParaRPr>
            </a:p>
          </p:txBody>
        </p:sp>
        <p:sp>
          <p:nvSpPr>
            <p:cNvPr id="14" name="Freeform 21"/>
            <p:cNvSpPr/>
            <p:nvPr/>
          </p:nvSpPr>
          <p:spPr bwMode="auto">
            <a:xfrm>
              <a:off x="3558108" y="4985765"/>
              <a:ext cx="1042922" cy="1142742"/>
            </a:xfrm>
            <a:custGeom>
              <a:avLst/>
              <a:gdLst>
                <a:gd name="T0" fmla="*/ 1220 w 1627"/>
                <a:gd name="T1" fmla="*/ 0 h 1406"/>
                <a:gd name="T2" fmla="*/ 407 w 1627"/>
                <a:gd name="T3" fmla="*/ 0 h 1406"/>
                <a:gd name="T4" fmla="*/ 0 w 1627"/>
                <a:gd name="T5" fmla="*/ 702 h 1406"/>
                <a:gd name="T6" fmla="*/ 407 w 1627"/>
                <a:gd name="T7" fmla="*/ 1406 h 1406"/>
                <a:gd name="T8" fmla="*/ 1220 w 1627"/>
                <a:gd name="T9" fmla="*/ 1406 h 1406"/>
                <a:gd name="T10" fmla="*/ 1627 w 1627"/>
                <a:gd name="T11" fmla="*/ 702 h 1406"/>
                <a:gd name="T12" fmla="*/ 1220 w 1627"/>
                <a:gd name="T13" fmla="*/ 0 h 1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27" h="1406">
                  <a:moveTo>
                    <a:pt x="1220" y="0"/>
                  </a:moveTo>
                  <a:lnTo>
                    <a:pt x="407" y="0"/>
                  </a:lnTo>
                  <a:lnTo>
                    <a:pt x="0" y="702"/>
                  </a:lnTo>
                  <a:lnTo>
                    <a:pt x="407" y="1406"/>
                  </a:lnTo>
                  <a:lnTo>
                    <a:pt x="1220" y="1406"/>
                  </a:lnTo>
                  <a:lnTo>
                    <a:pt x="1627" y="702"/>
                  </a:lnTo>
                  <a:lnTo>
                    <a:pt x="1220" y="0"/>
                  </a:lnTo>
                  <a:close/>
                </a:path>
              </a:pathLst>
            </a:custGeom>
            <a:solidFill>
              <a:srgbClr val="CDE7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  <a:ea typeface="思源黑体" panose="020B0500000000000000" pitchFamily="34" charset="-122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5099159" y="1068265"/>
            <a:ext cx="7092843" cy="5792337"/>
            <a:chOff x="5867893" y="1209154"/>
            <a:chExt cx="6324107" cy="5164552"/>
          </a:xfrm>
          <a:solidFill>
            <a:srgbClr val="3992DB"/>
          </a:solidFill>
        </p:grpSpPr>
        <p:sp>
          <p:nvSpPr>
            <p:cNvPr id="17" name="任意多边形: 形状 77"/>
            <p:cNvSpPr/>
            <p:nvPr/>
          </p:nvSpPr>
          <p:spPr>
            <a:xfrm>
              <a:off x="5867893" y="1209154"/>
              <a:ext cx="6324107" cy="5162148"/>
            </a:xfrm>
            <a:custGeom>
              <a:avLst/>
              <a:gdLst>
                <a:gd name="connsiteX0" fmla="*/ 2000762 w 6361051"/>
                <a:gd name="connsiteY0" fmla="*/ 0 h 5162148"/>
                <a:gd name="connsiteX1" fmla="*/ 6361051 w 6361051"/>
                <a:gd name="connsiteY1" fmla="*/ 0 h 5162148"/>
                <a:gd name="connsiteX2" fmla="*/ 6361051 w 6361051"/>
                <a:gd name="connsiteY2" fmla="*/ 5162148 h 5162148"/>
                <a:gd name="connsiteX3" fmla="*/ 1700885 w 6361051"/>
                <a:gd name="connsiteY3" fmla="*/ 5162148 h 5162148"/>
                <a:gd name="connsiteX4" fmla="*/ 0 w 6361051"/>
                <a:gd name="connsiteY4" fmla="*/ 2819888 h 5162148"/>
                <a:gd name="connsiteX5" fmla="*/ 2000762 w 6361051"/>
                <a:gd name="connsiteY5" fmla="*/ 0 h 5162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361051" h="5162148">
                  <a:moveTo>
                    <a:pt x="2000762" y="0"/>
                  </a:moveTo>
                  <a:lnTo>
                    <a:pt x="6361051" y="0"/>
                  </a:lnTo>
                  <a:lnTo>
                    <a:pt x="6361051" y="5162148"/>
                  </a:lnTo>
                  <a:lnTo>
                    <a:pt x="1700885" y="5162148"/>
                  </a:lnTo>
                  <a:lnTo>
                    <a:pt x="0" y="2819888"/>
                  </a:lnTo>
                  <a:lnTo>
                    <a:pt x="200076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ea typeface="思源黑体" panose="020B0500000000000000" pitchFamily="34" charset="-122"/>
              </a:endParaRPr>
            </a:p>
          </p:txBody>
        </p:sp>
        <p:sp>
          <p:nvSpPr>
            <p:cNvPr id="18" name="任意多边形: 形状 79"/>
            <p:cNvSpPr/>
            <p:nvPr/>
          </p:nvSpPr>
          <p:spPr>
            <a:xfrm>
              <a:off x="9811247" y="4441668"/>
              <a:ext cx="2380752" cy="1932038"/>
            </a:xfrm>
            <a:custGeom>
              <a:avLst/>
              <a:gdLst>
                <a:gd name="connsiteX0" fmla="*/ 2000762 w 6361051"/>
                <a:gd name="connsiteY0" fmla="*/ 0 h 5162148"/>
                <a:gd name="connsiteX1" fmla="*/ 6361051 w 6361051"/>
                <a:gd name="connsiteY1" fmla="*/ 0 h 5162148"/>
                <a:gd name="connsiteX2" fmla="*/ 6361051 w 6361051"/>
                <a:gd name="connsiteY2" fmla="*/ 5162148 h 5162148"/>
                <a:gd name="connsiteX3" fmla="*/ 1700885 w 6361051"/>
                <a:gd name="connsiteY3" fmla="*/ 5162148 h 5162148"/>
                <a:gd name="connsiteX4" fmla="*/ 0 w 6361051"/>
                <a:gd name="connsiteY4" fmla="*/ 2819888 h 5162148"/>
                <a:gd name="connsiteX5" fmla="*/ 2000762 w 6361051"/>
                <a:gd name="connsiteY5" fmla="*/ 0 h 5162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361051" h="5162148">
                  <a:moveTo>
                    <a:pt x="2000762" y="0"/>
                  </a:moveTo>
                  <a:lnTo>
                    <a:pt x="6361051" y="0"/>
                  </a:lnTo>
                  <a:lnTo>
                    <a:pt x="6361051" y="5162148"/>
                  </a:lnTo>
                  <a:lnTo>
                    <a:pt x="1700885" y="5162148"/>
                  </a:lnTo>
                  <a:lnTo>
                    <a:pt x="0" y="2819888"/>
                  </a:lnTo>
                  <a:lnTo>
                    <a:pt x="200076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ea typeface="思源黑体" panose="020B0500000000000000" pitchFamily="34" charset="-122"/>
              </a:endParaRPr>
            </a:p>
          </p:txBody>
        </p:sp>
      </p:grpSp>
      <p:grpSp>
        <p:nvGrpSpPr>
          <p:cNvPr id="19" name="组合 18"/>
          <p:cNvGrpSpPr/>
          <p:nvPr userDrawn="1"/>
        </p:nvGrpSpPr>
        <p:grpSpPr>
          <a:xfrm>
            <a:off x="0" y="4060494"/>
            <a:ext cx="3028950" cy="2797506"/>
            <a:chOff x="0" y="3609283"/>
            <a:chExt cx="3097161" cy="3248717"/>
          </a:xfrm>
        </p:grpSpPr>
        <p:sp>
          <p:nvSpPr>
            <p:cNvPr id="20" name="任意多边形: 形状 35"/>
            <p:cNvSpPr/>
            <p:nvPr/>
          </p:nvSpPr>
          <p:spPr>
            <a:xfrm>
              <a:off x="0" y="3609283"/>
              <a:ext cx="3097161" cy="3248717"/>
            </a:xfrm>
            <a:custGeom>
              <a:avLst/>
              <a:gdLst>
                <a:gd name="connsiteX0" fmla="*/ 0 w 3097161"/>
                <a:gd name="connsiteY0" fmla="*/ 0 h 3248717"/>
                <a:gd name="connsiteX1" fmla="*/ 1807845 w 3097161"/>
                <a:gd name="connsiteY1" fmla="*/ 0 h 3248717"/>
                <a:gd name="connsiteX2" fmla="*/ 3097161 w 3097161"/>
                <a:gd name="connsiteY2" fmla="*/ 2230611 h 3248717"/>
                <a:gd name="connsiteX3" fmla="*/ 2508869 w 3097161"/>
                <a:gd name="connsiteY3" fmla="*/ 3248717 h 3248717"/>
                <a:gd name="connsiteX4" fmla="*/ 0 w 3097161"/>
                <a:gd name="connsiteY4" fmla="*/ 3248717 h 3248717"/>
                <a:gd name="connsiteX5" fmla="*/ 0 w 3097161"/>
                <a:gd name="connsiteY5" fmla="*/ 0 h 3248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97161" h="3248717">
                  <a:moveTo>
                    <a:pt x="0" y="0"/>
                  </a:moveTo>
                  <a:lnTo>
                    <a:pt x="1807845" y="0"/>
                  </a:lnTo>
                  <a:lnTo>
                    <a:pt x="3097161" y="2230611"/>
                  </a:lnTo>
                  <a:lnTo>
                    <a:pt x="2508869" y="3248717"/>
                  </a:lnTo>
                  <a:lnTo>
                    <a:pt x="0" y="32487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思源黑体" panose="020B0500000000000000" pitchFamily="34" charset="-122"/>
              </a:endParaRPr>
            </a:p>
          </p:txBody>
        </p:sp>
        <p:sp>
          <p:nvSpPr>
            <p:cNvPr id="21" name="Freeform 11"/>
            <p:cNvSpPr/>
            <p:nvPr/>
          </p:nvSpPr>
          <p:spPr bwMode="auto">
            <a:xfrm>
              <a:off x="0" y="3995737"/>
              <a:ext cx="2105025" cy="2862263"/>
            </a:xfrm>
            <a:custGeom>
              <a:avLst/>
              <a:gdLst>
                <a:gd name="T0" fmla="*/ 774 w 1326"/>
                <a:gd name="T1" fmla="*/ 0 h 1803"/>
                <a:gd name="T2" fmla="*/ 0 w 1326"/>
                <a:gd name="T3" fmla="*/ 0 h 1803"/>
                <a:gd name="T4" fmla="*/ 0 w 1326"/>
                <a:gd name="T5" fmla="*/ 1803 h 1803"/>
                <a:gd name="T6" fmla="*/ 836 w 1326"/>
                <a:gd name="T7" fmla="*/ 1803 h 1803"/>
                <a:gd name="T8" fmla="*/ 1326 w 1326"/>
                <a:gd name="T9" fmla="*/ 955 h 1803"/>
                <a:gd name="T10" fmla="*/ 774 w 1326"/>
                <a:gd name="T11" fmla="*/ 0 h 18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26" h="1803">
                  <a:moveTo>
                    <a:pt x="774" y="0"/>
                  </a:moveTo>
                  <a:lnTo>
                    <a:pt x="0" y="0"/>
                  </a:lnTo>
                  <a:lnTo>
                    <a:pt x="0" y="1803"/>
                  </a:lnTo>
                  <a:lnTo>
                    <a:pt x="836" y="1803"/>
                  </a:lnTo>
                  <a:lnTo>
                    <a:pt x="1326" y="955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accent1">
                <a:alpha val="42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思源黑体" panose="020B0500000000000000" pitchFamily="34" charset="-122"/>
              </a:endParaRPr>
            </a:p>
          </p:txBody>
        </p:sp>
      </p:grpSp>
      <p:grpSp>
        <p:nvGrpSpPr>
          <p:cNvPr id="2" name="组合 1"/>
          <p:cNvGrpSpPr/>
          <p:nvPr userDrawn="1"/>
        </p:nvGrpSpPr>
        <p:grpSpPr>
          <a:xfrm>
            <a:off x="9601200" y="405735"/>
            <a:ext cx="1919288" cy="456511"/>
            <a:chOff x="7836774" y="258763"/>
            <a:chExt cx="4044824" cy="906292"/>
          </a:xfrm>
        </p:grpSpPr>
        <p:sp>
          <p:nvSpPr>
            <p:cNvPr id="3" name="Freeform 5"/>
            <p:cNvSpPr/>
            <p:nvPr/>
          </p:nvSpPr>
          <p:spPr bwMode="auto">
            <a:xfrm>
              <a:off x="8618539" y="282576"/>
              <a:ext cx="544513" cy="374650"/>
            </a:xfrm>
            <a:custGeom>
              <a:avLst/>
              <a:gdLst>
                <a:gd name="T0" fmla="*/ 0 w 704"/>
                <a:gd name="T1" fmla="*/ 416 h 528"/>
                <a:gd name="T2" fmla="*/ 432 w 704"/>
                <a:gd name="T3" fmla="*/ 416 h 528"/>
                <a:gd name="T4" fmla="*/ 480 w 704"/>
                <a:gd name="T5" fmla="*/ 384 h 528"/>
                <a:gd name="T6" fmla="*/ 480 w 704"/>
                <a:gd name="T7" fmla="*/ 352 h 528"/>
                <a:gd name="T8" fmla="*/ 432 w 704"/>
                <a:gd name="T9" fmla="*/ 320 h 528"/>
                <a:gd name="T10" fmla="*/ 160 w 704"/>
                <a:gd name="T11" fmla="*/ 256 h 528"/>
                <a:gd name="T12" fmla="*/ 0 w 704"/>
                <a:gd name="T13" fmla="*/ 144 h 528"/>
                <a:gd name="T14" fmla="*/ 0 w 704"/>
                <a:gd name="T15" fmla="*/ 64 h 528"/>
                <a:gd name="T16" fmla="*/ 80 w 704"/>
                <a:gd name="T17" fmla="*/ 0 h 528"/>
                <a:gd name="T18" fmla="*/ 704 w 704"/>
                <a:gd name="T19" fmla="*/ 0 h 528"/>
                <a:gd name="T20" fmla="*/ 704 w 704"/>
                <a:gd name="T21" fmla="*/ 96 h 528"/>
                <a:gd name="T22" fmla="*/ 224 w 704"/>
                <a:gd name="T23" fmla="*/ 96 h 528"/>
                <a:gd name="T24" fmla="*/ 224 w 704"/>
                <a:gd name="T25" fmla="*/ 160 h 528"/>
                <a:gd name="T26" fmla="*/ 272 w 704"/>
                <a:gd name="T27" fmla="*/ 192 h 528"/>
                <a:gd name="T28" fmla="*/ 608 w 704"/>
                <a:gd name="T29" fmla="*/ 256 h 528"/>
                <a:gd name="T30" fmla="*/ 704 w 704"/>
                <a:gd name="T31" fmla="*/ 336 h 528"/>
                <a:gd name="T32" fmla="*/ 704 w 704"/>
                <a:gd name="T33" fmla="*/ 432 h 528"/>
                <a:gd name="T34" fmla="*/ 624 w 704"/>
                <a:gd name="T35" fmla="*/ 528 h 528"/>
                <a:gd name="T36" fmla="*/ 0 w 704"/>
                <a:gd name="T37" fmla="*/ 528 h 528"/>
                <a:gd name="T38" fmla="*/ 0 w 704"/>
                <a:gd name="T39" fmla="*/ 416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04" h="528">
                  <a:moveTo>
                    <a:pt x="0" y="416"/>
                  </a:moveTo>
                  <a:lnTo>
                    <a:pt x="432" y="416"/>
                  </a:lnTo>
                  <a:cubicBezTo>
                    <a:pt x="464" y="416"/>
                    <a:pt x="480" y="416"/>
                    <a:pt x="480" y="384"/>
                  </a:cubicBezTo>
                  <a:lnTo>
                    <a:pt x="480" y="352"/>
                  </a:lnTo>
                  <a:cubicBezTo>
                    <a:pt x="480" y="336"/>
                    <a:pt x="448" y="320"/>
                    <a:pt x="432" y="320"/>
                  </a:cubicBezTo>
                  <a:lnTo>
                    <a:pt x="160" y="256"/>
                  </a:lnTo>
                  <a:cubicBezTo>
                    <a:pt x="64" y="240"/>
                    <a:pt x="16" y="208"/>
                    <a:pt x="0" y="144"/>
                  </a:cubicBezTo>
                  <a:lnTo>
                    <a:pt x="0" y="64"/>
                  </a:lnTo>
                  <a:cubicBezTo>
                    <a:pt x="0" y="32"/>
                    <a:pt x="32" y="0"/>
                    <a:pt x="80" y="0"/>
                  </a:cubicBezTo>
                  <a:lnTo>
                    <a:pt x="704" y="0"/>
                  </a:lnTo>
                  <a:lnTo>
                    <a:pt x="704" y="96"/>
                  </a:lnTo>
                  <a:lnTo>
                    <a:pt x="224" y="96"/>
                  </a:lnTo>
                  <a:lnTo>
                    <a:pt x="224" y="160"/>
                  </a:lnTo>
                  <a:cubicBezTo>
                    <a:pt x="224" y="176"/>
                    <a:pt x="256" y="176"/>
                    <a:pt x="272" y="192"/>
                  </a:cubicBezTo>
                  <a:lnTo>
                    <a:pt x="608" y="256"/>
                  </a:lnTo>
                  <a:cubicBezTo>
                    <a:pt x="656" y="272"/>
                    <a:pt x="704" y="288"/>
                    <a:pt x="704" y="336"/>
                  </a:cubicBezTo>
                  <a:lnTo>
                    <a:pt x="704" y="432"/>
                  </a:lnTo>
                  <a:cubicBezTo>
                    <a:pt x="704" y="480"/>
                    <a:pt x="672" y="528"/>
                    <a:pt x="624" y="528"/>
                  </a:cubicBezTo>
                  <a:lnTo>
                    <a:pt x="0" y="528"/>
                  </a:lnTo>
                  <a:lnTo>
                    <a:pt x="0" y="416"/>
                  </a:lnTo>
                  <a:close/>
                </a:path>
              </a:pathLst>
            </a:custGeom>
            <a:solidFill>
              <a:srgbClr val="0070C0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>
                <a:ea typeface="思源黑体" panose="020B0500000000000000" pitchFamily="34" charset="-122"/>
              </a:endParaRPr>
            </a:p>
          </p:txBody>
        </p:sp>
        <p:sp>
          <p:nvSpPr>
            <p:cNvPr id="5" name="Freeform 6"/>
            <p:cNvSpPr/>
            <p:nvPr/>
          </p:nvSpPr>
          <p:spPr bwMode="auto">
            <a:xfrm>
              <a:off x="7974014" y="271463"/>
              <a:ext cx="593724" cy="374650"/>
            </a:xfrm>
            <a:custGeom>
              <a:avLst/>
              <a:gdLst>
                <a:gd name="T0" fmla="*/ 93 w 374"/>
                <a:gd name="T1" fmla="*/ 93 h 236"/>
                <a:gd name="T2" fmla="*/ 281 w 374"/>
                <a:gd name="T3" fmla="*/ 93 h 236"/>
                <a:gd name="T4" fmla="*/ 281 w 374"/>
                <a:gd name="T5" fmla="*/ 0 h 236"/>
                <a:gd name="T6" fmla="*/ 374 w 374"/>
                <a:gd name="T7" fmla="*/ 0 h 236"/>
                <a:gd name="T8" fmla="*/ 374 w 374"/>
                <a:gd name="T9" fmla="*/ 236 h 236"/>
                <a:gd name="T10" fmla="*/ 281 w 374"/>
                <a:gd name="T11" fmla="*/ 236 h 236"/>
                <a:gd name="T12" fmla="*/ 281 w 374"/>
                <a:gd name="T13" fmla="*/ 136 h 236"/>
                <a:gd name="T14" fmla="*/ 93 w 374"/>
                <a:gd name="T15" fmla="*/ 136 h 236"/>
                <a:gd name="T16" fmla="*/ 93 w 374"/>
                <a:gd name="T17" fmla="*/ 236 h 236"/>
                <a:gd name="T18" fmla="*/ 0 w 374"/>
                <a:gd name="T19" fmla="*/ 236 h 236"/>
                <a:gd name="T20" fmla="*/ 0 w 374"/>
                <a:gd name="T21" fmla="*/ 0 h 236"/>
                <a:gd name="T22" fmla="*/ 93 w 374"/>
                <a:gd name="T23" fmla="*/ 0 h 236"/>
                <a:gd name="T24" fmla="*/ 93 w 374"/>
                <a:gd name="T25" fmla="*/ 93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74" h="236">
                  <a:moveTo>
                    <a:pt x="93" y="93"/>
                  </a:moveTo>
                  <a:lnTo>
                    <a:pt x="281" y="93"/>
                  </a:lnTo>
                  <a:lnTo>
                    <a:pt x="281" y="0"/>
                  </a:lnTo>
                  <a:lnTo>
                    <a:pt x="374" y="0"/>
                  </a:lnTo>
                  <a:lnTo>
                    <a:pt x="374" y="236"/>
                  </a:lnTo>
                  <a:lnTo>
                    <a:pt x="281" y="236"/>
                  </a:lnTo>
                  <a:lnTo>
                    <a:pt x="281" y="136"/>
                  </a:lnTo>
                  <a:lnTo>
                    <a:pt x="93" y="136"/>
                  </a:lnTo>
                  <a:lnTo>
                    <a:pt x="93" y="236"/>
                  </a:lnTo>
                  <a:lnTo>
                    <a:pt x="0" y="236"/>
                  </a:lnTo>
                  <a:lnTo>
                    <a:pt x="0" y="0"/>
                  </a:lnTo>
                  <a:lnTo>
                    <a:pt x="93" y="0"/>
                  </a:lnTo>
                  <a:lnTo>
                    <a:pt x="93" y="93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>
                <a:ea typeface="思源黑体" panose="020B0500000000000000" pitchFamily="34" charset="-122"/>
              </a:endParaRPr>
            </a:p>
          </p:txBody>
        </p:sp>
        <p:sp>
          <p:nvSpPr>
            <p:cNvPr id="16" name="Freeform 7"/>
            <p:cNvSpPr>
              <a:spLocks noEditPoints="1"/>
            </p:cNvSpPr>
            <p:nvPr/>
          </p:nvSpPr>
          <p:spPr bwMode="auto">
            <a:xfrm>
              <a:off x="9163052" y="282576"/>
              <a:ext cx="693738" cy="374650"/>
            </a:xfrm>
            <a:custGeom>
              <a:avLst/>
              <a:gdLst>
                <a:gd name="T0" fmla="*/ 16 w 896"/>
                <a:gd name="T1" fmla="*/ 512 h 528"/>
                <a:gd name="T2" fmla="*/ 144 w 896"/>
                <a:gd name="T3" fmla="*/ 304 h 528"/>
                <a:gd name="T4" fmla="*/ 0 w 896"/>
                <a:gd name="T5" fmla="*/ 240 h 528"/>
                <a:gd name="T6" fmla="*/ 160 w 896"/>
                <a:gd name="T7" fmla="*/ 288 h 528"/>
                <a:gd name="T8" fmla="*/ 288 w 896"/>
                <a:gd name="T9" fmla="*/ 32 h 528"/>
                <a:gd name="T10" fmla="*/ 352 w 896"/>
                <a:gd name="T11" fmla="*/ 0 h 528"/>
                <a:gd name="T12" fmla="*/ 544 w 896"/>
                <a:gd name="T13" fmla="*/ 0 h 528"/>
                <a:gd name="T14" fmla="*/ 592 w 896"/>
                <a:gd name="T15" fmla="*/ 32 h 528"/>
                <a:gd name="T16" fmla="*/ 720 w 896"/>
                <a:gd name="T17" fmla="*/ 256 h 528"/>
                <a:gd name="T18" fmla="*/ 832 w 896"/>
                <a:gd name="T19" fmla="*/ 208 h 528"/>
                <a:gd name="T20" fmla="*/ 896 w 896"/>
                <a:gd name="T21" fmla="*/ 320 h 528"/>
                <a:gd name="T22" fmla="*/ 336 w 896"/>
                <a:gd name="T23" fmla="*/ 368 h 528"/>
                <a:gd name="T24" fmla="*/ 240 w 896"/>
                <a:gd name="T25" fmla="*/ 528 h 528"/>
                <a:gd name="T26" fmla="*/ 16 w 896"/>
                <a:gd name="T27" fmla="*/ 512 h 528"/>
                <a:gd name="T28" fmla="*/ 576 w 896"/>
                <a:gd name="T29" fmla="*/ 384 h 528"/>
                <a:gd name="T30" fmla="*/ 656 w 896"/>
                <a:gd name="T31" fmla="*/ 512 h 528"/>
                <a:gd name="T32" fmla="*/ 880 w 896"/>
                <a:gd name="T33" fmla="*/ 512 h 528"/>
                <a:gd name="T34" fmla="*/ 784 w 896"/>
                <a:gd name="T35" fmla="*/ 368 h 528"/>
                <a:gd name="T36" fmla="*/ 576 w 896"/>
                <a:gd name="T37" fmla="*/ 384 h 528"/>
                <a:gd name="T38" fmla="*/ 368 w 896"/>
                <a:gd name="T39" fmla="*/ 304 h 528"/>
                <a:gd name="T40" fmla="*/ 448 w 896"/>
                <a:gd name="T41" fmla="*/ 160 h 528"/>
                <a:gd name="T42" fmla="*/ 528 w 896"/>
                <a:gd name="T43" fmla="*/ 288 h 528"/>
                <a:gd name="T44" fmla="*/ 368 w 896"/>
                <a:gd name="T45" fmla="*/ 304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96" h="528">
                  <a:moveTo>
                    <a:pt x="16" y="512"/>
                  </a:moveTo>
                  <a:lnTo>
                    <a:pt x="144" y="304"/>
                  </a:lnTo>
                  <a:cubicBezTo>
                    <a:pt x="80" y="288"/>
                    <a:pt x="48" y="272"/>
                    <a:pt x="0" y="240"/>
                  </a:cubicBezTo>
                  <a:cubicBezTo>
                    <a:pt x="48" y="256"/>
                    <a:pt x="96" y="272"/>
                    <a:pt x="160" y="288"/>
                  </a:cubicBezTo>
                  <a:lnTo>
                    <a:pt x="288" y="32"/>
                  </a:lnTo>
                  <a:cubicBezTo>
                    <a:pt x="304" y="16"/>
                    <a:pt x="336" y="0"/>
                    <a:pt x="352" y="0"/>
                  </a:cubicBezTo>
                  <a:lnTo>
                    <a:pt x="544" y="0"/>
                  </a:lnTo>
                  <a:cubicBezTo>
                    <a:pt x="560" y="0"/>
                    <a:pt x="576" y="16"/>
                    <a:pt x="592" y="32"/>
                  </a:cubicBezTo>
                  <a:lnTo>
                    <a:pt x="720" y="256"/>
                  </a:lnTo>
                  <a:lnTo>
                    <a:pt x="832" y="208"/>
                  </a:lnTo>
                  <a:lnTo>
                    <a:pt x="896" y="320"/>
                  </a:lnTo>
                  <a:cubicBezTo>
                    <a:pt x="720" y="368"/>
                    <a:pt x="544" y="384"/>
                    <a:pt x="336" y="368"/>
                  </a:cubicBezTo>
                  <a:lnTo>
                    <a:pt x="240" y="528"/>
                  </a:lnTo>
                  <a:lnTo>
                    <a:pt x="16" y="512"/>
                  </a:lnTo>
                  <a:close/>
                  <a:moveTo>
                    <a:pt x="576" y="384"/>
                  </a:moveTo>
                  <a:lnTo>
                    <a:pt x="656" y="512"/>
                  </a:lnTo>
                  <a:lnTo>
                    <a:pt x="880" y="512"/>
                  </a:lnTo>
                  <a:lnTo>
                    <a:pt x="784" y="368"/>
                  </a:lnTo>
                  <a:cubicBezTo>
                    <a:pt x="720" y="368"/>
                    <a:pt x="656" y="384"/>
                    <a:pt x="576" y="384"/>
                  </a:cubicBezTo>
                  <a:close/>
                  <a:moveTo>
                    <a:pt x="368" y="304"/>
                  </a:moveTo>
                  <a:lnTo>
                    <a:pt x="448" y="160"/>
                  </a:lnTo>
                  <a:lnTo>
                    <a:pt x="528" y="288"/>
                  </a:lnTo>
                  <a:cubicBezTo>
                    <a:pt x="464" y="304"/>
                    <a:pt x="416" y="304"/>
                    <a:pt x="368" y="304"/>
                  </a:cubicBezTo>
                  <a:close/>
                </a:path>
              </a:pathLst>
            </a:custGeom>
            <a:solidFill>
              <a:srgbClr val="0070C0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>
                <a:ea typeface="思源黑体" panose="020B0500000000000000" pitchFamily="34" charset="-122"/>
              </a:endParaRPr>
            </a:p>
          </p:txBody>
        </p:sp>
        <p:sp>
          <p:nvSpPr>
            <p:cNvPr id="6" name="Freeform 8"/>
            <p:cNvSpPr/>
            <p:nvPr/>
          </p:nvSpPr>
          <p:spPr bwMode="auto">
            <a:xfrm>
              <a:off x="9882189" y="282576"/>
              <a:ext cx="569912" cy="363538"/>
            </a:xfrm>
            <a:custGeom>
              <a:avLst/>
              <a:gdLst>
                <a:gd name="T0" fmla="*/ 0 w 736"/>
                <a:gd name="T1" fmla="*/ 480 h 512"/>
                <a:gd name="T2" fmla="*/ 0 w 736"/>
                <a:gd name="T3" fmla="*/ 32 h 512"/>
                <a:gd name="T4" fmla="*/ 48 w 736"/>
                <a:gd name="T5" fmla="*/ 0 h 512"/>
                <a:gd name="T6" fmla="*/ 736 w 736"/>
                <a:gd name="T7" fmla="*/ 0 h 512"/>
                <a:gd name="T8" fmla="*/ 736 w 736"/>
                <a:gd name="T9" fmla="*/ 96 h 512"/>
                <a:gd name="T10" fmla="*/ 208 w 736"/>
                <a:gd name="T11" fmla="*/ 96 h 512"/>
                <a:gd name="T12" fmla="*/ 208 w 736"/>
                <a:gd name="T13" fmla="*/ 192 h 512"/>
                <a:gd name="T14" fmla="*/ 448 w 736"/>
                <a:gd name="T15" fmla="*/ 192 h 512"/>
                <a:gd name="T16" fmla="*/ 448 w 736"/>
                <a:gd name="T17" fmla="*/ 288 h 512"/>
                <a:gd name="T18" fmla="*/ 208 w 736"/>
                <a:gd name="T19" fmla="*/ 288 h 512"/>
                <a:gd name="T20" fmla="*/ 208 w 736"/>
                <a:gd name="T21" fmla="*/ 416 h 512"/>
                <a:gd name="T22" fmla="*/ 736 w 736"/>
                <a:gd name="T23" fmla="*/ 416 h 512"/>
                <a:gd name="T24" fmla="*/ 736 w 736"/>
                <a:gd name="T25" fmla="*/ 512 h 512"/>
                <a:gd name="T26" fmla="*/ 32 w 736"/>
                <a:gd name="T27" fmla="*/ 512 h 512"/>
                <a:gd name="T28" fmla="*/ 0 w 736"/>
                <a:gd name="T29" fmla="*/ 48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36" h="512">
                  <a:moveTo>
                    <a:pt x="0" y="480"/>
                  </a:moveTo>
                  <a:lnTo>
                    <a:pt x="0" y="32"/>
                  </a:lnTo>
                  <a:cubicBezTo>
                    <a:pt x="0" y="16"/>
                    <a:pt x="16" y="0"/>
                    <a:pt x="48" y="0"/>
                  </a:cubicBezTo>
                  <a:lnTo>
                    <a:pt x="736" y="0"/>
                  </a:lnTo>
                  <a:lnTo>
                    <a:pt x="736" y="96"/>
                  </a:lnTo>
                  <a:lnTo>
                    <a:pt x="208" y="96"/>
                  </a:lnTo>
                  <a:lnTo>
                    <a:pt x="208" y="192"/>
                  </a:lnTo>
                  <a:lnTo>
                    <a:pt x="448" y="192"/>
                  </a:lnTo>
                  <a:lnTo>
                    <a:pt x="448" y="288"/>
                  </a:lnTo>
                  <a:lnTo>
                    <a:pt x="208" y="288"/>
                  </a:lnTo>
                  <a:lnTo>
                    <a:pt x="208" y="416"/>
                  </a:lnTo>
                  <a:lnTo>
                    <a:pt x="736" y="416"/>
                  </a:lnTo>
                  <a:lnTo>
                    <a:pt x="736" y="512"/>
                  </a:lnTo>
                  <a:lnTo>
                    <a:pt x="32" y="512"/>
                  </a:lnTo>
                  <a:cubicBezTo>
                    <a:pt x="16" y="512"/>
                    <a:pt x="0" y="496"/>
                    <a:pt x="0" y="480"/>
                  </a:cubicBezTo>
                  <a:close/>
                </a:path>
              </a:pathLst>
            </a:custGeom>
            <a:solidFill>
              <a:srgbClr val="0070C0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>
                <a:ea typeface="思源黑体" panose="020B0500000000000000" pitchFamily="34" charset="-122"/>
              </a:endParaRPr>
            </a:p>
          </p:txBody>
        </p:sp>
        <p:sp>
          <p:nvSpPr>
            <p:cNvPr id="7" name="Freeform 9"/>
            <p:cNvSpPr>
              <a:spLocks noEditPoints="1"/>
            </p:cNvSpPr>
            <p:nvPr/>
          </p:nvSpPr>
          <p:spPr bwMode="auto">
            <a:xfrm>
              <a:off x="10612439" y="258763"/>
              <a:ext cx="520701" cy="398463"/>
            </a:xfrm>
            <a:custGeom>
              <a:avLst/>
              <a:gdLst>
                <a:gd name="T0" fmla="*/ 128 w 672"/>
                <a:gd name="T1" fmla="*/ 256 h 560"/>
                <a:gd name="T2" fmla="*/ 128 w 672"/>
                <a:gd name="T3" fmla="*/ 128 h 560"/>
                <a:gd name="T4" fmla="*/ 160 w 672"/>
                <a:gd name="T5" fmla="*/ 224 h 560"/>
                <a:gd name="T6" fmla="*/ 240 w 672"/>
                <a:gd name="T7" fmla="*/ 224 h 560"/>
                <a:gd name="T8" fmla="*/ 208 w 672"/>
                <a:gd name="T9" fmla="*/ 128 h 560"/>
                <a:gd name="T10" fmla="*/ 128 w 672"/>
                <a:gd name="T11" fmla="*/ 128 h 560"/>
                <a:gd name="T12" fmla="*/ 128 w 672"/>
                <a:gd name="T13" fmla="*/ 80 h 560"/>
                <a:gd name="T14" fmla="*/ 240 w 672"/>
                <a:gd name="T15" fmla="*/ 80 h 560"/>
                <a:gd name="T16" fmla="*/ 240 w 672"/>
                <a:gd name="T17" fmla="*/ 256 h 560"/>
                <a:gd name="T18" fmla="*/ 128 w 672"/>
                <a:gd name="T19" fmla="*/ 256 h 560"/>
                <a:gd name="T20" fmla="*/ 144 w 672"/>
                <a:gd name="T21" fmla="*/ 320 h 560"/>
                <a:gd name="T22" fmla="*/ 160 w 672"/>
                <a:gd name="T23" fmla="*/ 432 h 560"/>
                <a:gd name="T24" fmla="*/ 240 w 672"/>
                <a:gd name="T25" fmla="*/ 432 h 560"/>
                <a:gd name="T26" fmla="*/ 208 w 672"/>
                <a:gd name="T27" fmla="*/ 320 h 560"/>
                <a:gd name="T28" fmla="*/ 144 w 672"/>
                <a:gd name="T29" fmla="*/ 320 h 560"/>
                <a:gd name="T30" fmla="*/ 448 w 672"/>
                <a:gd name="T31" fmla="*/ 48 h 560"/>
                <a:gd name="T32" fmla="*/ 416 w 672"/>
                <a:gd name="T33" fmla="*/ 0 h 560"/>
                <a:gd name="T34" fmla="*/ 512 w 672"/>
                <a:gd name="T35" fmla="*/ 0 h 560"/>
                <a:gd name="T36" fmla="*/ 544 w 672"/>
                <a:gd name="T37" fmla="*/ 48 h 560"/>
                <a:gd name="T38" fmla="*/ 672 w 672"/>
                <a:gd name="T39" fmla="*/ 48 h 560"/>
                <a:gd name="T40" fmla="*/ 672 w 672"/>
                <a:gd name="T41" fmla="*/ 96 h 560"/>
                <a:gd name="T42" fmla="*/ 336 w 672"/>
                <a:gd name="T43" fmla="*/ 96 h 560"/>
                <a:gd name="T44" fmla="*/ 336 w 672"/>
                <a:gd name="T45" fmla="*/ 48 h 560"/>
                <a:gd name="T46" fmla="*/ 448 w 672"/>
                <a:gd name="T47" fmla="*/ 48 h 560"/>
                <a:gd name="T48" fmla="*/ 368 w 672"/>
                <a:gd name="T49" fmla="*/ 144 h 560"/>
                <a:gd name="T50" fmla="*/ 608 w 672"/>
                <a:gd name="T51" fmla="*/ 144 h 560"/>
                <a:gd name="T52" fmla="*/ 608 w 672"/>
                <a:gd name="T53" fmla="*/ 512 h 560"/>
                <a:gd name="T54" fmla="*/ 672 w 672"/>
                <a:gd name="T55" fmla="*/ 512 h 560"/>
                <a:gd name="T56" fmla="*/ 672 w 672"/>
                <a:gd name="T57" fmla="*/ 544 h 560"/>
                <a:gd name="T58" fmla="*/ 560 w 672"/>
                <a:gd name="T59" fmla="*/ 544 h 560"/>
                <a:gd name="T60" fmla="*/ 528 w 672"/>
                <a:gd name="T61" fmla="*/ 512 h 560"/>
                <a:gd name="T62" fmla="*/ 528 w 672"/>
                <a:gd name="T63" fmla="*/ 192 h 560"/>
                <a:gd name="T64" fmla="*/ 464 w 672"/>
                <a:gd name="T65" fmla="*/ 192 h 560"/>
                <a:gd name="T66" fmla="*/ 464 w 672"/>
                <a:gd name="T67" fmla="*/ 384 h 560"/>
                <a:gd name="T68" fmla="*/ 336 w 672"/>
                <a:gd name="T69" fmla="*/ 544 h 560"/>
                <a:gd name="T70" fmla="*/ 336 w 672"/>
                <a:gd name="T71" fmla="*/ 480 h 560"/>
                <a:gd name="T72" fmla="*/ 368 w 672"/>
                <a:gd name="T73" fmla="*/ 400 h 560"/>
                <a:gd name="T74" fmla="*/ 368 w 672"/>
                <a:gd name="T75" fmla="*/ 144 h 560"/>
                <a:gd name="T76" fmla="*/ 128 w 672"/>
                <a:gd name="T77" fmla="*/ 48 h 560"/>
                <a:gd name="T78" fmla="*/ 160 w 672"/>
                <a:gd name="T79" fmla="*/ 0 h 560"/>
                <a:gd name="T80" fmla="*/ 256 w 672"/>
                <a:gd name="T81" fmla="*/ 0 h 560"/>
                <a:gd name="T82" fmla="*/ 224 w 672"/>
                <a:gd name="T83" fmla="*/ 48 h 560"/>
                <a:gd name="T84" fmla="*/ 320 w 672"/>
                <a:gd name="T85" fmla="*/ 48 h 560"/>
                <a:gd name="T86" fmla="*/ 320 w 672"/>
                <a:gd name="T87" fmla="*/ 528 h 560"/>
                <a:gd name="T88" fmla="*/ 304 w 672"/>
                <a:gd name="T89" fmla="*/ 560 h 560"/>
                <a:gd name="T90" fmla="*/ 176 w 672"/>
                <a:gd name="T91" fmla="*/ 560 h 560"/>
                <a:gd name="T92" fmla="*/ 176 w 672"/>
                <a:gd name="T93" fmla="*/ 512 h 560"/>
                <a:gd name="T94" fmla="*/ 240 w 672"/>
                <a:gd name="T95" fmla="*/ 512 h 560"/>
                <a:gd name="T96" fmla="*/ 240 w 672"/>
                <a:gd name="T97" fmla="*/ 288 h 560"/>
                <a:gd name="T98" fmla="*/ 128 w 672"/>
                <a:gd name="T99" fmla="*/ 288 h 560"/>
                <a:gd name="T100" fmla="*/ 80 w 672"/>
                <a:gd name="T101" fmla="*/ 544 h 560"/>
                <a:gd name="T102" fmla="*/ 0 w 672"/>
                <a:gd name="T103" fmla="*/ 544 h 560"/>
                <a:gd name="T104" fmla="*/ 48 w 672"/>
                <a:gd name="T105" fmla="*/ 304 h 560"/>
                <a:gd name="T106" fmla="*/ 0 w 672"/>
                <a:gd name="T107" fmla="*/ 304 h 560"/>
                <a:gd name="T108" fmla="*/ 0 w 672"/>
                <a:gd name="T109" fmla="*/ 256 h 560"/>
                <a:gd name="T110" fmla="*/ 48 w 672"/>
                <a:gd name="T111" fmla="*/ 256 h 560"/>
                <a:gd name="T112" fmla="*/ 48 w 672"/>
                <a:gd name="T113" fmla="*/ 48 h 560"/>
                <a:gd name="T114" fmla="*/ 128 w 672"/>
                <a:gd name="T115" fmla="*/ 48 h 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672" h="560">
                  <a:moveTo>
                    <a:pt x="128" y="256"/>
                  </a:moveTo>
                  <a:lnTo>
                    <a:pt x="128" y="128"/>
                  </a:lnTo>
                  <a:lnTo>
                    <a:pt x="160" y="224"/>
                  </a:lnTo>
                  <a:lnTo>
                    <a:pt x="240" y="224"/>
                  </a:lnTo>
                  <a:lnTo>
                    <a:pt x="208" y="128"/>
                  </a:lnTo>
                  <a:lnTo>
                    <a:pt x="128" y="128"/>
                  </a:lnTo>
                  <a:lnTo>
                    <a:pt x="128" y="80"/>
                  </a:lnTo>
                  <a:lnTo>
                    <a:pt x="240" y="80"/>
                  </a:lnTo>
                  <a:lnTo>
                    <a:pt x="240" y="256"/>
                  </a:lnTo>
                  <a:lnTo>
                    <a:pt x="128" y="256"/>
                  </a:lnTo>
                  <a:close/>
                  <a:moveTo>
                    <a:pt x="144" y="320"/>
                  </a:moveTo>
                  <a:lnTo>
                    <a:pt x="160" y="432"/>
                  </a:lnTo>
                  <a:lnTo>
                    <a:pt x="240" y="432"/>
                  </a:lnTo>
                  <a:lnTo>
                    <a:pt x="208" y="320"/>
                  </a:lnTo>
                  <a:lnTo>
                    <a:pt x="144" y="320"/>
                  </a:lnTo>
                  <a:close/>
                  <a:moveTo>
                    <a:pt x="448" y="48"/>
                  </a:moveTo>
                  <a:lnTo>
                    <a:pt x="416" y="0"/>
                  </a:lnTo>
                  <a:lnTo>
                    <a:pt x="512" y="0"/>
                  </a:lnTo>
                  <a:lnTo>
                    <a:pt x="544" y="48"/>
                  </a:lnTo>
                  <a:lnTo>
                    <a:pt x="672" y="48"/>
                  </a:lnTo>
                  <a:lnTo>
                    <a:pt x="672" y="96"/>
                  </a:lnTo>
                  <a:lnTo>
                    <a:pt x="336" y="96"/>
                  </a:lnTo>
                  <a:lnTo>
                    <a:pt x="336" y="48"/>
                  </a:lnTo>
                  <a:lnTo>
                    <a:pt x="448" y="48"/>
                  </a:lnTo>
                  <a:close/>
                  <a:moveTo>
                    <a:pt x="368" y="144"/>
                  </a:moveTo>
                  <a:lnTo>
                    <a:pt x="608" y="144"/>
                  </a:lnTo>
                  <a:lnTo>
                    <a:pt x="608" y="512"/>
                  </a:lnTo>
                  <a:lnTo>
                    <a:pt x="672" y="512"/>
                  </a:lnTo>
                  <a:lnTo>
                    <a:pt x="672" y="544"/>
                  </a:lnTo>
                  <a:lnTo>
                    <a:pt x="560" y="544"/>
                  </a:lnTo>
                  <a:cubicBezTo>
                    <a:pt x="544" y="544"/>
                    <a:pt x="528" y="544"/>
                    <a:pt x="528" y="512"/>
                  </a:cubicBezTo>
                  <a:lnTo>
                    <a:pt x="528" y="192"/>
                  </a:lnTo>
                  <a:lnTo>
                    <a:pt x="464" y="192"/>
                  </a:lnTo>
                  <a:lnTo>
                    <a:pt x="464" y="384"/>
                  </a:lnTo>
                  <a:cubicBezTo>
                    <a:pt x="448" y="480"/>
                    <a:pt x="400" y="528"/>
                    <a:pt x="336" y="544"/>
                  </a:cubicBezTo>
                  <a:lnTo>
                    <a:pt x="336" y="480"/>
                  </a:lnTo>
                  <a:cubicBezTo>
                    <a:pt x="352" y="464"/>
                    <a:pt x="368" y="432"/>
                    <a:pt x="368" y="400"/>
                  </a:cubicBezTo>
                  <a:lnTo>
                    <a:pt x="368" y="144"/>
                  </a:lnTo>
                  <a:close/>
                  <a:moveTo>
                    <a:pt x="128" y="48"/>
                  </a:moveTo>
                  <a:lnTo>
                    <a:pt x="160" y="0"/>
                  </a:lnTo>
                  <a:lnTo>
                    <a:pt x="256" y="0"/>
                  </a:lnTo>
                  <a:lnTo>
                    <a:pt x="224" y="48"/>
                  </a:lnTo>
                  <a:lnTo>
                    <a:pt x="320" y="48"/>
                  </a:lnTo>
                  <a:lnTo>
                    <a:pt x="320" y="528"/>
                  </a:lnTo>
                  <a:cubicBezTo>
                    <a:pt x="320" y="544"/>
                    <a:pt x="320" y="560"/>
                    <a:pt x="304" y="560"/>
                  </a:cubicBezTo>
                  <a:lnTo>
                    <a:pt x="176" y="560"/>
                  </a:lnTo>
                  <a:lnTo>
                    <a:pt x="176" y="512"/>
                  </a:lnTo>
                  <a:lnTo>
                    <a:pt x="240" y="512"/>
                  </a:lnTo>
                  <a:lnTo>
                    <a:pt x="240" y="288"/>
                  </a:lnTo>
                  <a:lnTo>
                    <a:pt x="128" y="288"/>
                  </a:lnTo>
                  <a:cubicBezTo>
                    <a:pt x="144" y="400"/>
                    <a:pt x="128" y="480"/>
                    <a:pt x="80" y="544"/>
                  </a:cubicBezTo>
                  <a:lnTo>
                    <a:pt x="0" y="544"/>
                  </a:lnTo>
                  <a:cubicBezTo>
                    <a:pt x="32" y="480"/>
                    <a:pt x="48" y="400"/>
                    <a:pt x="48" y="304"/>
                  </a:cubicBezTo>
                  <a:lnTo>
                    <a:pt x="0" y="304"/>
                  </a:lnTo>
                  <a:lnTo>
                    <a:pt x="0" y="256"/>
                  </a:lnTo>
                  <a:lnTo>
                    <a:pt x="48" y="256"/>
                  </a:lnTo>
                  <a:lnTo>
                    <a:pt x="48" y="48"/>
                  </a:lnTo>
                  <a:lnTo>
                    <a:pt x="128" y="48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>
                <a:ea typeface="思源黑体" panose="020B0500000000000000" pitchFamily="34" charset="-122"/>
              </a:endParaRPr>
            </a:p>
          </p:txBody>
        </p:sp>
        <p:sp>
          <p:nvSpPr>
            <p:cNvPr id="9" name="Freeform 10"/>
            <p:cNvSpPr>
              <a:spLocks noEditPoints="1"/>
            </p:cNvSpPr>
            <p:nvPr/>
          </p:nvSpPr>
          <p:spPr bwMode="auto">
            <a:xfrm>
              <a:off x="11220452" y="258763"/>
              <a:ext cx="507999" cy="398463"/>
            </a:xfrm>
            <a:custGeom>
              <a:avLst/>
              <a:gdLst>
                <a:gd name="T0" fmla="*/ 16 w 656"/>
                <a:gd name="T1" fmla="*/ 512 h 560"/>
                <a:gd name="T2" fmla="*/ 16 w 656"/>
                <a:gd name="T3" fmla="*/ 352 h 560"/>
                <a:gd name="T4" fmla="*/ 624 w 656"/>
                <a:gd name="T5" fmla="*/ 352 h 560"/>
                <a:gd name="T6" fmla="*/ 624 w 656"/>
                <a:gd name="T7" fmla="*/ 512 h 560"/>
                <a:gd name="T8" fmla="*/ 656 w 656"/>
                <a:gd name="T9" fmla="*/ 512 h 560"/>
                <a:gd name="T10" fmla="*/ 656 w 656"/>
                <a:gd name="T11" fmla="*/ 560 h 560"/>
                <a:gd name="T12" fmla="*/ 0 w 656"/>
                <a:gd name="T13" fmla="*/ 560 h 560"/>
                <a:gd name="T14" fmla="*/ 0 w 656"/>
                <a:gd name="T15" fmla="*/ 512 h 560"/>
                <a:gd name="T16" fmla="*/ 16 w 656"/>
                <a:gd name="T17" fmla="*/ 512 h 560"/>
                <a:gd name="T18" fmla="*/ 112 w 656"/>
                <a:gd name="T19" fmla="*/ 400 h 560"/>
                <a:gd name="T20" fmla="*/ 208 w 656"/>
                <a:gd name="T21" fmla="*/ 400 h 560"/>
                <a:gd name="T22" fmla="*/ 208 w 656"/>
                <a:gd name="T23" fmla="*/ 512 h 560"/>
                <a:gd name="T24" fmla="*/ 112 w 656"/>
                <a:gd name="T25" fmla="*/ 512 h 560"/>
                <a:gd name="T26" fmla="*/ 112 w 656"/>
                <a:gd name="T27" fmla="*/ 400 h 560"/>
                <a:gd name="T28" fmla="*/ 272 w 656"/>
                <a:gd name="T29" fmla="*/ 400 h 560"/>
                <a:gd name="T30" fmla="*/ 384 w 656"/>
                <a:gd name="T31" fmla="*/ 400 h 560"/>
                <a:gd name="T32" fmla="*/ 384 w 656"/>
                <a:gd name="T33" fmla="*/ 512 h 560"/>
                <a:gd name="T34" fmla="*/ 272 w 656"/>
                <a:gd name="T35" fmla="*/ 512 h 560"/>
                <a:gd name="T36" fmla="*/ 272 w 656"/>
                <a:gd name="T37" fmla="*/ 400 h 560"/>
                <a:gd name="T38" fmla="*/ 448 w 656"/>
                <a:gd name="T39" fmla="*/ 400 h 560"/>
                <a:gd name="T40" fmla="*/ 544 w 656"/>
                <a:gd name="T41" fmla="*/ 400 h 560"/>
                <a:gd name="T42" fmla="*/ 544 w 656"/>
                <a:gd name="T43" fmla="*/ 512 h 560"/>
                <a:gd name="T44" fmla="*/ 448 w 656"/>
                <a:gd name="T45" fmla="*/ 512 h 560"/>
                <a:gd name="T46" fmla="*/ 448 w 656"/>
                <a:gd name="T47" fmla="*/ 400 h 560"/>
                <a:gd name="T48" fmla="*/ 16 w 656"/>
                <a:gd name="T49" fmla="*/ 256 h 560"/>
                <a:gd name="T50" fmla="*/ 48 w 656"/>
                <a:gd name="T51" fmla="*/ 176 h 560"/>
                <a:gd name="T52" fmla="*/ 48 w 656"/>
                <a:gd name="T53" fmla="*/ 32 h 560"/>
                <a:gd name="T54" fmla="*/ 336 w 656"/>
                <a:gd name="T55" fmla="*/ 32 h 560"/>
                <a:gd name="T56" fmla="*/ 320 w 656"/>
                <a:gd name="T57" fmla="*/ 0 h 560"/>
                <a:gd name="T58" fmla="*/ 400 w 656"/>
                <a:gd name="T59" fmla="*/ 0 h 560"/>
                <a:gd name="T60" fmla="*/ 416 w 656"/>
                <a:gd name="T61" fmla="*/ 48 h 560"/>
                <a:gd name="T62" fmla="*/ 560 w 656"/>
                <a:gd name="T63" fmla="*/ 48 h 560"/>
                <a:gd name="T64" fmla="*/ 560 w 656"/>
                <a:gd name="T65" fmla="*/ 0 h 560"/>
                <a:gd name="T66" fmla="*/ 640 w 656"/>
                <a:gd name="T67" fmla="*/ 0 h 560"/>
                <a:gd name="T68" fmla="*/ 640 w 656"/>
                <a:gd name="T69" fmla="*/ 80 h 560"/>
                <a:gd name="T70" fmla="*/ 416 w 656"/>
                <a:gd name="T71" fmla="*/ 80 h 560"/>
                <a:gd name="T72" fmla="*/ 464 w 656"/>
                <a:gd name="T73" fmla="*/ 176 h 560"/>
                <a:gd name="T74" fmla="*/ 496 w 656"/>
                <a:gd name="T75" fmla="*/ 112 h 560"/>
                <a:gd name="T76" fmla="*/ 592 w 656"/>
                <a:gd name="T77" fmla="*/ 112 h 560"/>
                <a:gd name="T78" fmla="*/ 528 w 656"/>
                <a:gd name="T79" fmla="*/ 240 h 560"/>
                <a:gd name="T80" fmla="*/ 576 w 656"/>
                <a:gd name="T81" fmla="*/ 256 h 560"/>
                <a:gd name="T82" fmla="*/ 576 w 656"/>
                <a:gd name="T83" fmla="*/ 208 h 560"/>
                <a:gd name="T84" fmla="*/ 656 w 656"/>
                <a:gd name="T85" fmla="*/ 208 h 560"/>
                <a:gd name="T86" fmla="*/ 656 w 656"/>
                <a:gd name="T87" fmla="*/ 352 h 560"/>
                <a:gd name="T88" fmla="*/ 464 w 656"/>
                <a:gd name="T89" fmla="*/ 288 h 560"/>
                <a:gd name="T90" fmla="*/ 336 w 656"/>
                <a:gd name="T91" fmla="*/ 336 h 560"/>
                <a:gd name="T92" fmla="*/ 336 w 656"/>
                <a:gd name="T93" fmla="*/ 272 h 560"/>
                <a:gd name="T94" fmla="*/ 416 w 656"/>
                <a:gd name="T95" fmla="*/ 240 h 560"/>
                <a:gd name="T96" fmla="*/ 336 w 656"/>
                <a:gd name="T97" fmla="*/ 80 h 560"/>
                <a:gd name="T98" fmla="*/ 128 w 656"/>
                <a:gd name="T99" fmla="*/ 80 h 560"/>
                <a:gd name="T100" fmla="*/ 128 w 656"/>
                <a:gd name="T101" fmla="*/ 128 h 560"/>
                <a:gd name="T102" fmla="*/ 320 w 656"/>
                <a:gd name="T103" fmla="*/ 128 h 560"/>
                <a:gd name="T104" fmla="*/ 320 w 656"/>
                <a:gd name="T105" fmla="*/ 304 h 560"/>
                <a:gd name="T106" fmla="*/ 288 w 656"/>
                <a:gd name="T107" fmla="*/ 352 h 560"/>
                <a:gd name="T108" fmla="*/ 160 w 656"/>
                <a:gd name="T109" fmla="*/ 352 h 560"/>
                <a:gd name="T110" fmla="*/ 160 w 656"/>
                <a:gd name="T111" fmla="*/ 304 h 560"/>
                <a:gd name="T112" fmla="*/ 224 w 656"/>
                <a:gd name="T113" fmla="*/ 304 h 560"/>
                <a:gd name="T114" fmla="*/ 240 w 656"/>
                <a:gd name="T115" fmla="*/ 288 h 560"/>
                <a:gd name="T116" fmla="*/ 240 w 656"/>
                <a:gd name="T117" fmla="*/ 160 h 560"/>
                <a:gd name="T118" fmla="*/ 128 w 656"/>
                <a:gd name="T119" fmla="*/ 160 h 560"/>
                <a:gd name="T120" fmla="*/ 16 w 656"/>
                <a:gd name="T121" fmla="*/ 336 h 560"/>
                <a:gd name="T122" fmla="*/ 16 w 656"/>
                <a:gd name="T123" fmla="*/ 256 h 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56" h="560">
                  <a:moveTo>
                    <a:pt x="16" y="512"/>
                  </a:moveTo>
                  <a:lnTo>
                    <a:pt x="16" y="352"/>
                  </a:lnTo>
                  <a:lnTo>
                    <a:pt x="624" y="352"/>
                  </a:lnTo>
                  <a:lnTo>
                    <a:pt x="624" y="512"/>
                  </a:lnTo>
                  <a:lnTo>
                    <a:pt x="656" y="512"/>
                  </a:lnTo>
                  <a:lnTo>
                    <a:pt x="656" y="560"/>
                  </a:lnTo>
                  <a:lnTo>
                    <a:pt x="0" y="560"/>
                  </a:lnTo>
                  <a:lnTo>
                    <a:pt x="0" y="512"/>
                  </a:lnTo>
                  <a:lnTo>
                    <a:pt x="16" y="512"/>
                  </a:lnTo>
                  <a:close/>
                  <a:moveTo>
                    <a:pt x="112" y="400"/>
                  </a:moveTo>
                  <a:lnTo>
                    <a:pt x="208" y="400"/>
                  </a:lnTo>
                  <a:lnTo>
                    <a:pt x="208" y="512"/>
                  </a:lnTo>
                  <a:lnTo>
                    <a:pt x="112" y="512"/>
                  </a:lnTo>
                  <a:lnTo>
                    <a:pt x="112" y="400"/>
                  </a:lnTo>
                  <a:close/>
                  <a:moveTo>
                    <a:pt x="272" y="400"/>
                  </a:moveTo>
                  <a:lnTo>
                    <a:pt x="384" y="400"/>
                  </a:lnTo>
                  <a:lnTo>
                    <a:pt x="384" y="512"/>
                  </a:lnTo>
                  <a:lnTo>
                    <a:pt x="272" y="512"/>
                  </a:lnTo>
                  <a:lnTo>
                    <a:pt x="272" y="400"/>
                  </a:lnTo>
                  <a:close/>
                  <a:moveTo>
                    <a:pt x="448" y="400"/>
                  </a:moveTo>
                  <a:lnTo>
                    <a:pt x="544" y="400"/>
                  </a:lnTo>
                  <a:lnTo>
                    <a:pt x="544" y="512"/>
                  </a:lnTo>
                  <a:lnTo>
                    <a:pt x="448" y="512"/>
                  </a:lnTo>
                  <a:lnTo>
                    <a:pt x="448" y="400"/>
                  </a:lnTo>
                  <a:close/>
                  <a:moveTo>
                    <a:pt x="16" y="256"/>
                  </a:moveTo>
                  <a:cubicBezTo>
                    <a:pt x="32" y="240"/>
                    <a:pt x="48" y="208"/>
                    <a:pt x="48" y="176"/>
                  </a:cubicBezTo>
                  <a:lnTo>
                    <a:pt x="48" y="32"/>
                  </a:lnTo>
                  <a:lnTo>
                    <a:pt x="336" y="32"/>
                  </a:lnTo>
                  <a:cubicBezTo>
                    <a:pt x="320" y="16"/>
                    <a:pt x="320" y="16"/>
                    <a:pt x="320" y="0"/>
                  </a:cubicBezTo>
                  <a:lnTo>
                    <a:pt x="400" y="0"/>
                  </a:lnTo>
                  <a:cubicBezTo>
                    <a:pt x="400" y="16"/>
                    <a:pt x="400" y="32"/>
                    <a:pt x="416" y="48"/>
                  </a:cubicBezTo>
                  <a:lnTo>
                    <a:pt x="560" y="48"/>
                  </a:lnTo>
                  <a:lnTo>
                    <a:pt x="560" y="0"/>
                  </a:lnTo>
                  <a:lnTo>
                    <a:pt x="640" y="0"/>
                  </a:lnTo>
                  <a:lnTo>
                    <a:pt x="640" y="80"/>
                  </a:lnTo>
                  <a:lnTo>
                    <a:pt x="416" y="80"/>
                  </a:lnTo>
                  <a:cubicBezTo>
                    <a:pt x="432" y="112"/>
                    <a:pt x="448" y="144"/>
                    <a:pt x="464" y="176"/>
                  </a:cubicBezTo>
                  <a:lnTo>
                    <a:pt x="496" y="112"/>
                  </a:lnTo>
                  <a:lnTo>
                    <a:pt x="592" y="112"/>
                  </a:lnTo>
                  <a:cubicBezTo>
                    <a:pt x="576" y="160"/>
                    <a:pt x="560" y="192"/>
                    <a:pt x="528" y="240"/>
                  </a:cubicBezTo>
                  <a:cubicBezTo>
                    <a:pt x="544" y="240"/>
                    <a:pt x="560" y="256"/>
                    <a:pt x="576" y="256"/>
                  </a:cubicBezTo>
                  <a:lnTo>
                    <a:pt x="576" y="208"/>
                  </a:lnTo>
                  <a:lnTo>
                    <a:pt x="656" y="208"/>
                  </a:lnTo>
                  <a:lnTo>
                    <a:pt x="656" y="352"/>
                  </a:lnTo>
                  <a:cubicBezTo>
                    <a:pt x="576" y="352"/>
                    <a:pt x="528" y="320"/>
                    <a:pt x="464" y="288"/>
                  </a:cubicBezTo>
                  <a:cubicBezTo>
                    <a:pt x="432" y="304"/>
                    <a:pt x="384" y="320"/>
                    <a:pt x="336" y="336"/>
                  </a:cubicBezTo>
                  <a:lnTo>
                    <a:pt x="336" y="272"/>
                  </a:lnTo>
                  <a:cubicBezTo>
                    <a:pt x="368" y="256"/>
                    <a:pt x="384" y="256"/>
                    <a:pt x="416" y="240"/>
                  </a:cubicBezTo>
                  <a:cubicBezTo>
                    <a:pt x="368" y="176"/>
                    <a:pt x="352" y="128"/>
                    <a:pt x="336" y="80"/>
                  </a:cubicBezTo>
                  <a:lnTo>
                    <a:pt x="128" y="80"/>
                  </a:lnTo>
                  <a:lnTo>
                    <a:pt x="128" y="128"/>
                  </a:lnTo>
                  <a:lnTo>
                    <a:pt x="320" y="128"/>
                  </a:lnTo>
                  <a:lnTo>
                    <a:pt x="320" y="304"/>
                  </a:lnTo>
                  <a:cubicBezTo>
                    <a:pt x="320" y="320"/>
                    <a:pt x="304" y="352"/>
                    <a:pt x="288" y="352"/>
                  </a:cubicBezTo>
                  <a:lnTo>
                    <a:pt x="160" y="352"/>
                  </a:lnTo>
                  <a:lnTo>
                    <a:pt x="160" y="304"/>
                  </a:lnTo>
                  <a:lnTo>
                    <a:pt x="224" y="304"/>
                  </a:lnTo>
                  <a:cubicBezTo>
                    <a:pt x="224" y="304"/>
                    <a:pt x="240" y="304"/>
                    <a:pt x="240" y="288"/>
                  </a:cubicBezTo>
                  <a:lnTo>
                    <a:pt x="240" y="160"/>
                  </a:lnTo>
                  <a:lnTo>
                    <a:pt x="128" y="160"/>
                  </a:lnTo>
                  <a:cubicBezTo>
                    <a:pt x="128" y="272"/>
                    <a:pt x="80" y="320"/>
                    <a:pt x="16" y="336"/>
                  </a:cubicBezTo>
                  <a:lnTo>
                    <a:pt x="16" y="256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>
                <a:ea typeface="思源黑体" panose="020B0500000000000000" pitchFamily="34" charset="-122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7836774" y="706794"/>
              <a:ext cx="4044824" cy="4582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CN" altLang="en-US" sz="900" dirty="0">
                  <a:solidFill>
                    <a:schemeClr val="bg1">
                      <a:lumMod val="50000"/>
                    </a:schemeClr>
                  </a:solidFill>
                  <a:ea typeface="思源黑体" panose="020B0500000000000000" pitchFamily="34" charset="-122"/>
                </a:rPr>
                <a:t>科   技   创   新  </a:t>
              </a:r>
              <a:r>
                <a:rPr lang="zh-CN" altLang="en-US" sz="900" baseline="0" dirty="0">
                  <a:solidFill>
                    <a:schemeClr val="bg1">
                      <a:lumMod val="50000"/>
                    </a:schemeClr>
                  </a:solidFill>
                  <a:ea typeface="思源黑体" panose="020B0500000000000000" pitchFamily="34" charset="-122"/>
                </a:rPr>
                <a:t>    </a:t>
              </a:r>
              <a:r>
                <a:rPr lang="zh-CN" altLang="en-US" sz="900" dirty="0">
                  <a:solidFill>
                    <a:schemeClr val="bg1">
                      <a:lumMod val="50000"/>
                    </a:schemeClr>
                  </a:solidFill>
                  <a:ea typeface="思源黑体" panose="020B0500000000000000" pitchFamily="34" charset="-122"/>
                </a:rPr>
                <a:t> 文   化   护   航</a:t>
              </a:r>
            </a:p>
          </p:txBody>
        </p:sp>
      </p:grpSp>
    </p:spTree>
    <p:custDataLst>
      <p:tags r:id="rId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6" fill="hold" nodeType="withEffect" p14:presetBounceEnd="36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6000">
                                          <p:cBhvr additive="base">
                                            <p:cTn id="7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6000">
                                          <p:cBhvr additive="base">
                                            <p:cTn id="8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6" fill="hold" grpId="0" nodeType="withEffect" p14:presetBounceEnd="36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6000">
                                          <p:cBhvr additive="base">
                                            <p:cTn id="11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6000">
                                          <p:cBhvr additive="base">
                                            <p:cTn id="12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fill="hold" nodeType="withEffect" p14:presetBounceEnd="46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6000">
                                          <p:cBhvr additive="base">
                                            <p:cTn id="15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6000">
                                          <p:cBhvr additive="base">
                                            <p:cTn id="16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2" fill="hold" nodeType="with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19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20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 animBg="1"/>
        </p:bldLst>
      </p:timing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8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04"/>
            <a:ext cx="5234342" cy="6852592"/>
          </a:xfrm>
          <a:prstGeom prst="rect">
            <a:avLst/>
          </a:prstGeom>
        </p:spPr>
      </p:pic>
      <p:sp>
        <p:nvSpPr>
          <p:cNvPr id="8" name="Freeform 16"/>
          <p:cNvSpPr/>
          <p:nvPr userDrawn="1"/>
        </p:nvSpPr>
        <p:spPr bwMode="auto">
          <a:xfrm>
            <a:off x="2522695" y="712470"/>
            <a:ext cx="9669305" cy="6487796"/>
          </a:xfrm>
          <a:custGeom>
            <a:avLst/>
            <a:gdLst>
              <a:gd name="T0" fmla="*/ 4653 w 4653"/>
              <a:gd name="T1" fmla="*/ 0 h 4322"/>
              <a:gd name="T2" fmla="*/ 2398 w 4653"/>
              <a:gd name="T3" fmla="*/ 0 h 4322"/>
              <a:gd name="T4" fmla="*/ 0 w 4653"/>
              <a:gd name="T5" fmla="*/ 4149 h 4322"/>
              <a:gd name="T6" fmla="*/ 100 w 4653"/>
              <a:gd name="T7" fmla="*/ 4322 h 4322"/>
              <a:gd name="T8" fmla="*/ 4653 w 4653"/>
              <a:gd name="T9" fmla="*/ 4322 h 4322"/>
              <a:gd name="T10" fmla="*/ 4653 w 4653"/>
              <a:gd name="T11" fmla="*/ 0 h 4322"/>
              <a:gd name="connsiteX0" fmla="*/ 10000 w 10000"/>
              <a:gd name="connsiteY0" fmla="*/ 0 h 10000"/>
              <a:gd name="connsiteX1" fmla="*/ 4967 w 10000"/>
              <a:gd name="connsiteY1" fmla="*/ 0 h 10000"/>
              <a:gd name="connsiteX2" fmla="*/ 0 w 10000"/>
              <a:gd name="connsiteY2" fmla="*/ 9600 h 10000"/>
              <a:gd name="connsiteX3" fmla="*/ 215 w 10000"/>
              <a:gd name="connsiteY3" fmla="*/ 10000 h 10000"/>
              <a:gd name="connsiteX4" fmla="*/ 10000 w 10000"/>
              <a:gd name="connsiteY4" fmla="*/ 10000 h 10000"/>
              <a:gd name="connsiteX5" fmla="*/ 10000 w 10000"/>
              <a:gd name="connsiteY5" fmla="*/ 0 h 10000"/>
              <a:gd name="connsiteX0-1" fmla="*/ 10000 w 10000"/>
              <a:gd name="connsiteY0-2" fmla="*/ 0 h 10000"/>
              <a:gd name="connsiteX1-3" fmla="*/ 4712 w 10000"/>
              <a:gd name="connsiteY1-4" fmla="*/ 0 h 10000"/>
              <a:gd name="connsiteX2-5" fmla="*/ 0 w 10000"/>
              <a:gd name="connsiteY2-6" fmla="*/ 9600 h 10000"/>
              <a:gd name="connsiteX3-7" fmla="*/ 215 w 10000"/>
              <a:gd name="connsiteY3-8" fmla="*/ 10000 h 10000"/>
              <a:gd name="connsiteX4-9" fmla="*/ 10000 w 10000"/>
              <a:gd name="connsiteY4-10" fmla="*/ 10000 h 10000"/>
              <a:gd name="connsiteX5-11" fmla="*/ 10000 w 10000"/>
              <a:gd name="connsiteY5-12" fmla="*/ 0 h 10000"/>
              <a:gd name="connsiteX0-13" fmla="*/ 10000 w 10000"/>
              <a:gd name="connsiteY0-14" fmla="*/ 0 h 10000"/>
              <a:gd name="connsiteX1-15" fmla="*/ 4464 w 10000"/>
              <a:gd name="connsiteY1-16" fmla="*/ 0 h 10000"/>
              <a:gd name="connsiteX2-17" fmla="*/ 0 w 10000"/>
              <a:gd name="connsiteY2-18" fmla="*/ 9600 h 10000"/>
              <a:gd name="connsiteX3-19" fmla="*/ 215 w 10000"/>
              <a:gd name="connsiteY3-20" fmla="*/ 10000 h 10000"/>
              <a:gd name="connsiteX4-21" fmla="*/ 10000 w 10000"/>
              <a:gd name="connsiteY4-22" fmla="*/ 10000 h 10000"/>
              <a:gd name="connsiteX5-23" fmla="*/ 10000 w 10000"/>
              <a:gd name="connsiteY5-24" fmla="*/ 0 h 10000"/>
              <a:gd name="connsiteX0-25" fmla="*/ 10000 w 10000"/>
              <a:gd name="connsiteY0-26" fmla="*/ 19 h 10019"/>
              <a:gd name="connsiteX1-27" fmla="*/ 4501 w 10000"/>
              <a:gd name="connsiteY1-28" fmla="*/ 0 h 10019"/>
              <a:gd name="connsiteX2-29" fmla="*/ 0 w 10000"/>
              <a:gd name="connsiteY2-30" fmla="*/ 9619 h 10019"/>
              <a:gd name="connsiteX3-31" fmla="*/ 215 w 10000"/>
              <a:gd name="connsiteY3-32" fmla="*/ 10019 h 10019"/>
              <a:gd name="connsiteX4-33" fmla="*/ 10000 w 10000"/>
              <a:gd name="connsiteY4-34" fmla="*/ 10019 h 10019"/>
              <a:gd name="connsiteX5-35" fmla="*/ 10000 w 10000"/>
              <a:gd name="connsiteY5-36" fmla="*/ 19 h 1001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000" h="10019">
                <a:moveTo>
                  <a:pt x="10000" y="19"/>
                </a:moveTo>
                <a:lnTo>
                  <a:pt x="4501" y="0"/>
                </a:lnTo>
                <a:cubicBezTo>
                  <a:pt x="2930" y="3200"/>
                  <a:pt x="1571" y="6419"/>
                  <a:pt x="0" y="9619"/>
                </a:cubicBezTo>
                <a:cubicBezTo>
                  <a:pt x="72" y="9752"/>
                  <a:pt x="143" y="9886"/>
                  <a:pt x="215" y="10019"/>
                </a:cubicBezTo>
                <a:lnTo>
                  <a:pt x="10000" y="10019"/>
                </a:lnTo>
                <a:lnTo>
                  <a:pt x="10000" y="19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2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ea typeface="思源黑体" panose="020B0500000000000000" pitchFamily="34" charset="-122"/>
            </a:endParaRPr>
          </a:p>
        </p:txBody>
      </p:sp>
      <p:sp>
        <p:nvSpPr>
          <p:cNvPr id="9" name="123"/>
          <p:cNvSpPr/>
          <p:nvPr userDrawn="1">
            <p:custDataLst>
              <p:tags r:id="rId4"/>
            </p:custDataLst>
          </p:nvPr>
        </p:nvSpPr>
        <p:spPr>
          <a:xfrm>
            <a:off x="11153505" y="5897007"/>
            <a:ext cx="609166" cy="609166"/>
          </a:xfrm>
          <a:prstGeom prst="ellipse">
            <a:avLst/>
          </a:prstGeom>
          <a:solidFill>
            <a:srgbClr val="062C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思源黑体" panose="020B0500000000000000" pitchFamily="34" charset="-122"/>
              <a:cs typeface="+mn-cs"/>
            </a:endParaRPr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3677174" y="5132000"/>
            <a:ext cx="3461275" cy="1726000"/>
            <a:chOff x="3471021" y="4985765"/>
            <a:chExt cx="2750572" cy="1872236"/>
          </a:xfrm>
        </p:grpSpPr>
        <p:sp>
          <p:nvSpPr>
            <p:cNvPr id="14" name="任意多边形: 形状 68"/>
            <p:cNvSpPr/>
            <p:nvPr/>
          </p:nvSpPr>
          <p:spPr>
            <a:xfrm>
              <a:off x="3471021" y="5617900"/>
              <a:ext cx="2750572" cy="1240101"/>
            </a:xfrm>
            <a:custGeom>
              <a:avLst/>
              <a:gdLst>
                <a:gd name="connsiteX0" fmla="*/ 688066 w 2750572"/>
                <a:gd name="connsiteY0" fmla="*/ 0 h 1240101"/>
                <a:gd name="connsiteX1" fmla="*/ 2062507 w 2750572"/>
                <a:gd name="connsiteY1" fmla="*/ 0 h 1240101"/>
                <a:gd name="connsiteX2" fmla="*/ 2750572 w 2750572"/>
                <a:gd name="connsiteY2" fmla="*/ 1186787 h 1240101"/>
                <a:gd name="connsiteX3" fmla="*/ 2719750 w 2750572"/>
                <a:gd name="connsiteY3" fmla="*/ 1240101 h 1240101"/>
                <a:gd name="connsiteX4" fmla="*/ 30822 w 2750572"/>
                <a:gd name="connsiteY4" fmla="*/ 1240101 h 1240101"/>
                <a:gd name="connsiteX5" fmla="*/ 0 w 2750572"/>
                <a:gd name="connsiteY5" fmla="*/ 1186787 h 1240101"/>
                <a:gd name="connsiteX6" fmla="*/ 688066 w 2750572"/>
                <a:gd name="connsiteY6" fmla="*/ 0 h 1240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50572" h="1240101">
                  <a:moveTo>
                    <a:pt x="688066" y="0"/>
                  </a:moveTo>
                  <a:lnTo>
                    <a:pt x="2062507" y="0"/>
                  </a:lnTo>
                  <a:lnTo>
                    <a:pt x="2750572" y="1186787"/>
                  </a:lnTo>
                  <a:lnTo>
                    <a:pt x="2719750" y="1240101"/>
                  </a:lnTo>
                  <a:lnTo>
                    <a:pt x="30822" y="1240101"/>
                  </a:lnTo>
                  <a:lnTo>
                    <a:pt x="0" y="1186787"/>
                  </a:lnTo>
                  <a:lnTo>
                    <a:pt x="688066" y="0"/>
                  </a:lnTo>
                  <a:close/>
                </a:path>
              </a:pathLst>
            </a:custGeom>
            <a:solidFill>
              <a:srgbClr val="7CBEE0">
                <a:alpha val="16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ea typeface="思源黑体" panose="020B0500000000000000" pitchFamily="34" charset="-122"/>
              </a:endParaRPr>
            </a:p>
          </p:txBody>
        </p:sp>
        <p:sp>
          <p:nvSpPr>
            <p:cNvPr id="15" name="Freeform 21"/>
            <p:cNvSpPr/>
            <p:nvPr/>
          </p:nvSpPr>
          <p:spPr bwMode="auto">
            <a:xfrm>
              <a:off x="3558108" y="4985765"/>
              <a:ext cx="1042922" cy="1142742"/>
            </a:xfrm>
            <a:custGeom>
              <a:avLst/>
              <a:gdLst>
                <a:gd name="T0" fmla="*/ 1220 w 1627"/>
                <a:gd name="T1" fmla="*/ 0 h 1406"/>
                <a:gd name="T2" fmla="*/ 407 w 1627"/>
                <a:gd name="T3" fmla="*/ 0 h 1406"/>
                <a:gd name="T4" fmla="*/ 0 w 1627"/>
                <a:gd name="T5" fmla="*/ 702 h 1406"/>
                <a:gd name="T6" fmla="*/ 407 w 1627"/>
                <a:gd name="T7" fmla="*/ 1406 h 1406"/>
                <a:gd name="T8" fmla="*/ 1220 w 1627"/>
                <a:gd name="T9" fmla="*/ 1406 h 1406"/>
                <a:gd name="T10" fmla="*/ 1627 w 1627"/>
                <a:gd name="T11" fmla="*/ 702 h 1406"/>
                <a:gd name="T12" fmla="*/ 1220 w 1627"/>
                <a:gd name="T13" fmla="*/ 0 h 1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27" h="1406">
                  <a:moveTo>
                    <a:pt x="1220" y="0"/>
                  </a:moveTo>
                  <a:lnTo>
                    <a:pt x="407" y="0"/>
                  </a:lnTo>
                  <a:lnTo>
                    <a:pt x="0" y="702"/>
                  </a:lnTo>
                  <a:lnTo>
                    <a:pt x="407" y="1406"/>
                  </a:lnTo>
                  <a:lnTo>
                    <a:pt x="1220" y="1406"/>
                  </a:lnTo>
                  <a:lnTo>
                    <a:pt x="1627" y="702"/>
                  </a:lnTo>
                  <a:lnTo>
                    <a:pt x="1220" y="0"/>
                  </a:lnTo>
                  <a:close/>
                </a:path>
              </a:pathLst>
            </a:custGeom>
            <a:solidFill>
              <a:srgbClr val="CDE7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  <a:ea typeface="思源黑体" panose="020B0500000000000000" pitchFamily="34" charset="-122"/>
              </a:endParaRPr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>
            <a:off x="5099159" y="1068265"/>
            <a:ext cx="7092843" cy="5792337"/>
            <a:chOff x="5867893" y="1209154"/>
            <a:chExt cx="6324107" cy="5164552"/>
          </a:xfrm>
          <a:solidFill>
            <a:srgbClr val="3992DB"/>
          </a:solidFill>
        </p:grpSpPr>
        <p:sp>
          <p:nvSpPr>
            <p:cNvPr id="17" name="任意多边形: 形状 77"/>
            <p:cNvSpPr/>
            <p:nvPr/>
          </p:nvSpPr>
          <p:spPr>
            <a:xfrm>
              <a:off x="5867893" y="1209154"/>
              <a:ext cx="6324107" cy="5162148"/>
            </a:xfrm>
            <a:custGeom>
              <a:avLst/>
              <a:gdLst>
                <a:gd name="connsiteX0" fmla="*/ 2000762 w 6361051"/>
                <a:gd name="connsiteY0" fmla="*/ 0 h 5162148"/>
                <a:gd name="connsiteX1" fmla="*/ 6361051 w 6361051"/>
                <a:gd name="connsiteY1" fmla="*/ 0 h 5162148"/>
                <a:gd name="connsiteX2" fmla="*/ 6361051 w 6361051"/>
                <a:gd name="connsiteY2" fmla="*/ 5162148 h 5162148"/>
                <a:gd name="connsiteX3" fmla="*/ 1700885 w 6361051"/>
                <a:gd name="connsiteY3" fmla="*/ 5162148 h 5162148"/>
                <a:gd name="connsiteX4" fmla="*/ 0 w 6361051"/>
                <a:gd name="connsiteY4" fmla="*/ 2819888 h 5162148"/>
                <a:gd name="connsiteX5" fmla="*/ 2000762 w 6361051"/>
                <a:gd name="connsiteY5" fmla="*/ 0 h 5162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361051" h="5162148">
                  <a:moveTo>
                    <a:pt x="2000762" y="0"/>
                  </a:moveTo>
                  <a:lnTo>
                    <a:pt x="6361051" y="0"/>
                  </a:lnTo>
                  <a:lnTo>
                    <a:pt x="6361051" y="5162148"/>
                  </a:lnTo>
                  <a:lnTo>
                    <a:pt x="1700885" y="5162148"/>
                  </a:lnTo>
                  <a:lnTo>
                    <a:pt x="0" y="2819888"/>
                  </a:lnTo>
                  <a:lnTo>
                    <a:pt x="200076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ea typeface="思源黑体" panose="020B0500000000000000" pitchFamily="34" charset="-122"/>
              </a:endParaRPr>
            </a:p>
          </p:txBody>
        </p:sp>
        <p:sp>
          <p:nvSpPr>
            <p:cNvPr id="18" name="任意多边形: 形状 79"/>
            <p:cNvSpPr/>
            <p:nvPr/>
          </p:nvSpPr>
          <p:spPr>
            <a:xfrm>
              <a:off x="9811247" y="4441668"/>
              <a:ext cx="2380752" cy="1932038"/>
            </a:xfrm>
            <a:custGeom>
              <a:avLst/>
              <a:gdLst>
                <a:gd name="connsiteX0" fmla="*/ 2000762 w 6361051"/>
                <a:gd name="connsiteY0" fmla="*/ 0 h 5162148"/>
                <a:gd name="connsiteX1" fmla="*/ 6361051 w 6361051"/>
                <a:gd name="connsiteY1" fmla="*/ 0 h 5162148"/>
                <a:gd name="connsiteX2" fmla="*/ 6361051 w 6361051"/>
                <a:gd name="connsiteY2" fmla="*/ 5162148 h 5162148"/>
                <a:gd name="connsiteX3" fmla="*/ 1700885 w 6361051"/>
                <a:gd name="connsiteY3" fmla="*/ 5162148 h 5162148"/>
                <a:gd name="connsiteX4" fmla="*/ 0 w 6361051"/>
                <a:gd name="connsiteY4" fmla="*/ 2819888 h 5162148"/>
                <a:gd name="connsiteX5" fmla="*/ 2000762 w 6361051"/>
                <a:gd name="connsiteY5" fmla="*/ 0 h 5162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361051" h="5162148">
                  <a:moveTo>
                    <a:pt x="2000762" y="0"/>
                  </a:moveTo>
                  <a:lnTo>
                    <a:pt x="6361051" y="0"/>
                  </a:lnTo>
                  <a:lnTo>
                    <a:pt x="6361051" y="5162148"/>
                  </a:lnTo>
                  <a:lnTo>
                    <a:pt x="1700885" y="5162148"/>
                  </a:lnTo>
                  <a:lnTo>
                    <a:pt x="0" y="2819888"/>
                  </a:lnTo>
                  <a:lnTo>
                    <a:pt x="200076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ea typeface="思源黑体" panose="020B0500000000000000" pitchFamily="34" charset="-122"/>
              </a:endParaRPr>
            </a:p>
          </p:txBody>
        </p:sp>
      </p:grpSp>
      <p:grpSp>
        <p:nvGrpSpPr>
          <p:cNvPr id="23" name="组合 22"/>
          <p:cNvGrpSpPr/>
          <p:nvPr userDrawn="1"/>
        </p:nvGrpSpPr>
        <p:grpSpPr>
          <a:xfrm>
            <a:off x="0" y="4060494"/>
            <a:ext cx="3028950" cy="2797506"/>
            <a:chOff x="0" y="3609283"/>
            <a:chExt cx="3097161" cy="3248717"/>
          </a:xfrm>
        </p:grpSpPr>
        <p:sp>
          <p:nvSpPr>
            <p:cNvPr id="24" name="任意多边形: 形状 35"/>
            <p:cNvSpPr/>
            <p:nvPr/>
          </p:nvSpPr>
          <p:spPr>
            <a:xfrm>
              <a:off x="0" y="3609283"/>
              <a:ext cx="3097161" cy="3248717"/>
            </a:xfrm>
            <a:custGeom>
              <a:avLst/>
              <a:gdLst>
                <a:gd name="connsiteX0" fmla="*/ 0 w 3097161"/>
                <a:gd name="connsiteY0" fmla="*/ 0 h 3248717"/>
                <a:gd name="connsiteX1" fmla="*/ 1807845 w 3097161"/>
                <a:gd name="connsiteY1" fmla="*/ 0 h 3248717"/>
                <a:gd name="connsiteX2" fmla="*/ 3097161 w 3097161"/>
                <a:gd name="connsiteY2" fmla="*/ 2230611 h 3248717"/>
                <a:gd name="connsiteX3" fmla="*/ 2508869 w 3097161"/>
                <a:gd name="connsiteY3" fmla="*/ 3248717 h 3248717"/>
                <a:gd name="connsiteX4" fmla="*/ 0 w 3097161"/>
                <a:gd name="connsiteY4" fmla="*/ 3248717 h 3248717"/>
                <a:gd name="connsiteX5" fmla="*/ 0 w 3097161"/>
                <a:gd name="connsiteY5" fmla="*/ 0 h 3248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97161" h="3248717">
                  <a:moveTo>
                    <a:pt x="0" y="0"/>
                  </a:moveTo>
                  <a:lnTo>
                    <a:pt x="1807845" y="0"/>
                  </a:lnTo>
                  <a:lnTo>
                    <a:pt x="3097161" y="2230611"/>
                  </a:lnTo>
                  <a:lnTo>
                    <a:pt x="2508869" y="3248717"/>
                  </a:lnTo>
                  <a:lnTo>
                    <a:pt x="0" y="32487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思源黑体" panose="020B0500000000000000" pitchFamily="34" charset="-122"/>
              </a:endParaRPr>
            </a:p>
          </p:txBody>
        </p:sp>
        <p:sp>
          <p:nvSpPr>
            <p:cNvPr id="25" name="Freeform 11"/>
            <p:cNvSpPr/>
            <p:nvPr/>
          </p:nvSpPr>
          <p:spPr bwMode="auto">
            <a:xfrm>
              <a:off x="0" y="3995737"/>
              <a:ext cx="2105025" cy="2862263"/>
            </a:xfrm>
            <a:custGeom>
              <a:avLst/>
              <a:gdLst>
                <a:gd name="T0" fmla="*/ 774 w 1326"/>
                <a:gd name="T1" fmla="*/ 0 h 1803"/>
                <a:gd name="T2" fmla="*/ 0 w 1326"/>
                <a:gd name="T3" fmla="*/ 0 h 1803"/>
                <a:gd name="T4" fmla="*/ 0 w 1326"/>
                <a:gd name="T5" fmla="*/ 1803 h 1803"/>
                <a:gd name="T6" fmla="*/ 836 w 1326"/>
                <a:gd name="T7" fmla="*/ 1803 h 1803"/>
                <a:gd name="T8" fmla="*/ 1326 w 1326"/>
                <a:gd name="T9" fmla="*/ 955 h 1803"/>
                <a:gd name="T10" fmla="*/ 774 w 1326"/>
                <a:gd name="T11" fmla="*/ 0 h 18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26" h="1803">
                  <a:moveTo>
                    <a:pt x="774" y="0"/>
                  </a:moveTo>
                  <a:lnTo>
                    <a:pt x="0" y="0"/>
                  </a:lnTo>
                  <a:lnTo>
                    <a:pt x="0" y="1803"/>
                  </a:lnTo>
                  <a:lnTo>
                    <a:pt x="836" y="1803"/>
                  </a:lnTo>
                  <a:lnTo>
                    <a:pt x="1326" y="955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accent1">
                <a:alpha val="42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思源黑体" panose="020B0500000000000000" pitchFamily="34" charset="-122"/>
              </a:endParaRPr>
            </a:p>
          </p:txBody>
        </p:sp>
      </p:grpSp>
      <p:pic>
        <p:nvPicPr>
          <p:cNvPr id="19" name="图片 18"/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568" t="268" r="259" b="91725"/>
          <a:stretch>
            <a:fillRect/>
          </a:stretch>
        </p:blipFill>
        <p:spPr>
          <a:xfrm>
            <a:off x="9732579" y="41394"/>
            <a:ext cx="2459421" cy="549112"/>
          </a:xfrm>
          <a:prstGeom prst="rect">
            <a:avLst/>
          </a:prstGeom>
        </p:spPr>
      </p:pic>
    </p:spTree>
    <p:custDataLst>
      <p:tags r:id="rId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6" fill="hold" nodeType="withEffect" p14:presetBounceEnd="36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6000">
                                          <p:cBhvr additive="base">
                                            <p:cTn id="7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6000">
                                          <p:cBhvr additive="base">
                                            <p:cTn id="8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6" fill="hold" grpId="0" nodeType="withEffect" p14:presetBounceEnd="36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6000">
                                          <p:cBhvr additive="base">
                                            <p:cTn id="11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6000">
                                          <p:cBhvr additive="base">
                                            <p:cTn id="12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fill="hold" nodeType="withEffect" p14:presetBounceEnd="46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6000">
                                          <p:cBhvr additive="base">
                                            <p:cTn id="15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6000">
                                          <p:cBhvr additive="base">
                                            <p:cTn id="16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2" fill="hold" nodeType="with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19" dur="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20" dur="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" grpId="0" animBg="1"/>
        </p:bldLst>
      </p:timing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15.xml"/><Relationship Id="rId13" Type="http://schemas.openxmlformats.org/officeDocument/2006/relationships/slideLayout" Target="../slideLayouts/slideLayout7.xml"/><Relationship Id="rId3" Type="http://schemas.openxmlformats.org/officeDocument/2006/relationships/tags" Target="../tags/tag10.xml"/><Relationship Id="rId7" Type="http://schemas.openxmlformats.org/officeDocument/2006/relationships/tags" Target="../tags/tag14.xml"/><Relationship Id="rId12" Type="http://schemas.openxmlformats.org/officeDocument/2006/relationships/tags" Target="../tags/tag19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11" Type="http://schemas.openxmlformats.org/officeDocument/2006/relationships/tags" Target="../tags/tag18.xml"/><Relationship Id="rId5" Type="http://schemas.openxmlformats.org/officeDocument/2006/relationships/tags" Target="../tags/tag12.xml"/><Relationship Id="rId15" Type="http://schemas.microsoft.com/office/2007/relationships/hdphoto" Target="../media/hdphoto1.wdp"/><Relationship Id="rId10" Type="http://schemas.openxmlformats.org/officeDocument/2006/relationships/tags" Target="../tags/tag17.xml"/><Relationship Id="rId4" Type="http://schemas.openxmlformats.org/officeDocument/2006/relationships/tags" Target="../tags/tag11.xml"/><Relationship Id="rId9" Type="http://schemas.openxmlformats.org/officeDocument/2006/relationships/tags" Target="../tags/tag16.xml"/><Relationship Id="rId1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27.xml"/><Relationship Id="rId13" Type="http://schemas.openxmlformats.org/officeDocument/2006/relationships/slideLayout" Target="../slideLayouts/slideLayout7.xml"/><Relationship Id="rId3" Type="http://schemas.openxmlformats.org/officeDocument/2006/relationships/tags" Target="../tags/tag22.xml"/><Relationship Id="rId7" Type="http://schemas.openxmlformats.org/officeDocument/2006/relationships/tags" Target="../tags/tag26.xml"/><Relationship Id="rId12" Type="http://schemas.openxmlformats.org/officeDocument/2006/relationships/tags" Target="../tags/tag31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11" Type="http://schemas.openxmlformats.org/officeDocument/2006/relationships/tags" Target="../tags/tag30.xml"/><Relationship Id="rId5" Type="http://schemas.openxmlformats.org/officeDocument/2006/relationships/tags" Target="../tags/tag24.xml"/><Relationship Id="rId15" Type="http://schemas.microsoft.com/office/2007/relationships/hdphoto" Target="../media/hdphoto1.wdp"/><Relationship Id="rId10" Type="http://schemas.openxmlformats.org/officeDocument/2006/relationships/tags" Target="../tags/tag29.xml"/><Relationship Id="rId4" Type="http://schemas.openxmlformats.org/officeDocument/2006/relationships/tags" Target="../tags/tag23.xml"/><Relationship Id="rId9" Type="http://schemas.openxmlformats.org/officeDocument/2006/relationships/tags" Target="../tags/tag28.xml"/><Relationship Id="rId1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tags" Target="../tags/tag39.xml"/><Relationship Id="rId13" Type="http://schemas.openxmlformats.org/officeDocument/2006/relationships/slideLayout" Target="../slideLayouts/slideLayout7.xml"/><Relationship Id="rId3" Type="http://schemas.openxmlformats.org/officeDocument/2006/relationships/tags" Target="../tags/tag34.xml"/><Relationship Id="rId7" Type="http://schemas.openxmlformats.org/officeDocument/2006/relationships/tags" Target="../tags/tag38.xml"/><Relationship Id="rId12" Type="http://schemas.openxmlformats.org/officeDocument/2006/relationships/tags" Target="../tags/tag43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tags" Target="../tags/tag37.xml"/><Relationship Id="rId11" Type="http://schemas.openxmlformats.org/officeDocument/2006/relationships/tags" Target="../tags/tag42.xml"/><Relationship Id="rId5" Type="http://schemas.openxmlformats.org/officeDocument/2006/relationships/tags" Target="../tags/tag36.xml"/><Relationship Id="rId15" Type="http://schemas.microsoft.com/office/2007/relationships/hdphoto" Target="../media/hdphoto1.wdp"/><Relationship Id="rId10" Type="http://schemas.openxmlformats.org/officeDocument/2006/relationships/tags" Target="../tags/tag41.xml"/><Relationship Id="rId4" Type="http://schemas.openxmlformats.org/officeDocument/2006/relationships/tags" Target="../tags/tag35.xml"/><Relationship Id="rId9" Type="http://schemas.openxmlformats.org/officeDocument/2006/relationships/tags" Target="../tags/tag40.xml"/><Relationship Id="rId14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tags" Target="../tags/tag51.xml"/><Relationship Id="rId13" Type="http://schemas.openxmlformats.org/officeDocument/2006/relationships/slideLayout" Target="../slideLayouts/slideLayout7.xml"/><Relationship Id="rId3" Type="http://schemas.openxmlformats.org/officeDocument/2006/relationships/tags" Target="../tags/tag46.xml"/><Relationship Id="rId7" Type="http://schemas.openxmlformats.org/officeDocument/2006/relationships/tags" Target="../tags/tag50.xml"/><Relationship Id="rId12" Type="http://schemas.openxmlformats.org/officeDocument/2006/relationships/tags" Target="../tags/tag55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11" Type="http://schemas.openxmlformats.org/officeDocument/2006/relationships/tags" Target="../tags/tag54.xml"/><Relationship Id="rId5" Type="http://schemas.openxmlformats.org/officeDocument/2006/relationships/tags" Target="../tags/tag48.xml"/><Relationship Id="rId15" Type="http://schemas.microsoft.com/office/2007/relationships/hdphoto" Target="../media/hdphoto1.wdp"/><Relationship Id="rId10" Type="http://schemas.openxmlformats.org/officeDocument/2006/relationships/tags" Target="../tags/tag53.xml"/><Relationship Id="rId4" Type="http://schemas.openxmlformats.org/officeDocument/2006/relationships/tags" Target="../tags/tag47.xml"/><Relationship Id="rId9" Type="http://schemas.openxmlformats.org/officeDocument/2006/relationships/tags" Target="../tags/tag52.xml"/><Relationship Id="rId14" Type="http://schemas.openxmlformats.org/officeDocument/2006/relationships/image" Target="../media/image1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334EAAE-EA6E-0C78-499B-AEFCDEE1C8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3269" y="2381196"/>
            <a:ext cx="2165461" cy="20956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123"/>
          <p:cNvSpPr/>
          <p:nvPr>
            <p:custDataLst>
              <p:tags r:id="rId1"/>
            </p:custDataLst>
          </p:nvPr>
        </p:nvSpPr>
        <p:spPr>
          <a:xfrm>
            <a:off x="6050942" y="2541837"/>
            <a:ext cx="5394610" cy="906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en-US" altLang="zh-CN" sz="4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Android</a:t>
            </a:r>
            <a:r>
              <a:rPr lang="zh-CN" altLang="en-US" sz="4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启动优化</a:t>
            </a:r>
            <a:endParaRPr kumimoji="0" lang="zh-CN" altLang="en-US" sz="40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ea"/>
              <a:ea typeface="+mj-ea"/>
              <a:cs typeface="OPPOSans B" panose="00020600040101010101" pitchFamily="18" charset="-122"/>
              <a:sym typeface="思源黑体" panose="020B0500000000000000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820539" y="3862705"/>
            <a:ext cx="2749161" cy="18846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2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思源黑体" panose="020B0500000000000000" pitchFamily="34" charset="-122"/>
              </a:rPr>
              <a:t>部门：座舱软件二部</a:t>
            </a: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2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思源黑体" panose="020B0500000000000000" pitchFamily="34" charset="-122"/>
              </a:rPr>
              <a:t>讲师：薛翔宇</a:t>
            </a:r>
            <a:endParaRPr lang="en-US" altLang="zh-CN" sz="2000" b="1" dirty="0">
              <a:solidFill>
                <a:schemeClr val="bg2"/>
              </a:solidFill>
              <a:latin typeface="思源黑体" panose="020B0500000000000000" pitchFamily="34" charset="-122"/>
              <a:ea typeface="思源黑体" panose="020B0500000000000000" pitchFamily="34" charset="-122"/>
              <a:cs typeface="思源黑体" panose="020B05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2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思源黑体" panose="020B0500000000000000" pitchFamily="34" charset="-122"/>
              </a:rPr>
              <a:t>版本：</a:t>
            </a:r>
            <a:r>
              <a:rPr lang="en-US" altLang="zh-CN" sz="2000" b="1" dirty="0">
                <a:solidFill>
                  <a:schemeClr val="bg2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思源黑体" panose="020B0500000000000000" pitchFamily="34" charset="-122"/>
              </a:rPr>
              <a:t>V1.0</a:t>
            </a: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2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思源黑体" panose="020B0500000000000000" pitchFamily="34" charset="-122"/>
              </a:rPr>
              <a:t>日期：</a:t>
            </a:r>
            <a:r>
              <a:rPr lang="en-US" altLang="zh-CN" sz="2000" b="1" dirty="0">
                <a:solidFill>
                  <a:schemeClr val="bg2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思源黑体" panose="020B0500000000000000" pitchFamily="34" charset="-122"/>
              </a:rPr>
              <a:t>20250928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/>
          <p:cNvSpPr/>
          <p:nvPr/>
        </p:nvSpPr>
        <p:spPr>
          <a:xfrm>
            <a:off x="340360" y="273050"/>
            <a:ext cx="6891655" cy="6451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l"/>
            <a:r>
              <a:rPr lang="zh-CN" altLang="en-US" sz="3600" b="1" dirty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+mn-ea"/>
              </a:rPr>
              <a:t>修订履历 </a:t>
            </a:r>
            <a:endParaRPr lang="zh-CN" altLang="en-US" sz="3600" b="1" cap="none" spc="0" dirty="0">
              <a:ln w="9525">
                <a:noFill/>
                <a:prstDash val="solid"/>
              </a:ln>
              <a:solidFill>
                <a:schemeClr val="accent5">
                  <a:lumMod val="75000"/>
                </a:schemeClr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9108771" y="5142372"/>
            <a:ext cx="3083229" cy="1715628"/>
            <a:chOff x="3909171" y="5101626"/>
            <a:chExt cx="2312422" cy="1756375"/>
          </a:xfrm>
        </p:grpSpPr>
        <p:sp>
          <p:nvSpPr>
            <p:cNvPr id="34" name="任意多边形: 形状 14"/>
            <p:cNvSpPr/>
            <p:nvPr/>
          </p:nvSpPr>
          <p:spPr>
            <a:xfrm>
              <a:off x="3909171" y="5617900"/>
              <a:ext cx="2312422" cy="1240101"/>
            </a:xfrm>
            <a:custGeom>
              <a:avLst/>
              <a:gdLst>
                <a:gd name="connsiteX0" fmla="*/ 688066 w 2750572"/>
                <a:gd name="connsiteY0" fmla="*/ 0 h 1240101"/>
                <a:gd name="connsiteX1" fmla="*/ 2062507 w 2750572"/>
                <a:gd name="connsiteY1" fmla="*/ 0 h 1240101"/>
                <a:gd name="connsiteX2" fmla="*/ 2750572 w 2750572"/>
                <a:gd name="connsiteY2" fmla="*/ 1186787 h 1240101"/>
                <a:gd name="connsiteX3" fmla="*/ 2719750 w 2750572"/>
                <a:gd name="connsiteY3" fmla="*/ 1240101 h 1240101"/>
                <a:gd name="connsiteX4" fmla="*/ 30822 w 2750572"/>
                <a:gd name="connsiteY4" fmla="*/ 1240101 h 1240101"/>
                <a:gd name="connsiteX5" fmla="*/ 0 w 2750572"/>
                <a:gd name="connsiteY5" fmla="*/ 1186787 h 1240101"/>
                <a:gd name="connsiteX6" fmla="*/ 688066 w 2750572"/>
                <a:gd name="connsiteY6" fmla="*/ 0 h 1240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50572" h="1240101">
                  <a:moveTo>
                    <a:pt x="688066" y="0"/>
                  </a:moveTo>
                  <a:lnTo>
                    <a:pt x="2062507" y="0"/>
                  </a:lnTo>
                  <a:lnTo>
                    <a:pt x="2750572" y="1186787"/>
                  </a:lnTo>
                  <a:lnTo>
                    <a:pt x="2719750" y="1240101"/>
                  </a:lnTo>
                  <a:lnTo>
                    <a:pt x="30822" y="1240101"/>
                  </a:lnTo>
                  <a:lnTo>
                    <a:pt x="0" y="1186787"/>
                  </a:lnTo>
                  <a:lnTo>
                    <a:pt x="688066" y="0"/>
                  </a:lnTo>
                  <a:close/>
                </a:path>
              </a:pathLst>
            </a:custGeom>
            <a:solidFill>
              <a:schemeClr val="accent1">
                <a:alpha val="1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5" name="Freeform 21"/>
            <p:cNvSpPr/>
            <p:nvPr/>
          </p:nvSpPr>
          <p:spPr bwMode="auto">
            <a:xfrm>
              <a:off x="4021319" y="5101626"/>
              <a:ext cx="866775" cy="1026882"/>
            </a:xfrm>
            <a:custGeom>
              <a:avLst/>
              <a:gdLst>
                <a:gd name="T0" fmla="*/ 1220 w 1627"/>
                <a:gd name="T1" fmla="*/ 0 h 1406"/>
                <a:gd name="T2" fmla="*/ 407 w 1627"/>
                <a:gd name="T3" fmla="*/ 0 h 1406"/>
                <a:gd name="T4" fmla="*/ 0 w 1627"/>
                <a:gd name="T5" fmla="*/ 702 h 1406"/>
                <a:gd name="T6" fmla="*/ 407 w 1627"/>
                <a:gd name="T7" fmla="*/ 1406 h 1406"/>
                <a:gd name="T8" fmla="*/ 1220 w 1627"/>
                <a:gd name="T9" fmla="*/ 1406 h 1406"/>
                <a:gd name="T10" fmla="*/ 1627 w 1627"/>
                <a:gd name="T11" fmla="*/ 702 h 1406"/>
                <a:gd name="T12" fmla="*/ 1220 w 1627"/>
                <a:gd name="T13" fmla="*/ 0 h 1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27" h="1406">
                  <a:moveTo>
                    <a:pt x="1220" y="0"/>
                  </a:moveTo>
                  <a:lnTo>
                    <a:pt x="407" y="0"/>
                  </a:lnTo>
                  <a:lnTo>
                    <a:pt x="0" y="702"/>
                  </a:lnTo>
                  <a:lnTo>
                    <a:pt x="407" y="1406"/>
                  </a:lnTo>
                  <a:lnTo>
                    <a:pt x="1220" y="1406"/>
                  </a:lnTo>
                  <a:lnTo>
                    <a:pt x="1627" y="702"/>
                  </a:lnTo>
                  <a:lnTo>
                    <a:pt x="1220" y="0"/>
                  </a:lnTo>
                  <a:close/>
                </a:path>
              </a:pathLst>
            </a:custGeom>
            <a:solidFill>
              <a:schemeClr val="accent1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</p:grpSp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78393878"/>
              </p:ext>
            </p:extLst>
          </p:nvPr>
        </p:nvGraphicFramePr>
        <p:xfrm>
          <a:off x="800100" y="1037590"/>
          <a:ext cx="10276840" cy="4813300"/>
        </p:xfrm>
        <a:graphic>
          <a:graphicData uri="http://schemas.openxmlformats.org/drawingml/2006/table">
            <a:tbl>
              <a:tblPr/>
              <a:tblGrid>
                <a:gridCol w="24523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7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888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36625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文档修订记录</a:t>
                      </a:r>
                      <a:endParaRPr lang="en-US" altLang="zh-CN" sz="1800" b="1" i="0" u="none" strike="noStrike" dirty="0">
                        <a:solidFill>
                          <a:srgbClr val="000000"/>
                        </a:solidFill>
                        <a:effectLst/>
                        <a:latin typeface="思源黑体" panose="020B0500000000000000" pitchFamily="34" charset="-122"/>
                        <a:ea typeface="思源黑体" panose="020B0500000000000000" pitchFamily="34" charset="-122"/>
                      </a:endParaRPr>
                    </a:p>
                    <a:p>
                      <a:pPr algn="ctr" fontAlgn="ctr"/>
                      <a:r>
                        <a:rPr lang="en-US" altLang="zh-C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Document Change history</a:t>
                      </a:r>
                      <a:endParaRPr lang="zh-CN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思源黑体" panose="020B0500000000000000" pitchFamily="34" charset="-122"/>
                        <a:ea typeface="思源黑体" panose="020B0500000000000000" pitchFamily="34" charset="-122"/>
                      </a:endParaRPr>
                    </a:p>
                  </a:txBody>
                  <a:tcPr marL="8917" marR="8917" marT="89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文档版本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思源黑体" panose="020B0500000000000000" pitchFamily="34" charset="-122"/>
                        <a:ea typeface="思源黑体" panose="020B0500000000000000" pitchFamily="34" charset="-122"/>
                      </a:endParaRPr>
                    </a:p>
                    <a:p>
                      <a:pPr algn="ctr" fontAlgn="ctr"/>
                      <a:r>
                        <a:rPr lang="en-US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Version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思源黑体" panose="020B0500000000000000" pitchFamily="34" charset="-122"/>
                        <a:ea typeface="思源黑体" panose="020B0500000000000000" pitchFamily="34" charset="-122"/>
                      </a:endParaRPr>
                    </a:p>
                  </a:txBody>
                  <a:tcPr marL="8917" marR="8917" marT="89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修订人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思源黑体" panose="020B0500000000000000" pitchFamily="34" charset="-122"/>
                        <a:ea typeface="思源黑体" panose="020B0500000000000000" pitchFamily="34" charset="-122"/>
                      </a:endParaRPr>
                    </a:p>
                    <a:p>
                      <a:pPr algn="ctr" fontAlgn="ctr"/>
                      <a:r>
                        <a:rPr lang="en-US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Author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思源黑体" panose="020B0500000000000000" pitchFamily="34" charset="-122"/>
                        <a:ea typeface="思源黑体" panose="020B0500000000000000" pitchFamily="34" charset="-122"/>
                      </a:endParaRPr>
                    </a:p>
                  </a:txBody>
                  <a:tcPr marL="8917" marR="8917" marT="89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修订日期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思源黑体" panose="020B0500000000000000" pitchFamily="34" charset="-122"/>
                        <a:ea typeface="思源黑体" panose="020B0500000000000000" pitchFamily="34" charset="-122"/>
                      </a:endParaRPr>
                    </a:p>
                    <a:p>
                      <a:pPr algn="ctr" fontAlgn="ctr"/>
                      <a:r>
                        <a:rPr lang="en-US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Change date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思源黑体" panose="020B0500000000000000" pitchFamily="34" charset="-122"/>
                        <a:ea typeface="思源黑体" panose="020B0500000000000000" pitchFamily="34" charset="-122"/>
                      </a:endParaRPr>
                    </a:p>
                  </a:txBody>
                  <a:tcPr marL="8917" marR="8917" marT="89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修订描述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思源黑体" panose="020B0500000000000000" pitchFamily="34" charset="-122"/>
                        <a:ea typeface="思源黑体" panose="020B0500000000000000" pitchFamily="34" charset="-122"/>
                      </a:endParaRPr>
                    </a:p>
                    <a:p>
                      <a:pPr algn="ctr" fontAlgn="ctr"/>
                      <a:r>
                        <a:rPr lang="en-US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Change description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思源黑体" panose="020B0500000000000000" pitchFamily="34" charset="-122"/>
                        <a:ea typeface="思源黑体" panose="020B0500000000000000" pitchFamily="34" charset="-122"/>
                      </a:endParaRPr>
                    </a:p>
                  </a:txBody>
                  <a:tcPr marL="8917" marR="8917" marT="89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169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1" u="none" strike="noStrike" dirty="0">
                          <a:solidFill>
                            <a:srgbClr val="00B0F0"/>
                          </a:solidFill>
                          <a:effectLst/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V1.0</a:t>
                      </a:r>
                    </a:p>
                  </a:txBody>
                  <a:tcPr marL="8917" marR="8917" marT="89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1" u="none" strike="noStrike" dirty="0">
                          <a:solidFill>
                            <a:srgbClr val="00B0F0"/>
                          </a:solidFill>
                          <a:effectLst/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薛翔宇</a:t>
                      </a:r>
                      <a:endParaRPr lang="en-US" sz="1400" b="0" i="1" u="none" strike="noStrike" dirty="0">
                        <a:solidFill>
                          <a:srgbClr val="00B0F0"/>
                        </a:solidFill>
                        <a:effectLst/>
                        <a:latin typeface="思源黑体" panose="020B0500000000000000" pitchFamily="34" charset="-122"/>
                        <a:ea typeface="思源黑体" panose="020B0500000000000000" pitchFamily="34" charset="-122"/>
                      </a:endParaRPr>
                    </a:p>
                  </a:txBody>
                  <a:tcPr marL="8917" marR="8917" marT="89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1" u="none" strike="noStrike" dirty="0">
                          <a:solidFill>
                            <a:srgbClr val="00B0F0"/>
                          </a:solidFill>
                          <a:effectLst/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2025.09.28</a:t>
                      </a:r>
                    </a:p>
                  </a:txBody>
                  <a:tcPr marL="8917" marR="8917" marT="89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1" u="none" strike="noStrike" dirty="0">
                          <a:solidFill>
                            <a:srgbClr val="00B0F0"/>
                          </a:solidFill>
                          <a:effectLst/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初始版本</a:t>
                      </a:r>
                    </a:p>
                  </a:txBody>
                  <a:tcPr marL="8917" marR="8917" marT="89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algn="ctr" fontAlgn="ctr"/>
                      <a:endParaRPr lang="en-US" sz="1400" b="0" i="1" u="none" strike="noStrike" dirty="0">
                        <a:solidFill>
                          <a:srgbClr val="00B0F0"/>
                        </a:solidFill>
                        <a:effectLst/>
                        <a:latin typeface="思源黑体" panose="020B0500000000000000" pitchFamily="34" charset="-122"/>
                        <a:ea typeface="思源黑体" panose="020B0500000000000000" pitchFamily="34" charset="-122"/>
                      </a:endParaRPr>
                    </a:p>
                  </a:txBody>
                  <a:tcPr marL="8917" marR="8917" marT="89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400" b="0" i="1" u="none" strike="noStrike" dirty="0">
                        <a:solidFill>
                          <a:srgbClr val="00B0F0"/>
                        </a:solidFill>
                        <a:effectLst/>
                        <a:latin typeface="思源黑体" panose="020B0500000000000000" pitchFamily="34" charset="-122"/>
                        <a:ea typeface="思源黑体" panose="020B0500000000000000" pitchFamily="34" charset="-122"/>
                      </a:endParaRPr>
                    </a:p>
                  </a:txBody>
                  <a:tcPr marL="8917" marR="8917" marT="89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400" b="0" i="1" u="none" strike="noStrike" dirty="0">
                        <a:solidFill>
                          <a:srgbClr val="00B0F0"/>
                        </a:solidFill>
                        <a:effectLst/>
                        <a:latin typeface="思源黑体" panose="020B0500000000000000" pitchFamily="34" charset="-122"/>
                        <a:ea typeface="思源黑体" panose="020B0500000000000000" pitchFamily="34" charset="-122"/>
                      </a:endParaRPr>
                    </a:p>
                  </a:txBody>
                  <a:tcPr marL="8917" marR="8917" marT="89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400" b="0" i="1" u="none" strike="noStrike" dirty="0">
                        <a:solidFill>
                          <a:srgbClr val="00B0F0"/>
                        </a:solidFill>
                        <a:effectLst/>
                        <a:latin typeface="思源黑体" panose="020B0500000000000000" pitchFamily="34" charset="-122"/>
                        <a:ea typeface="思源黑体" panose="020B0500000000000000" pitchFamily="34" charset="-122"/>
                      </a:endParaRPr>
                    </a:p>
                  </a:txBody>
                  <a:tcPr marL="8917" marR="8917" marT="89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　</a:t>
                      </a:r>
                    </a:p>
                  </a:txBody>
                  <a:tcPr marL="8917" marR="8917" marT="89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　</a:t>
                      </a:r>
                    </a:p>
                  </a:txBody>
                  <a:tcPr marL="8917" marR="8917" marT="89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　</a:t>
                      </a:r>
                    </a:p>
                  </a:txBody>
                  <a:tcPr marL="8917" marR="8917" marT="89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　</a:t>
                      </a:r>
                    </a:p>
                  </a:txBody>
                  <a:tcPr marL="8917" marR="8917" marT="89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973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　</a:t>
                      </a:r>
                    </a:p>
                  </a:txBody>
                  <a:tcPr marL="8917" marR="8917" marT="89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　</a:t>
                      </a:r>
                    </a:p>
                  </a:txBody>
                  <a:tcPr marL="8917" marR="8917" marT="89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　</a:t>
                      </a:r>
                    </a:p>
                  </a:txBody>
                  <a:tcPr marL="8917" marR="8917" marT="89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　</a:t>
                      </a:r>
                    </a:p>
                  </a:txBody>
                  <a:tcPr marL="8917" marR="8917" marT="89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　</a:t>
                      </a:r>
                    </a:p>
                  </a:txBody>
                  <a:tcPr marL="8917" marR="8917" marT="89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　</a:t>
                      </a:r>
                    </a:p>
                  </a:txBody>
                  <a:tcPr marL="8917" marR="8917" marT="89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　</a:t>
                      </a:r>
                    </a:p>
                  </a:txBody>
                  <a:tcPr marL="8917" marR="8917" marT="89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　</a:t>
                      </a:r>
                    </a:p>
                  </a:txBody>
                  <a:tcPr marL="8917" marR="8917" marT="89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　</a:t>
                      </a:r>
                    </a:p>
                  </a:txBody>
                  <a:tcPr marL="8917" marR="8917" marT="89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　</a:t>
                      </a:r>
                    </a:p>
                  </a:txBody>
                  <a:tcPr marL="8917" marR="8917" marT="89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　</a:t>
                      </a:r>
                    </a:p>
                  </a:txBody>
                  <a:tcPr marL="8917" marR="8917" marT="89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　</a:t>
                      </a:r>
                    </a:p>
                  </a:txBody>
                  <a:tcPr marL="8917" marR="8917" marT="89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　</a:t>
                      </a:r>
                    </a:p>
                  </a:txBody>
                  <a:tcPr marL="8917" marR="8917" marT="89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　</a:t>
                      </a:r>
                    </a:p>
                  </a:txBody>
                  <a:tcPr marL="8917" marR="8917" marT="89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　</a:t>
                      </a:r>
                    </a:p>
                  </a:txBody>
                  <a:tcPr marL="8917" marR="8917" marT="89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思源黑体" panose="020B0500000000000000" pitchFamily="34" charset="-122"/>
                          <a:ea typeface="思源黑体" panose="020B0500000000000000" pitchFamily="34" charset="-122"/>
                        </a:rPr>
                        <a:t>　</a:t>
                      </a:r>
                    </a:p>
                  </a:txBody>
                  <a:tcPr marL="8917" marR="8917" marT="89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nodeType="withEffect" p14:presetBounceEnd="36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6000">
                                          <p:cBhvr additive="base">
                                            <p:cTn id="7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6000">
                                          <p:cBhvr additive="base">
                                            <p:cTn id="8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/>
          <p:cNvSpPr/>
          <p:nvPr/>
        </p:nvSpPr>
        <p:spPr>
          <a:xfrm>
            <a:off x="340640" y="272809"/>
            <a:ext cx="205469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3600" b="1" cap="none" spc="0" dirty="0">
                <a:ln w="9525">
                  <a:noFill/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课程介绍</a:t>
            </a:r>
          </a:p>
        </p:txBody>
      </p:sp>
      <p:sp>
        <p:nvSpPr>
          <p:cNvPr id="44" name="矩形 43"/>
          <p:cNvSpPr/>
          <p:nvPr/>
        </p:nvSpPr>
        <p:spPr>
          <a:xfrm>
            <a:off x="4327414" y="986722"/>
            <a:ext cx="3705487" cy="954079"/>
          </a:xfrm>
          <a:prstGeom prst="rect">
            <a:avLst/>
          </a:prstGeom>
        </p:spPr>
        <p:txBody>
          <a:bodyPr wrap="square" lIns="91413" tIns="45706" rIns="91413" bIns="45706">
            <a:spAutoFit/>
          </a:bodyPr>
          <a:lstStyle/>
          <a:p>
            <a:r>
              <a:rPr lang="en-US" altLang="zh-CN" sz="2800" dirty="0">
                <a:solidFill>
                  <a:schemeClr val="accent1">
                    <a:lumMod val="50000"/>
                  </a:schemeClr>
                </a:solidFill>
                <a:latin typeface="Impact" panose="020B0806030902050204" pitchFamily="34" charset="0"/>
                <a:ea typeface="思源黑体" panose="020B0500000000000000" pitchFamily="34" charset="-122"/>
                <a:cs typeface="+mn-ea"/>
              </a:rPr>
              <a:t>Course</a:t>
            </a:r>
            <a:r>
              <a:rPr lang="en-US" altLang="zh-CN" sz="2800" dirty="0">
                <a:solidFill>
                  <a:srgbClr val="0070C0"/>
                </a:solidFill>
                <a:latin typeface="Impact" panose="020B0806030902050204" pitchFamily="34" charset="0"/>
                <a:ea typeface="思源黑体" panose="020B0500000000000000" pitchFamily="34" charset="-122"/>
                <a:cs typeface="+mn-ea"/>
              </a:rPr>
              <a:t> </a:t>
            </a:r>
          </a:p>
          <a:p>
            <a:r>
              <a:rPr lang="en-US" altLang="zh-CN" sz="2800" dirty="0">
                <a:solidFill>
                  <a:srgbClr val="0070C0"/>
                </a:solidFill>
                <a:latin typeface="Impact" panose="020B0806030902050204" pitchFamily="34" charset="0"/>
                <a:ea typeface="思源黑体" panose="020B0500000000000000" pitchFamily="34" charset="-122"/>
                <a:cs typeface="+mn-ea"/>
              </a:rPr>
              <a:t>                      </a:t>
            </a:r>
            <a:r>
              <a:rPr lang="en-US" altLang="zh-CN" sz="2800" dirty="0">
                <a:solidFill>
                  <a:schemeClr val="accent1">
                    <a:lumMod val="50000"/>
                  </a:schemeClr>
                </a:solidFill>
                <a:latin typeface="Impact" panose="020B0806030902050204" pitchFamily="34" charset="0"/>
                <a:ea typeface="思源黑体" panose="020B0500000000000000" pitchFamily="34" charset="-122"/>
                <a:cs typeface="+mn-ea"/>
              </a:rPr>
              <a:t>introduction</a:t>
            </a:r>
            <a:endParaRPr lang="zh-CN" altLang="en-US" sz="2800" dirty="0">
              <a:solidFill>
                <a:schemeClr val="accent1">
                  <a:lumMod val="50000"/>
                </a:schemeClr>
              </a:solidFill>
              <a:latin typeface="Impact" panose="020B0806030902050204" pitchFamily="34" charset="0"/>
              <a:ea typeface="思源黑体" panose="020B0500000000000000" pitchFamily="34" charset="-122"/>
              <a:cs typeface="+mn-e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4319796" y="1416978"/>
            <a:ext cx="1500677" cy="461637"/>
          </a:xfrm>
          <a:prstGeom prst="rect">
            <a:avLst/>
          </a:prstGeom>
        </p:spPr>
        <p:txBody>
          <a:bodyPr wrap="none" lIns="91413" tIns="45706" rIns="91413" bIns="45706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</a:rPr>
              <a:t>课程介绍 </a:t>
            </a:r>
          </a:p>
        </p:txBody>
      </p:sp>
      <p:sp>
        <p:nvSpPr>
          <p:cNvPr id="47" name="TextBox 15"/>
          <p:cNvSpPr txBox="1"/>
          <p:nvPr/>
        </p:nvSpPr>
        <p:spPr>
          <a:xfrm>
            <a:off x="4508184" y="2189234"/>
            <a:ext cx="5785337" cy="2618998"/>
          </a:xfrm>
          <a:prstGeom prst="rect">
            <a:avLst/>
          </a:prstGeom>
          <a:noFill/>
        </p:spPr>
        <p:txBody>
          <a:bodyPr wrap="square" lIns="71067" tIns="35534" rIns="71067" bIns="35534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sz="1400" dirty="0">
                <a:solidFill>
                  <a:schemeClr val="tx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          本课程聚焦车载安卓系统的开机启动性能优化，结合车载场景 “强实时性、多硬件交互、高安全性” 特性，融合车载安卓底层架构，以 “解决车载启动延迟” 为核心</a:t>
            </a:r>
            <a:r>
              <a:rPr lang="en-US" altLang="zh-CN" sz="1400" dirty="0">
                <a:solidFill>
                  <a:schemeClr val="tx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,</a:t>
            </a:r>
            <a:r>
              <a:rPr lang="zh-CN" altLang="en-US" sz="1400" dirty="0">
                <a:solidFill>
                  <a:schemeClr val="tx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帮助掌握适配车载芯片（高通 </a:t>
            </a:r>
            <a:r>
              <a:rPr lang="en-US" altLang="zh-CN" sz="1400" dirty="0">
                <a:solidFill>
                  <a:schemeClr val="tx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8155/8295</a:t>
            </a:r>
            <a:r>
              <a:rPr lang="zh-CN" altLang="en-US" sz="1400" dirty="0">
                <a:solidFill>
                  <a:schemeClr val="tx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）的启动优化方案</a:t>
            </a:r>
            <a:r>
              <a:rPr lang="en-US" altLang="zh-CN" sz="1400" dirty="0">
                <a:solidFill>
                  <a:schemeClr val="tx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.</a:t>
            </a:r>
          </a:p>
          <a:p>
            <a:r>
              <a:rPr lang="en-US" altLang="zh-CN" sz="1400" dirty="0">
                <a:solidFill>
                  <a:schemeClr val="tx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        </a:t>
            </a:r>
            <a:r>
              <a:rPr lang="zh-CN" altLang="en-US" sz="1400" dirty="0">
                <a:solidFill>
                  <a:schemeClr val="tx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本次培训面向车载系统开发工程师、应用开发工程师、性能测试工程师，以及其他有兴趣或者想粗略了解启动优化的人员。</a:t>
            </a:r>
            <a:endParaRPr lang="en-US" altLang="zh-CN" sz="1400" dirty="0">
              <a:solidFill>
                <a:schemeClr val="tx1"/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r>
              <a:rPr lang="en-US" altLang="zh-CN" sz="1400" dirty="0">
                <a:solidFill>
                  <a:schemeClr val="tx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        </a:t>
            </a:r>
            <a:r>
              <a:rPr lang="zh-CN" altLang="en-US" sz="1400" dirty="0">
                <a:solidFill>
                  <a:schemeClr val="tx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学员需提前了解安卓系统的启动原理、启动链路、开机的流程和各个中间环节，了解车载与消费级安卓启动差异。</a:t>
            </a:r>
            <a:endParaRPr lang="zh-CN" altLang="en-US" sz="1400" dirty="0"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cxnSp>
        <p:nvCxnSpPr>
          <p:cNvPr id="46" name="直接连接符 45"/>
          <p:cNvCxnSpPr/>
          <p:nvPr/>
        </p:nvCxnSpPr>
        <p:spPr>
          <a:xfrm>
            <a:off x="479704" y="944439"/>
            <a:ext cx="6960814" cy="0"/>
          </a:xfrm>
          <a:prstGeom prst="line">
            <a:avLst/>
          </a:prstGeom>
          <a:ln w="47625" cmpd="thickThin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grpSp>
        <p:nvGrpSpPr>
          <p:cNvPr id="32" name="组合 31"/>
          <p:cNvGrpSpPr/>
          <p:nvPr/>
        </p:nvGrpSpPr>
        <p:grpSpPr>
          <a:xfrm>
            <a:off x="9108771" y="5142372"/>
            <a:ext cx="3083229" cy="1715628"/>
            <a:chOff x="3909171" y="5101626"/>
            <a:chExt cx="2312422" cy="1756375"/>
          </a:xfrm>
        </p:grpSpPr>
        <p:sp>
          <p:nvSpPr>
            <p:cNvPr id="34" name="任意多边形: 形状 14"/>
            <p:cNvSpPr/>
            <p:nvPr/>
          </p:nvSpPr>
          <p:spPr>
            <a:xfrm>
              <a:off x="3909171" y="5617900"/>
              <a:ext cx="2312422" cy="1240101"/>
            </a:xfrm>
            <a:custGeom>
              <a:avLst/>
              <a:gdLst>
                <a:gd name="connsiteX0" fmla="*/ 688066 w 2750572"/>
                <a:gd name="connsiteY0" fmla="*/ 0 h 1240101"/>
                <a:gd name="connsiteX1" fmla="*/ 2062507 w 2750572"/>
                <a:gd name="connsiteY1" fmla="*/ 0 h 1240101"/>
                <a:gd name="connsiteX2" fmla="*/ 2750572 w 2750572"/>
                <a:gd name="connsiteY2" fmla="*/ 1186787 h 1240101"/>
                <a:gd name="connsiteX3" fmla="*/ 2719750 w 2750572"/>
                <a:gd name="connsiteY3" fmla="*/ 1240101 h 1240101"/>
                <a:gd name="connsiteX4" fmla="*/ 30822 w 2750572"/>
                <a:gd name="connsiteY4" fmla="*/ 1240101 h 1240101"/>
                <a:gd name="connsiteX5" fmla="*/ 0 w 2750572"/>
                <a:gd name="connsiteY5" fmla="*/ 1186787 h 1240101"/>
                <a:gd name="connsiteX6" fmla="*/ 688066 w 2750572"/>
                <a:gd name="connsiteY6" fmla="*/ 0 h 1240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50572" h="1240101">
                  <a:moveTo>
                    <a:pt x="688066" y="0"/>
                  </a:moveTo>
                  <a:lnTo>
                    <a:pt x="2062507" y="0"/>
                  </a:lnTo>
                  <a:lnTo>
                    <a:pt x="2750572" y="1186787"/>
                  </a:lnTo>
                  <a:lnTo>
                    <a:pt x="2719750" y="1240101"/>
                  </a:lnTo>
                  <a:lnTo>
                    <a:pt x="30822" y="1240101"/>
                  </a:lnTo>
                  <a:lnTo>
                    <a:pt x="0" y="1186787"/>
                  </a:lnTo>
                  <a:lnTo>
                    <a:pt x="688066" y="0"/>
                  </a:lnTo>
                  <a:close/>
                </a:path>
              </a:pathLst>
            </a:custGeom>
            <a:solidFill>
              <a:schemeClr val="accent1">
                <a:alpha val="1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5" name="Freeform 21"/>
            <p:cNvSpPr/>
            <p:nvPr/>
          </p:nvSpPr>
          <p:spPr bwMode="auto">
            <a:xfrm>
              <a:off x="4021319" y="5101626"/>
              <a:ext cx="866775" cy="1026882"/>
            </a:xfrm>
            <a:custGeom>
              <a:avLst/>
              <a:gdLst>
                <a:gd name="T0" fmla="*/ 1220 w 1627"/>
                <a:gd name="T1" fmla="*/ 0 h 1406"/>
                <a:gd name="T2" fmla="*/ 407 w 1627"/>
                <a:gd name="T3" fmla="*/ 0 h 1406"/>
                <a:gd name="T4" fmla="*/ 0 w 1627"/>
                <a:gd name="T5" fmla="*/ 702 h 1406"/>
                <a:gd name="T6" fmla="*/ 407 w 1627"/>
                <a:gd name="T7" fmla="*/ 1406 h 1406"/>
                <a:gd name="T8" fmla="*/ 1220 w 1627"/>
                <a:gd name="T9" fmla="*/ 1406 h 1406"/>
                <a:gd name="T10" fmla="*/ 1627 w 1627"/>
                <a:gd name="T11" fmla="*/ 702 h 1406"/>
                <a:gd name="T12" fmla="*/ 1220 w 1627"/>
                <a:gd name="T13" fmla="*/ 0 h 1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27" h="1406">
                  <a:moveTo>
                    <a:pt x="1220" y="0"/>
                  </a:moveTo>
                  <a:lnTo>
                    <a:pt x="407" y="0"/>
                  </a:lnTo>
                  <a:lnTo>
                    <a:pt x="0" y="702"/>
                  </a:lnTo>
                  <a:lnTo>
                    <a:pt x="407" y="1406"/>
                  </a:lnTo>
                  <a:lnTo>
                    <a:pt x="1220" y="1406"/>
                  </a:lnTo>
                  <a:lnTo>
                    <a:pt x="1627" y="702"/>
                  </a:lnTo>
                  <a:lnTo>
                    <a:pt x="1220" y="0"/>
                  </a:lnTo>
                  <a:close/>
                </a:path>
              </a:pathLst>
            </a:custGeom>
            <a:solidFill>
              <a:schemeClr val="accent1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19E4A6C9-BA54-BAC8-BB12-7A9638C4D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652" y="1213917"/>
            <a:ext cx="3213159" cy="19506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9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66667"/>
                                      </p:iterate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2833"/>
                                </p:stCondLst>
                                <p:childTnLst>
                                  <p:par>
                                    <p:cTn id="14" presetID="2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16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3333"/>
                                </p:stCondLst>
                                <p:childTnLst>
                                  <p:par>
                                    <p:cTn id="18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4" fill="hold" nodeType="withEffect" p14:presetBounceEnd="36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6000">
                                          <p:cBhvr additive="base">
                                            <p:cTn id="23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6000">
                                          <p:cBhvr additive="base">
                                            <p:cTn id="24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4" grpId="0"/>
          <p:bldP spid="45" grpId="0"/>
          <p:bldP spid="47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9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66667"/>
                                      </p:iterate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2833"/>
                                </p:stCondLst>
                                <p:childTnLst>
                                  <p:par>
                                    <p:cTn id="14" presetID="2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16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3333"/>
                                </p:stCondLst>
                                <p:childTnLst>
                                  <p:par>
                                    <p:cTn id="18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4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4" grpId="0"/>
          <p:bldP spid="45" grpId="0"/>
          <p:bldP spid="47" grpId="0"/>
        </p:bldLst>
      </p:timing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图片 32"/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aturation sat="8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04"/>
            <a:ext cx="5234342" cy="6852592"/>
          </a:xfrm>
          <a:prstGeom prst="rect">
            <a:avLst/>
          </a:prstGeom>
        </p:spPr>
      </p:pic>
      <p:grpSp>
        <p:nvGrpSpPr>
          <p:cNvPr id="24" name="组合 23"/>
          <p:cNvGrpSpPr/>
          <p:nvPr/>
        </p:nvGrpSpPr>
        <p:grpSpPr>
          <a:xfrm>
            <a:off x="0" y="4060494"/>
            <a:ext cx="3028950" cy="2797506"/>
            <a:chOff x="0" y="3609283"/>
            <a:chExt cx="3097161" cy="3248717"/>
          </a:xfrm>
        </p:grpSpPr>
        <p:sp>
          <p:nvSpPr>
            <p:cNvPr id="25" name="任意多边形: 形状 35"/>
            <p:cNvSpPr/>
            <p:nvPr/>
          </p:nvSpPr>
          <p:spPr>
            <a:xfrm>
              <a:off x="0" y="3609283"/>
              <a:ext cx="3097161" cy="3248717"/>
            </a:xfrm>
            <a:custGeom>
              <a:avLst/>
              <a:gdLst>
                <a:gd name="connsiteX0" fmla="*/ 0 w 3097161"/>
                <a:gd name="connsiteY0" fmla="*/ 0 h 3248717"/>
                <a:gd name="connsiteX1" fmla="*/ 1807845 w 3097161"/>
                <a:gd name="connsiteY1" fmla="*/ 0 h 3248717"/>
                <a:gd name="connsiteX2" fmla="*/ 3097161 w 3097161"/>
                <a:gd name="connsiteY2" fmla="*/ 2230611 h 3248717"/>
                <a:gd name="connsiteX3" fmla="*/ 2508869 w 3097161"/>
                <a:gd name="connsiteY3" fmla="*/ 3248717 h 3248717"/>
                <a:gd name="connsiteX4" fmla="*/ 0 w 3097161"/>
                <a:gd name="connsiteY4" fmla="*/ 3248717 h 3248717"/>
                <a:gd name="connsiteX5" fmla="*/ 0 w 3097161"/>
                <a:gd name="connsiteY5" fmla="*/ 0 h 3248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97161" h="3248717">
                  <a:moveTo>
                    <a:pt x="0" y="0"/>
                  </a:moveTo>
                  <a:lnTo>
                    <a:pt x="1807845" y="0"/>
                  </a:lnTo>
                  <a:lnTo>
                    <a:pt x="3097161" y="2230611"/>
                  </a:lnTo>
                  <a:lnTo>
                    <a:pt x="2508869" y="3248717"/>
                  </a:lnTo>
                  <a:lnTo>
                    <a:pt x="0" y="32487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0" y="3995737"/>
              <a:ext cx="2105025" cy="2862263"/>
            </a:xfrm>
            <a:custGeom>
              <a:avLst/>
              <a:gdLst>
                <a:gd name="T0" fmla="*/ 774 w 1326"/>
                <a:gd name="T1" fmla="*/ 0 h 1803"/>
                <a:gd name="T2" fmla="*/ 0 w 1326"/>
                <a:gd name="T3" fmla="*/ 0 h 1803"/>
                <a:gd name="T4" fmla="*/ 0 w 1326"/>
                <a:gd name="T5" fmla="*/ 1803 h 1803"/>
                <a:gd name="T6" fmla="*/ 836 w 1326"/>
                <a:gd name="T7" fmla="*/ 1803 h 1803"/>
                <a:gd name="T8" fmla="*/ 1326 w 1326"/>
                <a:gd name="T9" fmla="*/ 955 h 1803"/>
                <a:gd name="T10" fmla="*/ 774 w 1326"/>
                <a:gd name="T11" fmla="*/ 0 h 18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26" h="1803">
                  <a:moveTo>
                    <a:pt x="774" y="0"/>
                  </a:moveTo>
                  <a:lnTo>
                    <a:pt x="0" y="0"/>
                  </a:lnTo>
                  <a:lnTo>
                    <a:pt x="0" y="1803"/>
                  </a:lnTo>
                  <a:lnTo>
                    <a:pt x="836" y="1803"/>
                  </a:lnTo>
                  <a:lnTo>
                    <a:pt x="1326" y="955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accent1">
                <a:alpha val="42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27" name="矩形 26"/>
          <p:cNvSpPr/>
          <p:nvPr/>
        </p:nvSpPr>
        <p:spPr>
          <a:xfrm>
            <a:off x="808811" y="450334"/>
            <a:ext cx="2778325" cy="14465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88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+mn-lt"/>
              </a:rPr>
              <a:t>目 录</a:t>
            </a:r>
            <a:endParaRPr lang="zh-CN" altLang="en-US" sz="8800" b="1" dirty="0"/>
          </a:p>
        </p:txBody>
      </p:sp>
      <p:sp>
        <p:nvSpPr>
          <p:cNvPr id="28" name="文本框 45"/>
          <p:cNvSpPr>
            <a:spLocks noChangeArrowheads="1"/>
          </p:cNvSpPr>
          <p:nvPr/>
        </p:nvSpPr>
        <p:spPr bwMode="auto">
          <a:xfrm>
            <a:off x="905495" y="1709829"/>
            <a:ext cx="2613344" cy="76944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440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+mn-lt"/>
              </a:rPr>
              <a:t>Contents</a:t>
            </a:r>
            <a:endParaRPr lang="zh-CN" altLang="en-US" sz="4400" dirty="0">
              <a:solidFill>
                <a:schemeClr val="bg1"/>
              </a:solidFill>
              <a:latin typeface="思源黑体" panose="020B0500000000000000" pitchFamily="34" charset="-122"/>
              <a:ea typeface="思源黑体" panose="020B0500000000000000" pitchFamily="34" charset="-122"/>
              <a:sym typeface="+mn-lt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3471020" y="5029199"/>
            <a:ext cx="3667429" cy="1828801"/>
            <a:chOff x="3471021" y="4985765"/>
            <a:chExt cx="2750572" cy="1872236"/>
          </a:xfrm>
        </p:grpSpPr>
        <p:sp>
          <p:nvSpPr>
            <p:cNvPr id="30" name="任意多边形: 形状 29"/>
            <p:cNvSpPr/>
            <p:nvPr/>
          </p:nvSpPr>
          <p:spPr>
            <a:xfrm>
              <a:off x="3471021" y="5617900"/>
              <a:ext cx="2750572" cy="1240101"/>
            </a:xfrm>
            <a:custGeom>
              <a:avLst/>
              <a:gdLst>
                <a:gd name="connsiteX0" fmla="*/ 688066 w 2750572"/>
                <a:gd name="connsiteY0" fmla="*/ 0 h 1240101"/>
                <a:gd name="connsiteX1" fmla="*/ 2062507 w 2750572"/>
                <a:gd name="connsiteY1" fmla="*/ 0 h 1240101"/>
                <a:gd name="connsiteX2" fmla="*/ 2750572 w 2750572"/>
                <a:gd name="connsiteY2" fmla="*/ 1186787 h 1240101"/>
                <a:gd name="connsiteX3" fmla="*/ 2719750 w 2750572"/>
                <a:gd name="connsiteY3" fmla="*/ 1240101 h 1240101"/>
                <a:gd name="connsiteX4" fmla="*/ 30822 w 2750572"/>
                <a:gd name="connsiteY4" fmla="*/ 1240101 h 1240101"/>
                <a:gd name="connsiteX5" fmla="*/ 0 w 2750572"/>
                <a:gd name="connsiteY5" fmla="*/ 1186787 h 1240101"/>
                <a:gd name="connsiteX6" fmla="*/ 688066 w 2750572"/>
                <a:gd name="connsiteY6" fmla="*/ 0 h 1240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50572" h="1240101">
                  <a:moveTo>
                    <a:pt x="688066" y="0"/>
                  </a:moveTo>
                  <a:lnTo>
                    <a:pt x="2062507" y="0"/>
                  </a:lnTo>
                  <a:lnTo>
                    <a:pt x="2750572" y="1186787"/>
                  </a:lnTo>
                  <a:lnTo>
                    <a:pt x="2719750" y="1240101"/>
                  </a:lnTo>
                  <a:lnTo>
                    <a:pt x="30822" y="1240101"/>
                  </a:lnTo>
                  <a:lnTo>
                    <a:pt x="0" y="1186787"/>
                  </a:lnTo>
                  <a:lnTo>
                    <a:pt x="688066" y="0"/>
                  </a:lnTo>
                  <a:close/>
                </a:path>
              </a:pathLst>
            </a:custGeom>
            <a:solidFill>
              <a:schemeClr val="accent1">
                <a:alpha val="1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1" name="Freeform 21"/>
            <p:cNvSpPr/>
            <p:nvPr/>
          </p:nvSpPr>
          <p:spPr bwMode="auto">
            <a:xfrm>
              <a:off x="3558108" y="4985765"/>
              <a:ext cx="1042922" cy="1142742"/>
            </a:xfrm>
            <a:custGeom>
              <a:avLst/>
              <a:gdLst>
                <a:gd name="T0" fmla="*/ 1220 w 1627"/>
                <a:gd name="T1" fmla="*/ 0 h 1406"/>
                <a:gd name="T2" fmla="*/ 407 w 1627"/>
                <a:gd name="T3" fmla="*/ 0 h 1406"/>
                <a:gd name="T4" fmla="*/ 0 w 1627"/>
                <a:gd name="T5" fmla="*/ 702 h 1406"/>
                <a:gd name="T6" fmla="*/ 407 w 1627"/>
                <a:gd name="T7" fmla="*/ 1406 h 1406"/>
                <a:gd name="T8" fmla="*/ 1220 w 1627"/>
                <a:gd name="T9" fmla="*/ 1406 h 1406"/>
                <a:gd name="T10" fmla="*/ 1627 w 1627"/>
                <a:gd name="T11" fmla="*/ 702 h 1406"/>
                <a:gd name="T12" fmla="*/ 1220 w 1627"/>
                <a:gd name="T13" fmla="*/ 0 h 1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27" h="1406">
                  <a:moveTo>
                    <a:pt x="1220" y="0"/>
                  </a:moveTo>
                  <a:lnTo>
                    <a:pt x="407" y="0"/>
                  </a:lnTo>
                  <a:lnTo>
                    <a:pt x="0" y="702"/>
                  </a:lnTo>
                  <a:lnTo>
                    <a:pt x="407" y="1406"/>
                  </a:lnTo>
                  <a:lnTo>
                    <a:pt x="1220" y="1406"/>
                  </a:lnTo>
                  <a:lnTo>
                    <a:pt x="1627" y="702"/>
                  </a:lnTo>
                  <a:lnTo>
                    <a:pt x="1220" y="0"/>
                  </a:lnTo>
                  <a:close/>
                </a:path>
              </a:pathLst>
            </a:custGeom>
            <a:solidFill>
              <a:schemeClr val="accent1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</p:grpSp>
      <p:grpSp>
        <p:nvGrpSpPr>
          <p:cNvPr id="5" name="组合 4"/>
          <p:cNvGrpSpPr/>
          <p:nvPr>
            <p:custDataLst>
              <p:tags r:id="rId1"/>
            </p:custDataLst>
          </p:nvPr>
        </p:nvGrpSpPr>
        <p:grpSpPr>
          <a:xfrm>
            <a:off x="6490340" y="1482723"/>
            <a:ext cx="3331684" cy="650877"/>
            <a:chOff x="6490340" y="1139823"/>
            <a:chExt cx="3331684" cy="650877"/>
          </a:xfrm>
        </p:grpSpPr>
        <p:sp>
          <p:nvSpPr>
            <p:cNvPr id="34" name="椭圆 16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6490340" y="1139823"/>
              <a:ext cx="659574" cy="650877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 b="1" dirty="0">
                  <a:solidFill>
                    <a:srgbClr val="FFFFFF"/>
                  </a:solidFill>
                  <a:latin typeface="Calibri" panose="020F0502020204030204" pitchFamily="34" charset="0"/>
                </a:rPr>
                <a:t>1</a:t>
              </a:r>
              <a:endParaRPr lang="zh-CN" altLang="en-US" sz="2800" b="1" dirty="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2" name="矩形 31"/>
            <p:cNvSpPr/>
            <p:nvPr>
              <p:custDataLst>
                <p:tags r:id="rId12"/>
              </p:custDataLst>
            </p:nvPr>
          </p:nvSpPr>
          <p:spPr>
            <a:xfrm>
              <a:off x="7321728" y="1203651"/>
              <a:ext cx="2500296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800" b="1" dirty="0">
                  <a:solidFill>
                    <a:srgbClr val="0070C0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+mn-lt"/>
                </a:rPr>
                <a:t>启动时序</a:t>
              </a:r>
            </a:p>
          </p:txBody>
        </p:sp>
      </p:grpSp>
      <p:grpSp>
        <p:nvGrpSpPr>
          <p:cNvPr id="6" name="组合 5"/>
          <p:cNvGrpSpPr/>
          <p:nvPr>
            <p:custDataLst>
              <p:tags r:id="rId2"/>
            </p:custDataLst>
          </p:nvPr>
        </p:nvGrpSpPr>
        <p:grpSpPr>
          <a:xfrm>
            <a:off x="6490340" y="2335210"/>
            <a:ext cx="2452346" cy="650877"/>
            <a:chOff x="6490340" y="1992310"/>
            <a:chExt cx="2452346" cy="650877"/>
          </a:xfrm>
        </p:grpSpPr>
        <p:sp>
          <p:nvSpPr>
            <p:cNvPr id="37" name="椭圆 16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6490340" y="1992310"/>
              <a:ext cx="659574" cy="650877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 b="1" dirty="0">
                  <a:solidFill>
                    <a:srgbClr val="FFFFFF"/>
                  </a:solidFill>
                  <a:latin typeface="Calibri" panose="020F0502020204030204" pitchFamily="34" charset="0"/>
                </a:rPr>
                <a:t>2</a:t>
              </a:r>
              <a:endParaRPr lang="zh-CN" altLang="en-US" sz="2800" b="1" dirty="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8" name="矩形 37"/>
            <p:cNvSpPr/>
            <p:nvPr>
              <p:custDataLst>
                <p:tags r:id="rId10"/>
              </p:custDataLst>
            </p:nvPr>
          </p:nvSpPr>
          <p:spPr>
            <a:xfrm>
              <a:off x="7321729" y="2047375"/>
              <a:ext cx="162095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solidFill>
                    <a:srgbClr val="0070C0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+mn-lt"/>
                </a:rPr>
                <a:t>优化方案</a:t>
              </a:r>
            </a:p>
          </p:txBody>
        </p:sp>
      </p:grpSp>
      <p:grpSp>
        <p:nvGrpSpPr>
          <p:cNvPr id="7" name="组合 6"/>
          <p:cNvGrpSpPr/>
          <p:nvPr>
            <p:custDataLst>
              <p:tags r:id="rId3"/>
            </p:custDataLst>
          </p:nvPr>
        </p:nvGrpSpPr>
        <p:grpSpPr>
          <a:xfrm>
            <a:off x="6490340" y="3187697"/>
            <a:ext cx="1734200" cy="650877"/>
            <a:chOff x="6490340" y="2844797"/>
            <a:chExt cx="1734200" cy="650877"/>
          </a:xfrm>
        </p:grpSpPr>
        <p:sp>
          <p:nvSpPr>
            <p:cNvPr id="40" name="椭圆 16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6490340" y="2844797"/>
              <a:ext cx="659574" cy="650877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 b="1" dirty="0">
                  <a:solidFill>
                    <a:srgbClr val="FFFFFF"/>
                  </a:solidFill>
                  <a:latin typeface="Calibri" panose="020F0502020204030204" pitchFamily="34" charset="0"/>
                </a:rPr>
                <a:t>3</a:t>
              </a:r>
              <a:endParaRPr lang="zh-CN" altLang="en-US" sz="2800" b="1" dirty="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1" name="矩形 40"/>
            <p:cNvSpPr/>
            <p:nvPr>
              <p:custDataLst>
                <p:tags r:id="rId8"/>
              </p:custDataLst>
            </p:nvPr>
          </p:nvSpPr>
          <p:spPr>
            <a:xfrm>
              <a:off x="7321729" y="2893581"/>
              <a:ext cx="902811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solidFill>
                    <a:srgbClr val="0070C0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+mn-lt"/>
                </a:rPr>
                <a:t>工具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567F8FF5-5B92-685C-0645-DE847EE2FD86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6490340" y="4040184"/>
            <a:ext cx="2452346" cy="650877"/>
            <a:chOff x="6490340" y="2844797"/>
            <a:chExt cx="2452346" cy="650877"/>
          </a:xfrm>
        </p:grpSpPr>
        <p:sp>
          <p:nvSpPr>
            <p:cNvPr id="3" name="椭圆 16">
              <a:extLst>
                <a:ext uri="{FF2B5EF4-FFF2-40B4-BE49-F238E27FC236}">
                  <a16:creationId xmlns:a16="http://schemas.microsoft.com/office/drawing/2014/main" id="{1F6F3B1C-940E-E3A5-40EE-9DEDD90E78D0}"/>
                </a:ext>
              </a:extLst>
            </p:cNvPr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6490340" y="2844797"/>
              <a:ext cx="659574" cy="650877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 b="1" dirty="0">
                  <a:solidFill>
                    <a:srgbClr val="FFFFFF"/>
                  </a:solidFill>
                  <a:latin typeface="Calibri" panose="020F0502020204030204" pitchFamily="34" charset="0"/>
                </a:rPr>
                <a:t>4</a:t>
              </a:r>
              <a:endParaRPr lang="zh-CN" altLang="en-US" sz="2800" b="1" dirty="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B7EC171D-8B11-6B08-B5C1-97D9655888FE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7321729" y="2893581"/>
              <a:ext cx="162095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solidFill>
                    <a:srgbClr val="0070C0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+mn-lt"/>
                </a:rPr>
                <a:t>项目实践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2" fill="hold" nodeType="with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7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8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" presetClass="entr" presetSubtype="9" fill="hold" grpId="0" nodeType="afterEffect" p14:presetBounceEnd="5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4000">
                                          <p:cBhvr additive="base">
                                            <p:cTn id="12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4000">
                                          <p:cBhvr additive="base">
                                            <p:cTn id="13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4" presetID="2" presetClass="entr" presetSubtype="9" fill="hold" grpId="0" nodeType="withEffect" p14:presetBounceEnd="5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4000">
                                          <p:cBhvr additive="base">
                                            <p:cTn id="16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4000">
                                          <p:cBhvr additive="base">
                                            <p:cTn id="17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8" presetID="2" presetClass="entr" presetSubtype="9" fill="hold" nodeType="withEffect" p14:presetBounceEnd="5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4000">
                                          <p:cBhvr additive="base">
                                            <p:cTn id="20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4000">
                                          <p:cBhvr additive="base">
                                            <p:cTn id="21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7" grpId="0"/>
          <p:bldP spid="28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" presetClass="entr" presetSubtype="9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4" presetID="2" presetClass="entr" presetSubtype="9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7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8" presetID="2" presetClass="entr" presetSubtype="9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1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7" grpId="0"/>
          <p:bldP spid="28" grpId="0"/>
        </p:bldLst>
      </p:timing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2389091"/>
            <a:ext cx="12192000" cy="12927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3" name="文本框 17"/>
          <p:cNvSpPr txBox="1"/>
          <p:nvPr/>
        </p:nvSpPr>
        <p:spPr>
          <a:xfrm>
            <a:off x="4450112" y="2686634"/>
            <a:ext cx="43194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启动时序</a:t>
            </a:r>
          </a:p>
        </p:txBody>
      </p:sp>
      <p:grpSp>
        <p:nvGrpSpPr>
          <p:cNvPr id="41" name="组合 40"/>
          <p:cNvGrpSpPr/>
          <p:nvPr/>
        </p:nvGrpSpPr>
        <p:grpSpPr>
          <a:xfrm>
            <a:off x="1822608" y="1985811"/>
            <a:ext cx="2114741" cy="2697003"/>
            <a:chOff x="1041891" y="2887277"/>
            <a:chExt cx="1036261" cy="1321580"/>
          </a:xfrm>
        </p:grpSpPr>
        <p:sp>
          <p:nvSpPr>
            <p:cNvPr id="42" name="Oval 53"/>
            <p:cNvSpPr>
              <a:spLocks noChangeArrowheads="1"/>
            </p:cNvSpPr>
            <p:nvPr/>
          </p:nvSpPr>
          <p:spPr bwMode="auto">
            <a:xfrm>
              <a:off x="1041891" y="2887277"/>
              <a:ext cx="1036261" cy="1036518"/>
            </a:xfrm>
            <a:prstGeom prst="ellipse">
              <a:avLst/>
            </a:prstGeom>
            <a:solidFill>
              <a:srgbClr val="0070C0"/>
            </a:solidFill>
            <a:ln w="88900">
              <a:gradFill flip="none" rotWithShape="1">
                <a:gsLst>
                  <a:gs pos="0">
                    <a:srgbClr val="FFFFFF"/>
                  </a:gs>
                  <a:gs pos="100000">
                    <a:srgbClr val="D9D9DA"/>
                  </a:gs>
                </a:gsLst>
                <a:lin ang="2700000" scaled="0"/>
                <a:tileRect/>
              </a:gradFill>
            </a:ln>
            <a:effectLst>
              <a:outerShdw blurRad="279400" dist="76200" dir="2700000" sx="101000" sy="101000" algn="tl" rotWithShape="0">
                <a:prstClr val="black">
                  <a:alpha val="2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anchor="ctr"/>
            <a:lstStyle/>
            <a:p>
              <a:pPr algn="ctr">
                <a:defRPr/>
              </a:pPr>
              <a:endParaRPr lang="zh-CN" altLang="en-US" sz="5865"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sp>
          <p:nvSpPr>
            <p:cNvPr id="43" name="Text Box 58"/>
            <p:cNvSpPr txBox="1">
              <a:spLocks noChangeArrowheads="1"/>
            </p:cNvSpPr>
            <p:nvPr/>
          </p:nvSpPr>
          <p:spPr bwMode="auto">
            <a:xfrm>
              <a:off x="1159958" y="3077737"/>
              <a:ext cx="782803" cy="11311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altLang="zh-CN" sz="5000" b="1" dirty="0">
                  <a:solidFill>
                    <a:schemeClr val="bg1"/>
                  </a:solidFill>
                  <a:latin typeface="Calibri" panose="020F0502020204030204" pitchFamily="34" charset="0"/>
                  <a:ea typeface="华文琥珀" panose="02010800040101010101" pitchFamily="2" charset="-122"/>
                  <a:cs typeface="Calibri" panose="020F0502020204030204" pitchFamily="34" charset="0"/>
                </a:rPr>
                <a:t>PART  1</a:t>
              </a:r>
            </a:p>
            <a:p>
              <a:pPr algn="ctr"/>
              <a:r>
                <a:rPr lang="en-US" altLang="zh-CN" sz="4400" dirty="0">
                  <a:solidFill>
                    <a:schemeClr val="bg1"/>
                  </a:solidFill>
                  <a:latin typeface="Calibri" panose="020F0502020204030204" pitchFamily="34" charset="0"/>
                  <a:ea typeface="思源黑体" panose="020B0500000000000000" pitchFamily="34" charset="-122"/>
                  <a:cs typeface="Calibri" panose="020F0502020204030204" pitchFamily="34" charset="0"/>
                </a:rPr>
                <a:t> </a:t>
              </a:r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10729790" y="2540217"/>
            <a:ext cx="1145728" cy="1261160"/>
            <a:chOff x="1696902" y="1658204"/>
            <a:chExt cx="1357422" cy="1785621"/>
          </a:xfrm>
        </p:grpSpPr>
        <p:grpSp>
          <p:nvGrpSpPr>
            <p:cNvPr id="46" name="组合 45"/>
            <p:cNvGrpSpPr/>
            <p:nvPr/>
          </p:nvGrpSpPr>
          <p:grpSpPr>
            <a:xfrm>
              <a:off x="1696902" y="1658204"/>
              <a:ext cx="1357422" cy="1785621"/>
              <a:chOff x="1434530" y="1923678"/>
              <a:chExt cx="875843" cy="1152128"/>
            </a:xfrm>
          </p:grpSpPr>
          <p:sp>
            <p:nvSpPr>
              <p:cNvPr id="51" name="椭圆 2"/>
              <p:cNvSpPr/>
              <p:nvPr/>
            </p:nvSpPr>
            <p:spPr>
              <a:xfrm rot="1761192">
                <a:off x="1734309" y="1923678"/>
                <a:ext cx="576064" cy="1152128"/>
              </a:xfrm>
              <a:custGeom>
                <a:avLst/>
                <a:gdLst/>
                <a:ahLst/>
                <a:cxnLst/>
                <a:rect l="l" t="t" r="r" b="b"/>
                <a:pathLst>
                  <a:path w="576064" h="1152128">
                    <a:moveTo>
                      <a:pt x="0" y="0"/>
                    </a:moveTo>
                    <a:cubicBezTo>
                      <a:pt x="318151" y="0"/>
                      <a:pt x="576064" y="257913"/>
                      <a:pt x="576064" y="576064"/>
                    </a:cubicBezTo>
                    <a:cubicBezTo>
                      <a:pt x="576064" y="894215"/>
                      <a:pt x="318151" y="1152128"/>
                      <a:pt x="0" y="1152128"/>
                    </a:cubicBezTo>
                    <a:close/>
                  </a:path>
                </a:pathLst>
              </a:custGeom>
              <a:solidFill>
                <a:srgbClr val="EAEAEA">
                  <a:alpha val="30196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9" name="TextBox 4"/>
              <p:cNvSpPr txBox="1"/>
              <p:nvPr/>
            </p:nvSpPr>
            <p:spPr>
              <a:xfrm>
                <a:off x="1434530" y="2496128"/>
                <a:ext cx="728783" cy="4217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47" name="Freeform 14"/>
            <p:cNvSpPr>
              <a:spLocks noEditPoints="1"/>
            </p:cNvSpPr>
            <p:nvPr/>
          </p:nvSpPr>
          <p:spPr bwMode="auto">
            <a:xfrm>
              <a:off x="2001870" y="1860853"/>
              <a:ext cx="824533" cy="812699"/>
            </a:xfrm>
            <a:custGeom>
              <a:avLst/>
              <a:gdLst>
                <a:gd name="T0" fmla="*/ 221450 w 427"/>
                <a:gd name="T1" fmla="*/ 125841 h 408"/>
                <a:gd name="T2" fmla="*/ 216788 w 427"/>
                <a:gd name="T3" fmla="*/ 135459 h 408"/>
                <a:gd name="T4" fmla="*/ 216011 w 427"/>
                <a:gd name="T5" fmla="*/ 141871 h 408"/>
                <a:gd name="T6" fmla="*/ 216011 w 427"/>
                <a:gd name="T7" fmla="*/ 153894 h 408"/>
                <a:gd name="T8" fmla="*/ 220673 w 427"/>
                <a:gd name="T9" fmla="*/ 165917 h 408"/>
                <a:gd name="T10" fmla="*/ 223781 w 427"/>
                <a:gd name="T11" fmla="*/ 171528 h 408"/>
                <a:gd name="T12" fmla="*/ 233106 w 427"/>
                <a:gd name="T13" fmla="*/ 179543 h 408"/>
                <a:gd name="T14" fmla="*/ 239322 w 427"/>
                <a:gd name="T15" fmla="*/ 182749 h 408"/>
                <a:gd name="T16" fmla="*/ 252531 w 427"/>
                <a:gd name="T17" fmla="*/ 109008 h 408"/>
                <a:gd name="T18" fmla="*/ 236991 w 427"/>
                <a:gd name="T19" fmla="*/ 112214 h 408"/>
                <a:gd name="T20" fmla="*/ 228444 w 427"/>
                <a:gd name="T21" fmla="*/ 117825 h 408"/>
                <a:gd name="T22" fmla="*/ 224558 w 427"/>
                <a:gd name="T23" fmla="*/ 121833 h 408"/>
                <a:gd name="T24" fmla="*/ 202802 w 427"/>
                <a:gd name="T25" fmla="*/ 37672 h 408"/>
                <a:gd name="T26" fmla="*/ 165505 w 427"/>
                <a:gd name="T27" fmla="*/ 76146 h 408"/>
                <a:gd name="T28" fmla="*/ 200471 w 427"/>
                <a:gd name="T29" fmla="*/ 153894 h 408"/>
                <a:gd name="T30" fmla="*/ 200471 w 427"/>
                <a:gd name="T31" fmla="*/ 138665 h 408"/>
                <a:gd name="T32" fmla="*/ 189593 w 427"/>
                <a:gd name="T33" fmla="*/ 83359 h 408"/>
                <a:gd name="T34" fmla="*/ 131316 w 427"/>
                <a:gd name="T35" fmla="*/ 146680 h 408"/>
                <a:gd name="T36" fmla="*/ 165505 w 427"/>
                <a:gd name="T37" fmla="*/ 215612 h 408"/>
                <a:gd name="T38" fmla="*/ 149188 w 427"/>
                <a:gd name="T39" fmla="*/ 218017 h 408"/>
                <a:gd name="T40" fmla="*/ 140640 w 427"/>
                <a:gd name="T41" fmla="*/ 208398 h 408"/>
                <a:gd name="T42" fmla="*/ 135201 w 427"/>
                <a:gd name="T43" fmla="*/ 203589 h 408"/>
                <a:gd name="T44" fmla="*/ 112668 w 427"/>
                <a:gd name="T45" fmla="*/ 193971 h 408"/>
                <a:gd name="T46" fmla="*/ 103343 w 427"/>
                <a:gd name="T47" fmla="*/ 193169 h 408"/>
                <a:gd name="T48" fmla="*/ 0 w 427"/>
                <a:gd name="T49" fmla="*/ 327025 h 408"/>
                <a:gd name="T50" fmla="*/ 43513 w 427"/>
                <a:gd name="T51" fmla="*/ 247673 h 408"/>
                <a:gd name="T52" fmla="*/ 113445 w 427"/>
                <a:gd name="T53" fmla="*/ 247673 h 408"/>
                <a:gd name="T54" fmla="*/ 158512 w 427"/>
                <a:gd name="T55" fmla="*/ 327025 h 408"/>
                <a:gd name="T56" fmla="*/ 149188 w 427"/>
                <a:gd name="T57" fmla="*/ 218017 h 408"/>
                <a:gd name="T58" fmla="*/ 228444 w 427"/>
                <a:gd name="T59" fmla="*/ 193169 h 408"/>
                <a:gd name="T60" fmla="*/ 218342 w 427"/>
                <a:gd name="T61" fmla="*/ 193971 h 408"/>
                <a:gd name="T62" fmla="*/ 190370 w 427"/>
                <a:gd name="T63" fmla="*/ 208398 h 408"/>
                <a:gd name="T64" fmla="*/ 186484 w 427"/>
                <a:gd name="T65" fmla="*/ 213207 h 408"/>
                <a:gd name="T66" fmla="*/ 205133 w 427"/>
                <a:gd name="T67" fmla="*/ 327025 h 408"/>
                <a:gd name="T68" fmla="*/ 216788 w 427"/>
                <a:gd name="T69" fmla="*/ 327025 h 408"/>
                <a:gd name="T70" fmla="*/ 298375 w 427"/>
                <a:gd name="T71" fmla="*/ 247673 h 408"/>
                <a:gd name="T72" fmla="*/ 331787 w 427"/>
                <a:gd name="T73" fmla="*/ 250879 h 408"/>
                <a:gd name="T74" fmla="*/ 79256 w 427"/>
                <a:gd name="T75" fmla="*/ 185154 h 408"/>
                <a:gd name="T76" fmla="*/ 97904 w 427"/>
                <a:gd name="T77" fmla="*/ 179543 h 408"/>
                <a:gd name="T78" fmla="*/ 103343 w 427"/>
                <a:gd name="T79" fmla="*/ 176337 h 408"/>
                <a:gd name="T80" fmla="*/ 113445 w 427"/>
                <a:gd name="T81" fmla="*/ 160306 h 408"/>
                <a:gd name="T82" fmla="*/ 115776 w 427"/>
                <a:gd name="T83" fmla="*/ 153093 h 408"/>
                <a:gd name="T84" fmla="*/ 115776 w 427"/>
                <a:gd name="T85" fmla="*/ 140268 h 408"/>
                <a:gd name="T86" fmla="*/ 112668 w 427"/>
                <a:gd name="T87" fmla="*/ 131451 h 408"/>
                <a:gd name="T88" fmla="*/ 110337 w 427"/>
                <a:gd name="T89" fmla="*/ 125841 h 408"/>
                <a:gd name="T90" fmla="*/ 103343 w 427"/>
                <a:gd name="T91" fmla="*/ 117825 h 408"/>
                <a:gd name="T92" fmla="*/ 97904 w 427"/>
                <a:gd name="T93" fmla="*/ 114619 h 408"/>
                <a:gd name="T94" fmla="*/ 79256 w 427"/>
                <a:gd name="T95" fmla="*/ 109008 h 408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427" h="408">
                  <a:moveTo>
                    <a:pt x="289" y="152"/>
                  </a:moveTo>
                  <a:cubicBezTo>
                    <a:pt x="288" y="154"/>
                    <a:pt x="286" y="155"/>
                    <a:pt x="285" y="157"/>
                  </a:cubicBezTo>
                  <a:cubicBezTo>
                    <a:pt x="285" y="157"/>
                    <a:pt x="285" y="157"/>
                    <a:pt x="285" y="157"/>
                  </a:cubicBezTo>
                  <a:cubicBezTo>
                    <a:pt x="284" y="159"/>
                    <a:pt x="283" y="161"/>
                    <a:pt x="282" y="162"/>
                  </a:cubicBezTo>
                  <a:cubicBezTo>
                    <a:pt x="282" y="163"/>
                    <a:pt x="282" y="163"/>
                    <a:pt x="282" y="164"/>
                  </a:cubicBezTo>
                  <a:cubicBezTo>
                    <a:pt x="281" y="165"/>
                    <a:pt x="280" y="167"/>
                    <a:pt x="279" y="169"/>
                  </a:cubicBezTo>
                  <a:cubicBezTo>
                    <a:pt x="279" y="169"/>
                    <a:pt x="279" y="169"/>
                    <a:pt x="279" y="170"/>
                  </a:cubicBezTo>
                  <a:cubicBezTo>
                    <a:pt x="279" y="171"/>
                    <a:pt x="278" y="173"/>
                    <a:pt x="278" y="175"/>
                  </a:cubicBezTo>
                  <a:cubicBezTo>
                    <a:pt x="278" y="176"/>
                    <a:pt x="278" y="176"/>
                    <a:pt x="278" y="177"/>
                  </a:cubicBezTo>
                  <a:cubicBezTo>
                    <a:pt x="277" y="179"/>
                    <a:pt x="277" y="181"/>
                    <a:pt x="277" y="183"/>
                  </a:cubicBezTo>
                  <a:cubicBezTo>
                    <a:pt x="277" y="186"/>
                    <a:pt x="278" y="189"/>
                    <a:pt x="278" y="191"/>
                  </a:cubicBezTo>
                  <a:cubicBezTo>
                    <a:pt x="278" y="192"/>
                    <a:pt x="278" y="192"/>
                    <a:pt x="278" y="192"/>
                  </a:cubicBezTo>
                  <a:cubicBezTo>
                    <a:pt x="279" y="195"/>
                    <a:pt x="279" y="197"/>
                    <a:pt x="280" y="199"/>
                  </a:cubicBezTo>
                  <a:cubicBezTo>
                    <a:pt x="280" y="200"/>
                    <a:pt x="280" y="200"/>
                    <a:pt x="280" y="200"/>
                  </a:cubicBezTo>
                  <a:cubicBezTo>
                    <a:pt x="281" y="203"/>
                    <a:pt x="282" y="205"/>
                    <a:pt x="284" y="207"/>
                  </a:cubicBezTo>
                  <a:cubicBezTo>
                    <a:pt x="284" y="207"/>
                    <a:pt x="284" y="208"/>
                    <a:pt x="284" y="208"/>
                  </a:cubicBezTo>
                  <a:cubicBezTo>
                    <a:pt x="285" y="210"/>
                    <a:pt x="287" y="212"/>
                    <a:pt x="288" y="214"/>
                  </a:cubicBezTo>
                  <a:cubicBezTo>
                    <a:pt x="288" y="214"/>
                    <a:pt x="288" y="214"/>
                    <a:pt x="288" y="214"/>
                  </a:cubicBezTo>
                  <a:cubicBezTo>
                    <a:pt x="290" y="216"/>
                    <a:pt x="292" y="218"/>
                    <a:pt x="294" y="219"/>
                  </a:cubicBezTo>
                  <a:cubicBezTo>
                    <a:pt x="294" y="219"/>
                    <a:pt x="294" y="220"/>
                    <a:pt x="294" y="220"/>
                  </a:cubicBezTo>
                  <a:cubicBezTo>
                    <a:pt x="296" y="221"/>
                    <a:pt x="298" y="223"/>
                    <a:pt x="300" y="224"/>
                  </a:cubicBezTo>
                  <a:cubicBezTo>
                    <a:pt x="300" y="224"/>
                    <a:pt x="301" y="224"/>
                    <a:pt x="301" y="224"/>
                  </a:cubicBezTo>
                  <a:cubicBezTo>
                    <a:pt x="303" y="226"/>
                    <a:pt x="305" y="227"/>
                    <a:pt x="308" y="228"/>
                  </a:cubicBezTo>
                  <a:cubicBezTo>
                    <a:pt x="308" y="228"/>
                    <a:pt x="308" y="228"/>
                    <a:pt x="308" y="228"/>
                  </a:cubicBezTo>
                  <a:cubicBezTo>
                    <a:pt x="313" y="230"/>
                    <a:pt x="319" y="231"/>
                    <a:pt x="325" y="231"/>
                  </a:cubicBezTo>
                  <a:cubicBezTo>
                    <a:pt x="351" y="231"/>
                    <a:pt x="372" y="210"/>
                    <a:pt x="372" y="183"/>
                  </a:cubicBezTo>
                  <a:cubicBezTo>
                    <a:pt x="372" y="157"/>
                    <a:pt x="351" y="136"/>
                    <a:pt x="325" y="136"/>
                  </a:cubicBezTo>
                  <a:cubicBezTo>
                    <a:pt x="318" y="136"/>
                    <a:pt x="312" y="137"/>
                    <a:pt x="306" y="140"/>
                  </a:cubicBezTo>
                  <a:cubicBezTo>
                    <a:pt x="306" y="140"/>
                    <a:pt x="306" y="140"/>
                    <a:pt x="306" y="140"/>
                  </a:cubicBezTo>
                  <a:cubicBezTo>
                    <a:pt x="306" y="140"/>
                    <a:pt x="306" y="140"/>
                    <a:pt x="305" y="140"/>
                  </a:cubicBezTo>
                  <a:cubicBezTo>
                    <a:pt x="304" y="141"/>
                    <a:pt x="302" y="142"/>
                    <a:pt x="301" y="143"/>
                  </a:cubicBezTo>
                  <a:cubicBezTo>
                    <a:pt x="300" y="143"/>
                    <a:pt x="300" y="143"/>
                    <a:pt x="299" y="143"/>
                  </a:cubicBezTo>
                  <a:cubicBezTo>
                    <a:pt x="298" y="144"/>
                    <a:pt x="296" y="146"/>
                    <a:pt x="294" y="147"/>
                  </a:cubicBezTo>
                  <a:cubicBezTo>
                    <a:pt x="294" y="147"/>
                    <a:pt x="294" y="147"/>
                    <a:pt x="294" y="147"/>
                  </a:cubicBezTo>
                  <a:cubicBezTo>
                    <a:pt x="293" y="148"/>
                    <a:pt x="291" y="150"/>
                    <a:pt x="290" y="151"/>
                  </a:cubicBezTo>
                  <a:cubicBezTo>
                    <a:pt x="290" y="151"/>
                    <a:pt x="289" y="152"/>
                    <a:pt x="289" y="152"/>
                  </a:cubicBezTo>
                  <a:close/>
                  <a:moveTo>
                    <a:pt x="213" y="95"/>
                  </a:moveTo>
                  <a:lnTo>
                    <a:pt x="213" y="95"/>
                  </a:lnTo>
                  <a:cubicBezTo>
                    <a:pt x="240" y="95"/>
                    <a:pt x="261" y="73"/>
                    <a:pt x="261" y="47"/>
                  </a:cubicBezTo>
                  <a:cubicBezTo>
                    <a:pt x="261" y="21"/>
                    <a:pt x="240" y="0"/>
                    <a:pt x="213" y="0"/>
                  </a:cubicBezTo>
                  <a:cubicBezTo>
                    <a:pt x="187" y="0"/>
                    <a:pt x="166" y="21"/>
                    <a:pt x="166" y="47"/>
                  </a:cubicBezTo>
                  <a:cubicBezTo>
                    <a:pt x="166" y="73"/>
                    <a:pt x="187" y="95"/>
                    <a:pt x="213" y="95"/>
                  </a:cubicBezTo>
                  <a:close/>
                  <a:moveTo>
                    <a:pt x="258" y="228"/>
                  </a:moveTo>
                  <a:lnTo>
                    <a:pt x="258" y="228"/>
                  </a:lnTo>
                  <a:lnTo>
                    <a:pt x="258" y="192"/>
                  </a:lnTo>
                  <a:cubicBezTo>
                    <a:pt x="258" y="189"/>
                    <a:pt x="257" y="186"/>
                    <a:pt x="257" y="183"/>
                  </a:cubicBezTo>
                  <a:cubicBezTo>
                    <a:pt x="257" y="180"/>
                    <a:pt x="258" y="178"/>
                    <a:pt x="258" y="175"/>
                  </a:cubicBezTo>
                  <a:lnTo>
                    <a:pt x="258" y="173"/>
                  </a:lnTo>
                  <a:cubicBezTo>
                    <a:pt x="262" y="151"/>
                    <a:pt x="275" y="134"/>
                    <a:pt x="293" y="124"/>
                  </a:cubicBezTo>
                  <a:cubicBezTo>
                    <a:pt x="280" y="112"/>
                    <a:pt x="263" y="104"/>
                    <a:pt x="244" y="104"/>
                  </a:cubicBezTo>
                  <a:lnTo>
                    <a:pt x="183" y="104"/>
                  </a:lnTo>
                  <a:cubicBezTo>
                    <a:pt x="164" y="104"/>
                    <a:pt x="147" y="112"/>
                    <a:pt x="134" y="124"/>
                  </a:cubicBezTo>
                  <a:cubicBezTo>
                    <a:pt x="155" y="135"/>
                    <a:pt x="169" y="158"/>
                    <a:pt x="169" y="183"/>
                  </a:cubicBezTo>
                  <a:cubicBezTo>
                    <a:pt x="169" y="189"/>
                    <a:pt x="169" y="194"/>
                    <a:pt x="168" y="199"/>
                  </a:cubicBezTo>
                  <a:lnTo>
                    <a:pt x="168" y="228"/>
                  </a:lnTo>
                  <a:cubicBezTo>
                    <a:pt x="187" y="236"/>
                    <a:pt x="203" y="251"/>
                    <a:pt x="213" y="269"/>
                  </a:cubicBezTo>
                  <a:cubicBezTo>
                    <a:pt x="223" y="251"/>
                    <a:pt x="239" y="237"/>
                    <a:pt x="258" y="228"/>
                  </a:cubicBezTo>
                  <a:close/>
                  <a:moveTo>
                    <a:pt x="192" y="272"/>
                  </a:moveTo>
                  <a:lnTo>
                    <a:pt x="192" y="272"/>
                  </a:lnTo>
                  <a:cubicBezTo>
                    <a:pt x="190" y="270"/>
                    <a:pt x="189" y="268"/>
                    <a:pt x="187" y="266"/>
                  </a:cubicBezTo>
                  <a:cubicBezTo>
                    <a:pt x="187" y="265"/>
                    <a:pt x="186" y="265"/>
                    <a:pt x="186" y="265"/>
                  </a:cubicBezTo>
                  <a:cubicBezTo>
                    <a:pt x="185" y="263"/>
                    <a:pt x="183" y="262"/>
                    <a:pt x="181" y="260"/>
                  </a:cubicBezTo>
                  <a:cubicBezTo>
                    <a:pt x="181" y="260"/>
                    <a:pt x="181" y="259"/>
                    <a:pt x="181" y="259"/>
                  </a:cubicBezTo>
                  <a:cubicBezTo>
                    <a:pt x="179" y="258"/>
                    <a:pt x="177" y="256"/>
                    <a:pt x="175" y="255"/>
                  </a:cubicBezTo>
                  <a:cubicBezTo>
                    <a:pt x="175" y="255"/>
                    <a:pt x="175" y="254"/>
                    <a:pt x="174" y="254"/>
                  </a:cubicBezTo>
                  <a:cubicBezTo>
                    <a:pt x="168" y="250"/>
                    <a:pt x="161" y="246"/>
                    <a:pt x="153" y="244"/>
                  </a:cubicBezTo>
                  <a:cubicBezTo>
                    <a:pt x="151" y="243"/>
                    <a:pt x="150" y="243"/>
                    <a:pt x="148" y="242"/>
                  </a:cubicBezTo>
                  <a:cubicBezTo>
                    <a:pt x="147" y="242"/>
                    <a:pt x="146" y="242"/>
                    <a:pt x="145" y="242"/>
                  </a:cubicBezTo>
                  <a:cubicBezTo>
                    <a:pt x="144" y="242"/>
                    <a:pt x="143" y="241"/>
                    <a:pt x="141" y="241"/>
                  </a:cubicBezTo>
                  <a:cubicBezTo>
                    <a:pt x="141" y="241"/>
                    <a:pt x="140" y="241"/>
                    <a:pt x="139" y="241"/>
                  </a:cubicBezTo>
                  <a:cubicBezTo>
                    <a:pt x="137" y="241"/>
                    <a:pt x="135" y="241"/>
                    <a:pt x="133" y="241"/>
                  </a:cubicBezTo>
                  <a:lnTo>
                    <a:pt x="71" y="241"/>
                  </a:lnTo>
                  <a:cubicBezTo>
                    <a:pt x="32" y="241"/>
                    <a:pt x="0" y="273"/>
                    <a:pt x="0" y="313"/>
                  </a:cubicBezTo>
                  <a:lnTo>
                    <a:pt x="0" y="408"/>
                  </a:lnTo>
                  <a:lnTo>
                    <a:pt x="42" y="408"/>
                  </a:lnTo>
                  <a:lnTo>
                    <a:pt x="42" y="309"/>
                  </a:lnTo>
                  <a:lnTo>
                    <a:pt x="56" y="309"/>
                  </a:lnTo>
                  <a:lnTo>
                    <a:pt x="56" y="408"/>
                  </a:lnTo>
                  <a:lnTo>
                    <a:pt x="146" y="408"/>
                  </a:lnTo>
                  <a:lnTo>
                    <a:pt x="146" y="309"/>
                  </a:lnTo>
                  <a:lnTo>
                    <a:pt x="161" y="309"/>
                  </a:lnTo>
                  <a:lnTo>
                    <a:pt x="161" y="408"/>
                  </a:lnTo>
                  <a:lnTo>
                    <a:pt x="204" y="408"/>
                  </a:lnTo>
                  <a:lnTo>
                    <a:pt x="204" y="313"/>
                  </a:lnTo>
                  <a:cubicBezTo>
                    <a:pt x="204" y="297"/>
                    <a:pt x="200" y="283"/>
                    <a:pt x="192" y="272"/>
                  </a:cubicBezTo>
                  <a:cubicBezTo>
                    <a:pt x="192" y="272"/>
                    <a:pt x="192" y="272"/>
                    <a:pt x="192" y="272"/>
                  </a:cubicBezTo>
                  <a:close/>
                  <a:moveTo>
                    <a:pt x="355" y="241"/>
                  </a:moveTo>
                  <a:lnTo>
                    <a:pt x="355" y="241"/>
                  </a:lnTo>
                  <a:lnTo>
                    <a:pt x="294" y="241"/>
                  </a:lnTo>
                  <a:cubicBezTo>
                    <a:pt x="292" y="241"/>
                    <a:pt x="290" y="241"/>
                    <a:pt x="288" y="241"/>
                  </a:cubicBezTo>
                  <a:cubicBezTo>
                    <a:pt x="287" y="241"/>
                    <a:pt x="286" y="241"/>
                    <a:pt x="285" y="241"/>
                  </a:cubicBezTo>
                  <a:cubicBezTo>
                    <a:pt x="284" y="241"/>
                    <a:pt x="283" y="242"/>
                    <a:pt x="281" y="242"/>
                  </a:cubicBezTo>
                  <a:cubicBezTo>
                    <a:pt x="280" y="242"/>
                    <a:pt x="280" y="242"/>
                    <a:pt x="279" y="242"/>
                  </a:cubicBezTo>
                  <a:cubicBezTo>
                    <a:pt x="277" y="243"/>
                    <a:pt x="276" y="243"/>
                    <a:pt x="274" y="244"/>
                  </a:cubicBezTo>
                  <a:cubicBezTo>
                    <a:pt x="263" y="247"/>
                    <a:pt x="254" y="252"/>
                    <a:pt x="245" y="260"/>
                  </a:cubicBezTo>
                  <a:cubicBezTo>
                    <a:pt x="245" y="260"/>
                    <a:pt x="245" y="260"/>
                    <a:pt x="245" y="260"/>
                  </a:cubicBezTo>
                  <a:cubicBezTo>
                    <a:pt x="243" y="262"/>
                    <a:pt x="242" y="263"/>
                    <a:pt x="240" y="265"/>
                  </a:cubicBezTo>
                  <a:cubicBezTo>
                    <a:pt x="240" y="265"/>
                    <a:pt x="240" y="266"/>
                    <a:pt x="240" y="266"/>
                  </a:cubicBezTo>
                  <a:cubicBezTo>
                    <a:pt x="229" y="278"/>
                    <a:pt x="222" y="295"/>
                    <a:pt x="222" y="313"/>
                  </a:cubicBezTo>
                  <a:lnTo>
                    <a:pt x="222" y="408"/>
                  </a:lnTo>
                  <a:lnTo>
                    <a:pt x="264" y="408"/>
                  </a:lnTo>
                  <a:lnTo>
                    <a:pt x="264" y="309"/>
                  </a:lnTo>
                  <a:lnTo>
                    <a:pt x="279" y="309"/>
                  </a:lnTo>
                  <a:lnTo>
                    <a:pt x="279" y="408"/>
                  </a:lnTo>
                  <a:lnTo>
                    <a:pt x="369" y="408"/>
                  </a:lnTo>
                  <a:lnTo>
                    <a:pt x="369" y="309"/>
                  </a:lnTo>
                  <a:lnTo>
                    <a:pt x="384" y="309"/>
                  </a:lnTo>
                  <a:lnTo>
                    <a:pt x="384" y="408"/>
                  </a:lnTo>
                  <a:lnTo>
                    <a:pt x="427" y="408"/>
                  </a:lnTo>
                  <a:lnTo>
                    <a:pt x="427" y="313"/>
                  </a:lnTo>
                  <a:cubicBezTo>
                    <a:pt x="427" y="273"/>
                    <a:pt x="395" y="241"/>
                    <a:pt x="355" y="241"/>
                  </a:cubicBezTo>
                  <a:close/>
                  <a:moveTo>
                    <a:pt x="102" y="231"/>
                  </a:moveTo>
                  <a:lnTo>
                    <a:pt x="102" y="231"/>
                  </a:lnTo>
                  <a:cubicBezTo>
                    <a:pt x="108" y="231"/>
                    <a:pt x="114" y="230"/>
                    <a:pt x="119" y="228"/>
                  </a:cubicBezTo>
                  <a:cubicBezTo>
                    <a:pt x="119" y="228"/>
                    <a:pt x="119" y="228"/>
                    <a:pt x="119" y="228"/>
                  </a:cubicBezTo>
                  <a:cubicBezTo>
                    <a:pt x="122" y="227"/>
                    <a:pt x="124" y="226"/>
                    <a:pt x="126" y="224"/>
                  </a:cubicBezTo>
                  <a:cubicBezTo>
                    <a:pt x="126" y="224"/>
                    <a:pt x="126" y="224"/>
                    <a:pt x="126" y="224"/>
                  </a:cubicBezTo>
                  <a:cubicBezTo>
                    <a:pt x="129" y="223"/>
                    <a:pt x="131" y="221"/>
                    <a:pt x="133" y="220"/>
                  </a:cubicBezTo>
                  <a:cubicBezTo>
                    <a:pt x="133" y="220"/>
                    <a:pt x="133" y="220"/>
                    <a:pt x="133" y="220"/>
                  </a:cubicBezTo>
                  <a:cubicBezTo>
                    <a:pt x="137" y="216"/>
                    <a:pt x="140" y="212"/>
                    <a:pt x="143" y="208"/>
                  </a:cubicBezTo>
                  <a:cubicBezTo>
                    <a:pt x="143" y="207"/>
                    <a:pt x="143" y="207"/>
                    <a:pt x="143" y="207"/>
                  </a:cubicBezTo>
                  <a:cubicBezTo>
                    <a:pt x="144" y="205"/>
                    <a:pt x="145" y="203"/>
                    <a:pt x="146" y="200"/>
                  </a:cubicBezTo>
                  <a:cubicBezTo>
                    <a:pt x="146" y="200"/>
                    <a:pt x="147" y="200"/>
                    <a:pt x="147" y="199"/>
                  </a:cubicBezTo>
                  <a:cubicBezTo>
                    <a:pt x="148" y="197"/>
                    <a:pt x="148" y="195"/>
                    <a:pt x="149" y="192"/>
                  </a:cubicBezTo>
                  <a:cubicBezTo>
                    <a:pt x="149" y="192"/>
                    <a:pt x="149" y="192"/>
                    <a:pt x="149" y="191"/>
                  </a:cubicBezTo>
                  <a:cubicBezTo>
                    <a:pt x="149" y="189"/>
                    <a:pt x="150" y="186"/>
                    <a:pt x="150" y="183"/>
                  </a:cubicBezTo>
                  <a:cubicBezTo>
                    <a:pt x="150" y="181"/>
                    <a:pt x="149" y="179"/>
                    <a:pt x="149" y="177"/>
                  </a:cubicBezTo>
                  <a:cubicBezTo>
                    <a:pt x="149" y="176"/>
                    <a:pt x="149" y="176"/>
                    <a:pt x="149" y="175"/>
                  </a:cubicBezTo>
                  <a:cubicBezTo>
                    <a:pt x="148" y="173"/>
                    <a:pt x="148" y="171"/>
                    <a:pt x="147" y="169"/>
                  </a:cubicBezTo>
                  <a:cubicBezTo>
                    <a:pt x="147" y="169"/>
                    <a:pt x="147" y="169"/>
                    <a:pt x="147" y="169"/>
                  </a:cubicBezTo>
                  <a:cubicBezTo>
                    <a:pt x="147" y="167"/>
                    <a:pt x="146" y="165"/>
                    <a:pt x="145" y="164"/>
                  </a:cubicBezTo>
                  <a:cubicBezTo>
                    <a:pt x="145" y="163"/>
                    <a:pt x="145" y="163"/>
                    <a:pt x="145" y="162"/>
                  </a:cubicBezTo>
                  <a:cubicBezTo>
                    <a:pt x="144" y="161"/>
                    <a:pt x="143" y="159"/>
                    <a:pt x="142" y="157"/>
                  </a:cubicBezTo>
                  <a:cubicBezTo>
                    <a:pt x="140" y="155"/>
                    <a:pt x="139" y="154"/>
                    <a:pt x="138" y="152"/>
                  </a:cubicBezTo>
                  <a:cubicBezTo>
                    <a:pt x="137" y="152"/>
                    <a:pt x="137" y="151"/>
                    <a:pt x="137" y="151"/>
                  </a:cubicBezTo>
                  <a:cubicBezTo>
                    <a:pt x="136" y="150"/>
                    <a:pt x="134" y="148"/>
                    <a:pt x="133" y="147"/>
                  </a:cubicBezTo>
                  <a:cubicBezTo>
                    <a:pt x="133" y="147"/>
                    <a:pt x="133" y="147"/>
                    <a:pt x="132" y="147"/>
                  </a:cubicBezTo>
                  <a:cubicBezTo>
                    <a:pt x="131" y="146"/>
                    <a:pt x="129" y="144"/>
                    <a:pt x="127" y="143"/>
                  </a:cubicBezTo>
                  <a:cubicBezTo>
                    <a:pt x="127" y="143"/>
                    <a:pt x="127" y="143"/>
                    <a:pt x="126" y="143"/>
                  </a:cubicBezTo>
                  <a:cubicBezTo>
                    <a:pt x="125" y="142"/>
                    <a:pt x="123" y="141"/>
                    <a:pt x="121" y="140"/>
                  </a:cubicBezTo>
                  <a:cubicBezTo>
                    <a:pt x="121" y="140"/>
                    <a:pt x="121" y="140"/>
                    <a:pt x="121" y="140"/>
                  </a:cubicBezTo>
                  <a:cubicBezTo>
                    <a:pt x="115" y="137"/>
                    <a:pt x="109" y="136"/>
                    <a:pt x="102" y="136"/>
                  </a:cubicBezTo>
                  <a:cubicBezTo>
                    <a:pt x="76" y="136"/>
                    <a:pt x="54" y="157"/>
                    <a:pt x="54" y="183"/>
                  </a:cubicBezTo>
                  <a:cubicBezTo>
                    <a:pt x="54" y="210"/>
                    <a:pt x="76" y="231"/>
                    <a:pt x="102" y="23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8480942" y="1718343"/>
            <a:ext cx="546976" cy="540745"/>
            <a:chOff x="6084168" y="1274820"/>
            <a:chExt cx="432048" cy="432834"/>
          </a:xfrm>
        </p:grpSpPr>
        <p:sp>
          <p:nvSpPr>
            <p:cNvPr id="53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4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latin typeface="Roboto Light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6852304" y="1718409"/>
            <a:ext cx="546976" cy="539763"/>
            <a:chOff x="4788024" y="1275213"/>
            <a:chExt cx="432048" cy="432048"/>
          </a:xfrm>
        </p:grpSpPr>
        <p:sp>
          <p:nvSpPr>
            <p:cNvPr id="56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7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latin typeface="Roboto Light"/>
              </a:endParaRPr>
            </a:p>
          </p:txBody>
        </p:sp>
      </p:grpSp>
      <p:grpSp>
        <p:nvGrpSpPr>
          <p:cNvPr id="58" name="组合 57"/>
          <p:cNvGrpSpPr/>
          <p:nvPr/>
        </p:nvGrpSpPr>
        <p:grpSpPr>
          <a:xfrm>
            <a:off x="7682935" y="1726745"/>
            <a:ext cx="547970" cy="540745"/>
            <a:chOff x="5436096" y="1274820"/>
            <a:chExt cx="432833" cy="432834"/>
          </a:xfrm>
        </p:grpSpPr>
        <p:sp>
          <p:nvSpPr>
            <p:cNvPr id="59" name="椭圆 58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60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latin typeface="Roboto Light"/>
              </a:endParaRPr>
            </a:p>
          </p:txBody>
        </p:sp>
      </p:grpSp>
      <p:grpSp>
        <p:nvGrpSpPr>
          <p:cNvPr id="61" name="组合 60"/>
          <p:cNvGrpSpPr/>
          <p:nvPr/>
        </p:nvGrpSpPr>
        <p:grpSpPr>
          <a:xfrm>
            <a:off x="5211987" y="1715437"/>
            <a:ext cx="547970" cy="540745"/>
            <a:chOff x="3491880" y="1274820"/>
            <a:chExt cx="432833" cy="432834"/>
          </a:xfrm>
        </p:grpSpPr>
        <p:sp>
          <p:nvSpPr>
            <p:cNvPr id="62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63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latin typeface="Roboto Light"/>
              </a:endParaRPr>
            </a:p>
          </p:txBody>
        </p:sp>
      </p:grpSp>
      <p:grpSp>
        <p:nvGrpSpPr>
          <p:cNvPr id="64" name="组合 63"/>
          <p:cNvGrpSpPr/>
          <p:nvPr/>
        </p:nvGrpSpPr>
        <p:grpSpPr>
          <a:xfrm>
            <a:off x="6042699" y="1709107"/>
            <a:ext cx="547970" cy="540745"/>
            <a:chOff x="4139952" y="1274820"/>
            <a:chExt cx="432833" cy="432834"/>
          </a:xfrm>
        </p:grpSpPr>
        <p:sp>
          <p:nvSpPr>
            <p:cNvPr id="65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66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latin typeface="Roboto Light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6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000"/>
                            </p:stCondLst>
                            <p:childTnLst>
                              <p:par>
                                <p:cTn id="2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0" y="212519"/>
            <a:ext cx="352425" cy="400050"/>
          </a:xfrm>
          <a:prstGeom prst="rect">
            <a:avLst/>
          </a:prstGeom>
          <a:solidFill>
            <a:srgbClr val="5B9BD5">
              <a:lumMod val="50000"/>
            </a:srgbClr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endParaRPr lang="zh-CN" altLang="en-US" kern="0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7" name="矩形 16"/>
          <p:cNvSpPr>
            <a:spLocks noChangeArrowheads="1"/>
          </p:cNvSpPr>
          <p:nvPr/>
        </p:nvSpPr>
        <p:spPr bwMode="auto">
          <a:xfrm>
            <a:off x="419100" y="212519"/>
            <a:ext cx="123825" cy="400050"/>
          </a:xfrm>
          <a:prstGeom prst="rect">
            <a:avLst/>
          </a:prstGeom>
          <a:solidFill>
            <a:srgbClr val="7F7F7F"/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1" name="标题 1"/>
          <p:cNvSpPr txBox="1"/>
          <p:nvPr/>
        </p:nvSpPr>
        <p:spPr>
          <a:xfrm>
            <a:off x="609600" y="224766"/>
            <a:ext cx="9710057" cy="375557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zh-CN" altLang="en-US" sz="2400" dirty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启动时序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思源黑体" panose="020B0500000000000000" pitchFamily="34" charset="-122"/>
              <a:ea typeface="思源黑体" panose="020B0500000000000000" pitchFamily="34" charset="-122"/>
              <a:cs typeface="+mj-cs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3951226-3CCB-D69F-48C2-3CFF88F28B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712" y="908720"/>
            <a:ext cx="4324009" cy="535198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/>
          <p:cNvSpPr/>
          <p:nvPr/>
        </p:nvSpPr>
        <p:spPr>
          <a:xfrm>
            <a:off x="340640" y="272809"/>
            <a:ext cx="205469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3600" b="1" cap="none" spc="0" dirty="0">
                <a:ln w="9525">
                  <a:noFill/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本章小结</a:t>
            </a:r>
          </a:p>
        </p:txBody>
      </p:sp>
      <p:sp>
        <p:nvSpPr>
          <p:cNvPr id="47" name="TextBox 15"/>
          <p:cNvSpPr txBox="1"/>
          <p:nvPr/>
        </p:nvSpPr>
        <p:spPr>
          <a:xfrm>
            <a:off x="711890" y="1573816"/>
            <a:ext cx="5785337" cy="1003171"/>
          </a:xfrm>
          <a:prstGeom prst="rect">
            <a:avLst/>
          </a:prstGeom>
          <a:noFill/>
        </p:spPr>
        <p:txBody>
          <a:bodyPr wrap="square" lIns="71067" tIns="35534" rIns="71067" bIns="35534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sz="1400" dirty="0">
                <a:solidFill>
                  <a:schemeClr val="tx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       熟悉安卓的启动流程是启动优化的前提条件，上图的每个环节都包含了大量细节。我们不做深入阐述。</a:t>
            </a:r>
            <a:endParaRPr lang="en-US" altLang="zh-CN" sz="1400" dirty="0">
              <a:solidFill>
                <a:schemeClr val="tx1"/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endParaRPr lang="zh-CN" altLang="en-US" sz="1400" dirty="0"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711890" y="1135702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zh-CN" altLang="en-US" dirty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启动时序</a:t>
            </a:r>
            <a:endParaRPr lang="zh-CN" altLang="en-US" b="1" dirty="0">
              <a:solidFill>
                <a:srgbClr val="0070C0"/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9108771" y="5142372"/>
            <a:ext cx="3083229" cy="1715628"/>
            <a:chOff x="3909171" y="5101626"/>
            <a:chExt cx="2312422" cy="1756375"/>
          </a:xfrm>
        </p:grpSpPr>
        <p:sp>
          <p:nvSpPr>
            <p:cNvPr id="34" name="任意多边形: 形状 14"/>
            <p:cNvSpPr/>
            <p:nvPr/>
          </p:nvSpPr>
          <p:spPr>
            <a:xfrm>
              <a:off x="3909171" y="5617900"/>
              <a:ext cx="2312422" cy="1240101"/>
            </a:xfrm>
            <a:custGeom>
              <a:avLst/>
              <a:gdLst>
                <a:gd name="connsiteX0" fmla="*/ 688066 w 2750572"/>
                <a:gd name="connsiteY0" fmla="*/ 0 h 1240101"/>
                <a:gd name="connsiteX1" fmla="*/ 2062507 w 2750572"/>
                <a:gd name="connsiteY1" fmla="*/ 0 h 1240101"/>
                <a:gd name="connsiteX2" fmla="*/ 2750572 w 2750572"/>
                <a:gd name="connsiteY2" fmla="*/ 1186787 h 1240101"/>
                <a:gd name="connsiteX3" fmla="*/ 2719750 w 2750572"/>
                <a:gd name="connsiteY3" fmla="*/ 1240101 h 1240101"/>
                <a:gd name="connsiteX4" fmla="*/ 30822 w 2750572"/>
                <a:gd name="connsiteY4" fmla="*/ 1240101 h 1240101"/>
                <a:gd name="connsiteX5" fmla="*/ 0 w 2750572"/>
                <a:gd name="connsiteY5" fmla="*/ 1186787 h 1240101"/>
                <a:gd name="connsiteX6" fmla="*/ 688066 w 2750572"/>
                <a:gd name="connsiteY6" fmla="*/ 0 h 1240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50572" h="1240101">
                  <a:moveTo>
                    <a:pt x="688066" y="0"/>
                  </a:moveTo>
                  <a:lnTo>
                    <a:pt x="2062507" y="0"/>
                  </a:lnTo>
                  <a:lnTo>
                    <a:pt x="2750572" y="1186787"/>
                  </a:lnTo>
                  <a:lnTo>
                    <a:pt x="2719750" y="1240101"/>
                  </a:lnTo>
                  <a:lnTo>
                    <a:pt x="30822" y="1240101"/>
                  </a:lnTo>
                  <a:lnTo>
                    <a:pt x="0" y="1186787"/>
                  </a:lnTo>
                  <a:lnTo>
                    <a:pt x="688066" y="0"/>
                  </a:lnTo>
                  <a:close/>
                </a:path>
              </a:pathLst>
            </a:custGeom>
            <a:solidFill>
              <a:schemeClr val="accent1">
                <a:alpha val="1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5" name="Freeform 21"/>
            <p:cNvSpPr/>
            <p:nvPr/>
          </p:nvSpPr>
          <p:spPr bwMode="auto">
            <a:xfrm>
              <a:off x="4021319" y="5101626"/>
              <a:ext cx="866775" cy="1026882"/>
            </a:xfrm>
            <a:custGeom>
              <a:avLst/>
              <a:gdLst>
                <a:gd name="T0" fmla="*/ 1220 w 1627"/>
                <a:gd name="T1" fmla="*/ 0 h 1406"/>
                <a:gd name="T2" fmla="*/ 407 w 1627"/>
                <a:gd name="T3" fmla="*/ 0 h 1406"/>
                <a:gd name="T4" fmla="*/ 0 w 1627"/>
                <a:gd name="T5" fmla="*/ 702 h 1406"/>
                <a:gd name="T6" fmla="*/ 407 w 1627"/>
                <a:gd name="T7" fmla="*/ 1406 h 1406"/>
                <a:gd name="T8" fmla="*/ 1220 w 1627"/>
                <a:gd name="T9" fmla="*/ 1406 h 1406"/>
                <a:gd name="T10" fmla="*/ 1627 w 1627"/>
                <a:gd name="T11" fmla="*/ 702 h 1406"/>
                <a:gd name="T12" fmla="*/ 1220 w 1627"/>
                <a:gd name="T13" fmla="*/ 0 h 1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27" h="1406">
                  <a:moveTo>
                    <a:pt x="1220" y="0"/>
                  </a:moveTo>
                  <a:lnTo>
                    <a:pt x="407" y="0"/>
                  </a:lnTo>
                  <a:lnTo>
                    <a:pt x="0" y="702"/>
                  </a:lnTo>
                  <a:lnTo>
                    <a:pt x="407" y="1406"/>
                  </a:lnTo>
                  <a:lnTo>
                    <a:pt x="1220" y="1406"/>
                  </a:lnTo>
                  <a:lnTo>
                    <a:pt x="1627" y="702"/>
                  </a:lnTo>
                  <a:lnTo>
                    <a:pt x="1220" y="0"/>
                  </a:lnTo>
                  <a:close/>
                </a:path>
              </a:pathLst>
            </a:custGeom>
            <a:solidFill>
              <a:schemeClr val="accent1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7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2" presetClass="entr" presetSubtype="4" fill="hold" nodeType="withEffect" p14:presetBounceEnd="36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6000">
                                          <p:cBhvr additive="base">
                                            <p:cTn id="10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6000">
                                          <p:cBhvr additive="base">
                                            <p:cTn id="11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7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7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2" presetClass="entr" presetSubtype="4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0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7" grpId="0"/>
        </p:bldLst>
      </p:timing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1F141-4C63-89B9-7457-E4FA21584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图片 32">
            <a:extLst>
              <a:ext uri="{FF2B5EF4-FFF2-40B4-BE49-F238E27FC236}">
                <a16:creationId xmlns:a16="http://schemas.microsoft.com/office/drawing/2014/main" id="{C89C2B50-0914-94A1-B967-15FFDD97074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aturation sat="8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04"/>
            <a:ext cx="5234342" cy="6852592"/>
          </a:xfrm>
          <a:prstGeom prst="rect">
            <a:avLst/>
          </a:prstGeom>
        </p:spPr>
      </p:pic>
      <p:grpSp>
        <p:nvGrpSpPr>
          <p:cNvPr id="24" name="组合 23">
            <a:extLst>
              <a:ext uri="{FF2B5EF4-FFF2-40B4-BE49-F238E27FC236}">
                <a16:creationId xmlns:a16="http://schemas.microsoft.com/office/drawing/2014/main" id="{B776A396-E4FB-AFD4-81BC-7890728EF331}"/>
              </a:ext>
            </a:extLst>
          </p:cNvPr>
          <p:cNvGrpSpPr/>
          <p:nvPr/>
        </p:nvGrpSpPr>
        <p:grpSpPr>
          <a:xfrm>
            <a:off x="0" y="4060494"/>
            <a:ext cx="3028950" cy="2797506"/>
            <a:chOff x="0" y="3609283"/>
            <a:chExt cx="3097161" cy="3248717"/>
          </a:xfrm>
        </p:grpSpPr>
        <p:sp>
          <p:nvSpPr>
            <p:cNvPr id="25" name="任意多边形: 形状 35">
              <a:extLst>
                <a:ext uri="{FF2B5EF4-FFF2-40B4-BE49-F238E27FC236}">
                  <a16:creationId xmlns:a16="http://schemas.microsoft.com/office/drawing/2014/main" id="{38BA9CA8-6EB6-EAA6-FB05-637D239BAC7B}"/>
                </a:ext>
              </a:extLst>
            </p:cNvPr>
            <p:cNvSpPr/>
            <p:nvPr/>
          </p:nvSpPr>
          <p:spPr>
            <a:xfrm>
              <a:off x="0" y="3609283"/>
              <a:ext cx="3097161" cy="3248717"/>
            </a:xfrm>
            <a:custGeom>
              <a:avLst/>
              <a:gdLst>
                <a:gd name="connsiteX0" fmla="*/ 0 w 3097161"/>
                <a:gd name="connsiteY0" fmla="*/ 0 h 3248717"/>
                <a:gd name="connsiteX1" fmla="*/ 1807845 w 3097161"/>
                <a:gd name="connsiteY1" fmla="*/ 0 h 3248717"/>
                <a:gd name="connsiteX2" fmla="*/ 3097161 w 3097161"/>
                <a:gd name="connsiteY2" fmla="*/ 2230611 h 3248717"/>
                <a:gd name="connsiteX3" fmla="*/ 2508869 w 3097161"/>
                <a:gd name="connsiteY3" fmla="*/ 3248717 h 3248717"/>
                <a:gd name="connsiteX4" fmla="*/ 0 w 3097161"/>
                <a:gd name="connsiteY4" fmla="*/ 3248717 h 3248717"/>
                <a:gd name="connsiteX5" fmla="*/ 0 w 3097161"/>
                <a:gd name="connsiteY5" fmla="*/ 0 h 3248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97161" h="3248717">
                  <a:moveTo>
                    <a:pt x="0" y="0"/>
                  </a:moveTo>
                  <a:lnTo>
                    <a:pt x="1807845" y="0"/>
                  </a:lnTo>
                  <a:lnTo>
                    <a:pt x="3097161" y="2230611"/>
                  </a:lnTo>
                  <a:lnTo>
                    <a:pt x="2508869" y="3248717"/>
                  </a:lnTo>
                  <a:lnTo>
                    <a:pt x="0" y="32487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Freeform 11">
              <a:extLst>
                <a:ext uri="{FF2B5EF4-FFF2-40B4-BE49-F238E27FC236}">
                  <a16:creationId xmlns:a16="http://schemas.microsoft.com/office/drawing/2014/main" id="{F8C39BE3-9E9F-A89F-C1DE-87B1F9AB6963}"/>
                </a:ext>
              </a:extLst>
            </p:cNvPr>
            <p:cNvSpPr/>
            <p:nvPr/>
          </p:nvSpPr>
          <p:spPr bwMode="auto">
            <a:xfrm>
              <a:off x="0" y="3995737"/>
              <a:ext cx="2105025" cy="2862263"/>
            </a:xfrm>
            <a:custGeom>
              <a:avLst/>
              <a:gdLst>
                <a:gd name="T0" fmla="*/ 774 w 1326"/>
                <a:gd name="T1" fmla="*/ 0 h 1803"/>
                <a:gd name="T2" fmla="*/ 0 w 1326"/>
                <a:gd name="T3" fmla="*/ 0 h 1803"/>
                <a:gd name="T4" fmla="*/ 0 w 1326"/>
                <a:gd name="T5" fmla="*/ 1803 h 1803"/>
                <a:gd name="T6" fmla="*/ 836 w 1326"/>
                <a:gd name="T7" fmla="*/ 1803 h 1803"/>
                <a:gd name="T8" fmla="*/ 1326 w 1326"/>
                <a:gd name="T9" fmla="*/ 955 h 1803"/>
                <a:gd name="T10" fmla="*/ 774 w 1326"/>
                <a:gd name="T11" fmla="*/ 0 h 18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26" h="1803">
                  <a:moveTo>
                    <a:pt x="774" y="0"/>
                  </a:moveTo>
                  <a:lnTo>
                    <a:pt x="0" y="0"/>
                  </a:lnTo>
                  <a:lnTo>
                    <a:pt x="0" y="1803"/>
                  </a:lnTo>
                  <a:lnTo>
                    <a:pt x="836" y="1803"/>
                  </a:lnTo>
                  <a:lnTo>
                    <a:pt x="1326" y="955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accent1">
                <a:alpha val="42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27" name="矩形 26">
            <a:extLst>
              <a:ext uri="{FF2B5EF4-FFF2-40B4-BE49-F238E27FC236}">
                <a16:creationId xmlns:a16="http://schemas.microsoft.com/office/drawing/2014/main" id="{113CC611-B5C3-E0C8-20C3-E1A142063FFF}"/>
              </a:ext>
            </a:extLst>
          </p:cNvPr>
          <p:cNvSpPr/>
          <p:nvPr/>
        </p:nvSpPr>
        <p:spPr>
          <a:xfrm>
            <a:off x="808811" y="450334"/>
            <a:ext cx="2778325" cy="14465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88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+mn-lt"/>
              </a:rPr>
              <a:t>目 录</a:t>
            </a:r>
            <a:endParaRPr lang="zh-CN" altLang="en-US" sz="8800" b="1" dirty="0"/>
          </a:p>
        </p:txBody>
      </p:sp>
      <p:sp>
        <p:nvSpPr>
          <p:cNvPr id="28" name="文本框 45">
            <a:extLst>
              <a:ext uri="{FF2B5EF4-FFF2-40B4-BE49-F238E27FC236}">
                <a16:creationId xmlns:a16="http://schemas.microsoft.com/office/drawing/2014/main" id="{F3804940-C287-8D79-EC38-A255CC5F93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5495" y="1709829"/>
            <a:ext cx="2613344" cy="76944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440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+mn-lt"/>
              </a:rPr>
              <a:t>Contents</a:t>
            </a:r>
            <a:endParaRPr lang="zh-CN" altLang="en-US" sz="4400" dirty="0">
              <a:solidFill>
                <a:schemeClr val="bg1"/>
              </a:solidFill>
              <a:latin typeface="思源黑体" panose="020B0500000000000000" pitchFamily="34" charset="-122"/>
              <a:ea typeface="思源黑体" panose="020B0500000000000000" pitchFamily="34" charset="-122"/>
              <a:sym typeface="+mn-lt"/>
            </a:endParaRP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5CF0A92E-6D56-AE48-4C5B-8CF42F7AC8CD}"/>
              </a:ext>
            </a:extLst>
          </p:cNvPr>
          <p:cNvGrpSpPr/>
          <p:nvPr/>
        </p:nvGrpSpPr>
        <p:grpSpPr>
          <a:xfrm>
            <a:off x="3471020" y="5029199"/>
            <a:ext cx="3667429" cy="1828801"/>
            <a:chOff x="3471021" y="4985765"/>
            <a:chExt cx="2750572" cy="1872236"/>
          </a:xfrm>
        </p:grpSpPr>
        <p:sp>
          <p:nvSpPr>
            <p:cNvPr id="30" name="任意多边形: 形状 29">
              <a:extLst>
                <a:ext uri="{FF2B5EF4-FFF2-40B4-BE49-F238E27FC236}">
                  <a16:creationId xmlns:a16="http://schemas.microsoft.com/office/drawing/2014/main" id="{418B33A5-A880-8F5A-7C9E-13F4726D5423}"/>
                </a:ext>
              </a:extLst>
            </p:cNvPr>
            <p:cNvSpPr/>
            <p:nvPr/>
          </p:nvSpPr>
          <p:spPr>
            <a:xfrm>
              <a:off x="3471021" y="5617900"/>
              <a:ext cx="2750572" cy="1240101"/>
            </a:xfrm>
            <a:custGeom>
              <a:avLst/>
              <a:gdLst>
                <a:gd name="connsiteX0" fmla="*/ 688066 w 2750572"/>
                <a:gd name="connsiteY0" fmla="*/ 0 h 1240101"/>
                <a:gd name="connsiteX1" fmla="*/ 2062507 w 2750572"/>
                <a:gd name="connsiteY1" fmla="*/ 0 h 1240101"/>
                <a:gd name="connsiteX2" fmla="*/ 2750572 w 2750572"/>
                <a:gd name="connsiteY2" fmla="*/ 1186787 h 1240101"/>
                <a:gd name="connsiteX3" fmla="*/ 2719750 w 2750572"/>
                <a:gd name="connsiteY3" fmla="*/ 1240101 h 1240101"/>
                <a:gd name="connsiteX4" fmla="*/ 30822 w 2750572"/>
                <a:gd name="connsiteY4" fmla="*/ 1240101 h 1240101"/>
                <a:gd name="connsiteX5" fmla="*/ 0 w 2750572"/>
                <a:gd name="connsiteY5" fmla="*/ 1186787 h 1240101"/>
                <a:gd name="connsiteX6" fmla="*/ 688066 w 2750572"/>
                <a:gd name="connsiteY6" fmla="*/ 0 h 1240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50572" h="1240101">
                  <a:moveTo>
                    <a:pt x="688066" y="0"/>
                  </a:moveTo>
                  <a:lnTo>
                    <a:pt x="2062507" y="0"/>
                  </a:lnTo>
                  <a:lnTo>
                    <a:pt x="2750572" y="1186787"/>
                  </a:lnTo>
                  <a:lnTo>
                    <a:pt x="2719750" y="1240101"/>
                  </a:lnTo>
                  <a:lnTo>
                    <a:pt x="30822" y="1240101"/>
                  </a:lnTo>
                  <a:lnTo>
                    <a:pt x="0" y="1186787"/>
                  </a:lnTo>
                  <a:lnTo>
                    <a:pt x="688066" y="0"/>
                  </a:lnTo>
                  <a:close/>
                </a:path>
              </a:pathLst>
            </a:custGeom>
            <a:solidFill>
              <a:schemeClr val="accent1">
                <a:alpha val="1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1" name="Freeform 21">
              <a:extLst>
                <a:ext uri="{FF2B5EF4-FFF2-40B4-BE49-F238E27FC236}">
                  <a16:creationId xmlns:a16="http://schemas.microsoft.com/office/drawing/2014/main" id="{05ADFD33-0220-4F5E-0BE7-604A54716BEB}"/>
                </a:ext>
              </a:extLst>
            </p:cNvPr>
            <p:cNvSpPr/>
            <p:nvPr/>
          </p:nvSpPr>
          <p:spPr bwMode="auto">
            <a:xfrm>
              <a:off x="3558108" y="4985765"/>
              <a:ext cx="1042922" cy="1142742"/>
            </a:xfrm>
            <a:custGeom>
              <a:avLst/>
              <a:gdLst>
                <a:gd name="T0" fmla="*/ 1220 w 1627"/>
                <a:gd name="T1" fmla="*/ 0 h 1406"/>
                <a:gd name="T2" fmla="*/ 407 w 1627"/>
                <a:gd name="T3" fmla="*/ 0 h 1406"/>
                <a:gd name="T4" fmla="*/ 0 w 1627"/>
                <a:gd name="T5" fmla="*/ 702 h 1406"/>
                <a:gd name="T6" fmla="*/ 407 w 1627"/>
                <a:gd name="T7" fmla="*/ 1406 h 1406"/>
                <a:gd name="T8" fmla="*/ 1220 w 1627"/>
                <a:gd name="T9" fmla="*/ 1406 h 1406"/>
                <a:gd name="T10" fmla="*/ 1627 w 1627"/>
                <a:gd name="T11" fmla="*/ 702 h 1406"/>
                <a:gd name="T12" fmla="*/ 1220 w 1627"/>
                <a:gd name="T13" fmla="*/ 0 h 1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27" h="1406">
                  <a:moveTo>
                    <a:pt x="1220" y="0"/>
                  </a:moveTo>
                  <a:lnTo>
                    <a:pt x="407" y="0"/>
                  </a:lnTo>
                  <a:lnTo>
                    <a:pt x="0" y="702"/>
                  </a:lnTo>
                  <a:lnTo>
                    <a:pt x="407" y="1406"/>
                  </a:lnTo>
                  <a:lnTo>
                    <a:pt x="1220" y="1406"/>
                  </a:lnTo>
                  <a:lnTo>
                    <a:pt x="1627" y="702"/>
                  </a:lnTo>
                  <a:lnTo>
                    <a:pt x="1220" y="0"/>
                  </a:lnTo>
                  <a:close/>
                </a:path>
              </a:pathLst>
            </a:custGeom>
            <a:solidFill>
              <a:schemeClr val="accent1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1F7B640C-C8F0-11DE-525B-A5AE9A2902BC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6490340" y="1482723"/>
            <a:ext cx="3331684" cy="650877"/>
            <a:chOff x="6490340" y="1139823"/>
            <a:chExt cx="3331684" cy="650877"/>
          </a:xfrm>
        </p:grpSpPr>
        <p:sp>
          <p:nvSpPr>
            <p:cNvPr id="34" name="椭圆 16">
              <a:extLst>
                <a:ext uri="{FF2B5EF4-FFF2-40B4-BE49-F238E27FC236}">
                  <a16:creationId xmlns:a16="http://schemas.microsoft.com/office/drawing/2014/main" id="{094656A0-703E-794B-BF29-B1B7ACB6A402}"/>
                </a:ext>
              </a:extLst>
            </p:cNvPr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6490340" y="1139823"/>
              <a:ext cx="659574" cy="650877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 b="1" dirty="0">
                  <a:solidFill>
                    <a:srgbClr val="FFFFFF"/>
                  </a:solidFill>
                  <a:latin typeface="Calibri" panose="020F0502020204030204" pitchFamily="34" charset="0"/>
                </a:rPr>
                <a:t>1</a:t>
              </a:r>
              <a:endParaRPr lang="zh-CN" altLang="en-US" sz="2800" b="1" dirty="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FE72B1C5-456C-6BAD-BFDE-5E2034EC4A80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7321728" y="1203651"/>
              <a:ext cx="2500296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800" b="1" dirty="0">
                  <a:solidFill>
                    <a:srgbClr val="0070C0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+mn-lt"/>
                </a:rPr>
                <a:t>启动时序</a:t>
              </a: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DF33D922-0C6E-FB8A-E0CA-B757E91ACDF6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6490340" y="2335210"/>
            <a:ext cx="2452346" cy="650877"/>
            <a:chOff x="6490340" y="1992310"/>
            <a:chExt cx="2452346" cy="650877"/>
          </a:xfrm>
        </p:grpSpPr>
        <p:sp>
          <p:nvSpPr>
            <p:cNvPr id="37" name="椭圆 16">
              <a:extLst>
                <a:ext uri="{FF2B5EF4-FFF2-40B4-BE49-F238E27FC236}">
                  <a16:creationId xmlns:a16="http://schemas.microsoft.com/office/drawing/2014/main" id="{D6AEA525-40B6-DB94-A4D9-F91003F47CD7}"/>
                </a:ext>
              </a:extLst>
            </p:cNvPr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6490340" y="1992310"/>
              <a:ext cx="659574" cy="650877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 b="1" dirty="0">
                  <a:solidFill>
                    <a:srgbClr val="FFFFFF"/>
                  </a:solidFill>
                  <a:latin typeface="Calibri" panose="020F0502020204030204" pitchFamily="34" charset="0"/>
                </a:rPr>
                <a:t>2</a:t>
              </a:r>
              <a:endParaRPr lang="zh-CN" altLang="en-US" sz="2800" b="1" dirty="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AB2EE2FA-D8C7-8A80-4463-DC88EA70C8EF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7321729" y="2047375"/>
              <a:ext cx="162095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solidFill>
                    <a:srgbClr val="0070C0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+mn-lt"/>
                </a:rPr>
                <a:t>优化方案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61CF817F-C90A-B5EE-CE69-40B351503801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6490340" y="3187697"/>
            <a:ext cx="1734200" cy="650877"/>
            <a:chOff x="6490340" y="2844797"/>
            <a:chExt cx="1734200" cy="650877"/>
          </a:xfrm>
        </p:grpSpPr>
        <p:sp>
          <p:nvSpPr>
            <p:cNvPr id="40" name="椭圆 16">
              <a:extLst>
                <a:ext uri="{FF2B5EF4-FFF2-40B4-BE49-F238E27FC236}">
                  <a16:creationId xmlns:a16="http://schemas.microsoft.com/office/drawing/2014/main" id="{9BEB3D66-F5E8-ABC0-66F1-88EC1FB4B4E5}"/>
                </a:ext>
              </a:extLst>
            </p:cNvPr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6490340" y="2844797"/>
              <a:ext cx="659574" cy="650877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 b="1" dirty="0">
                  <a:solidFill>
                    <a:srgbClr val="FFFFFF"/>
                  </a:solidFill>
                  <a:latin typeface="Calibri" panose="020F0502020204030204" pitchFamily="34" charset="0"/>
                </a:rPr>
                <a:t>3</a:t>
              </a:r>
              <a:endParaRPr lang="zh-CN" altLang="en-US" sz="2800" b="1" dirty="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446A00A4-5D0B-EF3B-749C-2141F5AD548D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7321729" y="2893581"/>
              <a:ext cx="902811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solidFill>
                    <a:srgbClr val="0070C0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+mn-lt"/>
                </a:rPr>
                <a:t>工具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3F22FBE6-C2AD-1B23-D3F4-1DB6B323BBC2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6490340" y="4040184"/>
            <a:ext cx="2452346" cy="650877"/>
            <a:chOff x="6490340" y="2844797"/>
            <a:chExt cx="2452346" cy="650877"/>
          </a:xfrm>
        </p:grpSpPr>
        <p:sp>
          <p:nvSpPr>
            <p:cNvPr id="3" name="椭圆 16">
              <a:extLst>
                <a:ext uri="{FF2B5EF4-FFF2-40B4-BE49-F238E27FC236}">
                  <a16:creationId xmlns:a16="http://schemas.microsoft.com/office/drawing/2014/main" id="{F39B3DF2-26DE-9ADD-5912-C374C9C085C0}"/>
                </a:ext>
              </a:extLst>
            </p:cNvPr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6490340" y="2844797"/>
              <a:ext cx="659574" cy="650877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 b="1" dirty="0">
                  <a:solidFill>
                    <a:srgbClr val="FFFFFF"/>
                  </a:solidFill>
                  <a:latin typeface="Calibri" panose="020F0502020204030204" pitchFamily="34" charset="0"/>
                </a:rPr>
                <a:t>4</a:t>
              </a:r>
              <a:endParaRPr lang="zh-CN" altLang="en-US" sz="2800" b="1" dirty="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DDAC3E30-2611-B915-76B8-2F98F470CD66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7321729" y="2893581"/>
              <a:ext cx="162095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solidFill>
                    <a:srgbClr val="0070C0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+mn-lt"/>
                </a:rPr>
                <a:t>项目实践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51230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2" fill="hold" nodeType="with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7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8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" presetClass="entr" presetSubtype="9" fill="hold" grpId="0" nodeType="afterEffect" p14:presetBounceEnd="5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4000">
                                          <p:cBhvr additive="base">
                                            <p:cTn id="12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4000">
                                          <p:cBhvr additive="base">
                                            <p:cTn id="13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4" presetID="2" presetClass="entr" presetSubtype="9" fill="hold" grpId="0" nodeType="withEffect" p14:presetBounceEnd="5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4000">
                                          <p:cBhvr additive="base">
                                            <p:cTn id="16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4000">
                                          <p:cBhvr additive="base">
                                            <p:cTn id="17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8" presetID="2" presetClass="entr" presetSubtype="9" fill="hold" nodeType="withEffect" p14:presetBounceEnd="5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4000">
                                          <p:cBhvr additive="base">
                                            <p:cTn id="20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4000">
                                          <p:cBhvr additive="base">
                                            <p:cTn id="21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7" grpId="0"/>
          <p:bldP spid="28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" presetClass="entr" presetSubtype="9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4" presetID="2" presetClass="entr" presetSubtype="9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7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8" presetID="2" presetClass="entr" presetSubtype="9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1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7" grpId="0"/>
          <p:bldP spid="28" grpId="0"/>
        </p:bldLst>
      </p:timing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2389091"/>
            <a:ext cx="12192000" cy="12927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3" name="文本框 17"/>
          <p:cNvSpPr txBox="1"/>
          <p:nvPr/>
        </p:nvSpPr>
        <p:spPr>
          <a:xfrm>
            <a:off x="4450112" y="2686634"/>
            <a:ext cx="43194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优化方案</a:t>
            </a:r>
          </a:p>
        </p:txBody>
      </p:sp>
      <p:grpSp>
        <p:nvGrpSpPr>
          <p:cNvPr id="41" name="组合 40"/>
          <p:cNvGrpSpPr/>
          <p:nvPr/>
        </p:nvGrpSpPr>
        <p:grpSpPr>
          <a:xfrm>
            <a:off x="1822608" y="1985811"/>
            <a:ext cx="2114741" cy="2697003"/>
            <a:chOff x="1041891" y="2887277"/>
            <a:chExt cx="1036261" cy="1321580"/>
          </a:xfrm>
        </p:grpSpPr>
        <p:sp>
          <p:nvSpPr>
            <p:cNvPr id="42" name="Oval 53"/>
            <p:cNvSpPr>
              <a:spLocks noChangeArrowheads="1"/>
            </p:cNvSpPr>
            <p:nvPr/>
          </p:nvSpPr>
          <p:spPr bwMode="auto">
            <a:xfrm>
              <a:off x="1041891" y="2887277"/>
              <a:ext cx="1036261" cy="1036518"/>
            </a:xfrm>
            <a:prstGeom prst="ellipse">
              <a:avLst/>
            </a:prstGeom>
            <a:solidFill>
              <a:srgbClr val="0070C0"/>
            </a:solidFill>
            <a:ln w="88900">
              <a:gradFill flip="none" rotWithShape="1">
                <a:gsLst>
                  <a:gs pos="0">
                    <a:srgbClr val="FFFFFF"/>
                  </a:gs>
                  <a:gs pos="100000">
                    <a:srgbClr val="D9D9DA"/>
                  </a:gs>
                </a:gsLst>
                <a:lin ang="2700000" scaled="0"/>
                <a:tileRect/>
              </a:gradFill>
            </a:ln>
            <a:effectLst>
              <a:outerShdw blurRad="279400" dist="76200" dir="2700000" sx="101000" sy="101000" algn="tl" rotWithShape="0">
                <a:prstClr val="black">
                  <a:alpha val="2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anchor="ctr"/>
            <a:lstStyle/>
            <a:p>
              <a:pPr algn="ctr">
                <a:defRPr/>
              </a:pPr>
              <a:endParaRPr lang="zh-CN" altLang="en-US" sz="5865"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sp>
          <p:nvSpPr>
            <p:cNvPr id="43" name="Text Box 58"/>
            <p:cNvSpPr txBox="1">
              <a:spLocks noChangeArrowheads="1"/>
            </p:cNvSpPr>
            <p:nvPr/>
          </p:nvSpPr>
          <p:spPr bwMode="auto">
            <a:xfrm>
              <a:off x="1159958" y="3077737"/>
              <a:ext cx="782803" cy="11311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altLang="zh-CN" sz="5000" b="1" dirty="0">
                  <a:solidFill>
                    <a:schemeClr val="bg1"/>
                  </a:solidFill>
                  <a:latin typeface="Calibri" panose="020F0502020204030204" pitchFamily="34" charset="0"/>
                  <a:ea typeface="华文琥珀" panose="02010800040101010101" pitchFamily="2" charset="-122"/>
                  <a:cs typeface="Calibri" panose="020F0502020204030204" pitchFamily="34" charset="0"/>
                </a:rPr>
                <a:t>PART  2</a:t>
              </a:r>
            </a:p>
            <a:p>
              <a:pPr algn="ctr"/>
              <a:r>
                <a:rPr lang="en-US" altLang="zh-CN" sz="4400" dirty="0">
                  <a:solidFill>
                    <a:schemeClr val="bg1"/>
                  </a:solidFill>
                  <a:latin typeface="Calibri" panose="020F0502020204030204" pitchFamily="34" charset="0"/>
                  <a:ea typeface="思源黑体" panose="020B0500000000000000" pitchFamily="34" charset="-122"/>
                  <a:cs typeface="Calibri" panose="020F0502020204030204" pitchFamily="34" charset="0"/>
                </a:rPr>
                <a:t> </a:t>
              </a:r>
            </a:p>
          </p:txBody>
        </p:sp>
      </p:grpSp>
      <p:sp>
        <p:nvSpPr>
          <p:cNvPr id="44" name="矩形 43"/>
          <p:cNvSpPr/>
          <p:nvPr/>
        </p:nvSpPr>
        <p:spPr>
          <a:xfrm>
            <a:off x="4524489" y="3801377"/>
            <a:ext cx="13853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800" b="1" dirty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1. </a:t>
            </a:r>
            <a:r>
              <a:rPr lang="zh-CN" altLang="en-US" sz="1800" b="1" dirty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优化思路</a:t>
            </a:r>
            <a:endParaRPr lang="zh-CN" altLang="en-US" sz="1800" b="1" dirty="0">
              <a:solidFill>
                <a:srgbClr val="0070C0"/>
              </a:solidFill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10729790" y="2540217"/>
            <a:ext cx="1145728" cy="1261160"/>
            <a:chOff x="1696902" y="1658204"/>
            <a:chExt cx="1357422" cy="1785621"/>
          </a:xfrm>
        </p:grpSpPr>
        <p:grpSp>
          <p:nvGrpSpPr>
            <p:cNvPr id="46" name="组合 45"/>
            <p:cNvGrpSpPr/>
            <p:nvPr/>
          </p:nvGrpSpPr>
          <p:grpSpPr>
            <a:xfrm>
              <a:off x="1696902" y="1658204"/>
              <a:ext cx="1357422" cy="1785621"/>
              <a:chOff x="1434530" y="1923678"/>
              <a:chExt cx="875843" cy="1152128"/>
            </a:xfrm>
          </p:grpSpPr>
          <p:sp>
            <p:nvSpPr>
              <p:cNvPr id="51" name="椭圆 2"/>
              <p:cNvSpPr/>
              <p:nvPr/>
            </p:nvSpPr>
            <p:spPr>
              <a:xfrm rot="1761192">
                <a:off x="1734309" y="1923678"/>
                <a:ext cx="576064" cy="1152128"/>
              </a:xfrm>
              <a:custGeom>
                <a:avLst/>
                <a:gdLst/>
                <a:ahLst/>
                <a:cxnLst/>
                <a:rect l="l" t="t" r="r" b="b"/>
                <a:pathLst>
                  <a:path w="576064" h="1152128">
                    <a:moveTo>
                      <a:pt x="0" y="0"/>
                    </a:moveTo>
                    <a:cubicBezTo>
                      <a:pt x="318151" y="0"/>
                      <a:pt x="576064" y="257913"/>
                      <a:pt x="576064" y="576064"/>
                    </a:cubicBezTo>
                    <a:cubicBezTo>
                      <a:pt x="576064" y="894215"/>
                      <a:pt x="318151" y="1152128"/>
                      <a:pt x="0" y="1152128"/>
                    </a:cubicBezTo>
                    <a:close/>
                  </a:path>
                </a:pathLst>
              </a:custGeom>
              <a:solidFill>
                <a:srgbClr val="EAEAEA">
                  <a:alpha val="30196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9" name="TextBox 4"/>
              <p:cNvSpPr txBox="1"/>
              <p:nvPr/>
            </p:nvSpPr>
            <p:spPr>
              <a:xfrm>
                <a:off x="1434530" y="2496128"/>
                <a:ext cx="728783" cy="4217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47" name="Freeform 14"/>
            <p:cNvSpPr>
              <a:spLocks noEditPoints="1"/>
            </p:cNvSpPr>
            <p:nvPr/>
          </p:nvSpPr>
          <p:spPr bwMode="auto">
            <a:xfrm>
              <a:off x="2001870" y="1860853"/>
              <a:ext cx="824533" cy="812699"/>
            </a:xfrm>
            <a:custGeom>
              <a:avLst/>
              <a:gdLst>
                <a:gd name="T0" fmla="*/ 221450 w 427"/>
                <a:gd name="T1" fmla="*/ 125841 h 408"/>
                <a:gd name="T2" fmla="*/ 216788 w 427"/>
                <a:gd name="T3" fmla="*/ 135459 h 408"/>
                <a:gd name="T4" fmla="*/ 216011 w 427"/>
                <a:gd name="T5" fmla="*/ 141871 h 408"/>
                <a:gd name="T6" fmla="*/ 216011 w 427"/>
                <a:gd name="T7" fmla="*/ 153894 h 408"/>
                <a:gd name="T8" fmla="*/ 220673 w 427"/>
                <a:gd name="T9" fmla="*/ 165917 h 408"/>
                <a:gd name="T10" fmla="*/ 223781 w 427"/>
                <a:gd name="T11" fmla="*/ 171528 h 408"/>
                <a:gd name="T12" fmla="*/ 233106 w 427"/>
                <a:gd name="T13" fmla="*/ 179543 h 408"/>
                <a:gd name="T14" fmla="*/ 239322 w 427"/>
                <a:gd name="T15" fmla="*/ 182749 h 408"/>
                <a:gd name="T16" fmla="*/ 252531 w 427"/>
                <a:gd name="T17" fmla="*/ 109008 h 408"/>
                <a:gd name="T18" fmla="*/ 236991 w 427"/>
                <a:gd name="T19" fmla="*/ 112214 h 408"/>
                <a:gd name="T20" fmla="*/ 228444 w 427"/>
                <a:gd name="T21" fmla="*/ 117825 h 408"/>
                <a:gd name="T22" fmla="*/ 224558 w 427"/>
                <a:gd name="T23" fmla="*/ 121833 h 408"/>
                <a:gd name="T24" fmla="*/ 202802 w 427"/>
                <a:gd name="T25" fmla="*/ 37672 h 408"/>
                <a:gd name="T26" fmla="*/ 165505 w 427"/>
                <a:gd name="T27" fmla="*/ 76146 h 408"/>
                <a:gd name="T28" fmla="*/ 200471 w 427"/>
                <a:gd name="T29" fmla="*/ 153894 h 408"/>
                <a:gd name="T30" fmla="*/ 200471 w 427"/>
                <a:gd name="T31" fmla="*/ 138665 h 408"/>
                <a:gd name="T32" fmla="*/ 189593 w 427"/>
                <a:gd name="T33" fmla="*/ 83359 h 408"/>
                <a:gd name="T34" fmla="*/ 131316 w 427"/>
                <a:gd name="T35" fmla="*/ 146680 h 408"/>
                <a:gd name="T36" fmla="*/ 165505 w 427"/>
                <a:gd name="T37" fmla="*/ 215612 h 408"/>
                <a:gd name="T38" fmla="*/ 149188 w 427"/>
                <a:gd name="T39" fmla="*/ 218017 h 408"/>
                <a:gd name="T40" fmla="*/ 140640 w 427"/>
                <a:gd name="T41" fmla="*/ 208398 h 408"/>
                <a:gd name="T42" fmla="*/ 135201 w 427"/>
                <a:gd name="T43" fmla="*/ 203589 h 408"/>
                <a:gd name="T44" fmla="*/ 112668 w 427"/>
                <a:gd name="T45" fmla="*/ 193971 h 408"/>
                <a:gd name="T46" fmla="*/ 103343 w 427"/>
                <a:gd name="T47" fmla="*/ 193169 h 408"/>
                <a:gd name="T48" fmla="*/ 0 w 427"/>
                <a:gd name="T49" fmla="*/ 327025 h 408"/>
                <a:gd name="T50" fmla="*/ 43513 w 427"/>
                <a:gd name="T51" fmla="*/ 247673 h 408"/>
                <a:gd name="T52" fmla="*/ 113445 w 427"/>
                <a:gd name="T53" fmla="*/ 247673 h 408"/>
                <a:gd name="T54" fmla="*/ 158512 w 427"/>
                <a:gd name="T55" fmla="*/ 327025 h 408"/>
                <a:gd name="T56" fmla="*/ 149188 w 427"/>
                <a:gd name="T57" fmla="*/ 218017 h 408"/>
                <a:gd name="T58" fmla="*/ 228444 w 427"/>
                <a:gd name="T59" fmla="*/ 193169 h 408"/>
                <a:gd name="T60" fmla="*/ 218342 w 427"/>
                <a:gd name="T61" fmla="*/ 193971 h 408"/>
                <a:gd name="T62" fmla="*/ 190370 w 427"/>
                <a:gd name="T63" fmla="*/ 208398 h 408"/>
                <a:gd name="T64" fmla="*/ 186484 w 427"/>
                <a:gd name="T65" fmla="*/ 213207 h 408"/>
                <a:gd name="T66" fmla="*/ 205133 w 427"/>
                <a:gd name="T67" fmla="*/ 327025 h 408"/>
                <a:gd name="T68" fmla="*/ 216788 w 427"/>
                <a:gd name="T69" fmla="*/ 327025 h 408"/>
                <a:gd name="T70" fmla="*/ 298375 w 427"/>
                <a:gd name="T71" fmla="*/ 247673 h 408"/>
                <a:gd name="T72" fmla="*/ 331787 w 427"/>
                <a:gd name="T73" fmla="*/ 250879 h 408"/>
                <a:gd name="T74" fmla="*/ 79256 w 427"/>
                <a:gd name="T75" fmla="*/ 185154 h 408"/>
                <a:gd name="T76" fmla="*/ 97904 w 427"/>
                <a:gd name="T77" fmla="*/ 179543 h 408"/>
                <a:gd name="T78" fmla="*/ 103343 w 427"/>
                <a:gd name="T79" fmla="*/ 176337 h 408"/>
                <a:gd name="T80" fmla="*/ 113445 w 427"/>
                <a:gd name="T81" fmla="*/ 160306 h 408"/>
                <a:gd name="T82" fmla="*/ 115776 w 427"/>
                <a:gd name="T83" fmla="*/ 153093 h 408"/>
                <a:gd name="T84" fmla="*/ 115776 w 427"/>
                <a:gd name="T85" fmla="*/ 140268 h 408"/>
                <a:gd name="T86" fmla="*/ 112668 w 427"/>
                <a:gd name="T87" fmla="*/ 131451 h 408"/>
                <a:gd name="T88" fmla="*/ 110337 w 427"/>
                <a:gd name="T89" fmla="*/ 125841 h 408"/>
                <a:gd name="T90" fmla="*/ 103343 w 427"/>
                <a:gd name="T91" fmla="*/ 117825 h 408"/>
                <a:gd name="T92" fmla="*/ 97904 w 427"/>
                <a:gd name="T93" fmla="*/ 114619 h 408"/>
                <a:gd name="T94" fmla="*/ 79256 w 427"/>
                <a:gd name="T95" fmla="*/ 109008 h 408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427" h="408">
                  <a:moveTo>
                    <a:pt x="289" y="152"/>
                  </a:moveTo>
                  <a:cubicBezTo>
                    <a:pt x="288" y="154"/>
                    <a:pt x="286" y="155"/>
                    <a:pt x="285" y="157"/>
                  </a:cubicBezTo>
                  <a:cubicBezTo>
                    <a:pt x="285" y="157"/>
                    <a:pt x="285" y="157"/>
                    <a:pt x="285" y="157"/>
                  </a:cubicBezTo>
                  <a:cubicBezTo>
                    <a:pt x="284" y="159"/>
                    <a:pt x="283" y="161"/>
                    <a:pt x="282" y="162"/>
                  </a:cubicBezTo>
                  <a:cubicBezTo>
                    <a:pt x="282" y="163"/>
                    <a:pt x="282" y="163"/>
                    <a:pt x="282" y="164"/>
                  </a:cubicBezTo>
                  <a:cubicBezTo>
                    <a:pt x="281" y="165"/>
                    <a:pt x="280" y="167"/>
                    <a:pt x="279" y="169"/>
                  </a:cubicBezTo>
                  <a:cubicBezTo>
                    <a:pt x="279" y="169"/>
                    <a:pt x="279" y="169"/>
                    <a:pt x="279" y="170"/>
                  </a:cubicBezTo>
                  <a:cubicBezTo>
                    <a:pt x="279" y="171"/>
                    <a:pt x="278" y="173"/>
                    <a:pt x="278" y="175"/>
                  </a:cubicBezTo>
                  <a:cubicBezTo>
                    <a:pt x="278" y="176"/>
                    <a:pt x="278" y="176"/>
                    <a:pt x="278" y="177"/>
                  </a:cubicBezTo>
                  <a:cubicBezTo>
                    <a:pt x="277" y="179"/>
                    <a:pt x="277" y="181"/>
                    <a:pt x="277" y="183"/>
                  </a:cubicBezTo>
                  <a:cubicBezTo>
                    <a:pt x="277" y="186"/>
                    <a:pt x="278" y="189"/>
                    <a:pt x="278" y="191"/>
                  </a:cubicBezTo>
                  <a:cubicBezTo>
                    <a:pt x="278" y="192"/>
                    <a:pt x="278" y="192"/>
                    <a:pt x="278" y="192"/>
                  </a:cubicBezTo>
                  <a:cubicBezTo>
                    <a:pt x="279" y="195"/>
                    <a:pt x="279" y="197"/>
                    <a:pt x="280" y="199"/>
                  </a:cubicBezTo>
                  <a:cubicBezTo>
                    <a:pt x="280" y="200"/>
                    <a:pt x="280" y="200"/>
                    <a:pt x="280" y="200"/>
                  </a:cubicBezTo>
                  <a:cubicBezTo>
                    <a:pt x="281" y="203"/>
                    <a:pt x="282" y="205"/>
                    <a:pt x="284" y="207"/>
                  </a:cubicBezTo>
                  <a:cubicBezTo>
                    <a:pt x="284" y="207"/>
                    <a:pt x="284" y="208"/>
                    <a:pt x="284" y="208"/>
                  </a:cubicBezTo>
                  <a:cubicBezTo>
                    <a:pt x="285" y="210"/>
                    <a:pt x="287" y="212"/>
                    <a:pt x="288" y="214"/>
                  </a:cubicBezTo>
                  <a:cubicBezTo>
                    <a:pt x="288" y="214"/>
                    <a:pt x="288" y="214"/>
                    <a:pt x="288" y="214"/>
                  </a:cubicBezTo>
                  <a:cubicBezTo>
                    <a:pt x="290" y="216"/>
                    <a:pt x="292" y="218"/>
                    <a:pt x="294" y="219"/>
                  </a:cubicBezTo>
                  <a:cubicBezTo>
                    <a:pt x="294" y="219"/>
                    <a:pt x="294" y="220"/>
                    <a:pt x="294" y="220"/>
                  </a:cubicBezTo>
                  <a:cubicBezTo>
                    <a:pt x="296" y="221"/>
                    <a:pt x="298" y="223"/>
                    <a:pt x="300" y="224"/>
                  </a:cubicBezTo>
                  <a:cubicBezTo>
                    <a:pt x="300" y="224"/>
                    <a:pt x="301" y="224"/>
                    <a:pt x="301" y="224"/>
                  </a:cubicBezTo>
                  <a:cubicBezTo>
                    <a:pt x="303" y="226"/>
                    <a:pt x="305" y="227"/>
                    <a:pt x="308" y="228"/>
                  </a:cubicBezTo>
                  <a:cubicBezTo>
                    <a:pt x="308" y="228"/>
                    <a:pt x="308" y="228"/>
                    <a:pt x="308" y="228"/>
                  </a:cubicBezTo>
                  <a:cubicBezTo>
                    <a:pt x="313" y="230"/>
                    <a:pt x="319" y="231"/>
                    <a:pt x="325" y="231"/>
                  </a:cubicBezTo>
                  <a:cubicBezTo>
                    <a:pt x="351" y="231"/>
                    <a:pt x="372" y="210"/>
                    <a:pt x="372" y="183"/>
                  </a:cubicBezTo>
                  <a:cubicBezTo>
                    <a:pt x="372" y="157"/>
                    <a:pt x="351" y="136"/>
                    <a:pt x="325" y="136"/>
                  </a:cubicBezTo>
                  <a:cubicBezTo>
                    <a:pt x="318" y="136"/>
                    <a:pt x="312" y="137"/>
                    <a:pt x="306" y="140"/>
                  </a:cubicBezTo>
                  <a:cubicBezTo>
                    <a:pt x="306" y="140"/>
                    <a:pt x="306" y="140"/>
                    <a:pt x="306" y="140"/>
                  </a:cubicBezTo>
                  <a:cubicBezTo>
                    <a:pt x="306" y="140"/>
                    <a:pt x="306" y="140"/>
                    <a:pt x="305" y="140"/>
                  </a:cubicBezTo>
                  <a:cubicBezTo>
                    <a:pt x="304" y="141"/>
                    <a:pt x="302" y="142"/>
                    <a:pt x="301" y="143"/>
                  </a:cubicBezTo>
                  <a:cubicBezTo>
                    <a:pt x="300" y="143"/>
                    <a:pt x="300" y="143"/>
                    <a:pt x="299" y="143"/>
                  </a:cubicBezTo>
                  <a:cubicBezTo>
                    <a:pt x="298" y="144"/>
                    <a:pt x="296" y="146"/>
                    <a:pt x="294" y="147"/>
                  </a:cubicBezTo>
                  <a:cubicBezTo>
                    <a:pt x="294" y="147"/>
                    <a:pt x="294" y="147"/>
                    <a:pt x="294" y="147"/>
                  </a:cubicBezTo>
                  <a:cubicBezTo>
                    <a:pt x="293" y="148"/>
                    <a:pt x="291" y="150"/>
                    <a:pt x="290" y="151"/>
                  </a:cubicBezTo>
                  <a:cubicBezTo>
                    <a:pt x="290" y="151"/>
                    <a:pt x="289" y="152"/>
                    <a:pt x="289" y="152"/>
                  </a:cubicBezTo>
                  <a:close/>
                  <a:moveTo>
                    <a:pt x="213" y="95"/>
                  </a:moveTo>
                  <a:lnTo>
                    <a:pt x="213" y="95"/>
                  </a:lnTo>
                  <a:cubicBezTo>
                    <a:pt x="240" y="95"/>
                    <a:pt x="261" y="73"/>
                    <a:pt x="261" y="47"/>
                  </a:cubicBezTo>
                  <a:cubicBezTo>
                    <a:pt x="261" y="21"/>
                    <a:pt x="240" y="0"/>
                    <a:pt x="213" y="0"/>
                  </a:cubicBezTo>
                  <a:cubicBezTo>
                    <a:pt x="187" y="0"/>
                    <a:pt x="166" y="21"/>
                    <a:pt x="166" y="47"/>
                  </a:cubicBezTo>
                  <a:cubicBezTo>
                    <a:pt x="166" y="73"/>
                    <a:pt x="187" y="95"/>
                    <a:pt x="213" y="95"/>
                  </a:cubicBezTo>
                  <a:close/>
                  <a:moveTo>
                    <a:pt x="258" y="228"/>
                  </a:moveTo>
                  <a:lnTo>
                    <a:pt x="258" y="228"/>
                  </a:lnTo>
                  <a:lnTo>
                    <a:pt x="258" y="192"/>
                  </a:lnTo>
                  <a:cubicBezTo>
                    <a:pt x="258" y="189"/>
                    <a:pt x="257" y="186"/>
                    <a:pt x="257" y="183"/>
                  </a:cubicBezTo>
                  <a:cubicBezTo>
                    <a:pt x="257" y="180"/>
                    <a:pt x="258" y="178"/>
                    <a:pt x="258" y="175"/>
                  </a:cubicBezTo>
                  <a:lnTo>
                    <a:pt x="258" y="173"/>
                  </a:lnTo>
                  <a:cubicBezTo>
                    <a:pt x="262" y="151"/>
                    <a:pt x="275" y="134"/>
                    <a:pt x="293" y="124"/>
                  </a:cubicBezTo>
                  <a:cubicBezTo>
                    <a:pt x="280" y="112"/>
                    <a:pt x="263" y="104"/>
                    <a:pt x="244" y="104"/>
                  </a:cubicBezTo>
                  <a:lnTo>
                    <a:pt x="183" y="104"/>
                  </a:lnTo>
                  <a:cubicBezTo>
                    <a:pt x="164" y="104"/>
                    <a:pt x="147" y="112"/>
                    <a:pt x="134" y="124"/>
                  </a:cubicBezTo>
                  <a:cubicBezTo>
                    <a:pt x="155" y="135"/>
                    <a:pt x="169" y="158"/>
                    <a:pt x="169" y="183"/>
                  </a:cubicBezTo>
                  <a:cubicBezTo>
                    <a:pt x="169" y="189"/>
                    <a:pt x="169" y="194"/>
                    <a:pt x="168" y="199"/>
                  </a:cubicBezTo>
                  <a:lnTo>
                    <a:pt x="168" y="228"/>
                  </a:lnTo>
                  <a:cubicBezTo>
                    <a:pt x="187" y="236"/>
                    <a:pt x="203" y="251"/>
                    <a:pt x="213" y="269"/>
                  </a:cubicBezTo>
                  <a:cubicBezTo>
                    <a:pt x="223" y="251"/>
                    <a:pt x="239" y="237"/>
                    <a:pt x="258" y="228"/>
                  </a:cubicBezTo>
                  <a:close/>
                  <a:moveTo>
                    <a:pt x="192" y="272"/>
                  </a:moveTo>
                  <a:lnTo>
                    <a:pt x="192" y="272"/>
                  </a:lnTo>
                  <a:cubicBezTo>
                    <a:pt x="190" y="270"/>
                    <a:pt x="189" y="268"/>
                    <a:pt x="187" y="266"/>
                  </a:cubicBezTo>
                  <a:cubicBezTo>
                    <a:pt x="187" y="265"/>
                    <a:pt x="186" y="265"/>
                    <a:pt x="186" y="265"/>
                  </a:cubicBezTo>
                  <a:cubicBezTo>
                    <a:pt x="185" y="263"/>
                    <a:pt x="183" y="262"/>
                    <a:pt x="181" y="260"/>
                  </a:cubicBezTo>
                  <a:cubicBezTo>
                    <a:pt x="181" y="260"/>
                    <a:pt x="181" y="259"/>
                    <a:pt x="181" y="259"/>
                  </a:cubicBezTo>
                  <a:cubicBezTo>
                    <a:pt x="179" y="258"/>
                    <a:pt x="177" y="256"/>
                    <a:pt x="175" y="255"/>
                  </a:cubicBezTo>
                  <a:cubicBezTo>
                    <a:pt x="175" y="255"/>
                    <a:pt x="175" y="254"/>
                    <a:pt x="174" y="254"/>
                  </a:cubicBezTo>
                  <a:cubicBezTo>
                    <a:pt x="168" y="250"/>
                    <a:pt x="161" y="246"/>
                    <a:pt x="153" y="244"/>
                  </a:cubicBezTo>
                  <a:cubicBezTo>
                    <a:pt x="151" y="243"/>
                    <a:pt x="150" y="243"/>
                    <a:pt x="148" y="242"/>
                  </a:cubicBezTo>
                  <a:cubicBezTo>
                    <a:pt x="147" y="242"/>
                    <a:pt x="146" y="242"/>
                    <a:pt x="145" y="242"/>
                  </a:cubicBezTo>
                  <a:cubicBezTo>
                    <a:pt x="144" y="242"/>
                    <a:pt x="143" y="241"/>
                    <a:pt x="141" y="241"/>
                  </a:cubicBezTo>
                  <a:cubicBezTo>
                    <a:pt x="141" y="241"/>
                    <a:pt x="140" y="241"/>
                    <a:pt x="139" y="241"/>
                  </a:cubicBezTo>
                  <a:cubicBezTo>
                    <a:pt x="137" y="241"/>
                    <a:pt x="135" y="241"/>
                    <a:pt x="133" y="241"/>
                  </a:cubicBezTo>
                  <a:lnTo>
                    <a:pt x="71" y="241"/>
                  </a:lnTo>
                  <a:cubicBezTo>
                    <a:pt x="32" y="241"/>
                    <a:pt x="0" y="273"/>
                    <a:pt x="0" y="313"/>
                  </a:cubicBezTo>
                  <a:lnTo>
                    <a:pt x="0" y="408"/>
                  </a:lnTo>
                  <a:lnTo>
                    <a:pt x="42" y="408"/>
                  </a:lnTo>
                  <a:lnTo>
                    <a:pt x="42" y="309"/>
                  </a:lnTo>
                  <a:lnTo>
                    <a:pt x="56" y="309"/>
                  </a:lnTo>
                  <a:lnTo>
                    <a:pt x="56" y="408"/>
                  </a:lnTo>
                  <a:lnTo>
                    <a:pt x="146" y="408"/>
                  </a:lnTo>
                  <a:lnTo>
                    <a:pt x="146" y="309"/>
                  </a:lnTo>
                  <a:lnTo>
                    <a:pt x="161" y="309"/>
                  </a:lnTo>
                  <a:lnTo>
                    <a:pt x="161" y="408"/>
                  </a:lnTo>
                  <a:lnTo>
                    <a:pt x="204" y="408"/>
                  </a:lnTo>
                  <a:lnTo>
                    <a:pt x="204" y="313"/>
                  </a:lnTo>
                  <a:cubicBezTo>
                    <a:pt x="204" y="297"/>
                    <a:pt x="200" y="283"/>
                    <a:pt x="192" y="272"/>
                  </a:cubicBezTo>
                  <a:cubicBezTo>
                    <a:pt x="192" y="272"/>
                    <a:pt x="192" y="272"/>
                    <a:pt x="192" y="272"/>
                  </a:cubicBezTo>
                  <a:close/>
                  <a:moveTo>
                    <a:pt x="355" y="241"/>
                  </a:moveTo>
                  <a:lnTo>
                    <a:pt x="355" y="241"/>
                  </a:lnTo>
                  <a:lnTo>
                    <a:pt x="294" y="241"/>
                  </a:lnTo>
                  <a:cubicBezTo>
                    <a:pt x="292" y="241"/>
                    <a:pt x="290" y="241"/>
                    <a:pt x="288" y="241"/>
                  </a:cubicBezTo>
                  <a:cubicBezTo>
                    <a:pt x="287" y="241"/>
                    <a:pt x="286" y="241"/>
                    <a:pt x="285" y="241"/>
                  </a:cubicBezTo>
                  <a:cubicBezTo>
                    <a:pt x="284" y="241"/>
                    <a:pt x="283" y="242"/>
                    <a:pt x="281" y="242"/>
                  </a:cubicBezTo>
                  <a:cubicBezTo>
                    <a:pt x="280" y="242"/>
                    <a:pt x="280" y="242"/>
                    <a:pt x="279" y="242"/>
                  </a:cubicBezTo>
                  <a:cubicBezTo>
                    <a:pt x="277" y="243"/>
                    <a:pt x="276" y="243"/>
                    <a:pt x="274" y="244"/>
                  </a:cubicBezTo>
                  <a:cubicBezTo>
                    <a:pt x="263" y="247"/>
                    <a:pt x="254" y="252"/>
                    <a:pt x="245" y="260"/>
                  </a:cubicBezTo>
                  <a:cubicBezTo>
                    <a:pt x="245" y="260"/>
                    <a:pt x="245" y="260"/>
                    <a:pt x="245" y="260"/>
                  </a:cubicBezTo>
                  <a:cubicBezTo>
                    <a:pt x="243" y="262"/>
                    <a:pt x="242" y="263"/>
                    <a:pt x="240" y="265"/>
                  </a:cubicBezTo>
                  <a:cubicBezTo>
                    <a:pt x="240" y="265"/>
                    <a:pt x="240" y="266"/>
                    <a:pt x="240" y="266"/>
                  </a:cubicBezTo>
                  <a:cubicBezTo>
                    <a:pt x="229" y="278"/>
                    <a:pt x="222" y="295"/>
                    <a:pt x="222" y="313"/>
                  </a:cubicBezTo>
                  <a:lnTo>
                    <a:pt x="222" y="408"/>
                  </a:lnTo>
                  <a:lnTo>
                    <a:pt x="264" y="408"/>
                  </a:lnTo>
                  <a:lnTo>
                    <a:pt x="264" y="309"/>
                  </a:lnTo>
                  <a:lnTo>
                    <a:pt x="279" y="309"/>
                  </a:lnTo>
                  <a:lnTo>
                    <a:pt x="279" y="408"/>
                  </a:lnTo>
                  <a:lnTo>
                    <a:pt x="369" y="408"/>
                  </a:lnTo>
                  <a:lnTo>
                    <a:pt x="369" y="309"/>
                  </a:lnTo>
                  <a:lnTo>
                    <a:pt x="384" y="309"/>
                  </a:lnTo>
                  <a:lnTo>
                    <a:pt x="384" y="408"/>
                  </a:lnTo>
                  <a:lnTo>
                    <a:pt x="427" y="408"/>
                  </a:lnTo>
                  <a:lnTo>
                    <a:pt x="427" y="313"/>
                  </a:lnTo>
                  <a:cubicBezTo>
                    <a:pt x="427" y="273"/>
                    <a:pt x="395" y="241"/>
                    <a:pt x="355" y="241"/>
                  </a:cubicBezTo>
                  <a:close/>
                  <a:moveTo>
                    <a:pt x="102" y="231"/>
                  </a:moveTo>
                  <a:lnTo>
                    <a:pt x="102" y="231"/>
                  </a:lnTo>
                  <a:cubicBezTo>
                    <a:pt x="108" y="231"/>
                    <a:pt x="114" y="230"/>
                    <a:pt x="119" y="228"/>
                  </a:cubicBezTo>
                  <a:cubicBezTo>
                    <a:pt x="119" y="228"/>
                    <a:pt x="119" y="228"/>
                    <a:pt x="119" y="228"/>
                  </a:cubicBezTo>
                  <a:cubicBezTo>
                    <a:pt x="122" y="227"/>
                    <a:pt x="124" y="226"/>
                    <a:pt x="126" y="224"/>
                  </a:cubicBezTo>
                  <a:cubicBezTo>
                    <a:pt x="126" y="224"/>
                    <a:pt x="126" y="224"/>
                    <a:pt x="126" y="224"/>
                  </a:cubicBezTo>
                  <a:cubicBezTo>
                    <a:pt x="129" y="223"/>
                    <a:pt x="131" y="221"/>
                    <a:pt x="133" y="220"/>
                  </a:cubicBezTo>
                  <a:cubicBezTo>
                    <a:pt x="133" y="220"/>
                    <a:pt x="133" y="220"/>
                    <a:pt x="133" y="220"/>
                  </a:cubicBezTo>
                  <a:cubicBezTo>
                    <a:pt x="137" y="216"/>
                    <a:pt x="140" y="212"/>
                    <a:pt x="143" y="208"/>
                  </a:cubicBezTo>
                  <a:cubicBezTo>
                    <a:pt x="143" y="207"/>
                    <a:pt x="143" y="207"/>
                    <a:pt x="143" y="207"/>
                  </a:cubicBezTo>
                  <a:cubicBezTo>
                    <a:pt x="144" y="205"/>
                    <a:pt x="145" y="203"/>
                    <a:pt x="146" y="200"/>
                  </a:cubicBezTo>
                  <a:cubicBezTo>
                    <a:pt x="146" y="200"/>
                    <a:pt x="147" y="200"/>
                    <a:pt x="147" y="199"/>
                  </a:cubicBezTo>
                  <a:cubicBezTo>
                    <a:pt x="148" y="197"/>
                    <a:pt x="148" y="195"/>
                    <a:pt x="149" y="192"/>
                  </a:cubicBezTo>
                  <a:cubicBezTo>
                    <a:pt x="149" y="192"/>
                    <a:pt x="149" y="192"/>
                    <a:pt x="149" y="191"/>
                  </a:cubicBezTo>
                  <a:cubicBezTo>
                    <a:pt x="149" y="189"/>
                    <a:pt x="150" y="186"/>
                    <a:pt x="150" y="183"/>
                  </a:cubicBezTo>
                  <a:cubicBezTo>
                    <a:pt x="150" y="181"/>
                    <a:pt x="149" y="179"/>
                    <a:pt x="149" y="177"/>
                  </a:cubicBezTo>
                  <a:cubicBezTo>
                    <a:pt x="149" y="176"/>
                    <a:pt x="149" y="176"/>
                    <a:pt x="149" y="175"/>
                  </a:cubicBezTo>
                  <a:cubicBezTo>
                    <a:pt x="148" y="173"/>
                    <a:pt x="148" y="171"/>
                    <a:pt x="147" y="169"/>
                  </a:cubicBezTo>
                  <a:cubicBezTo>
                    <a:pt x="147" y="169"/>
                    <a:pt x="147" y="169"/>
                    <a:pt x="147" y="169"/>
                  </a:cubicBezTo>
                  <a:cubicBezTo>
                    <a:pt x="147" y="167"/>
                    <a:pt x="146" y="165"/>
                    <a:pt x="145" y="164"/>
                  </a:cubicBezTo>
                  <a:cubicBezTo>
                    <a:pt x="145" y="163"/>
                    <a:pt x="145" y="163"/>
                    <a:pt x="145" y="162"/>
                  </a:cubicBezTo>
                  <a:cubicBezTo>
                    <a:pt x="144" y="161"/>
                    <a:pt x="143" y="159"/>
                    <a:pt x="142" y="157"/>
                  </a:cubicBezTo>
                  <a:cubicBezTo>
                    <a:pt x="140" y="155"/>
                    <a:pt x="139" y="154"/>
                    <a:pt x="138" y="152"/>
                  </a:cubicBezTo>
                  <a:cubicBezTo>
                    <a:pt x="137" y="152"/>
                    <a:pt x="137" y="151"/>
                    <a:pt x="137" y="151"/>
                  </a:cubicBezTo>
                  <a:cubicBezTo>
                    <a:pt x="136" y="150"/>
                    <a:pt x="134" y="148"/>
                    <a:pt x="133" y="147"/>
                  </a:cubicBezTo>
                  <a:cubicBezTo>
                    <a:pt x="133" y="147"/>
                    <a:pt x="133" y="147"/>
                    <a:pt x="132" y="147"/>
                  </a:cubicBezTo>
                  <a:cubicBezTo>
                    <a:pt x="131" y="146"/>
                    <a:pt x="129" y="144"/>
                    <a:pt x="127" y="143"/>
                  </a:cubicBezTo>
                  <a:cubicBezTo>
                    <a:pt x="127" y="143"/>
                    <a:pt x="127" y="143"/>
                    <a:pt x="126" y="143"/>
                  </a:cubicBezTo>
                  <a:cubicBezTo>
                    <a:pt x="125" y="142"/>
                    <a:pt x="123" y="141"/>
                    <a:pt x="121" y="140"/>
                  </a:cubicBezTo>
                  <a:cubicBezTo>
                    <a:pt x="121" y="140"/>
                    <a:pt x="121" y="140"/>
                    <a:pt x="121" y="140"/>
                  </a:cubicBezTo>
                  <a:cubicBezTo>
                    <a:pt x="115" y="137"/>
                    <a:pt x="109" y="136"/>
                    <a:pt x="102" y="136"/>
                  </a:cubicBezTo>
                  <a:cubicBezTo>
                    <a:pt x="76" y="136"/>
                    <a:pt x="54" y="157"/>
                    <a:pt x="54" y="183"/>
                  </a:cubicBezTo>
                  <a:cubicBezTo>
                    <a:pt x="54" y="210"/>
                    <a:pt x="76" y="231"/>
                    <a:pt x="102" y="23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8480942" y="1718343"/>
            <a:ext cx="546976" cy="540745"/>
            <a:chOff x="6084168" y="1274820"/>
            <a:chExt cx="432048" cy="432834"/>
          </a:xfrm>
        </p:grpSpPr>
        <p:sp>
          <p:nvSpPr>
            <p:cNvPr id="53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4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latin typeface="Roboto Light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6852304" y="1718409"/>
            <a:ext cx="546976" cy="539763"/>
            <a:chOff x="4788024" y="1275213"/>
            <a:chExt cx="432048" cy="432048"/>
          </a:xfrm>
        </p:grpSpPr>
        <p:sp>
          <p:nvSpPr>
            <p:cNvPr id="56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7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latin typeface="Roboto Light"/>
              </a:endParaRPr>
            </a:p>
          </p:txBody>
        </p:sp>
      </p:grpSp>
      <p:grpSp>
        <p:nvGrpSpPr>
          <p:cNvPr id="58" name="组合 57"/>
          <p:cNvGrpSpPr/>
          <p:nvPr/>
        </p:nvGrpSpPr>
        <p:grpSpPr>
          <a:xfrm>
            <a:off x="7682935" y="1726745"/>
            <a:ext cx="547970" cy="540745"/>
            <a:chOff x="5436096" y="1274820"/>
            <a:chExt cx="432833" cy="432834"/>
          </a:xfrm>
        </p:grpSpPr>
        <p:sp>
          <p:nvSpPr>
            <p:cNvPr id="59" name="椭圆 58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60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latin typeface="Roboto Light"/>
              </a:endParaRPr>
            </a:p>
          </p:txBody>
        </p:sp>
      </p:grpSp>
      <p:grpSp>
        <p:nvGrpSpPr>
          <p:cNvPr id="61" name="组合 60"/>
          <p:cNvGrpSpPr/>
          <p:nvPr/>
        </p:nvGrpSpPr>
        <p:grpSpPr>
          <a:xfrm>
            <a:off x="5211987" y="1715437"/>
            <a:ext cx="547970" cy="540745"/>
            <a:chOff x="3491880" y="1274820"/>
            <a:chExt cx="432833" cy="432834"/>
          </a:xfrm>
        </p:grpSpPr>
        <p:sp>
          <p:nvSpPr>
            <p:cNvPr id="62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63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latin typeface="Roboto Light"/>
              </a:endParaRPr>
            </a:p>
          </p:txBody>
        </p:sp>
      </p:grpSp>
      <p:grpSp>
        <p:nvGrpSpPr>
          <p:cNvPr id="64" name="组合 63"/>
          <p:cNvGrpSpPr/>
          <p:nvPr/>
        </p:nvGrpSpPr>
        <p:grpSpPr>
          <a:xfrm>
            <a:off x="6042699" y="1709107"/>
            <a:ext cx="547970" cy="540745"/>
            <a:chOff x="4139952" y="1274820"/>
            <a:chExt cx="432833" cy="432834"/>
          </a:xfrm>
        </p:grpSpPr>
        <p:sp>
          <p:nvSpPr>
            <p:cNvPr id="65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66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latin typeface="Roboto Light"/>
              </a:endParaRPr>
            </a:p>
          </p:txBody>
        </p:sp>
      </p:grpSp>
      <p:sp>
        <p:nvSpPr>
          <p:cNvPr id="29" name="矩形 28"/>
          <p:cNvSpPr/>
          <p:nvPr/>
        </p:nvSpPr>
        <p:spPr>
          <a:xfrm>
            <a:off x="4524489" y="4214643"/>
            <a:ext cx="11544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800" b="1" dirty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2. </a:t>
            </a:r>
            <a:r>
              <a:rPr lang="zh-CN" altLang="en-US" sz="1800" b="1" dirty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优化项</a:t>
            </a:r>
            <a:endParaRPr lang="zh-CN" altLang="en-US" sz="1800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6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000"/>
                            </p:stCondLst>
                            <p:childTnLst>
                              <p:par>
                                <p:cTn id="2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0" y="212519"/>
            <a:ext cx="352425" cy="400050"/>
          </a:xfrm>
          <a:prstGeom prst="rect">
            <a:avLst/>
          </a:prstGeom>
          <a:solidFill>
            <a:srgbClr val="5B9BD5">
              <a:lumMod val="50000"/>
            </a:srgbClr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endParaRPr lang="zh-CN" altLang="en-US" kern="0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7" name="矩形 16"/>
          <p:cNvSpPr>
            <a:spLocks noChangeArrowheads="1"/>
          </p:cNvSpPr>
          <p:nvPr/>
        </p:nvSpPr>
        <p:spPr bwMode="auto">
          <a:xfrm>
            <a:off x="419100" y="212519"/>
            <a:ext cx="123825" cy="400050"/>
          </a:xfrm>
          <a:prstGeom prst="rect">
            <a:avLst/>
          </a:prstGeom>
          <a:solidFill>
            <a:srgbClr val="7F7F7F"/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1" name="标题 1"/>
          <p:cNvSpPr txBox="1"/>
          <p:nvPr/>
        </p:nvSpPr>
        <p:spPr>
          <a:xfrm>
            <a:off x="609600" y="224766"/>
            <a:ext cx="9710057" cy="375557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zh-CN" altLang="en-US" sz="2400" dirty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优化思路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思源黑体" panose="020B0500000000000000" pitchFamily="34" charset="-122"/>
              <a:ea typeface="思源黑体" panose="020B0500000000000000" pitchFamily="34" charset="-122"/>
              <a:cs typeface="+mj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EF5BC69-0201-B8DE-C127-CE8769CE272F}"/>
              </a:ext>
            </a:extLst>
          </p:cNvPr>
          <p:cNvSpPr txBox="1"/>
          <p:nvPr/>
        </p:nvSpPr>
        <p:spPr>
          <a:xfrm>
            <a:off x="609600" y="877510"/>
            <a:ext cx="8784976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硬件性能优化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(EMMC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升级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UFS)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加载引导阶段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优化</a:t>
            </a:r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BootLoader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阶段优化</a:t>
            </a:r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内核阶段优化</a:t>
            </a:r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algn="l"/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以上由对应学科完成。</a:t>
            </a:r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algn="l"/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Android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优化</a:t>
            </a:r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algn="l"/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algn="l"/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正常来说，升级硬件是效果最明显的。内核优化也效果显著。</a:t>
            </a:r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algn="l"/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algn="l"/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Android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端优化，一般效果不太明显，每项都是毫秒级。并且和具体项目关联度大。一个项目上的优化，移植到另一个项目，可能甚至起反作用，需要具体分析。</a:t>
            </a:r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algn="l"/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但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Android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可优化项比较多，积少成多之下，有时也能起到一定优化效果。</a:t>
            </a:r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0" y="212519"/>
            <a:ext cx="352425" cy="400050"/>
          </a:xfrm>
          <a:prstGeom prst="rect">
            <a:avLst/>
          </a:prstGeom>
          <a:solidFill>
            <a:srgbClr val="5B9BD5">
              <a:lumMod val="50000"/>
            </a:srgbClr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endParaRPr lang="zh-CN" altLang="en-US" kern="0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7" name="矩形 16"/>
          <p:cNvSpPr>
            <a:spLocks noChangeArrowheads="1"/>
          </p:cNvSpPr>
          <p:nvPr/>
        </p:nvSpPr>
        <p:spPr bwMode="auto">
          <a:xfrm>
            <a:off x="419100" y="212519"/>
            <a:ext cx="123825" cy="400050"/>
          </a:xfrm>
          <a:prstGeom prst="rect">
            <a:avLst/>
          </a:prstGeom>
          <a:solidFill>
            <a:srgbClr val="7F7F7F"/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1" name="标题 1"/>
          <p:cNvSpPr txBox="1"/>
          <p:nvPr/>
        </p:nvSpPr>
        <p:spPr>
          <a:xfrm>
            <a:off x="609600" y="224766"/>
            <a:ext cx="9710057" cy="375557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zh-CN" altLang="en-US" sz="2400" dirty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优化思路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C2A5358-0136-20D3-DAFD-00462D24D03F}"/>
              </a:ext>
            </a:extLst>
          </p:cNvPr>
          <p:cNvSpPr txBox="1"/>
          <p:nvPr/>
        </p:nvSpPr>
        <p:spPr>
          <a:xfrm>
            <a:off x="609600" y="928152"/>
            <a:ext cx="878497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Android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启动优化的思路：</a:t>
            </a:r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启动关键路径上的动作优先执行</a:t>
            </a:r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减少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I/O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操作，例如降低无效资源的加载</a:t>
            </a:r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并发执行任务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, 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在保证业务逻辑的前提下，尽最大量地使用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CPU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资源</a:t>
            </a:r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裁剪无效应用包及资源</a:t>
            </a:r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裁剪部分系统服务</a:t>
            </a:r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调整功能默认开关</a:t>
            </a:r>
            <a:endParaRPr lang="en-US" altLang="zh-CN" sz="140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调整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CPU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负荷</a:t>
            </a:r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APP </a:t>
            </a:r>
            <a:r>
              <a:rPr lang="en-US" altLang="zh-CN" sz="140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odex</a:t>
            </a:r>
            <a:r>
              <a:rPr lang="zh-CN" altLang="en-US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优化</a:t>
            </a:r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磁盘碎片</a:t>
            </a:r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algn="l"/>
            <a:r>
              <a:rPr lang="zh-CN" altLang="en-US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对于通过裁剪方式的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优化，多多少少存在一些副作用，需结合项目实际需求进行评估和取舍。</a:t>
            </a:r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DE871-907A-FBBA-27C8-E7B6AFF5B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283EC69B-0C2B-159C-D517-BA1747FB8A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2519"/>
            <a:ext cx="352425" cy="400050"/>
          </a:xfrm>
          <a:prstGeom prst="rect">
            <a:avLst/>
          </a:prstGeom>
          <a:solidFill>
            <a:srgbClr val="5B9BD5">
              <a:lumMod val="50000"/>
            </a:srgbClr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endParaRPr lang="zh-CN" altLang="en-US" kern="0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5E66941-75A4-D289-5235-C122E7F680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" y="212519"/>
            <a:ext cx="123825" cy="400050"/>
          </a:xfrm>
          <a:prstGeom prst="rect">
            <a:avLst/>
          </a:prstGeom>
          <a:solidFill>
            <a:srgbClr val="7F7F7F"/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4829B669-5DEC-916A-B036-FD42B70C16DC}"/>
              </a:ext>
            </a:extLst>
          </p:cNvPr>
          <p:cNvSpPr txBox="1"/>
          <p:nvPr/>
        </p:nvSpPr>
        <p:spPr>
          <a:xfrm>
            <a:off x="609600" y="224766"/>
            <a:ext cx="9710057" cy="375557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zh-CN" altLang="en-US" sz="2400" dirty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优化项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思源黑体" panose="020B0500000000000000" pitchFamily="34" charset="-122"/>
              <a:ea typeface="思源黑体" panose="020B0500000000000000" pitchFamily="34" charset="-122"/>
              <a:cs typeface="+mj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33C0B50-C395-9A2D-93E7-BD29BCFEDA08}"/>
              </a:ext>
            </a:extLst>
          </p:cNvPr>
          <p:cNvSpPr txBox="1"/>
          <p:nvPr/>
        </p:nvSpPr>
        <p:spPr>
          <a:xfrm>
            <a:off x="609600" y="78307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ZygoteInit</a:t>
            </a:r>
            <a:r>
              <a:rPr lang="zh-CN" altLang="en-US" b="1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减少或延迟加载资源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CA21EEF-40E3-36F5-40CE-D8575D80394B}"/>
              </a:ext>
            </a:extLst>
          </p:cNvPr>
          <p:cNvSpPr txBox="1"/>
          <p:nvPr/>
        </p:nvSpPr>
        <p:spPr>
          <a:xfrm>
            <a:off x="878827" y="1517225"/>
            <a:ext cx="8784976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ZygoteInit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启动初期，会通过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preload()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方法加载</a:t>
            </a:r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preloadClasses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，</a:t>
            </a:r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preloadResources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和</a:t>
            </a:r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preloadOpenGL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等所需要的类、资源、库等等，而后通过</a:t>
            </a:r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forkSystemServer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方法创建</a:t>
            </a:r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SystemServer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核心进程。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preload()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是耗时操作，影响</a:t>
            </a:r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SystemServer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进程的启动时间点；</a:t>
            </a:r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algn="l"/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algn="l"/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优化方案：</a:t>
            </a:r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algn="l"/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1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）通过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init.zygote64_32.rc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文件，配置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--enable-lazy-preload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选项</a:t>
            </a:r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algn="l"/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     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此项理由是能够提前启动</a:t>
            </a:r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SystemServer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。</a:t>
            </a:r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algn="l"/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2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）从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preloaded-boot-classes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文件里去掉一下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java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类。</a:t>
            </a:r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algn="l"/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     </a:t>
            </a:r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algn="l"/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副作用：</a:t>
            </a:r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algn="l"/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	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之后启动的进程每个都要自己去单独加载被裁剪的的类和资源，增加了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app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冷启动时间，而且更浪费了内存资源。</a:t>
            </a:r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algn="l"/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13984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2D49F-E1A5-AB39-2BB9-AE8747699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05D8DFBE-EE96-4E29-C63F-B093072472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2519"/>
            <a:ext cx="352425" cy="400050"/>
          </a:xfrm>
          <a:prstGeom prst="rect">
            <a:avLst/>
          </a:prstGeom>
          <a:solidFill>
            <a:srgbClr val="5B9BD5">
              <a:lumMod val="50000"/>
            </a:srgbClr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endParaRPr lang="zh-CN" altLang="en-US" kern="0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D25A36B-DF1C-687E-3E6B-B670309434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" y="212519"/>
            <a:ext cx="123825" cy="400050"/>
          </a:xfrm>
          <a:prstGeom prst="rect">
            <a:avLst/>
          </a:prstGeom>
          <a:solidFill>
            <a:srgbClr val="7F7F7F"/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428D9CF9-A1DB-73B4-C90B-3F4A3324176C}"/>
              </a:ext>
            </a:extLst>
          </p:cNvPr>
          <p:cNvSpPr txBox="1"/>
          <p:nvPr/>
        </p:nvSpPr>
        <p:spPr>
          <a:xfrm>
            <a:off x="609600" y="224766"/>
            <a:ext cx="9710057" cy="375557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zh-CN" altLang="en-US" sz="2400" dirty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优化项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思源黑体" panose="020B0500000000000000" pitchFamily="34" charset="-122"/>
              <a:ea typeface="思源黑体" panose="020B0500000000000000" pitchFamily="34" charset="-122"/>
              <a:cs typeface="+mj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A21624B-ADF1-BFA1-D5B0-56EAD8336279}"/>
              </a:ext>
            </a:extLst>
          </p:cNvPr>
          <p:cNvSpPr txBox="1"/>
          <p:nvPr/>
        </p:nvSpPr>
        <p:spPr>
          <a:xfrm>
            <a:off x="609600" y="78307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禁用</a:t>
            </a:r>
            <a:r>
              <a:rPr lang="en-US" altLang="zh-CN" b="1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SecondaryZygote</a:t>
            </a:r>
            <a:r>
              <a:rPr lang="zh-CN" altLang="en-US" b="1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的无效等待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3B1CAC5-972C-B10C-267F-00C42E3D5254}"/>
              </a:ext>
            </a:extLst>
          </p:cNvPr>
          <p:cNvSpPr txBox="1"/>
          <p:nvPr/>
        </p:nvSpPr>
        <p:spPr>
          <a:xfrm>
            <a:off x="858684" y="1313234"/>
            <a:ext cx="878497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在</a:t>
            </a:r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SystemServer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开始时，连接</a:t>
            </a:r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SecondaryZygote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(Zygote32)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的</a:t>
            </a:r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socketserver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，但如果此时</a:t>
            </a:r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SecondaryZygote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未启动的话，会造成核心进程</a:t>
            </a:r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SystemServer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等待</a:t>
            </a:r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algn="l"/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algn="l"/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方案</a:t>
            </a:r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algn="l"/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删除</a:t>
            </a:r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waitForSecondaryZygote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，由于</a:t>
            </a:r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SystemServer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依赖</a:t>
            </a:r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SecondaryZygote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的内容在</a:t>
            </a:r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SystemServer.startOtherServices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中执行，此项并不影响代码逻辑</a:t>
            </a:r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E860884-CD11-5E5D-5CC1-B6FB323B7F92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9200" y="3250312"/>
            <a:ext cx="5274310" cy="16122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66EEA77-028F-6CAA-CB2C-39D541E8F261}"/>
              </a:ext>
            </a:extLst>
          </p:cNvPr>
          <p:cNvSpPr txBox="1"/>
          <p:nvPr/>
        </p:nvSpPr>
        <p:spPr>
          <a:xfrm>
            <a:off x="939549" y="5120819"/>
            <a:ext cx="82868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Note:</a:t>
            </a:r>
          </a:p>
          <a:p>
            <a:pPr algn="l"/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在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8.0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机器上优化效果明显，不过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9.0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以后</a:t>
            </a:r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SecondZygote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(Zygote32)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紧随</a:t>
            </a:r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PrimaryZygote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(Zygote64)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启动，效果并不明显</a:t>
            </a:r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endParaRPr lang="zh-CN" altLang="en-US" sz="140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84268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77801-6224-273D-0A83-AAB0AFB02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8C5A28A2-4662-180B-9FBA-89CEB8F20E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2519"/>
            <a:ext cx="352425" cy="400050"/>
          </a:xfrm>
          <a:prstGeom prst="rect">
            <a:avLst/>
          </a:prstGeom>
          <a:solidFill>
            <a:srgbClr val="5B9BD5">
              <a:lumMod val="50000"/>
            </a:srgbClr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endParaRPr lang="zh-CN" altLang="en-US" kern="0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AED9588-9B70-0212-7B76-ECD778D3E8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" y="212519"/>
            <a:ext cx="123825" cy="400050"/>
          </a:xfrm>
          <a:prstGeom prst="rect">
            <a:avLst/>
          </a:prstGeom>
          <a:solidFill>
            <a:srgbClr val="7F7F7F"/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6942CBD9-739E-84B8-6DEF-A34C7E28EF9F}"/>
              </a:ext>
            </a:extLst>
          </p:cNvPr>
          <p:cNvSpPr txBox="1"/>
          <p:nvPr/>
        </p:nvSpPr>
        <p:spPr>
          <a:xfrm>
            <a:off x="609600" y="224766"/>
            <a:ext cx="9710057" cy="375557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zh-CN" altLang="en-US" sz="2400" dirty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优化项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思源黑体" panose="020B0500000000000000" pitchFamily="34" charset="-122"/>
              <a:ea typeface="思源黑体" panose="020B0500000000000000" pitchFamily="34" charset="-122"/>
              <a:cs typeface="+mj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5A44439-3BC6-A01B-6C6F-10B989FEAEDD}"/>
              </a:ext>
            </a:extLst>
          </p:cNvPr>
          <p:cNvSpPr txBox="1"/>
          <p:nvPr/>
        </p:nvSpPr>
        <p:spPr>
          <a:xfrm>
            <a:off x="609600" y="78307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去掉</a:t>
            </a:r>
            <a:r>
              <a:rPr lang="en-US" altLang="zh-CN" b="1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32</a:t>
            </a:r>
            <a:r>
              <a:rPr lang="zh-CN" altLang="en-US" b="1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位的</a:t>
            </a:r>
            <a:r>
              <a:rPr lang="en-US" altLang="zh-CN" b="1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zygote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970B2DC-8409-B439-423B-A5C1C3C8CB3E}"/>
              </a:ext>
            </a:extLst>
          </p:cNvPr>
          <p:cNvSpPr txBox="1"/>
          <p:nvPr/>
        </p:nvSpPr>
        <p:spPr>
          <a:xfrm>
            <a:off x="847725" y="1439469"/>
            <a:ext cx="878497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现在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32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位的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app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已经很少，在确保车机里没有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32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位应用的前提下，可以裁剪调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zygote32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。</a:t>
            </a:r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algn="l"/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可以通过</a:t>
            </a:r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ps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命令，查看应用的</a:t>
            </a:r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ppid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，来判断应用是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64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位还是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32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位。</a:t>
            </a:r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algn="l"/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algn="l"/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从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CCS5.0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的实践来看，去掉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zygote32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后，大概提速了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150ms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左右。</a:t>
            </a:r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algn="l"/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algn="l"/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弊端</a:t>
            </a:r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algn="l"/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1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）系统将无法安装、运行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32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位应用程序</a:t>
            </a:r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algn="l"/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34891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B6E8D-B082-7961-1BBA-432882C9D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44DBACE4-806E-2676-F6A5-F77D767EEB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2519"/>
            <a:ext cx="352425" cy="400050"/>
          </a:xfrm>
          <a:prstGeom prst="rect">
            <a:avLst/>
          </a:prstGeom>
          <a:solidFill>
            <a:srgbClr val="5B9BD5">
              <a:lumMod val="50000"/>
            </a:srgbClr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endParaRPr lang="zh-CN" altLang="en-US" kern="0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88CDCFF-F398-4748-FA2E-32D2ECB731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" y="212519"/>
            <a:ext cx="123825" cy="400050"/>
          </a:xfrm>
          <a:prstGeom prst="rect">
            <a:avLst/>
          </a:prstGeom>
          <a:solidFill>
            <a:srgbClr val="7F7F7F"/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1308313B-D055-B58D-7A2C-A141FFEF0258}"/>
              </a:ext>
            </a:extLst>
          </p:cNvPr>
          <p:cNvSpPr txBox="1"/>
          <p:nvPr/>
        </p:nvSpPr>
        <p:spPr>
          <a:xfrm>
            <a:off x="609600" y="224766"/>
            <a:ext cx="9710057" cy="375557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zh-CN" altLang="en-US" sz="2400" dirty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优化项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思源黑体" panose="020B0500000000000000" pitchFamily="34" charset="-122"/>
              <a:ea typeface="思源黑体" panose="020B0500000000000000" pitchFamily="34" charset="-122"/>
              <a:cs typeface="+mj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C391ED0-9AC0-C262-6986-A978D90A1ACF}"/>
              </a:ext>
            </a:extLst>
          </p:cNvPr>
          <p:cNvSpPr txBox="1"/>
          <p:nvPr/>
        </p:nvSpPr>
        <p:spPr>
          <a:xfrm>
            <a:off x="609600" y="78307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Disabled </a:t>
            </a:r>
            <a:r>
              <a:rPr lang="en-US" altLang="zh-CN" b="1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checkJni</a:t>
            </a:r>
            <a:endParaRPr lang="en-US" altLang="zh-CN" b="1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47497D5-40E3-D055-48A2-69A305ABEF4D}"/>
              </a:ext>
            </a:extLst>
          </p:cNvPr>
          <p:cNvSpPr txBox="1"/>
          <p:nvPr/>
        </p:nvSpPr>
        <p:spPr>
          <a:xfrm>
            <a:off x="889519" y="1415365"/>
            <a:ext cx="8784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800" b="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当</a:t>
            </a:r>
            <a:r>
              <a:rPr lang="en-US" altLang="zh-CN" sz="1800" b="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lunch</a:t>
            </a:r>
            <a:r>
              <a:rPr lang="zh-CN" altLang="en-US" sz="1800" b="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选项为</a:t>
            </a:r>
            <a:r>
              <a:rPr lang="en-US" altLang="zh-CN" sz="1800" b="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user/</a:t>
            </a:r>
            <a:r>
              <a:rPr lang="en-US" altLang="zh-CN" sz="1800" b="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userdebug</a:t>
            </a:r>
            <a:r>
              <a:rPr lang="zh-CN" altLang="en-US" sz="1800" b="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模式时，此参数默认为禁用。意义不大</a:t>
            </a:r>
            <a:endParaRPr lang="en-US" altLang="zh-CN" sz="1800" b="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69955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9B80C-0192-1B78-696B-802A9C6DD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3B4DDAC9-7E64-C12D-7445-33EE5344FA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2519"/>
            <a:ext cx="352425" cy="400050"/>
          </a:xfrm>
          <a:prstGeom prst="rect">
            <a:avLst/>
          </a:prstGeom>
          <a:solidFill>
            <a:srgbClr val="5B9BD5">
              <a:lumMod val="50000"/>
            </a:srgbClr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endParaRPr lang="zh-CN" altLang="en-US" kern="0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B9642FC-BAE3-7BFB-CFB4-E12E3BBBA7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" y="212519"/>
            <a:ext cx="123825" cy="400050"/>
          </a:xfrm>
          <a:prstGeom prst="rect">
            <a:avLst/>
          </a:prstGeom>
          <a:solidFill>
            <a:srgbClr val="7F7F7F"/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C1EFE2A3-5AF8-DDBA-15DD-9BCA49D05631}"/>
              </a:ext>
            </a:extLst>
          </p:cNvPr>
          <p:cNvSpPr txBox="1"/>
          <p:nvPr/>
        </p:nvSpPr>
        <p:spPr>
          <a:xfrm>
            <a:off x="609600" y="224766"/>
            <a:ext cx="9710057" cy="375557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zh-CN" altLang="en-US" sz="2400" dirty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优化项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思源黑体" panose="020B0500000000000000" pitchFamily="34" charset="-122"/>
              <a:ea typeface="思源黑体" panose="020B0500000000000000" pitchFamily="34" charset="-122"/>
              <a:cs typeface="+mj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4387F30-482F-38C9-372D-15F3F5789A42}"/>
              </a:ext>
            </a:extLst>
          </p:cNvPr>
          <p:cNvSpPr txBox="1"/>
          <p:nvPr/>
        </p:nvSpPr>
        <p:spPr>
          <a:xfrm>
            <a:off x="609600" y="78307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SystemServer</a:t>
            </a:r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非主要服务异步启动</a:t>
            </a:r>
            <a:endParaRPr lang="en-US" altLang="zh-CN" b="1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C2210F0-3402-F5B0-3646-36CBA030E1B8}"/>
              </a:ext>
            </a:extLst>
          </p:cNvPr>
          <p:cNvSpPr txBox="1"/>
          <p:nvPr/>
        </p:nvSpPr>
        <p:spPr>
          <a:xfrm>
            <a:off x="883940" y="1275891"/>
            <a:ext cx="878497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SystemServer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作为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android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加载过程中的核心进程，会在其</a:t>
            </a:r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SystemServer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().run()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函数中，依次执行</a:t>
            </a:r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startBootstrapServices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、</a:t>
            </a:r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startCoreServices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、</a:t>
            </a:r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startOtherServices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方法。</a:t>
            </a:r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algn="l"/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这三个方法，会加载一系列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android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核心服务，并且会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add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到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cache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中，如</a:t>
            </a:r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ServiceManager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。</a:t>
            </a:r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startBootstrapServices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和</a:t>
            </a:r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startCoreServices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中加载的服务顺序和执行顺序，有极其优先顺序和依赖关系，强烈建议不修改。</a:t>
            </a:r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algn="l"/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algn="l"/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startOtherServices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中加载了非关键性服务，但其中也有部分是有强依赖关系和顺序的。</a:t>
            </a:r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algn="l"/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algn="l"/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此处修改一招不慎，就会导致系统起不来。需要对每个服务、服务间的关联非常熟悉。</a:t>
            </a:r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A838ED6-20CA-393B-0F0E-44B36060C0BE}"/>
              </a:ext>
            </a:extLst>
          </p:cNvPr>
          <p:cNvSpPr txBox="1"/>
          <p:nvPr/>
        </p:nvSpPr>
        <p:spPr>
          <a:xfrm>
            <a:off x="883940" y="3982784"/>
            <a:ext cx="853589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示例：</a:t>
            </a:r>
            <a:endParaRPr lang="en-US" altLang="zh-CN" sz="140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algn="l"/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(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以前的老项目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)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启用代码中</a:t>
            </a:r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isAndroidAuto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=true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，将会在启动时，将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network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相关的服务异步加载</a:t>
            </a:r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algn="l"/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//SystemServer.java</a:t>
            </a:r>
          </a:p>
          <a:p>
            <a:pPr algn="l"/>
            <a:endParaRPr lang="zh-CN" altLang="en-US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9D375BC-5DDC-246E-8A6F-2988E85F75DF}"/>
              </a:ext>
            </a:extLst>
          </p:cNvPr>
          <p:cNvSpPr txBox="1"/>
          <p:nvPr/>
        </p:nvSpPr>
        <p:spPr>
          <a:xfrm>
            <a:off x="922912" y="5767149"/>
            <a:ext cx="87070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将会触发</a:t>
            </a:r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isAndroidAuto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 if-else</a:t>
            </a:r>
            <a:r>
              <a:rPr lang="zh-CN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分支，将会多线程执行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Network</a:t>
            </a:r>
            <a:r>
              <a:rPr lang="zh-CN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相关服务初始化</a:t>
            </a:r>
            <a:endParaRPr lang="zh-CN" altLang="en-US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4BD4C8C-1D7B-0AEC-40F9-48B0B4B9081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20445" y="5255458"/>
            <a:ext cx="5274310" cy="3829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330469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D52E9-2568-33C9-2343-32C212A23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25BF8A62-93BC-206B-C106-B086C36A01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2519"/>
            <a:ext cx="352425" cy="400050"/>
          </a:xfrm>
          <a:prstGeom prst="rect">
            <a:avLst/>
          </a:prstGeom>
          <a:solidFill>
            <a:srgbClr val="5B9BD5">
              <a:lumMod val="50000"/>
            </a:srgbClr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endParaRPr lang="zh-CN" altLang="en-US" kern="0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0704CBD-17E1-6CF7-053D-9157A9A0A0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" y="212519"/>
            <a:ext cx="123825" cy="400050"/>
          </a:xfrm>
          <a:prstGeom prst="rect">
            <a:avLst/>
          </a:prstGeom>
          <a:solidFill>
            <a:srgbClr val="7F7F7F"/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192D0FF7-AD36-876C-A28A-DB016563A20D}"/>
              </a:ext>
            </a:extLst>
          </p:cNvPr>
          <p:cNvSpPr txBox="1"/>
          <p:nvPr/>
        </p:nvSpPr>
        <p:spPr>
          <a:xfrm>
            <a:off x="609600" y="224766"/>
            <a:ext cx="9710057" cy="375557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zh-CN" altLang="en-US" sz="2400" dirty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优化项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思源黑体" panose="020B0500000000000000" pitchFamily="34" charset="-122"/>
              <a:ea typeface="思源黑体" panose="020B0500000000000000" pitchFamily="34" charset="-122"/>
              <a:cs typeface="+mj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F1843AC-73F6-D3BA-3D6C-DD360172D630}"/>
              </a:ext>
            </a:extLst>
          </p:cNvPr>
          <p:cNvSpPr txBox="1"/>
          <p:nvPr/>
        </p:nvSpPr>
        <p:spPr>
          <a:xfrm>
            <a:off x="609600" y="78307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优化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的使用调度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002ACAB-B03B-86E9-F622-E05DADE77714}"/>
              </a:ext>
            </a:extLst>
          </p:cNvPr>
          <p:cNvSpPr txBox="1"/>
          <p:nvPr/>
        </p:nvSpPr>
        <p:spPr>
          <a:xfrm>
            <a:off x="872606" y="1335157"/>
            <a:ext cx="8784976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400" b="0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on </a:t>
            </a:r>
            <a:r>
              <a:rPr lang="en-US" altLang="zh-CN" sz="1400" b="0" dirty="0" err="1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init</a:t>
            </a:r>
            <a:endParaRPr lang="en-US" altLang="zh-CN" sz="1400" b="0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l"/>
            <a:r>
              <a:rPr lang="en-US" altLang="zh-CN" sz="1400" b="0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# update </a:t>
            </a:r>
            <a:r>
              <a:rPr lang="en-US" altLang="zh-CN" sz="1400" b="0" dirty="0" err="1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cpusets</a:t>
            </a:r>
            <a:r>
              <a:rPr lang="en-US" altLang="zh-CN" sz="1400" b="0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now that processors are up</a:t>
            </a:r>
          </a:p>
          <a:p>
            <a:pPr algn="l"/>
            <a:r>
              <a:rPr lang="en-US" altLang="zh-CN" sz="1400" b="0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write /dev/</a:t>
            </a:r>
            <a:r>
              <a:rPr lang="en-US" altLang="zh-CN" sz="1400" b="0" dirty="0" err="1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cpuset</a:t>
            </a:r>
            <a:r>
              <a:rPr lang="en-US" altLang="zh-CN" sz="1400" b="0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/top-app/</a:t>
            </a:r>
            <a:r>
              <a:rPr lang="en-US" altLang="zh-CN" sz="1400" b="0" dirty="0" err="1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cpus</a:t>
            </a:r>
            <a:r>
              <a:rPr lang="en-US" altLang="zh-CN" sz="1400" b="0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0-3</a:t>
            </a:r>
          </a:p>
          <a:p>
            <a:pPr algn="l"/>
            <a:r>
              <a:rPr lang="en-US" altLang="zh-CN" sz="1400" b="0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write /dev/</a:t>
            </a:r>
            <a:r>
              <a:rPr lang="en-US" altLang="zh-CN" sz="1400" b="0" dirty="0" err="1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cpuset</a:t>
            </a:r>
            <a:r>
              <a:rPr lang="en-US" altLang="zh-CN" sz="1400" b="0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/foreground/</a:t>
            </a:r>
            <a:r>
              <a:rPr lang="en-US" altLang="zh-CN" sz="1400" b="0" dirty="0" err="1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cpus</a:t>
            </a:r>
            <a:r>
              <a:rPr lang="en-US" altLang="zh-CN" sz="1400" b="0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0-3</a:t>
            </a:r>
          </a:p>
          <a:p>
            <a:pPr algn="l"/>
            <a:r>
              <a:rPr lang="en-US" altLang="zh-CN" sz="1400" b="0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write /dev/</a:t>
            </a:r>
            <a:r>
              <a:rPr lang="en-US" altLang="zh-CN" sz="1400" b="0" dirty="0" err="1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cpuset</a:t>
            </a:r>
            <a:r>
              <a:rPr lang="en-US" altLang="zh-CN" sz="1400" b="0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/foreground/boost/</a:t>
            </a:r>
            <a:r>
              <a:rPr lang="en-US" altLang="zh-CN" sz="1400" b="0" dirty="0" err="1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cpus</a:t>
            </a:r>
            <a:r>
              <a:rPr lang="en-US" altLang="zh-CN" sz="1400" b="0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0-3</a:t>
            </a:r>
          </a:p>
          <a:p>
            <a:pPr algn="l"/>
            <a:r>
              <a:rPr lang="en-US" altLang="zh-CN" sz="1400" b="0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write /dev/</a:t>
            </a:r>
            <a:r>
              <a:rPr lang="en-US" altLang="zh-CN" sz="1400" b="0" dirty="0" err="1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cpuset</a:t>
            </a:r>
            <a:r>
              <a:rPr lang="en-US" altLang="zh-CN" sz="1400" b="0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/background/</a:t>
            </a:r>
            <a:r>
              <a:rPr lang="en-US" altLang="zh-CN" sz="1400" b="0" dirty="0" err="1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cpus</a:t>
            </a:r>
            <a:r>
              <a:rPr lang="en-US" altLang="zh-CN" sz="1400" b="0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0-3</a:t>
            </a:r>
          </a:p>
          <a:p>
            <a:pPr algn="l"/>
            <a:r>
              <a:rPr lang="en-US" altLang="zh-CN" sz="1400" b="0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write /dev/</a:t>
            </a:r>
            <a:r>
              <a:rPr lang="en-US" altLang="zh-CN" sz="1400" b="0" dirty="0" err="1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cpuset</a:t>
            </a:r>
            <a:r>
              <a:rPr lang="en-US" altLang="zh-CN" sz="1400" b="0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/system-background/</a:t>
            </a:r>
            <a:r>
              <a:rPr lang="en-US" altLang="zh-CN" sz="1400" b="0" dirty="0" err="1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cpus</a:t>
            </a:r>
            <a:r>
              <a:rPr lang="en-US" altLang="zh-CN" sz="1400" b="0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0-3</a:t>
            </a:r>
          </a:p>
          <a:p>
            <a:pPr algn="l"/>
            <a:r>
              <a:rPr lang="en-US" altLang="zh-CN" sz="1400" b="0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# set default </a:t>
            </a:r>
            <a:r>
              <a:rPr lang="en-US" altLang="zh-CN" sz="1400" b="0" dirty="0" err="1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schedTune</a:t>
            </a:r>
            <a:r>
              <a:rPr lang="en-US" altLang="zh-CN" sz="1400" b="0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value for foreground/top-app (only affects EAS)</a:t>
            </a:r>
          </a:p>
          <a:p>
            <a:pPr algn="l"/>
            <a:r>
              <a:rPr lang="en-US" altLang="zh-CN" sz="1400" b="0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write /dev/</a:t>
            </a:r>
            <a:r>
              <a:rPr lang="en-US" altLang="zh-CN" sz="1400" b="0" dirty="0" err="1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stune</a:t>
            </a:r>
            <a:r>
              <a:rPr lang="en-US" altLang="zh-CN" sz="1400" b="0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/foreground/</a:t>
            </a:r>
            <a:r>
              <a:rPr lang="en-US" altLang="zh-CN" sz="1400" b="0" dirty="0" err="1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schedtune.prefer_idle</a:t>
            </a:r>
            <a:r>
              <a:rPr lang="en-US" altLang="zh-CN" sz="1400" b="0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1</a:t>
            </a:r>
          </a:p>
          <a:p>
            <a:pPr algn="l"/>
            <a:r>
              <a:rPr lang="en-US" altLang="zh-CN" sz="1400" b="0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write /dev/</a:t>
            </a:r>
            <a:r>
              <a:rPr lang="en-US" altLang="zh-CN" sz="1400" b="0" dirty="0" err="1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stune</a:t>
            </a:r>
            <a:r>
              <a:rPr lang="en-US" altLang="zh-CN" sz="1400" b="0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/top-app/</a:t>
            </a:r>
            <a:r>
              <a:rPr lang="en-US" altLang="zh-CN" sz="1400" b="0" dirty="0" err="1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schedtune.boost</a:t>
            </a:r>
            <a:r>
              <a:rPr lang="en-US" altLang="zh-CN" sz="1400" b="0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10</a:t>
            </a:r>
          </a:p>
          <a:p>
            <a:pPr algn="l"/>
            <a:r>
              <a:rPr lang="en-US" altLang="zh-CN" sz="1400" b="0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write /dev/</a:t>
            </a:r>
            <a:r>
              <a:rPr lang="en-US" altLang="zh-CN" sz="1400" b="0" dirty="0" err="1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stune</a:t>
            </a:r>
            <a:r>
              <a:rPr lang="en-US" altLang="zh-CN" sz="1400" b="0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/top-app/</a:t>
            </a:r>
            <a:r>
              <a:rPr lang="en-US" altLang="zh-CN" sz="1400" b="0" dirty="0" err="1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schedtune.prefer_idle</a:t>
            </a:r>
            <a:r>
              <a:rPr lang="en-US" altLang="zh-CN" sz="1400" b="0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1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5BF1C18-64EC-73D0-4E5E-258CBB156AC0}"/>
              </a:ext>
            </a:extLst>
          </p:cNvPr>
          <p:cNvSpPr txBox="1"/>
          <p:nvPr/>
        </p:nvSpPr>
        <p:spPr>
          <a:xfrm>
            <a:off x="1021560" y="4162872"/>
            <a:ext cx="770485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400" b="0" dirty="0">
                <a:latin typeface="微软雅黑" panose="020B0503020204020204" pitchFamily="34" charset="-122"/>
                <a:ea typeface="思源黑体" panose="020B0500000000000000"/>
              </a:rPr>
              <a:t>具体参数和芯片平台绑定层度比较大。</a:t>
            </a:r>
            <a:endParaRPr lang="en-US" altLang="zh-CN" sz="1400" b="0" dirty="0">
              <a:latin typeface="微软雅黑" panose="020B0503020204020204" pitchFamily="34" charset="-122"/>
              <a:ea typeface="思源黑体" panose="020B050000000000000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sz="1400" b="0" dirty="0">
                <a:latin typeface="微软雅黑" panose="020B0503020204020204" pitchFamily="34" charset="-122"/>
                <a:ea typeface="思源黑体" panose="020B0500000000000000"/>
              </a:rPr>
              <a:t>ATC</a:t>
            </a:r>
            <a:r>
              <a:rPr lang="zh-CN" altLang="en-US" sz="1400" b="0" dirty="0">
                <a:latin typeface="微软雅黑" panose="020B0503020204020204" pitchFamily="34" charset="-122"/>
                <a:ea typeface="思源黑体" panose="020B0500000000000000"/>
              </a:rPr>
              <a:t>或高通提供过来已经是最优，自己调整优化的空间较小。</a:t>
            </a:r>
            <a:endParaRPr lang="en-US" altLang="zh-CN" sz="1400" b="0" dirty="0">
              <a:latin typeface="微软雅黑" panose="020B0503020204020204" pitchFamily="34" charset="-122"/>
              <a:ea typeface="思源黑体" panose="020B050000000000000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400" b="0" dirty="0">
                <a:latin typeface="微软雅黑" panose="020B0503020204020204" pitchFamily="34" charset="-122"/>
                <a:ea typeface="思源黑体" panose="020B0500000000000000"/>
              </a:rPr>
              <a:t>检查是否开机阶段</a:t>
            </a:r>
            <a:r>
              <a:rPr lang="en-US" altLang="zh-CN" sz="1400" b="0" dirty="0">
                <a:latin typeface="微软雅黑" panose="020B0503020204020204" pitchFamily="34" charset="-122"/>
                <a:ea typeface="思源黑体" panose="020B0500000000000000"/>
              </a:rPr>
              <a:t>CPU</a:t>
            </a:r>
            <a:r>
              <a:rPr lang="zh-CN" altLang="en-US" sz="1400" b="0" dirty="0">
                <a:latin typeface="微软雅黑" panose="020B0503020204020204" pitchFamily="34" charset="-122"/>
                <a:ea typeface="思源黑体" panose="020B0500000000000000"/>
              </a:rPr>
              <a:t>调度处于</a:t>
            </a:r>
            <a:r>
              <a:rPr lang="en-US" altLang="zh-CN" sz="1400" b="0" dirty="0">
                <a:latin typeface="微软雅黑" panose="020B0503020204020204" pitchFamily="34" charset="-122"/>
                <a:ea typeface="思源黑体" panose="020B0500000000000000"/>
              </a:rPr>
              <a:t>performance</a:t>
            </a:r>
            <a:r>
              <a:rPr lang="zh-CN" altLang="en-US" sz="1400" b="0" dirty="0">
                <a:latin typeface="微软雅黑" panose="020B0503020204020204" pitchFamily="34" charset="-122"/>
                <a:ea typeface="思源黑体" panose="020B0500000000000000"/>
              </a:rPr>
              <a:t>模式</a:t>
            </a:r>
          </a:p>
        </p:txBody>
      </p:sp>
    </p:spTree>
    <p:extLst>
      <p:ext uri="{BB962C8B-B14F-4D97-AF65-F5344CB8AC3E}">
        <p14:creationId xmlns:p14="http://schemas.microsoft.com/office/powerpoint/2010/main" val="33131602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850AB-DAD1-CBB4-8659-E32C0BEE2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855A8B64-337C-194B-B764-7AB732AA09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2519"/>
            <a:ext cx="352425" cy="400050"/>
          </a:xfrm>
          <a:prstGeom prst="rect">
            <a:avLst/>
          </a:prstGeom>
          <a:solidFill>
            <a:srgbClr val="5B9BD5">
              <a:lumMod val="50000"/>
            </a:srgbClr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endParaRPr lang="zh-CN" altLang="en-US" kern="0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497F1B9-675D-9300-72D8-21F7F6A84D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" y="212519"/>
            <a:ext cx="123825" cy="400050"/>
          </a:xfrm>
          <a:prstGeom prst="rect">
            <a:avLst/>
          </a:prstGeom>
          <a:solidFill>
            <a:srgbClr val="7F7F7F"/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B66E41C4-4ED5-BD75-C346-593043ABECB5}"/>
              </a:ext>
            </a:extLst>
          </p:cNvPr>
          <p:cNvSpPr txBox="1"/>
          <p:nvPr/>
        </p:nvSpPr>
        <p:spPr>
          <a:xfrm>
            <a:off x="609600" y="224766"/>
            <a:ext cx="9710057" cy="375557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zh-CN" altLang="en-US" sz="2400" dirty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优化项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思源黑体" panose="020B0500000000000000" pitchFamily="34" charset="-122"/>
              <a:ea typeface="思源黑体" panose="020B0500000000000000" pitchFamily="34" charset="-122"/>
              <a:cs typeface="+mj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98EBD8C-7B8B-6AA0-2A11-3508942BEB99}"/>
              </a:ext>
            </a:extLst>
          </p:cNvPr>
          <p:cNvSpPr txBox="1"/>
          <p:nvPr/>
        </p:nvSpPr>
        <p:spPr>
          <a:xfrm>
            <a:off x="609600" y="78307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微软雅黑" panose="020B0503020204020204" pitchFamily="34" charset="-122"/>
                <a:ea typeface="思源黑体" panose="020B0500000000000000"/>
              </a:rPr>
              <a:t>优化资源调度</a:t>
            </a:r>
            <a:endParaRPr lang="en-US" altLang="zh-CN" b="1" dirty="0">
              <a:latin typeface="微软雅黑" panose="020B0503020204020204" pitchFamily="34" charset="-122"/>
              <a:ea typeface="思源黑体" panose="020B050000000000000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72767D9-5303-6493-8D86-AF1CC6192A43}"/>
              </a:ext>
            </a:extLst>
          </p:cNvPr>
          <p:cNvSpPr txBox="1"/>
          <p:nvPr/>
        </p:nvSpPr>
        <p:spPr>
          <a:xfrm>
            <a:off x="885048" y="1395377"/>
            <a:ext cx="81026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高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IO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应用时间上错开，</a:t>
            </a:r>
            <a:r>
              <a:rPr lang="zh-CN" altLang="en-US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避免</a:t>
            </a:r>
            <a:r>
              <a:rPr lang="en-US" altLang="zh-CN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PMS</a:t>
            </a:r>
            <a:r>
              <a:rPr lang="zh-CN" altLang="en-US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线程对 </a:t>
            </a:r>
            <a:r>
              <a:rPr lang="en-US" altLang="zh-CN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CPU </a:t>
            </a:r>
            <a:r>
              <a:rPr lang="zh-CN" altLang="en-US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和 </a:t>
            </a:r>
            <a:r>
              <a:rPr lang="en-US" altLang="zh-CN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I/O </a:t>
            </a:r>
            <a:r>
              <a:rPr lang="zh-CN" altLang="en-US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资源的抢占与 </a:t>
            </a:r>
            <a:r>
              <a:rPr lang="en-US" altLang="zh-CN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Zygote</a:t>
            </a:r>
            <a:r>
              <a:rPr lang="zh-CN" altLang="en-US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、</a:t>
            </a:r>
            <a:r>
              <a:rPr lang="en-US" altLang="zh-CN" sz="140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SurfaceFlinger</a:t>
            </a:r>
            <a:r>
              <a:rPr lang="en-US" altLang="zh-CN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 </a:t>
            </a:r>
            <a:r>
              <a:rPr lang="zh-CN" altLang="en-US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等关键进程冲突</a:t>
            </a:r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3036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75BB3-60AC-5C2D-10F4-CEC2C4D3A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312DC946-81F7-94EF-F032-CC506D9925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2519"/>
            <a:ext cx="352425" cy="400050"/>
          </a:xfrm>
          <a:prstGeom prst="rect">
            <a:avLst/>
          </a:prstGeom>
          <a:solidFill>
            <a:srgbClr val="5B9BD5">
              <a:lumMod val="50000"/>
            </a:srgbClr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endParaRPr lang="zh-CN" altLang="en-US" kern="0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5DFD893-3834-DBA3-D6AD-AE6F87CBE5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" y="212519"/>
            <a:ext cx="123825" cy="400050"/>
          </a:xfrm>
          <a:prstGeom prst="rect">
            <a:avLst/>
          </a:prstGeom>
          <a:solidFill>
            <a:srgbClr val="7F7F7F"/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10220CA8-C23B-6509-7751-BD63583A2213}"/>
              </a:ext>
            </a:extLst>
          </p:cNvPr>
          <p:cNvSpPr txBox="1"/>
          <p:nvPr/>
        </p:nvSpPr>
        <p:spPr>
          <a:xfrm>
            <a:off x="609600" y="224766"/>
            <a:ext cx="9710057" cy="375557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zh-CN" altLang="en-US" sz="2400" dirty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优化项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思源黑体" panose="020B0500000000000000" pitchFamily="34" charset="-122"/>
              <a:ea typeface="思源黑体" panose="020B0500000000000000" pitchFamily="34" charset="-122"/>
              <a:cs typeface="+mj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69B52DB-3A27-F769-5453-317786341371}"/>
              </a:ext>
            </a:extLst>
          </p:cNvPr>
          <p:cNvSpPr txBox="1"/>
          <p:nvPr/>
        </p:nvSpPr>
        <p:spPr>
          <a:xfrm>
            <a:off x="609600" y="78307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微软雅黑" panose="020B0503020204020204" pitchFamily="34" charset="-122"/>
                <a:ea typeface="思源黑体" panose="020B0500000000000000"/>
              </a:rPr>
              <a:t>优化开机动画</a:t>
            </a:r>
            <a:endParaRPr lang="en-US" altLang="zh-CN" b="1" dirty="0">
              <a:latin typeface="微软雅黑" panose="020B0503020204020204" pitchFamily="34" charset="-122"/>
              <a:ea typeface="思源黑体" panose="020B050000000000000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1B05322-3659-3488-2311-0B3E825F234E}"/>
              </a:ext>
            </a:extLst>
          </p:cNvPr>
          <p:cNvSpPr txBox="1"/>
          <p:nvPr/>
        </p:nvSpPr>
        <p:spPr>
          <a:xfrm>
            <a:off x="885048" y="1395377"/>
            <a:ext cx="81026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400" b="0" dirty="0">
                <a:latin typeface="微软雅黑" panose="020B0503020204020204" pitchFamily="34" charset="-122"/>
                <a:ea typeface="思源黑体" panose="020B0500000000000000"/>
              </a:rPr>
              <a:t>如果没有此需求，可以将开机动画去掉。优化效果比较明显。</a:t>
            </a:r>
            <a:endParaRPr lang="en-US" altLang="zh-CN" sz="1400" b="0" dirty="0">
              <a:latin typeface="微软雅黑" panose="020B0503020204020204" pitchFamily="34" charset="-122"/>
              <a:ea typeface="思源黑体" panose="020B05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9733557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0FE05-0623-9B7B-F5EC-2C8FB8300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F885290A-2221-E029-B07A-1DBD2C6043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2519"/>
            <a:ext cx="352425" cy="400050"/>
          </a:xfrm>
          <a:prstGeom prst="rect">
            <a:avLst/>
          </a:prstGeom>
          <a:solidFill>
            <a:srgbClr val="5B9BD5">
              <a:lumMod val="50000"/>
            </a:srgbClr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endParaRPr lang="zh-CN" altLang="en-US" kern="0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F2ADBBF-2313-5F32-FE44-3729F7E6A4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" y="212519"/>
            <a:ext cx="123825" cy="400050"/>
          </a:xfrm>
          <a:prstGeom prst="rect">
            <a:avLst/>
          </a:prstGeom>
          <a:solidFill>
            <a:srgbClr val="7F7F7F"/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E668911E-698D-CED0-BF85-91D8264DC933}"/>
              </a:ext>
            </a:extLst>
          </p:cNvPr>
          <p:cNvSpPr txBox="1"/>
          <p:nvPr/>
        </p:nvSpPr>
        <p:spPr>
          <a:xfrm>
            <a:off x="609600" y="224766"/>
            <a:ext cx="9710057" cy="375557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zh-CN" altLang="en-US" sz="2400" dirty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优化项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思源黑体" panose="020B0500000000000000" pitchFamily="34" charset="-122"/>
              <a:ea typeface="思源黑体" panose="020B0500000000000000" pitchFamily="34" charset="-122"/>
              <a:cs typeface="+mj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290E6F2-6EFA-C6FD-C34D-8A2CA11E42B2}"/>
              </a:ext>
            </a:extLst>
          </p:cNvPr>
          <p:cNvSpPr txBox="1"/>
          <p:nvPr/>
        </p:nvSpPr>
        <p:spPr>
          <a:xfrm>
            <a:off x="609600" y="78307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微软雅黑" panose="020B0503020204020204" pitchFamily="34" charset="-122"/>
                <a:ea typeface="思源黑体" panose="020B0500000000000000"/>
              </a:rPr>
              <a:t>推迟非关键服务的启动</a:t>
            </a:r>
            <a:endParaRPr lang="en-US" altLang="zh-CN" b="1" dirty="0">
              <a:latin typeface="微软雅黑" panose="020B0503020204020204" pitchFamily="34" charset="-122"/>
              <a:ea typeface="思源黑体" panose="020B050000000000000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4EC59B0-BD63-493B-54E0-6A916946B7D3}"/>
              </a:ext>
            </a:extLst>
          </p:cNvPr>
          <p:cNvSpPr txBox="1"/>
          <p:nvPr/>
        </p:nvSpPr>
        <p:spPr>
          <a:xfrm>
            <a:off x="953472" y="1152406"/>
            <a:ext cx="878497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altLang="zh-CN" sz="1400" b="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ZRAM</a:t>
            </a:r>
            <a:r>
              <a:rPr lang="zh-CN" altLang="en-US" sz="1400" b="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是</a:t>
            </a:r>
            <a:r>
              <a:rPr lang="en-US" altLang="zh-CN" sz="1400" b="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linux</a:t>
            </a:r>
            <a:r>
              <a:rPr lang="zh-CN" altLang="en-US" sz="1400" b="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中的一项功能，是被设计为当系统内存不足时，将应用程序所占用的内存压缩进</a:t>
            </a:r>
            <a:r>
              <a:rPr lang="en-US" altLang="zh-CN" sz="1400" b="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swap</a:t>
            </a:r>
            <a:r>
              <a:rPr lang="zh-CN" altLang="en-US" sz="1400" b="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分区，可以</a:t>
            </a:r>
            <a:r>
              <a:rPr lang="zh-CN" altLang="zh-CN" sz="1400" b="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推迟到</a:t>
            </a:r>
            <a:r>
              <a:rPr lang="en-US" altLang="zh-CN" sz="1400" b="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boot_completed</a:t>
            </a:r>
            <a:r>
              <a:rPr lang="en-US" altLang="zh-CN" sz="1400" b="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= 1 </a:t>
            </a:r>
            <a:r>
              <a:rPr lang="zh-CN" altLang="zh-CN" sz="1400" b="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后再启用</a:t>
            </a:r>
            <a:endParaRPr lang="en-US" altLang="zh-CN" sz="1400" b="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altLang="zh-CN" sz="1400" b="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update_engine</a:t>
            </a:r>
            <a:r>
              <a:rPr lang="zh-CN" altLang="zh-CN" sz="1400" b="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原先由</a:t>
            </a:r>
            <a:r>
              <a:rPr lang="en-US" altLang="zh-CN" sz="1400" b="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init.rc</a:t>
            </a:r>
            <a:r>
              <a:rPr lang="zh-CN" altLang="zh-CN" sz="1400" b="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在初始化过程中启动，对系统启动无影响</a:t>
            </a:r>
            <a:r>
              <a:rPr lang="zh-CN" altLang="en-US" sz="1400" b="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。可以</a:t>
            </a:r>
            <a:r>
              <a:rPr lang="zh-CN" altLang="zh-CN" sz="1400" b="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推迟到</a:t>
            </a:r>
            <a:r>
              <a:rPr lang="en-US" altLang="zh-CN" sz="1400" b="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boot_completed</a:t>
            </a:r>
            <a:r>
              <a:rPr lang="en-US" altLang="zh-CN" sz="1400" b="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= 1 </a:t>
            </a:r>
            <a:r>
              <a:rPr lang="zh-CN" altLang="zh-CN" sz="1400" b="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后再启</a:t>
            </a:r>
            <a:r>
              <a:rPr lang="zh-CN" altLang="en-US" sz="1400" b="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动。</a:t>
            </a:r>
            <a:endParaRPr lang="en-US" altLang="zh-CN" sz="1400" b="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altLang="zh-CN" sz="1400" b="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storaged</a:t>
            </a:r>
            <a:r>
              <a:rPr lang="zh-CN" altLang="zh-CN" sz="1400" b="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用于检索存储信息并将其提供给框架</a:t>
            </a:r>
            <a:r>
              <a:rPr lang="zh-CN" altLang="en-US" sz="1400" b="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，在系统完成启动</a:t>
            </a:r>
            <a:r>
              <a:rPr lang="en-US" altLang="zh-CN" sz="1400" b="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system.boot_completed</a:t>
            </a:r>
            <a:r>
              <a:rPr lang="en-US" altLang="zh-CN" sz="1400" b="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= 1</a:t>
            </a:r>
            <a:r>
              <a:rPr lang="zh-CN" altLang="en-US" sz="1400" b="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时启动</a:t>
            </a:r>
            <a:endParaRPr lang="zh-CN" altLang="zh-CN" sz="1400" b="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E1A9EC7-0845-DCCE-D9D6-6CBD6EFBF987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6836" y="2631470"/>
            <a:ext cx="5274310" cy="485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6A0EC87-85E6-692D-AF6C-D2F61844BFB9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6836" y="3426123"/>
            <a:ext cx="5274310" cy="121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939D61D-BBC4-2753-130E-70CF5410C543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16836" y="4951661"/>
            <a:ext cx="5274310" cy="160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249703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5C291-9FAE-E812-DA79-4B505766D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DE7E0D18-569E-FAC6-5A0A-7A498A303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2519"/>
            <a:ext cx="352425" cy="400050"/>
          </a:xfrm>
          <a:prstGeom prst="rect">
            <a:avLst/>
          </a:prstGeom>
          <a:solidFill>
            <a:srgbClr val="5B9BD5">
              <a:lumMod val="50000"/>
            </a:srgbClr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endParaRPr lang="zh-CN" altLang="en-US" kern="0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6083144-F3D5-C9EB-C466-B2F1B66BF0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" y="212519"/>
            <a:ext cx="123825" cy="400050"/>
          </a:xfrm>
          <a:prstGeom prst="rect">
            <a:avLst/>
          </a:prstGeom>
          <a:solidFill>
            <a:srgbClr val="7F7F7F"/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26604807-C014-6CB1-DEA4-4D69DBE4D7D7}"/>
              </a:ext>
            </a:extLst>
          </p:cNvPr>
          <p:cNvSpPr txBox="1"/>
          <p:nvPr/>
        </p:nvSpPr>
        <p:spPr>
          <a:xfrm>
            <a:off x="609600" y="224766"/>
            <a:ext cx="9710057" cy="375557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zh-CN" altLang="en-US" sz="2400" dirty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优化项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思源黑体" panose="020B0500000000000000" pitchFamily="34" charset="-122"/>
              <a:ea typeface="思源黑体" panose="020B0500000000000000" pitchFamily="34" charset="-122"/>
              <a:cs typeface="+mj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1AF9BEA-CBA7-72C8-8A7A-8D64C449FFA1}"/>
              </a:ext>
            </a:extLst>
          </p:cNvPr>
          <p:cNvSpPr txBox="1"/>
          <p:nvPr/>
        </p:nvSpPr>
        <p:spPr>
          <a:xfrm>
            <a:off x="609600" y="78307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微软雅黑" panose="020B0503020204020204" pitchFamily="34" charset="-122"/>
                <a:ea typeface="思源黑体" panose="020B0500000000000000"/>
              </a:rPr>
              <a:t>推迟非关键服务的启动</a:t>
            </a:r>
            <a:endParaRPr lang="en-US" altLang="zh-CN" b="1" dirty="0">
              <a:latin typeface="微软雅黑" panose="020B0503020204020204" pitchFamily="34" charset="-122"/>
              <a:ea typeface="思源黑体" panose="020B050000000000000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252B93D-49FD-9EB2-727D-A313641B73DA}"/>
              </a:ext>
            </a:extLst>
          </p:cNvPr>
          <p:cNvSpPr txBox="1"/>
          <p:nvPr/>
        </p:nvSpPr>
        <p:spPr>
          <a:xfrm>
            <a:off x="895738" y="1164845"/>
            <a:ext cx="878497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cameraserver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：提供</a:t>
            </a:r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CameraService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，管理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Camera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相关的功能接口。可以</a:t>
            </a:r>
            <a:r>
              <a:rPr lang="zh-CN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推迟到</a:t>
            </a:r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boot_completed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 = 1 </a:t>
            </a:r>
            <a:r>
              <a:rPr lang="zh-CN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后再启用</a:t>
            </a:r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statsd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可收集应用使用情况、电池和进程统计信息以及崩溃数据。可以禁用。</a:t>
            </a:r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BootChart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是分析开机性能的终于工具，但是本身也占用一定性能。可以关闭。</a:t>
            </a:r>
            <a:endParaRPr lang="zh-CN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140E4F6-F601-AA99-8FC6-4F0B6ECFCBD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20445" y="2425993"/>
            <a:ext cx="5274310" cy="1389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1DDC14E-09F1-7C8B-482D-18536DBEEBE4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20445" y="3995091"/>
            <a:ext cx="5274310" cy="240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032738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763B6-4A54-3263-F8B5-A982E3E44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B0B81458-42C7-E199-0403-C66DADE998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2519"/>
            <a:ext cx="352425" cy="400050"/>
          </a:xfrm>
          <a:prstGeom prst="rect">
            <a:avLst/>
          </a:prstGeom>
          <a:solidFill>
            <a:srgbClr val="5B9BD5">
              <a:lumMod val="50000"/>
            </a:srgbClr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endParaRPr lang="zh-CN" altLang="en-US" kern="0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8C75365-4624-937C-F083-C81C983973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" y="212519"/>
            <a:ext cx="123825" cy="400050"/>
          </a:xfrm>
          <a:prstGeom prst="rect">
            <a:avLst/>
          </a:prstGeom>
          <a:solidFill>
            <a:srgbClr val="7F7F7F"/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FFCB6A5A-844D-650D-D264-3CA19E1CA9D2}"/>
              </a:ext>
            </a:extLst>
          </p:cNvPr>
          <p:cNvSpPr txBox="1"/>
          <p:nvPr/>
        </p:nvSpPr>
        <p:spPr>
          <a:xfrm>
            <a:off x="609600" y="224766"/>
            <a:ext cx="9710057" cy="375557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zh-CN" altLang="en-US" sz="2400" dirty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优化项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思源黑体" panose="020B0500000000000000" pitchFamily="34" charset="-122"/>
              <a:ea typeface="思源黑体" panose="020B0500000000000000" pitchFamily="34" charset="-122"/>
              <a:cs typeface="+mj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DCEF8F9-7153-6611-5C8B-3A0D53CB1E26}"/>
              </a:ext>
            </a:extLst>
          </p:cNvPr>
          <p:cNvSpPr txBox="1"/>
          <p:nvPr/>
        </p:nvSpPr>
        <p:spPr>
          <a:xfrm>
            <a:off x="609600" y="78307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微软雅黑" panose="020B0503020204020204" pitchFamily="34" charset="-122"/>
                <a:ea typeface="思源黑体" panose="020B0500000000000000"/>
              </a:rPr>
              <a:t>关闭默认功能开关</a:t>
            </a:r>
            <a:endParaRPr lang="en-US" altLang="zh-CN" b="1" dirty="0">
              <a:latin typeface="微软雅黑" panose="020B0503020204020204" pitchFamily="34" charset="-122"/>
              <a:ea typeface="思源黑体" panose="020B050000000000000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4684305-3D27-B5CC-AB9A-676146D39535}"/>
              </a:ext>
            </a:extLst>
          </p:cNvPr>
          <p:cNvSpPr txBox="1"/>
          <p:nvPr/>
        </p:nvSpPr>
        <p:spPr>
          <a:xfrm>
            <a:off x="895738" y="1164845"/>
            <a:ext cx="878497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大部分都可以通过</a:t>
            </a:r>
            <a:r>
              <a:rPr lang="en-US" altLang="zh-CN" sz="140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SettingsProvider</a:t>
            </a:r>
            <a:r>
              <a:rPr lang="en-US" altLang="zh-CN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/res/values/*.xml</a:t>
            </a:r>
            <a:r>
              <a:rPr lang="zh-CN" altLang="en-US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和</a:t>
            </a:r>
            <a:r>
              <a:rPr lang="en-US" altLang="zh-CN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base/core/res/res/values/*.xml</a:t>
            </a:r>
            <a:r>
              <a:rPr lang="zh-CN" altLang="en-US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的配置项关闭。</a:t>
            </a:r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关闭锁屏显示通知</a:t>
            </a:r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关闭手势唤醒</a:t>
            </a:r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关闭双击唤醒</a:t>
            </a:r>
            <a:endParaRPr lang="en-US" altLang="zh-CN" sz="140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关闭充电振动</a:t>
            </a:r>
            <a:endParaRPr lang="en-US" altLang="zh-CN" sz="140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关闭充电提示音</a:t>
            </a:r>
            <a:endParaRPr lang="en-US" altLang="zh-CN" sz="140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关闭蓝牙和</a:t>
            </a:r>
            <a:r>
              <a:rPr lang="en-US" altLang="zh-CN" sz="140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wifi</a:t>
            </a:r>
            <a:endParaRPr lang="en-US" altLang="zh-CN" sz="140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关闭自动旋转</a:t>
            </a:r>
            <a:endParaRPr lang="en-US" altLang="zh-CN" sz="140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关闭</a:t>
            </a:r>
            <a:r>
              <a:rPr lang="en-US" altLang="zh-CN" sz="140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Wifi</a:t>
            </a:r>
            <a:r>
              <a:rPr lang="en-US" altLang="zh-CN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 Debugging</a:t>
            </a:r>
            <a:endParaRPr lang="zh-CN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46637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788DB-6BE5-59D3-4885-B48836A5E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30C73EC8-919D-0F87-A4BB-1ADA5569AE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2519"/>
            <a:ext cx="352425" cy="400050"/>
          </a:xfrm>
          <a:prstGeom prst="rect">
            <a:avLst/>
          </a:prstGeom>
          <a:solidFill>
            <a:srgbClr val="5B9BD5">
              <a:lumMod val="50000"/>
            </a:srgbClr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endParaRPr lang="zh-CN" altLang="en-US" kern="0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D0FB3FE-D7E6-36DE-CAF3-469E597443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" y="212519"/>
            <a:ext cx="123825" cy="400050"/>
          </a:xfrm>
          <a:prstGeom prst="rect">
            <a:avLst/>
          </a:prstGeom>
          <a:solidFill>
            <a:srgbClr val="7F7F7F"/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5711854D-EA5E-17F5-808E-2BDE7D6A5325}"/>
              </a:ext>
            </a:extLst>
          </p:cNvPr>
          <p:cNvSpPr txBox="1"/>
          <p:nvPr/>
        </p:nvSpPr>
        <p:spPr>
          <a:xfrm>
            <a:off x="609600" y="224766"/>
            <a:ext cx="9710057" cy="375557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zh-CN" altLang="en-US" sz="2400" dirty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优化项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思源黑体" panose="020B0500000000000000" pitchFamily="34" charset="-122"/>
              <a:ea typeface="思源黑体" panose="020B0500000000000000" pitchFamily="34" charset="-122"/>
              <a:cs typeface="+mj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2DF41CB-FD5B-B11E-DCC2-E32BD07915AB}"/>
              </a:ext>
            </a:extLst>
          </p:cNvPr>
          <p:cNvSpPr txBox="1"/>
          <p:nvPr/>
        </p:nvSpPr>
        <p:spPr>
          <a:xfrm>
            <a:off x="609600" y="78307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SystemUI</a:t>
            </a:r>
            <a:r>
              <a:rPr lang="zh-CN" altLang="en-US" b="1" dirty="0">
                <a:latin typeface="微软雅黑" panose="020B0503020204020204" pitchFamily="34" charset="-122"/>
                <a:ea typeface="思源黑体" panose="020B0500000000000000"/>
              </a:rPr>
              <a:t>优化</a:t>
            </a:r>
            <a:endParaRPr lang="en-US" altLang="zh-CN" b="1" dirty="0">
              <a:latin typeface="微软雅黑" panose="020B0503020204020204" pitchFamily="34" charset="-122"/>
              <a:ea typeface="思源黑体" panose="020B050000000000000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B2AD9D0-516C-CF91-7296-7DE040B201DE}"/>
              </a:ext>
            </a:extLst>
          </p:cNvPr>
          <p:cNvSpPr txBox="1"/>
          <p:nvPr/>
        </p:nvSpPr>
        <p:spPr>
          <a:xfrm>
            <a:off x="889519" y="1335157"/>
            <a:ext cx="878497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</a:t>
            </a:r>
            <a:r>
              <a:rPr lang="zh-CN" altLang="en-US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理由：</a:t>
            </a:r>
            <a:r>
              <a:rPr lang="en-US" altLang="zh-CN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 </a:t>
            </a:r>
          </a:p>
          <a:p>
            <a:pPr algn="l"/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      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在</a:t>
            </a:r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SystemServer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中</a:t>
            </a:r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startOhterServices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启动的最后阶段，当</a:t>
            </a:r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ams.systemReady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()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时，执行</a:t>
            </a:r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startSystemUi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()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会启动</a:t>
            </a:r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SystemUI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 APP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的相关服务。此时</a:t>
            </a:r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WindowManagerService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会一直等待</a:t>
            </a:r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SystemUI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服务启动完成，并且相关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views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在完成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draw()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之后，才会通知系统完成启动。</a:t>
            </a:r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algn="l"/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        故</a:t>
            </a:r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SystemUI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的执行效率将严重影响系统速度。</a:t>
            </a:r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algn="l"/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algn="l"/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优化</a:t>
            </a:r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algn="l"/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1. </a:t>
            </a:r>
            <a:r>
              <a:rPr lang="zh-CN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由于系统启动在等待</a:t>
            </a:r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systemUI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 view</a:t>
            </a:r>
            <a:r>
              <a:rPr lang="zh-CN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绘制完成后才真正结束，故项目实施中，功能实现需要继续优化，例如具体的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view</a:t>
            </a:r>
            <a:r>
              <a:rPr lang="zh-CN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线程中，对于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Wi-Fi</a:t>
            </a:r>
            <a:r>
              <a:rPr lang="zh-CN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、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BT</a:t>
            </a:r>
            <a:r>
              <a:rPr lang="zh-CN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等使用要采用异步的方式</a:t>
            </a:r>
          </a:p>
          <a:p>
            <a:pPr algn="l"/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2. System UI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非常臃肿，很多组件是车载上用不到的。应结合项目需求，进行裁剪。</a:t>
            </a:r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algn="l"/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algn="l"/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下面列举一些建议。</a:t>
            </a:r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53154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C1EBA-C531-C3FC-57B7-3ACA36B97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8E8BC884-284F-7B14-760B-704E2A7C93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2519"/>
            <a:ext cx="352425" cy="400050"/>
          </a:xfrm>
          <a:prstGeom prst="rect">
            <a:avLst/>
          </a:prstGeom>
          <a:solidFill>
            <a:srgbClr val="5B9BD5">
              <a:lumMod val="50000"/>
            </a:srgbClr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endParaRPr lang="zh-CN" altLang="en-US" kern="0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B6BF34D-9A5E-A299-651A-466F9DF3CE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" y="212519"/>
            <a:ext cx="123825" cy="400050"/>
          </a:xfrm>
          <a:prstGeom prst="rect">
            <a:avLst/>
          </a:prstGeom>
          <a:solidFill>
            <a:srgbClr val="7F7F7F"/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42E2A5D7-333F-A6B5-92B5-64D1D3123D1C}"/>
              </a:ext>
            </a:extLst>
          </p:cNvPr>
          <p:cNvSpPr txBox="1"/>
          <p:nvPr/>
        </p:nvSpPr>
        <p:spPr>
          <a:xfrm>
            <a:off x="609600" y="224766"/>
            <a:ext cx="9710057" cy="375557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zh-CN" altLang="en-US" sz="2400" dirty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优化项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思源黑体" panose="020B0500000000000000" pitchFamily="34" charset="-122"/>
              <a:ea typeface="思源黑体" panose="020B0500000000000000" pitchFamily="34" charset="-122"/>
              <a:cs typeface="+mj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5A0D804-9071-8EFA-EEFF-0F5EB3E60FAC}"/>
              </a:ext>
            </a:extLst>
          </p:cNvPr>
          <p:cNvSpPr txBox="1"/>
          <p:nvPr/>
        </p:nvSpPr>
        <p:spPr>
          <a:xfrm>
            <a:off x="609600" y="78307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SystemUI</a:t>
            </a:r>
            <a:r>
              <a:rPr lang="zh-CN" altLang="en-US" b="1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优化</a:t>
            </a:r>
            <a:endParaRPr lang="en-US" altLang="zh-CN" b="1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72CD33C5-4DF7-E814-83DF-834CC9879F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0978052"/>
              </p:ext>
            </p:extLst>
          </p:nvPr>
        </p:nvGraphicFramePr>
        <p:xfrm>
          <a:off x="675816" y="1335156"/>
          <a:ext cx="5343984" cy="473977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88962">
                  <a:extLst>
                    <a:ext uri="{9D8B030D-6E8A-4147-A177-3AD203B41FA5}">
                      <a16:colId xmlns:a16="http://schemas.microsoft.com/office/drawing/2014/main" val="2508042317"/>
                    </a:ext>
                  </a:extLst>
                </a:gridCol>
                <a:gridCol w="892337">
                  <a:extLst>
                    <a:ext uri="{9D8B030D-6E8A-4147-A177-3AD203B41FA5}">
                      <a16:colId xmlns:a16="http://schemas.microsoft.com/office/drawing/2014/main" val="966204846"/>
                    </a:ext>
                  </a:extLst>
                </a:gridCol>
                <a:gridCol w="820222">
                  <a:extLst>
                    <a:ext uri="{9D8B030D-6E8A-4147-A177-3AD203B41FA5}">
                      <a16:colId xmlns:a16="http://schemas.microsoft.com/office/drawing/2014/main" val="4020878133"/>
                    </a:ext>
                  </a:extLst>
                </a:gridCol>
                <a:gridCol w="742463">
                  <a:extLst>
                    <a:ext uri="{9D8B030D-6E8A-4147-A177-3AD203B41FA5}">
                      <a16:colId xmlns:a16="http://schemas.microsoft.com/office/drawing/2014/main" val="1219830109"/>
                    </a:ext>
                  </a:extLst>
                </a:gridCol>
              </a:tblGrid>
              <a:tr h="157992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000" kern="100" dirty="0">
                          <a:effectLst/>
                        </a:rPr>
                        <a:t> </a:t>
                      </a:r>
                      <a:endParaRPr lang="zh-CN" sz="1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2" marR="62162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000" kern="100">
                          <a:effectLst/>
                        </a:rPr>
                        <a:t>作用</a:t>
                      </a:r>
                      <a:endParaRPr lang="zh-CN" sz="1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2" marR="62162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000" kern="100">
                          <a:effectLst/>
                        </a:rPr>
                        <a:t>耗时</a:t>
                      </a:r>
                      <a:endParaRPr lang="zh-CN" sz="1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2" marR="62162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000" kern="100">
                          <a:effectLst/>
                        </a:rPr>
                        <a:t>建议</a:t>
                      </a:r>
                      <a:endParaRPr lang="zh-CN" sz="1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2" marR="62162" marT="0" marB="0"/>
                </a:tc>
                <a:extLst>
                  <a:ext uri="{0D108BD9-81ED-4DB2-BD59-A6C34878D82A}">
                    <a16:rowId xmlns:a16="http://schemas.microsoft.com/office/drawing/2014/main" val="4129914154"/>
                  </a:ext>
                </a:extLst>
              </a:tr>
              <a:tr h="157992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000" kern="100">
                          <a:effectLst/>
                        </a:rPr>
                        <a:t>.Dependency</a:t>
                      </a:r>
                      <a:endParaRPr lang="zh-CN" sz="1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2" marR="62162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000" kern="100">
                          <a:effectLst/>
                        </a:rPr>
                        <a:t>依赖类</a:t>
                      </a:r>
                      <a:endParaRPr lang="zh-CN" sz="1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2" marR="62162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000" kern="100">
                          <a:effectLst/>
                        </a:rPr>
                        <a:t>50ms+</a:t>
                      </a:r>
                      <a:endParaRPr lang="zh-CN" sz="1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2" marR="62162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000" kern="100">
                          <a:effectLst/>
                        </a:rPr>
                        <a:t>不可删除</a:t>
                      </a:r>
                      <a:endParaRPr lang="zh-CN" sz="1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2" marR="62162" marT="0" marB="0"/>
                </a:tc>
                <a:extLst>
                  <a:ext uri="{0D108BD9-81ED-4DB2-BD59-A6C34878D82A}">
                    <a16:rowId xmlns:a16="http://schemas.microsoft.com/office/drawing/2014/main" val="248777121"/>
                  </a:ext>
                </a:extLst>
              </a:tr>
              <a:tr h="315985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000" kern="100" dirty="0">
                          <a:effectLst/>
                        </a:rPr>
                        <a:t>.</a:t>
                      </a:r>
                      <a:r>
                        <a:rPr lang="en-US" sz="1000" kern="100" dirty="0" err="1">
                          <a:effectLst/>
                        </a:rPr>
                        <a:t>util.NotificationChannels</a:t>
                      </a:r>
                      <a:endParaRPr lang="zh-CN" sz="1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2" marR="62162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000" kern="100">
                          <a:effectLst/>
                        </a:rPr>
                        <a:t>通知栏</a:t>
                      </a:r>
                      <a:endParaRPr lang="zh-CN" sz="1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2" marR="62162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000" kern="100">
                          <a:effectLst/>
                        </a:rPr>
                        <a:t>20ms+</a:t>
                      </a:r>
                      <a:endParaRPr lang="zh-CN" sz="1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2" marR="62162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000" kern="100">
                          <a:effectLst/>
                        </a:rPr>
                        <a:t>依据需求删除</a:t>
                      </a:r>
                      <a:endParaRPr lang="zh-CN" sz="1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2" marR="62162" marT="0" marB="0"/>
                </a:tc>
                <a:extLst>
                  <a:ext uri="{0D108BD9-81ED-4DB2-BD59-A6C34878D82A}">
                    <a16:rowId xmlns:a16="http://schemas.microsoft.com/office/drawing/2014/main" val="2970306781"/>
                  </a:ext>
                </a:extLst>
              </a:tr>
              <a:tr h="315985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000" kern="100" dirty="0">
                          <a:effectLst/>
                        </a:rPr>
                        <a:t>.</a:t>
                      </a:r>
                      <a:r>
                        <a:rPr lang="en-US" sz="1000" kern="100" dirty="0" err="1">
                          <a:effectLst/>
                        </a:rPr>
                        <a:t>statusbar.CommandQueue$CommandQueueStart</a:t>
                      </a:r>
                      <a:endParaRPr lang="zh-CN" sz="1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2" marR="62162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000" kern="100" dirty="0" err="1">
                          <a:effectLst/>
                        </a:rPr>
                        <a:t>Statusbar</a:t>
                      </a:r>
                      <a:r>
                        <a:rPr lang="zh-CN" sz="1000" kern="100" dirty="0">
                          <a:effectLst/>
                        </a:rPr>
                        <a:t>命令处理队列</a:t>
                      </a:r>
                      <a:endParaRPr lang="zh-CN" sz="1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2" marR="62162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000" kern="100">
                          <a:effectLst/>
                        </a:rPr>
                        <a:t>15ms+</a:t>
                      </a:r>
                      <a:endParaRPr lang="zh-CN" sz="1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2" marR="62162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000" kern="100">
                          <a:effectLst/>
                        </a:rPr>
                        <a:t>不可删除</a:t>
                      </a:r>
                      <a:endParaRPr lang="zh-CN" sz="1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2" marR="62162" marT="0" marB="0"/>
                </a:tc>
                <a:extLst>
                  <a:ext uri="{0D108BD9-81ED-4DB2-BD59-A6C34878D82A}">
                    <a16:rowId xmlns:a16="http://schemas.microsoft.com/office/drawing/2014/main" val="1795974155"/>
                  </a:ext>
                </a:extLst>
              </a:tr>
              <a:tr h="315985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000" kern="100">
                          <a:effectLst/>
                        </a:rPr>
                        <a:t>.keyguard.KeyguardViewMediator</a:t>
                      </a:r>
                      <a:endParaRPr lang="zh-CN" sz="1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2" marR="62162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000" kern="100">
                          <a:effectLst/>
                        </a:rPr>
                        <a:t>锁屏服务</a:t>
                      </a:r>
                      <a:endParaRPr lang="zh-CN" sz="1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2" marR="62162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000" kern="100">
                          <a:effectLst/>
                        </a:rPr>
                        <a:t>150ms~</a:t>
                      </a:r>
                      <a:endParaRPr lang="zh-CN" sz="1000" kern="100">
                        <a:effectLst/>
                      </a:endParaRPr>
                    </a:p>
                    <a:p>
                      <a:pPr algn="just">
                        <a:buNone/>
                      </a:pPr>
                      <a:r>
                        <a:rPr lang="en-US" sz="1000" kern="100">
                          <a:effectLst/>
                        </a:rPr>
                        <a:t>500ms</a:t>
                      </a:r>
                      <a:endParaRPr lang="zh-CN" sz="1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2" marR="62162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000" kern="100">
                          <a:effectLst/>
                        </a:rPr>
                        <a:t>不可删除</a:t>
                      </a:r>
                      <a:endParaRPr lang="zh-CN" sz="1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2" marR="62162" marT="0" marB="0"/>
                </a:tc>
                <a:extLst>
                  <a:ext uri="{0D108BD9-81ED-4DB2-BD59-A6C34878D82A}">
                    <a16:rowId xmlns:a16="http://schemas.microsoft.com/office/drawing/2014/main" val="1367424570"/>
                  </a:ext>
                </a:extLst>
              </a:tr>
              <a:tr h="315985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000" kern="100" dirty="0">
                          <a:effectLst/>
                        </a:rPr>
                        <a:t>.</a:t>
                      </a:r>
                      <a:r>
                        <a:rPr lang="en-US" sz="1000" kern="100" dirty="0" err="1">
                          <a:effectLst/>
                        </a:rPr>
                        <a:t>recents.Recents</a:t>
                      </a:r>
                      <a:endParaRPr lang="zh-CN" sz="1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2" marR="62162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000" kern="100">
                          <a:effectLst/>
                        </a:rPr>
                        <a:t>最近任务</a:t>
                      </a:r>
                      <a:endParaRPr lang="zh-CN" sz="1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2" marR="62162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000" kern="100">
                          <a:effectLst/>
                          <a:highlight>
                            <a:srgbClr val="FF0000"/>
                          </a:highlight>
                        </a:rPr>
                        <a:t>350ms~</a:t>
                      </a:r>
                      <a:endParaRPr lang="zh-CN" sz="1000" kern="100">
                        <a:effectLst/>
                      </a:endParaRPr>
                    </a:p>
                    <a:p>
                      <a:pPr algn="just">
                        <a:buNone/>
                      </a:pPr>
                      <a:r>
                        <a:rPr lang="en-US" sz="1000" kern="100">
                          <a:effectLst/>
                          <a:highlight>
                            <a:srgbClr val="FF0000"/>
                          </a:highlight>
                        </a:rPr>
                        <a:t>500ms</a:t>
                      </a:r>
                      <a:endParaRPr lang="zh-CN" sz="1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2" marR="62162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000" kern="100">
                          <a:effectLst/>
                        </a:rPr>
                        <a:t>依据需求删除</a:t>
                      </a:r>
                      <a:endParaRPr lang="zh-CN" sz="1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2" marR="62162" marT="0" marB="0"/>
                </a:tc>
                <a:extLst>
                  <a:ext uri="{0D108BD9-81ED-4DB2-BD59-A6C34878D82A}">
                    <a16:rowId xmlns:a16="http://schemas.microsoft.com/office/drawing/2014/main" val="2027420653"/>
                  </a:ext>
                </a:extLst>
              </a:tr>
              <a:tr h="315985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000" kern="100" dirty="0">
                          <a:effectLst/>
                        </a:rPr>
                        <a:t>.</a:t>
                      </a:r>
                      <a:r>
                        <a:rPr lang="en-US" sz="1000" kern="100" dirty="0" err="1">
                          <a:effectLst/>
                        </a:rPr>
                        <a:t>volume.VolumeUI</a:t>
                      </a:r>
                      <a:endParaRPr lang="zh-CN" sz="1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2" marR="62162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000" kern="100">
                          <a:effectLst/>
                        </a:rPr>
                        <a:t>音量</a:t>
                      </a:r>
                      <a:r>
                        <a:rPr lang="en-US" sz="1000" kern="100">
                          <a:effectLst/>
                        </a:rPr>
                        <a:t>UI</a:t>
                      </a:r>
                      <a:endParaRPr lang="zh-CN" sz="1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2" marR="62162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000" kern="100">
                          <a:effectLst/>
                          <a:highlight>
                            <a:srgbClr val="FF0000"/>
                          </a:highlight>
                        </a:rPr>
                        <a:t>200ms~</a:t>
                      </a:r>
                      <a:endParaRPr lang="zh-CN" sz="1000" kern="100">
                        <a:effectLst/>
                      </a:endParaRPr>
                    </a:p>
                    <a:p>
                      <a:pPr algn="just">
                        <a:buNone/>
                      </a:pPr>
                      <a:r>
                        <a:rPr lang="en-US" sz="1000" kern="100">
                          <a:effectLst/>
                          <a:highlight>
                            <a:srgbClr val="FF0000"/>
                          </a:highlight>
                        </a:rPr>
                        <a:t>400ms</a:t>
                      </a:r>
                      <a:endParaRPr lang="zh-CN" sz="1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2" marR="62162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000" kern="100">
                          <a:effectLst/>
                        </a:rPr>
                        <a:t>建议删除</a:t>
                      </a:r>
                      <a:endParaRPr lang="zh-CN" sz="1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2" marR="62162" marT="0" marB="0"/>
                </a:tc>
                <a:extLst>
                  <a:ext uri="{0D108BD9-81ED-4DB2-BD59-A6C34878D82A}">
                    <a16:rowId xmlns:a16="http://schemas.microsoft.com/office/drawing/2014/main" val="699845683"/>
                  </a:ext>
                </a:extLst>
              </a:tr>
              <a:tr h="315985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000" kern="100">
                          <a:effectLst/>
                        </a:rPr>
                        <a:t>.stackdivider.Divider</a:t>
                      </a:r>
                      <a:endParaRPr lang="zh-CN" sz="1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2" marR="62162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000" kern="100">
                          <a:effectLst/>
                        </a:rPr>
                        <a:t>控制管理分屏</a:t>
                      </a:r>
                      <a:endParaRPr lang="zh-CN" sz="1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2" marR="62162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000" kern="100">
                          <a:effectLst/>
                          <a:highlight>
                            <a:srgbClr val="FF0000"/>
                          </a:highlight>
                        </a:rPr>
                        <a:t>100ms</a:t>
                      </a:r>
                      <a:endParaRPr lang="zh-CN" sz="1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2" marR="62162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000" kern="100">
                          <a:effectLst/>
                        </a:rPr>
                        <a:t>依据需求删除</a:t>
                      </a:r>
                      <a:endParaRPr lang="zh-CN" sz="1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2" marR="62162" marT="0" marB="0"/>
                </a:tc>
                <a:extLst>
                  <a:ext uri="{0D108BD9-81ED-4DB2-BD59-A6C34878D82A}">
                    <a16:rowId xmlns:a16="http://schemas.microsoft.com/office/drawing/2014/main" val="679899552"/>
                  </a:ext>
                </a:extLst>
              </a:tr>
              <a:tr h="315985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000" kern="100">
                          <a:effectLst/>
                        </a:rPr>
                        <a:t>.SystemBars</a:t>
                      </a:r>
                      <a:endParaRPr lang="zh-CN" sz="1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2" marR="62162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000" kern="100">
                          <a:effectLst/>
                        </a:rPr>
                        <a:t>状态栏、导航栏</a:t>
                      </a:r>
                      <a:endParaRPr lang="zh-CN" sz="1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2" marR="62162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000" kern="100">
                          <a:effectLst/>
                        </a:rPr>
                        <a:t>800ms~</a:t>
                      </a:r>
                      <a:endParaRPr lang="zh-CN" sz="1000" kern="100">
                        <a:effectLst/>
                      </a:endParaRPr>
                    </a:p>
                    <a:p>
                      <a:pPr algn="just">
                        <a:buNone/>
                      </a:pPr>
                      <a:r>
                        <a:rPr lang="en-US" sz="1000" kern="100">
                          <a:effectLst/>
                        </a:rPr>
                        <a:t>1200ms</a:t>
                      </a:r>
                      <a:endParaRPr lang="zh-CN" sz="1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2" marR="62162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000" kern="100">
                          <a:effectLst/>
                        </a:rPr>
                        <a:t>不可删除</a:t>
                      </a:r>
                      <a:endParaRPr lang="zh-CN" sz="1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2" marR="62162" marT="0" marB="0"/>
                </a:tc>
                <a:extLst>
                  <a:ext uri="{0D108BD9-81ED-4DB2-BD59-A6C34878D82A}">
                    <a16:rowId xmlns:a16="http://schemas.microsoft.com/office/drawing/2014/main" val="842383703"/>
                  </a:ext>
                </a:extLst>
              </a:tr>
              <a:tr h="315985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000" kern="100">
                          <a:effectLst/>
                        </a:rPr>
                        <a:t>.usb.StorageNotification</a:t>
                      </a:r>
                      <a:endParaRPr lang="zh-CN" sz="1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2" marR="62162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000" kern="100">
                          <a:effectLst/>
                        </a:rPr>
                        <a:t>Usb storage</a:t>
                      </a:r>
                      <a:r>
                        <a:rPr lang="zh-CN" sz="1000" kern="100">
                          <a:effectLst/>
                        </a:rPr>
                        <a:t>相关</a:t>
                      </a:r>
                      <a:endParaRPr lang="zh-CN" sz="1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2" marR="62162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000" kern="100">
                          <a:effectLst/>
                          <a:highlight>
                            <a:srgbClr val="FF0000"/>
                          </a:highlight>
                        </a:rPr>
                        <a:t>15ms</a:t>
                      </a:r>
                      <a:endParaRPr lang="zh-CN" sz="1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2" marR="62162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000" kern="100">
                          <a:effectLst/>
                        </a:rPr>
                        <a:t>建议删除</a:t>
                      </a:r>
                      <a:endParaRPr lang="zh-CN" sz="1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2" marR="62162" marT="0" marB="0"/>
                </a:tc>
                <a:extLst>
                  <a:ext uri="{0D108BD9-81ED-4DB2-BD59-A6C34878D82A}">
                    <a16:rowId xmlns:a16="http://schemas.microsoft.com/office/drawing/2014/main" val="3880505559"/>
                  </a:ext>
                </a:extLst>
              </a:tr>
              <a:tr h="157992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000" kern="100">
                          <a:effectLst/>
                        </a:rPr>
                        <a:t>.power.PowerUI</a:t>
                      </a:r>
                      <a:endParaRPr lang="zh-CN" sz="1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2" marR="62162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000" kern="100">
                          <a:effectLst/>
                        </a:rPr>
                        <a:t>电源界面</a:t>
                      </a:r>
                      <a:endParaRPr lang="zh-CN" sz="1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2" marR="62162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000" kern="100">
                          <a:effectLst/>
                          <a:highlight>
                            <a:srgbClr val="FF0000"/>
                          </a:highlight>
                        </a:rPr>
                        <a:t>25ms</a:t>
                      </a:r>
                      <a:endParaRPr lang="zh-CN" sz="1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2" marR="62162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000" kern="100">
                          <a:effectLst/>
                        </a:rPr>
                        <a:t>建议删除</a:t>
                      </a:r>
                      <a:endParaRPr lang="zh-CN" sz="1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2" marR="62162" marT="0" marB="0"/>
                </a:tc>
                <a:extLst>
                  <a:ext uri="{0D108BD9-81ED-4DB2-BD59-A6C34878D82A}">
                    <a16:rowId xmlns:a16="http://schemas.microsoft.com/office/drawing/2014/main" val="3327820335"/>
                  </a:ext>
                </a:extLst>
              </a:tr>
              <a:tr h="157992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000" kern="100">
                          <a:effectLst/>
                        </a:rPr>
                        <a:t>.media.RingtonePlayer</a:t>
                      </a:r>
                      <a:endParaRPr lang="zh-CN" sz="1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2" marR="62162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000" kern="100">
                          <a:effectLst/>
                        </a:rPr>
                        <a:t>铃声播放</a:t>
                      </a:r>
                      <a:endParaRPr lang="zh-CN" sz="1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2" marR="62162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000" kern="100">
                          <a:effectLst/>
                        </a:rPr>
                        <a:t>7ms</a:t>
                      </a:r>
                      <a:endParaRPr lang="zh-CN" sz="1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2" marR="62162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000" kern="100">
                          <a:effectLst/>
                        </a:rPr>
                        <a:t>建议删除</a:t>
                      </a:r>
                      <a:endParaRPr lang="zh-CN" sz="1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2" marR="62162" marT="0" marB="0"/>
                </a:tc>
                <a:extLst>
                  <a:ext uri="{0D108BD9-81ED-4DB2-BD59-A6C34878D82A}">
                    <a16:rowId xmlns:a16="http://schemas.microsoft.com/office/drawing/2014/main" val="1005216698"/>
                  </a:ext>
                </a:extLst>
              </a:tr>
              <a:tr h="315985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000" kern="100">
                          <a:effectLst/>
                        </a:rPr>
                        <a:t>.keyboard.KeyboardUI</a:t>
                      </a:r>
                      <a:endParaRPr lang="zh-CN" sz="1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2" marR="62162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000" kern="100">
                          <a:effectLst/>
                        </a:rPr>
                        <a:t>键盘相关</a:t>
                      </a:r>
                      <a:endParaRPr lang="zh-CN" sz="1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2" marR="62162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000" kern="100">
                          <a:effectLst/>
                        </a:rPr>
                        <a:t>5ms</a:t>
                      </a:r>
                      <a:endParaRPr lang="zh-CN" sz="1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2" marR="62162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000" kern="100">
                          <a:effectLst/>
                        </a:rPr>
                        <a:t>不建议删除</a:t>
                      </a:r>
                      <a:endParaRPr lang="zh-CN" sz="1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2" marR="62162" marT="0" marB="0"/>
                </a:tc>
                <a:extLst>
                  <a:ext uri="{0D108BD9-81ED-4DB2-BD59-A6C34878D82A}">
                    <a16:rowId xmlns:a16="http://schemas.microsoft.com/office/drawing/2014/main" val="1227869881"/>
                  </a:ext>
                </a:extLst>
              </a:tr>
              <a:tr h="157992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000" kern="100">
                          <a:effectLst/>
                        </a:rPr>
                        <a:t>.pip.PipUI</a:t>
                      </a:r>
                      <a:endParaRPr lang="zh-CN" sz="1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2" marR="62162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000" kern="100">
                          <a:effectLst/>
                        </a:rPr>
                        <a:t>画中画</a:t>
                      </a:r>
                      <a:endParaRPr lang="zh-CN" sz="1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2" marR="62162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000" kern="100">
                          <a:effectLst/>
                        </a:rPr>
                        <a:t>3ms</a:t>
                      </a:r>
                      <a:endParaRPr lang="zh-CN" sz="1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2" marR="62162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000" kern="100">
                          <a:effectLst/>
                        </a:rPr>
                        <a:t>建议删除</a:t>
                      </a:r>
                      <a:endParaRPr lang="zh-CN" sz="1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2" marR="62162" marT="0" marB="0"/>
                </a:tc>
                <a:extLst>
                  <a:ext uri="{0D108BD9-81ED-4DB2-BD59-A6C34878D82A}">
                    <a16:rowId xmlns:a16="http://schemas.microsoft.com/office/drawing/2014/main" val="2069751564"/>
                  </a:ext>
                </a:extLst>
              </a:tr>
              <a:tr h="157992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000" kern="100">
                          <a:effectLst/>
                        </a:rPr>
                        <a:t>.shortcut.ShortcutKeyDispatcher</a:t>
                      </a:r>
                      <a:endParaRPr lang="zh-CN" sz="1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2" marR="62162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000" kern="100">
                          <a:effectLst/>
                        </a:rPr>
                        <a:t>快捷键</a:t>
                      </a:r>
                      <a:endParaRPr lang="zh-CN" sz="1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2" marR="62162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000" kern="100">
                          <a:effectLst/>
                        </a:rPr>
                        <a:t>3ms</a:t>
                      </a:r>
                      <a:endParaRPr lang="zh-CN" sz="1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2" marR="62162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000" kern="100">
                          <a:effectLst/>
                        </a:rPr>
                        <a:t>保留</a:t>
                      </a:r>
                      <a:endParaRPr lang="zh-CN" sz="1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2" marR="62162" marT="0" marB="0"/>
                </a:tc>
                <a:extLst>
                  <a:ext uri="{0D108BD9-81ED-4DB2-BD59-A6C34878D82A}">
                    <a16:rowId xmlns:a16="http://schemas.microsoft.com/office/drawing/2014/main" val="615168536"/>
                  </a:ext>
                </a:extLst>
              </a:tr>
              <a:tr h="315985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000" kern="100">
                          <a:effectLst/>
                        </a:rPr>
                        <a:t>@string/config_systemUIVendorServiceComponent</a:t>
                      </a:r>
                      <a:endParaRPr lang="zh-CN" sz="1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2" marR="62162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000" kern="100">
                          <a:effectLst/>
                        </a:rPr>
                        <a:t>Vendor</a:t>
                      </a:r>
                      <a:r>
                        <a:rPr lang="zh-CN" sz="1000" kern="100">
                          <a:effectLst/>
                        </a:rPr>
                        <a:t>空实现</a:t>
                      </a:r>
                      <a:endParaRPr lang="zh-CN" sz="1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2" marR="62162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000" kern="100">
                          <a:effectLst/>
                        </a:rPr>
                        <a:t>1ms</a:t>
                      </a:r>
                      <a:endParaRPr lang="zh-CN" sz="1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2" marR="62162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000" kern="100">
                          <a:effectLst/>
                        </a:rPr>
                        <a:t>建议删除</a:t>
                      </a:r>
                      <a:endParaRPr lang="zh-CN" sz="1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2" marR="62162" marT="0" marB="0"/>
                </a:tc>
                <a:extLst>
                  <a:ext uri="{0D108BD9-81ED-4DB2-BD59-A6C34878D82A}">
                    <a16:rowId xmlns:a16="http://schemas.microsoft.com/office/drawing/2014/main" val="1490339798"/>
                  </a:ext>
                </a:extLst>
              </a:tr>
              <a:tr h="157992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000" kern="100">
                          <a:effectLst/>
                        </a:rPr>
                        <a:t>.LatencyTester</a:t>
                      </a:r>
                      <a:endParaRPr lang="zh-CN" sz="1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2" marR="62162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000" kern="100">
                          <a:effectLst/>
                        </a:rPr>
                        <a:t>测试使用</a:t>
                      </a:r>
                      <a:endParaRPr lang="zh-CN" sz="1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2" marR="62162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000" kern="100">
                          <a:effectLst/>
                        </a:rPr>
                        <a:t>3ms</a:t>
                      </a:r>
                      <a:endParaRPr lang="zh-CN" sz="1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2" marR="62162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000" kern="100">
                          <a:effectLst/>
                        </a:rPr>
                        <a:t>建议删除</a:t>
                      </a:r>
                      <a:endParaRPr lang="zh-CN" sz="1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2" marR="62162" marT="0" marB="0"/>
                </a:tc>
                <a:extLst>
                  <a:ext uri="{0D108BD9-81ED-4DB2-BD59-A6C34878D82A}">
                    <a16:rowId xmlns:a16="http://schemas.microsoft.com/office/drawing/2014/main" val="3748795818"/>
                  </a:ext>
                </a:extLst>
              </a:tr>
              <a:tr h="157992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000" kern="100">
                          <a:effectLst/>
                        </a:rPr>
                        <a:t>.ScreenDecorations</a:t>
                      </a:r>
                      <a:endParaRPr lang="zh-CN" sz="1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2" marR="62162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000" kern="100">
                          <a:effectLst/>
                        </a:rPr>
                        <a:t>截屏</a:t>
                      </a:r>
                      <a:endParaRPr lang="zh-CN" sz="1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2" marR="62162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000" kern="100">
                          <a:effectLst/>
                        </a:rPr>
                        <a:t>15ms</a:t>
                      </a:r>
                      <a:endParaRPr lang="zh-CN" sz="1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2" marR="62162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000" kern="100">
                          <a:effectLst/>
                        </a:rPr>
                        <a:t>建议删除</a:t>
                      </a:r>
                      <a:endParaRPr lang="zh-CN" sz="1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2" marR="62162" marT="0" marB="0"/>
                </a:tc>
                <a:extLst>
                  <a:ext uri="{0D108BD9-81ED-4DB2-BD59-A6C34878D82A}">
                    <a16:rowId xmlns:a16="http://schemas.microsoft.com/office/drawing/2014/main" val="4083834167"/>
                  </a:ext>
                </a:extLst>
              </a:tr>
              <a:tr h="157992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000" kern="100">
                          <a:effectLst/>
                        </a:rPr>
                        <a:t>.fingerprint.FingerprintDialogImpl</a:t>
                      </a:r>
                      <a:endParaRPr lang="zh-CN" sz="1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2" marR="62162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000" kern="100">
                          <a:effectLst/>
                        </a:rPr>
                        <a:t>指纹</a:t>
                      </a:r>
                      <a:endParaRPr lang="zh-CN" sz="1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2" marR="62162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000" kern="100">
                          <a:effectLst/>
                        </a:rPr>
                        <a:t>6ms</a:t>
                      </a:r>
                      <a:endParaRPr lang="zh-CN" sz="1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2" marR="62162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000" kern="100">
                          <a:effectLst/>
                        </a:rPr>
                        <a:t>建议删除</a:t>
                      </a:r>
                      <a:endParaRPr lang="zh-CN" sz="1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2" marR="62162" marT="0" marB="0"/>
                </a:tc>
                <a:extLst>
                  <a:ext uri="{0D108BD9-81ED-4DB2-BD59-A6C34878D82A}">
                    <a16:rowId xmlns:a16="http://schemas.microsoft.com/office/drawing/2014/main" val="1396818733"/>
                  </a:ext>
                </a:extLst>
              </a:tr>
              <a:tr h="157992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000" kern="100">
                          <a:effectLst/>
                        </a:rPr>
                        <a:t> </a:t>
                      </a:r>
                      <a:endParaRPr lang="zh-CN" sz="1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2" marR="62162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000" kern="100">
                          <a:effectLst/>
                        </a:rPr>
                        <a:t> </a:t>
                      </a:r>
                      <a:endParaRPr lang="zh-CN" sz="1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2" marR="62162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000" kern="100">
                          <a:effectLst/>
                        </a:rPr>
                        <a:t> </a:t>
                      </a:r>
                      <a:endParaRPr lang="zh-CN" sz="1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2" marR="62162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000" kern="100" dirty="0">
                          <a:effectLst/>
                        </a:rPr>
                        <a:t> </a:t>
                      </a:r>
                      <a:endParaRPr lang="zh-CN" sz="1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162" marR="62162" marT="0" marB="0"/>
                </a:tc>
                <a:extLst>
                  <a:ext uri="{0D108BD9-81ED-4DB2-BD59-A6C34878D82A}">
                    <a16:rowId xmlns:a16="http://schemas.microsoft.com/office/drawing/2014/main" val="320973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89112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4769C-8E9D-4A1A-C73F-70857CC7B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26DF22FD-3377-FFE9-4093-8F20BBFC2C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2519"/>
            <a:ext cx="352425" cy="400050"/>
          </a:xfrm>
          <a:prstGeom prst="rect">
            <a:avLst/>
          </a:prstGeom>
          <a:solidFill>
            <a:srgbClr val="5B9BD5">
              <a:lumMod val="50000"/>
            </a:srgbClr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endParaRPr lang="zh-CN" altLang="en-US" kern="0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4155A8D-1E6E-864F-BB5B-97DA040EFF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" y="212519"/>
            <a:ext cx="123825" cy="400050"/>
          </a:xfrm>
          <a:prstGeom prst="rect">
            <a:avLst/>
          </a:prstGeom>
          <a:solidFill>
            <a:srgbClr val="7F7F7F"/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9122A643-BF49-1082-1E1E-FD584EE3B4E2}"/>
              </a:ext>
            </a:extLst>
          </p:cNvPr>
          <p:cNvSpPr txBox="1"/>
          <p:nvPr/>
        </p:nvSpPr>
        <p:spPr>
          <a:xfrm>
            <a:off x="609600" y="224766"/>
            <a:ext cx="9710057" cy="375557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zh-CN" altLang="en-US" sz="2400" dirty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优化项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思源黑体" panose="020B0500000000000000" pitchFamily="34" charset="-122"/>
              <a:ea typeface="思源黑体" panose="020B0500000000000000" pitchFamily="34" charset="-122"/>
              <a:cs typeface="+mj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50B52F0-9019-45EE-0BAA-2B6C5CB1AB77}"/>
              </a:ext>
            </a:extLst>
          </p:cNvPr>
          <p:cNvSpPr txBox="1"/>
          <p:nvPr/>
        </p:nvSpPr>
        <p:spPr>
          <a:xfrm>
            <a:off x="609600" y="78307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微软雅黑" panose="020B0503020204020204" pitchFamily="34" charset="-122"/>
                <a:ea typeface="思源黑体" panose="020B0500000000000000"/>
              </a:rPr>
              <a:t>其他项</a:t>
            </a:r>
            <a:endParaRPr lang="en-US" altLang="zh-CN" b="1" dirty="0">
              <a:latin typeface="微软雅黑" panose="020B0503020204020204" pitchFamily="34" charset="-122"/>
              <a:ea typeface="思源黑体" panose="020B050000000000000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7611DC1-2A2E-A0CD-366C-4699C366E257}"/>
              </a:ext>
            </a:extLst>
          </p:cNvPr>
          <p:cNvSpPr txBox="1"/>
          <p:nvPr/>
        </p:nvSpPr>
        <p:spPr>
          <a:xfrm>
            <a:off x="965913" y="1335157"/>
            <a:ext cx="87849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Launcher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优化</a:t>
            </a:r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r>
              <a:rPr lang="zh-CN" altLang="en-US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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禁用</a:t>
            </a:r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FallbackHome</a:t>
            </a:r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r>
              <a:rPr lang="zh-CN" altLang="en-US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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常规的 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app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优化，如避免复杂布局、通过子线程执行高耗时操作、使用高性能控件、延迟加载、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Bitmap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优化、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GPU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渲染等。</a:t>
            </a:r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EEB37E2-9D25-8DAC-0D67-0CC6488F85E0}"/>
              </a:ext>
            </a:extLst>
          </p:cNvPr>
          <p:cNvSpPr txBox="1"/>
          <p:nvPr/>
        </p:nvSpPr>
        <p:spPr>
          <a:xfrm>
            <a:off x="965913" y="2673274"/>
            <a:ext cx="878497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PMS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优化</a:t>
            </a:r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r>
              <a:rPr lang="zh-CN" altLang="en-US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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增加包扫描线程数。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4-&gt;6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或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4-&gt;8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。</a:t>
            </a:r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r>
              <a:rPr lang="zh-CN" altLang="en-US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 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app </a:t>
            </a:r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odex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优化（</a:t>
            </a:r>
            <a:r>
              <a:rPr lang="en-US" altLang="zh-CN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WITH_DEXPREOPT</a:t>
            </a:r>
            <a:r>
              <a:rPr lang="zh-CN" altLang="en-US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、</a:t>
            </a:r>
            <a:r>
              <a:rPr lang="en-US" altLang="zh-CN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LOCAL_DEX_PREOPT 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）</a:t>
            </a:r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3C68AD6-66BF-75B9-633F-D53540F32167}"/>
              </a:ext>
            </a:extLst>
          </p:cNvPr>
          <p:cNvSpPr txBox="1"/>
          <p:nvPr/>
        </p:nvSpPr>
        <p:spPr>
          <a:xfrm>
            <a:off x="965913" y="3839600"/>
            <a:ext cx="878497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专项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优化</a:t>
            </a:r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r>
              <a:rPr lang="zh-CN" altLang="en-US" sz="1400" dirty="0">
                <a:ea typeface="思源黑体" panose="020B0500000000000000"/>
              </a:rPr>
              <a:t>针对自定义的开机自启动项，看看整个开机过程哪个启动项耗时较长，找对应开发确认是否能够优化，或延迟启动。</a:t>
            </a:r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38927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E5F9D-4C43-99F3-5A89-75C0317F5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5E55F2C1-3D1C-6D85-6216-6A1AAE672F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2519"/>
            <a:ext cx="352425" cy="400050"/>
          </a:xfrm>
          <a:prstGeom prst="rect">
            <a:avLst/>
          </a:prstGeom>
          <a:solidFill>
            <a:srgbClr val="5B9BD5">
              <a:lumMod val="50000"/>
            </a:srgbClr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endParaRPr lang="zh-CN" altLang="en-US" kern="0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AABDBE3-F111-9322-F732-7BBE61D584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" y="212519"/>
            <a:ext cx="123825" cy="400050"/>
          </a:xfrm>
          <a:prstGeom prst="rect">
            <a:avLst/>
          </a:prstGeom>
          <a:solidFill>
            <a:srgbClr val="7F7F7F"/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DDEA2BBF-8870-99AF-E4AB-7F90ACAFDB1F}"/>
              </a:ext>
            </a:extLst>
          </p:cNvPr>
          <p:cNvSpPr txBox="1"/>
          <p:nvPr/>
        </p:nvSpPr>
        <p:spPr>
          <a:xfrm>
            <a:off x="609600" y="224766"/>
            <a:ext cx="9710057" cy="375557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zh-CN" altLang="en-US" sz="2400" dirty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优化项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思源黑体" panose="020B0500000000000000" pitchFamily="34" charset="-122"/>
              <a:ea typeface="思源黑体" panose="020B0500000000000000" pitchFamily="34" charset="-122"/>
              <a:cs typeface="+mj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F1D9084-7E61-C9D8-7AF1-D4557E48C4DE}"/>
              </a:ext>
            </a:extLst>
          </p:cNvPr>
          <p:cNvSpPr txBox="1"/>
          <p:nvPr/>
        </p:nvSpPr>
        <p:spPr>
          <a:xfrm>
            <a:off x="609600" y="78307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ea typeface="思源黑体" panose="020B0500000000000000"/>
              </a:rPr>
              <a:t>限制开机自启的应用数量</a:t>
            </a:r>
            <a:endParaRPr lang="en-US" altLang="zh-CN" sz="1600" b="1" dirty="0">
              <a:latin typeface="微软雅黑" panose="020B0503020204020204" pitchFamily="34" charset="-122"/>
              <a:ea typeface="思源黑体" panose="020B050000000000000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CBC33EF-1028-C6CE-400F-83B2244E20B7}"/>
              </a:ext>
            </a:extLst>
          </p:cNvPr>
          <p:cNvSpPr txBox="1"/>
          <p:nvPr/>
        </p:nvSpPr>
        <p:spPr>
          <a:xfrm>
            <a:off x="821094" y="1456272"/>
            <a:ext cx="835292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AutoNum type="arabicPeriod"/>
            </a:pP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滥用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persistent=“true”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、</a:t>
            </a:r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directBootAware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="true"</a:t>
            </a:r>
          </a:p>
          <a:p>
            <a:pPr marL="342900" indent="-342900" algn="l">
              <a:buAutoNum type="arabicPeriod"/>
            </a:pP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监听一大堆广播，以唤醒自己</a:t>
            </a:r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marL="342900" indent="-342900" algn="l">
              <a:buAutoNum type="arabicPeriod"/>
            </a:pP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开机通过</a:t>
            </a:r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SystemServer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、中间件启动太多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service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、互相拉起</a:t>
            </a:r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marL="342900" indent="-342900" algn="l">
              <a:buAutoNum type="arabicPeriod"/>
            </a:pP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随意给以三方应用系统级权限</a:t>
            </a:r>
          </a:p>
        </p:txBody>
      </p:sp>
    </p:spTree>
    <p:extLst>
      <p:ext uri="{BB962C8B-B14F-4D97-AF65-F5344CB8AC3E}">
        <p14:creationId xmlns:p14="http://schemas.microsoft.com/office/powerpoint/2010/main" val="23900748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1391C-2D01-2982-20F6-B60986880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47CF5C1E-70B6-CF62-8F9D-7F4B8481FB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2519"/>
            <a:ext cx="352425" cy="400050"/>
          </a:xfrm>
          <a:prstGeom prst="rect">
            <a:avLst/>
          </a:prstGeom>
          <a:solidFill>
            <a:srgbClr val="5B9BD5">
              <a:lumMod val="50000"/>
            </a:srgbClr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endParaRPr lang="zh-CN" altLang="en-US" kern="0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674D2A5-322B-F8CA-C515-BF38A348A2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" y="212519"/>
            <a:ext cx="123825" cy="400050"/>
          </a:xfrm>
          <a:prstGeom prst="rect">
            <a:avLst/>
          </a:prstGeom>
          <a:solidFill>
            <a:srgbClr val="7F7F7F"/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ADB06614-CB5A-C3E7-EE09-E8DB4FB6E92E}"/>
              </a:ext>
            </a:extLst>
          </p:cNvPr>
          <p:cNvSpPr txBox="1"/>
          <p:nvPr/>
        </p:nvSpPr>
        <p:spPr>
          <a:xfrm>
            <a:off x="609600" y="224766"/>
            <a:ext cx="9710057" cy="375557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zh-CN" altLang="en-US" sz="2400" dirty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优化项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思源黑体" panose="020B0500000000000000" pitchFamily="34" charset="-122"/>
              <a:ea typeface="思源黑体" panose="020B0500000000000000" pitchFamily="34" charset="-122"/>
              <a:cs typeface="+mj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6228604-4206-9E7C-63F8-CE084CBE6A84}"/>
              </a:ext>
            </a:extLst>
          </p:cNvPr>
          <p:cNvSpPr txBox="1"/>
          <p:nvPr/>
        </p:nvSpPr>
        <p:spPr>
          <a:xfrm>
            <a:off x="609600" y="78307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b="1" dirty="0">
                <a:ea typeface="思源黑体" panose="020B0500000000000000"/>
              </a:rPr>
              <a:t>删除无关的应用</a:t>
            </a:r>
            <a:endParaRPr lang="en-US" altLang="zh-CN" sz="1600" b="1" dirty="0">
              <a:latin typeface="微软雅黑" panose="020B0503020204020204" pitchFamily="34" charset="-122"/>
              <a:ea typeface="思源黑体" panose="020B050000000000000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096999D-69DC-DB8D-A5CD-CCB47EC3400E}"/>
              </a:ext>
            </a:extLst>
          </p:cNvPr>
          <p:cNvSpPr txBox="1"/>
          <p:nvPr/>
        </p:nvSpPr>
        <p:spPr>
          <a:xfrm>
            <a:off x="801343" y="1239258"/>
            <a:ext cx="878497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原理</a:t>
            </a:r>
            <a:r>
              <a:rPr lang="zh-CN" altLang="en-US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：</a:t>
            </a:r>
            <a:r>
              <a:rPr lang="en-US" altLang="zh-CN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 </a:t>
            </a:r>
          </a:p>
          <a:p>
            <a:pPr algn="l"/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虽然大部分应用不是开机自启，但也会增加开机时间。在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PMS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启动阶段，会扫描每个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app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信息，每个应用都占用一定时长。如果是第一次开机，还会做</a:t>
            </a:r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dex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优化。</a:t>
            </a:r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algn="l"/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algn="l"/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参考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626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的精简列表：</a:t>
            </a:r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CCBF151-DD11-96E3-8575-13FA7B0170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657" y="2877920"/>
            <a:ext cx="3361905" cy="317142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EB01F37-B001-25D4-81FA-B4A5AA6938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0818" y="2877920"/>
            <a:ext cx="2247619" cy="359047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E7EDA5D-F987-C14B-42E7-9D1200D33D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562" y="2400320"/>
            <a:ext cx="2811258" cy="4345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1303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DC563-7881-2BC3-EE29-06C40BE11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700A45D6-BC58-635B-5D03-200335534A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2519"/>
            <a:ext cx="352425" cy="400050"/>
          </a:xfrm>
          <a:prstGeom prst="rect">
            <a:avLst/>
          </a:prstGeom>
          <a:solidFill>
            <a:srgbClr val="5B9BD5">
              <a:lumMod val="50000"/>
            </a:srgbClr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endParaRPr lang="zh-CN" altLang="en-US" kern="0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1CD246B-D4F9-8E49-9414-FD97AB6739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" y="212519"/>
            <a:ext cx="123825" cy="400050"/>
          </a:xfrm>
          <a:prstGeom prst="rect">
            <a:avLst/>
          </a:prstGeom>
          <a:solidFill>
            <a:srgbClr val="7F7F7F"/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005944C2-661A-E004-48B7-2CEEBB7A8CCB}"/>
              </a:ext>
            </a:extLst>
          </p:cNvPr>
          <p:cNvSpPr txBox="1"/>
          <p:nvPr/>
        </p:nvSpPr>
        <p:spPr>
          <a:xfrm>
            <a:off x="609600" y="224766"/>
            <a:ext cx="9710057" cy="375557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zh-CN" altLang="en-US" sz="2400" dirty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优化项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思源黑体" panose="020B0500000000000000" pitchFamily="34" charset="-122"/>
              <a:ea typeface="思源黑体" panose="020B0500000000000000" pitchFamily="34" charset="-122"/>
              <a:cs typeface="+mj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513D5B9-C665-E243-F45C-D840BF4B3FA7}"/>
              </a:ext>
            </a:extLst>
          </p:cNvPr>
          <p:cNvSpPr txBox="1"/>
          <p:nvPr/>
        </p:nvSpPr>
        <p:spPr>
          <a:xfrm>
            <a:off x="609600" y="78307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裁剪系统服务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9816C45-3A20-D7BB-F604-AA270A40241F}"/>
              </a:ext>
            </a:extLst>
          </p:cNvPr>
          <p:cNvSpPr txBox="1"/>
          <p:nvPr/>
        </p:nvSpPr>
        <p:spPr>
          <a:xfrm>
            <a:off x="864637" y="1210092"/>
            <a:ext cx="878497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原理</a:t>
            </a:r>
            <a:r>
              <a:rPr lang="zh-CN" altLang="en-US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：</a:t>
            </a:r>
            <a:r>
              <a:rPr lang="en-US" altLang="zh-CN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 </a:t>
            </a:r>
          </a:p>
          <a:p>
            <a:pPr algn="l"/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startBootstrapServices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、</a:t>
            </a:r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startCoreServices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 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里的强烈建议不要动。</a:t>
            </a:r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algn="l"/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下列表仅供参考：</a:t>
            </a:r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algn="l"/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algn="l"/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VibratorService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 //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震动器服务</a:t>
            </a:r>
          </a:p>
          <a:p>
            <a:pPr algn="l"/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AccessibilityManagerService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 // 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辅助功能 不用的话可裁</a:t>
            </a:r>
          </a:p>
          <a:p>
            <a:pPr algn="l"/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BackupManagerService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 // 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备份服务</a:t>
            </a:r>
          </a:p>
          <a:p>
            <a:pPr algn="l"/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ClipboardService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 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剪切板服务</a:t>
            </a:r>
          </a:p>
          <a:p>
            <a:pPr algn="l"/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ConsumerIrService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 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远程控制，通过红外等控制周围的设备</a:t>
            </a:r>
          </a:p>
          <a:p>
            <a:pPr algn="l"/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CountryDetectorService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 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检測用户国家</a:t>
            </a:r>
          </a:p>
          <a:p>
            <a:pPr algn="l"/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DreamManagerService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  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屏幕保护</a:t>
            </a:r>
          </a:p>
          <a:p>
            <a:pPr algn="l"/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NsdService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  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网络服务搜索</a:t>
            </a:r>
          </a:p>
          <a:p>
            <a:pPr algn="l"/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PrintManagerService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 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打印服务。</a:t>
            </a:r>
          </a:p>
          <a:p>
            <a:pPr algn="l"/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SearchManagerService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 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搜索服务。</a:t>
            </a:r>
          </a:p>
          <a:p>
            <a:pPr algn="l"/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SerialService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 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对串口的设备进行操作</a:t>
            </a:r>
          </a:p>
          <a:p>
            <a:pPr algn="l"/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WifiP2pServiceWifi Direct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服务</a:t>
            </a:r>
          </a:p>
          <a:p>
            <a:pPr algn="l"/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WiredAccessoryManager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 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监视手机和底座上的耳机</a:t>
            </a:r>
          </a:p>
          <a:p>
            <a:pPr algn="l"/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FaceService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  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人脸</a:t>
            </a:r>
          </a:p>
          <a:p>
            <a:pPr algn="l"/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BiometricService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 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生物特征</a:t>
            </a:r>
          </a:p>
          <a:p>
            <a:pPr algn="l"/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MmsServiceBroker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 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彩信</a:t>
            </a:r>
          </a:p>
          <a:p>
            <a:pPr algn="l"/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FingerprintService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       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指纹  </a:t>
            </a:r>
          </a:p>
          <a:p>
            <a:pPr algn="l"/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BatteryService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           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电池服务，当电量不足时发广播   用不到</a:t>
            </a:r>
          </a:p>
          <a:p>
            <a:pPr algn="l"/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AlarmManagerService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      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闹钟服务 如果不用可以裁 </a:t>
            </a:r>
          </a:p>
          <a:p>
            <a:pPr algn="l"/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WallpaperManagerService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  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壁纸管理服务  </a:t>
            </a:r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49841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E6D2A-8CC8-DF96-EE6F-1B4E0960E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F6702D89-7EB4-2A8D-C638-980DB1C1AF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2519"/>
            <a:ext cx="352425" cy="400050"/>
          </a:xfrm>
          <a:prstGeom prst="rect">
            <a:avLst/>
          </a:prstGeom>
          <a:solidFill>
            <a:srgbClr val="5B9BD5">
              <a:lumMod val="50000"/>
            </a:srgbClr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endParaRPr lang="zh-CN" altLang="en-US" kern="0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368E234-BFB5-E5CB-434D-3E78006D3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" y="212519"/>
            <a:ext cx="123825" cy="400050"/>
          </a:xfrm>
          <a:prstGeom prst="rect">
            <a:avLst/>
          </a:prstGeom>
          <a:solidFill>
            <a:srgbClr val="7F7F7F"/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4CEF9D4B-D3CC-7EEE-9337-DCFD04ECA3E1}"/>
              </a:ext>
            </a:extLst>
          </p:cNvPr>
          <p:cNvSpPr txBox="1"/>
          <p:nvPr/>
        </p:nvSpPr>
        <p:spPr>
          <a:xfrm>
            <a:off x="609600" y="224766"/>
            <a:ext cx="9710057" cy="375557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zh-CN" altLang="en-US" sz="2400" dirty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优化项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思源黑体" panose="020B0500000000000000" pitchFamily="34" charset="-122"/>
              <a:ea typeface="思源黑体" panose="020B0500000000000000" pitchFamily="34" charset="-122"/>
              <a:cs typeface="+mj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E913AE7-9CD4-59C2-04EB-2BB7B0DC85C9}"/>
              </a:ext>
            </a:extLst>
          </p:cNvPr>
          <p:cNvSpPr txBox="1"/>
          <p:nvPr/>
        </p:nvSpPr>
        <p:spPr>
          <a:xfrm>
            <a:off x="609600" y="78307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微软雅黑" panose="020B0503020204020204" pitchFamily="34" charset="-122"/>
                <a:ea typeface="思源黑体" panose="020B0500000000000000"/>
              </a:rPr>
              <a:t>精简系统语言集</a:t>
            </a:r>
            <a:endParaRPr lang="en-US" altLang="zh-CN" b="1" dirty="0">
              <a:latin typeface="微软雅黑" panose="020B0503020204020204" pitchFamily="34" charset="-122"/>
              <a:ea typeface="思源黑体" panose="020B050000000000000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FD36573-E01C-18A6-85C7-CEA9483B2494}"/>
              </a:ext>
            </a:extLst>
          </p:cNvPr>
          <p:cNvSpPr txBox="1"/>
          <p:nvPr/>
        </p:nvSpPr>
        <p:spPr>
          <a:xfrm>
            <a:off x="934810" y="1435582"/>
            <a:ext cx="878497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不需要更多的语言时候，将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PRODUCT_LOCALES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定义为</a:t>
            </a:r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en_US,zh_CN,zh_TW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。</a:t>
            </a:r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algn="l"/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algn="l"/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为了保证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Settings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模块在选择语言时，匹配支持的字符，需要修改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frameworks/base/core/res/res/values/locale_config.xml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文件。</a:t>
            </a:r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algn="l"/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建议采用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overlay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方式覆盖。</a:t>
            </a:r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86202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92A51-B5E2-09A3-EFC1-F6D1496B9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B98D8819-1D9C-8E18-9845-19C3FCBB3B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2519"/>
            <a:ext cx="352425" cy="400050"/>
          </a:xfrm>
          <a:prstGeom prst="rect">
            <a:avLst/>
          </a:prstGeom>
          <a:solidFill>
            <a:srgbClr val="5B9BD5">
              <a:lumMod val="50000"/>
            </a:srgbClr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endParaRPr lang="zh-CN" altLang="en-US" kern="0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4217BDB-64D7-7C83-D4EB-A6E0DD9A16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" y="212519"/>
            <a:ext cx="123825" cy="400050"/>
          </a:xfrm>
          <a:prstGeom prst="rect">
            <a:avLst/>
          </a:prstGeom>
          <a:solidFill>
            <a:srgbClr val="7F7F7F"/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E8CC0144-593D-4529-B5B2-1E059CD89848}"/>
              </a:ext>
            </a:extLst>
          </p:cNvPr>
          <p:cNvSpPr txBox="1"/>
          <p:nvPr/>
        </p:nvSpPr>
        <p:spPr>
          <a:xfrm>
            <a:off x="609600" y="224766"/>
            <a:ext cx="9710057" cy="375557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zh-CN" altLang="en-US" sz="2400" dirty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优化项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思源黑体" panose="020B0500000000000000" pitchFamily="34" charset="-122"/>
              <a:ea typeface="思源黑体" panose="020B0500000000000000" pitchFamily="34" charset="-122"/>
              <a:cs typeface="+mj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88531A4-06AB-F355-04D2-F2A46D7747ED}"/>
              </a:ext>
            </a:extLst>
          </p:cNvPr>
          <p:cNvSpPr txBox="1"/>
          <p:nvPr/>
        </p:nvSpPr>
        <p:spPr>
          <a:xfrm>
            <a:off x="609600" y="78307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微软雅黑" panose="020B0503020204020204" pitchFamily="34" charset="-122"/>
                <a:ea typeface="思源黑体" panose="020B0500000000000000"/>
              </a:rPr>
              <a:t>裁剪不常用字体</a:t>
            </a:r>
            <a:endParaRPr lang="en-US" altLang="zh-CN" b="1" dirty="0">
              <a:latin typeface="微软雅黑" panose="020B0503020204020204" pitchFamily="34" charset="-122"/>
              <a:ea typeface="思源黑体" panose="020B050000000000000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10A4CA7-5CDE-2E7F-79F5-80874F1167DB}"/>
              </a:ext>
            </a:extLst>
          </p:cNvPr>
          <p:cNvSpPr txBox="1"/>
          <p:nvPr/>
        </p:nvSpPr>
        <p:spPr>
          <a:xfrm>
            <a:off x="542925" y="1591092"/>
            <a:ext cx="8784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altLang="zh-CN" sz="1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A5A1687-BC84-B0B8-FB09-58925ED71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520" y="1246485"/>
            <a:ext cx="5444200" cy="338967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48C31AB-1873-4FB9-145B-A6FD8A0AB9B3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4520" y="4819531"/>
            <a:ext cx="5274310" cy="12553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9230506-912C-EAA5-23E2-9AA39B6A0958}"/>
              </a:ext>
            </a:extLst>
          </p:cNvPr>
          <p:cNvSpPr txBox="1"/>
          <p:nvPr/>
        </p:nvSpPr>
        <p:spPr>
          <a:xfrm>
            <a:off x="714520" y="6258302"/>
            <a:ext cx="74168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到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/system/fonts/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目录和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/system/</a:t>
            </a:r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etc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/fonts/xml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检查裁剪结果。</a:t>
            </a:r>
          </a:p>
        </p:txBody>
      </p:sp>
    </p:spTree>
    <p:extLst>
      <p:ext uri="{BB962C8B-B14F-4D97-AF65-F5344CB8AC3E}">
        <p14:creationId xmlns:p14="http://schemas.microsoft.com/office/powerpoint/2010/main" val="31810299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/>
          <p:cNvSpPr/>
          <p:nvPr/>
        </p:nvSpPr>
        <p:spPr>
          <a:xfrm>
            <a:off x="340640" y="272809"/>
            <a:ext cx="205469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3600" b="1" cap="none" spc="0" dirty="0">
                <a:ln w="9525">
                  <a:noFill/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本章小结</a:t>
            </a:r>
          </a:p>
        </p:txBody>
      </p:sp>
      <p:sp>
        <p:nvSpPr>
          <p:cNvPr id="47" name="TextBox 15"/>
          <p:cNvSpPr txBox="1"/>
          <p:nvPr/>
        </p:nvSpPr>
        <p:spPr>
          <a:xfrm>
            <a:off x="711890" y="1573816"/>
            <a:ext cx="5785337" cy="1972667"/>
          </a:xfrm>
          <a:prstGeom prst="rect">
            <a:avLst/>
          </a:prstGeom>
          <a:noFill/>
        </p:spPr>
        <p:txBody>
          <a:bodyPr wrap="square" lIns="71067" tIns="35534" rIns="71067" bIns="35534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sz="1400" dirty="0">
                <a:solidFill>
                  <a:schemeClr val="tx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       本章阐述了开机优化的一般思路，并提供了一些可实操的优化项。同时给出了优化的收益和负面作用。</a:t>
            </a:r>
            <a:endParaRPr lang="en-US" altLang="zh-CN" sz="1400" dirty="0">
              <a:solidFill>
                <a:schemeClr val="tx1"/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r>
              <a:rPr lang="zh-CN" altLang="en-US" sz="1400" dirty="0">
                <a:solidFill>
                  <a:schemeClr val="tx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       这些优化项不一定适用任何项目，应以实际项目为准，启动性能的调试是一个较长的过程，有些参数调整需要反复尝试。同时不能因为优化引入新的问题。</a:t>
            </a:r>
            <a:endParaRPr lang="en-US" altLang="zh-CN" sz="1400" dirty="0">
              <a:solidFill>
                <a:schemeClr val="tx1"/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endParaRPr lang="zh-CN" altLang="en-US" sz="1400" dirty="0"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711890" y="1135702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800" b="1" dirty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优化项</a:t>
            </a:r>
            <a:endParaRPr lang="zh-CN" altLang="en-US" sz="1800" b="1" dirty="0">
              <a:solidFill>
                <a:srgbClr val="0070C0"/>
              </a:solidFill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9108771" y="5142372"/>
            <a:ext cx="3083229" cy="1715628"/>
            <a:chOff x="3909171" y="5101626"/>
            <a:chExt cx="2312422" cy="1756375"/>
          </a:xfrm>
        </p:grpSpPr>
        <p:sp>
          <p:nvSpPr>
            <p:cNvPr id="34" name="任意多边形: 形状 14"/>
            <p:cNvSpPr/>
            <p:nvPr/>
          </p:nvSpPr>
          <p:spPr>
            <a:xfrm>
              <a:off x="3909171" y="5617900"/>
              <a:ext cx="2312422" cy="1240101"/>
            </a:xfrm>
            <a:custGeom>
              <a:avLst/>
              <a:gdLst>
                <a:gd name="connsiteX0" fmla="*/ 688066 w 2750572"/>
                <a:gd name="connsiteY0" fmla="*/ 0 h 1240101"/>
                <a:gd name="connsiteX1" fmla="*/ 2062507 w 2750572"/>
                <a:gd name="connsiteY1" fmla="*/ 0 h 1240101"/>
                <a:gd name="connsiteX2" fmla="*/ 2750572 w 2750572"/>
                <a:gd name="connsiteY2" fmla="*/ 1186787 h 1240101"/>
                <a:gd name="connsiteX3" fmla="*/ 2719750 w 2750572"/>
                <a:gd name="connsiteY3" fmla="*/ 1240101 h 1240101"/>
                <a:gd name="connsiteX4" fmla="*/ 30822 w 2750572"/>
                <a:gd name="connsiteY4" fmla="*/ 1240101 h 1240101"/>
                <a:gd name="connsiteX5" fmla="*/ 0 w 2750572"/>
                <a:gd name="connsiteY5" fmla="*/ 1186787 h 1240101"/>
                <a:gd name="connsiteX6" fmla="*/ 688066 w 2750572"/>
                <a:gd name="connsiteY6" fmla="*/ 0 h 1240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50572" h="1240101">
                  <a:moveTo>
                    <a:pt x="688066" y="0"/>
                  </a:moveTo>
                  <a:lnTo>
                    <a:pt x="2062507" y="0"/>
                  </a:lnTo>
                  <a:lnTo>
                    <a:pt x="2750572" y="1186787"/>
                  </a:lnTo>
                  <a:lnTo>
                    <a:pt x="2719750" y="1240101"/>
                  </a:lnTo>
                  <a:lnTo>
                    <a:pt x="30822" y="1240101"/>
                  </a:lnTo>
                  <a:lnTo>
                    <a:pt x="0" y="1186787"/>
                  </a:lnTo>
                  <a:lnTo>
                    <a:pt x="688066" y="0"/>
                  </a:lnTo>
                  <a:close/>
                </a:path>
              </a:pathLst>
            </a:custGeom>
            <a:solidFill>
              <a:schemeClr val="accent1">
                <a:alpha val="1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5" name="Freeform 21"/>
            <p:cNvSpPr/>
            <p:nvPr/>
          </p:nvSpPr>
          <p:spPr bwMode="auto">
            <a:xfrm>
              <a:off x="4021319" y="5101626"/>
              <a:ext cx="866775" cy="1026882"/>
            </a:xfrm>
            <a:custGeom>
              <a:avLst/>
              <a:gdLst>
                <a:gd name="T0" fmla="*/ 1220 w 1627"/>
                <a:gd name="T1" fmla="*/ 0 h 1406"/>
                <a:gd name="T2" fmla="*/ 407 w 1627"/>
                <a:gd name="T3" fmla="*/ 0 h 1406"/>
                <a:gd name="T4" fmla="*/ 0 w 1627"/>
                <a:gd name="T5" fmla="*/ 702 h 1406"/>
                <a:gd name="T6" fmla="*/ 407 w 1627"/>
                <a:gd name="T7" fmla="*/ 1406 h 1406"/>
                <a:gd name="T8" fmla="*/ 1220 w 1627"/>
                <a:gd name="T9" fmla="*/ 1406 h 1406"/>
                <a:gd name="T10" fmla="*/ 1627 w 1627"/>
                <a:gd name="T11" fmla="*/ 702 h 1406"/>
                <a:gd name="T12" fmla="*/ 1220 w 1627"/>
                <a:gd name="T13" fmla="*/ 0 h 1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27" h="1406">
                  <a:moveTo>
                    <a:pt x="1220" y="0"/>
                  </a:moveTo>
                  <a:lnTo>
                    <a:pt x="407" y="0"/>
                  </a:lnTo>
                  <a:lnTo>
                    <a:pt x="0" y="702"/>
                  </a:lnTo>
                  <a:lnTo>
                    <a:pt x="407" y="1406"/>
                  </a:lnTo>
                  <a:lnTo>
                    <a:pt x="1220" y="1406"/>
                  </a:lnTo>
                  <a:lnTo>
                    <a:pt x="1627" y="702"/>
                  </a:lnTo>
                  <a:lnTo>
                    <a:pt x="1220" y="0"/>
                  </a:lnTo>
                  <a:close/>
                </a:path>
              </a:pathLst>
            </a:custGeom>
            <a:solidFill>
              <a:schemeClr val="accent1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7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2" presetClass="entr" presetSubtype="4" fill="hold" nodeType="withEffect" p14:presetBounceEnd="36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6000">
                                          <p:cBhvr additive="base">
                                            <p:cTn id="10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6000">
                                          <p:cBhvr additive="base">
                                            <p:cTn id="11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7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7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2" presetClass="entr" presetSubtype="4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0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7" grpId="0"/>
        </p:bldLst>
      </p:timing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C6811-2278-E292-0D4D-10CF4A0F7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图片 32">
            <a:extLst>
              <a:ext uri="{FF2B5EF4-FFF2-40B4-BE49-F238E27FC236}">
                <a16:creationId xmlns:a16="http://schemas.microsoft.com/office/drawing/2014/main" id="{6995ED9A-63DC-95A5-A8DB-38E639E3687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aturation sat="8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04"/>
            <a:ext cx="5234342" cy="6852592"/>
          </a:xfrm>
          <a:prstGeom prst="rect">
            <a:avLst/>
          </a:prstGeom>
        </p:spPr>
      </p:pic>
      <p:grpSp>
        <p:nvGrpSpPr>
          <p:cNvPr id="24" name="组合 23">
            <a:extLst>
              <a:ext uri="{FF2B5EF4-FFF2-40B4-BE49-F238E27FC236}">
                <a16:creationId xmlns:a16="http://schemas.microsoft.com/office/drawing/2014/main" id="{3EF3B617-7CBE-CDE7-CC46-AA0AC31D67AF}"/>
              </a:ext>
            </a:extLst>
          </p:cNvPr>
          <p:cNvGrpSpPr/>
          <p:nvPr/>
        </p:nvGrpSpPr>
        <p:grpSpPr>
          <a:xfrm>
            <a:off x="0" y="4060494"/>
            <a:ext cx="3028950" cy="2797506"/>
            <a:chOff x="0" y="3609283"/>
            <a:chExt cx="3097161" cy="3248717"/>
          </a:xfrm>
        </p:grpSpPr>
        <p:sp>
          <p:nvSpPr>
            <p:cNvPr id="25" name="任意多边形: 形状 35">
              <a:extLst>
                <a:ext uri="{FF2B5EF4-FFF2-40B4-BE49-F238E27FC236}">
                  <a16:creationId xmlns:a16="http://schemas.microsoft.com/office/drawing/2014/main" id="{658F3EDA-E925-6931-4A2F-A1F91267F711}"/>
                </a:ext>
              </a:extLst>
            </p:cNvPr>
            <p:cNvSpPr/>
            <p:nvPr/>
          </p:nvSpPr>
          <p:spPr>
            <a:xfrm>
              <a:off x="0" y="3609283"/>
              <a:ext cx="3097161" cy="3248717"/>
            </a:xfrm>
            <a:custGeom>
              <a:avLst/>
              <a:gdLst>
                <a:gd name="connsiteX0" fmla="*/ 0 w 3097161"/>
                <a:gd name="connsiteY0" fmla="*/ 0 h 3248717"/>
                <a:gd name="connsiteX1" fmla="*/ 1807845 w 3097161"/>
                <a:gd name="connsiteY1" fmla="*/ 0 h 3248717"/>
                <a:gd name="connsiteX2" fmla="*/ 3097161 w 3097161"/>
                <a:gd name="connsiteY2" fmla="*/ 2230611 h 3248717"/>
                <a:gd name="connsiteX3" fmla="*/ 2508869 w 3097161"/>
                <a:gd name="connsiteY3" fmla="*/ 3248717 h 3248717"/>
                <a:gd name="connsiteX4" fmla="*/ 0 w 3097161"/>
                <a:gd name="connsiteY4" fmla="*/ 3248717 h 3248717"/>
                <a:gd name="connsiteX5" fmla="*/ 0 w 3097161"/>
                <a:gd name="connsiteY5" fmla="*/ 0 h 3248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97161" h="3248717">
                  <a:moveTo>
                    <a:pt x="0" y="0"/>
                  </a:moveTo>
                  <a:lnTo>
                    <a:pt x="1807845" y="0"/>
                  </a:lnTo>
                  <a:lnTo>
                    <a:pt x="3097161" y="2230611"/>
                  </a:lnTo>
                  <a:lnTo>
                    <a:pt x="2508869" y="3248717"/>
                  </a:lnTo>
                  <a:lnTo>
                    <a:pt x="0" y="32487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Freeform 11">
              <a:extLst>
                <a:ext uri="{FF2B5EF4-FFF2-40B4-BE49-F238E27FC236}">
                  <a16:creationId xmlns:a16="http://schemas.microsoft.com/office/drawing/2014/main" id="{BD2445AD-1ACE-59F3-CF02-A67045F3DA83}"/>
                </a:ext>
              </a:extLst>
            </p:cNvPr>
            <p:cNvSpPr/>
            <p:nvPr/>
          </p:nvSpPr>
          <p:spPr bwMode="auto">
            <a:xfrm>
              <a:off x="0" y="3995737"/>
              <a:ext cx="2105025" cy="2862263"/>
            </a:xfrm>
            <a:custGeom>
              <a:avLst/>
              <a:gdLst>
                <a:gd name="T0" fmla="*/ 774 w 1326"/>
                <a:gd name="T1" fmla="*/ 0 h 1803"/>
                <a:gd name="T2" fmla="*/ 0 w 1326"/>
                <a:gd name="T3" fmla="*/ 0 h 1803"/>
                <a:gd name="T4" fmla="*/ 0 w 1326"/>
                <a:gd name="T5" fmla="*/ 1803 h 1803"/>
                <a:gd name="T6" fmla="*/ 836 w 1326"/>
                <a:gd name="T7" fmla="*/ 1803 h 1803"/>
                <a:gd name="T8" fmla="*/ 1326 w 1326"/>
                <a:gd name="T9" fmla="*/ 955 h 1803"/>
                <a:gd name="T10" fmla="*/ 774 w 1326"/>
                <a:gd name="T11" fmla="*/ 0 h 18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26" h="1803">
                  <a:moveTo>
                    <a:pt x="774" y="0"/>
                  </a:moveTo>
                  <a:lnTo>
                    <a:pt x="0" y="0"/>
                  </a:lnTo>
                  <a:lnTo>
                    <a:pt x="0" y="1803"/>
                  </a:lnTo>
                  <a:lnTo>
                    <a:pt x="836" y="1803"/>
                  </a:lnTo>
                  <a:lnTo>
                    <a:pt x="1326" y="955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accent1">
                <a:alpha val="42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27" name="矩形 26">
            <a:extLst>
              <a:ext uri="{FF2B5EF4-FFF2-40B4-BE49-F238E27FC236}">
                <a16:creationId xmlns:a16="http://schemas.microsoft.com/office/drawing/2014/main" id="{BAA08FA4-3984-DA7A-9DD2-A9D19F23A7A5}"/>
              </a:ext>
            </a:extLst>
          </p:cNvPr>
          <p:cNvSpPr/>
          <p:nvPr/>
        </p:nvSpPr>
        <p:spPr>
          <a:xfrm>
            <a:off x="808811" y="450334"/>
            <a:ext cx="2778325" cy="14465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88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+mn-lt"/>
              </a:rPr>
              <a:t>目 录</a:t>
            </a:r>
            <a:endParaRPr lang="zh-CN" altLang="en-US" sz="8800" b="1" dirty="0"/>
          </a:p>
        </p:txBody>
      </p:sp>
      <p:sp>
        <p:nvSpPr>
          <p:cNvPr id="28" name="文本框 45">
            <a:extLst>
              <a:ext uri="{FF2B5EF4-FFF2-40B4-BE49-F238E27FC236}">
                <a16:creationId xmlns:a16="http://schemas.microsoft.com/office/drawing/2014/main" id="{F02F4325-F102-18A0-5E98-E496BBF907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5495" y="1709829"/>
            <a:ext cx="2613344" cy="76944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440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+mn-lt"/>
              </a:rPr>
              <a:t>Contents</a:t>
            </a:r>
            <a:endParaRPr lang="zh-CN" altLang="en-US" sz="4400" dirty="0">
              <a:solidFill>
                <a:schemeClr val="bg1"/>
              </a:solidFill>
              <a:latin typeface="思源黑体" panose="020B0500000000000000" pitchFamily="34" charset="-122"/>
              <a:ea typeface="思源黑体" panose="020B0500000000000000" pitchFamily="34" charset="-122"/>
              <a:sym typeface="+mn-lt"/>
            </a:endParaRP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50D846DE-6AB0-1903-3411-B68D1EADB3A0}"/>
              </a:ext>
            </a:extLst>
          </p:cNvPr>
          <p:cNvGrpSpPr/>
          <p:nvPr/>
        </p:nvGrpSpPr>
        <p:grpSpPr>
          <a:xfrm>
            <a:off x="3471020" y="5029199"/>
            <a:ext cx="3667429" cy="1828801"/>
            <a:chOff x="3471021" y="4985765"/>
            <a:chExt cx="2750572" cy="1872236"/>
          </a:xfrm>
        </p:grpSpPr>
        <p:sp>
          <p:nvSpPr>
            <p:cNvPr id="30" name="任意多边形: 形状 29">
              <a:extLst>
                <a:ext uri="{FF2B5EF4-FFF2-40B4-BE49-F238E27FC236}">
                  <a16:creationId xmlns:a16="http://schemas.microsoft.com/office/drawing/2014/main" id="{D92E946A-049B-D513-0292-CEDCB6F08DB3}"/>
                </a:ext>
              </a:extLst>
            </p:cNvPr>
            <p:cNvSpPr/>
            <p:nvPr/>
          </p:nvSpPr>
          <p:spPr>
            <a:xfrm>
              <a:off x="3471021" y="5617900"/>
              <a:ext cx="2750572" cy="1240101"/>
            </a:xfrm>
            <a:custGeom>
              <a:avLst/>
              <a:gdLst>
                <a:gd name="connsiteX0" fmla="*/ 688066 w 2750572"/>
                <a:gd name="connsiteY0" fmla="*/ 0 h 1240101"/>
                <a:gd name="connsiteX1" fmla="*/ 2062507 w 2750572"/>
                <a:gd name="connsiteY1" fmla="*/ 0 h 1240101"/>
                <a:gd name="connsiteX2" fmla="*/ 2750572 w 2750572"/>
                <a:gd name="connsiteY2" fmla="*/ 1186787 h 1240101"/>
                <a:gd name="connsiteX3" fmla="*/ 2719750 w 2750572"/>
                <a:gd name="connsiteY3" fmla="*/ 1240101 h 1240101"/>
                <a:gd name="connsiteX4" fmla="*/ 30822 w 2750572"/>
                <a:gd name="connsiteY4" fmla="*/ 1240101 h 1240101"/>
                <a:gd name="connsiteX5" fmla="*/ 0 w 2750572"/>
                <a:gd name="connsiteY5" fmla="*/ 1186787 h 1240101"/>
                <a:gd name="connsiteX6" fmla="*/ 688066 w 2750572"/>
                <a:gd name="connsiteY6" fmla="*/ 0 h 1240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50572" h="1240101">
                  <a:moveTo>
                    <a:pt x="688066" y="0"/>
                  </a:moveTo>
                  <a:lnTo>
                    <a:pt x="2062507" y="0"/>
                  </a:lnTo>
                  <a:lnTo>
                    <a:pt x="2750572" y="1186787"/>
                  </a:lnTo>
                  <a:lnTo>
                    <a:pt x="2719750" y="1240101"/>
                  </a:lnTo>
                  <a:lnTo>
                    <a:pt x="30822" y="1240101"/>
                  </a:lnTo>
                  <a:lnTo>
                    <a:pt x="0" y="1186787"/>
                  </a:lnTo>
                  <a:lnTo>
                    <a:pt x="688066" y="0"/>
                  </a:lnTo>
                  <a:close/>
                </a:path>
              </a:pathLst>
            </a:custGeom>
            <a:solidFill>
              <a:schemeClr val="accent1">
                <a:alpha val="1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1" name="Freeform 21">
              <a:extLst>
                <a:ext uri="{FF2B5EF4-FFF2-40B4-BE49-F238E27FC236}">
                  <a16:creationId xmlns:a16="http://schemas.microsoft.com/office/drawing/2014/main" id="{407EBC75-8077-B3B0-DB6F-82EEC7992965}"/>
                </a:ext>
              </a:extLst>
            </p:cNvPr>
            <p:cNvSpPr/>
            <p:nvPr/>
          </p:nvSpPr>
          <p:spPr bwMode="auto">
            <a:xfrm>
              <a:off x="3558108" y="4985765"/>
              <a:ext cx="1042922" cy="1142742"/>
            </a:xfrm>
            <a:custGeom>
              <a:avLst/>
              <a:gdLst>
                <a:gd name="T0" fmla="*/ 1220 w 1627"/>
                <a:gd name="T1" fmla="*/ 0 h 1406"/>
                <a:gd name="T2" fmla="*/ 407 w 1627"/>
                <a:gd name="T3" fmla="*/ 0 h 1406"/>
                <a:gd name="T4" fmla="*/ 0 w 1627"/>
                <a:gd name="T5" fmla="*/ 702 h 1406"/>
                <a:gd name="T6" fmla="*/ 407 w 1627"/>
                <a:gd name="T7" fmla="*/ 1406 h 1406"/>
                <a:gd name="T8" fmla="*/ 1220 w 1627"/>
                <a:gd name="T9" fmla="*/ 1406 h 1406"/>
                <a:gd name="T10" fmla="*/ 1627 w 1627"/>
                <a:gd name="T11" fmla="*/ 702 h 1406"/>
                <a:gd name="T12" fmla="*/ 1220 w 1627"/>
                <a:gd name="T13" fmla="*/ 0 h 1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27" h="1406">
                  <a:moveTo>
                    <a:pt x="1220" y="0"/>
                  </a:moveTo>
                  <a:lnTo>
                    <a:pt x="407" y="0"/>
                  </a:lnTo>
                  <a:lnTo>
                    <a:pt x="0" y="702"/>
                  </a:lnTo>
                  <a:lnTo>
                    <a:pt x="407" y="1406"/>
                  </a:lnTo>
                  <a:lnTo>
                    <a:pt x="1220" y="1406"/>
                  </a:lnTo>
                  <a:lnTo>
                    <a:pt x="1627" y="702"/>
                  </a:lnTo>
                  <a:lnTo>
                    <a:pt x="1220" y="0"/>
                  </a:lnTo>
                  <a:close/>
                </a:path>
              </a:pathLst>
            </a:custGeom>
            <a:solidFill>
              <a:schemeClr val="accent1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7960FB57-7997-01E1-568B-052769ECB8C6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6490340" y="1482723"/>
            <a:ext cx="3331684" cy="650877"/>
            <a:chOff x="6490340" y="1139823"/>
            <a:chExt cx="3331684" cy="650877"/>
          </a:xfrm>
        </p:grpSpPr>
        <p:sp>
          <p:nvSpPr>
            <p:cNvPr id="34" name="椭圆 16">
              <a:extLst>
                <a:ext uri="{FF2B5EF4-FFF2-40B4-BE49-F238E27FC236}">
                  <a16:creationId xmlns:a16="http://schemas.microsoft.com/office/drawing/2014/main" id="{3E76C9A1-0BAC-26AB-616C-E799A52B2E4B}"/>
                </a:ext>
              </a:extLst>
            </p:cNvPr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6490340" y="1139823"/>
              <a:ext cx="659574" cy="650877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 b="1" dirty="0">
                  <a:solidFill>
                    <a:srgbClr val="FFFFFF"/>
                  </a:solidFill>
                  <a:latin typeface="Calibri" panose="020F0502020204030204" pitchFamily="34" charset="0"/>
                </a:rPr>
                <a:t>1</a:t>
              </a:r>
              <a:endParaRPr lang="zh-CN" altLang="en-US" sz="2800" b="1" dirty="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59D981D9-AF1A-7A3A-EEC7-9E3F200E2DEC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7321728" y="1203651"/>
              <a:ext cx="2500296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800" b="1" dirty="0">
                  <a:solidFill>
                    <a:srgbClr val="0070C0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+mn-lt"/>
                </a:rPr>
                <a:t>启动时序</a:t>
              </a: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E7613149-6E5E-2216-C945-B95B2BB7BE1C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6490340" y="2335210"/>
            <a:ext cx="2452346" cy="650877"/>
            <a:chOff x="6490340" y="1992310"/>
            <a:chExt cx="2452346" cy="650877"/>
          </a:xfrm>
        </p:grpSpPr>
        <p:sp>
          <p:nvSpPr>
            <p:cNvPr id="37" name="椭圆 16">
              <a:extLst>
                <a:ext uri="{FF2B5EF4-FFF2-40B4-BE49-F238E27FC236}">
                  <a16:creationId xmlns:a16="http://schemas.microsoft.com/office/drawing/2014/main" id="{2BC67BEE-B787-92EF-89D5-DD59227E4956}"/>
                </a:ext>
              </a:extLst>
            </p:cNvPr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6490340" y="1992310"/>
              <a:ext cx="659574" cy="650877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 b="1" dirty="0">
                  <a:solidFill>
                    <a:srgbClr val="FFFFFF"/>
                  </a:solidFill>
                  <a:latin typeface="Calibri" panose="020F0502020204030204" pitchFamily="34" charset="0"/>
                </a:rPr>
                <a:t>2</a:t>
              </a:r>
              <a:endParaRPr lang="zh-CN" altLang="en-US" sz="2800" b="1" dirty="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69ABB7F4-1D29-C78F-BF44-928DE278EF69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7321729" y="2047375"/>
              <a:ext cx="162095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solidFill>
                    <a:srgbClr val="0070C0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+mn-lt"/>
                </a:rPr>
                <a:t>优化方案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60F86BB0-D748-F667-F5F9-D47EF84E82F9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6490340" y="3187697"/>
            <a:ext cx="1734200" cy="650877"/>
            <a:chOff x="6490340" y="2844797"/>
            <a:chExt cx="1734200" cy="650877"/>
          </a:xfrm>
        </p:grpSpPr>
        <p:sp>
          <p:nvSpPr>
            <p:cNvPr id="40" name="椭圆 16">
              <a:extLst>
                <a:ext uri="{FF2B5EF4-FFF2-40B4-BE49-F238E27FC236}">
                  <a16:creationId xmlns:a16="http://schemas.microsoft.com/office/drawing/2014/main" id="{D6EB300D-D4E4-396E-7CFD-96C148C8EC53}"/>
                </a:ext>
              </a:extLst>
            </p:cNvPr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6490340" y="2844797"/>
              <a:ext cx="659574" cy="650877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 b="1" dirty="0">
                  <a:solidFill>
                    <a:srgbClr val="FFFFFF"/>
                  </a:solidFill>
                  <a:latin typeface="Calibri" panose="020F0502020204030204" pitchFamily="34" charset="0"/>
                </a:rPr>
                <a:t>3</a:t>
              </a:r>
              <a:endParaRPr lang="zh-CN" altLang="en-US" sz="2800" b="1" dirty="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A1D388D1-BE48-BCA4-9446-8FBA1CC88DF7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7321729" y="2893581"/>
              <a:ext cx="902811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solidFill>
                    <a:srgbClr val="0070C0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+mn-lt"/>
                </a:rPr>
                <a:t>工具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2AA1490E-3768-605E-7DF7-F6FEFB112391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6490340" y="4040184"/>
            <a:ext cx="2452346" cy="650877"/>
            <a:chOff x="6490340" y="2844797"/>
            <a:chExt cx="2452346" cy="650877"/>
          </a:xfrm>
        </p:grpSpPr>
        <p:sp>
          <p:nvSpPr>
            <p:cNvPr id="3" name="椭圆 16">
              <a:extLst>
                <a:ext uri="{FF2B5EF4-FFF2-40B4-BE49-F238E27FC236}">
                  <a16:creationId xmlns:a16="http://schemas.microsoft.com/office/drawing/2014/main" id="{010F449B-66BD-EEC0-7E07-7189D8347F54}"/>
                </a:ext>
              </a:extLst>
            </p:cNvPr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6490340" y="2844797"/>
              <a:ext cx="659574" cy="650877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 b="1" dirty="0">
                  <a:solidFill>
                    <a:srgbClr val="FFFFFF"/>
                  </a:solidFill>
                  <a:latin typeface="Calibri" panose="020F0502020204030204" pitchFamily="34" charset="0"/>
                </a:rPr>
                <a:t>4</a:t>
              </a:r>
              <a:endParaRPr lang="zh-CN" altLang="en-US" sz="2800" b="1" dirty="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7A4E1539-3FEF-AEC9-DA81-E8D5DF9961B0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7321729" y="2893581"/>
              <a:ext cx="162095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solidFill>
                    <a:srgbClr val="0070C0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+mn-lt"/>
                </a:rPr>
                <a:t>项目实践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650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2" fill="hold" nodeType="with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7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8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" presetClass="entr" presetSubtype="9" fill="hold" grpId="0" nodeType="afterEffect" p14:presetBounceEnd="5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4000">
                                          <p:cBhvr additive="base">
                                            <p:cTn id="12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4000">
                                          <p:cBhvr additive="base">
                                            <p:cTn id="13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4" presetID="2" presetClass="entr" presetSubtype="9" fill="hold" grpId="0" nodeType="withEffect" p14:presetBounceEnd="5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4000">
                                          <p:cBhvr additive="base">
                                            <p:cTn id="16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4000">
                                          <p:cBhvr additive="base">
                                            <p:cTn id="17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8" presetID="2" presetClass="entr" presetSubtype="9" fill="hold" nodeType="withEffect" p14:presetBounceEnd="5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4000">
                                          <p:cBhvr additive="base">
                                            <p:cTn id="20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4000">
                                          <p:cBhvr additive="base">
                                            <p:cTn id="21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7" grpId="0"/>
          <p:bldP spid="28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" presetClass="entr" presetSubtype="9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4" presetID="2" presetClass="entr" presetSubtype="9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7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8" presetID="2" presetClass="entr" presetSubtype="9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1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7" grpId="0"/>
          <p:bldP spid="28" grpId="0"/>
        </p:bldLst>
      </p:timing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2389091"/>
            <a:ext cx="12192000" cy="12927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3" name="文本框 17"/>
          <p:cNvSpPr txBox="1"/>
          <p:nvPr/>
        </p:nvSpPr>
        <p:spPr>
          <a:xfrm>
            <a:off x="4450112" y="2686634"/>
            <a:ext cx="43194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工具</a:t>
            </a:r>
            <a:r>
              <a:rPr lang="en-US" altLang="zh-CN" sz="36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 </a:t>
            </a:r>
          </a:p>
        </p:txBody>
      </p:sp>
      <p:grpSp>
        <p:nvGrpSpPr>
          <p:cNvPr id="41" name="组合 40"/>
          <p:cNvGrpSpPr/>
          <p:nvPr/>
        </p:nvGrpSpPr>
        <p:grpSpPr>
          <a:xfrm>
            <a:off x="1822608" y="1985811"/>
            <a:ext cx="2114741" cy="2697003"/>
            <a:chOff x="1041891" y="2887277"/>
            <a:chExt cx="1036261" cy="1321580"/>
          </a:xfrm>
        </p:grpSpPr>
        <p:sp>
          <p:nvSpPr>
            <p:cNvPr id="42" name="Oval 53"/>
            <p:cNvSpPr>
              <a:spLocks noChangeArrowheads="1"/>
            </p:cNvSpPr>
            <p:nvPr/>
          </p:nvSpPr>
          <p:spPr bwMode="auto">
            <a:xfrm>
              <a:off x="1041891" y="2887277"/>
              <a:ext cx="1036261" cy="1036518"/>
            </a:xfrm>
            <a:prstGeom prst="ellipse">
              <a:avLst/>
            </a:prstGeom>
            <a:solidFill>
              <a:srgbClr val="0070C0"/>
            </a:solidFill>
            <a:ln w="88900">
              <a:gradFill flip="none" rotWithShape="1">
                <a:gsLst>
                  <a:gs pos="0">
                    <a:srgbClr val="FFFFFF"/>
                  </a:gs>
                  <a:gs pos="100000">
                    <a:srgbClr val="D9D9DA"/>
                  </a:gs>
                </a:gsLst>
                <a:lin ang="2700000" scaled="0"/>
                <a:tileRect/>
              </a:gradFill>
            </a:ln>
            <a:effectLst>
              <a:outerShdw blurRad="279400" dist="76200" dir="2700000" sx="101000" sy="101000" algn="tl" rotWithShape="0">
                <a:prstClr val="black">
                  <a:alpha val="2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anchor="ctr"/>
            <a:lstStyle/>
            <a:p>
              <a:pPr algn="ctr">
                <a:defRPr/>
              </a:pPr>
              <a:endParaRPr lang="zh-CN" altLang="en-US" sz="5865"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sp>
          <p:nvSpPr>
            <p:cNvPr id="43" name="Text Box 58"/>
            <p:cNvSpPr txBox="1">
              <a:spLocks noChangeArrowheads="1"/>
            </p:cNvSpPr>
            <p:nvPr/>
          </p:nvSpPr>
          <p:spPr bwMode="auto">
            <a:xfrm>
              <a:off x="1159958" y="3077737"/>
              <a:ext cx="782803" cy="11311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altLang="zh-CN" sz="5000" b="1" dirty="0">
                  <a:solidFill>
                    <a:schemeClr val="bg1"/>
                  </a:solidFill>
                  <a:latin typeface="Calibri" panose="020F0502020204030204" pitchFamily="34" charset="0"/>
                  <a:ea typeface="华文琥珀" panose="02010800040101010101" pitchFamily="2" charset="-122"/>
                  <a:cs typeface="Calibri" panose="020F0502020204030204" pitchFamily="34" charset="0"/>
                </a:rPr>
                <a:t>PART  3</a:t>
              </a:r>
            </a:p>
            <a:p>
              <a:pPr algn="ctr"/>
              <a:r>
                <a:rPr lang="en-US" altLang="zh-CN" sz="4400" dirty="0">
                  <a:solidFill>
                    <a:schemeClr val="bg1"/>
                  </a:solidFill>
                  <a:latin typeface="Calibri" panose="020F0502020204030204" pitchFamily="34" charset="0"/>
                  <a:ea typeface="思源黑体" panose="020B0500000000000000" pitchFamily="34" charset="-122"/>
                  <a:cs typeface="Calibri" panose="020F0502020204030204" pitchFamily="34" charset="0"/>
                </a:rPr>
                <a:t> </a:t>
              </a:r>
            </a:p>
          </p:txBody>
        </p:sp>
      </p:grpSp>
      <p:sp>
        <p:nvSpPr>
          <p:cNvPr id="44" name="矩形 43"/>
          <p:cNvSpPr/>
          <p:nvPr/>
        </p:nvSpPr>
        <p:spPr>
          <a:xfrm>
            <a:off x="4524489" y="3801377"/>
            <a:ext cx="12153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800" b="1" dirty="0" err="1">
                <a:solidFill>
                  <a:srgbClr val="0070C0"/>
                </a:solidFill>
              </a:rPr>
              <a:t>bootchart</a:t>
            </a:r>
            <a:endParaRPr lang="zh-CN" altLang="en-US" sz="1800" b="1" dirty="0">
              <a:solidFill>
                <a:srgbClr val="0070C0"/>
              </a:solidFill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10729790" y="2540217"/>
            <a:ext cx="1145728" cy="1261160"/>
            <a:chOff x="1696902" y="1658204"/>
            <a:chExt cx="1357422" cy="1785621"/>
          </a:xfrm>
        </p:grpSpPr>
        <p:grpSp>
          <p:nvGrpSpPr>
            <p:cNvPr id="46" name="组合 45"/>
            <p:cNvGrpSpPr/>
            <p:nvPr/>
          </p:nvGrpSpPr>
          <p:grpSpPr>
            <a:xfrm>
              <a:off x="1696902" y="1658204"/>
              <a:ext cx="1357422" cy="1785621"/>
              <a:chOff x="1434530" y="1923678"/>
              <a:chExt cx="875843" cy="1152128"/>
            </a:xfrm>
          </p:grpSpPr>
          <p:sp>
            <p:nvSpPr>
              <p:cNvPr id="51" name="椭圆 2"/>
              <p:cNvSpPr/>
              <p:nvPr/>
            </p:nvSpPr>
            <p:spPr>
              <a:xfrm rot="1761192">
                <a:off x="1734309" y="1923678"/>
                <a:ext cx="576064" cy="1152128"/>
              </a:xfrm>
              <a:custGeom>
                <a:avLst/>
                <a:gdLst/>
                <a:ahLst/>
                <a:cxnLst/>
                <a:rect l="l" t="t" r="r" b="b"/>
                <a:pathLst>
                  <a:path w="576064" h="1152128">
                    <a:moveTo>
                      <a:pt x="0" y="0"/>
                    </a:moveTo>
                    <a:cubicBezTo>
                      <a:pt x="318151" y="0"/>
                      <a:pt x="576064" y="257913"/>
                      <a:pt x="576064" y="576064"/>
                    </a:cubicBezTo>
                    <a:cubicBezTo>
                      <a:pt x="576064" y="894215"/>
                      <a:pt x="318151" y="1152128"/>
                      <a:pt x="0" y="1152128"/>
                    </a:cubicBezTo>
                    <a:close/>
                  </a:path>
                </a:pathLst>
              </a:custGeom>
              <a:solidFill>
                <a:srgbClr val="EAEAEA">
                  <a:alpha val="30196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9" name="TextBox 4"/>
              <p:cNvSpPr txBox="1"/>
              <p:nvPr/>
            </p:nvSpPr>
            <p:spPr>
              <a:xfrm>
                <a:off x="1434530" y="2496128"/>
                <a:ext cx="728783" cy="4217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47" name="Freeform 14"/>
            <p:cNvSpPr>
              <a:spLocks noEditPoints="1"/>
            </p:cNvSpPr>
            <p:nvPr/>
          </p:nvSpPr>
          <p:spPr bwMode="auto">
            <a:xfrm>
              <a:off x="2001870" y="1860853"/>
              <a:ext cx="824533" cy="812699"/>
            </a:xfrm>
            <a:custGeom>
              <a:avLst/>
              <a:gdLst>
                <a:gd name="T0" fmla="*/ 221450 w 427"/>
                <a:gd name="T1" fmla="*/ 125841 h 408"/>
                <a:gd name="T2" fmla="*/ 216788 w 427"/>
                <a:gd name="T3" fmla="*/ 135459 h 408"/>
                <a:gd name="T4" fmla="*/ 216011 w 427"/>
                <a:gd name="T5" fmla="*/ 141871 h 408"/>
                <a:gd name="T6" fmla="*/ 216011 w 427"/>
                <a:gd name="T7" fmla="*/ 153894 h 408"/>
                <a:gd name="T8" fmla="*/ 220673 w 427"/>
                <a:gd name="T9" fmla="*/ 165917 h 408"/>
                <a:gd name="T10" fmla="*/ 223781 w 427"/>
                <a:gd name="T11" fmla="*/ 171528 h 408"/>
                <a:gd name="T12" fmla="*/ 233106 w 427"/>
                <a:gd name="T13" fmla="*/ 179543 h 408"/>
                <a:gd name="T14" fmla="*/ 239322 w 427"/>
                <a:gd name="T15" fmla="*/ 182749 h 408"/>
                <a:gd name="T16" fmla="*/ 252531 w 427"/>
                <a:gd name="T17" fmla="*/ 109008 h 408"/>
                <a:gd name="T18" fmla="*/ 236991 w 427"/>
                <a:gd name="T19" fmla="*/ 112214 h 408"/>
                <a:gd name="T20" fmla="*/ 228444 w 427"/>
                <a:gd name="T21" fmla="*/ 117825 h 408"/>
                <a:gd name="T22" fmla="*/ 224558 w 427"/>
                <a:gd name="T23" fmla="*/ 121833 h 408"/>
                <a:gd name="T24" fmla="*/ 202802 w 427"/>
                <a:gd name="T25" fmla="*/ 37672 h 408"/>
                <a:gd name="T26" fmla="*/ 165505 w 427"/>
                <a:gd name="T27" fmla="*/ 76146 h 408"/>
                <a:gd name="T28" fmla="*/ 200471 w 427"/>
                <a:gd name="T29" fmla="*/ 153894 h 408"/>
                <a:gd name="T30" fmla="*/ 200471 w 427"/>
                <a:gd name="T31" fmla="*/ 138665 h 408"/>
                <a:gd name="T32" fmla="*/ 189593 w 427"/>
                <a:gd name="T33" fmla="*/ 83359 h 408"/>
                <a:gd name="T34" fmla="*/ 131316 w 427"/>
                <a:gd name="T35" fmla="*/ 146680 h 408"/>
                <a:gd name="T36" fmla="*/ 165505 w 427"/>
                <a:gd name="T37" fmla="*/ 215612 h 408"/>
                <a:gd name="T38" fmla="*/ 149188 w 427"/>
                <a:gd name="T39" fmla="*/ 218017 h 408"/>
                <a:gd name="T40" fmla="*/ 140640 w 427"/>
                <a:gd name="T41" fmla="*/ 208398 h 408"/>
                <a:gd name="T42" fmla="*/ 135201 w 427"/>
                <a:gd name="T43" fmla="*/ 203589 h 408"/>
                <a:gd name="T44" fmla="*/ 112668 w 427"/>
                <a:gd name="T45" fmla="*/ 193971 h 408"/>
                <a:gd name="T46" fmla="*/ 103343 w 427"/>
                <a:gd name="T47" fmla="*/ 193169 h 408"/>
                <a:gd name="T48" fmla="*/ 0 w 427"/>
                <a:gd name="T49" fmla="*/ 327025 h 408"/>
                <a:gd name="T50" fmla="*/ 43513 w 427"/>
                <a:gd name="T51" fmla="*/ 247673 h 408"/>
                <a:gd name="T52" fmla="*/ 113445 w 427"/>
                <a:gd name="T53" fmla="*/ 247673 h 408"/>
                <a:gd name="T54" fmla="*/ 158512 w 427"/>
                <a:gd name="T55" fmla="*/ 327025 h 408"/>
                <a:gd name="T56" fmla="*/ 149188 w 427"/>
                <a:gd name="T57" fmla="*/ 218017 h 408"/>
                <a:gd name="T58" fmla="*/ 228444 w 427"/>
                <a:gd name="T59" fmla="*/ 193169 h 408"/>
                <a:gd name="T60" fmla="*/ 218342 w 427"/>
                <a:gd name="T61" fmla="*/ 193971 h 408"/>
                <a:gd name="T62" fmla="*/ 190370 w 427"/>
                <a:gd name="T63" fmla="*/ 208398 h 408"/>
                <a:gd name="T64" fmla="*/ 186484 w 427"/>
                <a:gd name="T65" fmla="*/ 213207 h 408"/>
                <a:gd name="T66" fmla="*/ 205133 w 427"/>
                <a:gd name="T67" fmla="*/ 327025 h 408"/>
                <a:gd name="T68" fmla="*/ 216788 w 427"/>
                <a:gd name="T69" fmla="*/ 327025 h 408"/>
                <a:gd name="T70" fmla="*/ 298375 w 427"/>
                <a:gd name="T71" fmla="*/ 247673 h 408"/>
                <a:gd name="T72" fmla="*/ 331787 w 427"/>
                <a:gd name="T73" fmla="*/ 250879 h 408"/>
                <a:gd name="T74" fmla="*/ 79256 w 427"/>
                <a:gd name="T75" fmla="*/ 185154 h 408"/>
                <a:gd name="T76" fmla="*/ 97904 w 427"/>
                <a:gd name="T77" fmla="*/ 179543 h 408"/>
                <a:gd name="T78" fmla="*/ 103343 w 427"/>
                <a:gd name="T79" fmla="*/ 176337 h 408"/>
                <a:gd name="T80" fmla="*/ 113445 w 427"/>
                <a:gd name="T81" fmla="*/ 160306 h 408"/>
                <a:gd name="T82" fmla="*/ 115776 w 427"/>
                <a:gd name="T83" fmla="*/ 153093 h 408"/>
                <a:gd name="T84" fmla="*/ 115776 w 427"/>
                <a:gd name="T85" fmla="*/ 140268 h 408"/>
                <a:gd name="T86" fmla="*/ 112668 w 427"/>
                <a:gd name="T87" fmla="*/ 131451 h 408"/>
                <a:gd name="T88" fmla="*/ 110337 w 427"/>
                <a:gd name="T89" fmla="*/ 125841 h 408"/>
                <a:gd name="T90" fmla="*/ 103343 w 427"/>
                <a:gd name="T91" fmla="*/ 117825 h 408"/>
                <a:gd name="T92" fmla="*/ 97904 w 427"/>
                <a:gd name="T93" fmla="*/ 114619 h 408"/>
                <a:gd name="T94" fmla="*/ 79256 w 427"/>
                <a:gd name="T95" fmla="*/ 109008 h 408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427" h="408">
                  <a:moveTo>
                    <a:pt x="289" y="152"/>
                  </a:moveTo>
                  <a:cubicBezTo>
                    <a:pt x="288" y="154"/>
                    <a:pt x="286" y="155"/>
                    <a:pt x="285" y="157"/>
                  </a:cubicBezTo>
                  <a:cubicBezTo>
                    <a:pt x="285" y="157"/>
                    <a:pt x="285" y="157"/>
                    <a:pt x="285" y="157"/>
                  </a:cubicBezTo>
                  <a:cubicBezTo>
                    <a:pt x="284" y="159"/>
                    <a:pt x="283" y="161"/>
                    <a:pt x="282" y="162"/>
                  </a:cubicBezTo>
                  <a:cubicBezTo>
                    <a:pt x="282" y="163"/>
                    <a:pt x="282" y="163"/>
                    <a:pt x="282" y="164"/>
                  </a:cubicBezTo>
                  <a:cubicBezTo>
                    <a:pt x="281" y="165"/>
                    <a:pt x="280" y="167"/>
                    <a:pt x="279" y="169"/>
                  </a:cubicBezTo>
                  <a:cubicBezTo>
                    <a:pt x="279" y="169"/>
                    <a:pt x="279" y="169"/>
                    <a:pt x="279" y="170"/>
                  </a:cubicBezTo>
                  <a:cubicBezTo>
                    <a:pt x="279" y="171"/>
                    <a:pt x="278" y="173"/>
                    <a:pt x="278" y="175"/>
                  </a:cubicBezTo>
                  <a:cubicBezTo>
                    <a:pt x="278" y="176"/>
                    <a:pt x="278" y="176"/>
                    <a:pt x="278" y="177"/>
                  </a:cubicBezTo>
                  <a:cubicBezTo>
                    <a:pt x="277" y="179"/>
                    <a:pt x="277" y="181"/>
                    <a:pt x="277" y="183"/>
                  </a:cubicBezTo>
                  <a:cubicBezTo>
                    <a:pt x="277" y="186"/>
                    <a:pt x="278" y="189"/>
                    <a:pt x="278" y="191"/>
                  </a:cubicBezTo>
                  <a:cubicBezTo>
                    <a:pt x="278" y="192"/>
                    <a:pt x="278" y="192"/>
                    <a:pt x="278" y="192"/>
                  </a:cubicBezTo>
                  <a:cubicBezTo>
                    <a:pt x="279" y="195"/>
                    <a:pt x="279" y="197"/>
                    <a:pt x="280" y="199"/>
                  </a:cubicBezTo>
                  <a:cubicBezTo>
                    <a:pt x="280" y="200"/>
                    <a:pt x="280" y="200"/>
                    <a:pt x="280" y="200"/>
                  </a:cubicBezTo>
                  <a:cubicBezTo>
                    <a:pt x="281" y="203"/>
                    <a:pt x="282" y="205"/>
                    <a:pt x="284" y="207"/>
                  </a:cubicBezTo>
                  <a:cubicBezTo>
                    <a:pt x="284" y="207"/>
                    <a:pt x="284" y="208"/>
                    <a:pt x="284" y="208"/>
                  </a:cubicBezTo>
                  <a:cubicBezTo>
                    <a:pt x="285" y="210"/>
                    <a:pt x="287" y="212"/>
                    <a:pt x="288" y="214"/>
                  </a:cubicBezTo>
                  <a:cubicBezTo>
                    <a:pt x="288" y="214"/>
                    <a:pt x="288" y="214"/>
                    <a:pt x="288" y="214"/>
                  </a:cubicBezTo>
                  <a:cubicBezTo>
                    <a:pt x="290" y="216"/>
                    <a:pt x="292" y="218"/>
                    <a:pt x="294" y="219"/>
                  </a:cubicBezTo>
                  <a:cubicBezTo>
                    <a:pt x="294" y="219"/>
                    <a:pt x="294" y="220"/>
                    <a:pt x="294" y="220"/>
                  </a:cubicBezTo>
                  <a:cubicBezTo>
                    <a:pt x="296" y="221"/>
                    <a:pt x="298" y="223"/>
                    <a:pt x="300" y="224"/>
                  </a:cubicBezTo>
                  <a:cubicBezTo>
                    <a:pt x="300" y="224"/>
                    <a:pt x="301" y="224"/>
                    <a:pt x="301" y="224"/>
                  </a:cubicBezTo>
                  <a:cubicBezTo>
                    <a:pt x="303" y="226"/>
                    <a:pt x="305" y="227"/>
                    <a:pt x="308" y="228"/>
                  </a:cubicBezTo>
                  <a:cubicBezTo>
                    <a:pt x="308" y="228"/>
                    <a:pt x="308" y="228"/>
                    <a:pt x="308" y="228"/>
                  </a:cubicBezTo>
                  <a:cubicBezTo>
                    <a:pt x="313" y="230"/>
                    <a:pt x="319" y="231"/>
                    <a:pt x="325" y="231"/>
                  </a:cubicBezTo>
                  <a:cubicBezTo>
                    <a:pt x="351" y="231"/>
                    <a:pt x="372" y="210"/>
                    <a:pt x="372" y="183"/>
                  </a:cubicBezTo>
                  <a:cubicBezTo>
                    <a:pt x="372" y="157"/>
                    <a:pt x="351" y="136"/>
                    <a:pt x="325" y="136"/>
                  </a:cubicBezTo>
                  <a:cubicBezTo>
                    <a:pt x="318" y="136"/>
                    <a:pt x="312" y="137"/>
                    <a:pt x="306" y="140"/>
                  </a:cubicBezTo>
                  <a:cubicBezTo>
                    <a:pt x="306" y="140"/>
                    <a:pt x="306" y="140"/>
                    <a:pt x="306" y="140"/>
                  </a:cubicBezTo>
                  <a:cubicBezTo>
                    <a:pt x="306" y="140"/>
                    <a:pt x="306" y="140"/>
                    <a:pt x="305" y="140"/>
                  </a:cubicBezTo>
                  <a:cubicBezTo>
                    <a:pt x="304" y="141"/>
                    <a:pt x="302" y="142"/>
                    <a:pt x="301" y="143"/>
                  </a:cubicBezTo>
                  <a:cubicBezTo>
                    <a:pt x="300" y="143"/>
                    <a:pt x="300" y="143"/>
                    <a:pt x="299" y="143"/>
                  </a:cubicBezTo>
                  <a:cubicBezTo>
                    <a:pt x="298" y="144"/>
                    <a:pt x="296" y="146"/>
                    <a:pt x="294" y="147"/>
                  </a:cubicBezTo>
                  <a:cubicBezTo>
                    <a:pt x="294" y="147"/>
                    <a:pt x="294" y="147"/>
                    <a:pt x="294" y="147"/>
                  </a:cubicBezTo>
                  <a:cubicBezTo>
                    <a:pt x="293" y="148"/>
                    <a:pt x="291" y="150"/>
                    <a:pt x="290" y="151"/>
                  </a:cubicBezTo>
                  <a:cubicBezTo>
                    <a:pt x="290" y="151"/>
                    <a:pt x="289" y="152"/>
                    <a:pt x="289" y="152"/>
                  </a:cubicBezTo>
                  <a:close/>
                  <a:moveTo>
                    <a:pt x="213" y="95"/>
                  </a:moveTo>
                  <a:lnTo>
                    <a:pt x="213" y="95"/>
                  </a:lnTo>
                  <a:cubicBezTo>
                    <a:pt x="240" y="95"/>
                    <a:pt x="261" y="73"/>
                    <a:pt x="261" y="47"/>
                  </a:cubicBezTo>
                  <a:cubicBezTo>
                    <a:pt x="261" y="21"/>
                    <a:pt x="240" y="0"/>
                    <a:pt x="213" y="0"/>
                  </a:cubicBezTo>
                  <a:cubicBezTo>
                    <a:pt x="187" y="0"/>
                    <a:pt x="166" y="21"/>
                    <a:pt x="166" y="47"/>
                  </a:cubicBezTo>
                  <a:cubicBezTo>
                    <a:pt x="166" y="73"/>
                    <a:pt x="187" y="95"/>
                    <a:pt x="213" y="95"/>
                  </a:cubicBezTo>
                  <a:close/>
                  <a:moveTo>
                    <a:pt x="258" y="228"/>
                  </a:moveTo>
                  <a:lnTo>
                    <a:pt x="258" y="228"/>
                  </a:lnTo>
                  <a:lnTo>
                    <a:pt x="258" y="192"/>
                  </a:lnTo>
                  <a:cubicBezTo>
                    <a:pt x="258" y="189"/>
                    <a:pt x="257" y="186"/>
                    <a:pt x="257" y="183"/>
                  </a:cubicBezTo>
                  <a:cubicBezTo>
                    <a:pt x="257" y="180"/>
                    <a:pt x="258" y="178"/>
                    <a:pt x="258" y="175"/>
                  </a:cubicBezTo>
                  <a:lnTo>
                    <a:pt x="258" y="173"/>
                  </a:lnTo>
                  <a:cubicBezTo>
                    <a:pt x="262" y="151"/>
                    <a:pt x="275" y="134"/>
                    <a:pt x="293" y="124"/>
                  </a:cubicBezTo>
                  <a:cubicBezTo>
                    <a:pt x="280" y="112"/>
                    <a:pt x="263" y="104"/>
                    <a:pt x="244" y="104"/>
                  </a:cubicBezTo>
                  <a:lnTo>
                    <a:pt x="183" y="104"/>
                  </a:lnTo>
                  <a:cubicBezTo>
                    <a:pt x="164" y="104"/>
                    <a:pt x="147" y="112"/>
                    <a:pt x="134" y="124"/>
                  </a:cubicBezTo>
                  <a:cubicBezTo>
                    <a:pt x="155" y="135"/>
                    <a:pt x="169" y="158"/>
                    <a:pt x="169" y="183"/>
                  </a:cubicBezTo>
                  <a:cubicBezTo>
                    <a:pt x="169" y="189"/>
                    <a:pt x="169" y="194"/>
                    <a:pt x="168" y="199"/>
                  </a:cubicBezTo>
                  <a:lnTo>
                    <a:pt x="168" y="228"/>
                  </a:lnTo>
                  <a:cubicBezTo>
                    <a:pt x="187" y="236"/>
                    <a:pt x="203" y="251"/>
                    <a:pt x="213" y="269"/>
                  </a:cubicBezTo>
                  <a:cubicBezTo>
                    <a:pt x="223" y="251"/>
                    <a:pt x="239" y="237"/>
                    <a:pt x="258" y="228"/>
                  </a:cubicBezTo>
                  <a:close/>
                  <a:moveTo>
                    <a:pt x="192" y="272"/>
                  </a:moveTo>
                  <a:lnTo>
                    <a:pt x="192" y="272"/>
                  </a:lnTo>
                  <a:cubicBezTo>
                    <a:pt x="190" y="270"/>
                    <a:pt x="189" y="268"/>
                    <a:pt x="187" y="266"/>
                  </a:cubicBezTo>
                  <a:cubicBezTo>
                    <a:pt x="187" y="265"/>
                    <a:pt x="186" y="265"/>
                    <a:pt x="186" y="265"/>
                  </a:cubicBezTo>
                  <a:cubicBezTo>
                    <a:pt x="185" y="263"/>
                    <a:pt x="183" y="262"/>
                    <a:pt x="181" y="260"/>
                  </a:cubicBezTo>
                  <a:cubicBezTo>
                    <a:pt x="181" y="260"/>
                    <a:pt x="181" y="259"/>
                    <a:pt x="181" y="259"/>
                  </a:cubicBezTo>
                  <a:cubicBezTo>
                    <a:pt x="179" y="258"/>
                    <a:pt x="177" y="256"/>
                    <a:pt x="175" y="255"/>
                  </a:cubicBezTo>
                  <a:cubicBezTo>
                    <a:pt x="175" y="255"/>
                    <a:pt x="175" y="254"/>
                    <a:pt x="174" y="254"/>
                  </a:cubicBezTo>
                  <a:cubicBezTo>
                    <a:pt x="168" y="250"/>
                    <a:pt x="161" y="246"/>
                    <a:pt x="153" y="244"/>
                  </a:cubicBezTo>
                  <a:cubicBezTo>
                    <a:pt x="151" y="243"/>
                    <a:pt x="150" y="243"/>
                    <a:pt x="148" y="242"/>
                  </a:cubicBezTo>
                  <a:cubicBezTo>
                    <a:pt x="147" y="242"/>
                    <a:pt x="146" y="242"/>
                    <a:pt x="145" y="242"/>
                  </a:cubicBezTo>
                  <a:cubicBezTo>
                    <a:pt x="144" y="242"/>
                    <a:pt x="143" y="241"/>
                    <a:pt x="141" y="241"/>
                  </a:cubicBezTo>
                  <a:cubicBezTo>
                    <a:pt x="141" y="241"/>
                    <a:pt x="140" y="241"/>
                    <a:pt x="139" y="241"/>
                  </a:cubicBezTo>
                  <a:cubicBezTo>
                    <a:pt x="137" y="241"/>
                    <a:pt x="135" y="241"/>
                    <a:pt x="133" y="241"/>
                  </a:cubicBezTo>
                  <a:lnTo>
                    <a:pt x="71" y="241"/>
                  </a:lnTo>
                  <a:cubicBezTo>
                    <a:pt x="32" y="241"/>
                    <a:pt x="0" y="273"/>
                    <a:pt x="0" y="313"/>
                  </a:cubicBezTo>
                  <a:lnTo>
                    <a:pt x="0" y="408"/>
                  </a:lnTo>
                  <a:lnTo>
                    <a:pt x="42" y="408"/>
                  </a:lnTo>
                  <a:lnTo>
                    <a:pt x="42" y="309"/>
                  </a:lnTo>
                  <a:lnTo>
                    <a:pt x="56" y="309"/>
                  </a:lnTo>
                  <a:lnTo>
                    <a:pt x="56" y="408"/>
                  </a:lnTo>
                  <a:lnTo>
                    <a:pt x="146" y="408"/>
                  </a:lnTo>
                  <a:lnTo>
                    <a:pt x="146" y="309"/>
                  </a:lnTo>
                  <a:lnTo>
                    <a:pt x="161" y="309"/>
                  </a:lnTo>
                  <a:lnTo>
                    <a:pt x="161" y="408"/>
                  </a:lnTo>
                  <a:lnTo>
                    <a:pt x="204" y="408"/>
                  </a:lnTo>
                  <a:lnTo>
                    <a:pt x="204" y="313"/>
                  </a:lnTo>
                  <a:cubicBezTo>
                    <a:pt x="204" y="297"/>
                    <a:pt x="200" y="283"/>
                    <a:pt x="192" y="272"/>
                  </a:cubicBezTo>
                  <a:cubicBezTo>
                    <a:pt x="192" y="272"/>
                    <a:pt x="192" y="272"/>
                    <a:pt x="192" y="272"/>
                  </a:cubicBezTo>
                  <a:close/>
                  <a:moveTo>
                    <a:pt x="355" y="241"/>
                  </a:moveTo>
                  <a:lnTo>
                    <a:pt x="355" y="241"/>
                  </a:lnTo>
                  <a:lnTo>
                    <a:pt x="294" y="241"/>
                  </a:lnTo>
                  <a:cubicBezTo>
                    <a:pt x="292" y="241"/>
                    <a:pt x="290" y="241"/>
                    <a:pt x="288" y="241"/>
                  </a:cubicBezTo>
                  <a:cubicBezTo>
                    <a:pt x="287" y="241"/>
                    <a:pt x="286" y="241"/>
                    <a:pt x="285" y="241"/>
                  </a:cubicBezTo>
                  <a:cubicBezTo>
                    <a:pt x="284" y="241"/>
                    <a:pt x="283" y="242"/>
                    <a:pt x="281" y="242"/>
                  </a:cubicBezTo>
                  <a:cubicBezTo>
                    <a:pt x="280" y="242"/>
                    <a:pt x="280" y="242"/>
                    <a:pt x="279" y="242"/>
                  </a:cubicBezTo>
                  <a:cubicBezTo>
                    <a:pt x="277" y="243"/>
                    <a:pt x="276" y="243"/>
                    <a:pt x="274" y="244"/>
                  </a:cubicBezTo>
                  <a:cubicBezTo>
                    <a:pt x="263" y="247"/>
                    <a:pt x="254" y="252"/>
                    <a:pt x="245" y="260"/>
                  </a:cubicBezTo>
                  <a:cubicBezTo>
                    <a:pt x="245" y="260"/>
                    <a:pt x="245" y="260"/>
                    <a:pt x="245" y="260"/>
                  </a:cubicBezTo>
                  <a:cubicBezTo>
                    <a:pt x="243" y="262"/>
                    <a:pt x="242" y="263"/>
                    <a:pt x="240" y="265"/>
                  </a:cubicBezTo>
                  <a:cubicBezTo>
                    <a:pt x="240" y="265"/>
                    <a:pt x="240" y="266"/>
                    <a:pt x="240" y="266"/>
                  </a:cubicBezTo>
                  <a:cubicBezTo>
                    <a:pt x="229" y="278"/>
                    <a:pt x="222" y="295"/>
                    <a:pt x="222" y="313"/>
                  </a:cubicBezTo>
                  <a:lnTo>
                    <a:pt x="222" y="408"/>
                  </a:lnTo>
                  <a:lnTo>
                    <a:pt x="264" y="408"/>
                  </a:lnTo>
                  <a:lnTo>
                    <a:pt x="264" y="309"/>
                  </a:lnTo>
                  <a:lnTo>
                    <a:pt x="279" y="309"/>
                  </a:lnTo>
                  <a:lnTo>
                    <a:pt x="279" y="408"/>
                  </a:lnTo>
                  <a:lnTo>
                    <a:pt x="369" y="408"/>
                  </a:lnTo>
                  <a:lnTo>
                    <a:pt x="369" y="309"/>
                  </a:lnTo>
                  <a:lnTo>
                    <a:pt x="384" y="309"/>
                  </a:lnTo>
                  <a:lnTo>
                    <a:pt x="384" y="408"/>
                  </a:lnTo>
                  <a:lnTo>
                    <a:pt x="427" y="408"/>
                  </a:lnTo>
                  <a:lnTo>
                    <a:pt x="427" y="313"/>
                  </a:lnTo>
                  <a:cubicBezTo>
                    <a:pt x="427" y="273"/>
                    <a:pt x="395" y="241"/>
                    <a:pt x="355" y="241"/>
                  </a:cubicBezTo>
                  <a:close/>
                  <a:moveTo>
                    <a:pt x="102" y="231"/>
                  </a:moveTo>
                  <a:lnTo>
                    <a:pt x="102" y="231"/>
                  </a:lnTo>
                  <a:cubicBezTo>
                    <a:pt x="108" y="231"/>
                    <a:pt x="114" y="230"/>
                    <a:pt x="119" y="228"/>
                  </a:cubicBezTo>
                  <a:cubicBezTo>
                    <a:pt x="119" y="228"/>
                    <a:pt x="119" y="228"/>
                    <a:pt x="119" y="228"/>
                  </a:cubicBezTo>
                  <a:cubicBezTo>
                    <a:pt x="122" y="227"/>
                    <a:pt x="124" y="226"/>
                    <a:pt x="126" y="224"/>
                  </a:cubicBezTo>
                  <a:cubicBezTo>
                    <a:pt x="126" y="224"/>
                    <a:pt x="126" y="224"/>
                    <a:pt x="126" y="224"/>
                  </a:cubicBezTo>
                  <a:cubicBezTo>
                    <a:pt x="129" y="223"/>
                    <a:pt x="131" y="221"/>
                    <a:pt x="133" y="220"/>
                  </a:cubicBezTo>
                  <a:cubicBezTo>
                    <a:pt x="133" y="220"/>
                    <a:pt x="133" y="220"/>
                    <a:pt x="133" y="220"/>
                  </a:cubicBezTo>
                  <a:cubicBezTo>
                    <a:pt x="137" y="216"/>
                    <a:pt x="140" y="212"/>
                    <a:pt x="143" y="208"/>
                  </a:cubicBezTo>
                  <a:cubicBezTo>
                    <a:pt x="143" y="207"/>
                    <a:pt x="143" y="207"/>
                    <a:pt x="143" y="207"/>
                  </a:cubicBezTo>
                  <a:cubicBezTo>
                    <a:pt x="144" y="205"/>
                    <a:pt x="145" y="203"/>
                    <a:pt x="146" y="200"/>
                  </a:cubicBezTo>
                  <a:cubicBezTo>
                    <a:pt x="146" y="200"/>
                    <a:pt x="147" y="200"/>
                    <a:pt x="147" y="199"/>
                  </a:cubicBezTo>
                  <a:cubicBezTo>
                    <a:pt x="148" y="197"/>
                    <a:pt x="148" y="195"/>
                    <a:pt x="149" y="192"/>
                  </a:cubicBezTo>
                  <a:cubicBezTo>
                    <a:pt x="149" y="192"/>
                    <a:pt x="149" y="192"/>
                    <a:pt x="149" y="191"/>
                  </a:cubicBezTo>
                  <a:cubicBezTo>
                    <a:pt x="149" y="189"/>
                    <a:pt x="150" y="186"/>
                    <a:pt x="150" y="183"/>
                  </a:cubicBezTo>
                  <a:cubicBezTo>
                    <a:pt x="150" y="181"/>
                    <a:pt x="149" y="179"/>
                    <a:pt x="149" y="177"/>
                  </a:cubicBezTo>
                  <a:cubicBezTo>
                    <a:pt x="149" y="176"/>
                    <a:pt x="149" y="176"/>
                    <a:pt x="149" y="175"/>
                  </a:cubicBezTo>
                  <a:cubicBezTo>
                    <a:pt x="148" y="173"/>
                    <a:pt x="148" y="171"/>
                    <a:pt x="147" y="169"/>
                  </a:cubicBezTo>
                  <a:cubicBezTo>
                    <a:pt x="147" y="169"/>
                    <a:pt x="147" y="169"/>
                    <a:pt x="147" y="169"/>
                  </a:cubicBezTo>
                  <a:cubicBezTo>
                    <a:pt x="147" y="167"/>
                    <a:pt x="146" y="165"/>
                    <a:pt x="145" y="164"/>
                  </a:cubicBezTo>
                  <a:cubicBezTo>
                    <a:pt x="145" y="163"/>
                    <a:pt x="145" y="163"/>
                    <a:pt x="145" y="162"/>
                  </a:cubicBezTo>
                  <a:cubicBezTo>
                    <a:pt x="144" y="161"/>
                    <a:pt x="143" y="159"/>
                    <a:pt x="142" y="157"/>
                  </a:cubicBezTo>
                  <a:cubicBezTo>
                    <a:pt x="140" y="155"/>
                    <a:pt x="139" y="154"/>
                    <a:pt x="138" y="152"/>
                  </a:cubicBezTo>
                  <a:cubicBezTo>
                    <a:pt x="137" y="152"/>
                    <a:pt x="137" y="151"/>
                    <a:pt x="137" y="151"/>
                  </a:cubicBezTo>
                  <a:cubicBezTo>
                    <a:pt x="136" y="150"/>
                    <a:pt x="134" y="148"/>
                    <a:pt x="133" y="147"/>
                  </a:cubicBezTo>
                  <a:cubicBezTo>
                    <a:pt x="133" y="147"/>
                    <a:pt x="133" y="147"/>
                    <a:pt x="132" y="147"/>
                  </a:cubicBezTo>
                  <a:cubicBezTo>
                    <a:pt x="131" y="146"/>
                    <a:pt x="129" y="144"/>
                    <a:pt x="127" y="143"/>
                  </a:cubicBezTo>
                  <a:cubicBezTo>
                    <a:pt x="127" y="143"/>
                    <a:pt x="127" y="143"/>
                    <a:pt x="126" y="143"/>
                  </a:cubicBezTo>
                  <a:cubicBezTo>
                    <a:pt x="125" y="142"/>
                    <a:pt x="123" y="141"/>
                    <a:pt x="121" y="140"/>
                  </a:cubicBezTo>
                  <a:cubicBezTo>
                    <a:pt x="121" y="140"/>
                    <a:pt x="121" y="140"/>
                    <a:pt x="121" y="140"/>
                  </a:cubicBezTo>
                  <a:cubicBezTo>
                    <a:pt x="115" y="137"/>
                    <a:pt x="109" y="136"/>
                    <a:pt x="102" y="136"/>
                  </a:cubicBezTo>
                  <a:cubicBezTo>
                    <a:pt x="76" y="136"/>
                    <a:pt x="54" y="157"/>
                    <a:pt x="54" y="183"/>
                  </a:cubicBezTo>
                  <a:cubicBezTo>
                    <a:pt x="54" y="210"/>
                    <a:pt x="76" y="231"/>
                    <a:pt x="102" y="23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8480942" y="1718343"/>
            <a:ext cx="546976" cy="540745"/>
            <a:chOff x="6084168" y="1274820"/>
            <a:chExt cx="432048" cy="432834"/>
          </a:xfrm>
        </p:grpSpPr>
        <p:sp>
          <p:nvSpPr>
            <p:cNvPr id="53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4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latin typeface="Roboto Light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6852304" y="1718409"/>
            <a:ext cx="546976" cy="539763"/>
            <a:chOff x="4788024" y="1275213"/>
            <a:chExt cx="432048" cy="432048"/>
          </a:xfrm>
        </p:grpSpPr>
        <p:sp>
          <p:nvSpPr>
            <p:cNvPr id="56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7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latin typeface="Roboto Light"/>
              </a:endParaRPr>
            </a:p>
          </p:txBody>
        </p:sp>
      </p:grpSp>
      <p:grpSp>
        <p:nvGrpSpPr>
          <p:cNvPr id="58" name="组合 57"/>
          <p:cNvGrpSpPr/>
          <p:nvPr/>
        </p:nvGrpSpPr>
        <p:grpSpPr>
          <a:xfrm>
            <a:off x="7682935" y="1726745"/>
            <a:ext cx="547970" cy="540745"/>
            <a:chOff x="5436096" y="1274820"/>
            <a:chExt cx="432833" cy="432834"/>
          </a:xfrm>
        </p:grpSpPr>
        <p:sp>
          <p:nvSpPr>
            <p:cNvPr id="59" name="椭圆 58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60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latin typeface="Roboto Light"/>
              </a:endParaRPr>
            </a:p>
          </p:txBody>
        </p:sp>
      </p:grpSp>
      <p:grpSp>
        <p:nvGrpSpPr>
          <p:cNvPr id="61" name="组合 60"/>
          <p:cNvGrpSpPr/>
          <p:nvPr/>
        </p:nvGrpSpPr>
        <p:grpSpPr>
          <a:xfrm>
            <a:off x="5211987" y="1715437"/>
            <a:ext cx="547970" cy="540745"/>
            <a:chOff x="3491880" y="1274820"/>
            <a:chExt cx="432833" cy="432834"/>
          </a:xfrm>
        </p:grpSpPr>
        <p:sp>
          <p:nvSpPr>
            <p:cNvPr id="62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63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latin typeface="Roboto Light"/>
              </a:endParaRPr>
            </a:p>
          </p:txBody>
        </p:sp>
      </p:grpSp>
      <p:grpSp>
        <p:nvGrpSpPr>
          <p:cNvPr id="64" name="组合 63"/>
          <p:cNvGrpSpPr/>
          <p:nvPr/>
        </p:nvGrpSpPr>
        <p:grpSpPr>
          <a:xfrm>
            <a:off x="6042699" y="1709107"/>
            <a:ext cx="547970" cy="540745"/>
            <a:chOff x="4139952" y="1274820"/>
            <a:chExt cx="432833" cy="432834"/>
          </a:xfrm>
        </p:grpSpPr>
        <p:sp>
          <p:nvSpPr>
            <p:cNvPr id="65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66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latin typeface="Roboto Light"/>
              </a:endParaRPr>
            </a:p>
          </p:txBody>
        </p:sp>
      </p:grpSp>
      <p:sp>
        <p:nvSpPr>
          <p:cNvPr id="29" name="矩形 28"/>
          <p:cNvSpPr/>
          <p:nvPr/>
        </p:nvSpPr>
        <p:spPr>
          <a:xfrm>
            <a:off x="4524489" y="4214643"/>
            <a:ext cx="13227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0070C0"/>
                </a:solidFill>
              </a:rPr>
              <a:t>Boot </a:t>
            </a:r>
            <a:r>
              <a:rPr lang="en-US" altLang="zh-CN" b="1" dirty="0" err="1">
                <a:solidFill>
                  <a:srgbClr val="0070C0"/>
                </a:solidFill>
              </a:rPr>
              <a:t>Mesg</a:t>
            </a:r>
            <a:endParaRPr lang="zh-CN" altLang="en-US" b="1" dirty="0">
              <a:solidFill>
                <a:srgbClr val="0070C0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BB8CB89-6923-FB98-60FD-800416B66381}"/>
              </a:ext>
            </a:extLst>
          </p:cNvPr>
          <p:cNvSpPr/>
          <p:nvPr/>
        </p:nvSpPr>
        <p:spPr>
          <a:xfrm>
            <a:off x="4524489" y="4627909"/>
            <a:ext cx="15520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0070C0"/>
                </a:solidFill>
              </a:rPr>
              <a:t>Timing </a:t>
            </a:r>
            <a:r>
              <a:rPr lang="en-US" altLang="zh-CN" b="1" dirty="0" err="1">
                <a:solidFill>
                  <a:srgbClr val="0070C0"/>
                </a:solidFill>
              </a:rPr>
              <a:t>Mesg</a:t>
            </a:r>
            <a:endParaRPr lang="zh-CN" altLang="en-US" b="1" dirty="0">
              <a:solidFill>
                <a:srgbClr val="0070C0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60A32E5-F0A5-536F-D29D-57E39EDB27FC}"/>
              </a:ext>
            </a:extLst>
          </p:cNvPr>
          <p:cNvSpPr/>
          <p:nvPr/>
        </p:nvSpPr>
        <p:spPr>
          <a:xfrm>
            <a:off x="4552425" y="5116815"/>
            <a:ext cx="11256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70C0"/>
                </a:solidFill>
              </a:rPr>
              <a:t>bootprof</a:t>
            </a:r>
            <a:endParaRPr lang="zh-CN" altLang="en-US" b="1" dirty="0">
              <a:solidFill>
                <a:srgbClr val="0070C0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EC19DF1-B83F-8842-78E1-C297875675D8}"/>
              </a:ext>
            </a:extLst>
          </p:cNvPr>
          <p:cNvSpPr/>
          <p:nvPr/>
        </p:nvSpPr>
        <p:spPr>
          <a:xfrm>
            <a:off x="4517873" y="5530081"/>
            <a:ext cx="18726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0070C0"/>
                </a:solidFill>
              </a:rPr>
              <a:t>Perfetto/</a:t>
            </a:r>
            <a:r>
              <a:rPr lang="en-US" altLang="zh-CN" b="1" dirty="0" err="1">
                <a:solidFill>
                  <a:srgbClr val="0070C0"/>
                </a:solidFill>
              </a:rPr>
              <a:t>Systrace</a:t>
            </a:r>
            <a:endParaRPr lang="zh-CN" altLang="en-US" b="1" dirty="0">
              <a:solidFill>
                <a:srgbClr val="0070C0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28EB644-F930-E9C7-F120-F60286F1D917}"/>
              </a:ext>
            </a:extLst>
          </p:cNvPr>
          <p:cNvSpPr/>
          <p:nvPr/>
        </p:nvSpPr>
        <p:spPr>
          <a:xfrm>
            <a:off x="4552425" y="5899413"/>
            <a:ext cx="17844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0070C0"/>
                </a:solidFill>
              </a:rPr>
              <a:t>Android Profile</a:t>
            </a:r>
            <a:endParaRPr lang="zh-CN" altLang="en-US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6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000"/>
                            </p:stCondLst>
                            <p:childTnLst>
                              <p:par>
                                <p:cTn id="2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0" y="212519"/>
            <a:ext cx="352425" cy="400050"/>
          </a:xfrm>
          <a:prstGeom prst="rect">
            <a:avLst/>
          </a:prstGeom>
          <a:solidFill>
            <a:srgbClr val="5B9BD5">
              <a:lumMod val="50000"/>
            </a:srgbClr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endParaRPr lang="zh-CN" altLang="en-US" kern="0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7" name="矩形 16"/>
          <p:cNvSpPr>
            <a:spLocks noChangeArrowheads="1"/>
          </p:cNvSpPr>
          <p:nvPr/>
        </p:nvSpPr>
        <p:spPr bwMode="auto">
          <a:xfrm>
            <a:off x="419100" y="212519"/>
            <a:ext cx="123825" cy="400050"/>
          </a:xfrm>
          <a:prstGeom prst="rect">
            <a:avLst/>
          </a:prstGeom>
          <a:solidFill>
            <a:srgbClr val="7F7F7F"/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1" name="标题 1"/>
          <p:cNvSpPr txBox="1"/>
          <p:nvPr/>
        </p:nvSpPr>
        <p:spPr>
          <a:xfrm>
            <a:off x="609600" y="224766"/>
            <a:ext cx="9710057" cy="375557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en-US" altLang="zh-CN" sz="2400" dirty="0" err="1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Bootchart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思源黑体" panose="020B0500000000000000" pitchFamily="34" charset="-122"/>
              <a:ea typeface="思源黑体" panose="020B0500000000000000" pitchFamily="34" charset="-122"/>
              <a:cs typeface="+mj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42925" y="847030"/>
            <a:ext cx="79914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Bootchart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是一个开源工具，用可视化的方式对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GUN/Linux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的开机启动过程进行性能分析，包括资源的使用，如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CPU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，磁盘等，各进程的执行时间等信息。根据分析结果，确定系统启动的性能瓶颈，制定相应的优化策略。</a:t>
            </a:r>
          </a:p>
          <a:p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Android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当中，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Bootchart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已经默认集成在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Init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当中。</a:t>
            </a:r>
          </a:p>
          <a:p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1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、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adb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 shell ‘touch /data/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bootchart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/enabled’”</a:t>
            </a:r>
          </a:p>
          <a:p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2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、重启，重启后生成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bootchart</a:t>
            </a:r>
            <a:endParaRPr lang="en-US" altLang="zh-CN" sz="1400" dirty="0"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3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、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tar -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zcf</a:t>
            </a:r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 bootchart.tgz *</a:t>
            </a:r>
          </a:p>
          <a:p>
            <a:r>
              <a: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4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、用 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pybootchartgui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自动分析转成</a:t>
            </a:r>
            <a:r>
              <a:rPr lang="en-US" altLang="zh-CN" sz="1400" dirty="0" err="1">
                <a:latin typeface="思源黑体" panose="020B0500000000000000" pitchFamily="34" charset="-122"/>
                <a:ea typeface="思源黑体" panose="020B0500000000000000" pitchFamily="34" charset="-122"/>
              </a:rPr>
              <a:t>png</a:t>
            </a:r>
            <a:r>
              <a:rPr lang="zh-CN" altLang="en-US" sz="1400" dirty="0">
                <a:latin typeface="思源黑体" panose="020B0500000000000000" pitchFamily="34" charset="-122"/>
                <a:ea typeface="思源黑体" panose="020B0500000000000000" pitchFamily="34" charset="-122"/>
              </a:rPr>
              <a:t>。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7E25A3A-8DF5-2875-7D9D-83A5F836CC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25" y="2731134"/>
            <a:ext cx="8244408" cy="3564928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0" y="212519"/>
            <a:ext cx="352425" cy="400050"/>
          </a:xfrm>
          <a:prstGeom prst="rect">
            <a:avLst/>
          </a:prstGeom>
          <a:solidFill>
            <a:srgbClr val="5B9BD5">
              <a:lumMod val="50000"/>
            </a:srgbClr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endParaRPr lang="zh-CN" altLang="en-US" kern="0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7" name="矩形 16"/>
          <p:cNvSpPr>
            <a:spLocks noChangeArrowheads="1"/>
          </p:cNvSpPr>
          <p:nvPr/>
        </p:nvSpPr>
        <p:spPr bwMode="auto">
          <a:xfrm>
            <a:off x="419100" y="212519"/>
            <a:ext cx="123825" cy="400050"/>
          </a:xfrm>
          <a:prstGeom prst="rect">
            <a:avLst/>
          </a:prstGeom>
          <a:solidFill>
            <a:srgbClr val="7F7F7F"/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1" name="标题 1"/>
          <p:cNvSpPr txBox="1"/>
          <p:nvPr/>
        </p:nvSpPr>
        <p:spPr>
          <a:xfrm>
            <a:off x="609600" y="224766"/>
            <a:ext cx="9710057" cy="375557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en-US" altLang="zh-CN" sz="2400" dirty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Boot </a:t>
            </a:r>
            <a:r>
              <a:rPr lang="en-US" altLang="zh-CN" sz="2400" dirty="0" err="1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Mesg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思源黑体" panose="020B0500000000000000" pitchFamily="34" charset="-122"/>
              <a:ea typeface="思源黑体" panose="020B0500000000000000" pitchFamily="34" charset="-122"/>
              <a:cs typeface="+mj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600" y="877510"/>
            <a:ext cx="35942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logcat -b events | grep boot</a:t>
            </a:r>
            <a:r>
              <a:rPr lang="zh-CN" altLang="en-US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查看</a:t>
            </a:r>
            <a:r>
              <a:rPr lang="en-US" altLang="zh-CN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events</a:t>
            </a:r>
            <a:r>
              <a:rPr lang="zh-CN" altLang="en-US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数据</a:t>
            </a:r>
            <a:endParaRPr lang="en-US" altLang="zh-CN" sz="140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4FB11E2D-182F-95EC-A0CF-B11CE76EA6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457514"/>
              </p:ext>
            </p:extLst>
          </p:nvPr>
        </p:nvGraphicFramePr>
        <p:xfrm>
          <a:off x="708720" y="1317694"/>
          <a:ext cx="6530280" cy="261422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30834">
                  <a:extLst>
                    <a:ext uri="{9D8B030D-6E8A-4147-A177-3AD203B41FA5}">
                      <a16:colId xmlns:a16="http://schemas.microsoft.com/office/drawing/2014/main" val="3692591734"/>
                    </a:ext>
                  </a:extLst>
                </a:gridCol>
                <a:gridCol w="1370805">
                  <a:extLst>
                    <a:ext uri="{9D8B030D-6E8A-4147-A177-3AD203B41FA5}">
                      <a16:colId xmlns:a16="http://schemas.microsoft.com/office/drawing/2014/main" val="427564963"/>
                    </a:ext>
                  </a:extLst>
                </a:gridCol>
                <a:gridCol w="2628641">
                  <a:extLst>
                    <a:ext uri="{9D8B030D-6E8A-4147-A177-3AD203B41FA5}">
                      <a16:colId xmlns:a16="http://schemas.microsoft.com/office/drawing/2014/main" val="1390480368"/>
                    </a:ext>
                  </a:extLst>
                </a:gridCol>
              </a:tblGrid>
              <a:tr h="174282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000" kern="100">
                          <a:effectLst/>
                        </a:rPr>
                        <a:t>启动阶段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000" kern="100">
                          <a:effectLst/>
                        </a:rPr>
                        <a:t>Android O(ms)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000" kern="100">
                          <a:effectLst/>
                        </a:rPr>
                        <a:t>说明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06486464"/>
                  </a:ext>
                </a:extLst>
              </a:tr>
              <a:tr h="348563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000" kern="100" dirty="0" err="1">
                          <a:effectLst/>
                        </a:rPr>
                        <a:t>boot_progress_start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000" kern="100">
                          <a:effectLst/>
                        </a:rPr>
                        <a:t>12599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000" kern="100">
                          <a:effectLst/>
                        </a:rPr>
                        <a:t>Linux Kernel</a:t>
                      </a:r>
                      <a:r>
                        <a:rPr lang="zh-CN" sz="1000" kern="100">
                          <a:effectLst/>
                        </a:rPr>
                        <a:t>启动到</a:t>
                      </a:r>
                      <a:r>
                        <a:rPr lang="en-US" sz="1000" kern="100">
                          <a:effectLst/>
                        </a:rPr>
                        <a:t>Zygote</a:t>
                      </a:r>
                      <a:r>
                        <a:rPr lang="zh-CN" sz="1000" kern="100">
                          <a:effectLst/>
                        </a:rPr>
                        <a:t>进程启动的时间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3807373"/>
                  </a:ext>
                </a:extLst>
              </a:tr>
              <a:tr h="174282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000" kern="100">
                          <a:effectLst/>
                        </a:rPr>
                        <a:t>boot_progress_system_run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000" kern="100">
                          <a:effectLst/>
                        </a:rPr>
                        <a:t>16433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000" kern="100">
                          <a:effectLst/>
                        </a:rPr>
                        <a:t>SystemServer</a:t>
                      </a:r>
                      <a:r>
                        <a:rPr lang="zh-CN" sz="1000" kern="100">
                          <a:effectLst/>
                        </a:rPr>
                        <a:t>进程启动时间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30969542"/>
                  </a:ext>
                </a:extLst>
              </a:tr>
              <a:tr h="174282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000" kern="100">
                          <a:effectLst/>
                        </a:rPr>
                        <a:t>boot_progress_pms_start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000" kern="100">
                          <a:effectLst/>
                        </a:rPr>
                        <a:t>17167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000" kern="100">
                          <a:effectLst/>
                        </a:rPr>
                        <a:t>PMS</a:t>
                      </a:r>
                      <a:r>
                        <a:rPr lang="zh-CN" sz="1000" kern="100">
                          <a:effectLst/>
                        </a:rPr>
                        <a:t>启动扫描的时间点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5062541"/>
                  </a:ext>
                </a:extLst>
              </a:tr>
              <a:tr h="348563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000" kern="100">
                          <a:effectLst/>
                        </a:rPr>
                        <a:t>boot_progress_pms_system_scan_start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000" kern="100">
                          <a:effectLst/>
                        </a:rPr>
                        <a:t>17490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000" kern="100">
                          <a:effectLst/>
                        </a:rPr>
                        <a:t>PMS</a:t>
                      </a:r>
                      <a:r>
                        <a:rPr lang="zh-CN" sz="1000" kern="100">
                          <a:effectLst/>
                        </a:rPr>
                        <a:t>启动扫描的时间点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04325761"/>
                  </a:ext>
                </a:extLst>
              </a:tr>
              <a:tr h="348563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000" kern="100">
                          <a:effectLst/>
                        </a:rPr>
                        <a:t>boot_progress_pms_data_scan_start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000" kern="100">
                          <a:effectLst/>
                        </a:rPr>
                        <a:t>18805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000" kern="100">
                          <a:effectLst/>
                        </a:rPr>
                        <a:t>PMS</a:t>
                      </a:r>
                      <a:r>
                        <a:rPr lang="zh-CN" sz="1000" kern="100">
                          <a:effectLst/>
                        </a:rPr>
                        <a:t>扫描</a:t>
                      </a:r>
                      <a:r>
                        <a:rPr lang="en-US" sz="1000" kern="100">
                          <a:effectLst/>
                        </a:rPr>
                        <a:t>data</a:t>
                      </a:r>
                      <a:r>
                        <a:rPr lang="zh-CN" sz="1000" kern="100">
                          <a:effectLst/>
                        </a:rPr>
                        <a:t>数据分区的时间点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40487606"/>
                  </a:ext>
                </a:extLst>
              </a:tr>
              <a:tr h="174282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000" kern="100">
                          <a:effectLst/>
                        </a:rPr>
                        <a:t>boot_progress_pms_scan_end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000" kern="100">
                          <a:effectLst/>
                        </a:rPr>
                        <a:t>18809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000" kern="100">
                          <a:effectLst/>
                        </a:rPr>
                        <a:t>PMS</a:t>
                      </a:r>
                      <a:r>
                        <a:rPr lang="zh-CN" sz="1000" kern="100">
                          <a:effectLst/>
                        </a:rPr>
                        <a:t>扫描结束的时间点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68823420"/>
                  </a:ext>
                </a:extLst>
              </a:tr>
              <a:tr h="174282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000" kern="100">
                          <a:effectLst/>
                        </a:rPr>
                        <a:t>boot_progress_pms_ready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000" kern="100">
                          <a:effectLst/>
                        </a:rPr>
                        <a:t>19017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000" kern="100">
                          <a:effectLst/>
                        </a:rPr>
                        <a:t>PMS</a:t>
                      </a:r>
                      <a:r>
                        <a:rPr lang="zh-CN" sz="1000" kern="100">
                          <a:effectLst/>
                        </a:rPr>
                        <a:t>启动扫描结束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04741252"/>
                  </a:ext>
                </a:extLst>
              </a:tr>
              <a:tr h="174282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000" kern="100">
                          <a:effectLst/>
                        </a:rPr>
                        <a:t>boot_progress_ams_ready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000" kern="100">
                          <a:effectLst/>
                        </a:rPr>
                        <a:t>21708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000" kern="100">
                          <a:effectLst/>
                        </a:rPr>
                        <a:t>AMS</a:t>
                      </a:r>
                      <a:r>
                        <a:rPr lang="zh-CN" sz="1000" kern="100">
                          <a:effectLst/>
                        </a:rPr>
                        <a:t>服务启动完成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44429333"/>
                  </a:ext>
                </a:extLst>
              </a:tr>
              <a:tr h="348563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000" kern="100">
                          <a:effectLst/>
                        </a:rPr>
                        <a:t>boot_progress_enable_screen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kern="100">
                          <a:effectLst/>
                        </a:rPr>
                        <a:t>23327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000" kern="100">
                          <a:effectLst/>
                        </a:rPr>
                        <a:t>系统服务启动完成，通知</a:t>
                      </a:r>
                      <a:r>
                        <a:rPr lang="en-US" sz="1000" kern="100">
                          <a:effectLst/>
                        </a:rPr>
                        <a:t>WMS</a:t>
                      </a:r>
                      <a:r>
                        <a:rPr lang="zh-CN" sz="1000" kern="100">
                          <a:effectLst/>
                        </a:rPr>
                        <a:t>打开触摸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28798334"/>
                  </a:ext>
                </a:extLst>
              </a:tr>
              <a:tr h="174282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000" kern="100">
                          <a:effectLst/>
                        </a:rPr>
                        <a:t>sf_stop_bootanim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000" kern="100">
                          <a:effectLst/>
                        </a:rPr>
                        <a:t>26683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000" kern="100" dirty="0">
                          <a:effectLst/>
                        </a:rPr>
                        <a:t>关闭启动</a:t>
                      </a:r>
                      <a:r>
                        <a:rPr lang="en-US" sz="1000" kern="100" dirty="0">
                          <a:effectLst/>
                        </a:rPr>
                        <a:t>android</a:t>
                      </a:r>
                      <a:r>
                        <a:rPr lang="zh-CN" sz="1000" kern="100" dirty="0">
                          <a:effectLst/>
                        </a:rPr>
                        <a:t>开机动画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22744788"/>
                  </a:ext>
                </a:extLst>
              </a:tr>
            </a:tbl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B8C2DDB5-F069-13F7-EDF6-A3475CA60A1D}"/>
              </a:ext>
            </a:extLst>
          </p:cNvPr>
          <p:cNvSpPr txBox="1"/>
          <p:nvPr/>
        </p:nvSpPr>
        <p:spPr>
          <a:xfrm>
            <a:off x="708720" y="4310737"/>
            <a:ext cx="56555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这里的计时数据指的是从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kernel</a:t>
            </a:r>
            <a:r>
              <a:rPr lang="zh-CN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启动到当前阶段的耗时数据</a:t>
            </a:r>
            <a:endParaRPr lang="zh-CN" altLang="en-US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C14C8-7764-8C86-3B4F-718DB16B2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2AEDBC7B-0966-CEB3-3AA1-523377C1FF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2519"/>
            <a:ext cx="352425" cy="400050"/>
          </a:xfrm>
          <a:prstGeom prst="rect">
            <a:avLst/>
          </a:prstGeom>
          <a:solidFill>
            <a:srgbClr val="5B9BD5">
              <a:lumMod val="50000"/>
            </a:srgbClr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endParaRPr lang="zh-CN" altLang="en-US" kern="0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7400A73-B8EB-03D8-F37D-B5BDC1EB20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" y="212519"/>
            <a:ext cx="123825" cy="400050"/>
          </a:xfrm>
          <a:prstGeom prst="rect">
            <a:avLst/>
          </a:prstGeom>
          <a:solidFill>
            <a:srgbClr val="7F7F7F"/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FB0584E1-EBFA-E0E8-6111-7144769DF689}"/>
              </a:ext>
            </a:extLst>
          </p:cNvPr>
          <p:cNvSpPr txBox="1"/>
          <p:nvPr/>
        </p:nvSpPr>
        <p:spPr>
          <a:xfrm>
            <a:off x="609600" y="224766"/>
            <a:ext cx="9710057" cy="375557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en-US" altLang="zh-CN" sz="2400" dirty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Timing </a:t>
            </a:r>
            <a:r>
              <a:rPr lang="en-US" altLang="zh-CN" sz="2400" dirty="0" err="1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Mesg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思源黑体" panose="020B0500000000000000" pitchFamily="34" charset="-122"/>
              <a:ea typeface="思源黑体" panose="020B0500000000000000" pitchFamily="34" charset="-122"/>
              <a:cs typeface="+mj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11E6742-2771-6B79-71E8-4DED93A27A18}"/>
              </a:ext>
            </a:extLst>
          </p:cNvPr>
          <p:cNvSpPr txBox="1"/>
          <p:nvPr/>
        </p:nvSpPr>
        <p:spPr>
          <a:xfrm>
            <a:off x="609600" y="877510"/>
            <a:ext cx="34079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logcat | grep Timing </a:t>
            </a:r>
            <a:r>
              <a:rPr lang="zh-CN" altLang="en-US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查看各组件启动耗时</a:t>
            </a:r>
            <a:endParaRPr lang="en-US" altLang="zh-CN" sz="140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7F8E069-390D-5A7B-3BAB-6698B15F73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" y="1462474"/>
            <a:ext cx="8765068" cy="1723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8409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B0ED3-3B6F-7400-9F2F-A58AB6588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B148AB80-50AB-28D2-B4D6-77D967E2C0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2519"/>
            <a:ext cx="352425" cy="400050"/>
          </a:xfrm>
          <a:prstGeom prst="rect">
            <a:avLst/>
          </a:prstGeom>
          <a:solidFill>
            <a:srgbClr val="5B9BD5">
              <a:lumMod val="50000"/>
            </a:srgbClr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endParaRPr lang="zh-CN" altLang="en-US" kern="0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1CACBE9-6CE7-1523-7158-B6873444E6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" y="212519"/>
            <a:ext cx="123825" cy="400050"/>
          </a:xfrm>
          <a:prstGeom prst="rect">
            <a:avLst/>
          </a:prstGeom>
          <a:solidFill>
            <a:srgbClr val="7F7F7F"/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D74738EC-A1E5-E210-C766-A94811DFF1AC}"/>
              </a:ext>
            </a:extLst>
          </p:cNvPr>
          <p:cNvSpPr txBox="1"/>
          <p:nvPr/>
        </p:nvSpPr>
        <p:spPr>
          <a:xfrm>
            <a:off x="609600" y="224766"/>
            <a:ext cx="9710057" cy="375557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en-US" altLang="zh-CN" sz="2400" dirty="0" err="1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bootprof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思源黑体" panose="020B0500000000000000" pitchFamily="34" charset="-122"/>
              <a:ea typeface="思源黑体" panose="020B0500000000000000" pitchFamily="34" charset="-122"/>
              <a:cs typeface="+mj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AB82D3-5CD2-8CA6-90C0-33E05432CAB6}"/>
              </a:ext>
            </a:extLst>
          </p:cNvPr>
          <p:cNvSpPr txBox="1"/>
          <p:nvPr/>
        </p:nvSpPr>
        <p:spPr>
          <a:xfrm>
            <a:off x="609600" y="877510"/>
            <a:ext cx="45049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Bootprof</a:t>
            </a:r>
            <a:r>
              <a:rPr lang="zh-CN" altLang="en-US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是</a:t>
            </a:r>
            <a:r>
              <a:rPr lang="en-US" altLang="zh-CN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ATC</a:t>
            </a:r>
            <a:r>
              <a:rPr lang="zh-CN" altLang="en-US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特有的用户记录早期各阶段耗时机制。</a:t>
            </a:r>
            <a:endParaRPr lang="en-US" altLang="zh-CN" sz="140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r>
              <a:rPr lang="en-US" altLang="zh-CN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cat /proc/</a:t>
            </a:r>
            <a:r>
              <a:rPr lang="en-US" altLang="zh-CN" sz="140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bootprof</a:t>
            </a:r>
            <a:r>
              <a:rPr lang="zh-CN" altLang="en-US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查看。</a:t>
            </a:r>
            <a:endParaRPr lang="en-US" altLang="zh-CN" sz="140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30428A3-C60B-1DB8-7D6E-468E32F27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772115"/>
            <a:ext cx="8457143" cy="15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8166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C225E-5AB4-E0F2-65A6-90FC2414F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0A58059D-E1AA-71ED-FDF4-ABAD5BAA8E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2519"/>
            <a:ext cx="352425" cy="400050"/>
          </a:xfrm>
          <a:prstGeom prst="rect">
            <a:avLst/>
          </a:prstGeom>
          <a:solidFill>
            <a:srgbClr val="5B9BD5">
              <a:lumMod val="50000"/>
            </a:srgbClr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endParaRPr lang="zh-CN" altLang="en-US" kern="0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1AAB12A-6B8F-5A4B-0E41-0CBA08E990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" y="212519"/>
            <a:ext cx="123825" cy="400050"/>
          </a:xfrm>
          <a:prstGeom prst="rect">
            <a:avLst/>
          </a:prstGeom>
          <a:solidFill>
            <a:srgbClr val="7F7F7F"/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CF8A9103-E51E-DA86-A105-DBEB6BA31E22}"/>
              </a:ext>
            </a:extLst>
          </p:cNvPr>
          <p:cNvSpPr txBox="1"/>
          <p:nvPr/>
        </p:nvSpPr>
        <p:spPr>
          <a:xfrm>
            <a:off x="609600" y="224766"/>
            <a:ext cx="9710057" cy="375557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en-US" altLang="zh-CN" sz="2400" dirty="0" err="1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Systrace</a:t>
            </a:r>
            <a:r>
              <a:rPr lang="en-US" altLang="zh-CN" sz="2400" dirty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/Perfetto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思源黑体" panose="020B0500000000000000" pitchFamily="34" charset="-122"/>
              <a:ea typeface="思源黑体" panose="020B0500000000000000" pitchFamily="34" charset="-122"/>
              <a:cs typeface="+mj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246DA47-937C-97C7-BA8F-96CC69C343C7}"/>
              </a:ext>
            </a:extLst>
          </p:cNvPr>
          <p:cNvSpPr txBox="1"/>
          <p:nvPr/>
        </p:nvSpPr>
        <p:spPr>
          <a:xfrm>
            <a:off x="609600" y="877510"/>
            <a:ext cx="812292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Systrace</a:t>
            </a:r>
            <a:r>
              <a:rPr lang="en-US" altLang="zh-CN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/</a:t>
            </a:r>
            <a:r>
              <a:rPr lang="en-US" altLang="zh-CN" sz="140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perfetto</a:t>
            </a:r>
            <a:r>
              <a:rPr lang="zh-CN" altLang="en-US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可追踪系统关键进程（像 </a:t>
            </a:r>
            <a:r>
              <a:rPr lang="en-US" altLang="zh-CN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Init</a:t>
            </a:r>
            <a:r>
              <a:rPr lang="zh-CN" altLang="en-US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、</a:t>
            </a:r>
            <a:r>
              <a:rPr lang="en-US" altLang="zh-CN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Zygote</a:t>
            </a:r>
            <a:r>
              <a:rPr lang="zh-CN" altLang="en-US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、</a:t>
            </a:r>
            <a:r>
              <a:rPr lang="en-US" altLang="zh-CN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System Server</a:t>
            </a:r>
            <a:r>
              <a:rPr lang="zh-CN" altLang="en-US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）的执行时序，可视化 </a:t>
            </a:r>
            <a:r>
              <a:rPr lang="en-US" altLang="zh-CN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CPU</a:t>
            </a:r>
            <a:r>
              <a:rPr lang="zh-CN" altLang="en-US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、内存、</a:t>
            </a:r>
            <a:r>
              <a:rPr lang="en-US" altLang="zh-CN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IO </a:t>
            </a:r>
            <a:r>
              <a:rPr lang="zh-CN" altLang="en-US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等资源占用，可从多维度进行数据整合分析。可用于分析</a:t>
            </a:r>
            <a:r>
              <a:rPr lang="en-US" altLang="zh-CN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CPU </a:t>
            </a:r>
            <a:r>
              <a:rPr lang="zh-CN" altLang="en-US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调度延迟、进程阻塞、资源竞争等。</a:t>
            </a:r>
            <a:endParaRPr lang="en-US" altLang="zh-CN" sz="140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62392E6-338D-F977-D7F9-D9BBD3AA180D}"/>
              </a:ext>
            </a:extLst>
          </p:cNvPr>
          <p:cNvSpPr txBox="1"/>
          <p:nvPr/>
        </p:nvSpPr>
        <p:spPr>
          <a:xfrm>
            <a:off x="609600" y="1941178"/>
            <a:ext cx="8122920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如果要抓取开机阶段的</a:t>
            </a:r>
            <a:r>
              <a:rPr lang="en-US" altLang="zh-CN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trace</a:t>
            </a:r>
            <a:r>
              <a:rPr lang="zh-CN" altLang="en-US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，需要编辑</a:t>
            </a:r>
            <a:r>
              <a:rPr lang="en-US" altLang="zh-CN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/system/bin/</a:t>
            </a:r>
            <a:r>
              <a:rPr lang="en-US" altLang="zh-CN" sz="140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atrace</a:t>
            </a:r>
            <a:r>
              <a:rPr lang="zh-CN" altLang="en-US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文件：</a:t>
            </a:r>
            <a:endParaRPr lang="en-US" altLang="zh-CN" sz="140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r>
              <a:rPr lang="en-US" altLang="zh-CN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service </a:t>
            </a:r>
            <a:r>
              <a:rPr lang="en-US" altLang="zh-CN" sz="140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boottrace</a:t>
            </a:r>
            <a:r>
              <a:rPr lang="en-US" altLang="zh-CN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 /system/bin/</a:t>
            </a:r>
            <a:r>
              <a:rPr lang="en-US" altLang="zh-CN" sz="140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atrace</a:t>
            </a:r>
            <a:r>
              <a:rPr lang="en-US" altLang="zh-CN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 --</a:t>
            </a:r>
            <a:r>
              <a:rPr lang="en-US" altLang="zh-CN" sz="140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async_start</a:t>
            </a:r>
            <a:r>
              <a:rPr lang="en-US" altLang="zh-CN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 -b 30720 </a:t>
            </a:r>
            <a:r>
              <a:rPr lang="en-US" altLang="zh-CN" sz="140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gfx</a:t>
            </a:r>
            <a:r>
              <a:rPr lang="en-US" altLang="zh-CN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 input view </a:t>
            </a:r>
            <a:r>
              <a:rPr lang="en-US" altLang="zh-CN" sz="140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webview</a:t>
            </a:r>
            <a:r>
              <a:rPr lang="en-US" altLang="zh-CN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wm</a:t>
            </a:r>
            <a:r>
              <a:rPr lang="en-US" altLang="zh-CN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 am </a:t>
            </a:r>
            <a:r>
              <a:rPr lang="en-US" altLang="zh-CN" sz="140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sm</a:t>
            </a:r>
            <a:r>
              <a:rPr lang="en-US" altLang="zh-CN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 audio video </a:t>
            </a:r>
            <a:r>
              <a:rPr lang="en-US" altLang="zh-CN" sz="140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binder_lock</a:t>
            </a:r>
            <a:r>
              <a:rPr lang="en-US" altLang="zh-CN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binder_driver</a:t>
            </a:r>
            <a:r>
              <a:rPr lang="en-US" altLang="zh-CN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 camera </a:t>
            </a:r>
            <a:r>
              <a:rPr lang="en-US" altLang="zh-CN" sz="140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hal</a:t>
            </a:r>
            <a:r>
              <a:rPr lang="en-US" altLang="zh-CN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 res </a:t>
            </a:r>
            <a:r>
              <a:rPr lang="en-US" altLang="zh-CN" sz="140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dalvik</a:t>
            </a:r>
            <a:r>
              <a:rPr lang="en-US" altLang="zh-CN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rs</a:t>
            </a:r>
            <a:r>
              <a:rPr lang="en-US" altLang="zh-CN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 bionic power pm ss database network </a:t>
            </a:r>
            <a:r>
              <a:rPr lang="en-US" altLang="zh-CN" sz="140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adb</a:t>
            </a:r>
            <a:r>
              <a:rPr lang="en-US" altLang="zh-CN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 vibrator </a:t>
            </a:r>
            <a:r>
              <a:rPr lang="en-US" altLang="zh-CN" sz="140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aidl</a:t>
            </a:r>
            <a:r>
              <a:rPr lang="en-US" altLang="zh-CN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 sched  </a:t>
            </a:r>
          </a:p>
          <a:p>
            <a:r>
              <a:rPr lang="en-US" altLang="zh-CN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    disabled</a:t>
            </a:r>
          </a:p>
          <a:p>
            <a:r>
              <a:rPr lang="en-US" altLang="zh-CN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    </a:t>
            </a:r>
            <a:r>
              <a:rPr lang="en-US" altLang="zh-CN" sz="140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oneshot</a:t>
            </a:r>
            <a:endParaRPr lang="en-US" altLang="zh-CN" sz="140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endParaRPr lang="en-US" altLang="zh-CN" sz="140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r>
              <a:rPr lang="zh-CN" altLang="en-US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打开抓取 </a:t>
            </a:r>
            <a:r>
              <a:rPr lang="en-US" altLang="zh-CN" sz="140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boottrace</a:t>
            </a:r>
            <a:r>
              <a:rPr lang="en-US" altLang="zh-CN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 </a:t>
            </a:r>
            <a:r>
              <a:rPr lang="zh-CN" altLang="en-US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的属性开关：</a:t>
            </a:r>
            <a:endParaRPr lang="en-US" altLang="zh-CN" sz="140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r>
              <a:rPr lang="en-US" altLang="zh-CN" sz="140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setprop</a:t>
            </a:r>
            <a:r>
              <a:rPr lang="en-US" altLang="zh-CN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persist.debug.atrace.boottrace</a:t>
            </a:r>
            <a:r>
              <a:rPr lang="en-US" altLang="zh-CN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 1</a:t>
            </a:r>
          </a:p>
          <a:p>
            <a:endParaRPr lang="en-US" altLang="zh-CN" sz="140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r>
              <a:rPr lang="zh-CN" altLang="en-US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启动完成后：</a:t>
            </a:r>
            <a:endParaRPr lang="en-US" altLang="zh-CN" sz="140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r>
              <a:rPr lang="en-US" altLang="zh-CN" sz="140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setprop</a:t>
            </a:r>
            <a:r>
              <a:rPr lang="en-US" altLang="zh-CN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persist.debug.atrace.boottrace</a:t>
            </a:r>
            <a:r>
              <a:rPr lang="en-US" altLang="zh-CN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 0</a:t>
            </a:r>
          </a:p>
          <a:p>
            <a:endParaRPr lang="en-US" altLang="zh-CN" sz="140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r>
              <a:rPr lang="zh-CN" altLang="en-US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生成和拉取 </a:t>
            </a:r>
            <a:r>
              <a:rPr lang="en-US" altLang="zh-CN" sz="140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boottrace</a:t>
            </a:r>
            <a:r>
              <a:rPr lang="en-US" altLang="zh-CN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 </a:t>
            </a:r>
            <a:r>
              <a:rPr lang="zh-CN" altLang="en-US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文件</a:t>
            </a:r>
            <a:r>
              <a:rPr lang="en-US" altLang="zh-CN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:</a:t>
            </a:r>
          </a:p>
          <a:p>
            <a:r>
              <a:rPr lang="en-US" altLang="zh-CN" sz="140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adb</a:t>
            </a:r>
            <a:r>
              <a:rPr lang="en-US" altLang="zh-CN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 shell </a:t>
            </a:r>
            <a:r>
              <a:rPr lang="en-US" altLang="zh-CN" sz="140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atrace</a:t>
            </a:r>
            <a:r>
              <a:rPr lang="en-US" altLang="zh-CN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 --</a:t>
            </a:r>
            <a:r>
              <a:rPr lang="en-US" altLang="zh-CN" sz="140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async_stop</a:t>
            </a:r>
            <a:r>
              <a:rPr lang="en-US" altLang="zh-CN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 -z -c -o /data/local/</a:t>
            </a:r>
            <a:r>
              <a:rPr lang="en-US" altLang="zh-CN" sz="140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tmp</a:t>
            </a:r>
            <a:r>
              <a:rPr lang="en-US" altLang="zh-CN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/</a:t>
            </a:r>
            <a:r>
              <a:rPr lang="en-US" altLang="zh-CN" sz="140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boot_trace</a:t>
            </a:r>
            <a:endParaRPr lang="en-US" altLang="zh-CN" sz="140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r>
              <a:rPr lang="en-US" altLang="zh-CN" sz="140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adb</a:t>
            </a:r>
            <a:r>
              <a:rPr lang="en-US" altLang="zh-CN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  pull /data/local/</a:t>
            </a:r>
            <a:r>
              <a:rPr lang="en-US" altLang="zh-CN" sz="140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tmp</a:t>
            </a:r>
            <a:r>
              <a:rPr lang="en-US" altLang="zh-CN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/</a:t>
            </a:r>
            <a:r>
              <a:rPr lang="en-US" altLang="zh-CN" sz="140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boot_trace</a:t>
            </a:r>
            <a:endParaRPr lang="en-US" altLang="zh-CN" sz="140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15722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D95CD-C6A5-B126-5AE6-077A18119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2B9EEA1E-2948-58F2-CDBB-E4C5E389EB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2519"/>
            <a:ext cx="352425" cy="400050"/>
          </a:xfrm>
          <a:prstGeom prst="rect">
            <a:avLst/>
          </a:prstGeom>
          <a:solidFill>
            <a:srgbClr val="5B9BD5">
              <a:lumMod val="50000"/>
            </a:srgbClr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endParaRPr lang="zh-CN" altLang="en-US" kern="0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3320AC8-FBDE-5796-FBD6-32A467A75A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" y="212519"/>
            <a:ext cx="123825" cy="400050"/>
          </a:xfrm>
          <a:prstGeom prst="rect">
            <a:avLst/>
          </a:prstGeom>
          <a:solidFill>
            <a:srgbClr val="7F7F7F"/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03B58C8A-FA8C-CA74-F8CE-FC415452AA49}"/>
              </a:ext>
            </a:extLst>
          </p:cNvPr>
          <p:cNvSpPr txBox="1"/>
          <p:nvPr/>
        </p:nvSpPr>
        <p:spPr>
          <a:xfrm>
            <a:off x="609600" y="224766"/>
            <a:ext cx="9710057" cy="375557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en-US" altLang="zh-CN" sz="2400" dirty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Android Profile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思源黑体" panose="020B0500000000000000" pitchFamily="34" charset="-122"/>
              <a:ea typeface="思源黑体" panose="020B0500000000000000" pitchFamily="34" charset="-122"/>
              <a:cs typeface="+mj-cs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65FB49D-F342-5806-B8D5-42660B54A2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1043285"/>
            <a:ext cx="10866667" cy="47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27150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/>
          <p:cNvSpPr/>
          <p:nvPr/>
        </p:nvSpPr>
        <p:spPr>
          <a:xfrm>
            <a:off x="340640" y="272809"/>
            <a:ext cx="205469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3600" b="1" cap="none" spc="0" dirty="0">
                <a:ln w="9525">
                  <a:noFill/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本章小结</a:t>
            </a:r>
          </a:p>
        </p:txBody>
      </p:sp>
      <p:sp>
        <p:nvSpPr>
          <p:cNvPr id="47" name="TextBox 15"/>
          <p:cNvSpPr txBox="1"/>
          <p:nvPr/>
        </p:nvSpPr>
        <p:spPr>
          <a:xfrm>
            <a:off x="711890" y="1573816"/>
            <a:ext cx="5785337" cy="1326336"/>
          </a:xfrm>
          <a:prstGeom prst="rect">
            <a:avLst/>
          </a:prstGeom>
          <a:noFill/>
        </p:spPr>
        <p:txBody>
          <a:bodyPr wrap="square" lIns="71067" tIns="35534" rIns="71067" bIns="35534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sz="1400" dirty="0">
                <a:solidFill>
                  <a:schemeClr val="tx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       本章介绍了在定位启动过程中的性能瓶颈时，可以辅助分析的工具，可以交叉使用。</a:t>
            </a:r>
            <a:endParaRPr lang="en-US" altLang="zh-CN" sz="1400" dirty="0">
              <a:solidFill>
                <a:schemeClr val="tx1"/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r>
              <a:rPr lang="zh-CN" altLang="en-US" sz="1400" dirty="0">
                <a:solidFill>
                  <a:schemeClr val="tx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        熟练掌握这些工具，对于更好地展开启动优化是事半功倍。</a:t>
            </a:r>
            <a:endParaRPr lang="en-US" altLang="zh-CN" sz="1400" dirty="0">
              <a:solidFill>
                <a:schemeClr val="tx1"/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endParaRPr lang="zh-CN" altLang="en-US" sz="1400" dirty="0"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711890" y="1135702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  <a:ea typeface="思源黑体" panose="020B0500000000000000" pitchFamily="34" charset="-122"/>
              </a:rPr>
              <a:t>工具</a:t>
            </a:r>
            <a:endParaRPr lang="zh-CN" altLang="en-US" sz="1800" b="1" dirty="0">
              <a:solidFill>
                <a:srgbClr val="0070C0"/>
              </a:solidFill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9108771" y="5142372"/>
            <a:ext cx="3083229" cy="1715628"/>
            <a:chOff x="3909171" y="5101626"/>
            <a:chExt cx="2312422" cy="1756375"/>
          </a:xfrm>
        </p:grpSpPr>
        <p:sp>
          <p:nvSpPr>
            <p:cNvPr id="34" name="任意多边形: 形状 14"/>
            <p:cNvSpPr/>
            <p:nvPr/>
          </p:nvSpPr>
          <p:spPr>
            <a:xfrm>
              <a:off x="3909171" y="5617900"/>
              <a:ext cx="2312422" cy="1240101"/>
            </a:xfrm>
            <a:custGeom>
              <a:avLst/>
              <a:gdLst>
                <a:gd name="connsiteX0" fmla="*/ 688066 w 2750572"/>
                <a:gd name="connsiteY0" fmla="*/ 0 h 1240101"/>
                <a:gd name="connsiteX1" fmla="*/ 2062507 w 2750572"/>
                <a:gd name="connsiteY1" fmla="*/ 0 h 1240101"/>
                <a:gd name="connsiteX2" fmla="*/ 2750572 w 2750572"/>
                <a:gd name="connsiteY2" fmla="*/ 1186787 h 1240101"/>
                <a:gd name="connsiteX3" fmla="*/ 2719750 w 2750572"/>
                <a:gd name="connsiteY3" fmla="*/ 1240101 h 1240101"/>
                <a:gd name="connsiteX4" fmla="*/ 30822 w 2750572"/>
                <a:gd name="connsiteY4" fmla="*/ 1240101 h 1240101"/>
                <a:gd name="connsiteX5" fmla="*/ 0 w 2750572"/>
                <a:gd name="connsiteY5" fmla="*/ 1186787 h 1240101"/>
                <a:gd name="connsiteX6" fmla="*/ 688066 w 2750572"/>
                <a:gd name="connsiteY6" fmla="*/ 0 h 1240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50572" h="1240101">
                  <a:moveTo>
                    <a:pt x="688066" y="0"/>
                  </a:moveTo>
                  <a:lnTo>
                    <a:pt x="2062507" y="0"/>
                  </a:lnTo>
                  <a:lnTo>
                    <a:pt x="2750572" y="1186787"/>
                  </a:lnTo>
                  <a:lnTo>
                    <a:pt x="2719750" y="1240101"/>
                  </a:lnTo>
                  <a:lnTo>
                    <a:pt x="30822" y="1240101"/>
                  </a:lnTo>
                  <a:lnTo>
                    <a:pt x="0" y="1186787"/>
                  </a:lnTo>
                  <a:lnTo>
                    <a:pt x="688066" y="0"/>
                  </a:lnTo>
                  <a:close/>
                </a:path>
              </a:pathLst>
            </a:custGeom>
            <a:solidFill>
              <a:schemeClr val="accent1">
                <a:alpha val="1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5" name="Freeform 21"/>
            <p:cNvSpPr/>
            <p:nvPr/>
          </p:nvSpPr>
          <p:spPr bwMode="auto">
            <a:xfrm>
              <a:off x="4021319" y="5101626"/>
              <a:ext cx="866775" cy="1026882"/>
            </a:xfrm>
            <a:custGeom>
              <a:avLst/>
              <a:gdLst>
                <a:gd name="T0" fmla="*/ 1220 w 1627"/>
                <a:gd name="T1" fmla="*/ 0 h 1406"/>
                <a:gd name="T2" fmla="*/ 407 w 1627"/>
                <a:gd name="T3" fmla="*/ 0 h 1406"/>
                <a:gd name="T4" fmla="*/ 0 w 1627"/>
                <a:gd name="T5" fmla="*/ 702 h 1406"/>
                <a:gd name="T6" fmla="*/ 407 w 1627"/>
                <a:gd name="T7" fmla="*/ 1406 h 1406"/>
                <a:gd name="T8" fmla="*/ 1220 w 1627"/>
                <a:gd name="T9" fmla="*/ 1406 h 1406"/>
                <a:gd name="T10" fmla="*/ 1627 w 1627"/>
                <a:gd name="T11" fmla="*/ 702 h 1406"/>
                <a:gd name="T12" fmla="*/ 1220 w 1627"/>
                <a:gd name="T13" fmla="*/ 0 h 1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27" h="1406">
                  <a:moveTo>
                    <a:pt x="1220" y="0"/>
                  </a:moveTo>
                  <a:lnTo>
                    <a:pt x="407" y="0"/>
                  </a:lnTo>
                  <a:lnTo>
                    <a:pt x="0" y="702"/>
                  </a:lnTo>
                  <a:lnTo>
                    <a:pt x="407" y="1406"/>
                  </a:lnTo>
                  <a:lnTo>
                    <a:pt x="1220" y="1406"/>
                  </a:lnTo>
                  <a:lnTo>
                    <a:pt x="1627" y="702"/>
                  </a:lnTo>
                  <a:lnTo>
                    <a:pt x="1220" y="0"/>
                  </a:lnTo>
                  <a:close/>
                </a:path>
              </a:pathLst>
            </a:custGeom>
            <a:solidFill>
              <a:schemeClr val="accent1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7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2" presetClass="entr" presetSubtype="4" fill="hold" nodeType="withEffect" p14:presetBounceEnd="36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6000">
                                          <p:cBhvr additive="base">
                                            <p:cTn id="10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6000">
                                          <p:cBhvr additive="base">
                                            <p:cTn id="11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7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7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2" presetClass="entr" presetSubtype="4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0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7" grpId="0"/>
        </p:bldLst>
      </p:timing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D0ED6-BC34-F1ED-FF59-4B5491013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图片 32">
            <a:extLst>
              <a:ext uri="{FF2B5EF4-FFF2-40B4-BE49-F238E27FC236}">
                <a16:creationId xmlns:a16="http://schemas.microsoft.com/office/drawing/2014/main" id="{EC32E81B-1F8C-6C29-8E92-D83D55DE8D9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aturation sat="8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04"/>
            <a:ext cx="5234342" cy="6852592"/>
          </a:xfrm>
          <a:prstGeom prst="rect">
            <a:avLst/>
          </a:prstGeom>
        </p:spPr>
      </p:pic>
      <p:grpSp>
        <p:nvGrpSpPr>
          <p:cNvPr id="24" name="组合 23">
            <a:extLst>
              <a:ext uri="{FF2B5EF4-FFF2-40B4-BE49-F238E27FC236}">
                <a16:creationId xmlns:a16="http://schemas.microsoft.com/office/drawing/2014/main" id="{7557D615-6981-F32E-F9EA-FCA4B2BCCD8A}"/>
              </a:ext>
            </a:extLst>
          </p:cNvPr>
          <p:cNvGrpSpPr/>
          <p:nvPr/>
        </p:nvGrpSpPr>
        <p:grpSpPr>
          <a:xfrm>
            <a:off x="0" y="4060494"/>
            <a:ext cx="3028950" cy="2797506"/>
            <a:chOff x="0" y="3609283"/>
            <a:chExt cx="3097161" cy="3248717"/>
          </a:xfrm>
        </p:grpSpPr>
        <p:sp>
          <p:nvSpPr>
            <p:cNvPr id="25" name="任意多边形: 形状 35">
              <a:extLst>
                <a:ext uri="{FF2B5EF4-FFF2-40B4-BE49-F238E27FC236}">
                  <a16:creationId xmlns:a16="http://schemas.microsoft.com/office/drawing/2014/main" id="{4EAE5F48-FB1A-9D83-11FC-B6F91F4493CE}"/>
                </a:ext>
              </a:extLst>
            </p:cNvPr>
            <p:cNvSpPr/>
            <p:nvPr/>
          </p:nvSpPr>
          <p:spPr>
            <a:xfrm>
              <a:off x="0" y="3609283"/>
              <a:ext cx="3097161" cy="3248717"/>
            </a:xfrm>
            <a:custGeom>
              <a:avLst/>
              <a:gdLst>
                <a:gd name="connsiteX0" fmla="*/ 0 w 3097161"/>
                <a:gd name="connsiteY0" fmla="*/ 0 h 3248717"/>
                <a:gd name="connsiteX1" fmla="*/ 1807845 w 3097161"/>
                <a:gd name="connsiteY1" fmla="*/ 0 h 3248717"/>
                <a:gd name="connsiteX2" fmla="*/ 3097161 w 3097161"/>
                <a:gd name="connsiteY2" fmla="*/ 2230611 h 3248717"/>
                <a:gd name="connsiteX3" fmla="*/ 2508869 w 3097161"/>
                <a:gd name="connsiteY3" fmla="*/ 3248717 h 3248717"/>
                <a:gd name="connsiteX4" fmla="*/ 0 w 3097161"/>
                <a:gd name="connsiteY4" fmla="*/ 3248717 h 3248717"/>
                <a:gd name="connsiteX5" fmla="*/ 0 w 3097161"/>
                <a:gd name="connsiteY5" fmla="*/ 0 h 3248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97161" h="3248717">
                  <a:moveTo>
                    <a:pt x="0" y="0"/>
                  </a:moveTo>
                  <a:lnTo>
                    <a:pt x="1807845" y="0"/>
                  </a:lnTo>
                  <a:lnTo>
                    <a:pt x="3097161" y="2230611"/>
                  </a:lnTo>
                  <a:lnTo>
                    <a:pt x="2508869" y="3248717"/>
                  </a:lnTo>
                  <a:lnTo>
                    <a:pt x="0" y="32487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Freeform 11">
              <a:extLst>
                <a:ext uri="{FF2B5EF4-FFF2-40B4-BE49-F238E27FC236}">
                  <a16:creationId xmlns:a16="http://schemas.microsoft.com/office/drawing/2014/main" id="{9E79F3EE-8F46-8F53-1528-ACFAFC3C85A6}"/>
                </a:ext>
              </a:extLst>
            </p:cNvPr>
            <p:cNvSpPr/>
            <p:nvPr/>
          </p:nvSpPr>
          <p:spPr bwMode="auto">
            <a:xfrm>
              <a:off x="0" y="3995737"/>
              <a:ext cx="2105025" cy="2862263"/>
            </a:xfrm>
            <a:custGeom>
              <a:avLst/>
              <a:gdLst>
                <a:gd name="T0" fmla="*/ 774 w 1326"/>
                <a:gd name="T1" fmla="*/ 0 h 1803"/>
                <a:gd name="T2" fmla="*/ 0 w 1326"/>
                <a:gd name="T3" fmla="*/ 0 h 1803"/>
                <a:gd name="T4" fmla="*/ 0 w 1326"/>
                <a:gd name="T5" fmla="*/ 1803 h 1803"/>
                <a:gd name="T6" fmla="*/ 836 w 1326"/>
                <a:gd name="T7" fmla="*/ 1803 h 1803"/>
                <a:gd name="T8" fmla="*/ 1326 w 1326"/>
                <a:gd name="T9" fmla="*/ 955 h 1803"/>
                <a:gd name="T10" fmla="*/ 774 w 1326"/>
                <a:gd name="T11" fmla="*/ 0 h 18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26" h="1803">
                  <a:moveTo>
                    <a:pt x="774" y="0"/>
                  </a:moveTo>
                  <a:lnTo>
                    <a:pt x="0" y="0"/>
                  </a:lnTo>
                  <a:lnTo>
                    <a:pt x="0" y="1803"/>
                  </a:lnTo>
                  <a:lnTo>
                    <a:pt x="836" y="1803"/>
                  </a:lnTo>
                  <a:lnTo>
                    <a:pt x="1326" y="955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accent1">
                <a:alpha val="42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27" name="矩形 26">
            <a:extLst>
              <a:ext uri="{FF2B5EF4-FFF2-40B4-BE49-F238E27FC236}">
                <a16:creationId xmlns:a16="http://schemas.microsoft.com/office/drawing/2014/main" id="{35FA0F8B-00B7-4093-5656-69DF70F5869C}"/>
              </a:ext>
            </a:extLst>
          </p:cNvPr>
          <p:cNvSpPr/>
          <p:nvPr/>
        </p:nvSpPr>
        <p:spPr>
          <a:xfrm>
            <a:off x="808811" y="450334"/>
            <a:ext cx="2778325" cy="14465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88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+mn-lt"/>
              </a:rPr>
              <a:t>目 录</a:t>
            </a:r>
            <a:endParaRPr lang="zh-CN" altLang="en-US" sz="8800" b="1" dirty="0"/>
          </a:p>
        </p:txBody>
      </p:sp>
      <p:sp>
        <p:nvSpPr>
          <p:cNvPr id="28" name="文本框 45">
            <a:extLst>
              <a:ext uri="{FF2B5EF4-FFF2-40B4-BE49-F238E27FC236}">
                <a16:creationId xmlns:a16="http://schemas.microsoft.com/office/drawing/2014/main" id="{C29F328D-7C40-C818-0772-D88A8E4F67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5495" y="1709829"/>
            <a:ext cx="2613344" cy="76944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440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+mn-lt"/>
              </a:rPr>
              <a:t>Contents</a:t>
            </a:r>
            <a:endParaRPr lang="zh-CN" altLang="en-US" sz="4400" dirty="0">
              <a:solidFill>
                <a:schemeClr val="bg1"/>
              </a:solidFill>
              <a:latin typeface="思源黑体" panose="020B0500000000000000" pitchFamily="34" charset="-122"/>
              <a:ea typeface="思源黑体" panose="020B0500000000000000" pitchFamily="34" charset="-122"/>
              <a:sym typeface="+mn-lt"/>
            </a:endParaRP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87EA6C81-4E57-0221-4458-3EE7BD52E2A9}"/>
              </a:ext>
            </a:extLst>
          </p:cNvPr>
          <p:cNvGrpSpPr/>
          <p:nvPr/>
        </p:nvGrpSpPr>
        <p:grpSpPr>
          <a:xfrm>
            <a:off x="3471020" y="5029199"/>
            <a:ext cx="3667429" cy="1828801"/>
            <a:chOff x="3471021" y="4985765"/>
            <a:chExt cx="2750572" cy="1872236"/>
          </a:xfrm>
        </p:grpSpPr>
        <p:sp>
          <p:nvSpPr>
            <p:cNvPr id="30" name="任意多边形: 形状 29">
              <a:extLst>
                <a:ext uri="{FF2B5EF4-FFF2-40B4-BE49-F238E27FC236}">
                  <a16:creationId xmlns:a16="http://schemas.microsoft.com/office/drawing/2014/main" id="{6AECDE35-57DD-E256-D43D-40A81BB23E9C}"/>
                </a:ext>
              </a:extLst>
            </p:cNvPr>
            <p:cNvSpPr/>
            <p:nvPr/>
          </p:nvSpPr>
          <p:spPr>
            <a:xfrm>
              <a:off x="3471021" y="5617900"/>
              <a:ext cx="2750572" cy="1240101"/>
            </a:xfrm>
            <a:custGeom>
              <a:avLst/>
              <a:gdLst>
                <a:gd name="connsiteX0" fmla="*/ 688066 w 2750572"/>
                <a:gd name="connsiteY0" fmla="*/ 0 h 1240101"/>
                <a:gd name="connsiteX1" fmla="*/ 2062507 w 2750572"/>
                <a:gd name="connsiteY1" fmla="*/ 0 h 1240101"/>
                <a:gd name="connsiteX2" fmla="*/ 2750572 w 2750572"/>
                <a:gd name="connsiteY2" fmla="*/ 1186787 h 1240101"/>
                <a:gd name="connsiteX3" fmla="*/ 2719750 w 2750572"/>
                <a:gd name="connsiteY3" fmla="*/ 1240101 h 1240101"/>
                <a:gd name="connsiteX4" fmla="*/ 30822 w 2750572"/>
                <a:gd name="connsiteY4" fmla="*/ 1240101 h 1240101"/>
                <a:gd name="connsiteX5" fmla="*/ 0 w 2750572"/>
                <a:gd name="connsiteY5" fmla="*/ 1186787 h 1240101"/>
                <a:gd name="connsiteX6" fmla="*/ 688066 w 2750572"/>
                <a:gd name="connsiteY6" fmla="*/ 0 h 1240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50572" h="1240101">
                  <a:moveTo>
                    <a:pt x="688066" y="0"/>
                  </a:moveTo>
                  <a:lnTo>
                    <a:pt x="2062507" y="0"/>
                  </a:lnTo>
                  <a:lnTo>
                    <a:pt x="2750572" y="1186787"/>
                  </a:lnTo>
                  <a:lnTo>
                    <a:pt x="2719750" y="1240101"/>
                  </a:lnTo>
                  <a:lnTo>
                    <a:pt x="30822" y="1240101"/>
                  </a:lnTo>
                  <a:lnTo>
                    <a:pt x="0" y="1186787"/>
                  </a:lnTo>
                  <a:lnTo>
                    <a:pt x="688066" y="0"/>
                  </a:lnTo>
                  <a:close/>
                </a:path>
              </a:pathLst>
            </a:custGeom>
            <a:solidFill>
              <a:schemeClr val="accent1">
                <a:alpha val="1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1" name="Freeform 21">
              <a:extLst>
                <a:ext uri="{FF2B5EF4-FFF2-40B4-BE49-F238E27FC236}">
                  <a16:creationId xmlns:a16="http://schemas.microsoft.com/office/drawing/2014/main" id="{0182017A-3759-4AAD-D24E-400EFFBCE232}"/>
                </a:ext>
              </a:extLst>
            </p:cNvPr>
            <p:cNvSpPr/>
            <p:nvPr/>
          </p:nvSpPr>
          <p:spPr bwMode="auto">
            <a:xfrm>
              <a:off x="3558108" y="4985765"/>
              <a:ext cx="1042922" cy="1142742"/>
            </a:xfrm>
            <a:custGeom>
              <a:avLst/>
              <a:gdLst>
                <a:gd name="T0" fmla="*/ 1220 w 1627"/>
                <a:gd name="T1" fmla="*/ 0 h 1406"/>
                <a:gd name="T2" fmla="*/ 407 w 1627"/>
                <a:gd name="T3" fmla="*/ 0 h 1406"/>
                <a:gd name="T4" fmla="*/ 0 w 1627"/>
                <a:gd name="T5" fmla="*/ 702 h 1406"/>
                <a:gd name="T6" fmla="*/ 407 w 1627"/>
                <a:gd name="T7" fmla="*/ 1406 h 1406"/>
                <a:gd name="T8" fmla="*/ 1220 w 1627"/>
                <a:gd name="T9" fmla="*/ 1406 h 1406"/>
                <a:gd name="T10" fmla="*/ 1627 w 1627"/>
                <a:gd name="T11" fmla="*/ 702 h 1406"/>
                <a:gd name="T12" fmla="*/ 1220 w 1627"/>
                <a:gd name="T13" fmla="*/ 0 h 1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27" h="1406">
                  <a:moveTo>
                    <a:pt x="1220" y="0"/>
                  </a:moveTo>
                  <a:lnTo>
                    <a:pt x="407" y="0"/>
                  </a:lnTo>
                  <a:lnTo>
                    <a:pt x="0" y="702"/>
                  </a:lnTo>
                  <a:lnTo>
                    <a:pt x="407" y="1406"/>
                  </a:lnTo>
                  <a:lnTo>
                    <a:pt x="1220" y="1406"/>
                  </a:lnTo>
                  <a:lnTo>
                    <a:pt x="1627" y="702"/>
                  </a:lnTo>
                  <a:lnTo>
                    <a:pt x="1220" y="0"/>
                  </a:lnTo>
                  <a:close/>
                </a:path>
              </a:pathLst>
            </a:custGeom>
            <a:solidFill>
              <a:schemeClr val="accent1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D57376BC-5D7B-2B51-970C-B8AA7DF88035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6490340" y="1482723"/>
            <a:ext cx="3331684" cy="650877"/>
            <a:chOff x="6490340" y="1139823"/>
            <a:chExt cx="3331684" cy="650877"/>
          </a:xfrm>
        </p:grpSpPr>
        <p:sp>
          <p:nvSpPr>
            <p:cNvPr id="34" name="椭圆 16">
              <a:extLst>
                <a:ext uri="{FF2B5EF4-FFF2-40B4-BE49-F238E27FC236}">
                  <a16:creationId xmlns:a16="http://schemas.microsoft.com/office/drawing/2014/main" id="{67D03CAA-C315-C59D-8739-2295AC6B30A0}"/>
                </a:ext>
              </a:extLst>
            </p:cNvPr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6490340" y="1139823"/>
              <a:ext cx="659574" cy="650877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 b="1" dirty="0">
                  <a:solidFill>
                    <a:srgbClr val="FFFFFF"/>
                  </a:solidFill>
                  <a:latin typeface="Calibri" panose="020F0502020204030204" pitchFamily="34" charset="0"/>
                </a:rPr>
                <a:t>1</a:t>
              </a:r>
              <a:endParaRPr lang="zh-CN" altLang="en-US" sz="2800" b="1" dirty="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2CA9B239-7754-51F5-27BA-47F1AC704B8A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7321728" y="1203651"/>
              <a:ext cx="2500296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800" b="1" dirty="0">
                  <a:solidFill>
                    <a:srgbClr val="0070C0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+mn-lt"/>
                </a:rPr>
                <a:t>启动时序</a:t>
              </a: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B4BD03BF-A1EA-1962-F605-9C1F7BCCAD74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6490340" y="2335210"/>
            <a:ext cx="2452346" cy="650877"/>
            <a:chOff x="6490340" y="1992310"/>
            <a:chExt cx="2452346" cy="650877"/>
          </a:xfrm>
        </p:grpSpPr>
        <p:sp>
          <p:nvSpPr>
            <p:cNvPr id="37" name="椭圆 16">
              <a:extLst>
                <a:ext uri="{FF2B5EF4-FFF2-40B4-BE49-F238E27FC236}">
                  <a16:creationId xmlns:a16="http://schemas.microsoft.com/office/drawing/2014/main" id="{D7A858B6-973E-A692-B1EB-CD21C63F892E}"/>
                </a:ext>
              </a:extLst>
            </p:cNvPr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6490340" y="1992310"/>
              <a:ext cx="659574" cy="650877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 b="1" dirty="0">
                  <a:solidFill>
                    <a:srgbClr val="FFFFFF"/>
                  </a:solidFill>
                  <a:latin typeface="Calibri" panose="020F0502020204030204" pitchFamily="34" charset="0"/>
                </a:rPr>
                <a:t>2</a:t>
              </a:r>
              <a:endParaRPr lang="zh-CN" altLang="en-US" sz="2800" b="1" dirty="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B836062F-E756-3F39-D9CF-04E8F65838DC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7321729" y="2047375"/>
              <a:ext cx="162095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solidFill>
                    <a:srgbClr val="0070C0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+mn-lt"/>
                </a:rPr>
                <a:t>优化方案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5617344A-F37E-BBC3-3099-0C7DD43AB4F6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6490340" y="3187697"/>
            <a:ext cx="1734200" cy="650877"/>
            <a:chOff x="6490340" y="2844797"/>
            <a:chExt cx="1734200" cy="650877"/>
          </a:xfrm>
        </p:grpSpPr>
        <p:sp>
          <p:nvSpPr>
            <p:cNvPr id="40" name="椭圆 16">
              <a:extLst>
                <a:ext uri="{FF2B5EF4-FFF2-40B4-BE49-F238E27FC236}">
                  <a16:creationId xmlns:a16="http://schemas.microsoft.com/office/drawing/2014/main" id="{24642001-8513-9E0F-6195-4B32B2019ED4}"/>
                </a:ext>
              </a:extLst>
            </p:cNvPr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6490340" y="2844797"/>
              <a:ext cx="659574" cy="650877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 b="1" dirty="0">
                  <a:solidFill>
                    <a:srgbClr val="FFFFFF"/>
                  </a:solidFill>
                  <a:latin typeface="Calibri" panose="020F0502020204030204" pitchFamily="34" charset="0"/>
                </a:rPr>
                <a:t>3</a:t>
              </a:r>
              <a:endParaRPr lang="zh-CN" altLang="en-US" sz="2800" b="1" dirty="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3A8AE3EA-0C24-8F45-0210-4815ED56EC80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7321729" y="2893581"/>
              <a:ext cx="902811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solidFill>
                    <a:srgbClr val="0070C0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+mn-lt"/>
                </a:rPr>
                <a:t>工具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0D2C2C1A-D279-F52C-6ED1-BCC42FB7D3D9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6490340" y="4040184"/>
            <a:ext cx="2452346" cy="650877"/>
            <a:chOff x="6490340" y="2844797"/>
            <a:chExt cx="2452346" cy="650877"/>
          </a:xfrm>
        </p:grpSpPr>
        <p:sp>
          <p:nvSpPr>
            <p:cNvPr id="3" name="椭圆 16">
              <a:extLst>
                <a:ext uri="{FF2B5EF4-FFF2-40B4-BE49-F238E27FC236}">
                  <a16:creationId xmlns:a16="http://schemas.microsoft.com/office/drawing/2014/main" id="{303CA4C8-6301-BC20-DE99-05F84E4FC1AE}"/>
                </a:ext>
              </a:extLst>
            </p:cNvPr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6490340" y="2844797"/>
              <a:ext cx="659574" cy="650877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 b="1" dirty="0">
                  <a:solidFill>
                    <a:srgbClr val="FFFFFF"/>
                  </a:solidFill>
                  <a:latin typeface="Calibri" panose="020F0502020204030204" pitchFamily="34" charset="0"/>
                </a:rPr>
                <a:t>4</a:t>
              </a:r>
              <a:endParaRPr lang="zh-CN" altLang="en-US" sz="2800" b="1" dirty="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3D803C9A-1A08-6646-51AC-9E50DAFFD34B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7321729" y="2893581"/>
              <a:ext cx="162095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solidFill>
                    <a:srgbClr val="0070C0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+mn-lt"/>
                </a:rPr>
                <a:t>项目实践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30275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2" fill="hold" nodeType="with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7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8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" presetClass="entr" presetSubtype="9" fill="hold" grpId="0" nodeType="afterEffect" p14:presetBounceEnd="5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4000">
                                          <p:cBhvr additive="base">
                                            <p:cTn id="12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4000">
                                          <p:cBhvr additive="base">
                                            <p:cTn id="13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4" presetID="2" presetClass="entr" presetSubtype="9" fill="hold" grpId="0" nodeType="withEffect" p14:presetBounceEnd="5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4000">
                                          <p:cBhvr additive="base">
                                            <p:cTn id="16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4000">
                                          <p:cBhvr additive="base">
                                            <p:cTn id="17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8" presetID="2" presetClass="entr" presetSubtype="9" fill="hold" nodeType="withEffect" p14:presetBounceEnd="5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4000">
                                          <p:cBhvr additive="base">
                                            <p:cTn id="20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4000">
                                          <p:cBhvr additive="base">
                                            <p:cTn id="21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7" grpId="0"/>
          <p:bldP spid="28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" presetClass="entr" presetSubtype="9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4" presetID="2" presetClass="entr" presetSubtype="9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7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8" presetID="2" presetClass="entr" presetSubtype="9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1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7" grpId="0"/>
          <p:bldP spid="28" grpId="0"/>
        </p:bldLst>
      </p:timing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AA0B8-50AF-B43F-44F3-32290D960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8A17022-5EBB-4865-4D7F-EFDD759A3830}"/>
              </a:ext>
            </a:extLst>
          </p:cNvPr>
          <p:cNvSpPr/>
          <p:nvPr/>
        </p:nvSpPr>
        <p:spPr>
          <a:xfrm>
            <a:off x="0" y="2389091"/>
            <a:ext cx="12192000" cy="12927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3" name="文本框 17">
            <a:extLst>
              <a:ext uri="{FF2B5EF4-FFF2-40B4-BE49-F238E27FC236}">
                <a16:creationId xmlns:a16="http://schemas.microsoft.com/office/drawing/2014/main" id="{02741A61-B219-ADCB-28F9-B75357C88B32}"/>
              </a:ext>
            </a:extLst>
          </p:cNvPr>
          <p:cNvSpPr txBox="1"/>
          <p:nvPr/>
        </p:nvSpPr>
        <p:spPr>
          <a:xfrm>
            <a:off x="4450112" y="2686634"/>
            <a:ext cx="43194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项目实践</a:t>
            </a:r>
            <a:r>
              <a:rPr lang="en-US" altLang="zh-CN" sz="36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 </a:t>
            </a: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4127C8F1-DE63-210A-4D8C-499BB21D451A}"/>
              </a:ext>
            </a:extLst>
          </p:cNvPr>
          <p:cNvGrpSpPr/>
          <p:nvPr/>
        </p:nvGrpSpPr>
        <p:grpSpPr>
          <a:xfrm>
            <a:off x="1822608" y="1985811"/>
            <a:ext cx="2114741" cy="2697003"/>
            <a:chOff x="1041891" y="2887277"/>
            <a:chExt cx="1036261" cy="1321580"/>
          </a:xfrm>
        </p:grpSpPr>
        <p:sp>
          <p:nvSpPr>
            <p:cNvPr id="42" name="Oval 53">
              <a:extLst>
                <a:ext uri="{FF2B5EF4-FFF2-40B4-BE49-F238E27FC236}">
                  <a16:creationId xmlns:a16="http://schemas.microsoft.com/office/drawing/2014/main" id="{1AB24A69-BE60-7A0B-DB7D-07A62D276B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1891" y="2887277"/>
              <a:ext cx="1036261" cy="1036518"/>
            </a:xfrm>
            <a:prstGeom prst="ellipse">
              <a:avLst/>
            </a:prstGeom>
            <a:solidFill>
              <a:srgbClr val="0070C0"/>
            </a:solidFill>
            <a:ln w="88900">
              <a:gradFill flip="none" rotWithShape="1">
                <a:gsLst>
                  <a:gs pos="0">
                    <a:srgbClr val="FFFFFF"/>
                  </a:gs>
                  <a:gs pos="100000">
                    <a:srgbClr val="D9D9DA"/>
                  </a:gs>
                </a:gsLst>
                <a:lin ang="2700000" scaled="0"/>
                <a:tileRect/>
              </a:gradFill>
            </a:ln>
            <a:effectLst>
              <a:outerShdw blurRad="279400" dist="76200" dir="2700000" sx="101000" sy="101000" algn="tl" rotWithShape="0">
                <a:prstClr val="black">
                  <a:alpha val="2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anchor="ctr"/>
            <a:lstStyle/>
            <a:p>
              <a:pPr algn="ctr">
                <a:defRPr/>
              </a:pPr>
              <a:endParaRPr lang="zh-CN" altLang="en-US" sz="5865"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sp>
          <p:nvSpPr>
            <p:cNvPr id="43" name="Text Box 58">
              <a:extLst>
                <a:ext uri="{FF2B5EF4-FFF2-40B4-BE49-F238E27FC236}">
                  <a16:creationId xmlns:a16="http://schemas.microsoft.com/office/drawing/2014/main" id="{6DAC32C1-31EE-0793-7C69-B5DB9279F4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9958" y="3077737"/>
              <a:ext cx="782803" cy="11311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altLang="zh-CN" sz="5000" b="1" dirty="0">
                  <a:solidFill>
                    <a:schemeClr val="bg1"/>
                  </a:solidFill>
                  <a:latin typeface="Calibri" panose="020F0502020204030204" pitchFamily="34" charset="0"/>
                  <a:ea typeface="华文琥珀" panose="02010800040101010101" pitchFamily="2" charset="-122"/>
                  <a:cs typeface="Calibri" panose="020F0502020204030204" pitchFamily="34" charset="0"/>
                </a:rPr>
                <a:t>PART  4</a:t>
              </a:r>
            </a:p>
            <a:p>
              <a:pPr algn="ctr"/>
              <a:r>
                <a:rPr lang="en-US" altLang="zh-CN" sz="4400" dirty="0">
                  <a:solidFill>
                    <a:schemeClr val="bg1"/>
                  </a:solidFill>
                  <a:latin typeface="Calibri" panose="020F0502020204030204" pitchFamily="34" charset="0"/>
                  <a:ea typeface="思源黑体" panose="020B0500000000000000" pitchFamily="34" charset="-122"/>
                  <a:cs typeface="Calibri" panose="020F0502020204030204" pitchFamily="34" charset="0"/>
                </a:rPr>
                <a:t> </a:t>
              </a:r>
            </a:p>
          </p:txBody>
        </p:sp>
      </p:grpSp>
      <p:sp>
        <p:nvSpPr>
          <p:cNvPr id="44" name="矩形 43">
            <a:extLst>
              <a:ext uri="{FF2B5EF4-FFF2-40B4-BE49-F238E27FC236}">
                <a16:creationId xmlns:a16="http://schemas.microsoft.com/office/drawing/2014/main" id="{302FFDC0-E465-497D-A34D-12123BD607A1}"/>
              </a:ext>
            </a:extLst>
          </p:cNvPr>
          <p:cNvSpPr/>
          <p:nvPr/>
        </p:nvSpPr>
        <p:spPr>
          <a:xfrm>
            <a:off x="4524489" y="3801377"/>
            <a:ext cx="18309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800" b="1" dirty="0">
                <a:solidFill>
                  <a:srgbClr val="0070C0"/>
                </a:solidFill>
              </a:rPr>
              <a:t>CCS5.0</a:t>
            </a:r>
            <a:r>
              <a:rPr lang="zh-CN" altLang="en-US" sz="1800" b="1" dirty="0">
                <a:solidFill>
                  <a:srgbClr val="0070C0"/>
                </a:solidFill>
              </a:rPr>
              <a:t>启动优化</a:t>
            </a:r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607C5D30-1705-20B2-AD96-1D50FBD7959A}"/>
              </a:ext>
            </a:extLst>
          </p:cNvPr>
          <p:cNvGrpSpPr/>
          <p:nvPr/>
        </p:nvGrpSpPr>
        <p:grpSpPr>
          <a:xfrm>
            <a:off x="10729790" y="2540217"/>
            <a:ext cx="1145728" cy="1261160"/>
            <a:chOff x="1696902" y="1658204"/>
            <a:chExt cx="1357422" cy="1785621"/>
          </a:xfrm>
        </p:grpSpPr>
        <p:grpSp>
          <p:nvGrpSpPr>
            <p:cNvPr id="46" name="组合 45">
              <a:extLst>
                <a:ext uri="{FF2B5EF4-FFF2-40B4-BE49-F238E27FC236}">
                  <a16:creationId xmlns:a16="http://schemas.microsoft.com/office/drawing/2014/main" id="{13B170C1-CBF7-4B4D-BE2A-55BAE59DF5DC}"/>
                </a:ext>
              </a:extLst>
            </p:cNvPr>
            <p:cNvGrpSpPr/>
            <p:nvPr/>
          </p:nvGrpSpPr>
          <p:grpSpPr>
            <a:xfrm>
              <a:off x="1696902" y="1658204"/>
              <a:ext cx="1357422" cy="1785621"/>
              <a:chOff x="1434530" y="1923678"/>
              <a:chExt cx="875843" cy="1152128"/>
            </a:xfrm>
          </p:grpSpPr>
          <p:sp>
            <p:nvSpPr>
              <p:cNvPr id="51" name="椭圆 2">
                <a:extLst>
                  <a:ext uri="{FF2B5EF4-FFF2-40B4-BE49-F238E27FC236}">
                    <a16:creationId xmlns:a16="http://schemas.microsoft.com/office/drawing/2014/main" id="{DE59073B-C9EE-C4A9-444C-D98064A3DF54}"/>
                  </a:ext>
                </a:extLst>
              </p:cNvPr>
              <p:cNvSpPr/>
              <p:nvPr/>
            </p:nvSpPr>
            <p:spPr>
              <a:xfrm rot="1761192">
                <a:off x="1734309" y="1923678"/>
                <a:ext cx="576064" cy="1152128"/>
              </a:xfrm>
              <a:custGeom>
                <a:avLst/>
                <a:gdLst/>
                <a:ahLst/>
                <a:cxnLst/>
                <a:rect l="l" t="t" r="r" b="b"/>
                <a:pathLst>
                  <a:path w="576064" h="1152128">
                    <a:moveTo>
                      <a:pt x="0" y="0"/>
                    </a:moveTo>
                    <a:cubicBezTo>
                      <a:pt x="318151" y="0"/>
                      <a:pt x="576064" y="257913"/>
                      <a:pt x="576064" y="576064"/>
                    </a:cubicBezTo>
                    <a:cubicBezTo>
                      <a:pt x="576064" y="894215"/>
                      <a:pt x="318151" y="1152128"/>
                      <a:pt x="0" y="1152128"/>
                    </a:cubicBezTo>
                    <a:close/>
                  </a:path>
                </a:pathLst>
              </a:custGeom>
              <a:solidFill>
                <a:srgbClr val="EAEAEA">
                  <a:alpha val="30196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9" name="TextBox 4">
                <a:extLst>
                  <a:ext uri="{FF2B5EF4-FFF2-40B4-BE49-F238E27FC236}">
                    <a16:creationId xmlns:a16="http://schemas.microsoft.com/office/drawing/2014/main" id="{CB355BB6-57B4-C881-7B65-910E92E4C64C}"/>
                  </a:ext>
                </a:extLst>
              </p:cNvPr>
              <p:cNvSpPr txBox="1"/>
              <p:nvPr/>
            </p:nvSpPr>
            <p:spPr>
              <a:xfrm>
                <a:off x="1434530" y="2496128"/>
                <a:ext cx="728783" cy="4217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47" name="Freeform 14">
              <a:extLst>
                <a:ext uri="{FF2B5EF4-FFF2-40B4-BE49-F238E27FC236}">
                  <a16:creationId xmlns:a16="http://schemas.microsoft.com/office/drawing/2014/main" id="{A6B6A6DE-30B8-225F-73AB-F5D4F763BE1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01870" y="1860853"/>
              <a:ext cx="824533" cy="812699"/>
            </a:xfrm>
            <a:custGeom>
              <a:avLst/>
              <a:gdLst>
                <a:gd name="T0" fmla="*/ 221450 w 427"/>
                <a:gd name="T1" fmla="*/ 125841 h 408"/>
                <a:gd name="T2" fmla="*/ 216788 w 427"/>
                <a:gd name="T3" fmla="*/ 135459 h 408"/>
                <a:gd name="T4" fmla="*/ 216011 w 427"/>
                <a:gd name="T5" fmla="*/ 141871 h 408"/>
                <a:gd name="T6" fmla="*/ 216011 w 427"/>
                <a:gd name="T7" fmla="*/ 153894 h 408"/>
                <a:gd name="T8" fmla="*/ 220673 w 427"/>
                <a:gd name="T9" fmla="*/ 165917 h 408"/>
                <a:gd name="T10" fmla="*/ 223781 w 427"/>
                <a:gd name="T11" fmla="*/ 171528 h 408"/>
                <a:gd name="T12" fmla="*/ 233106 w 427"/>
                <a:gd name="T13" fmla="*/ 179543 h 408"/>
                <a:gd name="T14" fmla="*/ 239322 w 427"/>
                <a:gd name="T15" fmla="*/ 182749 h 408"/>
                <a:gd name="T16" fmla="*/ 252531 w 427"/>
                <a:gd name="T17" fmla="*/ 109008 h 408"/>
                <a:gd name="T18" fmla="*/ 236991 w 427"/>
                <a:gd name="T19" fmla="*/ 112214 h 408"/>
                <a:gd name="T20" fmla="*/ 228444 w 427"/>
                <a:gd name="T21" fmla="*/ 117825 h 408"/>
                <a:gd name="T22" fmla="*/ 224558 w 427"/>
                <a:gd name="T23" fmla="*/ 121833 h 408"/>
                <a:gd name="T24" fmla="*/ 202802 w 427"/>
                <a:gd name="T25" fmla="*/ 37672 h 408"/>
                <a:gd name="T26" fmla="*/ 165505 w 427"/>
                <a:gd name="T27" fmla="*/ 76146 h 408"/>
                <a:gd name="T28" fmla="*/ 200471 w 427"/>
                <a:gd name="T29" fmla="*/ 153894 h 408"/>
                <a:gd name="T30" fmla="*/ 200471 w 427"/>
                <a:gd name="T31" fmla="*/ 138665 h 408"/>
                <a:gd name="T32" fmla="*/ 189593 w 427"/>
                <a:gd name="T33" fmla="*/ 83359 h 408"/>
                <a:gd name="T34" fmla="*/ 131316 w 427"/>
                <a:gd name="T35" fmla="*/ 146680 h 408"/>
                <a:gd name="T36" fmla="*/ 165505 w 427"/>
                <a:gd name="T37" fmla="*/ 215612 h 408"/>
                <a:gd name="T38" fmla="*/ 149188 w 427"/>
                <a:gd name="T39" fmla="*/ 218017 h 408"/>
                <a:gd name="T40" fmla="*/ 140640 w 427"/>
                <a:gd name="T41" fmla="*/ 208398 h 408"/>
                <a:gd name="T42" fmla="*/ 135201 w 427"/>
                <a:gd name="T43" fmla="*/ 203589 h 408"/>
                <a:gd name="T44" fmla="*/ 112668 w 427"/>
                <a:gd name="T45" fmla="*/ 193971 h 408"/>
                <a:gd name="T46" fmla="*/ 103343 w 427"/>
                <a:gd name="T47" fmla="*/ 193169 h 408"/>
                <a:gd name="T48" fmla="*/ 0 w 427"/>
                <a:gd name="T49" fmla="*/ 327025 h 408"/>
                <a:gd name="T50" fmla="*/ 43513 w 427"/>
                <a:gd name="T51" fmla="*/ 247673 h 408"/>
                <a:gd name="T52" fmla="*/ 113445 w 427"/>
                <a:gd name="T53" fmla="*/ 247673 h 408"/>
                <a:gd name="T54" fmla="*/ 158512 w 427"/>
                <a:gd name="T55" fmla="*/ 327025 h 408"/>
                <a:gd name="T56" fmla="*/ 149188 w 427"/>
                <a:gd name="T57" fmla="*/ 218017 h 408"/>
                <a:gd name="T58" fmla="*/ 228444 w 427"/>
                <a:gd name="T59" fmla="*/ 193169 h 408"/>
                <a:gd name="T60" fmla="*/ 218342 w 427"/>
                <a:gd name="T61" fmla="*/ 193971 h 408"/>
                <a:gd name="T62" fmla="*/ 190370 w 427"/>
                <a:gd name="T63" fmla="*/ 208398 h 408"/>
                <a:gd name="T64" fmla="*/ 186484 w 427"/>
                <a:gd name="T65" fmla="*/ 213207 h 408"/>
                <a:gd name="T66" fmla="*/ 205133 w 427"/>
                <a:gd name="T67" fmla="*/ 327025 h 408"/>
                <a:gd name="T68" fmla="*/ 216788 w 427"/>
                <a:gd name="T69" fmla="*/ 327025 h 408"/>
                <a:gd name="T70" fmla="*/ 298375 w 427"/>
                <a:gd name="T71" fmla="*/ 247673 h 408"/>
                <a:gd name="T72" fmla="*/ 331787 w 427"/>
                <a:gd name="T73" fmla="*/ 250879 h 408"/>
                <a:gd name="T74" fmla="*/ 79256 w 427"/>
                <a:gd name="T75" fmla="*/ 185154 h 408"/>
                <a:gd name="T76" fmla="*/ 97904 w 427"/>
                <a:gd name="T77" fmla="*/ 179543 h 408"/>
                <a:gd name="T78" fmla="*/ 103343 w 427"/>
                <a:gd name="T79" fmla="*/ 176337 h 408"/>
                <a:gd name="T80" fmla="*/ 113445 w 427"/>
                <a:gd name="T81" fmla="*/ 160306 h 408"/>
                <a:gd name="T82" fmla="*/ 115776 w 427"/>
                <a:gd name="T83" fmla="*/ 153093 h 408"/>
                <a:gd name="T84" fmla="*/ 115776 w 427"/>
                <a:gd name="T85" fmla="*/ 140268 h 408"/>
                <a:gd name="T86" fmla="*/ 112668 w 427"/>
                <a:gd name="T87" fmla="*/ 131451 h 408"/>
                <a:gd name="T88" fmla="*/ 110337 w 427"/>
                <a:gd name="T89" fmla="*/ 125841 h 408"/>
                <a:gd name="T90" fmla="*/ 103343 w 427"/>
                <a:gd name="T91" fmla="*/ 117825 h 408"/>
                <a:gd name="T92" fmla="*/ 97904 w 427"/>
                <a:gd name="T93" fmla="*/ 114619 h 408"/>
                <a:gd name="T94" fmla="*/ 79256 w 427"/>
                <a:gd name="T95" fmla="*/ 109008 h 408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427" h="408">
                  <a:moveTo>
                    <a:pt x="289" y="152"/>
                  </a:moveTo>
                  <a:cubicBezTo>
                    <a:pt x="288" y="154"/>
                    <a:pt x="286" y="155"/>
                    <a:pt x="285" y="157"/>
                  </a:cubicBezTo>
                  <a:cubicBezTo>
                    <a:pt x="285" y="157"/>
                    <a:pt x="285" y="157"/>
                    <a:pt x="285" y="157"/>
                  </a:cubicBezTo>
                  <a:cubicBezTo>
                    <a:pt x="284" y="159"/>
                    <a:pt x="283" y="161"/>
                    <a:pt x="282" y="162"/>
                  </a:cubicBezTo>
                  <a:cubicBezTo>
                    <a:pt x="282" y="163"/>
                    <a:pt x="282" y="163"/>
                    <a:pt x="282" y="164"/>
                  </a:cubicBezTo>
                  <a:cubicBezTo>
                    <a:pt x="281" y="165"/>
                    <a:pt x="280" y="167"/>
                    <a:pt x="279" y="169"/>
                  </a:cubicBezTo>
                  <a:cubicBezTo>
                    <a:pt x="279" y="169"/>
                    <a:pt x="279" y="169"/>
                    <a:pt x="279" y="170"/>
                  </a:cubicBezTo>
                  <a:cubicBezTo>
                    <a:pt x="279" y="171"/>
                    <a:pt x="278" y="173"/>
                    <a:pt x="278" y="175"/>
                  </a:cubicBezTo>
                  <a:cubicBezTo>
                    <a:pt x="278" y="176"/>
                    <a:pt x="278" y="176"/>
                    <a:pt x="278" y="177"/>
                  </a:cubicBezTo>
                  <a:cubicBezTo>
                    <a:pt x="277" y="179"/>
                    <a:pt x="277" y="181"/>
                    <a:pt x="277" y="183"/>
                  </a:cubicBezTo>
                  <a:cubicBezTo>
                    <a:pt x="277" y="186"/>
                    <a:pt x="278" y="189"/>
                    <a:pt x="278" y="191"/>
                  </a:cubicBezTo>
                  <a:cubicBezTo>
                    <a:pt x="278" y="192"/>
                    <a:pt x="278" y="192"/>
                    <a:pt x="278" y="192"/>
                  </a:cubicBezTo>
                  <a:cubicBezTo>
                    <a:pt x="279" y="195"/>
                    <a:pt x="279" y="197"/>
                    <a:pt x="280" y="199"/>
                  </a:cubicBezTo>
                  <a:cubicBezTo>
                    <a:pt x="280" y="200"/>
                    <a:pt x="280" y="200"/>
                    <a:pt x="280" y="200"/>
                  </a:cubicBezTo>
                  <a:cubicBezTo>
                    <a:pt x="281" y="203"/>
                    <a:pt x="282" y="205"/>
                    <a:pt x="284" y="207"/>
                  </a:cubicBezTo>
                  <a:cubicBezTo>
                    <a:pt x="284" y="207"/>
                    <a:pt x="284" y="208"/>
                    <a:pt x="284" y="208"/>
                  </a:cubicBezTo>
                  <a:cubicBezTo>
                    <a:pt x="285" y="210"/>
                    <a:pt x="287" y="212"/>
                    <a:pt x="288" y="214"/>
                  </a:cubicBezTo>
                  <a:cubicBezTo>
                    <a:pt x="288" y="214"/>
                    <a:pt x="288" y="214"/>
                    <a:pt x="288" y="214"/>
                  </a:cubicBezTo>
                  <a:cubicBezTo>
                    <a:pt x="290" y="216"/>
                    <a:pt x="292" y="218"/>
                    <a:pt x="294" y="219"/>
                  </a:cubicBezTo>
                  <a:cubicBezTo>
                    <a:pt x="294" y="219"/>
                    <a:pt x="294" y="220"/>
                    <a:pt x="294" y="220"/>
                  </a:cubicBezTo>
                  <a:cubicBezTo>
                    <a:pt x="296" y="221"/>
                    <a:pt x="298" y="223"/>
                    <a:pt x="300" y="224"/>
                  </a:cubicBezTo>
                  <a:cubicBezTo>
                    <a:pt x="300" y="224"/>
                    <a:pt x="301" y="224"/>
                    <a:pt x="301" y="224"/>
                  </a:cubicBezTo>
                  <a:cubicBezTo>
                    <a:pt x="303" y="226"/>
                    <a:pt x="305" y="227"/>
                    <a:pt x="308" y="228"/>
                  </a:cubicBezTo>
                  <a:cubicBezTo>
                    <a:pt x="308" y="228"/>
                    <a:pt x="308" y="228"/>
                    <a:pt x="308" y="228"/>
                  </a:cubicBezTo>
                  <a:cubicBezTo>
                    <a:pt x="313" y="230"/>
                    <a:pt x="319" y="231"/>
                    <a:pt x="325" y="231"/>
                  </a:cubicBezTo>
                  <a:cubicBezTo>
                    <a:pt x="351" y="231"/>
                    <a:pt x="372" y="210"/>
                    <a:pt x="372" y="183"/>
                  </a:cubicBezTo>
                  <a:cubicBezTo>
                    <a:pt x="372" y="157"/>
                    <a:pt x="351" y="136"/>
                    <a:pt x="325" y="136"/>
                  </a:cubicBezTo>
                  <a:cubicBezTo>
                    <a:pt x="318" y="136"/>
                    <a:pt x="312" y="137"/>
                    <a:pt x="306" y="140"/>
                  </a:cubicBezTo>
                  <a:cubicBezTo>
                    <a:pt x="306" y="140"/>
                    <a:pt x="306" y="140"/>
                    <a:pt x="306" y="140"/>
                  </a:cubicBezTo>
                  <a:cubicBezTo>
                    <a:pt x="306" y="140"/>
                    <a:pt x="306" y="140"/>
                    <a:pt x="305" y="140"/>
                  </a:cubicBezTo>
                  <a:cubicBezTo>
                    <a:pt x="304" y="141"/>
                    <a:pt x="302" y="142"/>
                    <a:pt x="301" y="143"/>
                  </a:cubicBezTo>
                  <a:cubicBezTo>
                    <a:pt x="300" y="143"/>
                    <a:pt x="300" y="143"/>
                    <a:pt x="299" y="143"/>
                  </a:cubicBezTo>
                  <a:cubicBezTo>
                    <a:pt x="298" y="144"/>
                    <a:pt x="296" y="146"/>
                    <a:pt x="294" y="147"/>
                  </a:cubicBezTo>
                  <a:cubicBezTo>
                    <a:pt x="294" y="147"/>
                    <a:pt x="294" y="147"/>
                    <a:pt x="294" y="147"/>
                  </a:cubicBezTo>
                  <a:cubicBezTo>
                    <a:pt x="293" y="148"/>
                    <a:pt x="291" y="150"/>
                    <a:pt x="290" y="151"/>
                  </a:cubicBezTo>
                  <a:cubicBezTo>
                    <a:pt x="290" y="151"/>
                    <a:pt x="289" y="152"/>
                    <a:pt x="289" y="152"/>
                  </a:cubicBezTo>
                  <a:close/>
                  <a:moveTo>
                    <a:pt x="213" y="95"/>
                  </a:moveTo>
                  <a:lnTo>
                    <a:pt x="213" y="95"/>
                  </a:lnTo>
                  <a:cubicBezTo>
                    <a:pt x="240" y="95"/>
                    <a:pt x="261" y="73"/>
                    <a:pt x="261" y="47"/>
                  </a:cubicBezTo>
                  <a:cubicBezTo>
                    <a:pt x="261" y="21"/>
                    <a:pt x="240" y="0"/>
                    <a:pt x="213" y="0"/>
                  </a:cubicBezTo>
                  <a:cubicBezTo>
                    <a:pt x="187" y="0"/>
                    <a:pt x="166" y="21"/>
                    <a:pt x="166" y="47"/>
                  </a:cubicBezTo>
                  <a:cubicBezTo>
                    <a:pt x="166" y="73"/>
                    <a:pt x="187" y="95"/>
                    <a:pt x="213" y="95"/>
                  </a:cubicBezTo>
                  <a:close/>
                  <a:moveTo>
                    <a:pt x="258" y="228"/>
                  </a:moveTo>
                  <a:lnTo>
                    <a:pt x="258" y="228"/>
                  </a:lnTo>
                  <a:lnTo>
                    <a:pt x="258" y="192"/>
                  </a:lnTo>
                  <a:cubicBezTo>
                    <a:pt x="258" y="189"/>
                    <a:pt x="257" y="186"/>
                    <a:pt x="257" y="183"/>
                  </a:cubicBezTo>
                  <a:cubicBezTo>
                    <a:pt x="257" y="180"/>
                    <a:pt x="258" y="178"/>
                    <a:pt x="258" y="175"/>
                  </a:cubicBezTo>
                  <a:lnTo>
                    <a:pt x="258" y="173"/>
                  </a:lnTo>
                  <a:cubicBezTo>
                    <a:pt x="262" y="151"/>
                    <a:pt x="275" y="134"/>
                    <a:pt x="293" y="124"/>
                  </a:cubicBezTo>
                  <a:cubicBezTo>
                    <a:pt x="280" y="112"/>
                    <a:pt x="263" y="104"/>
                    <a:pt x="244" y="104"/>
                  </a:cubicBezTo>
                  <a:lnTo>
                    <a:pt x="183" y="104"/>
                  </a:lnTo>
                  <a:cubicBezTo>
                    <a:pt x="164" y="104"/>
                    <a:pt x="147" y="112"/>
                    <a:pt x="134" y="124"/>
                  </a:cubicBezTo>
                  <a:cubicBezTo>
                    <a:pt x="155" y="135"/>
                    <a:pt x="169" y="158"/>
                    <a:pt x="169" y="183"/>
                  </a:cubicBezTo>
                  <a:cubicBezTo>
                    <a:pt x="169" y="189"/>
                    <a:pt x="169" y="194"/>
                    <a:pt x="168" y="199"/>
                  </a:cubicBezTo>
                  <a:lnTo>
                    <a:pt x="168" y="228"/>
                  </a:lnTo>
                  <a:cubicBezTo>
                    <a:pt x="187" y="236"/>
                    <a:pt x="203" y="251"/>
                    <a:pt x="213" y="269"/>
                  </a:cubicBezTo>
                  <a:cubicBezTo>
                    <a:pt x="223" y="251"/>
                    <a:pt x="239" y="237"/>
                    <a:pt x="258" y="228"/>
                  </a:cubicBezTo>
                  <a:close/>
                  <a:moveTo>
                    <a:pt x="192" y="272"/>
                  </a:moveTo>
                  <a:lnTo>
                    <a:pt x="192" y="272"/>
                  </a:lnTo>
                  <a:cubicBezTo>
                    <a:pt x="190" y="270"/>
                    <a:pt x="189" y="268"/>
                    <a:pt x="187" y="266"/>
                  </a:cubicBezTo>
                  <a:cubicBezTo>
                    <a:pt x="187" y="265"/>
                    <a:pt x="186" y="265"/>
                    <a:pt x="186" y="265"/>
                  </a:cubicBezTo>
                  <a:cubicBezTo>
                    <a:pt x="185" y="263"/>
                    <a:pt x="183" y="262"/>
                    <a:pt x="181" y="260"/>
                  </a:cubicBezTo>
                  <a:cubicBezTo>
                    <a:pt x="181" y="260"/>
                    <a:pt x="181" y="259"/>
                    <a:pt x="181" y="259"/>
                  </a:cubicBezTo>
                  <a:cubicBezTo>
                    <a:pt x="179" y="258"/>
                    <a:pt x="177" y="256"/>
                    <a:pt x="175" y="255"/>
                  </a:cubicBezTo>
                  <a:cubicBezTo>
                    <a:pt x="175" y="255"/>
                    <a:pt x="175" y="254"/>
                    <a:pt x="174" y="254"/>
                  </a:cubicBezTo>
                  <a:cubicBezTo>
                    <a:pt x="168" y="250"/>
                    <a:pt x="161" y="246"/>
                    <a:pt x="153" y="244"/>
                  </a:cubicBezTo>
                  <a:cubicBezTo>
                    <a:pt x="151" y="243"/>
                    <a:pt x="150" y="243"/>
                    <a:pt x="148" y="242"/>
                  </a:cubicBezTo>
                  <a:cubicBezTo>
                    <a:pt x="147" y="242"/>
                    <a:pt x="146" y="242"/>
                    <a:pt x="145" y="242"/>
                  </a:cubicBezTo>
                  <a:cubicBezTo>
                    <a:pt x="144" y="242"/>
                    <a:pt x="143" y="241"/>
                    <a:pt x="141" y="241"/>
                  </a:cubicBezTo>
                  <a:cubicBezTo>
                    <a:pt x="141" y="241"/>
                    <a:pt x="140" y="241"/>
                    <a:pt x="139" y="241"/>
                  </a:cubicBezTo>
                  <a:cubicBezTo>
                    <a:pt x="137" y="241"/>
                    <a:pt x="135" y="241"/>
                    <a:pt x="133" y="241"/>
                  </a:cubicBezTo>
                  <a:lnTo>
                    <a:pt x="71" y="241"/>
                  </a:lnTo>
                  <a:cubicBezTo>
                    <a:pt x="32" y="241"/>
                    <a:pt x="0" y="273"/>
                    <a:pt x="0" y="313"/>
                  </a:cubicBezTo>
                  <a:lnTo>
                    <a:pt x="0" y="408"/>
                  </a:lnTo>
                  <a:lnTo>
                    <a:pt x="42" y="408"/>
                  </a:lnTo>
                  <a:lnTo>
                    <a:pt x="42" y="309"/>
                  </a:lnTo>
                  <a:lnTo>
                    <a:pt x="56" y="309"/>
                  </a:lnTo>
                  <a:lnTo>
                    <a:pt x="56" y="408"/>
                  </a:lnTo>
                  <a:lnTo>
                    <a:pt x="146" y="408"/>
                  </a:lnTo>
                  <a:lnTo>
                    <a:pt x="146" y="309"/>
                  </a:lnTo>
                  <a:lnTo>
                    <a:pt x="161" y="309"/>
                  </a:lnTo>
                  <a:lnTo>
                    <a:pt x="161" y="408"/>
                  </a:lnTo>
                  <a:lnTo>
                    <a:pt x="204" y="408"/>
                  </a:lnTo>
                  <a:lnTo>
                    <a:pt x="204" y="313"/>
                  </a:lnTo>
                  <a:cubicBezTo>
                    <a:pt x="204" y="297"/>
                    <a:pt x="200" y="283"/>
                    <a:pt x="192" y="272"/>
                  </a:cubicBezTo>
                  <a:cubicBezTo>
                    <a:pt x="192" y="272"/>
                    <a:pt x="192" y="272"/>
                    <a:pt x="192" y="272"/>
                  </a:cubicBezTo>
                  <a:close/>
                  <a:moveTo>
                    <a:pt x="355" y="241"/>
                  </a:moveTo>
                  <a:lnTo>
                    <a:pt x="355" y="241"/>
                  </a:lnTo>
                  <a:lnTo>
                    <a:pt x="294" y="241"/>
                  </a:lnTo>
                  <a:cubicBezTo>
                    <a:pt x="292" y="241"/>
                    <a:pt x="290" y="241"/>
                    <a:pt x="288" y="241"/>
                  </a:cubicBezTo>
                  <a:cubicBezTo>
                    <a:pt x="287" y="241"/>
                    <a:pt x="286" y="241"/>
                    <a:pt x="285" y="241"/>
                  </a:cubicBezTo>
                  <a:cubicBezTo>
                    <a:pt x="284" y="241"/>
                    <a:pt x="283" y="242"/>
                    <a:pt x="281" y="242"/>
                  </a:cubicBezTo>
                  <a:cubicBezTo>
                    <a:pt x="280" y="242"/>
                    <a:pt x="280" y="242"/>
                    <a:pt x="279" y="242"/>
                  </a:cubicBezTo>
                  <a:cubicBezTo>
                    <a:pt x="277" y="243"/>
                    <a:pt x="276" y="243"/>
                    <a:pt x="274" y="244"/>
                  </a:cubicBezTo>
                  <a:cubicBezTo>
                    <a:pt x="263" y="247"/>
                    <a:pt x="254" y="252"/>
                    <a:pt x="245" y="260"/>
                  </a:cubicBezTo>
                  <a:cubicBezTo>
                    <a:pt x="245" y="260"/>
                    <a:pt x="245" y="260"/>
                    <a:pt x="245" y="260"/>
                  </a:cubicBezTo>
                  <a:cubicBezTo>
                    <a:pt x="243" y="262"/>
                    <a:pt x="242" y="263"/>
                    <a:pt x="240" y="265"/>
                  </a:cubicBezTo>
                  <a:cubicBezTo>
                    <a:pt x="240" y="265"/>
                    <a:pt x="240" y="266"/>
                    <a:pt x="240" y="266"/>
                  </a:cubicBezTo>
                  <a:cubicBezTo>
                    <a:pt x="229" y="278"/>
                    <a:pt x="222" y="295"/>
                    <a:pt x="222" y="313"/>
                  </a:cubicBezTo>
                  <a:lnTo>
                    <a:pt x="222" y="408"/>
                  </a:lnTo>
                  <a:lnTo>
                    <a:pt x="264" y="408"/>
                  </a:lnTo>
                  <a:lnTo>
                    <a:pt x="264" y="309"/>
                  </a:lnTo>
                  <a:lnTo>
                    <a:pt x="279" y="309"/>
                  </a:lnTo>
                  <a:lnTo>
                    <a:pt x="279" y="408"/>
                  </a:lnTo>
                  <a:lnTo>
                    <a:pt x="369" y="408"/>
                  </a:lnTo>
                  <a:lnTo>
                    <a:pt x="369" y="309"/>
                  </a:lnTo>
                  <a:lnTo>
                    <a:pt x="384" y="309"/>
                  </a:lnTo>
                  <a:lnTo>
                    <a:pt x="384" y="408"/>
                  </a:lnTo>
                  <a:lnTo>
                    <a:pt x="427" y="408"/>
                  </a:lnTo>
                  <a:lnTo>
                    <a:pt x="427" y="313"/>
                  </a:lnTo>
                  <a:cubicBezTo>
                    <a:pt x="427" y="273"/>
                    <a:pt x="395" y="241"/>
                    <a:pt x="355" y="241"/>
                  </a:cubicBezTo>
                  <a:close/>
                  <a:moveTo>
                    <a:pt x="102" y="231"/>
                  </a:moveTo>
                  <a:lnTo>
                    <a:pt x="102" y="231"/>
                  </a:lnTo>
                  <a:cubicBezTo>
                    <a:pt x="108" y="231"/>
                    <a:pt x="114" y="230"/>
                    <a:pt x="119" y="228"/>
                  </a:cubicBezTo>
                  <a:cubicBezTo>
                    <a:pt x="119" y="228"/>
                    <a:pt x="119" y="228"/>
                    <a:pt x="119" y="228"/>
                  </a:cubicBezTo>
                  <a:cubicBezTo>
                    <a:pt x="122" y="227"/>
                    <a:pt x="124" y="226"/>
                    <a:pt x="126" y="224"/>
                  </a:cubicBezTo>
                  <a:cubicBezTo>
                    <a:pt x="126" y="224"/>
                    <a:pt x="126" y="224"/>
                    <a:pt x="126" y="224"/>
                  </a:cubicBezTo>
                  <a:cubicBezTo>
                    <a:pt x="129" y="223"/>
                    <a:pt x="131" y="221"/>
                    <a:pt x="133" y="220"/>
                  </a:cubicBezTo>
                  <a:cubicBezTo>
                    <a:pt x="133" y="220"/>
                    <a:pt x="133" y="220"/>
                    <a:pt x="133" y="220"/>
                  </a:cubicBezTo>
                  <a:cubicBezTo>
                    <a:pt x="137" y="216"/>
                    <a:pt x="140" y="212"/>
                    <a:pt x="143" y="208"/>
                  </a:cubicBezTo>
                  <a:cubicBezTo>
                    <a:pt x="143" y="207"/>
                    <a:pt x="143" y="207"/>
                    <a:pt x="143" y="207"/>
                  </a:cubicBezTo>
                  <a:cubicBezTo>
                    <a:pt x="144" y="205"/>
                    <a:pt x="145" y="203"/>
                    <a:pt x="146" y="200"/>
                  </a:cubicBezTo>
                  <a:cubicBezTo>
                    <a:pt x="146" y="200"/>
                    <a:pt x="147" y="200"/>
                    <a:pt x="147" y="199"/>
                  </a:cubicBezTo>
                  <a:cubicBezTo>
                    <a:pt x="148" y="197"/>
                    <a:pt x="148" y="195"/>
                    <a:pt x="149" y="192"/>
                  </a:cubicBezTo>
                  <a:cubicBezTo>
                    <a:pt x="149" y="192"/>
                    <a:pt x="149" y="192"/>
                    <a:pt x="149" y="191"/>
                  </a:cubicBezTo>
                  <a:cubicBezTo>
                    <a:pt x="149" y="189"/>
                    <a:pt x="150" y="186"/>
                    <a:pt x="150" y="183"/>
                  </a:cubicBezTo>
                  <a:cubicBezTo>
                    <a:pt x="150" y="181"/>
                    <a:pt x="149" y="179"/>
                    <a:pt x="149" y="177"/>
                  </a:cubicBezTo>
                  <a:cubicBezTo>
                    <a:pt x="149" y="176"/>
                    <a:pt x="149" y="176"/>
                    <a:pt x="149" y="175"/>
                  </a:cubicBezTo>
                  <a:cubicBezTo>
                    <a:pt x="148" y="173"/>
                    <a:pt x="148" y="171"/>
                    <a:pt x="147" y="169"/>
                  </a:cubicBezTo>
                  <a:cubicBezTo>
                    <a:pt x="147" y="169"/>
                    <a:pt x="147" y="169"/>
                    <a:pt x="147" y="169"/>
                  </a:cubicBezTo>
                  <a:cubicBezTo>
                    <a:pt x="147" y="167"/>
                    <a:pt x="146" y="165"/>
                    <a:pt x="145" y="164"/>
                  </a:cubicBezTo>
                  <a:cubicBezTo>
                    <a:pt x="145" y="163"/>
                    <a:pt x="145" y="163"/>
                    <a:pt x="145" y="162"/>
                  </a:cubicBezTo>
                  <a:cubicBezTo>
                    <a:pt x="144" y="161"/>
                    <a:pt x="143" y="159"/>
                    <a:pt x="142" y="157"/>
                  </a:cubicBezTo>
                  <a:cubicBezTo>
                    <a:pt x="140" y="155"/>
                    <a:pt x="139" y="154"/>
                    <a:pt x="138" y="152"/>
                  </a:cubicBezTo>
                  <a:cubicBezTo>
                    <a:pt x="137" y="152"/>
                    <a:pt x="137" y="151"/>
                    <a:pt x="137" y="151"/>
                  </a:cubicBezTo>
                  <a:cubicBezTo>
                    <a:pt x="136" y="150"/>
                    <a:pt x="134" y="148"/>
                    <a:pt x="133" y="147"/>
                  </a:cubicBezTo>
                  <a:cubicBezTo>
                    <a:pt x="133" y="147"/>
                    <a:pt x="133" y="147"/>
                    <a:pt x="132" y="147"/>
                  </a:cubicBezTo>
                  <a:cubicBezTo>
                    <a:pt x="131" y="146"/>
                    <a:pt x="129" y="144"/>
                    <a:pt x="127" y="143"/>
                  </a:cubicBezTo>
                  <a:cubicBezTo>
                    <a:pt x="127" y="143"/>
                    <a:pt x="127" y="143"/>
                    <a:pt x="126" y="143"/>
                  </a:cubicBezTo>
                  <a:cubicBezTo>
                    <a:pt x="125" y="142"/>
                    <a:pt x="123" y="141"/>
                    <a:pt x="121" y="140"/>
                  </a:cubicBezTo>
                  <a:cubicBezTo>
                    <a:pt x="121" y="140"/>
                    <a:pt x="121" y="140"/>
                    <a:pt x="121" y="140"/>
                  </a:cubicBezTo>
                  <a:cubicBezTo>
                    <a:pt x="115" y="137"/>
                    <a:pt x="109" y="136"/>
                    <a:pt x="102" y="136"/>
                  </a:cubicBezTo>
                  <a:cubicBezTo>
                    <a:pt x="76" y="136"/>
                    <a:pt x="54" y="157"/>
                    <a:pt x="54" y="183"/>
                  </a:cubicBezTo>
                  <a:cubicBezTo>
                    <a:pt x="54" y="210"/>
                    <a:pt x="76" y="231"/>
                    <a:pt x="102" y="23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BEDF1CF1-DC5F-0959-3F5D-54785819D9FD}"/>
              </a:ext>
            </a:extLst>
          </p:cNvPr>
          <p:cNvGrpSpPr/>
          <p:nvPr/>
        </p:nvGrpSpPr>
        <p:grpSpPr>
          <a:xfrm>
            <a:off x="8480942" y="1718343"/>
            <a:ext cx="546976" cy="540745"/>
            <a:chOff x="6084168" y="1274820"/>
            <a:chExt cx="432048" cy="432834"/>
          </a:xfrm>
        </p:grpSpPr>
        <p:sp>
          <p:nvSpPr>
            <p:cNvPr id="53" name="椭圆 22">
              <a:extLst>
                <a:ext uri="{FF2B5EF4-FFF2-40B4-BE49-F238E27FC236}">
                  <a16:creationId xmlns:a16="http://schemas.microsoft.com/office/drawing/2014/main" id="{E7F1AB3B-2B1E-F735-4F39-3625173DE5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4" name="Freeform 59">
              <a:extLst>
                <a:ext uri="{FF2B5EF4-FFF2-40B4-BE49-F238E27FC236}">
                  <a16:creationId xmlns:a16="http://schemas.microsoft.com/office/drawing/2014/main" id="{021F28C5-3B28-BF45-C2A5-34A8B62084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latin typeface="Roboto Light"/>
              </a:endParaRPr>
            </a:p>
          </p:txBody>
        </p: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960187EC-CC9B-2A0B-A4FC-F3A00723625B}"/>
              </a:ext>
            </a:extLst>
          </p:cNvPr>
          <p:cNvGrpSpPr/>
          <p:nvPr/>
        </p:nvGrpSpPr>
        <p:grpSpPr>
          <a:xfrm>
            <a:off x="6852304" y="1718409"/>
            <a:ext cx="546976" cy="539763"/>
            <a:chOff x="4788024" y="1275213"/>
            <a:chExt cx="432048" cy="432048"/>
          </a:xfrm>
        </p:grpSpPr>
        <p:sp>
          <p:nvSpPr>
            <p:cNvPr id="56" name="椭圆 65">
              <a:extLst>
                <a:ext uri="{FF2B5EF4-FFF2-40B4-BE49-F238E27FC236}">
                  <a16:creationId xmlns:a16="http://schemas.microsoft.com/office/drawing/2014/main" id="{F27DAF35-75D8-CC16-1622-746BD8136E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7" name="Freeform 110">
              <a:extLst>
                <a:ext uri="{FF2B5EF4-FFF2-40B4-BE49-F238E27FC236}">
                  <a16:creationId xmlns:a16="http://schemas.microsoft.com/office/drawing/2014/main" id="{0937870B-302F-4961-B6FA-B4DCFC22A5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latin typeface="Roboto Light"/>
              </a:endParaRPr>
            </a:p>
          </p:txBody>
        </p:sp>
      </p:grp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5D0A9AF1-B0CB-7BBB-862E-65A50FB1DF5D}"/>
              </a:ext>
            </a:extLst>
          </p:cNvPr>
          <p:cNvGrpSpPr/>
          <p:nvPr/>
        </p:nvGrpSpPr>
        <p:grpSpPr>
          <a:xfrm>
            <a:off x="7682935" y="1726745"/>
            <a:ext cx="547970" cy="540745"/>
            <a:chOff x="5436096" y="1274820"/>
            <a:chExt cx="432833" cy="432834"/>
          </a:xfrm>
        </p:grpSpPr>
        <p:sp>
          <p:nvSpPr>
            <p:cNvPr id="59" name="椭圆 58">
              <a:extLst>
                <a:ext uri="{FF2B5EF4-FFF2-40B4-BE49-F238E27FC236}">
                  <a16:creationId xmlns:a16="http://schemas.microsoft.com/office/drawing/2014/main" id="{569F08FE-7665-2EE6-34F1-999E7EE422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60" name="Freeform 16">
              <a:extLst>
                <a:ext uri="{FF2B5EF4-FFF2-40B4-BE49-F238E27FC236}">
                  <a16:creationId xmlns:a16="http://schemas.microsoft.com/office/drawing/2014/main" id="{4E882E84-060F-1DEA-87A9-F3DEC31D4F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latin typeface="Roboto Light"/>
              </a:endParaRPr>
            </a:p>
          </p:txBody>
        </p:sp>
      </p:grp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FCE2829E-794C-B08E-09B7-467F470F7824}"/>
              </a:ext>
            </a:extLst>
          </p:cNvPr>
          <p:cNvGrpSpPr/>
          <p:nvPr/>
        </p:nvGrpSpPr>
        <p:grpSpPr>
          <a:xfrm>
            <a:off x="5211987" y="1715437"/>
            <a:ext cx="547970" cy="540745"/>
            <a:chOff x="3491880" y="1274820"/>
            <a:chExt cx="432833" cy="432834"/>
          </a:xfrm>
        </p:grpSpPr>
        <p:sp>
          <p:nvSpPr>
            <p:cNvPr id="62" name="椭圆 16">
              <a:extLst>
                <a:ext uri="{FF2B5EF4-FFF2-40B4-BE49-F238E27FC236}">
                  <a16:creationId xmlns:a16="http://schemas.microsoft.com/office/drawing/2014/main" id="{41856479-F4CD-0B3E-C7D3-AE1CACED4A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63" name="Freeform 75">
              <a:extLst>
                <a:ext uri="{FF2B5EF4-FFF2-40B4-BE49-F238E27FC236}">
                  <a16:creationId xmlns:a16="http://schemas.microsoft.com/office/drawing/2014/main" id="{175FA536-BD5C-B48A-AB53-1E6EAFCF10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latin typeface="Roboto Light"/>
              </a:endParaRPr>
            </a:p>
          </p:txBody>
        </p:sp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4F2ABE81-FCBD-2507-D8D0-D8689F77C1D5}"/>
              </a:ext>
            </a:extLst>
          </p:cNvPr>
          <p:cNvGrpSpPr/>
          <p:nvPr/>
        </p:nvGrpSpPr>
        <p:grpSpPr>
          <a:xfrm>
            <a:off x="6042699" y="1709107"/>
            <a:ext cx="547970" cy="540745"/>
            <a:chOff x="4139952" y="1274820"/>
            <a:chExt cx="432833" cy="432834"/>
          </a:xfrm>
        </p:grpSpPr>
        <p:sp>
          <p:nvSpPr>
            <p:cNvPr id="65" name="椭圆 16">
              <a:extLst>
                <a:ext uri="{FF2B5EF4-FFF2-40B4-BE49-F238E27FC236}">
                  <a16:creationId xmlns:a16="http://schemas.microsoft.com/office/drawing/2014/main" id="{78E4EE87-D267-3581-1779-AE2B15B4CB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66" name="Freeform 84">
              <a:extLst>
                <a:ext uri="{FF2B5EF4-FFF2-40B4-BE49-F238E27FC236}">
                  <a16:creationId xmlns:a16="http://schemas.microsoft.com/office/drawing/2014/main" id="{C2CC7162-C0E8-BB80-8642-37EB2BC966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latin typeface="Roboto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03412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6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000"/>
                            </p:stCondLst>
                            <p:childTnLst>
                              <p:par>
                                <p:cTn id="2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88D6A-89F9-040B-BA39-C2528C795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0FA63B0F-4A0C-2D75-AC32-E907BF3C3A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2519"/>
            <a:ext cx="352425" cy="400050"/>
          </a:xfrm>
          <a:prstGeom prst="rect">
            <a:avLst/>
          </a:prstGeom>
          <a:solidFill>
            <a:srgbClr val="5B9BD5">
              <a:lumMod val="50000"/>
            </a:srgbClr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endParaRPr lang="zh-CN" altLang="en-US" kern="0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91135E8-1C72-7894-BFAD-CFAA8BF4E0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" y="212519"/>
            <a:ext cx="123825" cy="400050"/>
          </a:xfrm>
          <a:prstGeom prst="rect">
            <a:avLst/>
          </a:prstGeom>
          <a:solidFill>
            <a:srgbClr val="7F7F7F"/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5B0DADCB-D6D4-11F0-DAAF-4ACFE3F864B0}"/>
              </a:ext>
            </a:extLst>
          </p:cNvPr>
          <p:cNvSpPr txBox="1"/>
          <p:nvPr/>
        </p:nvSpPr>
        <p:spPr>
          <a:xfrm>
            <a:off x="609600" y="224766"/>
            <a:ext cx="9710057" cy="375557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en-US" altLang="zh-CN" sz="2400" dirty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CCS5.0</a:t>
            </a:r>
            <a:r>
              <a:rPr lang="zh-CN" altLang="en-US" sz="2400" dirty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启动优化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A474277-5E4D-4E49-2DC1-6439DA6C6D7C}"/>
              </a:ext>
            </a:extLst>
          </p:cNvPr>
          <p:cNvSpPr txBox="1"/>
          <p:nvPr/>
        </p:nvSpPr>
        <p:spPr>
          <a:xfrm>
            <a:off x="419100" y="783372"/>
            <a:ext cx="8784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b="0" dirty="0">
                <a:latin typeface="微软雅黑" panose="020B0503020204020204" pitchFamily="34" charset="-122"/>
                <a:ea typeface="思源黑体" panose="020B0500000000000000"/>
              </a:rPr>
              <a:t>一、通过</a:t>
            </a:r>
            <a:r>
              <a:rPr lang="en-US" altLang="zh-CN" b="0" dirty="0">
                <a:latin typeface="微软雅黑" panose="020B0503020204020204" pitchFamily="34" charset="-122"/>
                <a:ea typeface="思源黑体" panose="020B0500000000000000"/>
              </a:rPr>
              <a:t>Timing </a:t>
            </a:r>
            <a:r>
              <a:rPr lang="zh-CN" altLang="en-US" b="0" dirty="0">
                <a:latin typeface="微软雅黑" panose="020B0503020204020204" pitchFamily="34" charset="-122"/>
                <a:ea typeface="思源黑体" panose="020B0500000000000000"/>
              </a:rPr>
              <a:t>日志确定耗时位置</a:t>
            </a:r>
            <a:endParaRPr lang="en-US" altLang="zh-CN" b="0" dirty="0">
              <a:latin typeface="微软雅黑" panose="020B0503020204020204" pitchFamily="34" charset="-122"/>
              <a:ea typeface="思源黑体" panose="020B050000000000000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575DC98-4B6A-0C29-166C-A584784A53C1}"/>
              </a:ext>
            </a:extLst>
          </p:cNvPr>
          <p:cNvSpPr txBox="1"/>
          <p:nvPr/>
        </p:nvSpPr>
        <p:spPr>
          <a:xfrm>
            <a:off x="563116" y="1287428"/>
            <a:ext cx="835292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优化前，根据</a:t>
            </a:r>
            <a:r>
              <a:rPr lang="en-US" altLang="zh-CN" sz="140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Bootchart</a:t>
            </a:r>
            <a:r>
              <a:rPr lang="zh-CN" altLang="en-US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，</a:t>
            </a:r>
            <a:r>
              <a:rPr lang="en-US" altLang="zh-CN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 5.0</a:t>
            </a:r>
            <a:r>
              <a:rPr lang="zh-CN" altLang="en-US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的开机时间每次在</a:t>
            </a:r>
            <a:r>
              <a:rPr lang="en-US" altLang="zh-CN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19s</a:t>
            </a:r>
            <a:r>
              <a:rPr lang="zh-CN" altLang="en-US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到</a:t>
            </a:r>
            <a:r>
              <a:rPr lang="en-US" altLang="zh-CN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20</a:t>
            </a:r>
            <a:r>
              <a:rPr lang="zh-CN" altLang="en-US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几秒之间浮动。</a:t>
            </a:r>
            <a:endParaRPr lang="en-US" altLang="zh-CN" sz="140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algn="l"/>
            <a:r>
              <a:rPr lang="zh-CN" altLang="en-US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通过日志可以找到耗时比较长的阶段。</a:t>
            </a:r>
            <a:endParaRPr lang="en-US" altLang="zh-CN" sz="140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algn="l"/>
            <a:endParaRPr lang="en-US" altLang="zh-CN" sz="140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marL="342900" indent="-342900" algn="l">
              <a:buAutoNum type="arabicPeriod"/>
            </a:pPr>
            <a:r>
              <a:rPr lang="en-US" altLang="zh-CN" sz="140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packageManagerService</a:t>
            </a:r>
            <a:r>
              <a:rPr lang="zh-CN" altLang="en-US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启动耗时</a:t>
            </a:r>
            <a:r>
              <a:rPr lang="en-US" altLang="zh-CN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1.6</a:t>
            </a:r>
            <a:r>
              <a:rPr lang="zh-CN" altLang="en-US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秒，其中</a:t>
            </a:r>
            <a:r>
              <a:rPr lang="en-US" altLang="zh-CN" sz="140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system_scan</a:t>
            </a:r>
            <a:r>
              <a:rPr lang="zh-CN" altLang="en-US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这一步就占了</a:t>
            </a:r>
            <a:r>
              <a:rPr lang="en-US" altLang="zh-CN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1.4s</a:t>
            </a:r>
          </a:p>
          <a:p>
            <a:pPr marL="342900" indent="-342900" algn="l">
              <a:buAutoNum type="arabicPeriod"/>
            </a:pPr>
            <a:r>
              <a:rPr lang="zh-CN" altLang="en-US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个别服务耗时比较长（</a:t>
            </a:r>
            <a:r>
              <a:rPr lang="en-US" altLang="zh-CN" sz="140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wifi</a:t>
            </a:r>
            <a:r>
              <a:rPr lang="zh-CN" altLang="en-US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、</a:t>
            </a:r>
            <a:r>
              <a:rPr lang="en-US" altLang="zh-CN" sz="140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CarService</a:t>
            </a:r>
            <a:r>
              <a:rPr lang="zh-CN" altLang="en-US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等服务）</a:t>
            </a:r>
            <a:endParaRPr lang="en-US" altLang="zh-CN" sz="140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marL="342900" indent="-342900" algn="l">
              <a:buAutoNum type="arabicPeriod"/>
            </a:pPr>
            <a:r>
              <a:rPr lang="zh-CN" altLang="en-US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从</a:t>
            </a:r>
            <a:r>
              <a:rPr lang="en-US" altLang="zh-CN" sz="140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UnlockingUser</a:t>
            </a:r>
            <a:r>
              <a:rPr lang="zh-CN" altLang="en-US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到</a:t>
            </a:r>
            <a:r>
              <a:rPr lang="en-US" altLang="zh-CN" sz="140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FinishBooting</a:t>
            </a:r>
            <a:r>
              <a:rPr lang="zh-CN" altLang="en-US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间隔</a:t>
            </a:r>
            <a:r>
              <a:rPr lang="en-US" altLang="zh-CN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4s</a:t>
            </a:r>
          </a:p>
          <a:p>
            <a:pPr algn="l"/>
            <a:endParaRPr lang="zh-CN" altLang="en-US" sz="140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947509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9F386-448A-97D5-77C8-F89BA0EFE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8353697D-CB92-92D4-3A54-794E771F4A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2519"/>
            <a:ext cx="352425" cy="400050"/>
          </a:xfrm>
          <a:prstGeom prst="rect">
            <a:avLst/>
          </a:prstGeom>
          <a:solidFill>
            <a:srgbClr val="5B9BD5">
              <a:lumMod val="50000"/>
            </a:srgbClr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endParaRPr lang="zh-CN" altLang="en-US" kern="0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49161B5-5A30-AB69-7FAE-7A6E9072BF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" y="212519"/>
            <a:ext cx="123825" cy="400050"/>
          </a:xfrm>
          <a:prstGeom prst="rect">
            <a:avLst/>
          </a:prstGeom>
          <a:solidFill>
            <a:srgbClr val="7F7F7F"/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9D932E98-844D-0040-D57F-CCEC978C2703}"/>
              </a:ext>
            </a:extLst>
          </p:cNvPr>
          <p:cNvSpPr txBox="1"/>
          <p:nvPr/>
        </p:nvSpPr>
        <p:spPr>
          <a:xfrm>
            <a:off x="609600" y="224766"/>
            <a:ext cx="9710057" cy="375557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en-US" altLang="zh-CN" sz="2400" dirty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CCS5.0</a:t>
            </a:r>
            <a:r>
              <a:rPr lang="zh-CN" altLang="en-US" sz="2400" dirty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启动优化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586F46C-03D8-EF90-FC54-0F14102A9D0B}"/>
              </a:ext>
            </a:extLst>
          </p:cNvPr>
          <p:cNvSpPr txBox="1"/>
          <p:nvPr/>
        </p:nvSpPr>
        <p:spPr>
          <a:xfrm>
            <a:off x="419100" y="783372"/>
            <a:ext cx="8784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二、分析</a:t>
            </a:r>
            <a:r>
              <a:rPr lang="en-US" altLang="zh-CN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UnlockingUser</a:t>
            </a:r>
            <a:r>
              <a:rPr lang="zh-CN" altLang="en-US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耗时长的原因</a:t>
            </a:r>
            <a:endParaRPr lang="en-US" altLang="zh-CN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3BFAAC5-428D-FB86-0BFA-780FAA721F45}"/>
              </a:ext>
            </a:extLst>
          </p:cNvPr>
          <p:cNvSpPr txBox="1"/>
          <p:nvPr/>
        </p:nvSpPr>
        <p:spPr>
          <a:xfrm>
            <a:off x="609600" y="1399396"/>
            <a:ext cx="835292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12.994  1128  1166 W Looper  : Slow dispatch took 4422ms </a:t>
            </a:r>
            <a:r>
              <a:rPr lang="en-US" altLang="zh-CN" sz="140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android.fg</a:t>
            </a:r>
            <a:r>
              <a:rPr lang="en-US" altLang="zh-CN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 h=</a:t>
            </a:r>
            <a:r>
              <a:rPr lang="en-US" altLang="zh-CN" sz="140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com.android.server.location.gnss.GnssLocationProvider</a:t>
            </a:r>
            <a:endParaRPr lang="en-US" altLang="zh-CN" sz="140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endParaRPr lang="en-US" altLang="zh-CN" sz="140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r>
              <a:rPr lang="zh-CN" altLang="en-US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不难看出</a:t>
            </a:r>
            <a:r>
              <a:rPr lang="en-US" altLang="zh-CN" sz="140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GnssLocationProvider</a:t>
            </a:r>
            <a:r>
              <a:rPr lang="zh-CN" altLang="en-US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阻塞了</a:t>
            </a:r>
            <a:r>
              <a:rPr lang="en-US" altLang="zh-CN" sz="140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FgThread</a:t>
            </a:r>
            <a:r>
              <a:rPr lang="zh-CN" altLang="en-US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，导致</a:t>
            </a:r>
            <a:r>
              <a:rPr lang="en-US" altLang="zh-CN" sz="140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UnlockingUser</a:t>
            </a:r>
            <a:r>
              <a:rPr lang="zh-CN" altLang="en-US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延迟。</a:t>
            </a:r>
            <a:endParaRPr lang="en-US" altLang="zh-CN" sz="140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r>
              <a:rPr lang="zh-CN" altLang="en-US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进一步分析，在</a:t>
            </a:r>
            <a:r>
              <a:rPr lang="en-US" altLang="zh-CN" sz="140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init</a:t>
            </a:r>
            <a:r>
              <a:rPr lang="zh-CN" altLang="en-US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服务时，会调用底层</a:t>
            </a:r>
            <a:r>
              <a:rPr lang="en-US" altLang="zh-CN" sz="140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gnss</a:t>
            </a:r>
            <a:r>
              <a:rPr lang="en-US" altLang="zh-CN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hal</a:t>
            </a:r>
            <a:r>
              <a:rPr lang="zh-CN" altLang="en-US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服务的</a:t>
            </a:r>
            <a:r>
              <a:rPr lang="en-US" altLang="zh-CN" sz="140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setGlonassPositioningProtocol</a:t>
            </a:r>
            <a:r>
              <a:rPr lang="zh-CN" altLang="en-US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和</a:t>
            </a:r>
            <a:r>
              <a:rPr lang="en-US" altLang="zh-CN" sz="140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setLppProfile</a:t>
            </a:r>
            <a:r>
              <a:rPr lang="zh-CN" altLang="en-US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两个接口，而这两个接口会阻塞几秒返回。可见是开发在</a:t>
            </a:r>
            <a:r>
              <a:rPr lang="en-US" altLang="zh-CN" sz="140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hal</a:t>
            </a:r>
            <a:r>
              <a:rPr lang="zh-CN" altLang="en-US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层适配</a:t>
            </a:r>
            <a:r>
              <a:rPr lang="en-US" altLang="zh-CN" sz="140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gps</a:t>
            </a:r>
            <a:r>
              <a:rPr lang="zh-CN" altLang="en-US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时没处理好。</a:t>
            </a:r>
            <a:endParaRPr lang="en-US" altLang="zh-CN" sz="140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endParaRPr lang="en-US" altLang="zh-CN" sz="140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853720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CD003-D03B-E676-FD71-CFA98AD51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8C4A601B-17CD-6B1F-48BD-7199AE5793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2519"/>
            <a:ext cx="352425" cy="400050"/>
          </a:xfrm>
          <a:prstGeom prst="rect">
            <a:avLst/>
          </a:prstGeom>
          <a:solidFill>
            <a:srgbClr val="5B9BD5">
              <a:lumMod val="50000"/>
            </a:srgbClr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endParaRPr lang="zh-CN" altLang="en-US" kern="0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A0C6C49-BC5E-1D84-2330-3D5D873904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" y="212519"/>
            <a:ext cx="123825" cy="400050"/>
          </a:xfrm>
          <a:prstGeom prst="rect">
            <a:avLst/>
          </a:prstGeom>
          <a:solidFill>
            <a:srgbClr val="7F7F7F"/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7DAEF819-BDC1-FD48-D1A2-32D0638E9139}"/>
              </a:ext>
            </a:extLst>
          </p:cNvPr>
          <p:cNvSpPr txBox="1"/>
          <p:nvPr/>
        </p:nvSpPr>
        <p:spPr>
          <a:xfrm>
            <a:off x="609600" y="224766"/>
            <a:ext cx="9710057" cy="375557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en-US" altLang="zh-CN" sz="2400" dirty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CCS5.0</a:t>
            </a:r>
            <a:r>
              <a:rPr lang="zh-CN" altLang="en-US" sz="2400" dirty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启动优化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DBAF9EE-729D-F930-9A27-C0F0D9F4E697}"/>
              </a:ext>
            </a:extLst>
          </p:cNvPr>
          <p:cNvSpPr txBox="1"/>
          <p:nvPr/>
        </p:nvSpPr>
        <p:spPr>
          <a:xfrm>
            <a:off x="419100" y="810209"/>
            <a:ext cx="8784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b="0" dirty="0">
                <a:latin typeface="微软雅黑" panose="020B0503020204020204" pitchFamily="34" charset="-122"/>
                <a:ea typeface="思源黑体" panose="020B0500000000000000"/>
              </a:rPr>
              <a:t>三、移除几个</a:t>
            </a:r>
            <a:r>
              <a:rPr lang="en-US" altLang="zh-CN" b="0" dirty="0" err="1">
                <a:latin typeface="微软雅黑" panose="020B0503020204020204" pitchFamily="34" charset="-122"/>
                <a:ea typeface="思源黑体" panose="020B0500000000000000"/>
              </a:rPr>
              <a:t>dntc</a:t>
            </a:r>
            <a:r>
              <a:rPr lang="zh-CN" altLang="en-US" b="0" dirty="0">
                <a:latin typeface="微软雅黑" panose="020B0503020204020204" pitchFamily="34" charset="-122"/>
                <a:ea typeface="思源黑体" panose="020B0500000000000000"/>
              </a:rPr>
              <a:t>的</a:t>
            </a:r>
            <a:r>
              <a:rPr lang="en-US" altLang="zh-CN" b="0" dirty="0">
                <a:latin typeface="微软雅黑" panose="020B0503020204020204" pitchFamily="34" charset="-122"/>
                <a:ea typeface="思源黑体" panose="020B0500000000000000"/>
              </a:rPr>
              <a:t>app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85491C3-0CB7-2839-6683-5A64E132BCE1}"/>
              </a:ext>
            </a:extLst>
          </p:cNvPr>
          <p:cNvSpPr txBox="1"/>
          <p:nvPr/>
        </p:nvSpPr>
        <p:spPr>
          <a:xfrm>
            <a:off x="542925" y="1468286"/>
            <a:ext cx="835292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日产有几个</a:t>
            </a:r>
            <a:r>
              <a:rPr lang="en-US" altLang="zh-CN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app</a:t>
            </a:r>
            <a:r>
              <a:rPr lang="zh-CN" altLang="en-US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会严重拖慢开机速度。尤其是导航，更是把开机时间拖慢了</a:t>
            </a:r>
            <a:r>
              <a:rPr lang="en-US" altLang="zh-CN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4~5</a:t>
            </a:r>
            <a:r>
              <a:rPr lang="zh-CN" altLang="en-US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秒，可以说是元凶。</a:t>
            </a:r>
            <a:endParaRPr lang="en-US" altLang="zh-CN" sz="140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endParaRPr lang="en-US" altLang="zh-CN" sz="140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algn="l"/>
            <a:r>
              <a:rPr lang="zh-CN" altLang="en-US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移除日产的</a:t>
            </a:r>
            <a:r>
              <a:rPr lang="en-US" altLang="zh-CN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Launcher</a:t>
            </a:r>
            <a:r>
              <a:rPr lang="zh-CN" altLang="en-US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、导航等几个应用，使用原生</a:t>
            </a:r>
            <a:r>
              <a:rPr lang="en-US" altLang="zh-CN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launcher</a:t>
            </a:r>
            <a:r>
              <a:rPr lang="zh-CN" altLang="en-US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或任意三方</a:t>
            </a:r>
            <a:r>
              <a:rPr lang="en-US" altLang="zh-CN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Launcher</a:t>
            </a:r>
            <a:r>
              <a:rPr lang="zh-CN" altLang="en-US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代替后，启动时间立即从</a:t>
            </a:r>
            <a:r>
              <a:rPr lang="en-US" altLang="zh-CN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20s</a:t>
            </a:r>
            <a:r>
              <a:rPr lang="zh-CN" altLang="en-US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提升到了</a:t>
            </a:r>
            <a:r>
              <a:rPr lang="en-US" altLang="zh-CN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14s</a:t>
            </a:r>
            <a:r>
              <a:rPr lang="zh-CN" altLang="en-US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。</a:t>
            </a:r>
            <a:endParaRPr lang="en-US" altLang="zh-CN" sz="140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algn="l"/>
            <a:endParaRPr lang="en-US" altLang="zh-CN" sz="140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algn="l"/>
            <a:r>
              <a:rPr lang="zh-CN" altLang="en-US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日产要求主页出来后，所有控件已经就绪可用，而不是先出现界面，然后各个组件再异步加载。所以</a:t>
            </a:r>
            <a:r>
              <a:rPr lang="en-US" altLang="zh-CN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Launcher</a:t>
            </a:r>
            <a:r>
              <a:rPr lang="zh-CN" altLang="en-US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会等导航全部资源完成后，才通知系统开机完成。</a:t>
            </a:r>
            <a:endParaRPr lang="en-US" altLang="zh-CN" sz="140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algn="l"/>
            <a:endParaRPr lang="en-US" altLang="zh-CN" sz="140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algn="l"/>
            <a:r>
              <a:rPr lang="zh-CN" altLang="en-US" sz="140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这快只能请日产去优化。</a:t>
            </a:r>
            <a:endParaRPr lang="en-US" altLang="zh-CN" sz="140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algn="l"/>
            <a:endParaRPr lang="zh-CN" altLang="en-US" sz="140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028636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EFF45-44DE-FC87-4DFB-4E52C6408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05836A28-472A-0817-DCB9-FA86B9EDD4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2519"/>
            <a:ext cx="352425" cy="400050"/>
          </a:xfrm>
          <a:prstGeom prst="rect">
            <a:avLst/>
          </a:prstGeom>
          <a:solidFill>
            <a:srgbClr val="5B9BD5">
              <a:lumMod val="50000"/>
            </a:srgbClr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endParaRPr lang="zh-CN" altLang="en-US" kern="0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177C44A-9FFE-8853-2612-6412FC3128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" y="212519"/>
            <a:ext cx="123825" cy="400050"/>
          </a:xfrm>
          <a:prstGeom prst="rect">
            <a:avLst/>
          </a:prstGeom>
          <a:solidFill>
            <a:srgbClr val="7F7F7F"/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F0553DD9-D44D-8192-C777-9FAE7DCE57A8}"/>
              </a:ext>
            </a:extLst>
          </p:cNvPr>
          <p:cNvSpPr txBox="1"/>
          <p:nvPr/>
        </p:nvSpPr>
        <p:spPr>
          <a:xfrm>
            <a:off x="609600" y="224766"/>
            <a:ext cx="9710057" cy="375557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en-US" altLang="zh-CN" sz="2400" dirty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CCS5.0</a:t>
            </a:r>
            <a:r>
              <a:rPr lang="zh-CN" altLang="en-US" sz="2400" dirty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启动优化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31CB192-44C4-46CA-F130-6093FDCF791C}"/>
              </a:ext>
            </a:extLst>
          </p:cNvPr>
          <p:cNvSpPr txBox="1"/>
          <p:nvPr/>
        </p:nvSpPr>
        <p:spPr>
          <a:xfrm>
            <a:off x="419100" y="822651"/>
            <a:ext cx="8784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0" dirty="0">
                <a:latin typeface="微软雅黑" panose="020B0503020204020204" pitchFamily="34" charset="-122"/>
                <a:ea typeface="思源黑体" panose="020B0500000000000000"/>
              </a:rPr>
              <a:t>四、</a:t>
            </a:r>
            <a:r>
              <a:rPr lang="zh-CN" altLang="en-US" dirty="0">
                <a:latin typeface="微软雅黑" panose="020B0503020204020204" pitchFamily="34" charset="-122"/>
                <a:ea typeface="思源黑体" panose="020B0500000000000000"/>
              </a:rPr>
              <a:t>裁剪一些服务</a:t>
            </a:r>
            <a:endParaRPr lang="en-US" altLang="zh-CN" b="0" dirty="0">
              <a:latin typeface="微软雅黑" panose="020B0503020204020204" pitchFamily="34" charset="-122"/>
              <a:ea typeface="思源黑体" panose="020B050000000000000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E765C2E-1392-DE63-705F-6344B9D1F3D5}"/>
              </a:ext>
            </a:extLst>
          </p:cNvPr>
          <p:cNvSpPr txBox="1"/>
          <p:nvPr/>
        </p:nvSpPr>
        <p:spPr>
          <a:xfrm>
            <a:off x="481012" y="1507009"/>
            <a:ext cx="835292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AutoNum type="arabicPeriod"/>
            </a:pP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裁剪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zygote32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。提升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150ms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左右</a:t>
            </a:r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marL="342900" indent="-342900" algn="l">
              <a:buAutoNum type="arabicPeriod"/>
            </a:pP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去掉</a:t>
            </a:r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SystemReadyErrorDialogs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，提升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35ms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左右</a:t>
            </a:r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algn="l"/>
            <a:endParaRPr lang="zh-CN" altLang="en-US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025848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267EE-0201-B133-C584-8CB91EA20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FB2D1CD5-5266-26C7-A97D-1ED91DE469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2519"/>
            <a:ext cx="352425" cy="400050"/>
          </a:xfrm>
          <a:prstGeom prst="rect">
            <a:avLst/>
          </a:prstGeom>
          <a:solidFill>
            <a:srgbClr val="5B9BD5">
              <a:lumMod val="50000"/>
            </a:srgbClr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endParaRPr lang="zh-CN" altLang="en-US" kern="0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4E37EB5-22DE-F66D-95C5-B5C8E1FED0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" y="212519"/>
            <a:ext cx="123825" cy="400050"/>
          </a:xfrm>
          <a:prstGeom prst="rect">
            <a:avLst/>
          </a:prstGeom>
          <a:solidFill>
            <a:srgbClr val="7F7F7F"/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65685396-0AFF-892D-7E6D-1C21A7A28E1C}"/>
              </a:ext>
            </a:extLst>
          </p:cNvPr>
          <p:cNvSpPr txBox="1"/>
          <p:nvPr/>
        </p:nvSpPr>
        <p:spPr>
          <a:xfrm>
            <a:off x="609600" y="224766"/>
            <a:ext cx="9710057" cy="375557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en-US" altLang="zh-CN" sz="2400" dirty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CCS5.0</a:t>
            </a:r>
            <a:r>
              <a:rPr lang="zh-CN" altLang="en-US" sz="2400" dirty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启动优化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495F4EB-5FF6-4AC9-792D-8FA183A7D1A4}"/>
              </a:ext>
            </a:extLst>
          </p:cNvPr>
          <p:cNvSpPr txBox="1"/>
          <p:nvPr/>
        </p:nvSpPr>
        <p:spPr>
          <a:xfrm>
            <a:off x="352425" y="813514"/>
            <a:ext cx="8784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五、</a:t>
            </a:r>
            <a:r>
              <a:rPr lang="en-US" altLang="zh-CN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PMS</a:t>
            </a:r>
            <a:r>
              <a:rPr lang="zh-CN" altLang="en-US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优化和调整</a:t>
            </a:r>
            <a:endParaRPr lang="en-US" altLang="zh-CN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2F9024A-B4EC-9B4C-1E08-2C321B1D1032}"/>
              </a:ext>
            </a:extLst>
          </p:cNvPr>
          <p:cNvSpPr txBox="1"/>
          <p:nvPr/>
        </p:nvSpPr>
        <p:spPr>
          <a:xfrm>
            <a:off x="419100" y="1289953"/>
            <a:ext cx="835292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PMS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是启动的所有服务中，耗时最长的一个，前面裁剪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app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，目的也是减少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PMS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的时长。</a:t>
            </a:r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algn="l"/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下面提供一些其它的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PMS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优化项。</a:t>
            </a:r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algn="l"/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marL="342900" indent="-342900" algn="l">
              <a:buAutoNum type="arabicPeriod"/>
            </a:pP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通过日志，可以看到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scan apex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花了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1s</a:t>
            </a:r>
          </a:p>
          <a:p>
            <a:pPr marL="342900" indent="-342900" algn="l">
              <a:buAutoNum type="arabicPeriod"/>
            </a:pPr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marL="342900" indent="-342900" algn="l">
              <a:buAutoNum type="arabicPeriod"/>
            </a:pPr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marL="342900" indent="-342900" algn="l">
              <a:buAutoNum type="arabicPeriod"/>
            </a:pPr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marL="342900" indent="-342900" algn="l">
              <a:buAutoNum type="arabicPeriod"/>
            </a:pPr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marL="342900" indent="-342900" algn="l">
              <a:buAutoNum type="arabicPeriod"/>
            </a:pPr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marL="342900" indent="-342900" algn="l">
              <a:buAutoNum type="arabicPeriod"/>
            </a:pPr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algn="l"/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algn="l"/>
            <a:endParaRPr lang="en-US" altLang="zh-CN" sz="140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algn="l"/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1)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先考虑某些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apex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是否可以去掉。这几个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apex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都比较重要，所以不裁剪</a:t>
            </a:r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algn="l"/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2)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注意到</a:t>
            </a:r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com.android.art.debug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可以改成</a:t>
            </a:r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com.android.art.release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，调整后速度有一定提升。</a:t>
            </a:r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algn="l"/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  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art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的原有的逻辑是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, </a:t>
            </a:r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eng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和</a:t>
            </a:r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userdebug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编译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debug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版，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user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编译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release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。强制在</a:t>
            </a:r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userdebug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集成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release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的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art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，不太合理但系统运行不会有问题。</a:t>
            </a:r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algn="l"/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algn="l"/>
            <a:endParaRPr lang="zh-CN" altLang="en-US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25AB5BD-A14A-08C1-6288-BBBA34203C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25" y="2358685"/>
            <a:ext cx="6071575" cy="1318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4331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6C057-F6D7-1829-15DF-D4DDD23C5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3DA94869-C826-DFFE-FE9C-E3B2EA856B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2519"/>
            <a:ext cx="352425" cy="400050"/>
          </a:xfrm>
          <a:prstGeom prst="rect">
            <a:avLst/>
          </a:prstGeom>
          <a:solidFill>
            <a:srgbClr val="5B9BD5">
              <a:lumMod val="50000"/>
            </a:srgbClr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endParaRPr lang="zh-CN" altLang="en-US" kern="0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AEA1329-DEC9-6A14-6B97-CCCFD167D7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" y="212519"/>
            <a:ext cx="123825" cy="400050"/>
          </a:xfrm>
          <a:prstGeom prst="rect">
            <a:avLst/>
          </a:prstGeom>
          <a:solidFill>
            <a:srgbClr val="7F7F7F"/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7BD8757C-8141-DE40-351F-08C45F161563}"/>
              </a:ext>
            </a:extLst>
          </p:cNvPr>
          <p:cNvSpPr txBox="1"/>
          <p:nvPr/>
        </p:nvSpPr>
        <p:spPr>
          <a:xfrm>
            <a:off x="609600" y="224766"/>
            <a:ext cx="9710057" cy="375557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en-US" altLang="zh-CN" sz="2400" dirty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CCS5.0</a:t>
            </a:r>
            <a:r>
              <a:rPr lang="zh-CN" altLang="en-US" sz="2400" dirty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启动优化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56DB79C-1C29-DBF8-0C4B-1B53CD160DDA}"/>
              </a:ext>
            </a:extLst>
          </p:cNvPr>
          <p:cNvSpPr txBox="1"/>
          <p:nvPr/>
        </p:nvSpPr>
        <p:spPr>
          <a:xfrm>
            <a:off x="419100" y="801268"/>
            <a:ext cx="8784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思源黑体" panose="020B0500000000000000"/>
              </a:rPr>
              <a:t>五、</a:t>
            </a:r>
            <a:r>
              <a:rPr lang="en-US" altLang="zh-CN" dirty="0">
                <a:latin typeface="微软雅黑" panose="020B0503020204020204" pitchFamily="34" charset="-122"/>
                <a:ea typeface="思源黑体" panose="020B0500000000000000"/>
              </a:rPr>
              <a:t>PMS</a:t>
            </a:r>
            <a:r>
              <a:rPr lang="zh-CN" altLang="en-US" dirty="0">
                <a:latin typeface="微软雅黑" panose="020B0503020204020204" pitchFamily="34" charset="-122"/>
                <a:ea typeface="思源黑体" panose="020B0500000000000000"/>
              </a:rPr>
              <a:t>优化和调整</a:t>
            </a:r>
            <a:endParaRPr lang="en-US" altLang="zh-CN" b="0" dirty="0">
              <a:latin typeface="微软雅黑" panose="020B0503020204020204" pitchFamily="34" charset="-122"/>
              <a:ea typeface="思源黑体" panose="020B050000000000000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1F81040-D66A-2127-A451-627A74DE25A9}"/>
              </a:ext>
            </a:extLst>
          </p:cNvPr>
          <p:cNvSpPr txBox="1"/>
          <p:nvPr/>
        </p:nvSpPr>
        <p:spPr>
          <a:xfrm>
            <a:off x="692215" y="1185714"/>
            <a:ext cx="835292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2. 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很大一部分耗时是在校验证书上面，这部分去掉并不会影响功能。由于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system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是只读分区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(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不考虑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remount)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，并不需要担心</a:t>
            </a:r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apk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被篡改。所以可以关闭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verify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。</a:t>
            </a:r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marL="342900" indent="-342900" algn="l">
              <a:buAutoNum type="arabicPeriod"/>
            </a:pPr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algn="l"/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 // </a:t>
            </a:r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ParsingPackageUtils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  </a:t>
            </a:r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parseBaseApk</a:t>
            </a:r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algn="l"/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        if ((flags &amp; </a:t>
            </a:r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PackageParser.PARSE_COLLECT_CERTIFICATES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) != 0) {</a:t>
            </a:r>
          </a:p>
          <a:p>
            <a:pPr algn="l"/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            </a:t>
            </a:r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pkg.setSigningDetails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(</a:t>
            </a:r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getSigningDetails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(pkg, true)); // </a:t>
            </a:r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skipVerify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: false-&gt;true</a:t>
            </a:r>
          </a:p>
          <a:p>
            <a:pPr algn="l"/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        } else {</a:t>
            </a:r>
          </a:p>
          <a:p>
            <a:pPr algn="l"/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            </a:t>
            </a:r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pkg.setSigningDetails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(</a:t>
            </a:r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SigningDetails.UNKNOWN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);</a:t>
            </a:r>
          </a:p>
          <a:p>
            <a:pPr algn="l"/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        }</a:t>
            </a:r>
          </a:p>
          <a:p>
            <a:pPr algn="l"/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        </a:t>
            </a:r>
          </a:p>
          <a:p>
            <a:pPr algn="l"/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        // </a:t>
            </a:r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ApkLiteParseUtils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 </a:t>
            </a:r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parseApkLiteInner</a:t>
            </a:r>
            <a:endParaRPr lang="en-US" altLang="zh-CN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  <a:p>
            <a:pPr algn="l"/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        </a:t>
            </a:r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boolean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 </a:t>
            </a:r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skipVerify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 = (flags &amp; </a:t>
            </a:r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PackageParser.PARSE_IS_SYSTEM_DIR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) != 0;</a:t>
            </a:r>
          </a:p>
          <a:p>
            <a:pPr algn="l"/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        if (</a:t>
            </a:r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apkFile.getAbsolutePath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().</a:t>
            </a:r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startsWith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("/system/apex/")) {</a:t>
            </a:r>
          </a:p>
          <a:p>
            <a:pPr algn="l"/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            </a:t>
            </a:r>
            <a:r>
              <a:rPr lang="en-US" altLang="zh-CN" sz="14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skipVerify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 = true;</a:t>
            </a:r>
          </a:p>
          <a:p>
            <a:pPr algn="l"/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        }</a:t>
            </a:r>
          </a:p>
          <a:p>
            <a:pPr algn="l"/>
            <a:endParaRPr lang="zh-CN" altLang="en-US" sz="14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853F0D7-B310-8853-15A7-E172297BEE9D}"/>
              </a:ext>
            </a:extLst>
          </p:cNvPr>
          <p:cNvSpPr txBox="1"/>
          <p:nvPr/>
        </p:nvSpPr>
        <p:spPr>
          <a:xfrm>
            <a:off x="692215" y="4837112"/>
            <a:ext cx="78488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400" b="0" dirty="0">
                <a:latin typeface="+mn-ea"/>
                <a:ea typeface="思源黑体" panose="020B0500000000000000"/>
              </a:rPr>
              <a:t>此项优化效果明显，提升</a:t>
            </a:r>
            <a:r>
              <a:rPr lang="en-US" altLang="zh-CN" sz="1400" b="0" dirty="0">
                <a:latin typeface="+mn-ea"/>
                <a:ea typeface="思源黑体" panose="020B0500000000000000"/>
              </a:rPr>
              <a:t>&gt;1s</a:t>
            </a:r>
            <a:r>
              <a:rPr lang="zh-CN" altLang="en-US" sz="1400" b="0" dirty="0">
                <a:latin typeface="+mn-ea"/>
                <a:ea typeface="思源黑体" panose="020B050000000000000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6705006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52D67-FF71-0D69-0B10-8037BD082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3AE31EA8-6820-8BDE-2056-25AEDD464F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2519"/>
            <a:ext cx="352425" cy="400050"/>
          </a:xfrm>
          <a:prstGeom prst="rect">
            <a:avLst/>
          </a:prstGeom>
          <a:solidFill>
            <a:srgbClr val="5B9BD5">
              <a:lumMod val="50000"/>
            </a:srgbClr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endParaRPr lang="zh-CN" altLang="en-US" kern="0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41995C3-7EE8-17FE-9BB7-748B22DEF1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" y="212519"/>
            <a:ext cx="123825" cy="400050"/>
          </a:xfrm>
          <a:prstGeom prst="rect">
            <a:avLst/>
          </a:prstGeom>
          <a:solidFill>
            <a:srgbClr val="7F7F7F"/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srgbClr val="1F4E7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166376B0-7A44-C7AA-7BC0-32B699E8BDA3}"/>
              </a:ext>
            </a:extLst>
          </p:cNvPr>
          <p:cNvSpPr txBox="1"/>
          <p:nvPr/>
        </p:nvSpPr>
        <p:spPr>
          <a:xfrm>
            <a:off x="609600" y="224766"/>
            <a:ext cx="9710057" cy="375557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en-US" altLang="zh-CN" sz="2400" dirty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CCS5.0</a:t>
            </a:r>
            <a:r>
              <a:rPr lang="zh-CN" altLang="en-US" sz="2400" dirty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启动优化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938AA73-7CBB-4FF8-6DF3-01899EFCCF9F}"/>
              </a:ext>
            </a:extLst>
          </p:cNvPr>
          <p:cNvSpPr txBox="1"/>
          <p:nvPr/>
        </p:nvSpPr>
        <p:spPr>
          <a:xfrm>
            <a:off x="282764" y="934618"/>
            <a:ext cx="8784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思源黑体" panose="020B0500000000000000"/>
              </a:rPr>
              <a:t>六、内核优化</a:t>
            </a:r>
            <a:endParaRPr lang="en-US" altLang="zh-CN" dirty="0">
              <a:latin typeface="微软雅黑" panose="020B0503020204020204" pitchFamily="34" charset="-122"/>
              <a:ea typeface="思源黑体" panose="020B050000000000000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E1CD37B-5A74-5298-80AD-AE68077FCD67}"/>
              </a:ext>
            </a:extLst>
          </p:cNvPr>
          <p:cNvSpPr txBox="1"/>
          <p:nvPr/>
        </p:nvSpPr>
        <p:spPr>
          <a:xfrm>
            <a:off x="481012" y="1500504"/>
            <a:ext cx="78488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6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通过</a:t>
            </a:r>
            <a:r>
              <a:rPr lang="en-US" altLang="zh-CN" sz="1600" b="0" dirty="0" err="1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bootchart</a:t>
            </a:r>
            <a:r>
              <a:rPr lang="zh-CN" altLang="en-US" sz="16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，发现内核引导第一个服务的时间，比其它公司慢</a:t>
            </a:r>
            <a:r>
              <a:rPr lang="en-US" altLang="zh-CN" sz="16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900ms</a:t>
            </a:r>
            <a:r>
              <a:rPr lang="zh-CN" altLang="en-US" sz="16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（同为</a:t>
            </a:r>
            <a:r>
              <a:rPr lang="en-US" altLang="zh-CN" sz="16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8155</a:t>
            </a:r>
            <a:r>
              <a:rPr lang="zh-CN" altLang="en-US" sz="16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）</a:t>
            </a:r>
            <a:r>
              <a:rPr lang="en-US" altLang="zh-CN" sz="16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:</a:t>
            </a:r>
            <a:endParaRPr lang="zh-CN" altLang="en-US" sz="1600" b="0" dirty="0">
              <a:latin typeface="Arial" panose="020B0604020202020204" pitchFamily="34" charset="0"/>
              <a:ea typeface="思源黑体" panose="020B0500000000000000"/>
              <a:cs typeface="Arial" panose="020B060402020202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9C72912-95EF-1686-ACAB-CA11E6599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25" y="2035612"/>
            <a:ext cx="3672408" cy="234546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51A54FC-2504-B5D9-DA35-8AA95B602204}"/>
              </a:ext>
            </a:extLst>
          </p:cNvPr>
          <p:cNvSpPr txBox="1"/>
          <p:nvPr/>
        </p:nvSpPr>
        <p:spPr>
          <a:xfrm>
            <a:off x="481012" y="4639187"/>
            <a:ext cx="79208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经过</a:t>
            </a:r>
            <a:r>
              <a:rPr lang="en-US" altLang="zh-CN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BSP</a:t>
            </a:r>
            <a:r>
              <a:rPr lang="zh-CN" altLang="en-US" sz="1400" b="0" dirty="0">
                <a:latin typeface="Arial" panose="020B0604020202020204" pitchFamily="34" charset="0"/>
                <a:ea typeface="思源黑体" panose="020B0500000000000000"/>
                <a:cs typeface="Arial" panose="020B0604020202020204" pitchFamily="34" charset="0"/>
              </a:rPr>
              <a:t>同事的分析，发现是某驱动的问题。优化后达到了同样的性能。由于此项不是安卓范畴，故不详述。</a:t>
            </a:r>
          </a:p>
        </p:txBody>
      </p:sp>
    </p:spTree>
    <p:extLst>
      <p:ext uri="{BB962C8B-B14F-4D97-AF65-F5344CB8AC3E}">
        <p14:creationId xmlns:p14="http://schemas.microsoft.com/office/powerpoint/2010/main" val="169824015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90B17-350E-A4E7-9237-A2693F590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60777A54-EF52-D07B-37BE-3361EEFDA97E}"/>
              </a:ext>
            </a:extLst>
          </p:cNvPr>
          <p:cNvSpPr/>
          <p:nvPr/>
        </p:nvSpPr>
        <p:spPr>
          <a:xfrm>
            <a:off x="340640" y="272809"/>
            <a:ext cx="205469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3600" b="1" cap="none" spc="0" dirty="0">
                <a:ln w="9525">
                  <a:noFill/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本章小结</a:t>
            </a:r>
          </a:p>
        </p:txBody>
      </p:sp>
      <p:sp>
        <p:nvSpPr>
          <p:cNvPr id="47" name="TextBox 15">
            <a:extLst>
              <a:ext uri="{FF2B5EF4-FFF2-40B4-BE49-F238E27FC236}">
                <a16:creationId xmlns:a16="http://schemas.microsoft.com/office/drawing/2014/main" id="{78829E7F-0E0C-D746-8D5E-2C9C7ED07B06}"/>
              </a:ext>
            </a:extLst>
          </p:cNvPr>
          <p:cNvSpPr txBox="1"/>
          <p:nvPr/>
        </p:nvSpPr>
        <p:spPr>
          <a:xfrm>
            <a:off x="711890" y="1476850"/>
            <a:ext cx="5785337" cy="356840"/>
          </a:xfrm>
          <a:prstGeom prst="rect">
            <a:avLst/>
          </a:prstGeom>
          <a:noFill/>
        </p:spPr>
        <p:txBody>
          <a:bodyPr wrap="square" lIns="71067" tIns="35534" rIns="71067" bIns="35534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sz="1400" dirty="0">
                <a:solidFill>
                  <a:schemeClr val="tx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       本章以</a:t>
            </a:r>
            <a:r>
              <a:rPr lang="en-US" altLang="zh-CN" sz="1400" dirty="0">
                <a:solidFill>
                  <a:schemeClr val="tx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CCS5.0</a:t>
            </a:r>
            <a:r>
              <a:rPr lang="zh-CN" altLang="en-US" sz="1400" dirty="0">
                <a:solidFill>
                  <a:schemeClr val="tx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为例，介绍了启动优化的完整过程。</a:t>
            </a:r>
            <a:endParaRPr lang="zh-CN" altLang="en-US" sz="1400" dirty="0"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F8D83AD-9E3F-F208-510F-7902015CEA3F}"/>
              </a:ext>
            </a:extLst>
          </p:cNvPr>
          <p:cNvSpPr/>
          <p:nvPr/>
        </p:nvSpPr>
        <p:spPr>
          <a:xfrm>
            <a:off x="711890" y="1135702"/>
            <a:ext cx="18309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0070C0"/>
                </a:solidFill>
                <a:ea typeface="思源黑体" panose="020B0500000000000000" pitchFamily="34" charset="-122"/>
              </a:rPr>
              <a:t>CCS5.0</a:t>
            </a:r>
            <a:r>
              <a:rPr lang="zh-CN" altLang="en-US" b="1" dirty="0">
                <a:solidFill>
                  <a:srgbClr val="0070C0"/>
                </a:solidFill>
                <a:ea typeface="思源黑体" panose="020B0500000000000000" pitchFamily="34" charset="-122"/>
              </a:rPr>
              <a:t>启动优化</a:t>
            </a: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45BC137C-91AF-1E21-729A-F6DC4FD7DBF1}"/>
              </a:ext>
            </a:extLst>
          </p:cNvPr>
          <p:cNvGrpSpPr/>
          <p:nvPr/>
        </p:nvGrpSpPr>
        <p:grpSpPr>
          <a:xfrm>
            <a:off x="9108771" y="5142372"/>
            <a:ext cx="3083229" cy="1715628"/>
            <a:chOff x="3909171" y="5101626"/>
            <a:chExt cx="2312422" cy="1756375"/>
          </a:xfrm>
        </p:grpSpPr>
        <p:sp>
          <p:nvSpPr>
            <p:cNvPr id="34" name="任意多边形: 形状 14">
              <a:extLst>
                <a:ext uri="{FF2B5EF4-FFF2-40B4-BE49-F238E27FC236}">
                  <a16:creationId xmlns:a16="http://schemas.microsoft.com/office/drawing/2014/main" id="{1399E4EA-4503-3B27-9F23-BA32D4FF111B}"/>
                </a:ext>
              </a:extLst>
            </p:cNvPr>
            <p:cNvSpPr/>
            <p:nvPr/>
          </p:nvSpPr>
          <p:spPr>
            <a:xfrm>
              <a:off x="3909171" y="5617900"/>
              <a:ext cx="2312422" cy="1240101"/>
            </a:xfrm>
            <a:custGeom>
              <a:avLst/>
              <a:gdLst>
                <a:gd name="connsiteX0" fmla="*/ 688066 w 2750572"/>
                <a:gd name="connsiteY0" fmla="*/ 0 h 1240101"/>
                <a:gd name="connsiteX1" fmla="*/ 2062507 w 2750572"/>
                <a:gd name="connsiteY1" fmla="*/ 0 h 1240101"/>
                <a:gd name="connsiteX2" fmla="*/ 2750572 w 2750572"/>
                <a:gd name="connsiteY2" fmla="*/ 1186787 h 1240101"/>
                <a:gd name="connsiteX3" fmla="*/ 2719750 w 2750572"/>
                <a:gd name="connsiteY3" fmla="*/ 1240101 h 1240101"/>
                <a:gd name="connsiteX4" fmla="*/ 30822 w 2750572"/>
                <a:gd name="connsiteY4" fmla="*/ 1240101 h 1240101"/>
                <a:gd name="connsiteX5" fmla="*/ 0 w 2750572"/>
                <a:gd name="connsiteY5" fmla="*/ 1186787 h 1240101"/>
                <a:gd name="connsiteX6" fmla="*/ 688066 w 2750572"/>
                <a:gd name="connsiteY6" fmla="*/ 0 h 1240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50572" h="1240101">
                  <a:moveTo>
                    <a:pt x="688066" y="0"/>
                  </a:moveTo>
                  <a:lnTo>
                    <a:pt x="2062507" y="0"/>
                  </a:lnTo>
                  <a:lnTo>
                    <a:pt x="2750572" y="1186787"/>
                  </a:lnTo>
                  <a:lnTo>
                    <a:pt x="2719750" y="1240101"/>
                  </a:lnTo>
                  <a:lnTo>
                    <a:pt x="30822" y="1240101"/>
                  </a:lnTo>
                  <a:lnTo>
                    <a:pt x="0" y="1186787"/>
                  </a:lnTo>
                  <a:lnTo>
                    <a:pt x="688066" y="0"/>
                  </a:lnTo>
                  <a:close/>
                </a:path>
              </a:pathLst>
            </a:custGeom>
            <a:solidFill>
              <a:schemeClr val="accent1">
                <a:alpha val="1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5" name="Freeform 21">
              <a:extLst>
                <a:ext uri="{FF2B5EF4-FFF2-40B4-BE49-F238E27FC236}">
                  <a16:creationId xmlns:a16="http://schemas.microsoft.com/office/drawing/2014/main" id="{861971DA-224D-316E-DAA9-329B29C9B52E}"/>
                </a:ext>
              </a:extLst>
            </p:cNvPr>
            <p:cNvSpPr/>
            <p:nvPr/>
          </p:nvSpPr>
          <p:spPr bwMode="auto">
            <a:xfrm>
              <a:off x="4021319" y="5101626"/>
              <a:ext cx="866775" cy="1026882"/>
            </a:xfrm>
            <a:custGeom>
              <a:avLst/>
              <a:gdLst>
                <a:gd name="T0" fmla="*/ 1220 w 1627"/>
                <a:gd name="T1" fmla="*/ 0 h 1406"/>
                <a:gd name="T2" fmla="*/ 407 w 1627"/>
                <a:gd name="T3" fmla="*/ 0 h 1406"/>
                <a:gd name="T4" fmla="*/ 0 w 1627"/>
                <a:gd name="T5" fmla="*/ 702 h 1406"/>
                <a:gd name="T6" fmla="*/ 407 w 1627"/>
                <a:gd name="T7" fmla="*/ 1406 h 1406"/>
                <a:gd name="T8" fmla="*/ 1220 w 1627"/>
                <a:gd name="T9" fmla="*/ 1406 h 1406"/>
                <a:gd name="T10" fmla="*/ 1627 w 1627"/>
                <a:gd name="T11" fmla="*/ 702 h 1406"/>
                <a:gd name="T12" fmla="*/ 1220 w 1627"/>
                <a:gd name="T13" fmla="*/ 0 h 1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27" h="1406">
                  <a:moveTo>
                    <a:pt x="1220" y="0"/>
                  </a:moveTo>
                  <a:lnTo>
                    <a:pt x="407" y="0"/>
                  </a:lnTo>
                  <a:lnTo>
                    <a:pt x="0" y="702"/>
                  </a:lnTo>
                  <a:lnTo>
                    <a:pt x="407" y="1406"/>
                  </a:lnTo>
                  <a:lnTo>
                    <a:pt x="1220" y="1406"/>
                  </a:lnTo>
                  <a:lnTo>
                    <a:pt x="1627" y="702"/>
                  </a:lnTo>
                  <a:lnTo>
                    <a:pt x="1220" y="0"/>
                  </a:lnTo>
                  <a:close/>
                </a:path>
              </a:pathLst>
            </a:custGeom>
            <a:solidFill>
              <a:schemeClr val="accent1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CECA334E-548E-2103-226C-9755D340982F}"/>
              </a:ext>
            </a:extLst>
          </p:cNvPr>
          <p:cNvSpPr txBox="1"/>
          <p:nvPr/>
        </p:nvSpPr>
        <p:spPr>
          <a:xfrm>
            <a:off x="1066860" y="1913818"/>
            <a:ext cx="835292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400" b="0" dirty="0">
                <a:latin typeface="+mn-ea"/>
                <a:ea typeface="思源黑体" panose="020B0500000000000000"/>
              </a:rPr>
              <a:t>以上全部导入后，</a:t>
            </a:r>
            <a:r>
              <a:rPr lang="en-US" altLang="zh-CN" sz="1400" b="0" dirty="0" err="1">
                <a:latin typeface="+mn-ea"/>
                <a:ea typeface="思源黑体" panose="020B0500000000000000"/>
              </a:rPr>
              <a:t>bootchart</a:t>
            </a:r>
            <a:r>
              <a:rPr lang="zh-CN" altLang="en-US" sz="1400" b="0" dirty="0">
                <a:latin typeface="+mn-ea"/>
                <a:ea typeface="思源黑体" panose="020B0500000000000000"/>
              </a:rPr>
              <a:t>可达到</a:t>
            </a:r>
            <a:r>
              <a:rPr lang="en-US" altLang="zh-CN" sz="1400" b="0" dirty="0">
                <a:latin typeface="+mn-ea"/>
                <a:ea typeface="思源黑体" panose="020B0500000000000000"/>
              </a:rPr>
              <a:t>9</a:t>
            </a:r>
            <a:r>
              <a:rPr lang="zh-CN" altLang="en-US" sz="1400" b="0" dirty="0">
                <a:latin typeface="+mn-ea"/>
                <a:ea typeface="思源黑体" panose="020B0500000000000000"/>
              </a:rPr>
              <a:t>秒。</a:t>
            </a:r>
            <a:endParaRPr lang="en-US" altLang="zh-CN" sz="1400" b="0" dirty="0">
              <a:latin typeface="+mn-ea"/>
              <a:ea typeface="思源黑体" panose="020B050000000000000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400" b="0" dirty="0">
                <a:latin typeface="+mn-ea"/>
                <a:ea typeface="思源黑体" panose="020B0500000000000000"/>
              </a:rPr>
              <a:t>部分优化项存在一定风险，实际导入需项目评估</a:t>
            </a:r>
            <a:endParaRPr lang="en-US" altLang="zh-CN" sz="1400" b="0" dirty="0">
              <a:latin typeface="+mn-ea"/>
              <a:ea typeface="思源黑体" panose="020B050000000000000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400" b="0" dirty="0">
                <a:latin typeface="+mn-ea"/>
                <a:ea typeface="思源黑体" panose="020B0500000000000000"/>
              </a:rPr>
              <a:t>注意到有些是后期开发造成了启动变慢，并不是高通基线原来的性能，所谓优化只是找到了影响性能的点，回到高通原来的启动时间。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7A4F70D-46AF-7EC7-A143-76023E7126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2097" y="3331038"/>
            <a:ext cx="4216718" cy="14530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7DCB7322-C6CF-F8F7-C4ED-EF886D293327}"/>
              </a:ext>
            </a:extLst>
          </p:cNvPr>
          <p:cNvSpPr txBox="1"/>
          <p:nvPr/>
        </p:nvSpPr>
        <p:spPr>
          <a:xfrm>
            <a:off x="1094025" y="3023261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ea typeface="思源黑体" panose="020B0500000000000000"/>
              </a:rPr>
              <a:t>优化前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3A8139A-058C-9264-2104-082192989EFA}"/>
              </a:ext>
            </a:extLst>
          </p:cNvPr>
          <p:cNvSpPr txBox="1"/>
          <p:nvPr/>
        </p:nvSpPr>
        <p:spPr>
          <a:xfrm>
            <a:off x="1094025" y="4834595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ea typeface="思源黑体" panose="020B0500000000000000"/>
              </a:rPr>
              <a:t>优化后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5CE3C38-090D-5E26-F1D4-0AC690F3BD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7365" y="5192929"/>
            <a:ext cx="4320480" cy="1581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393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7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2" presetClass="entr" presetSubtype="4" fill="hold" nodeType="withEffect" p14:presetBounceEnd="36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6000">
                                          <p:cBhvr additive="base">
                                            <p:cTn id="10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6000">
                                          <p:cBhvr additive="base">
                                            <p:cTn id="11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7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7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2" presetClass="entr" presetSubtype="4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0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7" grpId="0"/>
        </p:bldLst>
      </p:timing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/>
          <p:cNvSpPr/>
          <p:nvPr/>
        </p:nvSpPr>
        <p:spPr>
          <a:xfrm>
            <a:off x="3273425" y="2372995"/>
            <a:ext cx="5645150" cy="2329815"/>
          </a:xfrm>
          <a:prstGeom prst="rect">
            <a:avLst/>
          </a:prstGeom>
          <a:noFill/>
        </p:spPr>
        <p:txBody>
          <a:bodyPr wrap="square" lIns="91440" tIns="45720" rIns="91440" bIns="45720">
            <a:noAutofit/>
          </a:bodyPr>
          <a:lstStyle/>
          <a:p>
            <a:pPr algn="ctr"/>
            <a:r>
              <a:rPr lang="en-US" altLang="zh-CN" sz="8800" b="1" cap="none" spc="0" dirty="0">
                <a:ln w="9525">
                  <a:noFill/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Q&amp;A</a:t>
            </a:r>
          </a:p>
        </p:txBody>
      </p:sp>
      <p:grpSp>
        <p:nvGrpSpPr>
          <p:cNvPr id="33" name="组合 32"/>
          <p:cNvGrpSpPr/>
          <p:nvPr/>
        </p:nvGrpSpPr>
        <p:grpSpPr>
          <a:xfrm>
            <a:off x="9108771" y="5142372"/>
            <a:ext cx="3083229" cy="1715628"/>
            <a:chOff x="3909171" y="5101626"/>
            <a:chExt cx="2312422" cy="1756375"/>
          </a:xfrm>
        </p:grpSpPr>
        <p:sp>
          <p:nvSpPr>
            <p:cNvPr id="34" name="任意多边形: 形状 14"/>
            <p:cNvSpPr/>
            <p:nvPr/>
          </p:nvSpPr>
          <p:spPr>
            <a:xfrm>
              <a:off x="3909171" y="5617900"/>
              <a:ext cx="2312422" cy="1240101"/>
            </a:xfrm>
            <a:custGeom>
              <a:avLst/>
              <a:gdLst>
                <a:gd name="connsiteX0" fmla="*/ 688066 w 2750572"/>
                <a:gd name="connsiteY0" fmla="*/ 0 h 1240101"/>
                <a:gd name="connsiteX1" fmla="*/ 2062507 w 2750572"/>
                <a:gd name="connsiteY1" fmla="*/ 0 h 1240101"/>
                <a:gd name="connsiteX2" fmla="*/ 2750572 w 2750572"/>
                <a:gd name="connsiteY2" fmla="*/ 1186787 h 1240101"/>
                <a:gd name="connsiteX3" fmla="*/ 2719750 w 2750572"/>
                <a:gd name="connsiteY3" fmla="*/ 1240101 h 1240101"/>
                <a:gd name="connsiteX4" fmla="*/ 30822 w 2750572"/>
                <a:gd name="connsiteY4" fmla="*/ 1240101 h 1240101"/>
                <a:gd name="connsiteX5" fmla="*/ 0 w 2750572"/>
                <a:gd name="connsiteY5" fmla="*/ 1186787 h 1240101"/>
                <a:gd name="connsiteX6" fmla="*/ 688066 w 2750572"/>
                <a:gd name="connsiteY6" fmla="*/ 0 h 1240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50572" h="1240101">
                  <a:moveTo>
                    <a:pt x="688066" y="0"/>
                  </a:moveTo>
                  <a:lnTo>
                    <a:pt x="2062507" y="0"/>
                  </a:lnTo>
                  <a:lnTo>
                    <a:pt x="2750572" y="1186787"/>
                  </a:lnTo>
                  <a:lnTo>
                    <a:pt x="2719750" y="1240101"/>
                  </a:lnTo>
                  <a:lnTo>
                    <a:pt x="30822" y="1240101"/>
                  </a:lnTo>
                  <a:lnTo>
                    <a:pt x="0" y="1186787"/>
                  </a:lnTo>
                  <a:lnTo>
                    <a:pt x="688066" y="0"/>
                  </a:lnTo>
                  <a:close/>
                </a:path>
              </a:pathLst>
            </a:custGeom>
            <a:solidFill>
              <a:schemeClr val="accent1">
                <a:alpha val="1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5" name="Freeform 21"/>
            <p:cNvSpPr/>
            <p:nvPr/>
          </p:nvSpPr>
          <p:spPr bwMode="auto">
            <a:xfrm>
              <a:off x="4021319" y="5101626"/>
              <a:ext cx="866775" cy="1026882"/>
            </a:xfrm>
            <a:custGeom>
              <a:avLst/>
              <a:gdLst>
                <a:gd name="T0" fmla="*/ 1220 w 1627"/>
                <a:gd name="T1" fmla="*/ 0 h 1406"/>
                <a:gd name="T2" fmla="*/ 407 w 1627"/>
                <a:gd name="T3" fmla="*/ 0 h 1406"/>
                <a:gd name="T4" fmla="*/ 0 w 1627"/>
                <a:gd name="T5" fmla="*/ 702 h 1406"/>
                <a:gd name="T6" fmla="*/ 407 w 1627"/>
                <a:gd name="T7" fmla="*/ 1406 h 1406"/>
                <a:gd name="T8" fmla="*/ 1220 w 1627"/>
                <a:gd name="T9" fmla="*/ 1406 h 1406"/>
                <a:gd name="T10" fmla="*/ 1627 w 1627"/>
                <a:gd name="T11" fmla="*/ 702 h 1406"/>
                <a:gd name="T12" fmla="*/ 1220 w 1627"/>
                <a:gd name="T13" fmla="*/ 0 h 1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27" h="1406">
                  <a:moveTo>
                    <a:pt x="1220" y="0"/>
                  </a:moveTo>
                  <a:lnTo>
                    <a:pt x="407" y="0"/>
                  </a:lnTo>
                  <a:lnTo>
                    <a:pt x="0" y="702"/>
                  </a:lnTo>
                  <a:lnTo>
                    <a:pt x="407" y="1406"/>
                  </a:lnTo>
                  <a:lnTo>
                    <a:pt x="1220" y="1406"/>
                  </a:lnTo>
                  <a:lnTo>
                    <a:pt x="1627" y="702"/>
                  </a:lnTo>
                  <a:lnTo>
                    <a:pt x="1220" y="0"/>
                  </a:lnTo>
                  <a:close/>
                </a:path>
              </a:pathLst>
            </a:custGeom>
            <a:solidFill>
              <a:schemeClr val="accent1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</p:grpSp>
      <p:sp>
        <p:nvSpPr>
          <p:cNvPr id="3" name="矩形 2"/>
          <p:cNvSpPr/>
          <p:nvPr/>
        </p:nvSpPr>
        <p:spPr>
          <a:xfrm>
            <a:off x="340640" y="272809"/>
            <a:ext cx="2054690" cy="6451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3600" b="1" cap="none" spc="0" dirty="0">
                <a:ln w="9525">
                  <a:noFill/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问答环节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nodeType="withEffect" p14:presetBounceEnd="36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6000">
                                          <p:cBhvr additive="base">
                                            <p:cTn id="7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6000">
                                          <p:cBhvr additive="base">
                                            <p:cTn id="8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/>
          <p:cNvSpPr/>
          <p:nvPr/>
        </p:nvSpPr>
        <p:spPr>
          <a:xfrm>
            <a:off x="340640" y="272809"/>
            <a:ext cx="2054690" cy="6451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3600" b="1" cap="none" spc="0" dirty="0">
                <a:ln w="9525">
                  <a:noFill/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课程总结</a:t>
            </a:r>
          </a:p>
        </p:txBody>
      </p:sp>
      <p:sp>
        <p:nvSpPr>
          <p:cNvPr id="47" name="TextBox 15"/>
          <p:cNvSpPr txBox="1"/>
          <p:nvPr/>
        </p:nvSpPr>
        <p:spPr>
          <a:xfrm>
            <a:off x="711835" y="1573530"/>
            <a:ext cx="8014335" cy="3568700"/>
          </a:xfrm>
          <a:prstGeom prst="rect">
            <a:avLst/>
          </a:prstGeom>
          <a:noFill/>
        </p:spPr>
        <p:txBody>
          <a:bodyPr wrap="square" lIns="71067" tIns="35534" rIns="71067" bIns="35534" rtlCol="0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z="1400" dirty="0">
                <a:solidFill>
                  <a:schemeClr val="tx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       本课程讲解了安卓启动优化的理念、方法，介绍了在实际项目中的应用，并引导学习者进行了拓展思考。</a:t>
            </a:r>
            <a:endParaRPr lang="en-US" altLang="zh-CN" sz="1400" dirty="0">
              <a:solidFill>
                <a:schemeClr val="tx1"/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pPr lvl="0"/>
            <a:r>
              <a:rPr lang="zh-CN" altLang="en-US" sz="1400" dirty="0">
                <a:solidFill>
                  <a:schemeClr val="tx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       学习者应达成以下目标：</a:t>
            </a:r>
            <a:endParaRPr lang="en-US" altLang="zh-CN" sz="1400" dirty="0">
              <a:solidFill>
                <a:schemeClr val="tx1"/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pPr lvl="0"/>
            <a:r>
              <a:rPr lang="en-US" altLang="zh-CN" sz="1400" dirty="0">
                <a:solidFill>
                  <a:schemeClr val="tx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       1. </a:t>
            </a:r>
            <a:r>
              <a:rPr lang="zh-CN" altLang="en-US" sz="1400" dirty="0">
                <a:solidFill>
                  <a:schemeClr val="tx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树立正确理念，知道启动优化是一个持续的过程，不可能通过一两项优化就达到目标。</a:t>
            </a:r>
            <a:endParaRPr lang="en-US" altLang="zh-CN" sz="1400" dirty="0">
              <a:solidFill>
                <a:schemeClr val="tx1"/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pPr lvl="0"/>
            <a:r>
              <a:rPr lang="en-US" altLang="zh-CN" sz="1400" dirty="0">
                <a:solidFill>
                  <a:schemeClr val="tx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       2. </a:t>
            </a:r>
            <a:r>
              <a:rPr lang="zh-CN" altLang="en-US" sz="1400" dirty="0">
                <a:solidFill>
                  <a:schemeClr val="tx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掌握工具的使用</a:t>
            </a:r>
            <a:endParaRPr lang="en-US" altLang="zh-CN" sz="1400" dirty="0">
              <a:solidFill>
                <a:schemeClr val="tx1"/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pPr lvl="0"/>
            <a:r>
              <a:rPr lang="en-US" altLang="zh-CN" sz="1400" dirty="0">
                <a:solidFill>
                  <a:schemeClr val="tx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       3. </a:t>
            </a:r>
            <a:r>
              <a:rPr lang="zh-CN" altLang="en-US" sz="1400" dirty="0">
                <a:solidFill>
                  <a:schemeClr val="tx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知道从哪些方面进行优化，了解常见的优化项。</a:t>
            </a:r>
            <a:endParaRPr lang="en-US" altLang="zh-CN" sz="1400" dirty="0">
              <a:solidFill>
                <a:schemeClr val="tx1"/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pPr lvl="0"/>
            <a:r>
              <a:rPr lang="en-US" altLang="zh-CN" sz="1400" dirty="0">
                <a:solidFill>
                  <a:schemeClr val="tx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       4. </a:t>
            </a:r>
            <a:r>
              <a:rPr lang="zh-CN" altLang="en-US" sz="1400" dirty="0">
                <a:solidFill>
                  <a:schemeClr val="tx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知道启动优化应结合项目硬件、平台和实际需求，不是放之四海而皆准。</a:t>
            </a:r>
            <a:endParaRPr lang="en-US" altLang="zh-CN" sz="1400" dirty="0">
              <a:solidFill>
                <a:schemeClr val="tx1"/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pPr lvl="0"/>
            <a:r>
              <a:rPr lang="en-US" altLang="zh-CN" sz="1400" dirty="0">
                <a:solidFill>
                  <a:schemeClr val="tx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       5. </a:t>
            </a:r>
            <a:r>
              <a:rPr lang="zh-CN" altLang="en-US" sz="1400" dirty="0">
                <a:solidFill>
                  <a:schemeClr val="tx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能够评估每项优化的潜在风险。</a:t>
            </a:r>
            <a:endParaRPr lang="en-US" altLang="zh-CN" sz="1400" dirty="0">
              <a:solidFill>
                <a:schemeClr val="tx1"/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pPr lvl="0"/>
            <a:r>
              <a:rPr lang="en-US" altLang="zh-CN" sz="1400" dirty="0">
                <a:solidFill>
                  <a:schemeClr val="tx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       6. </a:t>
            </a:r>
            <a:r>
              <a:rPr lang="zh-CN" altLang="en-US" sz="1400" dirty="0">
                <a:solidFill>
                  <a:schemeClr val="tx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能够自己去挖掘可优化的点。</a:t>
            </a:r>
            <a:endParaRPr lang="en-US" altLang="zh-CN" sz="1400" dirty="0">
              <a:solidFill>
                <a:schemeClr val="tx1"/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pPr lvl="0"/>
            <a:endParaRPr lang="en-US" altLang="zh-CN" sz="1400" dirty="0">
              <a:solidFill>
                <a:schemeClr val="tx1"/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  <a:p>
            <a:pPr lvl="0"/>
            <a:r>
              <a:rPr lang="zh-CN" altLang="en-US" sz="1400" dirty="0">
                <a:solidFill>
                  <a:schemeClr val="tx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       </a:t>
            </a:r>
            <a:endParaRPr lang="zh-CN" altLang="en-US" sz="1400" dirty="0"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711890" y="1135702"/>
            <a:ext cx="20558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800" b="1" dirty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Android</a:t>
            </a:r>
            <a:r>
              <a:rPr lang="zh-CN" altLang="en-US" sz="1800" b="1" dirty="0">
                <a:solidFill>
                  <a:srgbClr val="0070C0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启动优化</a:t>
            </a:r>
            <a:endParaRPr lang="zh-CN" altLang="en-US" sz="1800" b="1" dirty="0">
              <a:solidFill>
                <a:srgbClr val="0070C0"/>
              </a:solidFill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9108771" y="5142372"/>
            <a:ext cx="3083229" cy="1715628"/>
            <a:chOff x="3909171" y="5101626"/>
            <a:chExt cx="2312422" cy="1756375"/>
          </a:xfrm>
        </p:grpSpPr>
        <p:sp>
          <p:nvSpPr>
            <p:cNvPr id="34" name="任意多边形: 形状 14"/>
            <p:cNvSpPr/>
            <p:nvPr/>
          </p:nvSpPr>
          <p:spPr>
            <a:xfrm>
              <a:off x="3909171" y="5617900"/>
              <a:ext cx="2312422" cy="1240101"/>
            </a:xfrm>
            <a:custGeom>
              <a:avLst/>
              <a:gdLst>
                <a:gd name="connsiteX0" fmla="*/ 688066 w 2750572"/>
                <a:gd name="connsiteY0" fmla="*/ 0 h 1240101"/>
                <a:gd name="connsiteX1" fmla="*/ 2062507 w 2750572"/>
                <a:gd name="connsiteY1" fmla="*/ 0 h 1240101"/>
                <a:gd name="connsiteX2" fmla="*/ 2750572 w 2750572"/>
                <a:gd name="connsiteY2" fmla="*/ 1186787 h 1240101"/>
                <a:gd name="connsiteX3" fmla="*/ 2719750 w 2750572"/>
                <a:gd name="connsiteY3" fmla="*/ 1240101 h 1240101"/>
                <a:gd name="connsiteX4" fmla="*/ 30822 w 2750572"/>
                <a:gd name="connsiteY4" fmla="*/ 1240101 h 1240101"/>
                <a:gd name="connsiteX5" fmla="*/ 0 w 2750572"/>
                <a:gd name="connsiteY5" fmla="*/ 1186787 h 1240101"/>
                <a:gd name="connsiteX6" fmla="*/ 688066 w 2750572"/>
                <a:gd name="connsiteY6" fmla="*/ 0 h 1240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50572" h="1240101">
                  <a:moveTo>
                    <a:pt x="688066" y="0"/>
                  </a:moveTo>
                  <a:lnTo>
                    <a:pt x="2062507" y="0"/>
                  </a:lnTo>
                  <a:lnTo>
                    <a:pt x="2750572" y="1186787"/>
                  </a:lnTo>
                  <a:lnTo>
                    <a:pt x="2719750" y="1240101"/>
                  </a:lnTo>
                  <a:lnTo>
                    <a:pt x="30822" y="1240101"/>
                  </a:lnTo>
                  <a:lnTo>
                    <a:pt x="0" y="1186787"/>
                  </a:lnTo>
                  <a:lnTo>
                    <a:pt x="688066" y="0"/>
                  </a:lnTo>
                  <a:close/>
                </a:path>
              </a:pathLst>
            </a:custGeom>
            <a:solidFill>
              <a:schemeClr val="accent1">
                <a:alpha val="1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5" name="Freeform 21"/>
            <p:cNvSpPr/>
            <p:nvPr/>
          </p:nvSpPr>
          <p:spPr bwMode="auto">
            <a:xfrm>
              <a:off x="4021319" y="5101626"/>
              <a:ext cx="866775" cy="1026882"/>
            </a:xfrm>
            <a:custGeom>
              <a:avLst/>
              <a:gdLst>
                <a:gd name="T0" fmla="*/ 1220 w 1627"/>
                <a:gd name="T1" fmla="*/ 0 h 1406"/>
                <a:gd name="T2" fmla="*/ 407 w 1627"/>
                <a:gd name="T3" fmla="*/ 0 h 1406"/>
                <a:gd name="T4" fmla="*/ 0 w 1627"/>
                <a:gd name="T5" fmla="*/ 702 h 1406"/>
                <a:gd name="T6" fmla="*/ 407 w 1627"/>
                <a:gd name="T7" fmla="*/ 1406 h 1406"/>
                <a:gd name="T8" fmla="*/ 1220 w 1627"/>
                <a:gd name="T9" fmla="*/ 1406 h 1406"/>
                <a:gd name="T10" fmla="*/ 1627 w 1627"/>
                <a:gd name="T11" fmla="*/ 702 h 1406"/>
                <a:gd name="T12" fmla="*/ 1220 w 1627"/>
                <a:gd name="T13" fmla="*/ 0 h 1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27" h="1406">
                  <a:moveTo>
                    <a:pt x="1220" y="0"/>
                  </a:moveTo>
                  <a:lnTo>
                    <a:pt x="407" y="0"/>
                  </a:lnTo>
                  <a:lnTo>
                    <a:pt x="0" y="702"/>
                  </a:lnTo>
                  <a:lnTo>
                    <a:pt x="407" y="1406"/>
                  </a:lnTo>
                  <a:lnTo>
                    <a:pt x="1220" y="1406"/>
                  </a:lnTo>
                  <a:lnTo>
                    <a:pt x="1627" y="702"/>
                  </a:lnTo>
                  <a:lnTo>
                    <a:pt x="1220" y="0"/>
                  </a:lnTo>
                  <a:close/>
                </a:path>
              </a:pathLst>
            </a:custGeom>
            <a:solidFill>
              <a:schemeClr val="accent1"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7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2" presetClass="entr" presetSubtype="4" fill="hold" nodeType="withEffect" p14:presetBounceEnd="36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6000">
                                          <p:cBhvr additive="base">
                                            <p:cTn id="10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6000">
                                          <p:cBhvr additive="base">
                                            <p:cTn id="11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7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7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2" presetClass="entr" presetSubtype="4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0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7" grpId="0"/>
        </p:bldLst>
      </p:timing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7657241" y="2900573"/>
            <a:ext cx="4045320" cy="1476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60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感谢参与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9004796" y="5939755"/>
            <a:ext cx="2016224" cy="432048"/>
            <a:chOff x="1125067" y="5445224"/>
            <a:chExt cx="3024336" cy="648072"/>
          </a:xfrm>
        </p:grpSpPr>
        <p:sp>
          <p:nvSpPr>
            <p:cNvPr id="9" name="椭圆 8"/>
            <p:cNvSpPr/>
            <p:nvPr/>
          </p:nvSpPr>
          <p:spPr>
            <a:xfrm>
              <a:off x="1125067" y="5445224"/>
              <a:ext cx="648072" cy="648072"/>
            </a:xfrm>
            <a:prstGeom prst="ellipse">
              <a:avLst/>
            </a:prstGeom>
            <a:no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/>
            <p:cNvSpPr/>
            <p:nvPr/>
          </p:nvSpPr>
          <p:spPr>
            <a:xfrm>
              <a:off x="2349203" y="5445224"/>
              <a:ext cx="648072" cy="648072"/>
            </a:xfrm>
            <a:prstGeom prst="ellipse">
              <a:avLst/>
            </a:prstGeom>
            <a:no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/>
            <p:cNvSpPr/>
            <p:nvPr/>
          </p:nvSpPr>
          <p:spPr>
            <a:xfrm>
              <a:off x="3501331" y="5445224"/>
              <a:ext cx="648072" cy="648072"/>
            </a:xfrm>
            <a:prstGeom prst="ellipse">
              <a:avLst/>
            </a:prstGeom>
            <a:no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Freeform 142"/>
            <p:cNvSpPr>
              <a:spLocks noEditPoints="1"/>
            </p:cNvSpPr>
            <p:nvPr/>
          </p:nvSpPr>
          <p:spPr bwMode="auto">
            <a:xfrm>
              <a:off x="1259558" y="5555332"/>
              <a:ext cx="425450" cy="404813"/>
            </a:xfrm>
            <a:custGeom>
              <a:avLst/>
              <a:gdLst>
                <a:gd name="T0" fmla="*/ 68 w 113"/>
                <a:gd name="T1" fmla="*/ 54 h 108"/>
                <a:gd name="T2" fmla="*/ 45 w 113"/>
                <a:gd name="T3" fmla="*/ 54 h 108"/>
                <a:gd name="T4" fmla="*/ 48 w 113"/>
                <a:gd name="T5" fmla="*/ 32 h 108"/>
                <a:gd name="T6" fmla="*/ 0 w 113"/>
                <a:gd name="T7" fmla="*/ 54 h 108"/>
                <a:gd name="T8" fmla="*/ 17 w 113"/>
                <a:gd name="T9" fmla="*/ 93 h 108"/>
                <a:gd name="T10" fmla="*/ 62 w 113"/>
                <a:gd name="T11" fmla="*/ 78 h 108"/>
                <a:gd name="T12" fmla="*/ 38 w 113"/>
                <a:gd name="T13" fmla="*/ 84 h 108"/>
                <a:gd name="T14" fmla="*/ 26 w 113"/>
                <a:gd name="T15" fmla="*/ 73 h 108"/>
                <a:gd name="T16" fmla="*/ 57 w 113"/>
                <a:gd name="T17" fmla="*/ 76 h 108"/>
                <a:gd name="T18" fmla="*/ 79 w 113"/>
                <a:gd name="T19" fmla="*/ 82 h 108"/>
                <a:gd name="T20" fmla="*/ 64 w 113"/>
                <a:gd name="T21" fmla="*/ 89 h 108"/>
                <a:gd name="T22" fmla="*/ 52 w 113"/>
                <a:gd name="T23" fmla="*/ 89 h 108"/>
                <a:gd name="T24" fmla="*/ 80 w 113"/>
                <a:gd name="T25" fmla="*/ 105 h 108"/>
                <a:gd name="T26" fmla="*/ 86 w 113"/>
                <a:gd name="T27" fmla="*/ 73 h 108"/>
                <a:gd name="T28" fmla="*/ 113 w 113"/>
                <a:gd name="T29" fmla="*/ 54 h 108"/>
                <a:gd name="T30" fmla="*/ 70 w 113"/>
                <a:gd name="T31" fmla="*/ 32 h 108"/>
                <a:gd name="T32" fmla="*/ 76 w 113"/>
                <a:gd name="T33" fmla="*/ 23 h 108"/>
                <a:gd name="T34" fmla="*/ 88 w 113"/>
                <a:gd name="T35" fmla="*/ 33 h 108"/>
                <a:gd name="T36" fmla="*/ 96 w 113"/>
                <a:gd name="T37" fmla="*/ 14 h 108"/>
                <a:gd name="T38" fmla="*/ 63 w 113"/>
                <a:gd name="T39" fmla="*/ 20 h 108"/>
                <a:gd name="T40" fmla="*/ 33 w 113"/>
                <a:gd name="T41" fmla="*/ 3 h 108"/>
                <a:gd name="T42" fmla="*/ 26 w 113"/>
                <a:gd name="T43" fmla="*/ 29 h 108"/>
                <a:gd name="T44" fmla="*/ 34 w 113"/>
                <a:gd name="T45" fmla="*/ 25 h 108"/>
                <a:gd name="T46" fmla="*/ 49 w 113"/>
                <a:gd name="T47" fmla="*/ 18 h 108"/>
                <a:gd name="T48" fmla="*/ 48 w 113"/>
                <a:gd name="T49" fmla="*/ 32 h 108"/>
                <a:gd name="T50" fmla="*/ 92 w 113"/>
                <a:gd name="T51" fmla="*/ 45 h 108"/>
                <a:gd name="T52" fmla="*/ 92 w 113"/>
                <a:gd name="T53" fmla="*/ 62 h 108"/>
                <a:gd name="T54" fmla="*/ 77 w 113"/>
                <a:gd name="T55" fmla="*/ 44 h 108"/>
                <a:gd name="T56" fmla="*/ 75 w 113"/>
                <a:gd name="T57" fmla="*/ 66 h 108"/>
                <a:gd name="T58" fmla="*/ 65 w 113"/>
                <a:gd name="T59" fmla="*/ 41 h 108"/>
                <a:gd name="T60" fmla="*/ 51 w 113"/>
                <a:gd name="T61" fmla="*/ 41 h 108"/>
                <a:gd name="T62" fmla="*/ 47 w 113"/>
                <a:gd name="T63" fmla="*/ 44 h 108"/>
                <a:gd name="T64" fmla="*/ 57 w 113"/>
                <a:gd name="T65" fmla="*/ 67 h 108"/>
                <a:gd name="T66" fmla="*/ 22 w 113"/>
                <a:gd name="T67" fmla="*/ 62 h 108"/>
                <a:gd name="T68" fmla="*/ 9 w 113"/>
                <a:gd name="T69" fmla="*/ 54 h 108"/>
                <a:gd name="T70" fmla="*/ 37 w 113"/>
                <a:gd name="T71" fmla="*/ 42 h 108"/>
                <a:gd name="T72" fmla="*/ 64 w 113"/>
                <a:gd name="T73" fmla="*/ 50 h 108"/>
                <a:gd name="T74" fmla="*/ 64 w 113"/>
                <a:gd name="T75" fmla="*/ 50 h 108"/>
                <a:gd name="T76" fmla="*/ 50 w 113"/>
                <a:gd name="T77" fmla="*/ 53 h 108"/>
                <a:gd name="T78" fmla="*/ 49 w 113"/>
                <a:gd name="T79" fmla="*/ 57 h 108"/>
                <a:gd name="T80" fmla="*/ 51 w 113"/>
                <a:gd name="T81" fmla="*/ 52 h 108"/>
                <a:gd name="T82" fmla="*/ 56 w 113"/>
                <a:gd name="T83" fmla="*/ 45 h 108"/>
                <a:gd name="T84" fmla="*/ 58 w 113"/>
                <a:gd name="T85" fmla="*/ 45 h 108"/>
                <a:gd name="T86" fmla="*/ 60 w 113"/>
                <a:gd name="T87" fmla="*/ 46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3" h="108">
                  <a:moveTo>
                    <a:pt x="57" y="42"/>
                  </a:moveTo>
                  <a:cubicBezTo>
                    <a:pt x="63" y="42"/>
                    <a:pt x="68" y="47"/>
                    <a:pt x="68" y="54"/>
                  </a:cubicBezTo>
                  <a:cubicBezTo>
                    <a:pt x="68" y="60"/>
                    <a:pt x="63" y="65"/>
                    <a:pt x="57" y="65"/>
                  </a:cubicBezTo>
                  <a:cubicBezTo>
                    <a:pt x="50" y="65"/>
                    <a:pt x="45" y="60"/>
                    <a:pt x="45" y="54"/>
                  </a:cubicBezTo>
                  <a:cubicBezTo>
                    <a:pt x="45" y="47"/>
                    <a:pt x="50" y="42"/>
                    <a:pt x="57" y="42"/>
                  </a:cubicBezTo>
                  <a:close/>
                  <a:moveTo>
                    <a:pt x="48" y="32"/>
                  </a:moveTo>
                  <a:cubicBezTo>
                    <a:pt x="36" y="32"/>
                    <a:pt x="26" y="34"/>
                    <a:pt x="19" y="37"/>
                  </a:cubicBezTo>
                  <a:cubicBezTo>
                    <a:pt x="7" y="41"/>
                    <a:pt x="0" y="47"/>
                    <a:pt x="0" y="54"/>
                  </a:cubicBezTo>
                  <a:cubicBezTo>
                    <a:pt x="0" y="60"/>
                    <a:pt x="7" y="66"/>
                    <a:pt x="17" y="70"/>
                  </a:cubicBezTo>
                  <a:cubicBezTo>
                    <a:pt x="13" y="80"/>
                    <a:pt x="12" y="89"/>
                    <a:pt x="17" y="93"/>
                  </a:cubicBezTo>
                  <a:cubicBezTo>
                    <a:pt x="22" y="98"/>
                    <a:pt x="31" y="98"/>
                    <a:pt x="42" y="92"/>
                  </a:cubicBezTo>
                  <a:cubicBezTo>
                    <a:pt x="48" y="89"/>
                    <a:pt x="55" y="84"/>
                    <a:pt x="62" y="78"/>
                  </a:cubicBezTo>
                  <a:cubicBezTo>
                    <a:pt x="48" y="78"/>
                    <a:pt x="48" y="78"/>
                    <a:pt x="48" y="78"/>
                  </a:cubicBezTo>
                  <a:cubicBezTo>
                    <a:pt x="44" y="81"/>
                    <a:pt x="41" y="83"/>
                    <a:pt x="38" y="84"/>
                  </a:cubicBezTo>
                  <a:cubicBezTo>
                    <a:pt x="31" y="88"/>
                    <a:pt x="25" y="89"/>
                    <a:pt x="23" y="87"/>
                  </a:cubicBezTo>
                  <a:cubicBezTo>
                    <a:pt x="21" y="85"/>
                    <a:pt x="23" y="80"/>
                    <a:pt x="26" y="73"/>
                  </a:cubicBezTo>
                  <a:cubicBezTo>
                    <a:pt x="26" y="73"/>
                    <a:pt x="26" y="73"/>
                    <a:pt x="26" y="73"/>
                  </a:cubicBezTo>
                  <a:cubicBezTo>
                    <a:pt x="35" y="75"/>
                    <a:pt x="45" y="76"/>
                    <a:pt x="57" y="76"/>
                  </a:cubicBezTo>
                  <a:cubicBezTo>
                    <a:pt x="64" y="76"/>
                    <a:pt x="71" y="75"/>
                    <a:pt x="77" y="74"/>
                  </a:cubicBezTo>
                  <a:cubicBezTo>
                    <a:pt x="78" y="77"/>
                    <a:pt x="78" y="80"/>
                    <a:pt x="79" y="82"/>
                  </a:cubicBezTo>
                  <a:cubicBezTo>
                    <a:pt x="79" y="90"/>
                    <a:pt x="79" y="95"/>
                    <a:pt x="76" y="96"/>
                  </a:cubicBezTo>
                  <a:cubicBezTo>
                    <a:pt x="74" y="98"/>
                    <a:pt x="69" y="95"/>
                    <a:pt x="64" y="89"/>
                  </a:cubicBezTo>
                  <a:cubicBezTo>
                    <a:pt x="62" y="88"/>
                    <a:pt x="61" y="86"/>
                    <a:pt x="60" y="84"/>
                  </a:cubicBezTo>
                  <a:cubicBezTo>
                    <a:pt x="52" y="89"/>
                    <a:pt x="52" y="89"/>
                    <a:pt x="52" y="89"/>
                  </a:cubicBezTo>
                  <a:cubicBezTo>
                    <a:pt x="54" y="91"/>
                    <a:pt x="56" y="93"/>
                    <a:pt x="57" y="95"/>
                  </a:cubicBezTo>
                  <a:cubicBezTo>
                    <a:pt x="65" y="104"/>
                    <a:pt x="74" y="108"/>
                    <a:pt x="80" y="105"/>
                  </a:cubicBezTo>
                  <a:cubicBezTo>
                    <a:pt x="86" y="102"/>
                    <a:pt x="89" y="93"/>
                    <a:pt x="88" y="81"/>
                  </a:cubicBezTo>
                  <a:cubicBezTo>
                    <a:pt x="87" y="79"/>
                    <a:pt x="87" y="76"/>
                    <a:pt x="86" y="73"/>
                  </a:cubicBezTo>
                  <a:cubicBezTo>
                    <a:pt x="89" y="72"/>
                    <a:pt x="92" y="71"/>
                    <a:pt x="95" y="70"/>
                  </a:cubicBezTo>
                  <a:cubicBezTo>
                    <a:pt x="106" y="67"/>
                    <a:pt x="113" y="61"/>
                    <a:pt x="113" y="54"/>
                  </a:cubicBezTo>
                  <a:cubicBezTo>
                    <a:pt x="113" y="47"/>
                    <a:pt x="106" y="41"/>
                    <a:pt x="95" y="37"/>
                  </a:cubicBezTo>
                  <a:cubicBezTo>
                    <a:pt x="88" y="35"/>
                    <a:pt x="80" y="33"/>
                    <a:pt x="70" y="32"/>
                  </a:cubicBezTo>
                  <a:cubicBezTo>
                    <a:pt x="69" y="31"/>
                    <a:pt x="69" y="29"/>
                    <a:pt x="68" y="28"/>
                  </a:cubicBezTo>
                  <a:cubicBezTo>
                    <a:pt x="70" y="26"/>
                    <a:pt x="73" y="24"/>
                    <a:pt x="76" y="23"/>
                  </a:cubicBezTo>
                  <a:cubicBezTo>
                    <a:pt x="83" y="20"/>
                    <a:pt x="88" y="18"/>
                    <a:pt x="90" y="20"/>
                  </a:cubicBezTo>
                  <a:cubicBezTo>
                    <a:pt x="92" y="22"/>
                    <a:pt x="91" y="27"/>
                    <a:pt x="88" y="33"/>
                  </a:cubicBezTo>
                  <a:cubicBezTo>
                    <a:pt x="97" y="35"/>
                    <a:pt x="97" y="35"/>
                    <a:pt x="97" y="35"/>
                  </a:cubicBezTo>
                  <a:cubicBezTo>
                    <a:pt x="101" y="26"/>
                    <a:pt x="101" y="18"/>
                    <a:pt x="96" y="14"/>
                  </a:cubicBezTo>
                  <a:cubicBezTo>
                    <a:pt x="91" y="9"/>
                    <a:pt x="82" y="10"/>
                    <a:pt x="72" y="15"/>
                  </a:cubicBezTo>
                  <a:cubicBezTo>
                    <a:pt x="69" y="16"/>
                    <a:pt x="66" y="18"/>
                    <a:pt x="63" y="20"/>
                  </a:cubicBezTo>
                  <a:cubicBezTo>
                    <a:pt x="60" y="17"/>
                    <a:pt x="58" y="15"/>
                    <a:pt x="56" y="12"/>
                  </a:cubicBezTo>
                  <a:cubicBezTo>
                    <a:pt x="48" y="4"/>
                    <a:pt x="39" y="0"/>
                    <a:pt x="33" y="3"/>
                  </a:cubicBezTo>
                  <a:cubicBezTo>
                    <a:pt x="27" y="6"/>
                    <a:pt x="24" y="14"/>
                    <a:pt x="26" y="26"/>
                  </a:cubicBezTo>
                  <a:cubicBezTo>
                    <a:pt x="26" y="27"/>
                    <a:pt x="26" y="28"/>
                    <a:pt x="26" y="29"/>
                  </a:cubicBezTo>
                  <a:cubicBezTo>
                    <a:pt x="35" y="29"/>
                    <a:pt x="35" y="29"/>
                    <a:pt x="35" y="29"/>
                  </a:cubicBezTo>
                  <a:cubicBezTo>
                    <a:pt x="35" y="27"/>
                    <a:pt x="35" y="26"/>
                    <a:pt x="34" y="25"/>
                  </a:cubicBezTo>
                  <a:cubicBezTo>
                    <a:pt x="34" y="17"/>
                    <a:pt x="34" y="12"/>
                    <a:pt x="37" y="11"/>
                  </a:cubicBezTo>
                  <a:cubicBezTo>
                    <a:pt x="39" y="10"/>
                    <a:pt x="44" y="13"/>
                    <a:pt x="49" y="18"/>
                  </a:cubicBezTo>
                  <a:cubicBezTo>
                    <a:pt x="51" y="20"/>
                    <a:pt x="53" y="23"/>
                    <a:pt x="55" y="25"/>
                  </a:cubicBezTo>
                  <a:cubicBezTo>
                    <a:pt x="53" y="27"/>
                    <a:pt x="50" y="30"/>
                    <a:pt x="48" y="32"/>
                  </a:cubicBezTo>
                  <a:close/>
                  <a:moveTo>
                    <a:pt x="75" y="42"/>
                  </a:moveTo>
                  <a:cubicBezTo>
                    <a:pt x="82" y="43"/>
                    <a:pt x="87" y="44"/>
                    <a:pt x="92" y="45"/>
                  </a:cubicBezTo>
                  <a:cubicBezTo>
                    <a:pt x="99" y="48"/>
                    <a:pt x="104" y="51"/>
                    <a:pt x="104" y="54"/>
                  </a:cubicBezTo>
                  <a:cubicBezTo>
                    <a:pt x="104" y="56"/>
                    <a:pt x="99" y="59"/>
                    <a:pt x="92" y="62"/>
                  </a:cubicBezTo>
                  <a:cubicBezTo>
                    <a:pt x="89" y="63"/>
                    <a:pt x="87" y="63"/>
                    <a:pt x="84" y="64"/>
                  </a:cubicBezTo>
                  <a:cubicBezTo>
                    <a:pt x="82" y="58"/>
                    <a:pt x="80" y="51"/>
                    <a:pt x="77" y="44"/>
                  </a:cubicBezTo>
                  <a:cubicBezTo>
                    <a:pt x="76" y="44"/>
                    <a:pt x="76" y="43"/>
                    <a:pt x="75" y="42"/>
                  </a:cubicBezTo>
                  <a:close/>
                  <a:moveTo>
                    <a:pt x="75" y="66"/>
                  </a:moveTo>
                  <a:cubicBezTo>
                    <a:pt x="73" y="60"/>
                    <a:pt x="71" y="54"/>
                    <a:pt x="69" y="48"/>
                  </a:cubicBezTo>
                  <a:cubicBezTo>
                    <a:pt x="67" y="46"/>
                    <a:pt x="66" y="43"/>
                    <a:pt x="65" y="41"/>
                  </a:cubicBezTo>
                  <a:cubicBezTo>
                    <a:pt x="62" y="41"/>
                    <a:pt x="59" y="41"/>
                    <a:pt x="57" y="41"/>
                  </a:cubicBezTo>
                  <a:cubicBezTo>
                    <a:pt x="55" y="41"/>
                    <a:pt x="53" y="41"/>
                    <a:pt x="51" y="41"/>
                  </a:cubicBezTo>
                  <a:cubicBezTo>
                    <a:pt x="50" y="42"/>
                    <a:pt x="49" y="43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1" y="51"/>
                    <a:pt x="35" y="58"/>
                    <a:pt x="31" y="64"/>
                  </a:cubicBezTo>
                  <a:cubicBezTo>
                    <a:pt x="38" y="66"/>
                    <a:pt x="47" y="67"/>
                    <a:pt x="57" y="67"/>
                  </a:cubicBezTo>
                  <a:cubicBezTo>
                    <a:pt x="63" y="67"/>
                    <a:pt x="69" y="66"/>
                    <a:pt x="75" y="66"/>
                  </a:cubicBezTo>
                  <a:close/>
                  <a:moveTo>
                    <a:pt x="22" y="62"/>
                  </a:moveTo>
                  <a:cubicBezTo>
                    <a:pt x="22" y="62"/>
                    <a:pt x="22" y="62"/>
                    <a:pt x="22" y="62"/>
                  </a:cubicBezTo>
                  <a:cubicBezTo>
                    <a:pt x="14" y="59"/>
                    <a:pt x="9" y="56"/>
                    <a:pt x="9" y="54"/>
                  </a:cubicBezTo>
                  <a:cubicBezTo>
                    <a:pt x="9" y="51"/>
                    <a:pt x="14" y="48"/>
                    <a:pt x="22" y="45"/>
                  </a:cubicBezTo>
                  <a:cubicBezTo>
                    <a:pt x="26" y="44"/>
                    <a:pt x="31" y="43"/>
                    <a:pt x="37" y="42"/>
                  </a:cubicBezTo>
                  <a:cubicBezTo>
                    <a:pt x="31" y="49"/>
                    <a:pt x="26" y="56"/>
                    <a:pt x="22" y="62"/>
                  </a:cubicBezTo>
                  <a:close/>
                  <a:moveTo>
                    <a:pt x="64" y="50"/>
                  </a:moveTo>
                  <a:cubicBezTo>
                    <a:pt x="63" y="55"/>
                    <a:pt x="61" y="59"/>
                    <a:pt x="57" y="62"/>
                  </a:cubicBezTo>
                  <a:cubicBezTo>
                    <a:pt x="63" y="62"/>
                    <a:pt x="66" y="55"/>
                    <a:pt x="64" y="50"/>
                  </a:cubicBezTo>
                  <a:close/>
                  <a:moveTo>
                    <a:pt x="49" y="57"/>
                  </a:moveTo>
                  <a:cubicBezTo>
                    <a:pt x="49" y="55"/>
                    <a:pt x="50" y="54"/>
                    <a:pt x="50" y="53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8" y="54"/>
                    <a:pt x="48" y="55"/>
                    <a:pt x="49" y="57"/>
                  </a:cubicBezTo>
                  <a:close/>
                  <a:moveTo>
                    <a:pt x="49" y="50"/>
                  </a:moveTo>
                  <a:cubicBezTo>
                    <a:pt x="51" y="52"/>
                    <a:pt x="51" y="52"/>
                    <a:pt x="51" y="52"/>
                  </a:cubicBezTo>
                  <a:cubicBezTo>
                    <a:pt x="53" y="50"/>
                    <a:pt x="55" y="49"/>
                    <a:pt x="57" y="47"/>
                  </a:cubicBezTo>
                  <a:cubicBezTo>
                    <a:pt x="56" y="45"/>
                    <a:pt x="56" y="45"/>
                    <a:pt x="56" y="45"/>
                  </a:cubicBezTo>
                  <a:cubicBezTo>
                    <a:pt x="53" y="45"/>
                    <a:pt x="50" y="47"/>
                    <a:pt x="49" y="50"/>
                  </a:cubicBezTo>
                  <a:close/>
                  <a:moveTo>
                    <a:pt x="58" y="45"/>
                  </a:moveTo>
                  <a:cubicBezTo>
                    <a:pt x="58" y="47"/>
                    <a:pt x="58" y="47"/>
                    <a:pt x="58" y="47"/>
                  </a:cubicBezTo>
                  <a:cubicBezTo>
                    <a:pt x="59" y="46"/>
                    <a:pt x="59" y="46"/>
                    <a:pt x="60" y="46"/>
                  </a:cubicBezTo>
                  <a:cubicBezTo>
                    <a:pt x="59" y="45"/>
                    <a:pt x="58" y="45"/>
                    <a:pt x="58" y="45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154"/>
            <p:cNvSpPr>
              <a:spLocks noEditPoints="1"/>
            </p:cNvSpPr>
            <p:nvPr/>
          </p:nvSpPr>
          <p:spPr bwMode="auto">
            <a:xfrm>
              <a:off x="2527127" y="5589240"/>
              <a:ext cx="341313" cy="349250"/>
            </a:xfrm>
            <a:custGeom>
              <a:avLst/>
              <a:gdLst>
                <a:gd name="T0" fmla="*/ 80 w 91"/>
                <a:gd name="T1" fmla="*/ 44 h 93"/>
                <a:gd name="T2" fmla="*/ 87 w 91"/>
                <a:gd name="T3" fmla="*/ 37 h 93"/>
                <a:gd name="T4" fmla="*/ 87 w 91"/>
                <a:gd name="T5" fmla="*/ 23 h 93"/>
                <a:gd name="T6" fmla="*/ 68 w 91"/>
                <a:gd name="T7" fmla="*/ 4 h 93"/>
                <a:gd name="T8" fmla="*/ 54 w 91"/>
                <a:gd name="T9" fmla="*/ 4 h 93"/>
                <a:gd name="T10" fmla="*/ 47 w 91"/>
                <a:gd name="T11" fmla="*/ 11 h 93"/>
                <a:gd name="T12" fmla="*/ 80 w 91"/>
                <a:gd name="T13" fmla="*/ 44 h 93"/>
                <a:gd name="T14" fmla="*/ 52 w 91"/>
                <a:gd name="T15" fmla="*/ 23 h 93"/>
                <a:gd name="T16" fmla="*/ 68 w 91"/>
                <a:gd name="T17" fmla="*/ 39 h 93"/>
                <a:gd name="T18" fmla="*/ 77 w 91"/>
                <a:gd name="T19" fmla="*/ 48 h 93"/>
                <a:gd name="T20" fmla="*/ 43 w 91"/>
                <a:gd name="T21" fmla="*/ 81 h 93"/>
                <a:gd name="T22" fmla="*/ 34 w 91"/>
                <a:gd name="T23" fmla="*/ 73 h 93"/>
                <a:gd name="T24" fmla="*/ 19 w 91"/>
                <a:gd name="T25" fmla="*/ 59 h 93"/>
                <a:gd name="T26" fmla="*/ 41 w 91"/>
                <a:gd name="T27" fmla="*/ 37 h 93"/>
                <a:gd name="T28" fmla="*/ 39 w 91"/>
                <a:gd name="T29" fmla="*/ 34 h 93"/>
                <a:gd name="T30" fmla="*/ 16 w 91"/>
                <a:gd name="T31" fmla="*/ 57 h 93"/>
                <a:gd name="T32" fmla="*/ 10 w 91"/>
                <a:gd name="T33" fmla="*/ 48 h 93"/>
                <a:gd name="T34" fmla="*/ 43 w 91"/>
                <a:gd name="T35" fmla="*/ 14 h 93"/>
                <a:gd name="T36" fmla="*/ 52 w 91"/>
                <a:gd name="T37" fmla="*/ 23 h 93"/>
                <a:gd name="T38" fmla="*/ 4 w 91"/>
                <a:gd name="T39" fmla="*/ 69 h 93"/>
                <a:gd name="T40" fmla="*/ 0 w 91"/>
                <a:gd name="T41" fmla="*/ 86 h 93"/>
                <a:gd name="T42" fmla="*/ 6 w 91"/>
                <a:gd name="T43" fmla="*/ 93 h 93"/>
                <a:gd name="T44" fmla="*/ 24 w 91"/>
                <a:gd name="T45" fmla="*/ 89 h 93"/>
                <a:gd name="T46" fmla="*/ 4 w 91"/>
                <a:gd name="T47" fmla="*/ 69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1" h="93">
                  <a:moveTo>
                    <a:pt x="80" y="44"/>
                  </a:moveTo>
                  <a:cubicBezTo>
                    <a:pt x="87" y="37"/>
                    <a:pt x="87" y="37"/>
                    <a:pt x="87" y="37"/>
                  </a:cubicBezTo>
                  <a:cubicBezTo>
                    <a:pt x="91" y="33"/>
                    <a:pt x="91" y="27"/>
                    <a:pt x="87" y="23"/>
                  </a:cubicBezTo>
                  <a:cubicBezTo>
                    <a:pt x="68" y="4"/>
                    <a:pt x="68" y="4"/>
                    <a:pt x="68" y="4"/>
                  </a:cubicBezTo>
                  <a:cubicBezTo>
                    <a:pt x="64" y="0"/>
                    <a:pt x="58" y="0"/>
                    <a:pt x="54" y="4"/>
                  </a:cubicBezTo>
                  <a:cubicBezTo>
                    <a:pt x="47" y="11"/>
                    <a:pt x="47" y="11"/>
                    <a:pt x="47" y="11"/>
                  </a:cubicBezTo>
                  <a:cubicBezTo>
                    <a:pt x="80" y="44"/>
                    <a:pt x="80" y="44"/>
                    <a:pt x="80" y="44"/>
                  </a:cubicBezTo>
                  <a:close/>
                  <a:moveTo>
                    <a:pt x="52" y="23"/>
                  </a:moveTo>
                  <a:cubicBezTo>
                    <a:pt x="68" y="39"/>
                    <a:pt x="68" y="39"/>
                    <a:pt x="68" y="39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43" y="81"/>
                    <a:pt x="43" y="81"/>
                    <a:pt x="43" y="81"/>
                  </a:cubicBezTo>
                  <a:cubicBezTo>
                    <a:pt x="35" y="83"/>
                    <a:pt x="33" y="79"/>
                    <a:pt x="34" y="73"/>
                  </a:cubicBezTo>
                  <a:cubicBezTo>
                    <a:pt x="26" y="72"/>
                    <a:pt x="20" y="68"/>
                    <a:pt x="19" y="59"/>
                  </a:cubicBezTo>
                  <a:cubicBezTo>
                    <a:pt x="41" y="37"/>
                    <a:pt x="41" y="37"/>
                    <a:pt x="41" y="37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16" y="57"/>
                    <a:pt x="16" y="57"/>
                    <a:pt x="16" y="57"/>
                  </a:cubicBezTo>
                  <a:cubicBezTo>
                    <a:pt x="10" y="58"/>
                    <a:pt x="9" y="54"/>
                    <a:pt x="10" y="48"/>
                  </a:cubicBezTo>
                  <a:cubicBezTo>
                    <a:pt x="21" y="37"/>
                    <a:pt x="32" y="26"/>
                    <a:pt x="43" y="14"/>
                  </a:cubicBezTo>
                  <a:cubicBezTo>
                    <a:pt x="52" y="23"/>
                    <a:pt x="52" y="23"/>
                    <a:pt x="52" y="23"/>
                  </a:cubicBezTo>
                  <a:close/>
                  <a:moveTo>
                    <a:pt x="4" y="69"/>
                  </a:moveTo>
                  <a:cubicBezTo>
                    <a:pt x="0" y="86"/>
                    <a:pt x="0" y="86"/>
                    <a:pt x="0" y="86"/>
                  </a:cubicBezTo>
                  <a:cubicBezTo>
                    <a:pt x="6" y="93"/>
                    <a:pt x="6" y="93"/>
                    <a:pt x="6" y="93"/>
                  </a:cubicBezTo>
                  <a:cubicBezTo>
                    <a:pt x="24" y="89"/>
                    <a:pt x="24" y="89"/>
                    <a:pt x="24" y="89"/>
                  </a:cubicBezTo>
                  <a:lnTo>
                    <a:pt x="4" y="69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/>
            </a:p>
          </p:txBody>
        </p:sp>
        <p:sp>
          <p:nvSpPr>
            <p:cNvPr id="14" name="Freeform 190"/>
            <p:cNvSpPr>
              <a:spLocks noEditPoints="1"/>
            </p:cNvSpPr>
            <p:nvPr/>
          </p:nvSpPr>
          <p:spPr bwMode="auto">
            <a:xfrm>
              <a:off x="3645347" y="5589240"/>
              <a:ext cx="409575" cy="330200"/>
            </a:xfrm>
            <a:custGeom>
              <a:avLst/>
              <a:gdLst>
                <a:gd name="T0" fmla="*/ 86 w 109"/>
                <a:gd name="T1" fmla="*/ 88 h 88"/>
                <a:gd name="T2" fmla="*/ 84 w 109"/>
                <a:gd name="T3" fmla="*/ 44 h 88"/>
                <a:gd name="T4" fmla="*/ 80 w 109"/>
                <a:gd name="T5" fmla="*/ 71 h 88"/>
                <a:gd name="T6" fmla="*/ 109 w 109"/>
                <a:gd name="T7" fmla="*/ 0 h 88"/>
                <a:gd name="T8" fmla="*/ 92 w 109"/>
                <a:gd name="T9" fmla="*/ 33 h 88"/>
                <a:gd name="T10" fmla="*/ 80 w 109"/>
                <a:gd name="T11" fmla="*/ 25 h 88"/>
                <a:gd name="T12" fmla="*/ 67 w 109"/>
                <a:gd name="T13" fmla="*/ 68 h 88"/>
                <a:gd name="T14" fmla="*/ 37 w 109"/>
                <a:gd name="T15" fmla="*/ 73 h 88"/>
                <a:gd name="T16" fmla="*/ 19 w 109"/>
                <a:gd name="T17" fmla="*/ 63 h 88"/>
                <a:gd name="T18" fmla="*/ 0 w 109"/>
                <a:gd name="T19" fmla="*/ 56 h 88"/>
                <a:gd name="T20" fmla="*/ 25 w 109"/>
                <a:gd name="T21" fmla="*/ 48 h 88"/>
                <a:gd name="T22" fmla="*/ 30 w 109"/>
                <a:gd name="T23" fmla="*/ 57 h 88"/>
                <a:gd name="T24" fmla="*/ 44 w 109"/>
                <a:gd name="T25" fmla="*/ 29 h 88"/>
                <a:gd name="T26" fmla="*/ 66 w 109"/>
                <a:gd name="T27" fmla="*/ 50 h 88"/>
                <a:gd name="T28" fmla="*/ 68 w 109"/>
                <a:gd name="T29" fmla="*/ 18 h 88"/>
                <a:gd name="T30" fmla="*/ 78 w 109"/>
                <a:gd name="T31" fmla="*/ 12 h 88"/>
                <a:gd name="T32" fmla="*/ 90 w 109"/>
                <a:gd name="T33" fmla="*/ 1 h 88"/>
                <a:gd name="T34" fmla="*/ 22 w 109"/>
                <a:gd name="T35" fmla="*/ 88 h 88"/>
                <a:gd name="T36" fmla="*/ 29 w 109"/>
                <a:gd name="T37" fmla="*/ 80 h 88"/>
                <a:gd name="T38" fmla="*/ 22 w 109"/>
                <a:gd name="T39" fmla="*/ 79 h 88"/>
                <a:gd name="T40" fmla="*/ 11 w 109"/>
                <a:gd name="T41" fmla="*/ 88 h 88"/>
                <a:gd name="T42" fmla="*/ 17 w 109"/>
                <a:gd name="T43" fmla="*/ 71 h 88"/>
                <a:gd name="T44" fmla="*/ 11 w 109"/>
                <a:gd name="T45" fmla="*/ 73 h 88"/>
                <a:gd name="T46" fmla="*/ 34 w 109"/>
                <a:gd name="T47" fmla="*/ 88 h 88"/>
                <a:gd name="T48" fmla="*/ 40 w 109"/>
                <a:gd name="T49" fmla="*/ 79 h 88"/>
                <a:gd name="T50" fmla="*/ 34 w 109"/>
                <a:gd name="T51" fmla="*/ 80 h 88"/>
                <a:gd name="T52" fmla="*/ 45 w 109"/>
                <a:gd name="T53" fmla="*/ 88 h 88"/>
                <a:gd name="T54" fmla="*/ 52 w 109"/>
                <a:gd name="T55" fmla="*/ 63 h 88"/>
                <a:gd name="T56" fmla="*/ 45 w 109"/>
                <a:gd name="T57" fmla="*/ 69 h 88"/>
                <a:gd name="T58" fmla="*/ 57 w 109"/>
                <a:gd name="T59" fmla="*/ 88 h 88"/>
                <a:gd name="T60" fmla="*/ 63 w 109"/>
                <a:gd name="T61" fmla="*/ 73 h 88"/>
                <a:gd name="T62" fmla="*/ 57 w 109"/>
                <a:gd name="T63" fmla="*/ 88 h 88"/>
                <a:gd name="T64" fmla="*/ 75 w 109"/>
                <a:gd name="T65" fmla="*/ 88 h 88"/>
                <a:gd name="T66" fmla="*/ 68 w 109"/>
                <a:gd name="T67" fmla="*/ 75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9" h="88">
                  <a:moveTo>
                    <a:pt x="80" y="88"/>
                  </a:moveTo>
                  <a:cubicBezTo>
                    <a:pt x="86" y="88"/>
                    <a:pt x="86" y="88"/>
                    <a:pt x="86" y="88"/>
                  </a:cubicBezTo>
                  <a:cubicBezTo>
                    <a:pt x="86" y="44"/>
                    <a:pt x="86" y="44"/>
                    <a:pt x="86" y="44"/>
                  </a:cubicBezTo>
                  <a:cubicBezTo>
                    <a:pt x="84" y="44"/>
                    <a:pt x="84" y="44"/>
                    <a:pt x="84" y="44"/>
                  </a:cubicBezTo>
                  <a:cubicBezTo>
                    <a:pt x="82" y="70"/>
                    <a:pt x="82" y="70"/>
                    <a:pt x="82" y="70"/>
                  </a:cubicBezTo>
                  <a:cubicBezTo>
                    <a:pt x="80" y="71"/>
                    <a:pt x="80" y="71"/>
                    <a:pt x="80" y="71"/>
                  </a:cubicBezTo>
                  <a:cubicBezTo>
                    <a:pt x="80" y="88"/>
                    <a:pt x="80" y="88"/>
                    <a:pt x="80" y="88"/>
                  </a:cubicBezTo>
                  <a:close/>
                  <a:moveTo>
                    <a:pt x="109" y="0"/>
                  </a:moveTo>
                  <a:cubicBezTo>
                    <a:pt x="100" y="17"/>
                    <a:pt x="100" y="17"/>
                    <a:pt x="100" y="17"/>
                  </a:cubicBezTo>
                  <a:cubicBezTo>
                    <a:pt x="92" y="33"/>
                    <a:pt x="92" y="33"/>
                    <a:pt x="92" y="33"/>
                  </a:cubicBezTo>
                  <a:cubicBezTo>
                    <a:pt x="84" y="22"/>
                    <a:pt x="84" y="22"/>
                    <a:pt x="84" y="22"/>
                  </a:cubicBezTo>
                  <a:cubicBezTo>
                    <a:pt x="80" y="25"/>
                    <a:pt x="80" y="25"/>
                    <a:pt x="80" y="25"/>
                  </a:cubicBezTo>
                  <a:cubicBezTo>
                    <a:pt x="77" y="64"/>
                    <a:pt x="77" y="64"/>
                    <a:pt x="77" y="64"/>
                  </a:cubicBezTo>
                  <a:cubicBezTo>
                    <a:pt x="67" y="68"/>
                    <a:pt x="67" y="68"/>
                    <a:pt x="67" y="68"/>
                  </a:cubicBezTo>
                  <a:cubicBezTo>
                    <a:pt x="48" y="50"/>
                    <a:pt x="48" y="50"/>
                    <a:pt x="48" y="50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26" y="73"/>
                    <a:pt x="26" y="73"/>
                    <a:pt x="26" y="7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4" y="67"/>
                    <a:pt x="4" y="67"/>
                    <a:pt x="4" y="67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5" y="48"/>
                    <a:pt x="25" y="48"/>
                    <a:pt x="25" y="48"/>
                  </a:cubicBezTo>
                  <a:cubicBezTo>
                    <a:pt x="27" y="52"/>
                    <a:pt x="27" y="52"/>
                    <a:pt x="27" y="52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4" y="29"/>
                    <a:pt x="44" y="29"/>
                    <a:pt x="44" y="29"/>
                  </a:cubicBezTo>
                  <a:cubicBezTo>
                    <a:pt x="50" y="35"/>
                    <a:pt x="50" y="35"/>
                    <a:pt x="50" y="35"/>
                  </a:cubicBezTo>
                  <a:cubicBezTo>
                    <a:pt x="66" y="50"/>
                    <a:pt x="66" y="50"/>
                    <a:pt x="66" y="50"/>
                  </a:cubicBezTo>
                  <a:cubicBezTo>
                    <a:pt x="68" y="21"/>
                    <a:pt x="68" y="21"/>
                    <a:pt x="68" y="21"/>
                  </a:cubicBezTo>
                  <a:cubicBezTo>
                    <a:pt x="68" y="18"/>
                    <a:pt x="68" y="18"/>
                    <a:pt x="68" y="18"/>
                  </a:cubicBezTo>
                  <a:cubicBezTo>
                    <a:pt x="71" y="16"/>
                    <a:pt x="71" y="16"/>
                    <a:pt x="71" y="16"/>
                  </a:cubicBezTo>
                  <a:cubicBezTo>
                    <a:pt x="78" y="12"/>
                    <a:pt x="78" y="12"/>
                    <a:pt x="78" y="12"/>
                  </a:cubicBezTo>
                  <a:cubicBezTo>
                    <a:pt x="72" y="2"/>
                    <a:pt x="72" y="2"/>
                    <a:pt x="72" y="2"/>
                  </a:cubicBezTo>
                  <a:cubicBezTo>
                    <a:pt x="90" y="1"/>
                    <a:pt x="90" y="1"/>
                    <a:pt x="90" y="1"/>
                  </a:cubicBezTo>
                  <a:cubicBezTo>
                    <a:pt x="109" y="0"/>
                    <a:pt x="109" y="0"/>
                    <a:pt x="109" y="0"/>
                  </a:cubicBezTo>
                  <a:close/>
                  <a:moveTo>
                    <a:pt x="22" y="88"/>
                  </a:moveTo>
                  <a:cubicBezTo>
                    <a:pt x="24" y="88"/>
                    <a:pt x="27" y="88"/>
                    <a:pt x="29" y="88"/>
                  </a:cubicBezTo>
                  <a:cubicBezTo>
                    <a:pt x="29" y="80"/>
                    <a:pt x="29" y="80"/>
                    <a:pt x="29" y="80"/>
                  </a:cubicBezTo>
                  <a:cubicBezTo>
                    <a:pt x="23" y="81"/>
                    <a:pt x="23" y="81"/>
                    <a:pt x="23" y="81"/>
                  </a:cubicBezTo>
                  <a:cubicBezTo>
                    <a:pt x="22" y="79"/>
                    <a:pt x="22" y="79"/>
                    <a:pt x="22" y="79"/>
                  </a:cubicBezTo>
                  <a:cubicBezTo>
                    <a:pt x="22" y="88"/>
                    <a:pt x="22" y="88"/>
                    <a:pt x="22" y="88"/>
                  </a:cubicBezTo>
                  <a:close/>
                  <a:moveTo>
                    <a:pt x="11" y="88"/>
                  </a:moveTo>
                  <a:cubicBezTo>
                    <a:pt x="17" y="88"/>
                    <a:pt x="17" y="88"/>
                    <a:pt x="17" y="88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1" y="73"/>
                    <a:pt x="11" y="73"/>
                    <a:pt x="11" y="73"/>
                  </a:cubicBezTo>
                  <a:cubicBezTo>
                    <a:pt x="11" y="88"/>
                    <a:pt x="11" y="88"/>
                    <a:pt x="11" y="88"/>
                  </a:cubicBezTo>
                  <a:close/>
                  <a:moveTo>
                    <a:pt x="34" y="88"/>
                  </a:moveTo>
                  <a:cubicBezTo>
                    <a:pt x="36" y="88"/>
                    <a:pt x="38" y="88"/>
                    <a:pt x="40" y="88"/>
                  </a:cubicBezTo>
                  <a:cubicBezTo>
                    <a:pt x="40" y="79"/>
                    <a:pt x="40" y="79"/>
                    <a:pt x="40" y="79"/>
                  </a:cubicBezTo>
                  <a:cubicBezTo>
                    <a:pt x="40" y="80"/>
                    <a:pt x="40" y="80"/>
                    <a:pt x="40" y="80"/>
                  </a:cubicBezTo>
                  <a:cubicBezTo>
                    <a:pt x="34" y="80"/>
                    <a:pt x="34" y="80"/>
                    <a:pt x="34" y="80"/>
                  </a:cubicBezTo>
                  <a:cubicBezTo>
                    <a:pt x="34" y="88"/>
                    <a:pt x="34" y="88"/>
                    <a:pt x="34" y="88"/>
                  </a:cubicBezTo>
                  <a:close/>
                  <a:moveTo>
                    <a:pt x="45" y="88"/>
                  </a:moveTo>
                  <a:cubicBezTo>
                    <a:pt x="47" y="88"/>
                    <a:pt x="50" y="88"/>
                    <a:pt x="52" y="88"/>
                  </a:cubicBezTo>
                  <a:cubicBezTo>
                    <a:pt x="52" y="63"/>
                    <a:pt x="52" y="63"/>
                    <a:pt x="52" y="63"/>
                  </a:cubicBezTo>
                  <a:cubicBezTo>
                    <a:pt x="49" y="60"/>
                    <a:pt x="49" y="60"/>
                    <a:pt x="49" y="60"/>
                  </a:cubicBezTo>
                  <a:cubicBezTo>
                    <a:pt x="45" y="69"/>
                    <a:pt x="45" y="69"/>
                    <a:pt x="45" y="69"/>
                  </a:cubicBezTo>
                  <a:cubicBezTo>
                    <a:pt x="45" y="88"/>
                    <a:pt x="45" y="88"/>
                    <a:pt x="45" y="88"/>
                  </a:cubicBezTo>
                  <a:close/>
                  <a:moveTo>
                    <a:pt x="57" y="88"/>
                  </a:moveTo>
                  <a:cubicBezTo>
                    <a:pt x="59" y="88"/>
                    <a:pt x="61" y="88"/>
                    <a:pt x="63" y="88"/>
                  </a:cubicBezTo>
                  <a:cubicBezTo>
                    <a:pt x="63" y="73"/>
                    <a:pt x="63" y="73"/>
                    <a:pt x="63" y="73"/>
                  </a:cubicBezTo>
                  <a:cubicBezTo>
                    <a:pt x="57" y="67"/>
                    <a:pt x="57" y="67"/>
                    <a:pt x="57" y="67"/>
                  </a:cubicBezTo>
                  <a:cubicBezTo>
                    <a:pt x="57" y="88"/>
                    <a:pt x="57" y="88"/>
                    <a:pt x="57" y="88"/>
                  </a:cubicBezTo>
                  <a:close/>
                  <a:moveTo>
                    <a:pt x="68" y="88"/>
                  </a:moveTo>
                  <a:cubicBezTo>
                    <a:pt x="70" y="88"/>
                    <a:pt x="73" y="88"/>
                    <a:pt x="75" y="88"/>
                  </a:cubicBezTo>
                  <a:cubicBezTo>
                    <a:pt x="75" y="72"/>
                    <a:pt x="75" y="72"/>
                    <a:pt x="75" y="72"/>
                  </a:cubicBezTo>
                  <a:cubicBezTo>
                    <a:pt x="68" y="75"/>
                    <a:pt x="68" y="75"/>
                    <a:pt x="68" y="75"/>
                  </a:cubicBezTo>
                  <a:lnTo>
                    <a:pt x="68" y="88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3" fill="hold" grpId="0" nodeType="withEffect" p14:presetBounceEnd="6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2000">
                                          <p:cBhvr additive="base">
                                            <p:cTn id="7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2000">
                                          <p:cBhvr additive="base">
                                            <p:cTn id="8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" presetClass="entr" presetSubtype="3" fill="hold" nodeType="afterEffect" p14:presetBounceEnd="6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2000">
                                          <p:cBhvr additive="base">
                                            <p:cTn id="12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2000">
                                          <p:cBhvr additive="base">
                                            <p:cTn id="13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3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" presetClass="entr" presetSubtype="3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" grpId="0"/>
        </p:bldLst>
      </p:timing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2JiYTU0ODI5ZDk0ZWQ3NGI1NDJhOWI0YmI4Y2FiNTk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0"/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09*379"/>
  <p:tag name="TABLE_ENDDRAG_RECT" val="63*81*809*379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2.62503937007872,&quot;left&quot;:511.05039370078737,&quot;top&quot;:89.74984251968503,&quot;width&quot;:164.82464566929139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2.62503937007872,&quot;left&quot;:511.05039370078737,&quot;top&quot;:89.74984251968503,&quot;width&quot;:164.82464566929139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2.62503937007872,&quot;left&quot;:511.05039370078737,&quot;top&quot;:89.74984251968503,&quot;width&quot;:164.82464566929139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2.62503937007872,&quot;left&quot;:511.05039370078737,&quot;top&quot;:89.74984251968503,&quot;width&quot;:164.82464566929139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2.62503937007872,&quot;left&quot;:511.05039370078737,&quot;top&quot;:89.74984251968503,&quot;width&quot;:164.82464566929139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2.62503937007872,&quot;left&quot;:511.05039370078737,&quot;top&quot;:89.74984251968503,&quot;width&quot;:164.82464566929139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2.62503937007872,&quot;left&quot;:511.05039370078737,&quot;top&quot;:89.74984251968503,&quot;width&quot;:164.82464566929139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2.62503937007872,&quot;left&quot;:511.05039370078737,&quot;top&quot;:89.74984251968503,&quot;width&quot;:164.82464566929139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2.62503937007872,&quot;left&quot;:511.05039370078737,&quot;top&quot;:89.74984251968503,&quot;width&quot;:164.82464566929139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2.62503937007872,&quot;left&quot;:511.05039370078737,&quot;top&quot;:89.74984251968503,&quot;width&quot;:164.82464566929139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2.62503937007872,&quot;left&quot;:511.05039370078737,&quot;top&quot;:89.74984251968503,&quot;width&quot;:164.82464566929139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2.62503937007872,&quot;left&quot;:511.05039370078737,&quot;top&quot;:89.74984251968503,&quot;width&quot;:164.82464566929139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2.62503937007872,&quot;left&quot;:511.05039370078737,&quot;top&quot;:89.74984251968503,&quot;width&quot;:164.82464566929139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2.62503937007872,&quot;left&quot;:511.05039370078737,&quot;top&quot;:89.74984251968503,&quot;width&quot;:164.82464566929139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2.62503937007872,&quot;left&quot;:511.05039370078737,&quot;top&quot;:89.74984251968503,&quot;width&quot;:164.82464566929139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2.62503937007872,&quot;left&quot;:511.05039370078737,&quot;top&quot;:89.74984251968503,&quot;width&quot;:164.82464566929139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2.62503937007872,&quot;left&quot;:511.05039370078737,&quot;top&quot;:89.74984251968503,&quot;width&quot;:164.82464566929139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2.62503937007872,&quot;left&quot;:511.05039370078737,&quot;top&quot;:89.74984251968503,&quot;width&quot;:164.82464566929139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2.62503937007872,&quot;left&quot;:511.05039370078737,&quot;top&quot;:89.74984251968503,&quot;width&quot;:164.82464566929139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2.62503937007872,&quot;left&quot;:511.05039370078737,&quot;top&quot;:89.74984251968503,&quot;width&quot;:164.82464566929139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2.62503937007872,&quot;left&quot;:511.05039370078737,&quot;top&quot;:89.74984251968503,&quot;width&quot;:164.82464566929139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2.62503937007872,&quot;left&quot;:511.05039370078737,&quot;top&quot;:89.74984251968503,&quot;width&quot;:164.82464566929139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2.62503937007872,&quot;left&quot;:511.05039370078737,&quot;top&quot;:89.74984251968503,&quot;width&quot;:164.82464566929139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2.62503937007872,&quot;left&quot;:511.05039370078737,&quot;top&quot;:89.74984251968503,&quot;width&quot;:164.82464566929139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2.62503937007872,&quot;left&quot;:511.05039370078737,&quot;top&quot;:89.74984251968503,&quot;width&quot;:164.82464566929139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2.62503937007872,&quot;left&quot;:511.05039370078737,&quot;top&quot;:89.74984251968503,&quot;width&quot;:164.82464566929139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2.62503937007872,&quot;left&quot;:511.05039370078737,&quot;top&quot;:89.74984251968503,&quot;width&quot;:164.82464566929139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2.62503937007872,&quot;left&quot;:511.05039370078737,&quot;top&quot;:89.74984251968503,&quot;width&quot;:164.82464566929139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2.62503937007872,&quot;left&quot;:511.05039370078737,&quot;top&quot;:89.74984251968503,&quot;width&quot;:164.82464566929139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2.62503937007872,&quot;left&quot;:511.05039370078737,&quot;top&quot;:89.74984251968503,&quot;width&quot;:164.82464566929139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2.62503937007872,&quot;left&quot;:511.05039370078737,&quot;top&quot;:89.74984251968503,&quot;width&quot;:164.82464566929139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2.62503937007872,&quot;left&quot;:511.05039370078737,&quot;top&quot;:89.74984251968503,&quot;width&quot;:164.82464566929139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2.62503937007872,&quot;left&quot;:511.05039370078737,&quot;top&quot;:89.74984251968503,&quot;width&quot;:164.82464566929139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2.62503937007872,&quot;left&quot;:511.05039370078737,&quot;top&quot;:89.74984251968503,&quot;width&quot;:164.82464566929139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2.62503937007872,&quot;left&quot;:511.05039370078737,&quot;top&quot;:89.74984251968503,&quot;width&quot;:164.82464566929139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2.62503937007872,&quot;left&quot;:511.05039370078737,&quot;top&quot;:89.74984251968503,&quot;width&quot;:164.82464566929139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2.62503937007872,&quot;left&quot;:511.05039370078737,&quot;top&quot;:89.74984251968503,&quot;width&quot;:164.82464566929139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2.62503937007872,&quot;left&quot;:511.05039370078737,&quot;top&quot;:89.74984251968503,&quot;width&quot;:164.82464566929139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2.62503937007872,&quot;left&quot;:511.05039370078737,&quot;top&quot;:89.74984251968503,&quot;width&quot;:164.82464566929139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2.62503937007872,&quot;left&quot;:511.05039370078737,&quot;top&quot;:89.74984251968503,&quot;width&quot;:164.82464566929139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2.62503937007872,&quot;left&quot;:511.05039370078737,&quot;top&quot;:89.74984251968503,&quot;width&quot;:164.82464566929139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2.62503937007872,&quot;left&quot;:511.05039370078737,&quot;top&quot;:89.74984251968503,&quot;width&quot;:164.82464566929139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2.62503937007872,&quot;left&quot;:511.05039370078737,&quot;top&quot;:89.74984251968503,&quot;width&quot;:164.82464566929139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2.62503937007872,&quot;left&quot;:511.05039370078737,&quot;top&quot;:89.74984251968503,&quot;width&quot;:164.82464566929139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2.62503937007872,&quot;left&quot;:511.05039370078737,&quot;top&quot;:89.74984251968503,&quot;width&quot;:164.82464566929139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2.62503937007872,&quot;left&quot;:511.05039370078737,&quot;top&quot;:89.74984251968503,&quot;width&quot;:164.82464566929139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2.62503937007872,&quot;left&quot;:511.05039370078737,&quot;top&quot;:89.74984251968503,&quot;width&quot;:164.82464566929139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2.62503937007872,&quot;left&quot;:511.05039370078737,&quot;top&quot;:89.74984251968503,&quot;width&quot;:164.82464566929139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封面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思源黑体"/>
        <a:cs typeface=""/>
      </a:majorFont>
      <a:minorFont>
        <a:latin typeface="Arial"/>
        <a:ea typeface="思源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自定义设计方案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思源黑体"/>
        <a:cs typeface=""/>
      </a:majorFont>
      <a:minorFont>
        <a:latin typeface="Arial"/>
        <a:ea typeface="思源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3826</Words>
  <Application>Microsoft Office PowerPoint</Application>
  <PresentationFormat>宽屏</PresentationFormat>
  <Paragraphs>539</Paragraphs>
  <Slides>54</Slides>
  <Notes>0</Notes>
  <HiddenSlides>1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54</vt:i4>
      </vt:variant>
    </vt:vector>
  </HeadingPairs>
  <TitlesOfParts>
    <vt:vector size="67" baseType="lpstr">
      <vt:lpstr>等线</vt:lpstr>
      <vt:lpstr>等线 Light</vt:lpstr>
      <vt:lpstr>黑体</vt:lpstr>
      <vt:lpstr>思源黑体</vt:lpstr>
      <vt:lpstr>微软雅黑</vt:lpstr>
      <vt:lpstr>Arial</vt:lpstr>
      <vt:lpstr>Calibri</vt:lpstr>
      <vt:lpstr>Impact</vt:lpstr>
      <vt:lpstr>Roboto Light</vt:lpstr>
      <vt:lpstr>Wingdings</vt:lpstr>
      <vt:lpstr>Office 主题​​</vt:lpstr>
      <vt:lpstr>封面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赵爽</dc:creator>
  <cp:lastModifiedBy>Administrator</cp:lastModifiedBy>
  <cp:revision>195</cp:revision>
  <dcterms:created xsi:type="dcterms:W3CDTF">2023-08-24T06:48:00Z</dcterms:created>
  <dcterms:modified xsi:type="dcterms:W3CDTF">2025-09-28T09:40:39Z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E8D327BD1DC44C898E30A2F7AC37211F_13</vt:lpwstr>
  </property>
  <property fmtid="{D5CDD505-2E9C-101B-9397-08002B2CF9AE}" pid="3" name="KSOProductBuildVer">
    <vt:lpwstr>2052-12.1.0.21915</vt:lpwstr>
  </property>
</Properties>
</file>