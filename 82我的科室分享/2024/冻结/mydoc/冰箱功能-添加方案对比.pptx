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  <p:sldMasterId id="2147483660" r:id="rId2"/>
    <p:sldMasterId id="2147483663" r:id="rId3"/>
  </p:sldMasterIdLst>
  <p:notesMasterIdLst>
    <p:notesMasterId r:id="rId9"/>
  </p:notesMasterIdLst>
  <p:handoutMasterIdLst>
    <p:handoutMasterId r:id="rId10"/>
  </p:handoutMasterIdLst>
  <p:sldIdLst>
    <p:sldId id="1012" r:id="rId4"/>
    <p:sldId id="1013" r:id="rId5"/>
    <p:sldId id="1015" r:id="rId6"/>
    <p:sldId id="1016" r:id="rId7"/>
    <p:sldId id="1014" r:id="rId8"/>
  </p:sldIdLst>
  <p:sldSz cx="12192000" cy="6858000"/>
  <p:notesSz cx="6797675" cy="992822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chuanming" initials="l" lastIdx="1" clrIdx="0"/>
  <p:cmAuthor id="2" name="86186" initials="8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FD5EA"/>
    <a:srgbClr val="F2B600"/>
    <a:srgbClr val="1D4476"/>
    <a:srgbClr val="A6A6A6"/>
    <a:srgbClr val="44546A"/>
    <a:srgbClr val="316DAB"/>
    <a:srgbClr val="5A6673"/>
    <a:srgbClr val="6458CD"/>
    <a:srgbClr val="5663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2" autoAdjust="0"/>
    <p:restoredTop sz="93963" autoAdjust="0"/>
  </p:normalViewPr>
  <p:slideViewPr>
    <p:cSldViewPr snapToGrid="0" showGuides="1">
      <p:cViewPr varScale="1">
        <p:scale>
          <a:sx n="116" d="100"/>
          <a:sy n="116" d="100"/>
        </p:scale>
        <p:origin x="690" y="102"/>
      </p:cViewPr>
      <p:guideLst>
        <p:guide orient="horz" pos="2071"/>
        <p:guide pos="3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1139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1F11A-75B0-4A10-BE4A-5B7D904E21CA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E3A83-45C6-45CE-BD90-ED9B192F8C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2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159E-E725-428D-BFEB-64B7FF41D7CC}" type="datetime1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SHENZHEN HANGSHENG ELECTRONICS CO .,LTD.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A4FA8-9F39-40B2-BBB8-AD6C507964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9616-194A-4CB1-986D-4D67EB4BFDC2}" type="datetime1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SHENZHEN HANGSHENG ELECTRONICS CO .,LTD.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A4FA8-9F39-40B2-BBB8-AD6C507964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383" cy="6856765"/>
          </a:xfrm>
          <a:prstGeom prst="rect">
            <a:avLst/>
          </a:prstGeom>
        </p:spPr>
      </p:pic>
      <p:sp>
        <p:nvSpPr>
          <p:cNvPr id="31" name="直角三角形 30"/>
          <p:cNvSpPr/>
          <p:nvPr userDrawn="1"/>
        </p:nvSpPr>
        <p:spPr>
          <a:xfrm rot="5400000">
            <a:off x="168811" y="-168811"/>
            <a:ext cx="2278970" cy="2616591"/>
          </a:xfrm>
          <a:prstGeom prst="rtTriangle">
            <a:avLst/>
          </a:prstGeom>
          <a:solidFill>
            <a:srgbClr val="6587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rot="-5400000">
            <a:off x="-513982" y="532708"/>
            <a:ext cx="6852224" cy="5795891"/>
          </a:xfrm>
          <a:custGeom>
            <a:avLst/>
            <a:gdLst>
              <a:gd name="connsiteX0" fmla="*/ 0 w 6856766"/>
              <a:gd name="connsiteY0" fmla="*/ 5795891 h 5795891"/>
              <a:gd name="connsiteX1" fmla="*/ 0 w 6856766"/>
              <a:gd name="connsiteY1" fmla="*/ 0 h 5795891"/>
              <a:gd name="connsiteX2" fmla="*/ 6856766 w 6856766"/>
              <a:gd name="connsiteY2" fmla="*/ 5795891 h 5795891"/>
              <a:gd name="connsiteX3" fmla="*/ 0 w 6856766"/>
              <a:gd name="connsiteY3" fmla="*/ 5795891 h 5795891"/>
              <a:gd name="connsiteX0-1" fmla="*/ 0 w 6880215"/>
              <a:gd name="connsiteY0-2" fmla="*/ 5795891 h 5795891"/>
              <a:gd name="connsiteX1-3" fmla="*/ 0 w 6880215"/>
              <a:gd name="connsiteY1-4" fmla="*/ 0 h 5795891"/>
              <a:gd name="connsiteX2-5" fmla="*/ 6880215 w 6880215"/>
              <a:gd name="connsiteY2-6" fmla="*/ 5326971 h 5795891"/>
              <a:gd name="connsiteX3-7" fmla="*/ 0 w 6880215"/>
              <a:gd name="connsiteY3-8" fmla="*/ 5795891 h 5795891"/>
              <a:gd name="connsiteX0-9" fmla="*/ 0 w 6852224"/>
              <a:gd name="connsiteY0-10" fmla="*/ 5795891 h 5795891"/>
              <a:gd name="connsiteX1-11" fmla="*/ 0 w 6852224"/>
              <a:gd name="connsiteY1-12" fmla="*/ 0 h 5795891"/>
              <a:gd name="connsiteX2-13" fmla="*/ 6852224 w 6852224"/>
              <a:gd name="connsiteY2-14" fmla="*/ 5317640 h 5795891"/>
              <a:gd name="connsiteX3-15" fmla="*/ 0 w 6852224"/>
              <a:gd name="connsiteY3-16" fmla="*/ 5795891 h 579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852224" h="5795891">
                <a:moveTo>
                  <a:pt x="0" y="5795891"/>
                </a:moveTo>
                <a:lnTo>
                  <a:pt x="0" y="0"/>
                </a:lnTo>
                <a:lnTo>
                  <a:pt x="6852224" y="5317640"/>
                </a:lnTo>
                <a:lnTo>
                  <a:pt x="0" y="579589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直角三角形 40"/>
          <p:cNvSpPr/>
          <p:nvPr userDrawn="1"/>
        </p:nvSpPr>
        <p:spPr>
          <a:xfrm flipH="1">
            <a:off x="10150322" y="4840521"/>
            <a:ext cx="2041678" cy="2031547"/>
          </a:xfrm>
          <a:prstGeom prst="rtTriangle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9290072" y="247466"/>
            <a:ext cx="2613171" cy="92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占位符 23"/>
          <p:cNvSpPr>
            <a:spLocks noGrp="1"/>
          </p:cNvSpPr>
          <p:nvPr>
            <p:ph type="body" sz="quarter" idx="11"/>
          </p:nvPr>
        </p:nvSpPr>
        <p:spPr>
          <a:xfrm>
            <a:off x="4243842" y="2151224"/>
            <a:ext cx="6549240" cy="923330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5400" b="1" kern="120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xfrm>
            <a:off x="4243842" y="4053992"/>
            <a:ext cx="6549239" cy="63027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endParaRPr lang="en-US" altLang="zh-CN" dirty="0"/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7493479" y="1568759"/>
            <a:ext cx="3629465" cy="3629465"/>
            <a:chOff x="7948246" y="1161073"/>
            <a:chExt cx="3629465" cy="3629465"/>
          </a:xfrm>
        </p:grpSpPr>
        <p:cxnSp>
          <p:nvCxnSpPr>
            <p:cNvPr id="55" name="直接连接符 54"/>
            <p:cNvCxnSpPr/>
            <p:nvPr userDrawn="1"/>
          </p:nvCxnSpPr>
          <p:spPr>
            <a:xfrm>
              <a:off x="7948246" y="1165811"/>
              <a:ext cx="3629465" cy="0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 userDrawn="1"/>
          </p:nvCxnSpPr>
          <p:spPr>
            <a:xfrm rot="16200000">
              <a:off x="9748911" y="2975806"/>
              <a:ext cx="3629465" cy="0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 userDrawn="1"/>
          </p:nvCxnSpPr>
          <p:spPr>
            <a:xfrm flipV="1">
              <a:off x="7952983" y="1161074"/>
              <a:ext cx="0" cy="362679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 userDrawn="1"/>
          </p:nvCxnSpPr>
          <p:spPr>
            <a:xfrm rot="16200000" flipV="1">
              <a:off x="11436788" y="4645893"/>
              <a:ext cx="1" cy="270630"/>
            </a:xfrm>
            <a:prstGeom prst="line">
              <a:avLst/>
            </a:prstGeom>
            <a:ln w="28575">
              <a:solidFill>
                <a:srgbClr val="1D447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/>
          <p:nvPr userDrawn="1"/>
        </p:nvSpPr>
        <p:spPr>
          <a:xfrm>
            <a:off x="4243598" y="4986740"/>
            <a:ext cx="2052000" cy="32400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矩形 61"/>
          <p:cNvSpPr/>
          <p:nvPr userDrawn="1"/>
        </p:nvSpPr>
        <p:spPr>
          <a:xfrm>
            <a:off x="6510937" y="4982606"/>
            <a:ext cx="2052000" cy="32400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 userDrawn="1"/>
        </p:nvSpPr>
        <p:spPr>
          <a:xfrm>
            <a:off x="8746694" y="4982606"/>
            <a:ext cx="2052000" cy="32400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等腰三角形 68"/>
          <p:cNvSpPr/>
          <p:nvPr userDrawn="1"/>
        </p:nvSpPr>
        <p:spPr>
          <a:xfrm>
            <a:off x="781626" y="5345723"/>
            <a:ext cx="1736490" cy="1511042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等腰三角形 68"/>
          <p:cNvSpPr/>
          <p:nvPr userDrawn="1"/>
        </p:nvSpPr>
        <p:spPr>
          <a:xfrm>
            <a:off x="987083" y="5570806"/>
            <a:ext cx="1376287" cy="1287194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gimg2.baidu.com/image_search/src=http%3A%2F%2Fi.keaitupian.net%2Fup%2F26%2Fb0%2F3c%2Fcf764177e979e657c5a07e183b3cb026.jpg&amp;refer=http%3A%2F%2Fi.keaitupian.net&amp;app=2002&amp;size=f9999,10000&amp;q=a80&amp;n=0&amp;g=0n&amp;fmt=jpeg?sec=1638614946&amp;t=4950e77d84f1ce10df4fe43b46ad9f2e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6" r="18885" b="14846"/>
          <a:stretch>
            <a:fillRect/>
          </a:stretch>
        </p:blipFill>
        <p:spPr bwMode="auto">
          <a:xfrm>
            <a:off x="0" y="0"/>
            <a:ext cx="5627075" cy="685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直角三角形 25"/>
          <p:cNvSpPr/>
          <p:nvPr userDrawn="1"/>
        </p:nvSpPr>
        <p:spPr>
          <a:xfrm flipH="1" flipV="1">
            <a:off x="-2" y="-1"/>
            <a:ext cx="571966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直角三角形 27"/>
          <p:cNvSpPr/>
          <p:nvPr userDrawn="1"/>
        </p:nvSpPr>
        <p:spPr>
          <a:xfrm flipH="1">
            <a:off x="-3" y="3924624"/>
            <a:ext cx="571966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4119376" y="2720396"/>
            <a:ext cx="1875080" cy="1350624"/>
          </a:xfrm>
          <a:prstGeom prst="round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8" name="组合 57"/>
          <p:cNvGrpSpPr/>
          <p:nvPr userDrawn="1"/>
        </p:nvGrpSpPr>
        <p:grpSpPr>
          <a:xfrm>
            <a:off x="4119376" y="2754917"/>
            <a:ext cx="2031325" cy="1254626"/>
            <a:chOff x="5481670" y="-34887"/>
            <a:chExt cx="2031325" cy="1254626"/>
          </a:xfrm>
        </p:grpSpPr>
        <p:sp>
          <p:nvSpPr>
            <p:cNvPr id="59" name="文本框 58"/>
            <p:cNvSpPr txBox="1"/>
            <p:nvPr/>
          </p:nvSpPr>
          <p:spPr>
            <a:xfrm>
              <a:off x="5634379" y="-34887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481670" y="850407"/>
              <a:ext cx="20313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gimg2.baidu.com/image_search/src=http%3A%2F%2Fi.keaitupian.net%2Fup%2F26%2Fb0%2F3c%2Fcf764177e979e657c5a07e183b3cb026.jpg&amp;refer=http%3A%2F%2Fi.keaitupian.net&amp;app=2002&amp;size=f9999,10000&amp;q=a80&amp;n=0&amp;g=0n&amp;fmt=jpeg?sec=1638614946&amp;t=4950e77d84f1ce10df4fe43b46ad9f2e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46" r="18885" b="14846"/>
          <a:stretch>
            <a:fillRect/>
          </a:stretch>
        </p:blipFill>
        <p:spPr bwMode="auto">
          <a:xfrm>
            <a:off x="0" y="0"/>
            <a:ext cx="5627077" cy="685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直角三角形 25"/>
          <p:cNvSpPr/>
          <p:nvPr userDrawn="1"/>
        </p:nvSpPr>
        <p:spPr>
          <a:xfrm flipH="1" flipV="1">
            <a:off x="-2" y="-1"/>
            <a:ext cx="571033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直角三角形 27"/>
          <p:cNvSpPr/>
          <p:nvPr userDrawn="1"/>
        </p:nvSpPr>
        <p:spPr>
          <a:xfrm flipH="1">
            <a:off x="-3" y="3924624"/>
            <a:ext cx="571033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4119376" y="2720396"/>
            <a:ext cx="1875080" cy="1350624"/>
          </a:xfrm>
          <a:prstGeom prst="round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8" name="组合 57"/>
          <p:cNvGrpSpPr/>
          <p:nvPr userDrawn="1"/>
        </p:nvGrpSpPr>
        <p:grpSpPr>
          <a:xfrm>
            <a:off x="4119376" y="2754917"/>
            <a:ext cx="2031325" cy="1254626"/>
            <a:chOff x="5481670" y="-34887"/>
            <a:chExt cx="2031325" cy="1254626"/>
          </a:xfrm>
        </p:grpSpPr>
        <p:sp>
          <p:nvSpPr>
            <p:cNvPr id="59" name="文本框 58"/>
            <p:cNvSpPr txBox="1"/>
            <p:nvPr/>
          </p:nvSpPr>
          <p:spPr>
            <a:xfrm>
              <a:off x="5634379" y="-34887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481670" y="850407"/>
              <a:ext cx="20313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6588844" y="2166302"/>
            <a:ext cx="776510" cy="583764"/>
            <a:chOff x="5237396" y="1107433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1" name="矩形: 圆角 15"/>
            <p:cNvSpPr/>
            <p:nvPr/>
          </p:nvSpPr>
          <p:spPr>
            <a:xfrm>
              <a:off x="5237396" y="1107433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92654" y="1192828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6588844" y="3093539"/>
            <a:ext cx="776510" cy="583764"/>
            <a:chOff x="5237396" y="2385272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4" name="矩形: 圆角 18"/>
            <p:cNvSpPr/>
            <p:nvPr/>
          </p:nvSpPr>
          <p:spPr>
            <a:xfrm>
              <a:off x="5237396" y="2385272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92654" y="2470667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588844" y="4020776"/>
            <a:ext cx="776510" cy="583764"/>
            <a:chOff x="5237396" y="3663111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7" name="矩形: 圆角 21"/>
            <p:cNvSpPr/>
            <p:nvPr/>
          </p:nvSpPr>
          <p:spPr>
            <a:xfrm>
              <a:off x="5237396" y="3663111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292654" y="3748506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7925536" y="2199359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工作业绩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0" name="文本占位符 32"/>
          <p:cNvSpPr>
            <a:spLocks noGrp="1"/>
          </p:cNvSpPr>
          <p:nvPr>
            <p:ph type="body" sz="quarter" idx="11" hasCustomPrompt="1"/>
          </p:nvPr>
        </p:nvSpPr>
        <p:spPr>
          <a:xfrm>
            <a:off x="7925536" y="3123811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亮点经验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1" name="文本占位符 32"/>
          <p:cNvSpPr>
            <a:spLocks noGrp="1"/>
          </p:cNvSpPr>
          <p:nvPr>
            <p:ph type="body" sz="quarter" idx="12" hasCustomPrompt="1"/>
          </p:nvPr>
        </p:nvSpPr>
        <p:spPr>
          <a:xfrm>
            <a:off x="7925536" y="4051048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问题分析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383" cy="6856765"/>
          </a:xfrm>
          <a:prstGeom prst="rect">
            <a:avLst/>
          </a:prstGeom>
        </p:spPr>
      </p:pic>
      <p:sp>
        <p:nvSpPr>
          <p:cNvPr id="2" name="直角三角形 1"/>
          <p:cNvSpPr/>
          <p:nvPr userDrawn="1"/>
        </p:nvSpPr>
        <p:spPr>
          <a:xfrm flipH="1" flipV="1">
            <a:off x="-1" y="-1"/>
            <a:ext cx="5627076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flipH="1">
            <a:off x="-2" y="3924624"/>
            <a:ext cx="5627077" cy="2928219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6"/>
          <p:cNvSpPr/>
          <p:nvPr userDrawn="1"/>
        </p:nvSpPr>
        <p:spPr>
          <a:xfrm>
            <a:off x="4119376" y="2720396"/>
            <a:ext cx="1875080" cy="1350624"/>
          </a:xfrm>
          <a:prstGeom prst="round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组合 17"/>
          <p:cNvGrpSpPr/>
          <p:nvPr userDrawn="1"/>
        </p:nvGrpSpPr>
        <p:grpSpPr>
          <a:xfrm>
            <a:off x="6466796" y="1686056"/>
            <a:ext cx="776510" cy="583764"/>
            <a:chOff x="5237396" y="1107433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19" name="矩形: 圆角 15"/>
            <p:cNvSpPr/>
            <p:nvPr/>
          </p:nvSpPr>
          <p:spPr>
            <a:xfrm>
              <a:off x="5237396" y="1107433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292654" y="1192828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6466796" y="2613293"/>
            <a:ext cx="776510" cy="583764"/>
            <a:chOff x="5237396" y="2385272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22" name="矩形: 圆角 18"/>
            <p:cNvSpPr/>
            <p:nvPr/>
          </p:nvSpPr>
          <p:spPr>
            <a:xfrm>
              <a:off x="5237396" y="2385272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292654" y="2470667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6466796" y="3540530"/>
            <a:ext cx="776510" cy="583764"/>
            <a:chOff x="5237396" y="3663111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25" name="矩形: 圆角 21"/>
            <p:cNvSpPr/>
            <p:nvPr/>
          </p:nvSpPr>
          <p:spPr>
            <a:xfrm>
              <a:off x="5237396" y="3663111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292654" y="3748506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 userDrawn="1"/>
        </p:nvGrpSpPr>
        <p:grpSpPr>
          <a:xfrm>
            <a:off x="6466796" y="4467767"/>
            <a:ext cx="776510" cy="583764"/>
            <a:chOff x="5237396" y="4940950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29" name="矩形: 圆角 24"/>
            <p:cNvSpPr/>
            <p:nvPr/>
          </p:nvSpPr>
          <p:spPr>
            <a:xfrm>
              <a:off x="5237396" y="4940950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292654" y="5026345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1" name="组合 30"/>
          <p:cNvGrpSpPr/>
          <p:nvPr userDrawn="1"/>
        </p:nvGrpSpPr>
        <p:grpSpPr>
          <a:xfrm>
            <a:off x="6466796" y="5395003"/>
            <a:ext cx="776510" cy="583764"/>
            <a:chOff x="5237396" y="4940950"/>
            <a:chExt cx="809618" cy="809618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32" name="矩形: 圆角 39"/>
            <p:cNvSpPr/>
            <p:nvPr/>
          </p:nvSpPr>
          <p:spPr>
            <a:xfrm>
              <a:off x="5237396" y="4940950"/>
              <a:ext cx="809618" cy="809618"/>
            </a:xfrm>
            <a:prstGeom prst="roundRect">
              <a:avLst/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292654" y="5026345"/>
              <a:ext cx="710916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4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7476227" y="1719113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工作业绩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5" name="文本占位符 32"/>
          <p:cNvSpPr>
            <a:spLocks noGrp="1"/>
          </p:cNvSpPr>
          <p:nvPr>
            <p:ph type="body" sz="quarter" idx="11" hasCustomPrompt="1"/>
          </p:nvPr>
        </p:nvSpPr>
        <p:spPr>
          <a:xfrm>
            <a:off x="7476227" y="2643565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亮点经验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" name="文本占位符 32"/>
          <p:cNvSpPr>
            <a:spLocks noGrp="1"/>
          </p:cNvSpPr>
          <p:nvPr>
            <p:ph type="body" sz="quarter" idx="12" hasCustomPrompt="1"/>
          </p:nvPr>
        </p:nvSpPr>
        <p:spPr>
          <a:xfrm>
            <a:off x="7476227" y="3570802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问题分析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7" name="文本占位符 32"/>
          <p:cNvSpPr>
            <a:spLocks noGrp="1"/>
          </p:cNvSpPr>
          <p:nvPr>
            <p:ph type="body" sz="quarter" idx="13" hasCustomPrompt="1"/>
          </p:nvPr>
        </p:nvSpPr>
        <p:spPr>
          <a:xfrm>
            <a:off x="7476227" y="4456360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展望未来</a:t>
            </a:r>
          </a:p>
        </p:txBody>
      </p:sp>
      <p:sp>
        <p:nvSpPr>
          <p:cNvPr id="38" name="文本占位符 32"/>
          <p:cNvSpPr>
            <a:spLocks noGrp="1"/>
          </p:cNvSpPr>
          <p:nvPr>
            <p:ph type="body" sz="quarter" idx="14" hasCustomPrompt="1"/>
          </p:nvPr>
        </p:nvSpPr>
        <p:spPr>
          <a:xfrm>
            <a:off x="7476227" y="5425275"/>
            <a:ext cx="3468438" cy="523220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400" b="1" kern="1200" noProof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algn="l"/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未来计划</a:t>
            </a:r>
            <a:endParaRPr lang="en-US" altLang="zh-CN" sz="2800" b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4119376" y="2754917"/>
            <a:ext cx="2031325" cy="1254626"/>
            <a:chOff x="5481670" y="-34887"/>
            <a:chExt cx="2031325" cy="1254626"/>
          </a:xfrm>
        </p:grpSpPr>
        <p:sp>
          <p:nvSpPr>
            <p:cNvPr id="39" name="文本框 38"/>
            <p:cNvSpPr txBox="1"/>
            <p:nvPr/>
          </p:nvSpPr>
          <p:spPr>
            <a:xfrm>
              <a:off x="5634379" y="-34887"/>
              <a:ext cx="1569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481670" y="850407"/>
              <a:ext cx="203132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</a:t>
              </a:r>
              <a:endParaRPr kumimoji="0" lang="zh-CN" altLang="en-US" sz="18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293688"/>
            <a:ext cx="542925" cy="52322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98511" y="293688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D447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658837" y="293687"/>
            <a:ext cx="185225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 18"/>
          <p:cNvSpPr/>
          <p:nvPr userDrawn="1"/>
        </p:nvSpPr>
        <p:spPr>
          <a:xfrm>
            <a:off x="0" y="6367457"/>
            <a:ext cx="9216000" cy="1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9312000" y="6367457"/>
            <a:ext cx="2880000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3815908" y="6456981"/>
            <a:ext cx="5290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fid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nt</a:t>
            </a:r>
            <a:r>
              <a:rPr kumimoji="0" lang="en-US" altLang="zh-CN" sz="16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al</a:t>
            </a:r>
            <a:r>
              <a:rPr kumimoji="0" lang="en-US" altLang="zh-CN" sz="16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–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HSAE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erty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Diffusion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or Copy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Forbidden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©</a:t>
            </a:r>
          </a:p>
        </p:txBody>
      </p:sp>
      <p:sp>
        <p:nvSpPr>
          <p:cNvPr id="14" name="流程图: 过程 13"/>
          <p:cNvSpPr/>
          <p:nvPr userDrawn="1"/>
        </p:nvSpPr>
        <p:spPr>
          <a:xfrm>
            <a:off x="3108325" y="2499823"/>
            <a:ext cx="5810250" cy="2011623"/>
          </a:xfrm>
          <a:prstGeom prst="flowChartProcess">
            <a:avLst/>
          </a:prstGeom>
          <a:solidFill>
            <a:srgbClr val="48678F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-8100000">
            <a:off x="-1406770" y="2185412"/>
            <a:ext cx="2813538" cy="2813538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8100000" flipH="1">
            <a:off x="10795529" y="2185413"/>
            <a:ext cx="2813538" cy="2813538"/>
          </a:xfrm>
          <a:prstGeom prst="rtTriangle">
            <a:avLst/>
          </a:pr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菱形 16"/>
          <p:cNvSpPr/>
          <p:nvPr userDrawn="1"/>
        </p:nvSpPr>
        <p:spPr>
          <a:xfrm>
            <a:off x="542925" y="2355566"/>
            <a:ext cx="2300840" cy="2300840"/>
          </a:xfrm>
          <a:prstGeom prst="diamond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菱形 21"/>
          <p:cNvSpPr/>
          <p:nvPr userDrawn="1"/>
        </p:nvSpPr>
        <p:spPr>
          <a:xfrm>
            <a:off x="9216000" y="2355566"/>
            <a:ext cx="2300840" cy="2300840"/>
          </a:xfrm>
          <a:prstGeom prst="diamond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" name="直接连接符 22"/>
          <p:cNvCxnSpPr>
            <a:stCxn id="17" idx="3"/>
          </p:cNvCxnSpPr>
          <p:nvPr userDrawn="1"/>
        </p:nvCxnSpPr>
        <p:spPr>
          <a:xfrm>
            <a:off x="2843765" y="3505986"/>
            <a:ext cx="2645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4" idx="3"/>
          </p:cNvCxnSpPr>
          <p:nvPr userDrawn="1"/>
        </p:nvCxnSpPr>
        <p:spPr>
          <a:xfrm>
            <a:off x="8918575" y="3505986"/>
            <a:ext cx="297425" cy="7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内容占位符 28"/>
          <p:cNvSpPr>
            <a:spLocks noGrp="1"/>
          </p:cNvSpPr>
          <p:nvPr>
            <p:ph sz="quarter" idx="11" hasCustomPrompt="1"/>
          </p:nvPr>
        </p:nvSpPr>
        <p:spPr>
          <a:xfrm>
            <a:off x="3141189" y="2527959"/>
            <a:ext cx="5777385" cy="2068512"/>
          </a:xfrm>
        </p:spPr>
        <p:txBody>
          <a:bodyPr>
            <a:normAutofit/>
          </a:bodyPr>
          <a:lstStyle>
            <a:lvl1pPr marL="0" indent="0" algn="ctr"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endParaRPr lang="en-US" altLang="zh-CN" dirty="0" smtClean="0"/>
          </a:p>
          <a:p>
            <a:pPr lvl="0"/>
            <a:r>
              <a:rPr lang="zh-CN" altLang="en-US" dirty="0" smtClean="0"/>
              <a:t>输入文本</a:t>
            </a:r>
            <a:endParaRPr lang="zh-CN" altLang="en-US" dirty="0"/>
          </a:p>
        </p:txBody>
      </p:sp>
      <p:sp>
        <p:nvSpPr>
          <p:cNvPr id="26" name="菱形 25"/>
          <p:cNvSpPr/>
          <p:nvPr userDrawn="1"/>
        </p:nvSpPr>
        <p:spPr>
          <a:xfrm>
            <a:off x="2621532" y="3197493"/>
            <a:ext cx="616985" cy="61698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菱形 26"/>
          <p:cNvSpPr/>
          <p:nvPr userDrawn="1"/>
        </p:nvSpPr>
        <p:spPr>
          <a:xfrm>
            <a:off x="8786930" y="3197493"/>
            <a:ext cx="616985" cy="61698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四项目录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https://gimg2.baidu.com/image_search/src=http%3A%2F%2Fact.chinatt315.org.cn%2F2015zly%2Fimg%2Fhangsheng1.jpg&amp;refer=http%3A%2F%2Fact.chinatt315.org.cn&amp;app=2002&amp;size=f9999,10000&amp;q=a80&amp;n=0&amp;g=0n&amp;fmt=jpeg?sec=1638686629&amp;t=4c3e2708a1aeb2f1d40313d5d568c12c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5" b="11758"/>
          <a:stretch>
            <a:fillRect/>
          </a:stretch>
        </p:blipFill>
        <p:spPr bwMode="auto">
          <a:xfrm>
            <a:off x="0" y="2391506"/>
            <a:ext cx="12192000" cy="353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0" y="293688"/>
            <a:ext cx="542925" cy="52322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98511" y="293688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D447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658837" y="293687"/>
            <a:ext cx="185225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组合 8"/>
          <p:cNvGrpSpPr/>
          <p:nvPr userDrawn="1"/>
        </p:nvGrpSpPr>
        <p:grpSpPr>
          <a:xfrm>
            <a:off x="7319937" y="1489234"/>
            <a:ext cx="4872063" cy="1795576"/>
            <a:chOff x="7319937" y="1826855"/>
            <a:chExt cx="4872063" cy="1795576"/>
          </a:xfrm>
        </p:grpSpPr>
        <p:sp>
          <p:nvSpPr>
            <p:cNvPr id="6" name="流程图: 过程 5"/>
            <p:cNvSpPr/>
            <p:nvPr userDrawn="1"/>
          </p:nvSpPr>
          <p:spPr>
            <a:xfrm>
              <a:off x="7329268" y="1835834"/>
              <a:ext cx="4862732" cy="1786597"/>
            </a:xfrm>
            <a:prstGeom prst="flowChartProcess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直角三角形 7"/>
            <p:cNvSpPr/>
            <p:nvPr userDrawn="1"/>
          </p:nvSpPr>
          <p:spPr>
            <a:xfrm rot="5400000">
              <a:off x="7319937" y="1826855"/>
              <a:ext cx="901784" cy="901784"/>
            </a:xfrm>
            <a:prstGeom prst="rtTriangl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" name="内容占位符 3"/>
          <p:cNvSpPr>
            <a:spLocks noGrp="1"/>
          </p:cNvSpPr>
          <p:nvPr>
            <p:ph sz="quarter" idx="11" hasCustomPrompt="1"/>
          </p:nvPr>
        </p:nvSpPr>
        <p:spPr>
          <a:xfrm>
            <a:off x="8046425" y="2138592"/>
            <a:ext cx="4145575" cy="1660525"/>
          </a:xfrm>
        </p:spPr>
        <p:txBody>
          <a:bodyPr>
            <a:normAutofit/>
          </a:bodyPr>
          <a:lstStyle>
            <a:lvl1pPr marL="0" indent="0">
              <a:buNone/>
              <a:defRPr sz="4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 smtClean="0"/>
              <a:t>输入文本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6367457"/>
            <a:ext cx="9216000" cy="1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9312000" y="6367457"/>
            <a:ext cx="2880000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815908" y="6456981"/>
            <a:ext cx="5290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fid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nt</a:t>
            </a:r>
            <a:r>
              <a:rPr kumimoji="0" lang="en-US" altLang="zh-CN" sz="16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al</a:t>
            </a:r>
            <a:r>
              <a:rPr kumimoji="0" lang="en-US" altLang="zh-CN" sz="16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–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HSAE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erty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Diffusion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or Copy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Forbidden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©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998511" y="293688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1D4476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1" hasCustomPrompt="1"/>
          </p:nvPr>
        </p:nvSpPr>
        <p:spPr>
          <a:xfrm>
            <a:off x="751448" y="1294228"/>
            <a:ext cx="8097129" cy="327777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zh-CN" altLang="en-US" dirty="0" smtClean="0"/>
              <a:t>输入文本</a:t>
            </a:r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67457"/>
            <a:ext cx="9216000" cy="1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9312000" y="6367457"/>
            <a:ext cx="2880000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3815908" y="6456981"/>
            <a:ext cx="5290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fid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nt</a:t>
            </a:r>
            <a:r>
              <a:rPr kumimoji="0" lang="en-US" altLang="zh-CN" sz="16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al</a:t>
            </a:r>
            <a:r>
              <a:rPr kumimoji="0" lang="en-US" altLang="zh-CN" sz="1600" b="0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–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HSAE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pro</a:t>
            </a:r>
            <a:r>
              <a:rPr kumimoji="0" lang="en-US" altLang="zh-CN" sz="16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erty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Diffusion</a:t>
            </a:r>
            <a:r>
              <a:rPr kumimoji="0" lang="en-US" altLang="zh-CN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or Copy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Forbidden</a:t>
            </a:r>
            <a:r>
              <a:rPr kumimoji="0" lang="en-US" altLang="zh-CN" sz="14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©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 userDrawn="1"/>
        </p:nvPicPr>
        <p:blipFill>
          <a:blip r:embed="rId2" cstate="email"/>
          <a:stretch>
            <a:fillRect/>
          </a:stretch>
        </p:blipFill>
        <p:spPr bwMode="auto">
          <a:xfrm>
            <a:off x="10170623" y="196947"/>
            <a:ext cx="1908833" cy="67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 userDrawn="1"/>
        </p:nvSpPr>
        <p:spPr>
          <a:xfrm>
            <a:off x="0" y="293688"/>
            <a:ext cx="542925" cy="523220"/>
          </a:xfrm>
          <a:prstGeom prst="rect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658837" y="293687"/>
            <a:ext cx="185225" cy="5232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31383" cy="6856765"/>
          </a:xfrm>
          <a:prstGeom prst="rect">
            <a:avLst/>
          </a:prstGeom>
        </p:spPr>
      </p:pic>
      <p:sp>
        <p:nvSpPr>
          <p:cNvPr id="31" name="直角三角形 30"/>
          <p:cNvSpPr/>
          <p:nvPr userDrawn="1"/>
        </p:nvSpPr>
        <p:spPr>
          <a:xfrm rot="5400000">
            <a:off x="168811" y="-168811"/>
            <a:ext cx="2278970" cy="2616591"/>
          </a:xfrm>
          <a:prstGeom prst="rtTriangle">
            <a:avLst/>
          </a:prstGeom>
          <a:solidFill>
            <a:srgbClr val="6587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直角三角形 39"/>
          <p:cNvSpPr/>
          <p:nvPr userDrawn="1"/>
        </p:nvSpPr>
        <p:spPr>
          <a:xfrm rot="-5400000">
            <a:off x="-505847" y="540843"/>
            <a:ext cx="6835954" cy="5795891"/>
          </a:xfrm>
          <a:custGeom>
            <a:avLst/>
            <a:gdLst>
              <a:gd name="connsiteX0" fmla="*/ 0 w 6856766"/>
              <a:gd name="connsiteY0" fmla="*/ 5795891 h 5795891"/>
              <a:gd name="connsiteX1" fmla="*/ 0 w 6856766"/>
              <a:gd name="connsiteY1" fmla="*/ 0 h 5795891"/>
              <a:gd name="connsiteX2" fmla="*/ 6856766 w 6856766"/>
              <a:gd name="connsiteY2" fmla="*/ 5795891 h 5795891"/>
              <a:gd name="connsiteX3" fmla="*/ 0 w 6856766"/>
              <a:gd name="connsiteY3" fmla="*/ 5795891 h 5795891"/>
              <a:gd name="connsiteX0-1" fmla="*/ 0 w 6891938"/>
              <a:gd name="connsiteY0-2" fmla="*/ 5795891 h 5795891"/>
              <a:gd name="connsiteX1-3" fmla="*/ 0 w 6891938"/>
              <a:gd name="connsiteY1-4" fmla="*/ 0 h 5795891"/>
              <a:gd name="connsiteX2-5" fmla="*/ 6891938 w 6891938"/>
              <a:gd name="connsiteY2-6" fmla="*/ 5338694 h 5795891"/>
              <a:gd name="connsiteX3-7" fmla="*/ 0 w 6891938"/>
              <a:gd name="connsiteY3-8" fmla="*/ 5795891 h 5795891"/>
              <a:gd name="connsiteX0-9" fmla="*/ 0 w 6835954"/>
              <a:gd name="connsiteY0-10" fmla="*/ 5795891 h 5795891"/>
              <a:gd name="connsiteX1-11" fmla="*/ 0 w 6835954"/>
              <a:gd name="connsiteY1-12" fmla="*/ 0 h 5795891"/>
              <a:gd name="connsiteX2-13" fmla="*/ 6835954 w 6835954"/>
              <a:gd name="connsiteY2-14" fmla="*/ 5310705 h 5795891"/>
              <a:gd name="connsiteX3-15" fmla="*/ 0 w 6835954"/>
              <a:gd name="connsiteY3-16" fmla="*/ 5795891 h 57958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835954" h="5795891">
                <a:moveTo>
                  <a:pt x="0" y="5795891"/>
                </a:moveTo>
                <a:lnTo>
                  <a:pt x="0" y="0"/>
                </a:lnTo>
                <a:lnTo>
                  <a:pt x="6835954" y="5310705"/>
                </a:lnTo>
                <a:lnTo>
                  <a:pt x="0" y="579589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直角三角形 40"/>
          <p:cNvSpPr/>
          <p:nvPr userDrawn="1"/>
        </p:nvSpPr>
        <p:spPr>
          <a:xfrm flipH="1">
            <a:off x="10150322" y="4825218"/>
            <a:ext cx="2041678" cy="2031547"/>
          </a:xfrm>
          <a:prstGeom prst="rtTriangle">
            <a:avLst/>
          </a:prstGeom>
          <a:solidFill>
            <a:srgbClr val="1D44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Picture 4"/>
          <p:cNvPicPr>
            <a:picLocks noChangeAspect="1" noChangeArrowheads="1"/>
          </p:cNvPicPr>
          <p:nvPr userDrawn="1"/>
        </p:nvPicPr>
        <p:blipFill>
          <a:blip r:embed="rId3" cstate="email"/>
          <a:stretch>
            <a:fillRect/>
          </a:stretch>
        </p:blipFill>
        <p:spPr bwMode="auto">
          <a:xfrm>
            <a:off x="9290072" y="247466"/>
            <a:ext cx="2613171" cy="927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占位符 23"/>
          <p:cNvSpPr>
            <a:spLocks noGrp="1"/>
          </p:cNvSpPr>
          <p:nvPr>
            <p:ph type="body" sz="quarter" idx="11" hasCustomPrompt="1"/>
          </p:nvPr>
        </p:nvSpPr>
        <p:spPr>
          <a:xfrm>
            <a:off x="4375048" y="2180900"/>
            <a:ext cx="6549240" cy="923330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5400" b="1" kern="120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谢谢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4375048" y="3524651"/>
            <a:ext cx="6549239" cy="63027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THANK YOU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9" name="等腰三角形 68"/>
          <p:cNvSpPr/>
          <p:nvPr userDrawn="1"/>
        </p:nvSpPr>
        <p:spPr>
          <a:xfrm>
            <a:off x="781626" y="5345723"/>
            <a:ext cx="1736490" cy="1511042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等腰三角形 68"/>
          <p:cNvSpPr/>
          <p:nvPr userDrawn="1"/>
        </p:nvSpPr>
        <p:spPr>
          <a:xfrm>
            <a:off x="987083" y="5570806"/>
            <a:ext cx="1376287" cy="1287194"/>
          </a:xfrm>
          <a:custGeom>
            <a:avLst/>
            <a:gdLst>
              <a:gd name="connsiteX0" fmla="*/ 0 w 1736490"/>
              <a:gd name="connsiteY0" fmla="*/ 1496974 h 1496974"/>
              <a:gd name="connsiteX1" fmla="*/ 868245 w 1736490"/>
              <a:gd name="connsiteY1" fmla="*/ 0 h 1496974"/>
              <a:gd name="connsiteX2" fmla="*/ 1736490 w 1736490"/>
              <a:gd name="connsiteY2" fmla="*/ 1496974 h 1496974"/>
              <a:gd name="connsiteX3" fmla="*/ 0 w 1736490"/>
              <a:gd name="connsiteY3" fmla="*/ 1496974 h 1496974"/>
              <a:gd name="connsiteX0-1" fmla="*/ 0 w 1736490"/>
              <a:gd name="connsiteY0-2" fmla="*/ 1511042 h 1511042"/>
              <a:gd name="connsiteX1-3" fmla="*/ 1276209 w 1736490"/>
              <a:gd name="connsiteY1-4" fmla="*/ 0 h 1511042"/>
              <a:gd name="connsiteX2-5" fmla="*/ 1736490 w 1736490"/>
              <a:gd name="connsiteY2-6" fmla="*/ 1511042 h 1511042"/>
              <a:gd name="connsiteX3-7" fmla="*/ 0 w 1736490"/>
              <a:gd name="connsiteY3-8" fmla="*/ 1511042 h 1511042"/>
              <a:gd name="connsiteX0-9" fmla="*/ 0 w 1736490"/>
              <a:gd name="connsiteY0-10" fmla="*/ 1511042 h 1511042"/>
              <a:gd name="connsiteX1-11" fmla="*/ 1219938 w 1736490"/>
              <a:gd name="connsiteY1-12" fmla="*/ 0 h 1511042"/>
              <a:gd name="connsiteX2-13" fmla="*/ 1736490 w 1736490"/>
              <a:gd name="connsiteY2-14" fmla="*/ 1511042 h 1511042"/>
              <a:gd name="connsiteX3-15" fmla="*/ 0 w 1736490"/>
              <a:gd name="connsiteY3-16" fmla="*/ 1511042 h 15110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736490" h="1511042">
                <a:moveTo>
                  <a:pt x="0" y="1511042"/>
                </a:moveTo>
                <a:lnTo>
                  <a:pt x="1219938" y="0"/>
                </a:lnTo>
                <a:lnTo>
                  <a:pt x="1736490" y="1511042"/>
                </a:lnTo>
                <a:lnTo>
                  <a:pt x="0" y="1511042"/>
                </a:lnTo>
                <a:close/>
              </a:path>
            </a:pathLst>
          </a:custGeom>
          <a:solidFill>
            <a:srgbClr val="8FA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4458273" y="4320227"/>
            <a:ext cx="6549239" cy="63027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98C57-2681-47DA-A9CF-BDA0BB27E27E}" type="datetimeFigureOut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B9B44-64E1-4269-A1C1-6841CBE605D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7DFEB-4AD6-41C4-994E-DB44D0606E46}" type="datetime1">
              <a:rPr lang="zh-CN" altLang="en-US" smtClean="0"/>
              <a:t>2024/9/28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SHENZHEN HANGSHENG ELECTRONICS CO .,LTD.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A4FA8-9F39-40B2-BBB8-AD6C507964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课题</a:t>
            </a: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5585" y="1147445"/>
            <a:ext cx="11276965" cy="14706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问题：</a:t>
            </a:r>
            <a:endParaRPr lang="en-US" sz="200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  <a:p>
            <a:r>
              <a:rPr 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CCS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焕新项目客户抱怨系统操作卡顿、响应慢。</a:t>
            </a:r>
            <a:endParaRPr lang="zh-CN" altLang="en-US" sz="2000">
              <a:solidFill>
                <a:srgbClr val="000000"/>
              </a:solidFill>
              <a:latin typeface="+mn-ea"/>
              <a:cs typeface="+mn-ea"/>
            </a:endParaRPr>
          </a:p>
          <a:p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从售后提取的日志来看，发现部分应用一直在后台运行占了大量的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CPU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，且</a:t>
            </a:r>
            <a:r>
              <a:rPr lang="en-US" altLang="zh-CN" sz="2000">
                <a:solidFill>
                  <a:srgbClr val="000000"/>
                </a:solidFill>
                <a:latin typeface="+mn-ea"/>
                <a:cs typeface="+mn-ea"/>
              </a:rPr>
              <a:t>CCS</a:t>
            </a:r>
            <a:r>
              <a:rPr lang="zh-CN" altLang="en-US" sz="2000">
                <a:solidFill>
                  <a:srgbClr val="000000"/>
                </a:solidFill>
                <a:latin typeface="+mn-ea"/>
                <a:cs typeface="+mn-ea"/>
              </a:rPr>
              <a:t>焕新是一开机就会拉起大部分应用进程。</a:t>
            </a:r>
          </a:p>
          <a:p>
            <a:endParaRPr lang="en-US" altLang="zh-CN" sz="2000">
              <a:solidFill>
                <a:srgbClr val="000000"/>
              </a:solidFill>
              <a:latin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" y="3681095"/>
            <a:ext cx="9879965" cy="1096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b="45451"/>
          <a:stretch>
            <a:fillRect/>
          </a:stretch>
        </p:blipFill>
        <p:spPr>
          <a:xfrm>
            <a:off x="280035" y="2547620"/>
            <a:ext cx="9848215" cy="997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方案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zh-CN" altLang="en-US" sz="2600" b="1" dirty="0" smtClean="0">
              <a:solidFill>
                <a:srgbClr val="1D4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1325" y="1047115"/>
            <a:ext cx="110394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方案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：</a:t>
            </a:r>
            <a:endParaRPr lang="zh-CN" altLang="en-US" sz="2000" dirty="0" smtClean="0">
              <a:sym typeface="+mn-ea"/>
            </a:endParaRPr>
          </a:p>
          <a:p>
            <a:r>
              <a:rPr lang="zh-CN" altLang="en-US" sz="2000" dirty="0" smtClean="0">
                <a:sym typeface="+mn-ea"/>
              </a:rPr>
              <a:t>利用安卓的</a:t>
            </a:r>
            <a:r>
              <a:rPr lang="en-US" altLang="zh-CN" sz="2000" dirty="0" smtClean="0">
                <a:sym typeface="+mn-ea"/>
              </a:rPr>
              <a:t>disable</a:t>
            </a:r>
            <a:r>
              <a:rPr lang="zh-CN" altLang="en-US" sz="2000" dirty="0" smtClean="0">
                <a:sym typeface="+mn-ea"/>
              </a:rPr>
              <a:t>机制，开机时执行脚本，将冰箱名单中的应用禁止，从而无法开机启动，也无法被其它应用随意拉起。当用户场景下，真正需要这个应用时，先将应用恢复成</a:t>
            </a:r>
            <a:r>
              <a:rPr lang="en-US" altLang="zh-CN" sz="2000" dirty="0" smtClean="0">
                <a:sym typeface="+mn-ea"/>
              </a:rPr>
              <a:t>enable</a:t>
            </a:r>
            <a:r>
              <a:rPr lang="zh-CN" altLang="en-US" sz="2000" dirty="0" smtClean="0">
                <a:sym typeface="+mn-ea"/>
              </a:rPr>
              <a:t>状态，然后启动应用（</a:t>
            </a:r>
            <a:r>
              <a:rPr lang="en-US" altLang="zh-CN" sz="2000" dirty="0" smtClean="0">
                <a:sym typeface="+mn-ea"/>
              </a:rPr>
              <a:t>Activity</a:t>
            </a:r>
            <a:r>
              <a:rPr lang="zh-CN" altLang="en-US" sz="2000" dirty="0" smtClean="0">
                <a:sym typeface="+mn-ea"/>
              </a:rPr>
              <a:t>或</a:t>
            </a:r>
            <a:r>
              <a:rPr lang="en-US" altLang="zh-CN" sz="2000" dirty="0" smtClean="0">
                <a:sym typeface="+mn-ea"/>
              </a:rPr>
              <a:t>Service</a:t>
            </a:r>
            <a:r>
              <a:rPr lang="zh-CN" altLang="en-US" sz="2000" dirty="0" smtClean="0">
                <a:sym typeface="+mn-ea"/>
              </a:rPr>
              <a:t>）</a:t>
            </a:r>
            <a:endParaRPr lang="zh-CN" altLang="en-US" sz="20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1015" y="32912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 smtClean="0">
                <a:sym typeface="+mn-ea"/>
              </a:rPr>
              <a:t>pm disable-until-used com.jidouauto.nissan.refuel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01015" y="4100830"/>
            <a:ext cx="1058481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 smtClean="0">
                <a:sym typeface="+mn-ea"/>
              </a:rPr>
              <a:t>导入影响：</a:t>
            </a:r>
          </a:p>
          <a:p>
            <a:r>
              <a:rPr lang="en-US" altLang="zh-CN" sz="2000" dirty="0" smtClean="0">
                <a:sym typeface="+mn-ea"/>
              </a:rPr>
              <a:t>1. </a:t>
            </a:r>
            <a:r>
              <a:rPr lang="zh-CN" altLang="en-US" sz="2000" dirty="0" smtClean="0">
                <a:sym typeface="+mn-ea"/>
              </a:rPr>
              <a:t>被禁止的应用，用户手动启动，应用首次启动速度相对导入冰箱功能前会慢。</a:t>
            </a:r>
          </a:p>
          <a:p>
            <a:r>
              <a:rPr lang="en-US" altLang="zh-CN" sz="2000" dirty="0" smtClean="0">
                <a:sym typeface="+mn-ea"/>
              </a:rPr>
              <a:t>2. </a:t>
            </a:r>
            <a:r>
              <a:rPr lang="zh-CN" altLang="en-US" sz="2000" dirty="0" smtClean="0">
                <a:sym typeface="+mn-ea"/>
              </a:rPr>
              <a:t>部分</a:t>
            </a:r>
            <a:r>
              <a:rPr lang="en-US" altLang="zh-CN" sz="2000" dirty="0" smtClean="0">
                <a:sym typeface="+mn-ea"/>
              </a:rPr>
              <a:t>VR</a:t>
            </a:r>
            <a:r>
              <a:rPr lang="zh-CN" altLang="en-US" sz="2000" dirty="0" smtClean="0">
                <a:sym typeface="+mn-ea"/>
              </a:rPr>
              <a:t>交互场景需要修改，如涉及冰箱名单应用的交互，需提示先启动应用。</a:t>
            </a:r>
          </a:p>
          <a:p>
            <a:r>
              <a:rPr lang="en-US" altLang="zh-CN" sz="2000" dirty="0" smtClean="0">
                <a:sym typeface="+mn-ea"/>
              </a:rPr>
              <a:t>3. </a:t>
            </a:r>
            <a:r>
              <a:rPr lang="zh-CN" altLang="en-US" sz="2000" dirty="0" smtClean="0">
                <a:sym typeface="+mn-ea"/>
              </a:rPr>
              <a:t>应用间的后台交互场景需梳理，冰箱名单应用未启动时，无法和其它应用进行交互。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方案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zh-CN" altLang="en-US" sz="2600" b="1" dirty="0" smtClean="0">
              <a:solidFill>
                <a:srgbClr val="1D4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1325" y="1047115"/>
            <a:ext cx="110394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方案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：</a:t>
            </a:r>
            <a:endParaRPr lang="zh-CN" altLang="en-US" sz="2000" dirty="0" smtClean="0">
              <a:sym typeface="+mn-ea"/>
            </a:endParaRPr>
          </a:p>
          <a:p>
            <a:r>
              <a:rPr lang="zh-CN" altLang="en-US" sz="2000" dirty="0" smtClean="0">
                <a:sym typeface="+mn-ea"/>
              </a:rPr>
              <a:t>利用内核的</a:t>
            </a:r>
            <a:r>
              <a:rPr lang="en-US" altLang="zh-CN" sz="2000" dirty="0" smtClean="0">
                <a:sym typeface="+mn-ea"/>
              </a:rPr>
              <a:t>freezer</a:t>
            </a:r>
            <a:r>
              <a:rPr lang="zh-CN" altLang="en-US" sz="2000" dirty="0" smtClean="0">
                <a:sym typeface="+mn-ea"/>
              </a:rPr>
              <a:t>机制，改变</a:t>
            </a:r>
            <a:r>
              <a:rPr lang="zh-CN" altLang="en-US" sz="2000" dirty="0">
                <a:sym typeface="+mn-ea"/>
              </a:rPr>
              <a:t>进程的状态</a:t>
            </a:r>
            <a:r>
              <a:rPr lang="zh-CN" altLang="en-US" sz="2000" dirty="0" smtClean="0">
                <a:sym typeface="+mn-ea"/>
              </a:rPr>
              <a:t>，使其</a:t>
            </a:r>
            <a:r>
              <a:rPr lang="zh-CN" altLang="en-US" sz="2000" dirty="0">
                <a:sym typeface="+mn-ea"/>
              </a:rPr>
              <a:t>不会被调度</a:t>
            </a:r>
            <a:r>
              <a:rPr lang="zh-CN" altLang="en-US" sz="2000" dirty="0" smtClean="0">
                <a:sym typeface="+mn-ea"/>
              </a:rPr>
              <a:t>执行，从而让出</a:t>
            </a:r>
            <a:r>
              <a:rPr lang="en-US" altLang="zh-CN" sz="2000" dirty="0" smtClean="0">
                <a:sym typeface="+mn-ea"/>
              </a:rPr>
              <a:t>CPU</a:t>
            </a:r>
            <a:r>
              <a:rPr lang="zh-CN" altLang="en-US" sz="2000" dirty="0" smtClean="0">
                <a:sym typeface="+mn-ea"/>
              </a:rPr>
              <a:t>资源。这个过程称为</a:t>
            </a:r>
            <a:r>
              <a:rPr lang="en-US" altLang="zh-CN" sz="2000" dirty="0" smtClean="0">
                <a:sym typeface="+mn-ea"/>
              </a:rPr>
              <a:t>”</a:t>
            </a:r>
            <a:r>
              <a:rPr lang="zh-CN" altLang="en-US" sz="2000" dirty="0" smtClean="0">
                <a:sym typeface="+mn-ea"/>
              </a:rPr>
              <a:t>冻结</a:t>
            </a:r>
            <a:r>
              <a:rPr lang="en-US" altLang="zh-CN" sz="2000" dirty="0" smtClean="0">
                <a:sym typeface="+mn-ea"/>
              </a:rPr>
              <a:t>”</a:t>
            </a:r>
            <a:r>
              <a:rPr lang="zh-CN" altLang="en-US" sz="2000" dirty="0" smtClean="0">
                <a:sym typeface="+mn-ea"/>
              </a:rPr>
              <a:t>。</a:t>
            </a:r>
            <a:endParaRPr lang="en-US" altLang="zh-CN" sz="2000" dirty="0" smtClean="0">
              <a:sym typeface="+mn-ea"/>
            </a:endParaRPr>
          </a:p>
          <a:p>
            <a:r>
              <a:rPr lang="zh-CN" altLang="en-US" sz="2000" dirty="0" smtClean="0">
                <a:sym typeface="+mn-ea"/>
              </a:rPr>
              <a:t>开机后通过监测程序，判断某个进程</a:t>
            </a:r>
            <a:r>
              <a:rPr lang="en-US" altLang="zh-CN" sz="2000" dirty="0" smtClean="0">
                <a:sym typeface="+mn-ea"/>
              </a:rPr>
              <a:t>CPU</a:t>
            </a:r>
            <a:r>
              <a:rPr lang="zh-CN" altLang="en-US" sz="2000" dirty="0" smtClean="0">
                <a:sym typeface="+mn-ea"/>
              </a:rPr>
              <a:t>过高，且处于非用户场景下，那么可以将它冻结。</a:t>
            </a:r>
            <a:endParaRPr lang="en-US" altLang="zh-CN" sz="2000" dirty="0" smtClean="0">
              <a:sym typeface="+mn-ea"/>
            </a:endParaRPr>
          </a:p>
          <a:p>
            <a:r>
              <a:rPr lang="zh-CN" altLang="en-US" sz="2000" dirty="0" smtClean="0">
                <a:sym typeface="+mn-ea"/>
              </a:rPr>
              <a:t>当用户场景下，真正需要这个应用时，将应用解冻即可。</a:t>
            </a:r>
            <a:endParaRPr lang="zh-CN" altLang="en-US" sz="20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41325" y="3627364"/>
            <a:ext cx="10584815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 smtClean="0">
                <a:sym typeface="+mn-ea"/>
              </a:rPr>
              <a:t>导入影响：</a:t>
            </a:r>
          </a:p>
          <a:p>
            <a:pPr marL="457200" indent="-457200">
              <a:buAutoNum type="arabicPeriod"/>
            </a:pPr>
            <a:r>
              <a:rPr lang="zh-CN" altLang="en-US" sz="2000" dirty="0" smtClean="0">
                <a:sym typeface="+mn-ea"/>
              </a:rPr>
              <a:t>处于冻结状态的</a:t>
            </a:r>
            <a:r>
              <a:rPr lang="zh-CN" altLang="en-US" sz="2000" dirty="0">
                <a:sym typeface="+mn-ea"/>
              </a:rPr>
              <a:t>应用，不</a:t>
            </a:r>
            <a:r>
              <a:rPr lang="zh-CN" altLang="en-US" sz="2000" dirty="0" smtClean="0">
                <a:sym typeface="+mn-ea"/>
              </a:rPr>
              <a:t>响应其它进程的信号（如</a:t>
            </a:r>
            <a:r>
              <a:rPr lang="en-US" altLang="zh-CN" sz="2000" dirty="0" smtClean="0">
                <a:sym typeface="+mn-ea"/>
              </a:rPr>
              <a:t>binder</a:t>
            </a:r>
            <a:r>
              <a:rPr lang="zh-CN" altLang="en-US" sz="2000" dirty="0" smtClean="0">
                <a:sym typeface="+mn-ea"/>
              </a:rPr>
              <a:t>调用），可能导致其它程序阻塞。</a:t>
            </a:r>
            <a:endParaRPr lang="en-US" altLang="zh-CN" sz="2000" dirty="0" smtClean="0">
              <a:sym typeface="+mn-ea"/>
            </a:endParaRPr>
          </a:p>
          <a:p>
            <a:pPr marL="457200" indent="-457200">
              <a:buAutoNum type="arabicPeriod"/>
            </a:pPr>
            <a:r>
              <a:rPr lang="zh-CN" altLang="en-US" sz="2000" dirty="0" smtClean="0">
                <a:sym typeface="+mn-ea"/>
              </a:rPr>
              <a:t>冻结状态下，仍然占用资源（内存、</a:t>
            </a:r>
            <a:r>
              <a:rPr lang="en-US" altLang="zh-CN" sz="2000" dirty="0" smtClean="0">
                <a:sym typeface="+mn-ea"/>
              </a:rPr>
              <a:t>IO</a:t>
            </a:r>
            <a:r>
              <a:rPr lang="zh-CN" altLang="en-US" sz="2000" dirty="0" smtClean="0">
                <a:sym typeface="+mn-ea"/>
              </a:rPr>
              <a:t>），仅让出</a:t>
            </a:r>
            <a:r>
              <a:rPr lang="en-US" altLang="zh-CN" sz="2000" dirty="0" smtClean="0">
                <a:sym typeface="+mn-ea"/>
              </a:rPr>
              <a:t>CPU</a:t>
            </a:r>
            <a:r>
              <a:rPr lang="zh-CN" altLang="en-US" sz="2000" dirty="0" smtClean="0">
                <a:sym typeface="+mn-ea"/>
              </a:rPr>
              <a:t>。</a:t>
            </a:r>
            <a:endParaRPr lang="en-US" altLang="zh-CN" sz="2000" dirty="0" smtClean="0">
              <a:sym typeface="+mn-ea"/>
            </a:endParaRPr>
          </a:p>
          <a:p>
            <a:pPr marL="457200" indent="-457200">
              <a:buAutoNum type="arabicPeriod"/>
            </a:pPr>
            <a:r>
              <a:rPr lang="zh-CN" altLang="en-US" sz="2000" dirty="0" smtClean="0">
                <a:sym typeface="+mn-ea"/>
              </a:rPr>
              <a:t>需要与冻结应用交互，需要先</a:t>
            </a:r>
            <a:r>
              <a:rPr lang="zh-CN" altLang="en-US" sz="2000" dirty="0" smtClean="0">
                <a:sym typeface="+mn-ea"/>
              </a:rPr>
              <a:t>解冻</a:t>
            </a:r>
            <a:endParaRPr lang="en-US" altLang="zh-CN" sz="2000" dirty="0" smtClean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529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4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对比</a:t>
            </a:r>
            <a:endParaRPr lang="zh-CN" altLang="en-US" sz="2600" b="1" dirty="0" smtClean="0">
              <a:solidFill>
                <a:srgbClr val="1D44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1325" y="1047115"/>
            <a:ext cx="1103947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方案</a:t>
            </a:r>
            <a:r>
              <a:rPr lang="en-US" altLang="zh-CN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1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更加彻底，应用完全无法启动，不占用</a:t>
            </a:r>
            <a:r>
              <a:rPr lang="en-US" altLang="zh-CN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CPU</a:t>
            </a:r>
            <a:r>
              <a:rPr lang="zh-CN" altLang="en-US" sz="2000" dirty="0" smtClean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、内存，应用进程不存在</a:t>
            </a:r>
            <a:r>
              <a:rPr lang="zh-CN" altLang="en-US" sz="2000" dirty="0" smtClean="0">
                <a:sym typeface="+mn-ea"/>
              </a:rPr>
              <a:t>；而方案</a:t>
            </a:r>
            <a:r>
              <a:rPr lang="en-US" altLang="zh-CN" sz="2000" dirty="0" smtClean="0">
                <a:sym typeface="+mn-ea"/>
              </a:rPr>
              <a:t>2</a:t>
            </a:r>
            <a:r>
              <a:rPr lang="zh-CN" altLang="en-US" sz="2000" dirty="0" smtClean="0">
                <a:sym typeface="+mn-ea"/>
              </a:rPr>
              <a:t>应用进程仍然存在，并继续占用内存。</a:t>
            </a:r>
            <a:endParaRPr lang="en-US" altLang="zh-CN" sz="2000" dirty="0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方案</a:t>
            </a:r>
            <a:r>
              <a:rPr lang="en-US" altLang="zh-CN" sz="2000" dirty="0" smtClean="0">
                <a:sym typeface="+mn-ea"/>
              </a:rPr>
              <a:t>1</a:t>
            </a:r>
            <a:r>
              <a:rPr lang="zh-CN" altLang="en-US" sz="2000" dirty="0" smtClean="0">
                <a:sym typeface="+mn-ea"/>
              </a:rPr>
              <a:t>可以在开机后、</a:t>
            </a:r>
            <a:r>
              <a:rPr lang="en-US" altLang="zh-CN" sz="2000" dirty="0" smtClean="0">
                <a:sym typeface="+mn-ea"/>
              </a:rPr>
              <a:t>app</a:t>
            </a:r>
            <a:r>
              <a:rPr lang="zh-CN" altLang="en-US" sz="2000" dirty="0" smtClean="0">
                <a:sym typeface="+mn-ea"/>
              </a:rPr>
              <a:t>启动前禁止启动，而方案</a:t>
            </a:r>
            <a:r>
              <a:rPr lang="en-US" altLang="zh-CN" sz="2000" dirty="0" smtClean="0">
                <a:sym typeface="+mn-ea"/>
              </a:rPr>
              <a:t>2</a:t>
            </a:r>
            <a:r>
              <a:rPr lang="zh-CN" altLang="en-US" sz="2000" dirty="0" smtClean="0">
                <a:sym typeface="+mn-ea"/>
              </a:rPr>
              <a:t>必须等</a:t>
            </a:r>
            <a:r>
              <a:rPr lang="en-US" altLang="zh-CN" sz="2000" dirty="0" smtClean="0">
                <a:sym typeface="+mn-ea"/>
              </a:rPr>
              <a:t>app</a:t>
            </a:r>
            <a:r>
              <a:rPr lang="zh-CN" altLang="en-US" sz="2000" dirty="0" smtClean="0">
                <a:sym typeface="+mn-ea"/>
              </a:rPr>
              <a:t>进程起来后，再冻结。</a:t>
            </a:r>
            <a:endParaRPr lang="en-US" altLang="zh-CN" sz="2000" dirty="0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方案</a:t>
            </a:r>
            <a:r>
              <a:rPr lang="en-US" altLang="zh-CN" sz="2000" dirty="0" smtClean="0">
                <a:sym typeface="+mn-ea"/>
              </a:rPr>
              <a:t>1</a:t>
            </a:r>
            <a:r>
              <a:rPr lang="zh-CN" altLang="en-US" sz="2000" dirty="0" smtClean="0">
                <a:sym typeface="+mn-ea"/>
              </a:rPr>
              <a:t>和方案</a:t>
            </a:r>
            <a:r>
              <a:rPr lang="en-US" altLang="zh-CN" sz="2000" dirty="0" smtClean="0">
                <a:sym typeface="+mn-ea"/>
              </a:rPr>
              <a:t>2</a:t>
            </a:r>
            <a:r>
              <a:rPr lang="zh-CN" altLang="en-US" sz="2000" dirty="0" smtClean="0">
                <a:sym typeface="+mn-ea"/>
              </a:rPr>
              <a:t>都需要先解除（</a:t>
            </a:r>
            <a:r>
              <a:rPr lang="en-US" altLang="zh-CN" sz="2000" dirty="0" smtClean="0">
                <a:sym typeface="+mn-ea"/>
              </a:rPr>
              <a:t>enable</a:t>
            </a:r>
            <a:r>
              <a:rPr lang="zh-CN" altLang="en-US" sz="2000" dirty="0" smtClean="0">
                <a:sym typeface="+mn-ea"/>
              </a:rPr>
              <a:t>或</a:t>
            </a:r>
            <a:r>
              <a:rPr lang="en-US" altLang="zh-CN" sz="2000" dirty="0" smtClean="0">
                <a:sym typeface="+mn-ea"/>
              </a:rPr>
              <a:t>unfreeze</a:t>
            </a:r>
            <a:r>
              <a:rPr lang="zh-CN" altLang="en-US" sz="2000" dirty="0" smtClean="0">
                <a:sym typeface="+mn-ea"/>
              </a:rPr>
              <a:t>），再使用</a:t>
            </a:r>
            <a:r>
              <a:rPr lang="en-US" altLang="zh-CN" sz="2000" dirty="0" smtClean="0">
                <a:sym typeface="+mn-ea"/>
              </a:rPr>
              <a:t>app</a:t>
            </a:r>
            <a:r>
              <a:rPr lang="zh-CN" altLang="en-US" sz="2000" dirty="0" smtClean="0">
                <a:sym typeface="+mn-ea"/>
              </a:rPr>
              <a:t>，但是方案</a:t>
            </a:r>
            <a:r>
              <a:rPr lang="en-US" altLang="zh-CN" sz="2000" dirty="0" smtClean="0">
                <a:sym typeface="+mn-ea"/>
              </a:rPr>
              <a:t>1</a:t>
            </a:r>
            <a:r>
              <a:rPr lang="zh-CN" altLang="en-US" sz="2000" dirty="0" smtClean="0">
                <a:sym typeface="+mn-ea"/>
              </a:rPr>
              <a:t>是冷启动，性能低于方案</a:t>
            </a:r>
            <a:r>
              <a:rPr lang="en-US" altLang="zh-CN" sz="2000" dirty="0" smtClean="0">
                <a:sym typeface="+mn-ea"/>
              </a:rPr>
              <a:t>2</a:t>
            </a:r>
            <a:r>
              <a:rPr lang="zh-CN" altLang="en-US" sz="2000" dirty="0" smtClean="0">
                <a:sym typeface="+mn-ea"/>
              </a:rPr>
              <a:t>。</a:t>
            </a:r>
            <a:endParaRPr lang="en-US" altLang="zh-CN" sz="2000" dirty="0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方案</a:t>
            </a:r>
            <a:r>
              <a:rPr lang="en-US" altLang="zh-CN" sz="2000" dirty="0" smtClean="0">
                <a:sym typeface="+mn-ea"/>
              </a:rPr>
              <a:t>1</a:t>
            </a:r>
            <a:r>
              <a:rPr lang="zh-CN" altLang="en-US" sz="2000" dirty="0" smtClean="0">
                <a:sym typeface="+mn-ea"/>
              </a:rPr>
              <a:t>，如果</a:t>
            </a:r>
            <a:r>
              <a:rPr lang="en-US" altLang="zh-CN" sz="2000" dirty="0" smtClean="0">
                <a:sym typeface="+mn-ea"/>
              </a:rPr>
              <a:t>Launcher</a:t>
            </a:r>
            <a:r>
              <a:rPr lang="zh-CN" altLang="en-US" sz="2000" dirty="0" smtClean="0">
                <a:sym typeface="+mn-ea"/>
              </a:rPr>
              <a:t>启动</a:t>
            </a:r>
            <a:r>
              <a:rPr lang="en-US" altLang="zh-CN" sz="2000" dirty="0" smtClean="0">
                <a:sym typeface="+mn-ea"/>
              </a:rPr>
              <a:t>disable</a:t>
            </a:r>
            <a:r>
              <a:rPr lang="zh-CN" altLang="en-US" sz="2000" dirty="0" smtClean="0">
                <a:sym typeface="+mn-ea"/>
              </a:rPr>
              <a:t>的应用之前，没有先</a:t>
            </a:r>
            <a:r>
              <a:rPr lang="en-US" altLang="zh-CN" sz="2000" dirty="0" smtClean="0">
                <a:sym typeface="+mn-ea"/>
              </a:rPr>
              <a:t>enable</a:t>
            </a:r>
            <a:r>
              <a:rPr lang="zh-CN" altLang="en-US" sz="2000" dirty="0" smtClean="0">
                <a:sym typeface="+mn-ea"/>
              </a:rPr>
              <a:t>，会触发异常，如果</a:t>
            </a:r>
            <a:r>
              <a:rPr lang="en-US" altLang="zh-CN" sz="2000" dirty="0" smtClean="0">
                <a:sym typeface="+mn-ea"/>
              </a:rPr>
              <a:t>Launcher</a:t>
            </a:r>
            <a:r>
              <a:rPr lang="zh-CN" altLang="en-US" sz="2000" dirty="0" smtClean="0">
                <a:sym typeface="+mn-ea"/>
              </a:rPr>
              <a:t>没有正确处理，会导致</a:t>
            </a:r>
            <a:r>
              <a:rPr lang="en-US" altLang="zh-CN" sz="2000" dirty="0" smtClean="0">
                <a:sym typeface="+mn-ea"/>
              </a:rPr>
              <a:t>Launcher</a:t>
            </a:r>
            <a:r>
              <a:rPr lang="zh-CN" altLang="en-US" sz="2000" dirty="0" smtClean="0">
                <a:sym typeface="+mn-ea"/>
              </a:rPr>
              <a:t>崩溃；方案</a:t>
            </a:r>
            <a:r>
              <a:rPr lang="en-US" altLang="zh-CN" sz="2000" dirty="0" smtClean="0">
                <a:sym typeface="+mn-ea"/>
              </a:rPr>
              <a:t>2</a:t>
            </a:r>
            <a:r>
              <a:rPr lang="zh-CN" altLang="en-US" sz="2000" dirty="0" smtClean="0">
                <a:sym typeface="+mn-ea"/>
              </a:rPr>
              <a:t>，如果</a:t>
            </a:r>
            <a:r>
              <a:rPr lang="en-US" altLang="zh-CN" sz="2000" dirty="0" smtClean="0">
                <a:sym typeface="+mn-ea"/>
              </a:rPr>
              <a:t>Launcher</a:t>
            </a:r>
            <a:r>
              <a:rPr lang="zh-CN" altLang="en-US" sz="2000" dirty="0" smtClean="0">
                <a:sym typeface="+mn-ea"/>
              </a:rPr>
              <a:t>使用冷冻的应用前，没有先解冻，会阻塞，导致</a:t>
            </a:r>
            <a:r>
              <a:rPr lang="en-US" altLang="zh-CN" sz="2000" dirty="0" smtClean="0">
                <a:sym typeface="+mn-ea"/>
              </a:rPr>
              <a:t>Launcher</a:t>
            </a:r>
            <a:r>
              <a:rPr lang="zh-CN" altLang="en-US" sz="2000" dirty="0" smtClean="0">
                <a:sym typeface="+mn-ea"/>
              </a:rPr>
              <a:t>无响应。</a:t>
            </a:r>
            <a:endParaRPr lang="en-US" altLang="zh-CN" sz="2000" dirty="0" smtClean="0"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方案</a:t>
            </a:r>
            <a:r>
              <a:rPr lang="en-US" altLang="zh-CN" sz="2000" dirty="0" smtClean="0">
                <a:sym typeface="+mn-ea"/>
              </a:rPr>
              <a:t>1</a:t>
            </a:r>
            <a:r>
              <a:rPr lang="zh-CN" altLang="en-US" sz="2000" dirty="0" smtClean="0">
                <a:sym typeface="+mn-ea"/>
              </a:rPr>
              <a:t>，只要应用没有</a:t>
            </a:r>
            <a:r>
              <a:rPr lang="en-US" altLang="zh-CN" sz="2000" dirty="0" smtClean="0">
                <a:sym typeface="+mn-ea"/>
              </a:rPr>
              <a:t>enable</a:t>
            </a:r>
            <a:r>
              <a:rPr lang="zh-CN" altLang="en-US" sz="2000" dirty="0" smtClean="0">
                <a:sym typeface="+mn-ea"/>
              </a:rPr>
              <a:t>，用任何方式都无法启动；方案</a:t>
            </a:r>
            <a:r>
              <a:rPr lang="en-US" altLang="zh-CN" sz="2000" dirty="0" smtClean="0">
                <a:sym typeface="+mn-ea"/>
              </a:rPr>
              <a:t>2</a:t>
            </a:r>
            <a:r>
              <a:rPr lang="zh-CN" altLang="en-US" sz="2000" dirty="0" smtClean="0">
                <a:sym typeface="+mn-ea"/>
              </a:rPr>
              <a:t>，如果没有解冻，只要把冻结进程杀死，就能启动一个新的进程。</a:t>
            </a:r>
            <a:endParaRPr lang="en-US" altLang="zh-CN" sz="2000" dirty="0" smtClean="0">
              <a:sym typeface="+mn-ea"/>
            </a:endParaRPr>
          </a:p>
          <a:p>
            <a:endParaRPr lang="zh-CN" altLang="en-US" sz="2000" dirty="0">
              <a:solidFill>
                <a:srgbClr val="000000"/>
              </a:solidFill>
              <a:latin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158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D50541-B1B0-44D0-ADD5-50940B1BB7C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45514" y="266621"/>
            <a:ext cx="5859413" cy="591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冰箱功能</a:t>
            </a:r>
            <a:r>
              <a:rPr lang="en-US" altLang="zh-CN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2600" b="1" dirty="0" smtClean="0">
                <a:solidFill>
                  <a:srgbClr val="1D44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待办事项</a:t>
            </a:r>
          </a:p>
        </p:txBody>
      </p:sp>
      <p:sp>
        <p:nvSpPr>
          <p:cNvPr id="196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37600" y="6483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3855" y="1143635"/>
            <a:ext cx="102431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1.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依赖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DNTC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输出非高频用户场景应用冰箱名单。</a:t>
            </a:r>
          </a:p>
          <a:p>
            <a:pPr indent="0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2.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梳理冰箱名单中应用与其它应用（包括</a:t>
            </a:r>
            <a:r>
              <a:rPr lang="en-US" altLang="zh-CN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VR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）的交互场景，部分交互场景需修改。</a:t>
            </a:r>
          </a:p>
          <a:p>
            <a:pPr indent="0">
              <a:buFont typeface="Wingdings" panose="05000000000000000000" pitchFamily="2" charset="2"/>
              <a:buNone/>
            </a:pPr>
            <a:endParaRPr lang="zh-CN" altLang="en-US" sz="2000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20750920,20750916,20750911,20750925]}"/>
  <p:tag name="COMMONDATA" val="eyJoZGlkIjoiOTU3ZDIyNzk2ZDg1NTc3MTg3MDk0Y2JkNzM3YWE3Ym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模板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573</Words>
  <Application>Microsoft Office PowerPoint</Application>
  <PresentationFormat>宽屏</PresentationFormat>
  <Paragraphs>40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等线</vt:lpstr>
      <vt:lpstr>等线 Light</vt:lpstr>
      <vt:lpstr>宋体</vt:lpstr>
      <vt:lpstr>微软雅黑</vt:lpstr>
      <vt:lpstr>Arial</vt:lpstr>
      <vt:lpstr>Calibri</vt:lpstr>
      <vt:lpstr>Calibri Light</vt:lpstr>
      <vt:lpstr>Wingdings</vt:lpstr>
      <vt:lpstr>1_自定义设计方案</vt:lpstr>
      <vt:lpstr>自定义设计方案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HSAE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Eva Yang</dc:creator>
  <cp:lastModifiedBy>薛翔宇</cp:lastModifiedBy>
  <cp:revision>3353</cp:revision>
  <cp:lastPrinted>2018-12-20T03:03:00Z</cp:lastPrinted>
  <dcterms:created xsi:type="dcterms:W3CDTF">2017-03-30T00:32:00Z</dcterms:created>
  <dcterms:modified xsi:type="dcterms:W3CDTF">2024-09-28T01:58:00Z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2052-12.1.0.17827</vt:lpwstr>
  </property>
  <property fmtid="{D5CDD505-2E9C-101B-9397-08002B2CF9AE}" pid="4" name="ICV">
    <vt:lpwstr>EB5BC55660004924BBA46B9D18BC8C6F_13</vt:lpwstr>
  </property>
</Properties>
</file>