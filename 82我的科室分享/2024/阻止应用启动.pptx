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90" r:id="rId3"/>
    <p:sldId id="315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272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94712" autoAdjust="0"/>
  </p:normalViewPr>
  <p:slideViewPr>
    <p:cSldViewPr>
      <p:cViewPr varScale="1">
        <p:scale>
          <a:sx n="116" d="100"/>
          <a:sy n="116" d="100"/>
        </p:scale>
        <p:origin x="148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49F0E-5FC9-4776-8E1A-89FF7E51029B}" type="datetimeFigureOut">
              <a:rPr lang="zh-CN" altLang="en-US" smtClean="0"/>
              <a:t>2024/8/23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0BE65-9758-4DE9-9F00-F2710704B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50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529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110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735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781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753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68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252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433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61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7"/>
          <p:cNvSpPr/>
          <p:nvPr userDrawn="1"/>
        </p:nvSpPr>
        <p:spPr>
          <a:xfrm>
            <a:off x="6637336" y="3"/>
            <a:ext cx="1157991" cy="409039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>
            <a:blip r:embed="rId2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0"/>
          <p:cNvSpPr/>
          <p:nvPr userDrawn="1"/>
        </p:nvSpPr>
        <p:spPr>
          <a:xfrm>
            <a:off x="7666913" y="1"/>
            <a:ext cx="662532" cy="409040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3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7"/>
          <p:cNvSpPr/>
          <p:nvPr userDrawn="1"/>
        </p:nvSpPr>
        <p:spPr>
          <a:xfrm>
            <a:off x="8191242" y="3"/>
            <a:ext cx="952758" cy="409039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7"/>
          <p:cNvSpPr/>
          <p:nvPr userDrawn="1"/>
        </p:nvSpPr>
        <p:spPr>
          <a:xfrm>
            <a:off x="6" y="-1"/>
            <a:ext cx="6770939" cy="409040"/>
          </a:xfrm>
          <a:custGeom>
            <a:avLst/>
            <a:gdLst/>
            <a:ahLst/>
            <a:cxnLst/>
            <a:rect l="l" t="t" r="r" b="b"/>
            <a:pathLst>
              <a:path w="6770939" h="409040">
                <a:moveTo>
                  <a:pt x="0" y="0"/>
                </a:moveTo>
                <a:lnTo>
                  <a:pt x="5760043" y="0"/>
                </a:lnTo>
                <a:lnTo>
                  <a:pt x="5768255" y="0"/>
                </a:lnTo>
                <a:lnTo>
                  <a:pt x="5868144" y="0"/>
                </a:lnTo>
                <a:lnTo>
                  <a:pt x="6359516" y="0"/>
                </a:lnTo>
                <a:lnTo>
                  <a:pt x="6770939" y="0"/>
                </a:lnTo>
                <a:lnTo>
                  <a:pt x="6615633" y="409039"/>
                </a:lnTo>
                <a:lnTo>
                  <a:pt x="6204210" y="409039"/>
                </a:lnTo>
                <a:lnTo>
                  <a:pt x="5868144" y="409039"/>
                </a:lnTo>
                <a:lnTo>
                  <a:pt x="5868144" y="409040"/>
                </a:lnTo>
                <a:lnTo>
                  <a:pt x="0" y="409040"/>
                </a:lnTo>
                <a:close/>
              </a:path>
            </a:pathLst>
          </a:cu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876256" y="6521639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032B2-4DBE-4785-835A-DDEAC061235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1" name="矩形 7"/>
          <p:cNvSpPr/>
          <p:nvPr userDrawn="1"/>
        </p:nvSpPr>
        <p:spPr>
          <a:xfrm>
            <a:off x="4427989" y="-1"/>
            <a:ext cx="2342955" cy="409040"/>
          </a:xfrm>
          <a:custGeom>
            <a:avLst/>
            <a:gdLst/>
            <a:ahLst/>
            <a:cxnLst/>
            <a:rect l="l" t="t" r="r" b="b"/>
            <a:pathLst>
              <a:path w="2342955" h="409040">
                <a:moveTo>
                  <a:pt x="902795" y="0"/>
                </a:moveTo>
                <a:lnTo>
                  <a:pt x="1332059" y="0"/>
                </a:lnTo>
                <a:lnTo>
                  <a:pt x="1340271" y="0"/>
                </a:lnTo>
                <a:lnTo>
                  <a:pt x="1440160" y="0"/>
                </a:lnTo>
                <a:lnTo>
                  <a:pt x="1931532" y="0"/>
                </a:lnTo>
                <a:lnTo>
                  <a:pt x="2342955" y="0"/>
                </a:lnTo>
                <a:lnTo>
                  <a:pt x="2187649" y="409039"/>
                </a:lnTo>
                <a:lnTo>
                  <a:pt x="1776226" y="409039"/>
                </a:lnTo>
                <a:lnTo>
                  <a:pt x="1440160" y="409039"/>
                </a:lnTo>
                <a:lnTo>
                  <a:pt x="1440160" y="409040"/>
                </a:lnTo>
                <a:lnTo>
                  <a:pt x="0" y="409040"/>
                </a:lnTo>
                <a:lnTo>
                  <a:pt x="0" y="409039"/>
                </a:lnTo>
                <a:lnTo>
                  <a:pt x="336066" y="409039"/>
                </a:lnTo>
                <a:lnTo>
                  <a:pt x="747489" y="409039"/>
                </a:lnTo>
                <a:close/>
              </a:path>
            </a:pathLst>
          </a:custGeom>
          <a:solidFill>
            <a:srgbClr val="558ED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0" y="6525344"/>
            <a:ext cx="6912000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6948264" y="6525345"/>
            <a:ext cx="2195736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2024/8/23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/>
        </p:nvSpPr>
        <p:spPr>
          <a:xfrm>
            <a:off x="2343642" y="1804954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 dpi="0" rotWithShape="1">
            <a:blip r:embed="rId6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0"/>
          <p:cNvSpPr/>
          <p:nvPr/>
        </p:nvSpPr>
        <p:spPr>
          <a:xfrm>
            <a:off x="5158815" y="1804954"/>
            <a:ext cx="1839848" cy="1135901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7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7"/>
          <p:cNvSpPr/>
          <p:nvPr/>
        </p:nvSpPr>
        <p:spPr>
          <a:xfrm>
            <a:off x="6162746" y="1660936"/>
            <a:ext cx="2981261" cy="1279917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7"/>
          <p:cNvSpPr/>
          <p:nvPr/>
        </p:nvSpPr>
        <p:spPr>
          <a:xfrm>
            <a:off x="7" y="1804951"/>
            <a:ext cx="3203279" cy="1296144"/>
          </a:xfrm>
          <a:custGeom>
            <a:avLst/>
            <a:gdLst/>
            <a:ahLst/>
            <a:cxnLst/>
            <a:rect l="l" t="t" r="r" b="b"/>
            <a:pathLst>
              <a:path w="3063717" h="1239673">
                <a:moveTo>
                  <a:pt x="0" y="0"/>
                </a:moveTo>
                <a:lnTo>
                  <a:pt x="24887" y="0"/>
                </a:lnTo>
                <a:lnTo>
                  <a:pt x="1816819" y="0"/>
                </a:lnTo>
                <a:lnTo>
                  <a:pt x="3063717" y="0"/>
                </a:lnTo>
                <a:lnTo>
                  <a:pt x="2593030" y="1239673"/>
                </a:lnTo>
                <a:lnTo>
                  <a:pt x="1346133" y="1239673"/>
                </a:lnTo>
                <a:lnTo>
                  <a:pt x="0" y="1239673"/>
                </a:lnTo>
                <a:close/>
              </a:path>
            </a:pathLst>
          </a:cu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4" descr="F:\朱建华工作文档\公司餐椅\航盛LOGO.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2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554" y="117766"/>
            <a:ext cx="2528596" cy="69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7"/>
          <p:cNvSpPr/>
          <p:nvPr/>
        </p:nvSpPr>
        <p:spPr>
          <a:xfrm>
            <a:off x="3049247" y="0"/>
            <a:ext cx="3113499" cy="866630"/>
          </a:xfrm>
          <a:custGeom>
            <a:avLst/>
            <a:gdLst/>
            <a:ahLst/>
            <a:cxnLst/>
            <a:rect l="l" t="t" r="r" b="b"/>
            <a:pathLst>
              <a:path w="3113499" h="866630">
                <a:moveTo>
                  <a:pt x="329047" y="0"/>
                </a:moveTo>
                <a:lnTo>
                  <a:pt x="3113499" y="0"/>
                </a:lnTo>
                <a:lnTo>
                  <a:pt x="2784451" y="866630"/>
                </a:lnTo>
                <a:lnTo>
                  <a:pt x="0" y="866630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7"/>
          <p:cNvSpPr/>
          <p:nvPr/>
        </p:nvSpPr>
        <p:spPr>
          <a:xfrm>
            <a:off x="971600" y="5717301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solidFill>
            <a:schemeClr val="bg1">
              <a:lumMod val="8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7"/>
          <p:cNvSpPr/>
          <p:nvPr/>
        </p:nvSpPr>
        <p:spPr>
          <a:xfrm>
            <a:off x="0" y="3284984"/>
            <a:ext cx="2343636" cy="1135901"/>
          </a:xfrm>
          <a:custGeom>
            <a:avLst/>
            <a:gdLst/>
            <a:ahLst/>
            <a:cxnLst/>
            <a:rect l="l" t="t" r="r" b="b"/>
            <a:pathLst>
              <a:path w="2343636" h="1135901">
                <a:moveTo>
                  <a:pt x="0" y="0"/>
                </a:moveTo>
                <a:lnTo>
                  <a:pt x="2343636" y="0"/>
                </a:lnTo>
                <a:lnTo>
                  <a:pt x="1912350" y="1135901"/>
                </a:lnTo>
                <a:lnTo>
                  <a:pt x="0" y="1135901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9592" y="3573016"/>
            <a:ext cx="7884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Android P</a:t>
            </a:r>
            <a:r>
              <a:rPr lang="zh-CN" altLang="en-US" sz="32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阻止引用启动方案</a:t>
            </a:r>
            <a:endParaRPr lang="en-US" altLang="zh-CN" sz="320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48264" y="5661248"/>
            <a:ext cx="1835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编写</a:t>
            </a: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人：薛翔宇</a:t>
            </a:r>
            <a:endParaRPr lang="en-US" altLang="zh-CN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 rot="10800000" flipV="1">
            <a:off x="2178380" y="1891914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01</a:t>
            </a:r>
            <a:endParaRPr kumimoji="1" lang="zh-CN" altLang="en-US" sz="1600" b="1" dirty="0"/>
          </a:p>
        </p:txBody>
      </p:sp>
      <p:sp>
        <p:nvSpPr>
          <p:cNvPr id="7" name="椭圆 6"/>
          <p:cNvSpPr/>
          <p:nvPr/>
        </p:nvSpPr>
        <p:spPr>
          <a:xfrm rot="10800000" flipV="1">
            <a:off x="2201167" y="3764824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03</a:t>
            </a:r>
            <a:endParaRPr kumimoji="1" lang="zh-CN" altLang="en-US" sz="1600" b="1" dirty="0"/>
          </a:p>
        </p:txBody>
      </p:sp>
      <p:sp>
        <p:nvSpPr>
          <p:cNvPr id="8" name="文本框 79"/>
          <p:cNvSpPr txBox="1"/>
          <p:nvPr/>
        </p:nvSpPr>
        <p:spPr>
          <a:xfrm>
            <a:off x="3003336" y="1944338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9"/>
          <p:cNvSpPr txBox="1"/>
          <p:nvPr/>
        </p:nvSpPr>
        <p:spPr>
          <a:xfrm>
            <a:off x="806907" y="2061530"/>
            <a:ext cx="842013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032940" y="1268760"/>
            <a:ext cx="45574" cy="446449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240"/>
            <a:ext cx="1648920" cy="2088232"/>
          </a:xfrm>
          <a:prstGeom prst="rect">
            <a:avLst/>
          </a:prstGeom>
        </p:spPr>
      </p:pic>
      <p:sp>
        <p:nvSpPr>
          <p:cNvPr id="12" name="文本框 79"/>
          <p:cNvSpPr txBox="1"/>
          <p:nvPr/>
        </p:nvSpPr>
        <p:spPr>
          <a:xfrm>
            <a:off x="2987824" y="3817248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 rot="10800000" flipV="1">
            <a:off x="2189197" y="2758983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02</a:t>
            </a:r>
            <a:endParaRPr kumimoji="1" lang="zh-CN" altLang="en-US" sz="1600" b="1" dirty="0"/>
          </a:p>
        </p:txBody>
      </p:sp>
      <p:sp>
        <p:nvSpPr>
          <p:cNvPr id="14" name="文本框 79"/>
          <p:cNvSpPr txBox="1"/>
          <p:nvPr/>
        </p:nvSpPr>
        <p:spPr>
          <a:xfrm>
            <a:off x="2987824" y="2811408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分析需求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 rot="10800000" flipV="1">
            <a:off x="2201765" y="4735603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04</a:t>
            </a:r>
            <a:endParaRPr kumimoji="1" lang="zh-CN" altLang="en-US" sz="1600" b="1" dirty="0"/>
          </a:p>
        </p:txBody>
      </p:sp>
      <p:sp>
        <p:nvSpPr>
          <p:cNvPr id="16" name="文本框 79"/>
          <p:cNvSpPr txBox="1"/>
          <p:nvPr/>
        </p:nvSpPr>
        <p:spPr>
          <a:xfrm>
            <a:off x="2988422" y="4788027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5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5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7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当</a:t>
            </a:r>
            <a:r>
              <a:rPr lang="en-US" altLang="zh-CN" sz="2800" dirty="0" smtClean="0"/>
              <a:t>CPU</a:t>
            </a:r>
            <a:r>
              <a:rPr lang="zh-CN" altLang="en-US" sz="2800" dirty="0" smtClean="0"/>
              <a:t>或内存处于高负载状态时，停止一部分后台应用，并阻止这些</a:t>
            </a:r>
            <a:r>
              <a:rPr lang="zh-CN" altLang="en-US" sz="2800" dirty="0"/>
              <a:t>应用的运行，只允许用户</a:t>
            </a:r>
            <a:r>
              <a:rPr lang="zh-CN" altLang="en-US" sz="2800" dirty="0" smtClean="0"/>
              <a:t>场景的启动。</a:t>
            </a:r>
            <a:endParaRPr lang="en-US" altLang="zh-CN" sz="28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96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分析需求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一、什么时候触发机制</a:t>
            </a:r>
            <a:endParaRPr lang="en-US" altLang="zh-CN" sz="2000" dirty="0" smtClean="0"/>
          </a:p>
          <a:p>
            <a:pPr marL="514350" indent="-514350">
              <a:buAutoNum type="arabicPeriod"/>
            </a:pPr>
            <a:r>
              <a:rPr lang="zh-CN" altLang="en-US" sz="2000" dirty="0" smtClean="0"/>
              <a:t>首先定义阈值。比如：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CPU High load &gt; 80%</a:t>
            </a:r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Memory free &lt; 200M</a:t>
            </a:r>
          </a:p>
          <a:p>
            <a:pPr marL="514350" indent="-514350">
              <a:buAutoNum type="arabicPeriod" startAt="2"/>
            </a:pPr>
            <a:r>
              <a:rPr lang="zh-CN" altLang="en-US" sz="2000" dirty="0" smtClean="0"/>
              <a:t>当达到阈值，停止应用；反之，</a:t>
            </a:r>
            <a:r>
              <a:rPr lang="en-US" altLang="zh-CN" sz="2000" dirty="0" smtClean="0"/>
              <a:t>CPU</a:t>
            </a:r>
            <a:r>
              <a:rPr lang="zh-CN" altLang="en-US" sz="2000" dirty="0" smtClean="0"/>
              <a:t>或</a:t>
            </a:r>
            <a:r>
              <a:rPr lang="en-US" altLang="zh-CN" sz="2000" dirty="0" err="1" smtClean="0"/>
              <a:t>mem</a:t>
            </a:r>
            <a:r>
              <a:rPr lang="zh-CN" altLang="en-US" sz="2000" dirty="0" smtClean="0"/>
              <a:t>负载               降下来后，需要解除限制。</a:t>
            </a:r>
            <a:endParaRPr lang="en-US" altLang="zh-CN" sz="2000" dirty="0" smtClean="0"/>
          </a:p>
          <a:p>
            <a:pPr marL="514350" indent="-514350">
              <a:buAutoNum type="arabicPeriod" startAt="2"/>
            </a:pPr>
            <a:r>
              <a:rPr lang="zh-CN" altLang="en-US" sz="2000" dirty="0" smtClean="0"/>
              <a:t>为了避免</a:t>
            </a:r>
            <a:r>
              <a:rPr lang="en-US" altLang="zh-CN" sz="2000" dirty="0" smtClean="0"/>
              <a:t>CPU</a:t>
            </a:r>
            <a:r>
              <a:rPr lang="zh-CN" altLang="en-US" sz="2000" dirty="0" smtClean="0"/>
              <a:t>负载在</a:t>
            </a:r>
            <a:r>
              <a:rPr lang="en-US" altLang="zh-CN" sz="2000" dirty="0" smtClean="0"/>
              <a:t>80%</a:t>
            </a:r>
            <a:r>
              <a:rPr lang="zh-CN" altLang="en-US" sz="2000" dirty="0" smtClean="0"/>
              <a:t>来回抖动，从而频繁触发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解除。或者有时只是瞬间达到高负载。</a:t>
            </a:r>
            <a:endParaRPr lang="en-US" altLang="zh-CN" sz="2000" dirty="0" smtClean="0"/>
          </a:p>
          <a:p>
            <a:r>
              <a:rPr lang="en-US" altLang="zh-CN" sz="2000" dirty="0" smtClean="0"/>
              <a:t>         1</a:t>
            </a:r>
            <a:r>
              <a:rPr lang="zh-CN" altLang="en-US" sz="2000" dirty="0" smtClean="0"/>
              <a:t>）高负载状态持续一段时间（如</a:t>
            </a:r>
            <a:r>
              <a:rPr lang="en-US" altLang="zh-CN" sz="2000" dirty="0" smtClean="0"/>
              <a:t>5s</a:t>
            </a:r>
            <a:r>
              <a:rPr lang="zh-CN" altLang="en-US" sz="2000" dirty="0" smtClean="0"/>
              <a:t>），才触发机制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 2</a:t>
            </a:r>
            <a:r>
              <a:rPr lang="zh-CN" altLang="en-US" sz="2000" dirty="0" smtClean="0"/>
              <a:t>）解除限制的数值定义低一点，比如</a:t>
            </a:r>
            <a:r>
              <a:rPr lang="en-US" altLang="zh-CN" sz="2000" dirty="0" smtClean="0"/>
              <a:t>&gt;80%</a:t>
            </a:r>
            <a:r>
              <a:rPr lang="zh-CN" altLang="en-US" sz="2000" dirty="0" smtClean="0"/>
              <a:t>触发，</a:t>
            </a:r>
            <a:r>
              <a:rPr lang="en-US" altLang="zh-CN" sz="2000" dirty="0" smtClean="0"/>
              <a:t>&lt;75%</a:t>
            </a:r>
            <a:r>
              <a:rPr lang="zh-CN" altLang="en-US" sz="2000" dirty="0" smtClean="0"/>
              <a:t>解除</a:t>
            </a:r>
            <a:endParaRPr lang="en-US" altLang="zh-CN" sz="20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04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分析需求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二、停止哪些应用</a:t>
            </a:r>
            <a:endParaRPr lang="en-US" altLang="zh-CN" sz="2000" dirty="0" smtClean="0"/>
          </a:p>
          <a:p>
            <a:pPr marL="514350" indent="-514350">
              <a:buAutoNum type="arabicPeriod"/>
            </a:pPr>
            <a:r>
              <a:rPr lang="zh-CN" altLang="en-US" sz="2000" dirty="0" smtClean="0"/>
              <a:t>系统关键的核心服务不能停止</a:t>
            </a:r>
            <a:endParaRPr lang="en-US" altLang="zh-CN" sz="2000" dirty="0" smtClean="0"/>
          </a:p>
          <a:p>
            <a:pPr marL="514350" indent="-514350">
              <a:buAutoNum type="arabicPeriod"/>
            </a:pPr>
            <a:r>
              <a:rPr lang="en-US" altLang="zh-CN" sz="2000" dirty="0" smtClean="0"/>
              <a:t>Launcher</a:t>
            </a:r>
            <a:r>
              <a:rPr lang="zh-CN" altLang="en-US" sz="2000" dirty="0" smtClean="0"/>
              <a:t>、或当前正处于前台的、用户可见的应用不能停止</a:t>
            </a:r>
            <a:endParaRPr lang="en-US" altLang="zh-CN" sz="2000" dirty="0" smtClean="0"/>
          </a:p>
          <a:p>
            <a:pPr marL="514350" indent="-514350">
              <a:buAutoNum type="arabicPeriod"/>
            </a:pPr>
            <a:r>
              <a:rPr lang="zh-CN" altLang="en-US" sz="2000" dirty="0" smtClean="0"/>
              <a:t>在</a:t>
            </a:r>
            <a:r>
              <a:rPr lang="zh-CN" altLang="zh-CN" sz="2000" dirty="0" smtClean="0"/>
              <a:t>白</a:t>
            </a:r>
            <a:r>
              <a:rPr lang="zh-CN" altLang="zh-CN" sz="2000" dirty="0"/>
              <a:t>名单</a:t>
            </a:r>
            <a:r>
              <a:rPr lang="zh-CN" altLang="zh-CN" sz="2000" dirty="0" smtClean="0"/>
              <a:t>中</a:t>
            </a:r>
            <a:r>
              <a:rPr lang="zh-CN" altLang="en-US" sz="2000" dirty="0" smtClean="0"/>
              <a:t>声明</a:t>
            </a:r>
            <a:r>
              <a:rPr lang="zh-CN" altLang="zh-CN" sz="2000" dirty="0" smtClean="0"/>
              <a:t>的应用</a:t>
            </a:r>
            <a:endParaRPr lang="en-US" altLang="zh-CN" sz="20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45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分析需求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三</a:t>
            </a:r>
            <a:r>
              <a:rPr lang="zh-CN" altLang="en-US" sz="2000" dirty="0" smtClean="0"/>
              <a:t>、哪些属于用户场景</a:t>
            </a:r>
            <a:endParaRPr lang="en-US" altLang="zh-CN" sz="2000" dirty="0" smtClean="0"/>
          </a:p>
          <a:p>
            <a:pPr marL="514350" indent="-514350">
              <a:buAutoNum type="arabicPeriod"/>
            </a:pPr>
            <a:r>
              <a:rPr lang="zh-CN" altLang="en-US" sz="2000" dirty="0" smtClean="0"/>
              <a:t>用户通过</a:t>
            </a:r>
            <a:r>
              <a:rPr lang="en-US" altLang="zh-CN" sz="2000" dirty="0" smtClean="0"/>
              <a:t>VR</a:t>
            </a:r>
            <a:r>
              <a:rPr lang="zh-CN" altLang="en-US" sz="2000" dirty="0" smtClean="0"/>
              <a:t>启动</a:t>
            </a:r>
            <a:endParaRPr lang="en-US" altLang="zh-CN" sz="2000" dirty="0" smtClean="0"/>
          </a:p>
          <a:p>
            <a:pPr marL="514350" indent="-514350">
              <a:buAutoNum type="arabicPeriod"/>
            </a:pPr>
            <a:r>
              <a:rPr lang="zh-CN" altLang="en-US" sz="2000" dirty="0" smtClean="0"/>
              <a:t>用户通过点击界面启动一个应用</a:t>
            </a:r>
            <a:endParaRPr lang="en-US" altLang="zh-CN" sz="2000" dirty="0" smtClean="0"/>
          </a:p>
          <a:p>
            <a:pPr marL="514350" indent="-514350">
              <a:buAutoNum type="arabicPeriod"/>
            </a:pPr>
            <a:r>
              <a:rPr lang="zh-CN" altLang="en-US" sz="2000" dirty="0" smtClean="0"/>
              <a:t>其它情况下启动</a:t>
            </a:r>
            <a:r>
              <a:rPr lang="en-US" altLang="zh-CN" sz="2000" dirty="0" smtClean="0"/>
              <a:t>Activity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service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broadcast</a:t>
            </a:r>
            <a:r>
              <a:rPr lang="zh-CN" altLang="en-US" sz="2000" dirty="0" smtClean="0"/>
              <a:t>属于非用户场景，应拒绝。</a:t>
            </a:r>
            <a:endParaRPr lang="en-US" altLang="zh-CN" sz="20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5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一、如何监听</a:t>
            </a:r>
            <a:r>
              <a:rPr lang="en-US" altLang="zh-CN" sz="2000" dirty="0" smtClean="0"/>
              <a:t>CPU</a:t>
            </a:r>
            <a:r>
              <a:rPr lang="zh-CN" altLang="en-US" sz="2000" dirty="0" smtClean="0"/>
              <a:t>和内存状态</a:t>
            </a:r>
            <a:endParaRPr lang="en-US" altLang="zh-CN" sz="2000" dirty="0" smtClean="0"/>
          </a:p>
          <a:p>
            <a:pPr marL="514350" indent="-514350">
              <a:buAutoNum type="arabicPeriod"/>
            </a:pPr>
            <a:r>
              <a:rPr lang="zh-CN" altLang="en-US" sz="2000" dirty="0" smtClean="0"/>
              <a:t>通过读取</a:t>
            </a:r>
            <a:r>
              <a:rPr lang="en-US" altLang="zh-CN" sz="2000" dirty="0"/>
              <a:t>/</a:t>
            </a:r>
            <a:r>
              <a:rPr lang="en-US" altLang="zh-CN" sz="2000" dirty="0" err="1" smtClean="0"/>
              <a:t>proc</a:t>
            </a:r>
            <a:r>
              <a:rPr lang="en-US" altLang="zh-CN" sz="2000" dirty="0" smtClean="0"/>
              <a:t>/stat</a:t>
            </a:r>
            <a:r>
              <a:rPr lang="zh-CN" altLang="en-US" sz="2000" dirty="0" smtClean="0"/>
              <a:t>，可以计算出</a:t>
            </a:r>
            <a:r>
              <a:rPr lang="en-US" altLang="zh-CN" sz="2000" dirty="0" smtClean="0"/>
              <a:t>CPU</a:t>
            </a:r>
            <a:r>
              <a:rPr lang="zh-CN" altLang="en-US" sz="2000" dirty="0" smtClean="0"/>
              <a:t>使用率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    </a:t>
            </a:r>
            <a:r>
              <a:rPr lang="zh-CN" altLang="en-US" sz="2000" dirty="0" smtClean="0"/>
              <a:t>代码参考提交：</a:t>
            </a:r>
            <a:r>
              <a:rPr lang="en-US" altLang="zh-CN" sz="2000" dirty="0" smtClean="0"/>
              <a:t>https</a:t>
            </a:r>
            <a:r>
              <a:rPr lang="en-US" altLang="zh-CN" sz="2000" dirty="0"/>
              <a:t>://192.168.64.47:8443/c/Android/QCOM_SA8155_6155/platform/frameworks/base/+/</a:t>
            </a:r>
            <a:r>
              <a:rPr lang="en-US" altLang="zh-CN" sz="2000" dirty="0" smtClean="0"/>
              <a:t>55595/2/services/core/java/com/android/server/am/HighCpuDetector.java</a:t>
            </a:r>
          </a:p>
          <a:p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2. </a:t>
            </a:r>
            <a:r>
              <a:rPr lang="zh-CN" altLang="en-US" sz="2000" dirty="0" smtClean="0"/>
              <a:t>读取</a:t>
            </a:r>
            <a:r>
              <a:rPr lang="en-US" altLang="zh-CN" sz="2000" dirty="0"/>
              <a:t>/</a:t>
            </a:r>
            <a:r>
              <a:rPr lang="en-US" altLang="zh-CN" sz="2000" dirty="0" err="1" smtClean="0"/>
              <a:t>proc</a:t>
            </a:r>
            <a:r>
              <a:rPr lang="en-US" altLang="zh-CN" sz="2000" dirty="0" smtClean="0"/>
              <a:t>/</a:t>
            </a:r>
            <a:r>
              <a:rPr lang="en-US" altLang="zh-CN" sz="2000" dirty="0" err="1" smtClean="0"/>
              <a:t>meminfo</a:t>
            </a:r>
            <a:r>
              <a:rPr lang="zh-CN" altLang="en-US" sz="2000" dirty="0" smtClean="0"/>
              <a:t>，其中</a:t>
            </a:r>
            <a:r>
              <a:rPr lang="en-US" altLang="zh-CN" sz="2000" dirty="0" err="1" smtClean="0"/>
              <a:t>MemAvailable</a:t>
            </a:r>
            <a:r>
              <a:rPr lang="zh-CN" altLang="en-US" sz="2000" dirty="0" smtClean="0"/>
              <a:t>表示当前可用内存</a:t>
            </a:r>
            <a:endParaRPr lang="en-US" altLang="zh-CN" sz="20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52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二</a:t>
            </a:r>
            <a:r>
              <a:rPr lang="zh-CN" altLang="en-US" sz="2000" dirty="0" smtClean="0"/>
              <a:t>、怎样停止应用？怎样阻止应用运行？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1600" dirty="0" smtClean="0"/>
              <a:t>方案</a:t>
            </a:r>
            <a:r>
              <a:rPr lang="en-US" altLang="zh-CN" sz="1600" dirty="0" smtClean="0"/>
              <a:t>1</a:t>
            </a:r>
            <a:r>
              <a:rPr lang="en-US" altLang="zh-CN" sz="1600" dirty="0" smtClean="0"/>
              <a:t>.  </a:t>
            </a:r>
            <a:r>
              <a:rPr lang="zh-CN" altLang="en-US" sz="1600" dirty="0" smtClean="0"/>
              <a:t>利用</a:t>
            </a:r>
            <a:r>
              <a:rPr lang="en-US" altLang="zh-CN" sz="1600" dirty="0" smtClean="0"/>
              <a:t>LMK</a:t>
            </a:r>
            <a:r>
              <a:rPr lang="zh-CN" altLang="en-US" sz="1600" dirty="0" smtClean="0"/>
              <a:t>，低内存</a:t>
            </a:r>
            <a:r>
              <a:rPr lang="en-US" altLang="zh-CN" sz="1600" dirty="0" smtClean="0"/>
              <a:t>kill</a:t>
            </a:r>
            <a:r>
              <a:rPr lang="zh-CN" altLang="en-US" sz="1600" dirty="0" smtClean="0"/>
              <a:t>应用。</a:t>
            </a:r>
            <a:endParaRPr lang="en-US" altLang="zh-CN" sz="1600" dirty="0" smtClean="0"/>
          </a:p>
          <a:p>
            <a:r>
              <a:rPr lang="en-US" altLang="zh-CN" sz="1600" dirty="0"/>
              <a:t> </a:t>
            </a:r>
            <a:r>
              <a:rPr lang="en-US" altLang="zh-CN" sz="1600" dirty="0" smtClean="0"/>
              <a:t>      LMK</a:t>
            </a:r>
            <a:r>
              <a:rPr lang="zh-CN" altLang="en-US" sz="1600" dirty="0" smtClean="0"/>
              <a:t>根据应用的</a:t>
            </a:r>
            <a:r>
              <a:rPr lang="en-US" altLang="zh-CN" sz="1600" dirty="0" err="1" smtClean="0"/>
              <a:t>oom_adj</a:t>
            </a:r>
            <a:r>
              <a:rPr lang="en-US" altLang="zh-CN" sz="1600" dirty="0" smtClean="0"/>
              <a:t>, </a:t>
            </a:r>
            <a:r>
              <a:rPr lang="zh-CN" altLang="en-US" sz="1600" dirty="0" smtClean="0"/>
              <a:t>优先</a:t>
            </a:r>
            <a:r>
              <a:rPr lang="en-US" altLang="zh-CN" sz="1600" dirty="0" smtClean="0"/>
              <a:t>kill </a:t>
            </a:r>
            <a:r>
              <a:rPr lang="en-US" altLang="zh-CN" sz="1600" dirty="0" err="1" smtClean="0"/>
              <a:t>oom_adj</a:t>
            </a:r>
            <a:r>
              <a:rPr lang="zh-CN" altLang="en-US" sz="1600" dirty="0" smtClean="0"/>
              <a:t>数值大的应用。系统会根据应用状态不停地调整</a:t>
            </a:r>
            <a:r>
              <a:rPr lang="en-US" altLang="zh-CN" sz="1600" dirty="0" err="1" smtClean="0"/>
              <a:t>Oom_adj</a:t>
            </a:r>
            <a:r>
              <a:rPr lang="zh-CN" altLang="en-US" sz="1600" dirty="0" smtClean="0"/>
              <a:t>的值。比如，当一个</a:t>
            </a:r>
            <a:r>
              <a:rPr lang="en-US" altLang="zh-CN" sz="1600" dirty="0" smtClean="0"/>
              <a:t>app</a:t>
            </a:r>
            <a:r>
              <a:rPr lang="zh-CN" altLang="en-US" sz="1600" dirty="0"/>
              <a:t>退</a:t>
            </a:r>
            <a:r>
              <a:rPr lang="zh-CN" altLang="en-US" sz="1600" dirty="0" smtClean="0"/>
              <a:t>到后台，他们</a:t>
            </a:r>
            <a:r>
              <a:rPr lang="en-US" altLang="zh-CN" sz="1600" dirty="0" err="1" smtClean="0"/>
              <a:t>oom_adj</a:t>
            </a:r>
            <a:r>
              <a:rPr lang="zh-CN" altLang="en-US" sz="1600" dirty="0" smtClean="0"/>
              <a:t>数值变成</a:t>
            </a:r>
            <a:r>
              <a:rPr lang="en-US" altLang="zh-CN" sz="1600" dirty="0" smtClean="0"/>
              <a:t>900, LMK</a:t>
            </a:r>
            <a:r>
              <a:rPr lang="zh-CN" altLang="en-US" sz="1600" dirty="0" smtClean="0"/>
              <a:t>优先</a:t>
            </a:r>
            <a:r>
              <a:rPr lang="en-US" altLang="zh-CN" sz="1600" dirty="0" smtClean="0"/>
              <a:t>kill</a:t>
            </a:r>
            <a:r>
              <a:rPr lang="zh-CN" altLang="en-US" sz="1600" dirty="0" smtClean="0"/>
              <a:t>此类应用。</a:t>
            </a:r>
            <a:endParaRPr lang="en-US" altLang="zh-CN" sz="1600" dirty="0" smtClean="0"/>
          </a:p>
          <a:p>
            <a:endParaRPr lang="en-US" altLang="zh-CN" sz="1600" dirty="0"/>
          </a:p>
          <a:p>
            <a:r>
              <a:rPr lang="zh-CN" altLang="en-US" sz="1600" dirty="0" smtClean="0"/>
              <a:t>缺点：无法阻止应用被</a:t>
            </a:r>
            <a:r>
              <a:rPr lang="en-US" altLang="zh-CN" sz="1600" dirty="0" smtClean="0"/>
              <a:t>kill</a:t>
            </a:r>
            <a:r>
              <a:rPr lang="zh-CN" altLang="en-US" sz="1600" dirty="0" smtClean="0"/>
              <a:t>后重启。</a:t>
            </a:r>
            <a:endParaRPr lang="en-US" altLang="zh-CN" sz="16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0673" y="3017723"/>
            <a:ext cx="83529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方案</a:t>
            </a:r>
            <a:r>
              <a:rPr lang="en-US" altLang="zh-CN" dirty="0" smtClean="0"/>
              <a:t>2.  </a:t>
            </a:r>
            <a:r>
              <a:rPr lang="zh-CN" altLang="en-US" dirty="0" smtClean="0"/>
              <a:t>利用</a:t>
            </a:r>
            <a:r>
              <a:rPr lang="en-US" altLang="zh-CN" dirty="0" smtClean="0"/>
              <a:t>PMS suspend</a:t>
            </a:r>
            <a:r>
              <a:rPr lang="zh-CN" altLang="en-US" dirty="0" smtClean="0"/>
              <a:t>应用机制</a:t>
            </a:r>
            <a:endParaRPr lang="en-US" altLang="zh-CN" dirty="0" smtClean="0"/>
          </a:p>
          <a:p>
            <a:r>
              <a:rPr lang="en-US" altLang="zh-CN" sz="1600" dirty="0" smtClean="0"/>
              <a:t>       </a:t>
            </a:r>
            <a:r>
              <a:rPr lang="zh-CN" altLang="zh-CN" sz="1600" dirty="0" smtClean="0"/>
              <a:t>安卓里</a:t>
            </a:r>
            <a:r>
              <a:rPr lang="zh-CN" altLang="en-US" sz="1600" dirty="0"/>
              <a:t>阻止</a:t>
            </a:r>
            <a:r>
              <a:rPr lang="zh-CN" altLang="zh-CN" sz="1600" dirty="0" smtClean="0"/>
              <a:t>应用</a:t>
            </a:r>
            <a:r>
              <a:rPr lang="zh-CN" altLang="zh-CN" sz="1600" dirty="0"/>
              <a:t>启动的机制有：</a:t>
            </a:r>
          </a:p>
          <a:p>
            <a:pPr lvl="0"/>
            <a:r>
              <a:rPr lang="en-US" altLang="zh-CN" sz="1600" b="1" dirty="0" smtClean="0"/>
              <a:t>        * </a:t>
            </a:r>
            <a:r>
              <a:rPr lang="zh-CN" altLang="zh-CN" sz="1600" b="1" dirty="0" smtClean="0"/>
              <a:t>停</a:t>
            </a:r>
            <a:r>
              <a:rPr lang="zh-CN" altLang="zh-CN" sz="1600" b="1" dirty="0"/>
              <a:t>用应用</a:t>
            </a:r>
            <a:r>
              <a:rPr lang="zh-CN" altLang="zh-CN" sz="1600" dirty="0" smtClean="0"/>
              <a:t>：</a:t>
            </a:r>
            <a:r>
              <a:rPr lang="en-US" altLang="zh-CN" sz="1600" dirty="0" smtClean="0"/>
              <a:t>pm </a:t>
            </a:r>
            <a:r>
              <a:rPr lang="en-US" altLang="zh-CN" sz="1600" dirty="0"/>
              <a:t>disable-user </a:t>
            </a:r>
            <a:r>
              <a:rPr lang="en-US" altLang="zh-CN" sz="1600" dirty="0" err="1" smtClean="0"/>
              <a:t>com.xx.xxxx</a:t>
            </a:r>
            <a:endParaRPr lang="en-US" altLang="zh-CN" sz="1600" dirty="0" smtClean="0"/>
          </a:p>
          <a:p>
            <a:pPr lvl="0"/>
            <a:r>
              <a:rPr lang="en-US" altLang="zh-CN" sz="1600" dirty="0"/>
              <a:t> </a:t>
            </a:r>
            <a:r>
              <a:rPr lang="en-US" altLang="zh-CN" sz="1600" dirty="0" smtClean="0"/>
              <a:t>       * </a:t>
            </a:r>
            <a:r>
              <a:rPr lang="zh-CN" altLang="en-US" sz="1600" dirty="0" smtClean="0"/>
              <a:t>停止应用里的某个组件： </a:t>
            </a:r>
            <a:r>
              <a:rPr lang="en-US" altLang="zh-CN" sz="1600" dirty="0"/>
              <a:t>pm disable [</a:t>
            </a:r>
            <a:r>
              <a:rPr lang="en-US" altLang="zh-CN" sz="1600" dirty="0" err="1"/>
              <a:t>PackageName</a:t>
            </a:r>
            <a:r>
              <a:rPr lang="en-US" altLang="zh-CN" sz="1600" dirty="0"/>
              <a:t>/</a:t>
            </a:r>
            <a:r>
              <a:rPr lang="en-US" altLang="zh-CN" sz="1600" dirty="0" err="1"/>
              <a:t>ComponmentName</a:t>
            </a:r>
            <a:r>
              <a:rPr lang="en-US" altLang="zh-CN" sz="1600" dirty="0"/>
              <a:t>]</a:t>
            </a:r>
            <a:endParaRPr lang="zh-CN" altLang="zh-CN" sz="1600" dirty="0"/>
          </a:p>
          <a:p>
            <a:pPr lvl="0"/>
            <a:r>
              <a:rPr lang="en-US" altLang="zh-CN" sz="1600" b="1" dirty="0" smtClean="0"/>
              <a:t>        * </a:t>
            </a:r>
            <a:r>
              <a:rPr lang="zh-CN" altLang="zh-CN" sz="1600" b="1" dirty="0" smtClean="0"/>
              <a:t>隐藏</a:t>
            </a:r>
            <a:r>
              <a:rPr lang="zh-CN" altLang="zh-CN" sz="1600" b="1" dirty="0"/>
              <a:t>应用</a:t>
            </a:r>
            <a:r>
              <a:rPr lang="zh-CN" altLang="zh-CN" sz="1600" dirty="0"/>
              <a:t>：使用</a:t>
            </a:r>
            <a:r>
              <a:rPr lang="en-US" altLang="zh-CN" sz="1600" dirty="0"/>
              <a:t>pm hide</a:t>
            </a:r>
            <a:r>
              <a:rPr lang="zh-CN" altLang="zh-CN" sz="1600" dirty="0" smtClean="0"/>
              <a:t>命令。</a:t>
            </a:r>
            <a:endParaRPr lang="zh-CN" altLang="zh-CN" sz="1600" dirty="0"/>
          </a:p>
          <a:p>
            <a:pPr lvl="0"/>
            <a:r>
              <a:rPr lang="en-US" altLang="zh-CN" sz="1600" b="1" dirty="0" smtClean="0"/>
              <a:t>        * </a:t>
            </a:r>
            <a:r>
              <a:rPr lang="zh-CN" altLang="zh-CN" sz="1600" b="1" dirty="0" smtClean="0"/>
              <a:t>暂停</a:t>
            </a:r>
            <a:r>
              <a:rPr lang="zh-CN" altLang="zh-CN" sz="1600" b="1" dirty="0"/>
              <a:t>应用</a:t>
            </a:r>
            <a:r>
              <a:rPr lang="zh-CN" altLang="zh-CN" sz="1600" dirty="0"/>
              <a:t>（仅限</a:t>
            </a:r>
            <a:r>
              <a:rPr lang="en-US" altLang="zh-CN" sz="1600" dirty="0"/>
              <a:t>Android 7.0+</a:t>
            </a:r>
            <a:r>
              <a:rPr lang="zh-CN" altLang="zh-CN" sz="1600" dirty="0"/>
              <a:t>）：通过</a:t>
            </a:r>
            <a:r>
              <a:rPr lang="en-US" altLang="zh-CN" sz="1600" dirty="0"/>
              <a:t>PMS</a:t>
            </a:r>
            <a:r>
              <a:rPr lang="zh-CN" altLang="zh-CN" sz="1600" dirty="0"/>
              <a:t>的</a:t>
            </a:r>
            <a:r>
              <a:rPr lang="en-US" altLang="zh-CN" sz="1600" dirty="0" err="1"/>
              <a:t>setPackagesSuspended</a:t>
            </a:r>
            <a:r>
              <a:rPr lang="zh-CN" altLang="zh-CN" sz="1600" dirty="0"/>
              <a:t>方法阻止</a:t>
            </a:r>
            <a:r>
              <a:rPr lang="zh-CN" altLang="zh-CN" sz="1600" dirty="0" smtClean="0"/>
              <a:t>应用。</a:t>
            </a:r>
            <a:endParaRPr lang="en-US" altLang="zh-CN" sz="1600" dirty="0" smtClean="0"/>
          </a:p>
          <a:p>
            <a:pPr lvl="0"/>
            <a:r>
              <a:rPr lang="en-US" altLang="zh-CN" sz="1600" dirty="0"/>
              <a:t> </a:t>
            </a:r>
            <a:r>
              <a:rPr lang="en-US" altLang="zh-CN" sz="1600" dirty="0" smtClean="0"/>
              <a:t>       * </a:t>
            </a:r>
            <a:r>
              <a:rPr lang="en-US" altLang="zh-CN" sz="1600" dirty="0"/>
              <a:t>IFW </a:t>
            </a:r>
            <a:r>
              <a:rPr lang="zh-CN" altLang="zh-CN" sz="1600" dirty="0" smtClean="0"/>
              <a:t>（</a:t>
            </a:r>
            <a:r>
              <a:rPr lang="en-US" altLang="zh-CN" sz="1600" dirty="0"/>
              <a:t> Intent Firewall </a:t>
            </a:r>
            <a:r>
              <a:rPr lang="zh-CN" altLang="zh-CN" sz="1600" dirty="0" smtClean="0"/>
              <a:t>， </a:t>
            </a:r>
            <a:r>
              <a:rPr lang="zh-CN" altLang="zh-CN" sz="1600" dirty="0"/>
              <a:t>意图防火墙</a:t>
            </a:r>
            <a:r>
              <a:rPr lang="zh-CN" altLang="zh-CN" sz="1600" dirty="0" smtClean="0"/>
              <a:t>）</a:t>
            </a:r>
            <a:r>
              <a:rPr lang="zh-CN" altLang="en-US" sz="1600" dirty="0" smtClean="0"/>
              <a:t>： </a:t>
            </a:r>
            <a:r>
              <a:rPr lang="zh-CN" altLang="zh-CN" sz="1600" dirty="0" smtClean="0"/>
              <a:t>过滤</a:t>
            </a:r>
            <a:r>
              <a:rPr lang="zh-CN" altLang="zh-CN" sz="1600" dirty="0"/>
              <a:t>应用程序的启动意图</a:t>
            </a:r>
            <a:r>
              <a:rPr lang="en-US" altLang="zh-CN" sz="1600" dirty="0"/>
              <a:t>(Intent</a:t>
            </a:r>
            <a:r>
              <a:rPr lang="en-US" altLang="zh-CN" sz="1600" dirty="0" smtClean="0"/>
              <a:t>),</a:t>
            </a:r>
            <a:r>
              <a:rPr lang="zh-CN" altLang="en-US" sz="1600" dirty="0"/>
              <a:t>防火墙的过滤列表定义在</a:t>
            </a:r>
            <a:r>
              <a:rPr lang="en-US" altLang="zh-CN" sz="1600" dirty="0"/>
              <a:t>/data/system/</a:t>
            </a:r>
            <a:r>
              <a:rPr lang="en-US" altLang="zh-CN" sz="1600" dirty="0" err="1"/>
              <a:t>ifw</a:t>
            </a:r>
            <a:r>
              <a:rPr lang="en-US" altLang="zh-CN" sz="1600" dirty="0"/>
              <a:t>/ </a:t>
            </a:r>
            <a:r>
              <a:rPr lang="zh-CN" altLang="en-US" sz="1600" dirty="0"/>
              <a:t>中</a:t>
            </a:r>
            <a:endParaRPr lang="en-US" altLang="zh-CN" sz="1600" dirty="0" smtClean="0"/>
          </a:p>
          <a:p>
            <a:pPr lvl="0"/>
            <a:endParaRPr lang="en-US" altLang="zh-CN" sz="1600" dirty="0"/>
          </a:p>
          <a:p>
            <a:pPr lvl="0"/>
            <a:r>
              <a:rPr lang="en-US" altLang="zh-CN" sz="1600" dirty="0" smtClean="0"/>
              <a:t>       </a:t>
            </a:r>
            <a:r>
              <a:rPr lang="zh-CN" altLang="en-US" sz="1600" dirty="0" smtClean="0"/>
              <a:t>其中，</a:t>
            </a:r>
            <a:r>
              <a:rPr lang="zh-CN" altLang="zh-CN" sz="1600" b="1" dirty="0"/>
              <a:t>暂停</a:t>
            </a:r>
            <a:r>
              <a:rPr lang="zh-CN" altLang="zh-CN" sz="1600" b="1" dirty="0" smtClean="0"/>
              <a:t>应用</a:t>
            </a:r>
            <a:r>
              <a:rPr lang="zh-CN" altLang="en-US" sz="1600" b="1" dirty="0" smtClean="0"/>
              <a:t>比较符合我们的需求</a:t>
            </a:r>
            <a:r>
              <a:rPr lang="zh-CN" altLang="en-US" sz="1600" dirty="0" smtClean="0"/>
              <a:t>。</a:t>
            </a:r>
            <a:endParaRPr lang="zh-CN" altLang="zh-CN" sz="1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303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二</a:t>
            </a:r>
            <a:r>
              <a:rPr lang="zh-CN" altLang="en-US" sz="2000" dirty="0" smtClean="0"/>
              <a:t>、怎样停止应用？怎样阻止应用运行？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en-US" altLang="zh-CN" sz="2000" b="1" dirty="0" smtClean="0"/>
              <a:t>suspend </a:t>
            </a:r>
            <a:r>
              <a:rPr lang="zh-CN" altLang="en-US" sz="2000" b="1" dirty="0" smtClean="0"/>
              <a:t>的原理</a:t>
            </a:r>
            <a:endParaRPr lang="en-US" altLang="zh-CN" sz="16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1781" y="1753726"/>
            <a:ext cx="83529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setPackagesSuspended</a:t>
            </a:r>
            <a:r>
              <a:rPr lang="en-US" altLang="zh-CN" dirty="0"/>
              <a:t> </a:t>
            </a:r>
            <a:r>
              <a:rPr lang="zh-CN" altLang="zh-CN" dirty="0"/>
              <a:t>通过</a:t>
            </a:r>
            <a:r>
              <a:rPr lang="en-US" altLang="zh-CN" dirty="0"/>
              <a:t> PMS </a:t>
            </a:r>
            <a:r>
              <a:rPr lang="zh-CN" altLang="zh-CN" dirty="0" smtClean="0"/>
              <a:t>改变</a:t>
            </a:r>
            <a:r>
              <a:rPr lang="zh-CN" altLang="en-US" dirty="0"/>
              <a:t>往</a:t>
            </a:r>
            <a:r>
              <a:rPr lang="en-US" altLang="zh-CN" dirty="0" smtClean="0"/>
              <a:t> </a:t>
            </a:r>
            <a:r>
              <a:rPr lang="en-US" altLang="zh-CN" dirty="0" err="1"/>
              <a:t>ApplicationInfo</a:t>
            </a:r>
            <a:r>
              <a:rPr lang="en-US" altLang="zh-CN" dirty="0"/>
              <a:t> </a:t>
            </a:r>
            <a:r>
              <a:rPr lang="zh-CN" altLang="en-US" dirty="0" smtClean="0"/>
              <a:t>设置一个标志：</a:t>
            </a:r>
            <a:r>
              <a:rPr lang="en-US" altLang="zh-CN" dirty="0" smtClean="0"/>
              <a:t> </a:t>
            </a:r>
            <a:r>
              <a:rPr lang="en-US" altLang="zh-CN" dirty="0"/>
              <a:t>FLAG_SUSPENDED </a:t>
            </a:r>
            <a:r>
              <a:rPr lang="zh-CN" altLang="en-US" dirty="0" smtClean="0"/>
              <a:t>， 然后</a:t>
            </a:r>
            <a:r>
              <a:rPr lang="zh-CN" altLang="zh-CN" dirty="0" smtClean="0"/>
              <a:t>发送</a:t>
            </a:r>
            <a:r>
              <a:rPr lang="en-US" altLang="zh-CN" dirty="0" smtClean="0"/>
              <a:t> </a:t>
            </a:r>
            <a:r>
              <a:rPr lang="en-US" altLang="zh-CN" dirty="0"/>
              <a:t>ACTION_PACKAGES_SUSPENDED</a:t>
            </a:r>
            <a:r>
              <a:rPr lang="zh-CN" altLang="zh-CN" dirty="0"/>
              <a:t>、</a:t>
            </a:r>
            <a:r>
              <a:rPr lang="en-US" altLang="zh-CN" dirty="0"/>
              <a:t>ACTION_MY_PACKAGE_SUSPENDED </a:t>
            </a:r>
            <a:r>
              <a:rPr lang="zh-CN" altLang="zh-CN" dirty="0"/>
              <a:t>通知其他服务（</a:t>
            </a:r>
            <a:r>
              <a:rPr lang="en-US" altLang="zh-CN" dirty="0"/>
              <a:t>AMS </a:t>
            </a:r>
            <a:r>
              <a:rPr lang="zh-CN" altLang="zh-CN" dirty="0"/>
              <a:t>等）实现应用暂停的效果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FWK </a:t>
            </a:r>
            <a:r>
              <a:rPr lang="zh-CN" altLang="zh-CN" dirty="0"/>
              <a:t>中的其他地方判断一个应用是否被暂停了就是依靠</a:t>
            </a:r>
            <a:r>
              <a:rPr lang="zh-CN" altLang="zh-CN" dirty="0" smtClean="0"/>
              <a:t>这个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ApplicationInfo.FLAG_SUSPENDED</a:t>
            </a:r>
            <a:r>
              <a:rPr lang="en-US" altLang="zh-CN" dirty="0" smtClean="0"/>
              <a:t> </a:t>
            </a:r>
            <a:r>
              <a:rPr lang="zh-CN" altLang="zh-CN" dirty="0"/>
              <a:t>标记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err="1" smtClean="0"/>
              <a:t>startActivity</a:t>
            </a:r>
            <a:r>
              <a:rPr lang="zh-CN" altLang="en-US" dirty="0" smtClean="0"/>
              <a:t>的时候，会调用</a:t>
            </a:r>
            <a:r>
              <a:rPr lang="en-US" altLang="zh-CN" dirty="0"/>
              <a:t>Activity</a:t>
            </a:r>
            <a:r>
              <a:rPr lang="zh-CN" altLang="zh-CN" dirty="0"/>
              <a:t>启动拦截器</a:t>
            </a:r>
            <a:r>
              <a:rPr lang="en-US" altLang="zh-CN" dirty="0" err="1" smtClean="0"/>
              <a:t>ActivityStartInterceptor</a:t>
            </a:r>
            <a:r>
              <a:rPr lang="zh-CN" altLang="zh-CN" dirty="0"/>
              <a:t>的</a:t>
            </a:r>
            <a:r>
              <a:rPr lang="en-US" altLang="zh-CN" dirty="0"/>
              <a:t> </a:t>
            </a:r>
            <a:r>
              <a:rPr lang="en-US" altLang="zh-CN" dirty="0" err="1"/>
              <a:t>interceptSuspendedPackageIfNeeded</a:t>
            </a:r>
            <a:r>
              <a:rPr lang="en-US" altLang="zh-CN" dirty="0"/>
              <a:t> </a:t>
            </a:r>
            <a:r>
              <a:rPr lang="zh-CN" altLang="zh-CN" dirty="0" smtClean="0"/>
              <a:t>方法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  // </a:t>
            </a:r>
            <a:r>
              <a:rPr lang="zh-CN" altLang="zh-CN" dirty="0"/>
              <a:t>如果有</a:t>
            </a:r>
            <a:r>
              <a:rPr lang="en-US" altLang="zh-CN" dirty="0"/>
              <a:t>FLAG_SUSPENDED</a:t>
            </a:r>
            <a:r>
              <a:rPr lang="zh-CN" altLang="zh-CN" dirty="0"/>
              <a:t>标志，就拦截不让启动</a:t>
            </a:r>
          </a:p>
          <a:p>
            <a:pPr lvl="1"/>
            <a:r>
              <a:rPr lang="en-US" altLang="zh-CN" dirty="0"/>
              <a:t>        if (</a:t>
            </a:r>
            <a:r>
              <a:rPr lang="en-US" altLang="zh-CN" dirty="0" err="1"/>
              <a:t>mAInfo</a:t>
            </a:r>
            <a:r>
              <a:rPr lang="en-US" altLang="zh-CN" dirty="0"/>
              <a:t> == null || </a:t>
            </a:r>
            <a:r>
              <a:rPr lang="en-US" altLang="zh-CN" dirty="0" err="1"/>
              <a:t>mAInfo.applicationInfo</a:t>
            </a:r>
            <a:r>
              <a:rPr lang="en-US" altLang="zh-CN" dirty="0"/>
              <a:t> == null ||</a:t>
            </a:r>
            <a:endParaRPr lang="zh-CN" altLang="zh-CN" dirty="0"/>
          </a:p>
          <a:p>
            <a:pPr lvl="1"/>
            <a:r>
              <a:rPr lang="en-US" altLang="zh-CN" dirty="0"/>
              <a:t>                (</a:t>
            </a:r>
            <a:r>
              <a:rPr lang="en-US" altLang="zh-CN" dirty="0" err="1"/>
              <a:t>mAInfo.applicationInfo.flags</a:t>
            </a:r>
            <a:r>
              <a:rPr lang="en-US" altLang="zh-CN" dirty="0"/>
              <a:t> &amp; FLAG_SUSPENDED) == 0) {</a:t>
            </a:r>
            <a:endParaRPr lang="zh-CN" altLang="zh-CN" dirty="0"/>
          </a:p>
          <a:p>
            <a:pPr lvl="1"/>
            <a:r>
              <a:rPr lang="en-US" altLang="zh-CN" dirty="0"/>
              <a:t>            return false;</a:t>
            </a:r>
            <a:endParaRPr lang="zh-CN" altLang="zh-CN" dirty="0"/>
          </a:p>
          <a:p>
            <a:pPr lvl="1"/>
            <a:r>
              <a:rPr lang="en-US" altLang="zh-CN" dirty="0"/>
              <a:t>        }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4891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600" dirty="0" smtClean="0"/>
              <a:t>实现一个类用于</a:t>
            </a:r>
            <a:r>
              <a:rPr lang="zh-CN" altLang="zh-CN" sz="1600" dirty="0" smtClean="0"/>
              <a:t>检测</a:t>
            </a:r>
            <a:r>
              <a:rPr lang="en-US" altLang="zh-CN" sz="1600" dirty="0"/>
              <a:t>CPU</a:t>
            </a:r>
            <a:r>
              <a:rPr lang="zh-CN" altLang="zh-CN" sz="1600" dirty="0"/>
              <a:t>和</a:t>
            </a:r>
            <a:r>
              <a:rPr lang="en-US" altLang="zh-CN" sz="1600" dirty="0" smtClean="0"/>
              <a:t>MEMORY</a:t>
            </a:r>
          </a:p>
          <a:p>
            <a:pPr marL="342900" indent="-342900">
              <a:buAutoNum type="arabicPeriod"/>
            </a:pPr>
            <a:r>
              <a:rPr lang="zh-CN" altLang="zh-CN" sz="1600" dirty="0"/>
              <a:t>达到临界值</a:t>
            </a:r>
            <a:r>
              <a:rPr lang="zh-CN" altLang="zh-CN" sz="1600" dirty="0" smtClean="0"/>
              <a:t>时</a:t>
            </a:r>
            <a:r>
              <a:rPr lang="zh-CN" altLang="en-US" sz="1600" dirty="0" smtClean="0"/>
              <a:t>，遍历</a:t>
            </a:r>
            <a:r>
              <a:rPr lang="en-US" altLang="zh-CN" sz="1600" dirty="0" smtClean="0"/>
              <a:t>PMS</a:t>
            </a:r>
            <a:r>
              <a:rPr lang="zh-CN" altLang="en-US" sz="1600" dirty="0" smtClean="0"/>
              <a:t>的所有应用，排除掉白名单中的</a:t>
            </a:r>
            <a:endParaRPr lang="en-US" altLang="zh-CN" sz="1600" dirty="0" smtClean="0"/>
          </a:p>
          <a:p>
            <a:pPr marL="342900" indent="-342900">
              <a:buAutoNum type="arabicPeriod"/>
            </a:pPr>
            <a:r>
              <a:rPr lang="zh-CN" altLang="en-US" sz="1600" dirty="0" smtClean="0"/>
              <a:t>调用</a:t>
            </a:r>
            <a:r>
              <a:rPr lang="en-US" altLang="zh-CN" sz="1600" dirty="0" err="1"/>
              <a:t>setPackagesSuspended</a:t>
            </a:r>
            <a:r>
              <a:rPr lang="en-US" altLang="zh-CN" sz="1600" dirty="0"/>
              <a:t> </a:t>
            </a:r>
            <a:r>
              <a:rPr lang="zh-CN" altLang="en-US" sz="1600" dirty="0" smtClean="0"/>
              <a:t>，给每个应用设置</a:t>
            </a:r>
            <a:r>
              <a:rPr lang="en-US" altLang="zh-CN" sz="1600" dirty="0" smtClean="0"/>
              <a:t>FLAG_SUSPENDED</a:t>
            </a:r>
          </a:p>
          <a:p>
            <a:pPr marL="342900" indent="-342900">
              <a:buAutoNum type="arabicPeriod"/>
            </a:pPr>
            <a:r>
              <a:rPr lang="en-US" altLang="zh-CN" sz="1600" dirty="0" smtClean="0"/>
              <a:t> </a:t>
            </a:r>
            <a:r>
              <a:rPr lang="zh-CN" altLang="en-US" sz="1600" dirty="0" smtClean="0"/>
              <a:t>这样所有的应用都不能启动了。为了能允许用户场景下启动应用，需要修改</a:t>
            </a:r>
            <a:r>
              <a:rPr lang="en-US" altLang="zh-CN" sz="1600" dirty="0" smtClean="0"/>
              <a:t>AMS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pPr marL="342900" indent="-342900">
              <a:buAutoNum type="arabicPeriod"/>
            </a:pPr>
            <a:endParaRPr lang="en-US" altLang="zh-CN" sz="1600" dirty="0"/>
          </a:p>
          <a:p>
            <a:r>
              <a:rPr lang="en-US" altLang="zh-CN" sz="1600" dirty="0" smtClean="0"/>
              <a:t> </a:t>
            </a:r>
            <a:r>
              <a:rPr lang="en-US" altLang="zh-CN" sz="1600" dirty="0"/>
              <a:t>ActivityStarter.java </a:t>
            </a:r>
            <a:r>
              <a:rPr lang="en-US" altLang="zh-CN" sz="1600" dirty="0" err="1"/>
              <a:t>startActivity</a:t>
            </a:r>
            <a:r>
              <a:rPr lang="en-US" altLang="zh-CN" sz="1600" dirty="0"/>
              <a:t> </a:t>
            </a:r>
            <a:r>
              <a:rPr lang="zh-CN" altLang="zh-CN" sz="1600" dirty="0" smtClean="0"/>
              <a:t>函数</a:t>
            </a:r>
            <a:r>
              <a:rPr lang="zh-CN" altLang="en-US" sz="1600" dirty="0" smtClean="0"/>
              <a:t>：</a:t>
            </a:r>
            <a:endParaRPr lang="en-US" altLang="zh-CN" sz="1600" dirty="0" smtClean="0"/>
          </a:p>
          <a:p>
            <a:r>
              <a:rPr lang="en-US" altLang="zh-CN" sz="1600" dirty="0"/>
              <a:t>   </a:t>
            </a:r>
            <a:r>
              <a:rPr lang="en-US" altLang="zh-CN" sz="1600" dirty="0" err="1" smtClean="0"/>
              <a:t>mInterceptor.intercept</a:t>
            </a:r>
            <a:r>
              <a:rPr lang="zh-CN" altLang="en-US" sz="1600" dirty="0" smtClean="0"/>
              <a:t>里面，判断如果是从</a:t>
            </a:r>
            <a:r>
              <a:rPr lang="en-US" altLang="zh-CN" sz="1600" dirty="0" smtClean="0"/>
              <a:t>VR</a:t>
            </a:r>
            <a:r>
              <a:rPr lang="zh-CN" altLang="en-US" sz="1600" dirty="0"/>
              <a:t>、</a:t>
            </a:r>
            <a:r>
              <a:rPr lang="en-US" altLang="zh-CN" sz="1600" dirty="0" smtClean="0"/>
              <a:t>Launcher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systemUI</a:t>
            </a:r>
            <a:r>
              <a:rPr lang="zh-CN" altLang="en-US" sz="1600" dirty="0" smtClean="0"/>
              <a:t>或正处于前台的应用启动，则解除</a:t>
            </a:r>
            <a:r>
              <a:rPr lang="en-US" altLang="zh-CN" sz="1600" dirty="0" smtClean="0"/>
              <a:t>FLAG_SUSPENDED</a:t>
            </a:r>
            <a:r>
              <a:rPr lang="zh-CN" altLang="en-US" sz="1600" dirty="0" smtClean="0"/>
              <a:t>，并让</a:t>
            </a:r>
            <a:r>
              <a:rPr lang="en-US" altLang="zh-CN" sz="1600" dirty="0" smtClean="0"/>
              <a:t>intercept</a:t>
            </a:r>
            <a:r>
              <a:rPr lang="zh-CN" altLang="en-US" sz="1600" dirty="0" smtClean="0"/>
              <a:t>返回</a:t>
            </a:r>
            <a:r>
              <a:rPr lang="en-US" altLang="zh-CN" sz="1600" dirty="0" smtClean="0"/>
              <a:t>false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endParaRPr lang="en-US" altLang="zh-CN" sz="1600" dirty="0"/>
          </a:p>
          <a:p>
            <a:r>
              <a:rPr lang="en-US" altLang="zh-CN" sz="1600" dirty="0" smtClean="0"/>
              <a:t>5.  </a:t>
            </a:r>
            <a:r>
              <a:rPr lang="zh-CN" altLang="en-US" sz="1600" dirty="0" smtClean="0"/>
              <a:t>第</a:t>
            </a:r>
            <a:r>
              <a:rPr lang="en-US" altLang="zh-CN" sz="1600" dirty="0" smtClean="0"/>
              <a:t>4</a:t>
            </a:r>
            <a:r>
              <a:rPr lang="zh-CN" altLang="en-US" sz="1600" dirty="0" smtClean="0"/>
              <a:t>步可能会漏掉一部分用户场景。但是我们无法判断</a:t>
            </a:r>
            <a:r>
              <a:rPr lang="en-US" altLang="zh-CN" sz="1600" dirty="0" err="1" smtClean="0"/>
              <a:t>startActivity</a:t>
            </a:r>
            <a:r>
              <a:rPr lang="zh-CN" altLang="en-US" sz="1600" dirty="0" smtClean="0"/>
              <a:t>是来自点击，还是应用自己内部在后台启动。需要自定义一个</a:t>
            </a:r>
            <a:r>
              <a:rPr lang="en-US" altLang="zh-CN" sz="1600" dirty="0" smtClean="0"/>
              <a:t>flag</a:t>
            </a:r>
            <a:r>
              <a:rPr lang="zh-CN" altLang="en-US" sz="1600" dirty="0" smtClean="0"/>
              <a:t>，如：</a:t>
            </a:r>
            <a:r>
              <a:rPr lang="en-US" altLang="zh-CN" sz="1600" dirty="0" smtClean="0"/>
              <a:t>FLAG_AUTOREMOVE_SUSPEND</a:t>
            </a:r>
            <a:r>
              <a:rPr lang="zh-CN" altLang="en-US" sz="1600" dirty="0" smtClean="0"/>
              <a:t>。要求</a:t>
            </a:r>
            <a:r>
              <a:rPr lang="en-US" altLang="zh-CN" sz="1600" dirty="0" smtClean="0"/>
              <a:t>app</a:t>
            </a:r>
            <a:r>
              <a:rPr lang="zh-CN" altLang="en-US" sz="1600" dirty="0" smtClean="0"/>
              <a:t>协助修改，在</a:t>
            </a:r>
            <a:r>
              <a:rPr lang="en-US" altLang="zh-CN" sz="1600" dirty="0" smtClean="0"/>
              <a:t>click</a:t>
            </a:r>
            <a:r>
              <a:rPr lang="zh-CN" altLang="en-US" sz="1600" dirty="0" smtClean="0"/>
              <a:t>事件里把</a:t>
            </a:r>
            <a:r>
              <a:rPr lang="en-US" altLang="zh-CN" sz="1600" dirty="0" smtClean="0"/>
              <a:t>flag</a:t>
            </a:r>
            <a:r>
              <a:rPr lang="zh-CN" altLang="en-US" sz="1600" dirty="0" smtClean="0"/>
              <a:t>加到</a:t>
            </a:r>
            <a:r>
              <a:rPr lang="en-US" altLang="zh-CN" sz="1600" dirty="0" smtClean="0"/>
              <a:t>intent</a:t>
            </a:r>
            <a:r>
              <a:rPr lang="zh-CN" altLang="en-US" sz="1600" dirty="0" smtClean="0"/>
              <a:t>。</a:t>
            </a:r>
            <a:endParaRPr lang="en-US" altLang="zh-CN" sz="1600" dirty="0"/>
          </a:p>
          <a:p>
            <a:endParaRPr lang="en-US" altLang="zh-CN" sz="1600" dirty="0" smtClean="0"/>
          </a:p>
          <a:p>
            <a:pPr marL="342900" indent="-342900">
              <a:buAutoNum type="arabicPeriod"/>
            </a:pPr>
            <a:endParaRPr lang="en-US" altLang="zh-CN" sz="16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433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6"/>
          <p:cNvSpPr txBox="1"/>
          <p:nvPr/>
        </p:nvSpPr>
        <p:spPr>
          <a:xfrm>
            <a:off x="2411760" y="2392432"/>
            <a:ext cx="5112568" cy="8925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sym typeface="Arial" panose="020B0604020202020204" pitchFamily="34" charset="0"/>
              </a:rPr>
              <a:t>感谢聆听 批评指导</a:t>
            </a:r>
            <a:endParaRPr lang="en-US" sz="40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2095500" y="2641600"/>
            <a:ext cx="5644852" cy="631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50181" tIns="75091" rIns="150181" bIns="75091"/>
          <a:lstStyle/>
          <a:p>
            <a:pPr defTabSz="882650">
              <a:spcBef>
                <a:spcPct val="20000"/>
              </a:spcBef>
            </a:pPr>
            <a:r>
              <a:rPr lang="zh-CN" altLang="en-US" sz="4000" dirty="0">
                <a:solidFill>
                  <a:schemeClr val="bg1"/>
                </a:solidFill>
                <a:latin typeface="Calibri" panose="020F0502020204030204" pitchFamily="34" charset="0"/>
              </a:rPr>
              <a:t>会议结束，谢谢大家</a:t>
            </a:r>
          </a:p>
        </p:txBody>
      </p:sp>
      <p:sp>
        <p:nvSpPr>
          <p:cNvPr id="14" name="文本框 1"/>
          <p:cNvSpPr txBox="1"/>
          <p:nvPr/>
        </p:nvSpPr>
        <p:spPr>
          <a:xfrm>
            <a:off x="2595155" y="2875002"/>
            <a:ext cx="3953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600" dirty="0" smtClean="0">
                <a:solidFill>
                  <a:srgbClr val="0070C0"/>
                </a:solidFill>
              </a:rPr>
              <a:t>Thank you!</a:t>
            </a:r>
            <a:endParaRPr lang="zh-CN" altLang="en-US" sz="6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扬州航盛PPT标准化模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扬州航盛PPT标准化模版</Template>
  <TotalTime>5720</TotalTime>
  <Words>758</Words>
  <Application>Microsoft Office PowerPoint</Application>
  <PresentationFormat>全屏显示(4:3)</PresentationFormat>
  <Paragraphs>101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方正正准黑简体</vt:lpstr>
      <vt:lpstr>黑体</vt:lpstr>
      <vt:lpstr>宋体</vt:lpstr>
      <vt:lpstr>微软雅黑</vt:lpstr>
      <vt:lpstr>Arial</vt:lpstr>
      <vt:lpstr>Calibri</vt:lpstr>
      <vt:lpstr>扬州航盛PPT标准化模版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liqinwen</dc:creator>
  <cp:lastModifiedBy>薛翔宇</cp:lastModifiedBy>
  <cp:revision>782</cp:revision>
  <dcterms:created xsi:type="dcterms:W3CDTF">2016-10-24T03:51:00Z</dcterms:created>
  <dcterms:modified xsi:type="dcterms:W3CDTF">2024-08-23T04:17:32Z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