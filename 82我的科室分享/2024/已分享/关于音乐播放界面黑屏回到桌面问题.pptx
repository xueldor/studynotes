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90" r:id="rId3"/>
    <p:sldId id="315" r:id="rId4"/>
    <p:sldId id="306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21" r:id="rId15"/>
    <p:sldId id="272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1" autoAdjust="0"/>
    <p:restoredTop sz="94712" autoAdjust="0"/>
  </p:normalViewPr>
  <p:slideViewPr>
    <p:cSldViewPr>
      <p:cViewPr varScale="1">
        <p:scale>
          <a:sx n="116" d="100"/>
          <a:sy n="116" d="100"/>
        </p:scale>
        <p:origin x="148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49F0E-5FC9-4776-8E1A-89FF7E51029B}" type="datetimeFigureOut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0BE65-9758-4DE9-9F00-F2710704B0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86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50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529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15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816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241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14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281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933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174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447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5386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205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3434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40BE65-9758-4DE9-9F00-F2710704B02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61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7"/>
          <p:cNvSpPr/>
          <p:nvPr userDrawn="1"/>
        </p:nvSpPr>
        <p:spPr>
          <a:xfrm>
            <a:off x="6637336" y="3"/>
            <a:ext cx="1157991" cy="409039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>
            <a:blip r:embed="rId2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0"/>
          <p:cNvSpPr/>
          <p:nvPr userDrawn="1"/>
        </p:nvSpPr>
        <p:spPr>
          <a:xfrm>
            <a:off x="7666913" y="1"/>
            <a:ext cx="662532" cy="409040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3" cstate="email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7"/>
          <p:cNvSpPr/>
          <p:nvPr userDrawn="1"/>
        </p:nvSpPr>
        <p:spPr>
          <a:xfrm>
            <a:off x="8191242" y="3"/>
            <a:ext cx="952758" cy="409039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7"/>
          <p:cNvSpPr/>
          <p:nvPr userDrawn="1"/>
        </p:nvSpPr>
        <p:spPr>
          <a:xfrm>
            <a:off x="6" y="-1"/>
            <a:ext cx="6770939" cy="409040"/>
          </a:xfrm>
          <a:custGeom>
            <a:avLst/>
            <a:gdLst/>
            <a:ahLst/>
            <a:cxnLst/>
            <a:rect l="l" t="t" r="r" b="b"/>
            <a:pathLst>
              <a:path w="6770939" h="409040">
                <a:moveTo>
                  <a:pt x="0" y="0"/>
                </a:moveTo>
                <a:lnTo>
                  <a:pt x="5760043" y="0"/>
                </a:lnTo>
                <a:lnTo>
                  <a:pt x="5768255" y="0"/>
                </a:lnTo>
                <a:lnTo>
                  <a:pt x="5868144" y="0"/>
                </a:lnTo>
                <a:lnTo>
                  <a:pt x="6359516" y="0"/>
                </a:lnTo>
                <a:lnTo>
                  <a:pt x="6770939" y="0"/>
                </a:lnTo>
                <a:lnTo>
                  <a:pt x="6615633" y="409039"/>
                </a:lnTo>
                <a:lnTo>
                  <a:pt x="6204210" y="409039"/>
                </a:lnTo>
                <a:lnTo>
                  <a:pt x="5868144" y="409039"/>
                </a:lnTo>
                <a:lnTo>
                  <a:pt x="5868144" y="409040"/>
                </a:lnTo>
                <a:lnTo>
                  <a:pt x="0" y="409040"/>
                </a:lnTo>
                <a:close/>
              </a:path>
            </a:pathLst>
          </a:cu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876256" y="6521639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032B2-4DBE-4785-835A-DDEAC061235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1" name="矩形 7"/>
          <p:cNvSpPr/>
          <p:nvPr userDrawn="1"/>
        </p:nvSpPr>
        <p:spPr>
          <a:xfrm>
            <a:off x="4427989" y="-1"/>
            <a:ext cx="2342955" cy="409040"/>
          </a:xfrm>
          <a:custGeom>
            <a:avLst/>
            <a:gdLst/>
            <a:ahLst/>
            <a:cxnLst/>
            <a:rect l="l" t="t" r="r" b="b"/>
            <a:pathLst>
              <a:path w="2342955" h="409040">
                <a:moveTo>
                  <a:pt x="902795" y="0"/>
                </a:moveTo>
                <a:lnTo>
                  <a:pt x="1332059" y="0"/>
                </a:lnTo>
                <a:lnTo>
                  <a:pt x="1340271" y="0"/>
                </a:lnTo>
                <a:lnTo>
                  <a:pt x="1440160" y="0"/>
                </a:lnTo>
                <a:lnTo>
                  <a:pt x="1931532" y="0"/>
                </a:lnTo>
                <a:lnTo>
                  <a:pt x="2342955" y="0"/>
                </a:lnTo>
                <a:lnTo>
                  <a:pt x="2187649" y="409039"/>
                </a:lnTo>
                <a:lnTo>
                  <a:pt x="1776226" y="409039"/>
                </a:lnTo>
                <a:lnTo>
                  <a:pt x="1440160" y="409039"/>
                </a:lnTo>
                <a:lnTo>
                  <a:pt x="1440160" y="409040"/>
                </a:lnTo>
                <a:lnTo>
                  <a:pt x="0" y="409040"/>
                </a:lnTo>
                <a:lnTo>
                  <a:pt x="0" y="409039"/>
                </a:lnTo>
                <a:lnTo>
                  <a:pt x="336066" y="409039"/>
                </a:lnTo>
                <a:lnTo>
                  <a:pt x="747489" y="409039"/>
                </a:lnTo>
                <a:close/>
              </a:path>
            </a:pathLst>
          </a:custGeom>
          <a:solidFill>
            <a:srgbClr val="558ED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0" y="6525344"/>
            <a:ext cx="6912000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6948264" y="6525345"/>
            <a:ext cx="2195736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2024/6/12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7"/>
          <p:cNvSpPr/>
          <p:nvPr/>
        </p:nvSpPr>
        <p:spPr>
          <a:xfrm>
            <a:off x="2343642" y="1804954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 dpi="0" rotWithShape="1">
            <a:blip r:embed="rId6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10"/>
          <p:cNvSpPr/>
          <p:nvPr/>
        </p:nvSpPr>
        <p:spPr>
          <a:xfrm>
            <a:off x="5158815" y="1804954"/>
            <a:ext cx="1839848" cy="1135901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7" cstate="print"/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7"/>
          <p:cNvSpPr/>
          <p:nvPr/>
        </p:nvSpPr>
        <p:spPr>
          <a:xfrm>
            <a:off x="6162746" y="1660936"/>
            <a:ext cx="2981261" cy="1279917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7"/>
          <p:cNvSpPr/>
          <p:nvPr/>
        </p:nvSpPr>
        <p:spPr>
          <a:xfrm>
            <a:off x="7" y="1804951"/>
            <a:ext cx="3203279" cy="1296144"/>
          </a:xfrm>
          <a:custGeom>
            <a:avLst/>
            <a:gdLst/>
            <a:ahLst/>
            <a:cxnLst/>
            <a:rect l="l" t="t" r="r" b="b"/>
            <a:pathLst>
              <a:path w="3063717" h="1239673">
                <a:moveTo>
                  <a:pt x="0" y="0"/>
                </a:moveTo>
                <a:lnTo>
                  <a:pt x="24887" y="0"/>
                </a:lnTo>
                <a:lnTo>
                  <a:pt x="1816819" y="0"/>
                </a:lnTo>
                <a:lnTo>
                  <a:pt x="3063717" y="0"/>
                </a:lnTo>
                <a:lnTo>
                  <a:pt x="2593030" y="1239673"/>
                </a:lnTo>
                <a:lnTo>
                  <a:pt x="1346133" y="1239673"/>
                </a:lnTo>
                <a:lnTo>
                  <a:pt x="0" y="1239673"/>
                </a:lnTo>
                <a:close/>
              </a:path>
            </a:pathLst>
          </a:cu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4" descr="F:\朱建华工作文档\公司餐椅\航盛LOGO.pn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200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554" y="117766"/>
            <a:ext cx="2528596" cy="696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矩形 7"/>
          <p:cNvSpPr/>
          <p:nvPr/>
        </p:nvSpPr>
        <p:spPr>
          <a:xfrm>
            <a:off x="3049247" y="0"/>
            <a:ext cx="3113499" cy="866630"/>
          </a:xfrm>
          <a:custGeom>
            <a:avLst/>
            <a:gdLst/>
            <a:ahLst/>
            <a:cxnLst/>
            <a:rect l="l" t="t" r="r" b="b"/>
            <a:pathLst>
              <a:path w="3113499" h="866630">
                <a:moveTo>
                  <a:pt x="329047" y="0"/>
                </a:moveTo>
                <a:lnTo>
                  <a:pt x="3113499" y="0"/>
                </a:lnTo>
                <a:lnTo>
                  <a:pt x="2784451" y="866630"/>
                </a:lnTo>
                <a:lnTo>
                  <a:pt x="0" y="866630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7"/>
          <p:cNvSpPr/>
          <p:nvPr/>
        </p:nvSpPr>
        <p:spPr>
          <a:xfrm>
            <a:off x="971600" y="5717301"/>
            <a:ext cx="3215737" cy="1135901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solidFill>
            <a:schemeClr val="bg1">
              <a:lumMod val="8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7"/>
          <p:cNvSpPr/>
          <p:nvPr/>
        </p:nvSpPr>
        <p:spPr>
          <a:xfrm>
            <a:off x="0" y="3284984"/>
            <a:ext cx="2343636" cy="1135901"/>
          </a:xfrm>
          <a:custGeom>
            <a:avLst/>
            <a:gdLst/>
            <a:ahLst/>
            <a:cxnLst/>
            <a:rect l="l" t="t" r="r" b="b"/>
            <a:pathLst>
              <a:path w="2343636" h="1135901">
                <a:moveTo>
                  <a:pt x="0" y="0"/>
                </a:moveTo>
                <a:lnTo>
                  <a:pt x="2343636" y="0"/>
                </a:lnTo>
                <a:lnTo>
                  <a:pt x="1912350" y="1135901"/>
                </a:lnTo>
                <a:lnTo>
                  <a:pt x="0" y="1135901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rvalds/linux/commit/c2da19ed50554ce52ecbad3655c98371fe58599f?open_in_browser=true&#65289;&#65292;&#27492;patch&#24050;&#32463;&#20110;4&#26376;3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hyperlink" Target="http://thread.cc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9592" y="3573016"/>
            <a:ext cx="78843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关于</a:t>
            </a:r>
            <a:r>
              <a:rPr lang="zh-CN" altLang="en-US" sz="4400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音乐播放界面黑屏回到桌面</a:t>
            </a:r>
            <a:r>
              <a:rPr lang="zh-CN" altLang="en-US" sz="4400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endParaRPr lang="en-US" altLang="zh-CN" sz="3200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948264" y="5661248"/>
            <a:ext cx="1835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dirty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编写</a:t>
            </a:r>
            <a:r>
              <a:rPr lang="zh-CN" altLang="en-US" dirty="0" smtClean="0">
                <a:gradFill flip="none" rotWithShape="1">
                  <a:gsLst>
                    <a:gs pos="0">
                      <a:srgbClr val="0070C0">
                        <a:shade val="30000"/>
                        <a:satMod val="115000"/>
                      </a:srgbClr>
                    </a:gs>
                    <a:gs pos="50000">
                      <a:srgbClr val="0070C0">
                        <a:shade val="67500"/>
                        <a:satMod val="115000"/>
                      </a:srgbClr>
                    </a:gs>
                    <a:gs pos="100000">
                      <a:srgbClr val="0070C0"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人：薛翔宇</a:t>
            </a:r>
            <a:endParaRPr lang="en-US" altLang="zh-CN" dirty="0"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16200000" scaled="1"/>
                <a:tileRect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 rot="10800000" flipV="1">
            <a:off x="2241113" y="1412775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01</a:t>
            </a:r>
            <a:endParaRPr kumimoji="1" lang="zh-CN" altLang="en-US" sz="1600" b="1" dirty="0"/>
          </a:p>
        </p:txBody>
      </p:sp>
      <p:sp>
        <p:nvSpPr>
          <p:cNvPr id="7" name="椭圆 6"/>
          <p:cNvSpPr/>
          <p:nvPr/>
        </p:nvSpPr>
        <p:spPr>
          <a:xfrm rot="10800000" flipV="1">
            <a:off x="2263900" y="3285685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03</a:t>
            </a:r>
            <a:endParaRPr kumimoji="1" lang="zh-CN" altLang="en-US" sz="1600" b="1" dirty="0"/>
          </a:p>
        </p:txBody>
      </p:sp>
      <p:sp>
        <p:nvSpPr>
          <p:cNvPr id="8" name="文本框 79"/>
          <p:cNvSpPr txBox="1"/>
          <p:nvPr/>
        </p:nvSpPr>
        <p:spPr>
          <a:xfrm>
            <a:off x="3031286" y="1465200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39"/>
          <p:cNvSpPr txBox="1"/>
          <p:nvPr/>
        </p:nvSpPr>
        <p:spPr>
          <a:xfrm>
            <a:off x="806907" y="2061530"/>
            <a:ext cx="842013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032940" y="1268760"/>
            <a:ext cx="45574" cy="446449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240"/>
            <a:ext cx="1648920" cy="2088232"/>
          </a:xfrm>
          <a:prstGeom prst="rect">
            <a:avLst/>
          </a:prstGeom>
        </p:spPr>
      </p:pic>
      <p:sp>
        <p:nvSpPr>
          <p:cNvPr id="12" name="文本框 79"/>
          <p:cNvSpPr txBox="1"/>
          <p:nvPr/>
        </p:nvSpPr>
        <p:spPr>
          <a:xfrm>
            <a:off x="3017593" y="3338111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 rot="10800000" flipV="1">
            <a:off x="2251930" y="2279844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02</a:t>
            </a:r>
            <a:endParaRPr kumimoji="1" lang="zh-CN" altLang="en-US" sz="1600" b="1" dirty="0"/>
          </a:p>
        </p:txBody>
      </p:sp>
      <p:sp>
        <p:nvSpPr>
          <p:cNvPr id="14" name="文本框 79"/>
          <p:cNvSpPr txBox="1"/>
          <p:nvPr/>
        </p:nvSpPr>
        <p:spPr>
          <a:xfrm>
            <a:off x="3028276" y="2384695"/>
            <a:ext cx="55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28276" y="4163722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 rot="10800000" flipV="1">
            <a:off x="2275541" y="4152754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04</a:t>
            </a:r>
            <a:endParaRPr kumimoji="1" lang="zh-CN" altLang="en-US" sz="1600" b="1" dirty="0"/>
          </a:p>
        </p:txBody>
      </p:sp>
      <p:sp>
        <p:nvSpPr>
          <p:cNvPr id="15" name="椭圆 14"/>
          <p:cNvSpPr/>
          <p:nvPr/>
        </p:nvSpPr>
        <p:spPr>
          <a:xfrm rot="10800000" flipV="1">
            <a:off x="2282989" y="5019822"/>
            <a:ext cx="568308" cy="566515"/>
          </a:xfrm>
          <a:prstGeom prst="ellipse">
            <a:avLst/>
          </a:prstGeom>
          <a:solidFill>
            <a:srgbClr val="005A9E"/>
          </a:solidFill>
          <a:ln>
            <a:noFill/>
          </a:ln>
          <a:effectLst>
            <a:outerShdw blurRad="292100" dist="215900" dir="708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1600" b="1" dirty="0" smtClean="0"/>
              <a:t>05</a:t>
            </a:r>
            <a:endParaRPr kumimoji="1" lang="zh-CN" altLang="en-US" sz="1600" b="1" dirty="0"/>
          </a:p>
        </p:txBody>
      </p:sp>
      <p:sp>
        <p:nvSpPr>
          <p:cNvPr id="16" name="矩形 15"/>
          <p:cNvSpPr/>
          <p:nvPr/>
        </p:nvSpPr>
        <p:spPr>
          <a:xfrm>
            <a:off x="3046877" y="5072246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对策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50"/>
                            </p:stCondLst>
                            <p:childTnLst>
                              <p:par>
                                <p:cTn id="3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5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1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/>
      <p:bldP spid="9" grpId="0"/>
      <p:bldP spid="12" grpId="0"/>
      <p:bldP spid="13" grpId="0" animBg="1"/>
      <p:bldP spid="14" grpId="0"/>
      <p:bldP spid="17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5616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9512" y="461664"/>
            <a:ext cx="8352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在</a:t>
            </a:r>
            <a:r>
              <a:rPr lang="en-US" altLang="zh-CN" sz="2800" dirty="0"/>
              <a:t>DV</a:t>
            </a:r>
            <a:r>
              <a:rPr lang="zh-CN" altLang="en-US" sz="2800" dirty="0"/>
              <a:t>实验高温高湿</a:t>
            </a:r>
            <a:r>
              <a:rPr lang="en-US" altLang="zh-CN" sz="2800" dirty="0"/>
              <a:t>1000</a:t>
            </a:r>
            <a:r>
              <a:rPr lang="zh-CN" altLang="en-US" sz="2800" dirty="0"/>
              <a:t>小时实验中，中途出现设备异常重启的情况，目前每周都会出现机器重启黑屏的问题</a:t>
            </a:r>
            <a:r>
              <a:rPr lang="zh-CN" altLang="en-US" sz="2800" dirty="0" smtClean="0"/>
              <a:t>。</a:t>
            </a:r>
            <a:endParaRPr lang="en-US" altLang="zh-CN" sz="2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089890"/>
              </p:ext>
            </p:extLst>
          </p:nvPr>
        </p:nvGraphicFramePr>
        <p:xfrm>
          <a:off x="161779" y="2564904"/>
          <a:ext cx="8874716" cy="2664296"/>
        </p:xfrm>
        <a:graphic>
          <a:graphicData uri="http://schemas.openxmlformats.org/drawingml/2006/table">
            <a:tbl>
              <a:tblPr/>
              <a:tblGrid>
                <a:gridCol w="1588045"/>
                <a:gridCol w="1588045"/>
                <a:gridCol w="2849313"/>
                <a:gridCol w="2849313"/>
              </a:tblGrid>
              <a:tr h="984522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2024/4/16</a:t>
                      </a:r>
                      <a:b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2024/4/19</a:t>
                      </a:r>
                      <a:b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2024/4/27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USB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模式，灰屏重回主界面，重启过程中无</a:t>
                      </a: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logo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显示，直接返回到主界面</a:t>
                      </a:r>
                      <a:endParaRPr lang="zh-CN" alt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内核崩溃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kernel panic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0510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目前反馈无进展</a:t>
                      </a:r>
                      <a:endParaRPr lang="zh-CN" alt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631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USB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模式，灰屏重回主界面，重启过程中无</a:t>
                      </a: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logo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显示，直接返回到主界面</a:t>
                      </a:r>
                      <a:endParaRPr lang="zh-CN" alt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system service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挂了</a:t>
                      </a:r>
                      <a:endParaRPr lang="zh-CN" alt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04/29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初步分析为</a:t>
                      </a: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NETD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进程崩溃，目前无最新进展</a:t>
                      </a:r>
                      <a:endParaRPr lang="zh-CN" alt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45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2024/5/8</a:t>
                      </a:r>
                      <a:endParaRPr 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设备无声</a:t>
                      </a:r>
                      <a:endParaRPr lang="zh-CN" alt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SOC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给功放的</a:t>
                      </a: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CLK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异常，重新刷机后声音恢复正常</a:t>
                      </a:r>
                      <a:endParaRPr lang="zh-CN" altLang="en-US" sz="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目前日志初步分析</a:t>
                      </a:r>
                      <a:r>
                        <a:rPr lang="en-US" sz="70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audioctrlManager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存在多个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client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访问，需要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ATC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进一步调查</a:t>
                      </a:r>
                      <a:endParaRPr lang="zh-CN" altLang="en-US" sz="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319" marR="6319" marT="6319" marB="631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20"/>
          <p:cNvSpPr>
            <a:spLocks noChangeArrowheads="1"/>
          </p:cNvSpPr>
          <p:nvPr/>
        </p:nvSpPr>
        <p:spPr bwMode="auto">
          <a:xfrm>
            <a:off x="161781" y="2984552"/>
            <a:ext cx="102895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1962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79512" y="461664"/>
            <a:ext cx="8568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/>
              <a:t>         </a:t>
            </a:r>
            <a:endParaRPr lang="en-US" altLang="zh-CN" sz="2800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175572"/>
              </p:ext>
            </p:extLst>
          </p:nvPr>
        </p:nvGraphicFramePr>
        <p:xfrm>
          <a:off x="323528" y="836712"/>
          <a:ext cx="7886700" cy="1772194"/>
        </p:xfrm>
        <a:graphic>
          <a:graphicData uri="http://schemas.openxmlformats.org/drawingml/2006/table">
            <a:tbl>
              <a:tblPr/>
              <a:tblGrid>
                <a:gridCol w="1067442"/>
                <a:gridCol w="1067442"/>
                <a:gridCol w="1917272"/>
                <a:gridCol w="1917272"/>
                <a:gridCol w="1917272"/>
              </a:tblGrid>
              <a:tr h="773522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2024/4/16</a:t>
                      </a:r>
                      <a:br>
                        <a:rPr 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2024/4/19</a:t>
                      </a:r>
                      <a:br>
                        <a:rPr 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</a:b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2024/4/27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USB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模式，灰屏重回主界面，重启过程中无</a:t>
                      </a: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logo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显示，直接返回到主界面</a:t>
                      </a:r>
                      <a:endParaRPr lang="zh-CN" altLang="en-US" sz="9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内核崩溃</a:t>
                      </a: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kernel panic</a:t>
                      </a:r>
                      <a:endParaRPr lang="en-US" sz="9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0510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目前反馈无进展</a:t>
                      </a:r>
                      <a:endParaRPr lang="zh-CN" altLang="en-US" sz="9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此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KE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只发生了一次，在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Linux kernel 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查找了一下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Block 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的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patch ，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发现了一个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patch 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有解决这个地方的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KE 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问题（</a:t>
                      </a:r>
                      <a:r>
                        <a:rPr lang="en-US" sz="700" u="none" strike="noStrike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https://github.com/torvalds/linux/commit/c2da19ed50554ce52ecbad3655c98371fe58599f?open_in_browser=true），</a:t>
                      </a:r>
                      <a:r>
                        <a:rPr lang="zh-CN" altLang="en-US" sz="700" u="none" strike="noStrike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此</a:t>
                      </a:r>
                      <a:r>
                        <a:rPr lang="en-US" sz="700" u="none" strike="noStrike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patch</a:t>
                      </a:r>
                      <a:r>
                        <a:rPr lang="zh-CN" altLang="en-US" sz="700" u="none" strike="noStrike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已经于</a:t>
                      </a:r>
                      <a:r>
                        <a:rPr lang="en-US" altLang="zh-CN" sz="700" u="none" strike="noStrike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4</a:t>
                      </a:r>
                      <a:r>
                        <a:rPr lang="zh-CN" altLang="en-US" sz="700" u="none" strike="noStrike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月</a:t>
                      </a:r>
                      <a:r>
                        <a:rPr lang="en-US" altLang="zh-CN" sz="700" u="none" strike="noStrike">
                          <a:solidFill>
                            <a:srgbClr val="00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hlinkClick r:id="rId3"/>
                        </a:rPr>
                        <a:t>30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日合入到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TMEC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分支；</a:t>
                      </a:r>
                      <a:endParaRPr lang="zh-CN" altLang="en-US" sz="9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615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USB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模式，灰屏重回主界面，重启过程中无</a:t>
                      </a:r>
                      <a:r>
                        <a:rPr lang="en-US" altLang="zh-CN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logo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显示，直接返回到主界面</a:t>
                      </a:r>
                      <a:endParaRPr lang="zh-CN" altLang="en-US" sz="9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system service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挂了</a:t>
                      </a:r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04/29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初步分析为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NETD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进程崩溃，目前无最新进展</a:t>
                      </a:r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Netd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进程收到了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signal 9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消息后重启，目前没有找到到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netd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进程崩溃的原因。</a:t>
                      </a:r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25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2024/5/8</a:t>
                      </a:r>
                      <a:endParaRPr lang="en-US" sz="9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设备无声</a:t>
                      </a:r>
                      <a:endParaRPr lang="zh-CN" altLang="en-US" sz="9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SOC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给功放的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CLK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异常，重新刷机后声音恢复正常</a:t>
                      </a:r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目前日志初步分析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audioctrlManager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存在多个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client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访问，需要</a:t>
                      </a:r>
                      <a:r>
                        <a:rPr 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ATC</a:t>
                      </a:r>
                      <a:r>
                        <a:rPr lang="zh-CN" altLang="en-US" sz="7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进一步调查</a:t>
                      </a:r>
                      <a:endParaRPr lang="zh-CN" altLang="en-US" sz="9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906" marR="6906" marT="6906" marB="6906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设备无声的原因没有找到；</a:t>
                      </a:r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关于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audioctrlManager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存在多个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client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访问，我们可以支持</a:t>
                      </a:r>
                      <a:r>
                        <a:rPr lang="en-US" altLang="zh-CN" sz="70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audioctrlManager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让多个</a:t>
                      </a:r>
                      <a:r>
                        <a:rPr lang="en-US" altLang="zh-CN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client</a:t>
                      </a:r>
                      <a:r>
                        <a:rPr lang="zh-CN" altLang="en-US" sz="7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访问，今天开发了相关补丁，乔工今天发给蔡工和张单。请航盛验证。</a:t>
                      </a:r>
                      <a:endParaRPr lang="zh-CN" altLang="en-US" sz="9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886776"/>
              </p:ext>
            </p:extLst>
          </p:nvPr>
        </p:nvGraphicFramePr>
        <p:xfrm>
          <a:off x="323528" y="3429000"/>
          <a:ext cx="7886699" cy="649366"/>
        </p:xfrm>
        <a:graphic>
          <a:graphicData uri="http://schemas.openxmlformats.org/drawingml/2006/table">
            <a:tbl>
              <a:tblPr/>
              <a:tblGrid>
                <a:gridCol w="359470"/>
                <a:gridCol w="1061017"/>
                <a:gridCol w="1060630"/>
                <a:gridCol w="1932636"/>
                <a:gridCol w="3472946"/>
              </a:tblGrid>
              <a:tr h="6493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600" dirty="0" smtClean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2024/5/8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98" marR="5798" marT="5798" marB="579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设备无声</a:t>
                      </a:r>
                      <a:endParaRPr lang="zh-CN" altLang="en-US" sz="7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98" marR="5798" marT="5798" marB="579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SOC</a:t>
                      </a:r>
                      <a:r>
                        <a:rPr lang="zh-CN" alt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给功放的</a:t>
                      </a:r>
                      <a:r>
                        <a:rPr lang="en-US" altLang="zh-CN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CLK</a:t>
                      </a:r>
                      <a:r>
                        <a:rPr lang="zh-CN" alt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异常，重新刷机后声音恢复正常</a:t>
                      </a:r>
                      <a:endParaRPr lang="zh-CN" altLang="en-US" sz="7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98" marR="5798" marT="5798" marB="579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zh-CN" alt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目前日志初步分析</a:t>
                      </a:r>
                      <a:r>
                        <a:rPr 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audioctrlManager</a:t>
                      </a:r>
                      <a:r>
                        <a:rPr lang="zh-CN" alt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存在多个</a:t>
                      </a:r>
                      <a:r>
                        <a:rPr 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client</a:t>
                      </a:r>
                      <a:r>
                        <a:rPr lang="zh-CN" alt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访问，需要</a:t>
                      </a:r>
                      <a:r>
                        <a:rPr 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ATC</a:t>
                      </a:r>
                      <a:r>
                        <a:rPr lang="zh-CN" altLang="en-US" sz="6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进一步调查</a:t>
                      </a:r>
                      <a:endParaRPr lang="zh-CN" altLang="en-US" sz="7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798" marR="5798" marT="5798" marB="579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设备无声的原因；</a:t>
                      </a:r>
                      <a:endParaRPr lang="zh-CN" altLang="en-US" sz="7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航盛开发的脚本</a:t>
                      </a:r>
                      <a:r>
                        <a:rPr 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init.insmod.sh</a:t>
                      </a:r>
                      <a:r>
                        <a:rPr lang="zh-CN" alt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中有如下代码：</a:t>
                      </a:r>
                      <a:endParaRPr lang="zh-CN" altLang="en-US" sz="7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zh-CN" altLang="en-US" sz="7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echo 1 0x11092100 0 &gt;/sys/devices/platform/</a:t>
                      </a:r>
                      <a:r>
                        <a:rPr lang="en-US" sz="60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soc</a:t>
                      </a:r>
                      <a:r>
                        <a:rPr 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/11092800.aud_subsys/</a:t>
                      </a:r>
                      <a:r>
                        <a:rPr lang="en-US" sz="60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atc_alsa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echo 1 0x11092800 0 &gt;/sys/devices/platform/</a:t>
                      </a:r>
                      <a:r>
                        <a:rPr lang="en-US" sz="60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soc</a:t>
                      </a:r>
                      <a:r>
                        <a:rPr 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/11092800.aud_subsys/</a:t>
                      </a:r>
                      <a:r>
                        <a:rPr lang="en-US" sz="60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atc_alsa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en-US" sz="7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这两行会就是关闭</a:t>
                      </a:r>
                      <a:r>
                        <a:rPr 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I2S0，</a:t>
                      </a:r>
                      <a:r>
                        <a:rPr lang="zh-CN" alt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导致机器无声音输出。请航盛那边调整</a:t>
                      </a:r>
                      <a:r>
                        <a:rPr 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init.insmod.sh</a:t>
                      </a:r>
                      <a:r>
                        <a:rPr lang="zh-CN" altLang="en-US" sz="6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脚本。</a:t>
                      </a:r>
                      <a:endParaRPr lang="zh-CN" altLang="en-US" sz="7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23528" y="3429039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37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1098" y="98072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1.</a:t>
            </a:r>
            <a:r>
              <a:rPr kumimoji="0" lang="en-US" altLang="zh-CN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     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ATC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使用脚本循环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 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播放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/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暂停、下一首，监控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A2DPSinkStateMachine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线程数量（保证不超过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5000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）；</a:t>
            </a:r>
            <a:endParaRPr kumimoji="0" lang="zh-CN" altLang="en-US" sz="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2.</a:t>
            </a:r>
            <a:r>
              <a:rPr kumimoji="0" lang="en-US" altLang="zh-CN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     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system_server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的线程观测发现波动较大，即有时候上涨到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900+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之后才突然回落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:</a:t>
            </a:r>
            <a:endParaRPr kumimoji="0" lang="en-US" altLang="zh-CN" sz="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en-US" altLang="zh-CN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en-US" altLang="zh-CN" sz="12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kumimoji="0" lang="en-US" altLang="zh-CN" sz="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       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但总体上没有持续上涨趋势。</a:t>
            </a:r>
            <a:endParaRPr kumimoji="0" lang="zh-CN" altLang="en-US" sz="286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xuexiangyu\AppData\Roaming\Foxmail7\Temp-12496-20240610145137\Attach\image005(06-11-22-09-18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23" y="1171228"/>
            <a:ext cx="10925175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23528" y="5949280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但总体上没有持续上涨趋势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0435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10490" y="563351"/>
            <a:ext cx="8101898" cy="81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com.android.bluetooth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进程的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A2DPSinkStateMachine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线程数量达到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4900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个左右时，系统开始不正常，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adb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logcat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也无法抓取了，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adbd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进程会直接被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Kill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掉：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0" lang="zh-CN" altLang="en-US" sz="19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kumimoji="0" lang="zh-CN" altLang="en-US" sz="245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122" name="Picture 2" descr="native-resource://sdk/image?resource_type=image&amp;key=img_v3_02b7_305b8a30-df88-4d02-967a-c85348ef104g_MIDDLE_WEBP&amp;width=660&amp;height=413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84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xuexiangyu\AppData\Roaming\Foxmail7\Temp-12496-20240610145137\Attach\image011(06-11-22-09-18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700808"/>
            <a:ext cx="63246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219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native-resource://sdk/image?resource_type=image&amp;key=img_v3_02b7_305b8a30-df88-4d02-967a-c85348ef104g_MIDDLE_WEBP&amp;width=660&amp;height=413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84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334384" y="631780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进一步观测过程中，复现了重启问题：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84" y="1135350"/>
            <a:ext cx="10390079" cy="3481909"/>
          </a:xfrm>
          <a:prstGeom prst="rect">
            <a:avLst/>
          </a:prstGeom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7504" y="4843722"/>
            <a:ext cx="845135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综上：</a:t>
            </a:r>
            <a:endParaRPr kumimoji="0" lang="zh-CN" alt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复现系统重启现象，直接表现为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BT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进程线程数量达到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5000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左右，系统就开始明显异常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（当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com.android.bluetooth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线程数量接近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5000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时，系统状态不稳定，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adb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 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logcat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抓取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log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时会非常容易被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kill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——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怀疑当前重启问题和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BT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线程泄露问题是同一直接原因。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928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native-resource://sdk/image?resource_type=image&amp;key=img_v3_02b7_305b8a30-df88-4d02-967a-c85348ef104g_MIDDLE_WEBP&amp;width=660&amp;height=413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84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431772" y="794730"/>
            <a:ext cx="73085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进一步复现临界状态综合分析，初步找到</a:t>
            </a:r>
            <a:r>
              <a:rPr lang="en-US" altLang="zh-CN" dirty="0" err="1">
                <a:solidFill>
                  <a:srgbClr val="0000FF"/>
                </a:solidFill>
                <a:latin typeface="Calibri" panose="020F0502020204030204" pitchFamily="34" charset="0"/>
              </a:rPr>
              <a:t>SystemServer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重启</a:t>
            </a:r>
            <a:r>
              <a:rPr lang="en-US" altLang="zh-CN" dirty="0">
                <a:solidFill>
                  <a:srgbClr val="0000FF"/>
                </a:solidFill>
                <a:latin typeface="Calibri" panose="020F0502020204030204" pitchFamily="34" charset="0"/>
              </a:rPr>
              <a:t>Root Cause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34384" y="1323628"/>
            <a:ext cx="8270064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1)</a:t>
            </a:r>
            <a:r>
              <a:rPr kumimoji="0" lang="en-US" altLang="zh-CN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     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BT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进程泄露达到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5K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左右时，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系统整体线程数接近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kernel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pid_max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默认限制（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8192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后续线程创建时受限于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pid_max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上限无法分配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PID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，导致线程创建失败；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2)</a:t>
            </a:r>
            <a:r>
              <a:rPr kumimoji="0" lang="en-US" altLang="zh-CN" sz="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     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ART 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  <a:hlinkClick r:id="rId4"/>
              </a:rPr>
              <a:t>thread.cc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中创建线程失败时，会抛出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OOM Exception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，导致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SystemServer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等各个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java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进程因为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OOM Exception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crash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重启；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pid_max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的限制较隐蔽，没有相关的错误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log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，也不在默认的系统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limit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观察资源范围内，因此不容易观察到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3" name="Picture 5" descr="C:\Users\xuexiangyu\AppData\Roaming\Foxmail7\Temp-12496-20240610145137\Attach\image013(06-11-22-09-18)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953229"/>
            <a:ext cx="4248150" cy="3638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834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native-resource://sdk/image?resource_type=image&amp;key=img_v3_02b7_305b8a30-df88-4d02-967a-c85348ef104g_MIDDLE_WEBP&amp;width=660&amp;height=413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84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431772" y="794730"/>
            <a:ext cx="79566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pid_max</a:t>
            </a:r>
            <a:r>
              <a:rPr lang="zh-CN" altLang="en-US" dirty="0"/>
              <a:t>的限制，是说</a:t>
            </a:r>
            <a:r>
              <a:rPr lang="en-US" altLang="zh-CN" dirty="0"/>
              <a:t>PID</a:t>
            </a:r>
            <a:r>
              <a:rPr lang="zh-CN" altLang="en-US" dirty="0"/>
              <a:t>分配时，最大的</a:t>
            </a:r>
            <a:r>
              <a:rPr lang="en-US" altLang="zh-CN" dirty="0"/>
              <a:t>PID</a:t>
            </a:r>
            <a:r>
              <a:rPr lang="zh-CN" altLang="en-US" dirty="0"/>
              <a:t>不能超过这个数值（不完全等同线程数量）</a:t>
            </a:r>
            <a:r>
              <a:rPr lang="zh-CN" altLang="en-US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/>
          </a:p>
        </p:txBody>
      </p:sp>
      <p:pic>
        <p:nvPicPr>
          <p:cNvPr id="8194" name="Picture 2" descr="C:\Users\xuexiangyu\AppData\Roaming\Foxmail7\Temp-12496-20240610145137\Attach\image014(06-11-22-09-18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62" y="1476028"/>
            <a:ext cx="5695950" cy="173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014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native-resource://sdk/image?resource_type=image&amp;key=img_v3_02b7_305b8a30-df88-4d02-967a-c85348ef104g_MIDDLE_WEBP&amp;width=660&amp;height=413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84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415796" y="677297"/>
            <a:ext cx="81642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压测时，看到</a:t>
            </a:r>
            <a:r>
              <a:rPr lang="en-US" altLang="zh-CN" dirty="0">
                <a:latin typeface="Calibri" panose="020F0502020204030204" pitchFamily="34" charset="0"/>
              </a:rPr>
              <a:t>BT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线程数泄露到</a:t>
            </a:r>
            <a:r>
              <a:rPr lang="en-US" altLang="zh-CN" dirty="0">
                <a:latin typeface="Calibri" panose="020F0502020204030204" pitchFamily="34" charset="0"/>
              </a:rPr>
              <a:t>5K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左右时，系统线程数量已经超出了</a:t>
            </a:r>
            <a:r>
              <a:rPr lang="en-US" altLang="zh-CN" dirty="0">
                <a:latin typeface="Calibri" panose="020F0502020204030204" pitchFamily="34" charset="0"/>
              </a:rPr>
              <a:t>8192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，因此接下来无法再分配小于</a:t>
            </a:r>
            <a:r>
              <a:rPr lang="en-US" altLang="zh-CN" dirty="0">
                <a:latin typeface="Calibri" panose="020F0502020204030204" pitchFamily="34" charset="0"/>
              </a:rPr>
              <a:t>8192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latin typeface="Calibri" panose="020F0502020204030204" pitchFamily="34" charset="0"/>
              </a:rPr>
              <a:t>PID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，从而导致</a:t>
            </a:r>
            <a:r>
              <a:rPr lang="en-US" altLang="zh-CN" dirty="0">
                <a:latin typeface="Calibri" panose="020F0502020204030204" pitchFamily="34" charset="0"/>
              </a:rPr>
              <a:t>FAIL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/>
          </a:p>
        </p:txBody>
      </p:sp>
      <p:pic>
        <p:nvPicPr>
          <p:cNvPr id="8196" name="Picture 4" descr="C:\Users\xuexiangyu\AppData\Roaming\Foxmail7\Temp-12496-20240610145137\Attach\image015(06-11-22-09-18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07" y="1323628"/>
            <a:ext cx="4953000" cy="519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100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native-resource://sdk/image?resource_type=image&amp;key=img_v3_02b7_305b8a30-df88-4d02-967a-c85348ef104g_MIDDLE_WEBP&amp;width=660&amp;height=413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84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334384" y="514160"/>
            <a:ext cx="81642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正向复现</a:t>
            </a:r>
            <a:r>
              <a:rPr lang="zh-CN" altLang="en-US" dirty="0" smtClean="0"/>
              <a:t>验证</a:t>
            </a:r>
            <a:r>
              <a:rPr lang="en-US" altLang="zh-CN" dirty="0"/>
              <a:t>——</a:t>
            </a:r>
            <a:r>
              <a:rPr lang="zh-CN" altLang="en-US" dirty="0"/>
              <a:t>调大</a:t>
            </a:r>
            <a:r>
              <a:rPr lang="en-US" altLang="zh-CN" dirty="0" err="1"/>
              <a:t>pid_max</a:t>
            </a:r>
            <a:r>
              <a:rPr lang="zh-CN" altLang="en-US" dirty="0"/>
              <a:t>，压测看是否还会在</a:t>
            </a:r>
            <a:r>
              <a:rPr lang="en-US" altLang="zh-CN" dirty="0"/>
              <a:t>BT</a:t>
            </a:r>
            <a:r>
              <a:rPr lang="zh-CN" altLang="en-US" dirty="0"/>
              <a:t>进程达到</a:t>
            </a:r>
            <a:r>
              <a:rPr lang="en-US" altLang="zh-CN" dirty="0"/>
              <a:t>5K</a:t>
            </a:r>
            <a:r>
              <a:rPr lang="zh-CN" altLang="en-US" dirty="0"/>
              <a:t>时系统异常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/>
          </a:p>
        </p:txBody>
      </p:sp>
      <p:pic>
        <p:nvPicPr>
          <p:cNvPr id="9218" name="Picture 2" descr="C:\Users\xuexiangyu\AppData\Roaming\Foxmail7\Temp-12496-20240610145137\Attach\image016(06-11-22-09-18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73" y="935987"/>
            <a:ext cx="7391400" cy="33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C:\Users\xuexiangyu\AppData\Roaming\Foxmail7\Temp-12496-20240610145137\Attach\image017(06-11-22-09-18)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73" y="1321255"/>
            <a:ext cx="6238875" cy="441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107504" y="5949280"/>
            <a:ext cx="88670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初步验证，系统在</a:t>
            </a:r>
            <a:r>
              <a:rPr lang="en-US" altLang="zh-CN" dirty="0">
                <a:latin typeface="Calibri" panose="020F0502020204030204" pitchFamily="34" charset="0"/>
              </a:rPr>
              <a:t>BT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线程数超过</a:t>
            </a:r>
            <a:r>
              <a:rPr lang="en-US" altLang="zh-CN" dirty="0">
                <a:latin typeface="Calibri" panose="020F0502020204030204" pitchFamily="34" charset="0"/>
              </a:rPr>
              <a:t>5700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个后仍然正常（之前</a:t>
            </a:r>
            <a:r>
              <a:rPr lang="en-US" altLang="zh-CN" dirty="0">
                <a:latin typeface="Calibri" panose="020F0502020204030204" pitchFamily="34" charset="0"/>
              </a:rPr>
              <a:t>HSAE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的压测结果，以及本地复现结果均会在</a:t>
            </a:r>
            <a:r>
              <a:rPr lang="en-US" altLang="zh-CN" dirty="0">
                <a:latin typeface="Calibri" panose="020F0502020204030204" pitchFamily="34" charset="0"/>
              </a:rPr>
              <a:t>5000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这个临界情况后系统重启）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184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native-resource://sdk/image?resource_type=image&amp;key=img_v3_02b7_305b8a30-df88-4d02-967a-c85348ef104g_MIDDLE_WEBP&amp;width=660&amp;height=413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84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334384" y="514160"/>
            <a:ext cx="81642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逆向复现验证</a:t>
            </a:r>
            <a:r>
              <a:rPr lang="en-US" altLang="zh-CN" dirty="0"/>
              <a:t>——</a:t>
            </a:r>
            <a:r>
              <a:rPr lang="zh-CN" altLang="en-US" dirty="0"/>
              <a:t>调小</a:t>
            </a:r>
            <a:r>
              <a:rPr lang="en-US" altLang="zh-CN" dirty="0" err="1"/>
              <a:t>pid_max</a:t>
            </a:r>
            <a:r>
              <a:rPr lang="zh-CN" altLang="en-US" dirty="0"/>
              <a:t>，看正常系统是否可以很快复现同类异常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dirty="0"/>
          </a:p>
        </p:txBody>
      </p:sp>
      <p:pic>
        <p:nvPicPr>
          <p:cNvPr id="11266" name="Picture 2" descr="C:\Users\xuexiangyu\AppData\Roaming\Foxmail7\Temp-12496-20240610145137\Attach\image018(06-11-22-09-18)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48" y="952152"/>
            <a:ext cx="8782050" cy="104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279372" y="2099893"/>
            <a:ext cx="87571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如上修改，接下来系统在创建线程时，不再能够分配大于</a:t>
            </a:r>
            <a:r>
              <a:rPr lang="en-US" altLang="zh-CN" dirty="0">
                <a:latin typeface="Calibri" panose="020F0502020204030204" pitchFamily="34" charset="0"/>
              </a:rPr>
              <a:t>800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>
                <a:latin typeface="Calibri" panose="020F0502020204030204" pitchFamily="34" charset="0"/>
              </a:rPr>
              <a:t>PID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，结果很容易就复现了类似的</a:t>
            </a:r>
            <a:r>
              <a:rPr lang="en-US" altLang="zh-CN" dirty="0">
                <a:latin typeface="Calibri" panose="020F0502020204030204" pitchFamily="34" charset="0"/>
              </a:rPr>
              <a:t>OOM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52" y="2795666"/>
            <a:ext cx="8038095" cy="12666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4" y="4221088"/>
            <a:ext cx="9704762" cy="1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936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p:pic>
        <p:nvPicPr>
          <p:cNvPr id="4098" name="Picture 2" descr="native-resource://sdk/image?resource_type=image&amp;key=img_v3_02b7_b292eb0f-950f-49d2-89df-07c1c94fd64g_MIDDLE_WEBP&amp;width=1147&amp;height=480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373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native-resource://sdk/image?resource_type=image&amp;key=img_v3_02b7_305b8a30-df88-4d02-967a-c85348ef104g_MIDDLE_WEBP&amp;width=660&amp;height=413&amp;gif_optimize=tr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84" y="117122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16397" y="938166"/>
            <a:ext cx="81642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BT</a:t>
            </a:r>
            <a:r>
              <a:rPr lang="zh-CN" altLang="en-US" dirty="0"/>
              <a:t>线程数</a:t>
            </a:r>
            <a:r>
              <a:rPr lang="zh-CN" altLang="en-US" dirty="0" smtClean="0"/>
              <a:t>泄露</a:t>
            </a:r>
            <a:r>
              <a:rPr lang="en-US" altLang="zh-CN" dirty="0" smtClean="0"/>
              <a:t>,</a:t>
            </a:r>
            <a:r>
              <a:rPr lang="zh-CN" altLang="en-US" dirty="0" smtClean="0"/>
              <a:t>系统整体的线程数量临近最大值</a:t>
            </a:r>
            <a:endParaRPr lang="en-US" altLang="zh-CN" dirty="0" smtClean="0"/>
          </a:p>
          <a:p>
            <a:r>
              <a:rPr lang="en-US" altLang="zh-CN" dirty="0" smtClean="0"/>
              <a:t>--》</a:t>
            </a:r>
            <a:r>
              <a:rPr lang="zh-CN" altLang="en-US" dirty="0"/>
              <a:t>后续线程创建</a:t>
            </a:r>
            <a:r>
              <a:rPr lang="zh-CN" altLang="en-US" dirty="0" smtClean="0"/>
              <a:t>时无法</a:t>
            </a:r>
            <a:r>
              <a:rPr lang="zh-CN" altLang="en-US" dirty="0"/>
              <a:t>分配</a:t>
            </a:r>
            <a:r>
              <a:rPr lang="en-US" altLang="zh-CN" dirty="0"/>
              <a:t>PID</a:t>
            </a:r>
            <a:r>
              <a:rPr lang="zh-CN" altLang="en-US" dirty="0"/>
              <a:t>，导致线程创建</a:t>
            </a:r>
            <a:r>
              <a:rPr lang="zh-CN" altLang="en-US" dirty="0" smtClean="0"/>
              <a:t>失败</a:t>
            </a:r>
            <a:endParaRPr lang="en-US" altLang="zh-CN" dirty="0" smtClean="0"/>
          </a:p>
          <a:p>
            <a:r>
              <a:rPr lang="en-US" altLang="zh-CN" dirty="0" smtClean="0"/>
              <a:t>--》</a:t>
            </a:r>
            <a:r>
              <a:rPr lang="zh-CN" altLang="en-US" dirty="0"/>
              <a:t>系统状态</a:t>
            </a:r>
            <a:r>
              <a:rPr lang="zh-CN" altLang="en-US" dirty="0" smtClean="0"/>
              <a:t>不稳定，</a:t>
            </a:r>
            <a:r>
              <a:rPr lang="en-US" altLang="zh-CN" dirty="0" err="1"/>
              <a:t>SystemServer</a:t>
            </a:r>
            <a:r>
              <a:rPr lang="zh-CN" altLang="en-US" dirty="0"/>
              <a:t>等各个</a:t>
            </a:r>
            <a:r>
              <a:rPr lang="en-US" altLang="zh-CN" dirty="0"/>
              <a:t>java</a:t>
            </a:r>
            <a:r>
              <a:rPr lang="zh-CN" altLang="en-US" dirty="0" smtClean="0"/>
              <a:t>进程</a:t>
            </a:r>
            <a:r>
              <a:rPr lang="en-US" altLang="zh-CN" dirty="0" smtClean="0"/>
              <a:t>crash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adb</a:t>
            </a:r>
            <a:r>
              <a:rPr lang="zh-CN" altLang="en-US" dirty="0" smtClean="0"/>
              <a:t>端口，桌面重启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1322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7504" y="0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79512" y="461664"/>
            <a:ext cx="8352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关于</a:t>
            </a:r>
            <a:r>
              <a:rPr lang="en-US" altLang="zh-CN" sz="2800" dirty="0" err="1"/>
              <a:t>pid_max</a:t>
            </a:r>
            <a:r>
              <a:rPr lang="zh-CN" altLang="en-US" sz="2800" dirty="0"/>
              <a:t>默认值：</a:t>
            </a:r>
            <a:r>
              <a:rPr lang="en-US" altLang="zh-CN" sz="2800" dirty="0"/>
              <a:t>kernel</a:t>
            </a:r>
            <a:r>
              <a:rPr lang="zh-CN" altLang="en-US" sz="2800" dirty="0"/>
              <a:t>默认根据</a:t>
            </a:r>
            <a:r>
              <a:rPr lang="en-US" altLang="zh-CN" sz="2800" dirty="0" err="1"/>
              <a:t>cpu</a:t>
            </a:r>
            <a:r>
              <a:rPr lang="zh-CN" altLang="en-US" sz="2800" dirty="0"/>
              <a:t>数量算出来的：</a:t>
            </a:r>
            <a:r>
              <a:rPr lang="en-US" altLang="zh-CN" sz="2800" dirty="0" err="1"/>
              <a:t>cpu</a:t>
            </a:r>
            <a:r>
              <a:rPr lang="zh-CN" altLang="en-US" sz="2800" dirty="0"/>
              <a:t>数量 </a:t>
            </a:r>
            <a:r>
              <a:rPr lang="en-US" altLang="zh-CN" sz="2800" dirty="0"/>
              <a:t>x 1024——AC8025</a:t>
            </a:r>
            <a:r>
              <a:rPr lang="zh-CN" altLang="en-US" sz="2800" dirty="0"/>
              <a:t>上就是 </a:t>
            </a:r>
            <a:r>
              <a:rPr lang="en-US" altLang="zh-CN" sz="2800" dirty="0"/>
              <a:t>8 x 1024 = 8192</a:t>
            </a:r>
          </a:p>
        </p:txBody>
      </p:sp>
      <p:pic>
        <p:nvPicPr>
          <p:cNvPr id="12290" name="Picture 2" descr="C:\Users\xuexiangyu\AppData\Roaming\Foxmail7\Temp-12496-20240610145137\Attach\image020(06-11-22-09-18)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916832"/>
            <a:ext cx="9577064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70225" y="5304492"/>
            <a:ext cx="836221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总结：</a:t>
            </a:r>
            <a:endParaRPr kumimoji="0" lang="zh-CN" alt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pid_max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kernel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原生设计的默认大小，当前平台正常运行时线程数量未见受限，因此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优先处理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BT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进程线程泄露问题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，暂不考虑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pid_max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的调整。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335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6"/>
          <p:cNvSpPr txBox="1"/>
          <p:nvPr/>
        </p:nvSpPr>
        <p:spPr>
          <a:xfrm>
            <a:off x="2411760" y="2392432"/>
            <a:ext cx="5112568" cy="89255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方正正准黑简体" panose="02000000000000000000" pitchFamily="2" charset="-122"/>
                <a:ea typeface="方正正准黑简体" panose="02000000000000000000" pitchFamily="2" charset="-122"/>
                <a:sym typeface="Arial" panose="020B0604020202020204" pitchFamily="34" charset="0"/>
              </a:rPr>
              <a:t>感谢聆听 批评指导</a:t>
            </a:r>
            <a:endParaRPr lang="en-US" sz="4000" dirty="0">
              <a:solidFill>
                <a:schemeClr val="bg1"/>
              </a:solidFill>
              <a:latin typeface="方正正准黑简体" panose="02000000000000000000" pitchFamily="2" charset="-122"/>
              <a:ea typeface="方正正准黑简体" panose="020000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2095500" y="2641600"/>
            <a:ext cx="5644852" cy="631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50181" tIns="75091" rIns="150181" bIns="75091"/>
          <a:lstStyle/>
          <a:p>
            <a:pPr defTabSz="882650">
              <a:spcBef>
                <a:spcPct val="20000"/>
              </a:spcBef>
            </a:pPr>
            <a:r>
              <a:rPr lang="zh-CN" altLang="en-US" sz="4000" dirty="0">
                <a:solidFill>
                  <a:schemeClr val="bg1"/>
                </a:solidFill>
                <a:latin typeface="Calibri" panose="020F0502020204030204" pitchFamily="34" charset="0"/>
              </a:rPr>
              <a:t>会议结束，谢谢大家</a:t>
            </a:r>
          </a:p>
        </p:txBody>
      </p:sp>
      <p:sp>
        <p:nvSpPr>
          <p:cNvPr id="14" name="文本框 1"/>
          <p:cNvSpPr txBox="1"/>
          <p:nvPr/>
        </p:nvSpPr>
        <p:spPr>
          <a:xfrm>
            <a:off x="2595155" y="2875002"/>
            <a:ext cx="3953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6600" dirty="0" smtClean="0">
                <a:solidFill>
                  <a:srgbClr val="0070C0"/>
                </a:solidFill>
              </a:rPr>
              <a:t>Thank you!</a:t>
            </a:r>
            <a:endParaRPr lang="zh-CN" altLang="en-US" sz="66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扬州航盛PPT标准化模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扬州航盛PPT标准化模版</Template>
  <TotalTime>3580</TotalTime>
  <Words>798</Words>
  <Application>Microsoft Office PowerPoint</Application>
  <PresentationFormat>全屏显示(4:3)</PresentationFormat>
  <Paragraphs>115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方正正准黑简体</vt:lpstr>
      <vt:lpstr>黑体</vt:lpstr>
      <vt:lpstr>宋体</vt:lpstr>
      <vt:lpstr>微软雅黑</vt:lpstr>
      <vt:lpstr>Arial</vt:lpstr>
      <vt:lpstr>Calibri</vt:lpstr>
      <vt:lpstr>Times New Roman</vt:lpstr>
      <vt:lpstr>扬州航盛PPT标准化模版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liqinwen</dc:creator>
  <cp:lastModifiedBy>薛翔宇</cp:lastModifiedBy>
  <cp:revision>760</cp:revision>
  <dcterms:created xsi:type="dcterms:W3CDTF">2016-10-24T03:51:00Z</dcterms:created>
  <dcterms:modified xsi:type="dcterms:W3CDTF">2024-06-12T01:12:22Z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