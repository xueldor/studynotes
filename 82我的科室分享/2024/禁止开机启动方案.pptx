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315" r:id="rId3"/>
    <p:sldId id="349" r:id="rId4"/>
    <p:sldId id="350" r:id="rId5"/>
    <p:sldId id="342" r:id="rId6"/>
    <p:sldId id="272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1" autoAdjust="0"/>
    <p:restoredTop sz="94712" autoAdjust="0"/>
  </p:normalViewPr>
  <p:slideViewPr>
    <p:cSldViewPr>
      <p:cViewPr varScale="1">
        <p:scale>
          <a:sx n="116" d="100"/>
          <a:sy n="116" d="100"/>
        </p:scale>
        <p:origin x="148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149F0E-5FC9-4776-8E1A-89FF7E51029B}" type="datetimeFigureOut">
              <a:rPr lang="zh-CN" altLang="en-US" smtClean="0"/>
              <a:t>2024/8/30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0BE65-9758-4DE9-9F00-F2710704B0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86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529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410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786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110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61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7"/>
          <p:cNvSpPr/>
          <p:nvPr userDrawn="1"/>
        </p:nvSpPr>
        <p:spPr>
          <a:xfrm>
            <a:off x="6637336" y="3"/>
            <a:ext cx="1157991" cy="409039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blipFill>
            <a:blip r:embed="rId2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0"/>
          <p:cNvSpPr/>
          <p:nvPr userDrawn="1"/>
        </p:nvSpPr>
        <p:spPr>
          <a:xfrm>
            <a:off x="7666913" y="1"/>
            <a:ext cx="662532" cy="409040"/>
          </a:xfrm>
          <a:custGeom>
            <a:avLst/>
            <a:gdLst/>
            <a:ahLst/>
            <a:cxnLst/>
            <a:rect l="l" t="t" r="r" b="b"/>
            <a:pathLst>
              <a:path w="2703213" h="1668932">
                <a:moveTo>
                  <a:pt x="628357" y="0"/>
                </a:moveTo>
                <a:lnTo>
                  <a:pt x="2703213" y="0"/>
                </a:lnTo>
                <a:lnTo>
                  <a:pt x="2069543" y="1668932"/>
                </a:lnTo>
                <a:lnTo>
                  <a:pt x="0" y="1668932"/>
                </a:lnTo>
                <a:lnTo>
                  <a:pt x="0" y="1654938"/>
                </a:lnTo>
                <a:close/>
              </a:path>
            </a:pathLst>
          </a:custGeom>
          <a:blipFill dpi="0" rotWithShape="1">
            <a:blip r:embed="rId3" cstate="email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7"/>
          <p:cNvSpPr/>
          <p:nvPr userDrawn="1"/>
        </p:nvSpPr>
        <p:spPr>
          <a:xfrm>
            <a:off x="8191242" y="3"/>
            <a:ext cx="952758" cy="409039"/>
          </a:xfrm>
          <a:custGeom>
            <a:avLst/>
            <a:gdLst/>
            <a:ahLst/>
            <a:cxnLst/>
            <a:rect l="l" t="t" r="r" b="b"/>
            <a:pathLst>
              <a:path w="2843807" h="1220905">
                <a:moveTo>
                  <a:pt x="463561" y="0"/>
                </a:moveTo>
                <a:lnTo>
                  <a:pt x="2843807" y="0"/>
                </a:lnTo>
                <a:lnTo>
                  <a:pt x="2843807" y="1220905"/>
                </a:lnTo>
                <a:lnTo>
                  <a:pt x="0" y="1220905"/>
                </a:lnTo>
                <a:close/>
              </a:path>
            </a:pathLst>
          </a:custGeom>
          <a:solidFill>
            <a:srgbClr val="558ED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7"/>
          <p:cNvSpPr/>
          <p:nvPr userDrawn="1"/>
        </p:nvSpPr>
        <p:spPr>
          <a:xfrm>
            <a:off x="6" y="-1"/>
            <a:ext cx="6770939" cy="409040"/>
          </a:xfrm>
          <a:custGeom>
            <a:avLst/>
            <a:gdLst/>
            <a:ahLst/>
            <a:cxnLst/>
            <a:rect l="l" t="t" r="r" b="b"/>
            <a:pathLst>
              <a:path w="6770939" h="409040">
                <a:moveTo>
                  <a:pt x="0" y="0"/>
                </a:moveTo>
                <a:lnTo>
                  <a:pt x="5760043" y="0"/>
                </a:lnTo>
                <a:lnTo>
                  <a:pt x="5768255" y="0"/>
                </a:lnTo>
                <a:lnTo>
                  <a:pt x="5868144" y="0"/>
                </a:lnTo>
                <a:lnTo>
                  <a:pt x="6359516" y="0"/>
                </a:lnTo>
                <a:lnTo>
                  <a:pt x="6770939" y="0"/>
                </a:lnTo>
                <a:lnTo>
                  <a:pt x="6615633" y="409039"/>
                </a:lnTo>
                <a:lnTo>
                  <a:pt x="6204210" y="409039"/>
                </a:lnTo>
                <a:lnTo>
                  <a:pt x="5868144" y="409039"/>
                </a:lnTo>
                <a:lnTo>
                  <a:pt x="5868144" y="409040"/>
                </a:lnTo>
                <a:lnTo>
                  <a:pt x="0" y="409040"/>
                </a:lnTo>
                <a:close/>
              </a:path>
            </a:pathLst>
          </a:custGeom>
          <a:solidFill>
            <a:schemeClr val="bg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876256" y="6521639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032B2-4DBE-4785-835A-DDEAC061235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1" name="矩形 7"/>
          <p:cNvSpPr/>
          <p:nvPr userDrawn="1"/>
        </p:nvSpPr>
        <p:spPr>
          <a:xfrm>
            <a:off x="4427989" y="-1"/>
            <a:ext cx="2342955" cy="409040"/>
          </a:xfrm>
          <a:custGeom>
            <a:avLst/>
            <a:gdLst/>
            <a:ahLst/>
            <a:cxnLst/>
            <a:rect l="l" t="t" r="r" b="b"/>
            <a:pathLst>
              <a:path w="2342955" h="409040">
                <a:moveTo>
                  <a:pt x="902795" y="0"/>
                </a:moveTo>
                <a:lnTo>
                  <a:pt x="1332059" y="0"/>
                </a:lnTo>
                <a:lnTo>
                  <a:pt x="1340271" y="0"/>
                </a:lnTo>
                <a:lnTo>
                  <a:pt x="1440160" y="0"/>
                </a:lnTo>
                <a:lnTo>
                  <a:pt x="1931532" y="0"/>
                </a:lnTo>
                <a:lnTo>
                  <a:pt x="2342955" y="0"/>
                </a:lnTo>
                <a:lnTo>
                  <a:pt x="2187649" y="409039"/>
                </a:lnTo>
                <a:lnTo>
                  <a:pt x="1776226" y="409039"/>
                </a:lnTo>
                <a:lnTo>
                  <a:pt x="1440160" y="409039"/>
                </a:lnTo>
                <a:lnTo>
                  <a:pt x="1440160" y="409040"/>
                </a:lnTo>
                <a:lnTo>
                  <a:pt x="0" y="409040"/>
                </a:lnTo>
                <a:lnTo>
                  <a:pt x="0" y="409039"/>
                </a:lnTo>
                <a:lnTo>
                  <a:pt x="336066" y="409039"/>
                </a:lnTo>
                <a:lnTo>
                  <a:pt x="747489" y="409039"/>
                </a:lnTo>
                <a:close/>
              </a:path>
            </a:pathLst>
          </a:custGeom>
          <a:solidFill>
            <a:srgbClr val="558ED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0" y="6525344"/>
            <a:ext cx="6912000" cy="1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6948264" y="6525345"/>
            <a:ext cx="2195736" cy="18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2024/8/30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7"/>
          <p:cNvSpPr/>
          <p:nvPr/>
        </p:nvSpPr>
        <p:spPr>
          <a:xfrm>
            <a:off x="2343642" y="1804954"/>
            <a:ext cx="3215737" cy="1135901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blipFill dpi="0" rotWithShape="1">
            <a:blip r:embed="rId6" cstate="print"/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10"/>
          <p:cNvSpPr/>
          <p:nvPr/>
        </p:nvSpPr>
        <p:spPr>
          <a:xfrm>
            <a:off x="5158815" y="1804954"/>
            <a:ext cx="1839848" cy="1135901"/>
          </a:xfrm>
          <a:custGeom>
            <a:avLst/>
            <a:gdLst/>
            <a:ahLst/>
            <a:cxnLst/>
            <a:rect l="l" t="t" r="r" b="b"/>
            <a:pathLst>
              <a:path w="2703213" h="1668932">
                <a:moveTo>
                  <a:pt x="628357" y="0"/>
                </a:moveTo>
                <a:lnTo>
                  <a:pt x="2703213" y="0"/>
                </a:lnTo>
                <a:lnTo>
                  <a:pt x="2069543" y="1668932"/>
                </a:lnTo>
                <a:lnTo>
                  <a:pt x="0" y="1668932"/>
                </a:lnTo>
                <a:lnTo>
                  <a:pt x="0" y="1654938"/>
                </a:lnTo>
                <a:close/>
              </a:path>
            </a:pathLst>
          </a:custGeom>
          <a:blipFill dpi="0" rotWithShape="1">
            <a:blip r:embed="rId7" cstate="print"/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7"/>
          <p:cNvSpPr/>
          <p:nvPr/>
        </p:nvSpPr>
        <p:spPr>
          <a:xfrm>
            <a:off x="6162746" y="1660936"/>
            <a:ext cx="2981261" cy="1279917"/>
          </a:xfrm>
          <a:custGeom>
            <a:avLst/>
            <a:gdLst/>
            <a:ahLst/>
            <a:cxnLst/>
            <a:rect l="l" t="t" r="r" b="b"/>
            <a:pathLst>
              <a:path w="2843807" h="1220905">
                <a:moveTo>
                  <a:pt x="463561" y="0"/>
                </a:moveTo>
                <a:lnTo>
                  <a:pt x="2843807" y="0"/>
                </a:lnTo>
                <a:lnTo>
                  <a:pt x="2843807" y="1220905"/>
                </a:lnTo>
                <a:lnTo>
                  <a:pt x="0" y="1220905"/>
                </a:lnTo>
                <a:close/>
              </a:path>
            </a:pathLst>
          </a:custGeom>
          <a:solidFill>
            <a:srgbClr val="558ED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7"/>
          <p:cNvSpPr/>
          <p:nvPr/>
        </p:nvSpPr>
        <p:spPr>
          <a:xfrm>
            <a:off x="7" y="1804951"/>
            <a:ext cx="3203279" cy="1296144"/>
          </a:xfrm>
          <a:custGeom>
            <a:avLst/>
            <a:gdLst/>
            <a:ahLst/>
            <a:cxnLst/>
            <a:rect l="l" t="t" r="r" b="b"/>
            <a:pathLst>
              <a:path w="3063717" h="1239673">
                <a:moveTo>
                  <a:pt x="0" y="0"/>
                </a:moveTo>
                <a:lnTo>
                  <a:pt x="24887" y="0"/>
                </a:lnTo>
                <a:lnTo>
                  <a:pt x="1816819" y="0"/>
                </a:lnTo>
                <a:lnTo>
                  <a:pt x="3063717" y="0"/>
                </a:lnTo>
                <a:lnTo>
                  <a:pt x="2593030" y="1239673"/>
                </a:lnTo>
                <a:lnTo>
                  <a:pt x="1346133" y="1239673"/>
                </a:lnTo>
                <a:lnTo>
                  <a:pt x="0" y="1239673"/>
                </a:lnTo>
                <a:close/>
              </a:path>
            </a:pathLst>
          </a:custGeom>
          <a:solidFill>
            <a:srgbClr val="0070C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4" descr="F:\朱建华工作文档\公司餐椅\航盛LOGO.pn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200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554" y="117766"/>
            <a:ext cx="2528596" cy="696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7"/>
          <p:cNvSpPr/>
          <p:nvPr/>
        </p:nvSpPr>
        <p:spPr>
          <a:xfrm>
            <a:off x="3049247" y="0"/>
            <a:ext cx="3113499" cy="866630"/>
          </a:xfrm>
          <a:custGeom>
            <a:avLst/>
            <a:gdLst/>
            <a:ahLst/>
            <a:cxnLst/>
            <a:rect l="l" t="t" r="r" b="b"/>
            <a:pathLst>
              <a:path w="3113499" h="866630">
                <a:moveTo>
                  <a:pt x="329047" y="0"/>
                </a:moveTo>
                <a:lnTo>
                  <a:pt x="3113499" y="0"/>
                </a:lnTo>
                <a:lnTo>
                  <a:pt x="2784451" y="866630"/>
                </a:lnTo>
                <a:lnTo>
                  <a:pt x="0" y="866630"/>
                </a:lnTo>
                <a:close/>
              </a:path>
            </a:pathLst>
          </a:custGeom>
          <a:solidFill>
            <a:schemeClr val="bg1">
              <a:lumMod val="9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7"/>
          <p:cNvSpPr/>
          <p:nvPr/>
        </p:nvSpPr>
        <p:spPr>
          <a:xfrm>
            <a:off x="971600" y="5717301"/>
            <a:ext cx="3215737" cy="1135901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solidFill>
            <a:schemeClr val="bg1">
              <a:lumMod val="8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7"/>
          <p:cNvSpPr/>
          <p:nvPr/>
        </p:nvSpPr>
        <p:spPr>
          <a:xfrm>
            <a:off x="0" y="3284984"/>
            <a:ext cx="2343636" cy="1135901"/>
          </a:xfrm>
          <a:custGeom>
            <a:avLst/>
            <a:gdLst/>
            <a:ahLst/>
            <a:cxnLst/>
            <a:rect l="l" t="t" r="r" b="b"/>
            <a:pathLst>
              <a:path w="2343636" h="1135901">
                <a:moveTo>
                  <a:pt x="0" y="0"/>
                </a:moveTo>
                <a:lnTo>
                  <a:pt x="2343636" y="0"/>
                </a:lnTo>
                <a:lnTo>
                  <a:pt x="1912350" y="1135901"/>
                </a:lnTo>
                <a:lnTo>
                  <a:pt x="0" y="1135901"/>
                </a:lnTo>
                <a:close/>
              </a:path>
            </a:pathLst>
          </a:custGeom>
          <a:solidFill>
            <a:schemeClr val="bg1">
              <a:lumMod val="9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99592" y="3573016"/>
            <a:ext cx="7884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Android P</a:t>
            </a:r>
            <a:r>
              <a:rPr lang="zh-CN" altLang="en-US" sz="32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禁止开机启动方案</a:t>
            </a:r>
            <a:endParaRPr lang="en-US" altLang="zh-CN" sz="3200" dirty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9512" y="461664"/>
            <a:ext cx="835292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利用安卓的</a:t>
            </a:r>
            <a:r>
              <a:rPr lang="en-US" altLang="zh-CN" sz="2800" dirty="0" smtClean="0"/>
              <a:t>disable</a:t>
            </a:r>
            <a:r>
              <a:rPr lang="zh-CN" altLang="en-US" sz="2800" dirty="0" smtClean="0"/>
              <a:t>机制。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r>
              <a:rPr lang="zh-CN" altLang="en-US" sz="2800" dirty="0" smtClean="0"/>
              <a:t>开机时执行脚本，将</a:t>
            </a:r>
            <a:r>
              <a:rPr lang="zh-CN" altLang="en-US" sz="2800" dirty="0" smtClean="0"/>
              <a:t>名单中的应用禁止，从而无法开机启动，也无法被其它应用拉起。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r>
              <a:rPr lang="zh-CN" altLang="en-US" sz="2800" dirty="0" smtClean="0"/>
              <a:t>当用户场景下，真正需要这个应用时</a:t>
            </a:r>
            <a:r>
              <a:rPr lang="zh-CN" altLang="en-US" sz="2800" dirty="0" smtClean="0"/>
              <a:t>，先</a:t>
            </a:r>
            <a:r>
              <a:rPr lang="zh-CN" altLang="en-US" sz="2800" dirty="0" smtClean="0"/>
              <a:t>将应用恢复成</a:t>
            </a:r>
            <a:r>
              <a:rPr lang="en-US" altLang="zh-CN" sz="2800" dirty="0" smtClean="0"/>
              <a:t>enable</a:t>
            </a:r>
            <a:r>
              <a:rPr lang="zh-CN" altLang="en-US" sz="2800" dirty="0" smtClean="0"/>
              <a:t>状态，然后启动应用（</a:t>
            </a:r>
            <a:r>
              <a:rPr lang="en-US" altLang="zh-CN" sz="2800" dirty="0" smtClean="0"/>
              <a:t>Activity</a:t>
            </a:r>
            <a:r>
              <a:rPr lang="zh-CN" altLang="en-US" sz="2800" dirty="0" smtClean="0"/>
              <a:t>或</a:t>
            </a:r>
            <a:r>
              <a:rPr lang="en-US" altLang="zh-CN" sz="2800" dirty="0" smtClean="0"/>
              <a:t>Service</a:t>
            </a:r>
            <a:r>
              <a:rPr lang="zh-CN" altLang="en-US" sz="2800" dirty="0" smtClean="0"/>
              <a:t>）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161781" y="2984552"/>
            <a:ext cx="102895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962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实现步骤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9512" y="461664"/>
            <a:ext cx="835292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zh-CN" altLang="en-US" sz="2800" dirty="0" smtClean="0"/>
              <a:t>新建</a:t>
            </a:r>
            <a:r>
              <a:rPr lang="zh-CN" altLang="en-US" sz="2800" dirty="0" smtClean="0"/>
              <a:t>脚本：</a:t>
            </a:r>
            <a:r>
              <a:rPr lang="en-US" altLang="zh-CN" sz="2800" dirty="0" smtClean="0"/>
              <a:t>startup_script.sh</a:t>
            </a:r>
          </a:p>
          <a:p>
            <a:pPr marL="514350" indent="-514350">
              <a:buAutoNum type="arabicPeriod"/>
            </a:pPr>
            <a:r>
              <a:rPr lang="zh-CN" altLang="en-US" sz="2800" dirty="0" smtClean="0"/>
              <a:t>以智慧加油为例，脚本内容：</a:t>
            </a:r>
            <a:endParaRPr lang="en-US" altLang="zh-CN" sz="2800" dirty="0" smtClean="0"/>
          </a:p>
          <a:p>
            <a:r>
              <a:rPr lang="en-US" altLang="zh-CN" sz="1600" dirty="0" smtClean="0"/>
              <a:t>#!/system/bin/</a:t>
            </a:r>
            <a:r>
              <a:rPr lang="en-US" altLang="zh-CN" sz="1600" dirty="0" err="1" smtClean="0"/>
              <a:t>sh</a:t>
            </a:r>
            <a:endParaRPr lang="en-US" altLang="zh-CN" sz="1600" dirty="0" smtClean="0"/>
          </a:p>
          <a:p>
            <a:r>
              <a:rPr lang="en-US" altLang="zh-CN" sz="1600" dirty="0" smtClean="0"/>
              <a:t>pm </a:t>
            </a:r>
            <a:r>
              <a:rPr lang="en-US" altLang="zh-CN" sz="1600" dirty="0"/>
              <a:t>disable-until-used </a:t>
            </a:r>
            <a:r>
              <a:rPr lang="en-US" altLang="zh-CN" sz="1600" dirty="0" err="1" smtClean="0"/>
              <a:t>com.jidouauto.nissan.refuel</a:t>
            </a:r>
            <a:endParaRPr lang="en-US" altLang="zh-CN" sz="1600" dirty="0" smtClean="0"/>
          </a:p>
          <a:p>
            <a:endParaRPr lang="en-US" altLang="zh-CN" sz="2800" dirty="0" smtClean="0"/>
          </a:p>
          <a:p>
            <a:r>
              <a:rPr lang="en-US" altLang="zh-CN" sz="2800" dirty="0" smtClean="0"/>
              <a:t>3. </a:t>
            </a:r>
            <a:r>
              <a:rPr lang="en-US" altLang="zh-CN" sz="2800" dirty="0" err="1" smtClean="0"/>
              <a:t>init.rc</a:t>
            </a:r>
            <a:r>
              <a:rPr lang="zh-CN" altLang="en-US" sz="2800" dirty="0" smtClean="0"/>
              <a:t>添加：</a:t>
            </a:r>
            <a:endParaRPr lang="en-US" altLang="zh-CN" sz="2800" dirty="0" smtClean="0"/>
          </a:p>
          <a:p>
            <a:r>
              <a:rPr lang="en-US" altLang="zh-CN" sz="2800" dirty="0"/>
              <a:t>service </a:t>
            </a:r>
            <a:r>
              <a:rPr lang="en-US" altLang="zh-CN" sz="2800" dirty="0" err="1"/>
              <a:t>startup_service</a:t>
            </a:r>
            <a:r>
              <a:rPr lang="en-US" altLang="zh-CN" sz="2800" dirty="0"/>
              <a:t> /system/bin/startup_script.sh</a:t>
            </a:r>
          </a:p>
          <a:p>
            <a:r>
              <a:rPr lang="en-US" altLang="zh-CN" sz="2800" dirty="0"/>
              <a:t>    class </a:t>
            </a:r>
            <a:r>
              <a:rPr lang="en-US" altLang="zh-CN" sz="2800" dirty="0" err="1"/>
              <a:t>late_start</a:t>
            </a:r>
            <a:endParaRPr lang="en-US" altLang="zh-CN" sz="2800" dirty="0"/>
          </a:p>
          <a:p>
            <a:r>
              <a:rPr lang="en-US" altLang="zh-CN" sz="2800" dirty="0"/>
              <a:t>    user system</a:t>
            </a:r>
          </a:p>
          <a:p>
            <a:r>
              <a:rPr lang="en-US" altLang="zh-CN" sz="2800" dirty="0"/>
              <a:t>    disabled</a:t>
            </a:r>
          </a:p>
          <a:p>
            <a:r>
              <a:rPr lang="en-US" altLang="zh-CN" sz="2800" dirty="0" smtClean="0"/>
              <a:t>    </a:t>
            </a:r>
            <a:r>
              <a:rPr lang="en-US" altLang="zh-CN" sz="2800" dirty="0" err="1" smtClean="0"/>
              <a:t>oneshot</a:t>
            </a:r>
            <a:endParaRPr lang="en-US" altLang="zh-CN" sz="2800" dirty="0"/>
          </a:p>
          <a:p>
            <a:r>
              <a:rPr lang="en-US" altLang="zh-CN" sz="2800" dirty="0"/>
              <a:t>    </a:t>
            </a:r>
            <a:r>
              <a:rPr lang="en-US" altLang="zh-CN" sz="2800" dirty="0" err="1"/>
              <a:t>seclabel</a:t>
            </a:r>
            <a:r>
              <a:rPr lang="en-US" altLang="zh-CN" sz="2800" dirty="0"/>
              <a:t> u:r:shell:s0</a:t>
            </a:r>
          </a:p>
          <a:p>
            <a:endParaRPr lang="en-US" altLang="zh-CN" sz="2800" dirty="0"/>
          </a:p>
          <a:p>
            <a:r>
              <a:rPr lang="en-US" altLang="zh-CN" sz="2800" dirty="0"/>
              <a:t>on </a:t>
            </a:r>
            <a:r>
              <a:rPr lang="en-US" altLang="zh-CN" sz="2800" dirty="0" err="1"/>
              <a:t>property:sys.boot_completed</a:t>
            </a:r>
            <a:r>
              <a:rPr lang="en-US" altLang="zh-CN" sz="2800" dirty="0"/>
              <a:t>=1</a:t>
            </a:r>
          </a:p>
          <a:p>
            <a:r>
              <a:rPr lang="en-US" altLang="zh-CN" sz="2800" dirty="0"/>
              <a:t>    start </a:t>
            </a:r>
            <a:r>
              <a:rPr lang="en-US" altLang="zh-CN" sz="2800" dirty="0" err="1"/>
              <a:t>startup_service</a:t>
            </a:r>
            <a:endParaRPr lang="en-US" altLang="zh-CN" sz="2800" dirty="0" smtClean="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161781" y="2984552"/>
            <a:ext cx="102895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801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实现步骤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9512" y="461664"/>
            <a:ext cx="83529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进入主页后</a:t>
            </a:r>
            <a:r>
              <a:rPr lang="zh-CN" altLang="en-US" sz="2800" dirty="0" smtClean="0"/>
              <a:t>，点智慧加油图标，会发现无法启动。需要</a:t>
            </a:r>
            <a:r>
              <a:rPr lang="en-US" altLang="zh-CN" sz="2800" dirty="0" smtClean="0"/>
              <a:t>Launcher</a:t>
            </a:r>
            <a:r>
              <a:rPr lang="zh-CN" altLang="en-US" sz="2800" dirty="0" smtClean="0"/>
              <a:t>适配，先</a:t>
            </a:r>
            <a:r>
              <a:rPr lang="zh-CN" altLang="en-US" sz="2800" dirty="0" smtClean="0"/>
              <a:t>执行</a:t>
            </a:r>
            <a:r>
              <a:rPr lang="en-US" altLang="zh-CN" sz="2800" dirty="0" smtClean="0"/>
              <a:t>enable</a:t>
            </a:r>
            <a:r>
              <a:rPr lang="zh-CN" altLang="en-US" sz="2800" dirty="0" smtClean="0"/>
              <a:t>，再调</a:t>
            </a:r>
            <a:r>
              <a:rPr lang="en-US" altLang="zh-CN" sz="2800" dirty="0" err="1" smtClean="0"/>
              <a:t>startActivity</a:t>
            </a:r>
            <a:r>
              <a:rPr lang="zh-CN" altLang="en-US" sz="2800" dirty="0" smtClean="0"/>
              <a:t>。</a:t>
            </a:r>
            <a:r>
              <a:rPr lang="zh-CN" altLang="en-US" sz="2800" dirty="0" smtClean="0"/>
              <a:t>示例代码如下：</a:t>
            </a:r>
            <a:endParaRPr lang="en-US" altLang="zh-CN" sz="2800" dirty="0" smtClean="0"/>
          </a:p>
          <a:p>
            <a:pPr marL="514350" indent="-514350">
              <a:buAutoNum type="arabicPeriod"/>
            </a:pPr>
            <a:r>
              <a:rPr lang="zh-CN" altLang="en-US" sz="2800" dirty="0" smtClean="0"/>
              <a:t>声明为系统应用，并签名</a:t>
            </a:r>
            <a:endParaRPr lang="en-US" altLang="zh-CN" sz="2800" dirty="0" smtClean="0"/>
          </a:p>
          <a:p>
            <a:pPr marL="514350" indent="-514350">
              <a:buAutoNum type="arabicPeriod"/>
            </a:pPr>
            <a:endParaRPr lang="en-US" altLang="zh-CN" sz="2800" dirty="0" smtClean="0"/>
          </a:p>
          <a:p>
            <a:pPr marL="514350" indent="-514350">
              <a:buAutoNum type="arabicPeriod"/>
            </a:pPr>
            <a:r>
              <a:rPr lang="en-US" altLang="zh-CN" sz="2800" dirty="0" smtClean="0"/>
              <a:t> </a:t>
            </a:r>
          </a:p>
          <a:p>
            <a:pPr marL="514350" indent="-514350">
              <a:buAutoNum type="arabicPeriod"/>
            </a:pPr>
            <a:endParaRPr lang="en-US" altLang="zh-CN" sz="2800" dirty="0"/>
          </a:p>
          <a:p>
            <a:endParaRPr lang="en-US" altLang="zh-CN" sz="2800" dirty="0" smtClean="0"/>
          </a:p>
          <a:p>
            <a:endParaRPr lang="en-US" altLang="zh-CN" sz="2800" dirty="0" smtClean="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161781" y="2984552"/>
            <a:ext cx="102895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32483" y="2331407"/>
            <a:ext cx="5184576" cy="2308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9876AA"/>
                </a:solidFill>
                <a:effectLst/>
                <a:latin typeface="Arial Unicode MS" panose="020B0604020202020204" pitchFamily="34" charset="-122"/>
                <a:ea typeface="JetBrains Mono"/>
              </a:rPr>
              <a:t>android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BABABA"/>
                </a:solidFill>
                <a:effectLst/>
                <a:latin typeface="Arial Unicode MS" panose="020B0604020202020204" pitchFamily="34" charset="-122"/>
                <a:ea typeface="JetBrains Mono"/>
              </a:rPr>
              <a:t>:sharedUserId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6A8759"/>
                </a:solidFill>
                <a:effectLst/>
                <a:latin typeface="Arial Unicode MS" panose="020B0604020202020204" pitchFamily="34" charset="-122"/>
                <a:ea typeface="JetBrains Mono"/>
              </a:rPr>
              <a:t>="android.uid.system"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504588" y="3049128"/>
            <a:ext cx="7686720" cy="147732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34" charset="-122"/>
                <a:ea typeface="JetBrains Mono"/>
              </a:rPr>
              <a:t>PackageManager packageManager = getPackageManager()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Arial Unicode MS" panose="020B0604020202020204" pitchFamily="34" charset="-122"/>
                <a:ea typeface="JetBrains Mono"/>
              </a:rPr>
              <a:t>;</a:t>
            </a:r>
            <a:endParaRPr kumimoji="0" lang="en-US" altLang="zh-CN" sz="900" b="0" i="0" u="none" strike="noStrike" cap="none" normalizeH="0" baseline="0" dirty="0" smtClean="0">
              <a:ln>
                <a:noFill/>
              </a:ln>
              <a:solidFill>
                <a:srgbClr val="CC7832"/>
              </a:solidFill>
              <a:effectLst/>
              <a:latin typeface="Arial Unicode MS" panose="020B0604020202020204" pitchFamily="34" charset="-122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900" dirty="0" smtClean="0">
                <a:solidFill>
                  <a:srgbClr val="CC7832"/>
                </a:solidFill>
                <a:latin typeface="Arial Unicode MS" panose="020B0604020202020204" pitchFamily="34" charset="-122"/>
                <a:ea typeface="JetBrains Mono"/>
              </a:rPr>
              <a:t>// </a:t>
            </a:r>
            <a:r>
              <a:rPr lang="zh-CN" altLang="en-US" sz="900" dirty="0" smtClean="0">
                <a:solidFill>
                  <a:srgbClr val="CC7832"/>
                </a:solidFill>
                <a:latin typeface="Arial Unicode MS" panose="020B0604020202020204" pitchFamily="34" charset="-122"/>
                <a:ea typeface="JetBrains Mono"/>
              </a:rPr>
              <a:t>先</a:t>
            </a:r>
            <a:r>
              <a:rPr lang="en-US" altLang="zh-CN" sz="900" dirty="0" smtClean="0">
                <a:solidFill>
                  <a:srgbClr val="CC7832"/>
                </a:solidFill>
                <a:latin typeface="Arial Unicode MS" panose="020B0604020202020204" pitchFamily="34" charset="-122"/>
                <a:ea typeface="JetBrains Mono"/>
              </a:rPr>
              <a:t>enable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Arial Unicode MS" panose="020B0604020202020204" pitchFamily="34" charset="-122"/>
                <a:ea typeface="JetBrains Mono"/>
              </a:rPr>
              <a:t/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Arial Unicode MS" panose="020B0604020202020204" pitchFamily="34" charset="-122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34" charset="-122"/>
                <a:ea typeface="JetBrains Mono"/>
              </a:rPr>
              <a:t>packageManager.setApplicationEnabledSetting(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6A8759"/>
                </a:solidFill>
                <a:effectLst/>
                <a:latin typeface="Arial Unicode MS" panose="020B0604020202020204" pitchFamily="34" charset="-122"/>
                <a:ea typeface="JetBrains Mono"/>
              </a:rPr>
              <a:t>“com.jidouauto.nissan.refuel”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Arial Unicode MS" panose="020B0604020202020204" pitchFamily="34" charset="-122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34" charset="-122"/>
                <a:ea typeface="JetBrains Mono"/>
              </a:rPr>
              <a:t>PackageManager.</a:t>
            </a:r>
            <a:r>
              <a:rPr kumimoji="0" lang="zh-CN" altLang="zh-CN" sz="900" b="0" i="1" u="none" strike="noStrike" cap="none" normalizeH="0" baseline="0" dirty="0" smtClean="0">
                <a:ln>
                  <a:noFill/>
                </a:ln>
                <a:solidFill>
                  <a:srgbClr val="9876AA"/>
                </a:solidFill>
                <a:effectLst/>
                <a:latin typeface="Arial Unicode MS" panose="020B0604020202020204" pitchFamily="34" charset="-122"/>
                <a:ea typeface="JetBrains Mono"/>
              </a:rPr>
              <a:t>COMPONENT_ENABLED_STATE_ENABLED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Arial Unicode MS" panose="020B0604020202020204" pitchFamily="34" charset="-122"/>
                <a:ea typeface="JetBrains Mono"/>
              </a:rPr>
              <a:t>,</a:t>
            </a:r>
            <a:endParaRPr kumimoji="0" lang="en-US" altLang="zh-CN" sz="900" b="0" i="0" u="none" strike="noStrike" cap="none" normalizeH="0" baseline="0" dirty="0" smtClean="0">
              <a:ln>
                <a:noFill/>
              </a:ln>
              <a:solidFill>
                <a:srgbClr val="CC7832"/>
              </a:solidFill>
              <a:effectLst/>
              <a:latin typeface="Arial Unicode MS" panose="020B0604020202020204" pitchFamily="34" charset="-122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900" dirty="0">
                <a:solidFill>
                  <a:srgbClr val="CC7832"/>
                </a:solidFill>
                <a:latin typeface="Arial Unicode MS" panose="020B0604020202020204" pitchFamily="34" charset="-122"/>
                <a:ea typeface="JetBrains Mono"/>
              </a:rPr>
              <a:t> </a:t>
            </a:r>
            <a:r>
              <a:rPr lang="en-US" altLang="zh-CN" sz="900" dirty="0" smtClean="0">
                <a:solidFill>
                  <a:srgbClr val="CC7832"/>
                </a:solidFill>
                <a:latin typeface="Arial Unicode MS" panose="020B0604020202020204" pitchFamily="34" charset="-122"/>
                <a:ea typeface="JetBrains Mono"/>
              </a:rPr>
              <a:t>                                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34" charset="-122"/>
                <a:ea typeface="JetBrains Mono"/>
              </a:rPr>
              <a:t>PackageManager.</a:t>
            </a:r>
            <a:r>
              <a:rPr kumimoji="0" lang="zh-CN" altLang="zh-CN" sz="900" b="0" i="1" u="none" strike="noStrike" cap="none" normalizeH="0" baseline="0" dirty="0" smtClean="0">
                <a:ln>
                  <a:noFill/>
                </a:ln>
                <a:solidFill>
                  <a:srgbClr val="9876AA"/>
                </a:solidFill>
                <a:effectLst/>
                <a:latin typeface="Arial Unicode MS" panose="020B0604020202020204" pitchFamily="34" charset="-122"/>
                <a:ea typeface="JetBrains Mono"/>
              </a:rPr>
              <a:t>DONT_KILL_APP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34" charset="-122"/>
                <a:ea typeface="JetBrains Mono"/>
              </a:rPr>
              <a:t>)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Arial Unicode MS" panose="020B0604020202020204" pitchFamily="34" charset="-122"/>
                <a:ea typeface="JetBrains Mono"/>
              </a:rPr>
              <a:t>;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Arial Unicode MS" panose="020B0604020202020204" pitchFamily="34" charset="-122"/>
                <a:ea typeface="JetBrains Mono"/>
              </a:rPr>
            </a:br>
            <a:endParaRPr kumimoji="0" lang="en-US" altLang="zh-CN" sz="900" b="0" i="0" u="none" strike="noStrike" cap="none" normalizeH="0" baseline="0" dirty="0" smtClean="0">
              <a:ln>
                <a:noFill/>
              </a:ln>
              <a:solidFill>
                <a:srgbClr val="CC7832"/>
              </a:solidFill>
              <a:effectLst/>
              <a:latin typeface="Arial Unicode MS" panose="020B0604020202020204" pitchFamily="34" charset="-122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900" dirty="0" smtClean="0">
                <a:solidFill>
                  <a:srgbClr val="CC7832"/>
                </a:solidFill>
                <a:latin typeface="Arial Unicode MS" panose="020B0604020202020204" pitchFamily="34" charset="-122"/>
                <a:ea typeface="JetBrains Mono"/>
              </a:rPr>
              <a:t>// </a:t>
            </a:r>
            <a:r>
              <a:rPr lang="en-US" altLang="zh-CN" sz="900" dirty="0" err="1" smtClean="0">
                <a:solidFill>
                  <a:srgbClr val="CC7832"/>
                </a:solidFill>
                <a:latin typeface="Arial Unicode MS" panose="020B0604020202020204" pitchFamily="34" charset="-122"/>
                <a:ea typeface="JetBrains Mono"/>
              </a:rPr>
              <a:t>startActivity</a:t>
            </a:r>
            <a:endParaRPr kumimoji="0" lang="en-US" altLang="zh-CN" sz="900" b="0" i="0" u="none" strike="noStrike" cap="none" normalizeH="0" baseline="0" dirty="0" smtClean="0">
              <a:ln>
                <a:noFill/>
              </a:ln>
              <a:solidFill>
                <a:srgbClr val="CC7832"/>
              </a:solidFill>
              <a:effectLst/>
              <a:latin typeface="Arial Unicode MS" panose="020B0604020202020204" pitchFamily="34" charset="-122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34" charset="-122"/>
                <a:ea typeface="JetBrains Mono"/>
              </a:rPr>
              <a:t>ComponentName comp =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Arial Unicode MS" panose="020B0604020202020204" pitchFamily="34" charset="-122"/>
                <a:ea typeface="JetBrains Mono"/>
              </a:rPr>
              <a:t>new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34" charset="-122"/>
                <a:ea typeface="JetBrains Mono"/>
              </a:rPr>
              <a:t>ComponentName(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6A8759"/>
                </a:solidFill>
                <a:effectLst/>
                <a:latin typeface="Arial Unicode MS" panose="020B0604020202020204" pitchFamily="34" charset="-122"/>
                <a:ea typeface="JetBrains Mono"/>
              </a:rPr>
              <a:t>"com.jidouauto.nissan.refuel"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Arial Unicode MS" panose="020B0604020202020204" pitchFamily="34" charset="-122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6A8759"/>
                </a:solidFill>
                <a:effectLst/>
                <a:latin typeface="Arial Unicode MS" panose="020B0604020202020204" pitchFamily="34" charset="-122"/>
                <a:ea typeface="JetBrains Mono"/>
              </a:rPr>
              <a:t>"com.jidouauto.refuel.ui.activity.MainActivity"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34" charset="-122"/>
                <a:ea typeface="JetBrains Mono"/>
              </a:rPr>
              <a:t>)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Arial Unicode MS" panose="020B0604020202020204" pitchFamily="34" charset="-122"/>
                <a:ea typeface="JetBrains Mono"/>
              </a:rPr>
              <a:t>;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Arial Unicode MS" panose="020B0604020202020204" pitchFamily="34" charset="-122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34" charset="-122"/>
                <a:ea typeface="JetBrains Mono"/>
              </a:rPr>
              <a:t>Intent intent =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Arial Unicode MS" panose="020B0604020202020204" pitchFamily="34" charset="-122"/>
                <a:ea typeface="JetBrains Mono"/>
              </a:rPr>
              <a:t>new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34" charset="-122"/>
                <a:ea typeface="JetBrains Mono"/>
              </a:rPr>
              <a:t>Intent()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Arial Unicode MS" panose="020B0604020202020204" pitchFamily="34" charset="-122"/>
                <a:ea typeface="JetBrains Mono"/>
              </a:rPr>
              <a:t>;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Arial Unicode MS" panose="020B0604020202020204" pitchFamily="34" charset="-122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34" charset="-122"/>
                <a:ea typeface="JetBrains Mono"/>
              </a:rPr>
              <a:t>intent.setComponent(comp)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Arial Unicode MS" panose="020B0604020202020204" pitchFamily="34" charset="-122"/>
                <a:ea typeface="JetBrains Mono"/>
              </a:rPr>
              <a:t>;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Arial Unicode MS" panose="020B0604020202020204" pitchFamily="34" charset="-122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Arial Unicode MS" panose="020B0604020202020204" pitchFamily="34" charset="-122"/>
                <a:ea typeface="JetBrains Mono"/>
              </a:rPr>
              <a:t>startActivity(intent)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Arial Unicode MS" panose="020B0604020202020204" pitchFamily="34" charset="-122"/>
                <a:ea typeface="JetBrains Mono"/>
              </a:rPr>
              <a:t>;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303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注意事项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9512" y="461664"/>
            <a:ext cx="8352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启动</a:t>
            </a:r>
            <a:r>
              <a:rPr lang="en-US" altLang="zh-CN" sz="2000" dirty="0" smtClean="0"/>
              <a:t>disable</a:t>
            </a:r>
            <a:r>
              <a:rPr lang="zh-CN" altLang="en-US" sz="2000" dirty="0" smtClean="0"/>
              <a:t>应用</a:t>
            </a:r>
            <a:r>
              <a:rPr lang="zh-CN" altLang="en-US" sz="2000" dirty="0" smtClean="0"/>
              <a:t>的</a:t>
            </a:r>
            <a:r>
              <a:rPr lang="en-US" altLang="zh-CN" sz="2000" dirty="0" smtClean="0"/>
              <a:t>Activity</a:t>
            </a:r>
            <a:r>
              <a:rPr lang="zh-CN" altLang="en-US" sz="2000" dirty="0" smtClean="0"/>
              <a:t>或</a:t>
            </a:r>
            <a:r>
              <a:rPr lang="en-US" altLang="zh-CN" sz="2000" dirty="0" smtClean="0"/>
              <a:t>Service</a:t>
            </a:r>
            <a:r>
              <a:rPr lang="zh-CN" altLang="en-US" sz="2000" dirty="0" smtClean="0"/>
              <a:t>会抛出</a:t>
            </a:r>
            <a:r>
              <a:rPr lang="en-US" altLang="zh-CN" sz="2000" dirty="0" smtClean="0"/>
              <a:t>Activity/Service</a:t>
            </a:r>
            <a:r>
              <a:rPr lang="zh-CN" altLang="en-US" sz="2000" dirty="0" smtClean="0"/>
              <a:t>不存在异常，</a:t>
            </a:r>
            <a:r>
              <a:rPr lang="zh-CN" altLang="en-US" sz="2000" dirty="0" smtClean="0"/>
              <a:t>需要</a:t>
            </a:r>
            <a:r>
              <a:rPr lang="en-US" altLang="zh-CN" sz="2000" dirty="0" smtClean="0"/>
              <a:t>try-catch, </a:t>
            </a:r>
            <a:r>
              <a:rPr lang="zh-CN" altLang="en-US" sz="2000" dirty="0" smtClean="0"/>
              <a:t>避免</a:t>
            </a:r>
            <a:r>
              <a:rPr lang="zh-CN" altLang="en-US" sz="2000" dirty="0" smtClean="0"/>
              <a:t>应用崩溃。</a:t>
            </a:r>
            <a:endParaRPr lang="en-US" altLang="zh-CN" sz="2000" dirty="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161781" y="2984552"/>
            <a:ext cx="102895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048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6"/>
          <p:cNvSpPr txBox="1"/>
          <p:nvPr/>
        </p:nvSpPr>
        <p:spPr>
          <a:xfrm>
            <a:off x="2411760" y="2392432"/>
            <a:ext cx="5112568" cy="89255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sym typeface="Arial" panose="020B0604020202020204" pitchFamily="34" charset="0"/>
              </a:rPr>
              <a:t>感谢聆听 批评指导</a:t>
            </a:r>
            <a:endParaRPr lang="en-US" sz="4000" dirty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  <a:sym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/>
        </p:nvSpPr>
        <p:spPr bwMode="auto">
          <a:xfrm>
            <a:off x="2095500" y="2641600"/>
            <a:ext cx="5644852" cy="631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50181" tIns="75091" rIns="150181" bIns="75091"/>
          <a:lstStyle/>
          <a:p>
            <a:pPr defTabSz="882650">
              <a:spcBef>
                <a:spcPct val="20000"/>
              </a:spcBef>
            </a:pPr>
            <a:r>
              <a:rPr lang="zh-CN" altLang="en-US" sz="4000" dirty="0">
                <a:solidFill>
                  <a:schemeClr val="bg1"/>
                </a:solidFill>
                <a:latin typeface="Calibri" panose="020F0502020204030204" pitchFamily="34" charset="0"/>
              </a:rPr>
              <a:t>会议结束，谢谢大家</a:t>
            </a:r>
          </a:p>
        </p:txBody>
      </p:sp>
      <p:sp>
        <p:nvSpPr>
          <p:cNvPr id="14" name="文本框 1"/>
          <p:cNvSpPr txBox="1"/>
          <p:nvPr/>
        </p:nvSpPr>
        <p:spPr>
          <a:xfrm>
            <a:off x="2595155" y="2875002"/>
            <a:ext cx="3953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600" dirty="0" smtClean="0">
                <a:solidFill>
                  <a:srgbClr val="0070C0"/>
                </a:solidFill>
              </a:rPr>
              <a:t>Thank you!</a:t>
            </a:r>
            <a:endParaRPr lang="zh-CN" altLang="en-US" sz="66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扬州航盛PPT标准化模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扬州航盛PPT标准化模版</Template>
  <TotalTime>5877</TotalTime>
  <Words>214</Words>
  <Application>Microsoft Office PowerPoint</Application>
  <PresentationFormat>全屏显示(4:3)</PresentationFormat>
  <Paragraphs>49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 Unicode MS</vt:lpstr>
      <vt:lpstr>JetBrains Mono</vt:lpstr>
      <vt:lpstr>方正正准黑简体</vt:lpstr>
      <vt:lpstr>黑体</vt:lpstr>
      <vt:lpstr>宋体</vt:lpstr>
      <vt:lpstr>微软雅黑</vt:lpstr>
      <vt:lpstr>Arial</vt:lpstr>
      <vt:lpstr>Calibri</vt:lpstr>
      <vt:lpstr>扬州航盛PPT标准化模版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liqinwen</dc:creator>
  <cp:lastModifiedBy>薛翔宇</cp:lastModifiedBy>
  <cp:revision>798</cp:revision>
  <dcterms:created xsi:type="dcterms:W3CDTF">2016-10-24T03:51:00Z</dcterms:created>
  <dcterms:modified xsi:type="dcterms:W3CDTF">2024-08-30T03:33:23Z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