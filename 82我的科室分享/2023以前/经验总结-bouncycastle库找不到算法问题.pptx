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86" r:id="rId4"/>
    <p:sldId id="320" r:id="rId5"/>
    <p:sldId id="309" r:id="rId6"/>
    <p:sldId id="270" r:id="rId7"/>
    <p:sldId id="272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3C1A7-F5B7-4AA8-BE5C-3EBB4C325CAA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40759-6F8B-47D5-BFCB-CD419125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05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03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48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16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0759-6F8B-47D5-BFCB-CD419125BA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214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8B736-7EE7-46E3-9B3E-54F16E7B93B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276E2-E6B6-4A88-9AB6-DEFA7A88B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34025" y="1399295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4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bouncycastle</a:t>
            </a:r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库找不到算法问题</a:t>
            </a:r>
            <a:r>
              <a:rPr lang="en-US" altLang="zh-CN" sz="4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经验教训</a:t>
            </a:r>
            <a:endParaRPr lang="zh-CN" altLang="en-US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97034" y="5344008"/>
            <a:ext cx="1818973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03030"/>
                </a:solidFill>
                <a:latin typeface="+mn-ea"/>
                <a:cs typeface="+mn-ea"/>
              </a:rPr>
              <a:t>薛翔宇</a:t>
            </a:r>
            <a:endParaRPr lang="en-US" altLang="zh-CN" dirty="0" smtClean="0">
              <a:solidFill>
                <a:srgbClr val="303030"/>
              </a:solidFill>
              <a:latin typeface="+mn-ea"/>
              <a:cs typeface="+mn-ea"/>
            </a:endParaRPr>
          </a:p>
          <a:p>
            <a:r>
              <a:rPr lang="en-US" altLang="zh-CN" dirty="0" smtClean="0">
                <a:solidFill>
                  <a:srgbClr val="303030"/>
                </a:solidFill>
                <a:latin typeface="+mn-ea"/>
                <a:cs typeface="+mn-ea"/>
              </a:rPr>
              <a:t>2023.12</a:t>
            </a:r>
          </a:p>
          <a:p>
            <a:endParaRPr lang="en-US" altLang="zh-CN" dirty="0" smtClean="0">
              <a:solidFill>
                <a:srgbClr val="30303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3"/>
          <p:cNvSpPr txBox="1"/>
          <p:nvPr/>
        </p:nvSpPr>
        <p:spPr>
          <a:xfrm>
            <a:off x="4525332" y="3341397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 rot="10800000" flipV="1">
            <a:off x="3809083" y="1173647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01</a:t>
            </a:r>
            <a:endParaRPr kumimoji="1" lang="zh-CN" altLang="en-US" sz="1600" b="1" dirty="0"/>
          </a:p>
        </p:txBody>
      </p:sp>
      <p:sp>
        <p:nvSpPr>
          <p:cNvPr id="7" name="椭圆 6"/>
          <p:cNvSpPr/>
          <p:nvPr/>
        </p:nvSpPr>
        <p:spPr>
          <a:xfrm rot="10800000" flipV="1">
            <a:off x="3809084" y="2257940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02</a:t>
            </a:r>
            <a:endParaRPr kumimoji="1" lang="zh-CN" altLang="en-US" sz="1600" b="1" dirty="0"/>
          </a:p>
        </p:txBody>
      </p:sp>
      <p:sp>
        <p:nvSpPr>
          <p:cNvPr id="9" name="椭圆 8"/>
          <p:cNvSpPr/>
          <p:nvPr/>
        </p:nvSpPr>
        <p:spPr>
          <a:xfrm rot="10800000" flipV="1">
            <a:off x="3809084" y="3273429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/>
              <a:t>03</a:t>
            </a:r>
            <a:endParaRPr kumimoji="1" lang="zh-CN" altLang="en-US" sz="1600" b="1" dirty="0"/>
          </a:p>
        </p:txBody>
      </p:sp>
      <p:sp>
        <p:nvSpPr>
          <p:cNvPr id="12" name="TextBox 39"/>
          <p:cNvSpPr txBox="1"/>
          <p:nvPr/>
        </p:nvSpPr>
        <p:spPr>
          <a:xfrm>
            <a:off x="1909229" y="1867248"/>
            <a:ext cx="84201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3144407" y="1207803"/>
            <a:ext cx="45799" cy="35173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79"/>
          <p:cNvSpPr txBox="1"/>
          <p:nvPr/>
        </p:nvSpPr>
        <p:spPr>
          <a:xfrm>
            <a:off x="4525331" y="225609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 rot="10800000" flipV="1">
            <a:off x="3809082" y="4229022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04</a:t>
            </a:r>
            <a:endParaRPr kumimoji="1" lang="zh-CN" altLang="en-US" sz="1600" b="1" dirty="0"/>
          </a:p>
        </p:txBody>
      </p:sp>
      <p:sp>
        <p:nvSpPr>
          <p:cNvPr id="18" name="文本框 73"/>
          <p:cNvSpPr txBox="1"/>
          <p:nvPr/>
        </p:nvSpPr>
        <p:spPr>
          <a:xfrm>
            <a:off x="4525331" y="117080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问题现象描述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79"/>
          <p:cNvSpPr txBox="1"/>
          <p:nvPr/>
        </p:nvSpPr>
        <p:spPr>
          <a:xfrm>
            <a:off x="4525331" y="4333873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经验总结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9" grpId="0" animBg="1"/>
      <p:bldP spid="12" grpId="0"/>
      <p:bldP spid="15" grpId="0"/>
      <p:bldP spid="16" grpId="0" animBg="1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/>
        </p:nvSpPr>
        <p:spPr>
          <a:xfrm>
            <a:off x="963529" y="204560"/>
            <a:ext cx="5504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问题现象描述</a:t>
            </a:r>
          </a:p>
        </p:txBody>
      </p:sp>
      <p:sp>
        <p:nvSpPr>
          <p:cNvPr id="10" name="椭圆 9"/>
          <p:cNvSpPr/>
          <p:nvPr/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>
                <a:latin typeface="+mn-ea"/>
              </a:rPr>
              <a:t>01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29" y="937604"/>
            <a:ext cx="7878274" cy="2857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>
            <p:custDataLst>
              <p:tags r:id="rId1"/>
            </p:custDataLst>
          </p:nvPr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30605" y="1073785"/>
            <a:ext cx="870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  <a:cs typeface="+mn-ea"/>
              </a:rPr>
              <a:t>1</a:t>
            </a:r>
            <a:r>
              <a:rPr lang="zh-CN" altLang="en-US" dirty="0" smtClean="0">
                <a:latin typeface="+mn-ea"/>
                <a:cs typeface="+mn-ea"/>
              </a:rPr>
              <a:t>、自己调试时正常，反复测试无法复现，只有测试那边才会遇到，所以一定是版本和自己用</a:t>
            </a:r>
            <a:r>
              <a:rPr lang="en-US" altLang="zh-CN" dirty="0" smtClean="0">
                <a:latin typeface="+mn-ea"/>
                <a:cs typeface="+mn-ea"/>
              </a:rPr>
              <a:t>AS</a:t>
            </a:r>
            <a:r>
              <a:rPr lang="zh-CN" altLang="en-US" dirty="0" smtClean="0">
                <a:latin typeface="+mn-ea"/>
                <a:cs typeface="+mn-ea"/>
              </a:rPr>
              <a:t>编译的存在差异。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dirty="0" smtClean="0">
              <a:latin typeface="+mn-ea"/>
              <a:cs typeface="+mn-ea"/>
            </a:endParaRPr>
          </a:p>
          <a:p>
            <a:r>
              <a:rPr lang="en-US" altLang="zh-CN" dirty="0" smtClean="0">
                <a:latin typeface="+mn-ea"/>
                <a:cs typeface="+mn-ea"/>
              </a:rPr>
              <a:t>2</a:t>
            </a:r>
            <a:r>
              <a:rPr lang="zh-CN" altLang="en-US" dirty="0" smtClean="0">
                <a:latin typeface="+mn-ea"/>
                <a:cs typeface="+mn-ea"/>
              </a:rPr>
              <a:t>、这种根据算法名执行算法，</a:t>
            </a:r>
            <a:r>
              <a:rPr lang="zh-CN" altLang="en-US" dirty="0">
                <a:latin typeface="+mn-ea"/>
                <a:cs typeface="+mn-ea"/>
              </a:rPr>
              <a:t>一般</a:t>
            </a:r>
            <a:r>
              <a:rPr lang="zh-CN" altLang="en-US" dirty="0" smtClean="0">
                <a:latin typeface="+mn-ea"/>
                <a:cs typeface="+mn-ea"/>
              </a:rPr>
              <a:t>都是通过反射来调用的，因此很容易联想到是集成编译时，代码混淆把类名和方法名变掉了。</a:t>
            </a:r>
            <a:endParaRPr lang="en-US" altLang="zh-CN" dirty="0" smtClean="0">
              <a:latin typeface="+mn-ea"/>
              <a:cs typeface="+mn-ea"/>
            </a:endParaRPr>
          </a:p>
          <a:p>
            <a:endParaRPr lang="en-US" altLang="zh-CN" dirty="0">
              <a:latin typeface="+mn-ea"/>
              <a:cs typeface="+mn-ea"/>
            </a:endParaRPr>
          </a:p>
          <a:p>
            <a:endParaRPr lang="zh-CN" altLang="en-US" dirty="0">
              <a:latin typeface="+mn-ea"/>
              <a:cs typeface="+mn-ea"/>
            </a:endParaRPr>
          </a:p>
          <a:p>
            <a:endParaRPr lang="en-US" altLang="zh-CN" b="0" i="0" u="none" strike="noStrike" dirty="0">
              <a:solidFill>
                <a:srgbClr val="FF0000"/>
              </a:solidFill>
              <a:effectLst/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3"/>
          <p:cNvSpPr txBox="1"/>
          <p:nvPr/>
        </p:nvSpPr>
        <p:spPr>
          <a:xfrm>
            <a:off x="963529" y="20456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</a:p>
        </p:txBody>
      </p:sp>
      <p:sp>
        <p:nvSpPr>
          <p:cNvPr id="10" name="椭圆 9"/>
          <p:cNvSpPr/>
          <p:nvPr/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03</a:t>
            </a:r>
            <a:endParaRPr kumimoji="1" lang="zh-CN" altLang="en-US" sz="1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63295" y="1073785"/>
            <a:ext cx="7237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  <a:cs typeface="+mn-ea"/>
              </a:rPr>
              <a:t>指定混淆规则，排除和算法库有关的文件：</a:t>
            </a:r>
            <a:endParaRPr lang="en-US" altLang="zh-CN" dirty="0" smtClean="0">
              <a:latin typeface="+mn-ea"/>
              <a:cs typeface="+mn-ea"/>
            </a:endParaRPr>
          </a:p>
          <a:p>
            <a:r>
              <a:rPr lang="en-US" altLang="zh-CN" dirty="0" smtClean="0">
                <a:latin typeface="+mn-ea"/>
                <a:cs typeface="+mn-ea"/>
              </a:rPr>
              <a:t> </a:t>
            </a:r>
            <a:r>
              <a:rPr lang="en-US" altLang="zh-CN" dirty="0">
                <a:latin typeface="+mn-ea"/>
                <a:cs typeface="+mn-ea"/>
              </a:rPr>
              <a:t>-keep class </a:t>
            </a:r>
            <a:r>
              <a:rPr lang="en-US" altLang="zh-CN" dirty="0" err="1">
                <a:latin typeface="+mn-ea"/>
                <a:cs typeface="+mn-ea"/>
              </a:rPr>
              <a:t>org.bouncycastle</a:t>
            </a:r>
            <a:r>
              <a:rPr lang="en-US" altLang="zh-CN" dirty="0">
                <a:latin typeface="+mn-ea"/>
                <a:cs typeface="+mn-ea"/>
              </a:rPr>
              <a:t>.** { *; }</a:t>
            </a:r>
          </a:p>
          <a:p>
            <a:endParaRPr lang="en-US" altLang="zh-CN" smtClean="0">
              <a:latin typeface="+mn-ea"/>
              <a:cs typeface="+mn-ea"/>
            </a:endParaRPr>
          </a:p>
          <a:p>
            <a:r>
              <a:rPr lang="zh-CN" altLang="en-US" smtClean="0">
                <a:latin typeface="+mn-ea"/>
                <a:cs typeface="+mn-ea"/>
              </a:rPr>
              <a:t>问题解决</a:t>
            </a:r>
            <a:r>
              <a:rPr lang="zh-CN" altLang="en-US" dirty="0" smtClean="0">
                <a:latin typeface="+mn-ea"/>
                <a:cs typeface="+mn-ea"/>
              </a:rPr>
              <a:t>！</a:t>
            </a:r>
            <a:endParaRPr lang="zh-CN" altLang="en-US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73"/>
          <p:cNvSpPr txBox="1"/>
          <p:nvPr/>
        </p:nvSpPr>
        <p:spPr>
          <a:xfrm>
            <a:off x="1012297" y="248497"/>
            <a:ext cx="5504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经验总结</a:t>
            </a:r>
          </a:p>
        </p:txBody>
      </p:sp>
      <p:sp>
        <p:nvSpPr>
          <p:cNvPr id="14" name="椭圆 13"/>
          <p:cNvSpPr/>
          <p:nvPr/>
        </p:nvSpPr>
        <p:spPr>
          <a:xfrm rot="10800000" flipV="1">
            <a:off x="247278" y="143646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>
                <a:latin typeface="+mn-ea"/>
              </a:rPr>
              <a:t>04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5586" y="988856"/>
            <a:ext cx="8676456" cy="218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en-US" altLang="zh-CN" sz="1600" b="0" dirty="0" smtClean="0">
                <a:latin typeface="+mn-ea"/>
                <a:cs typeface="+mn-ea"/>
              </a:rPr>
              <a:t>1</a:t>
            </a:r>
            <a:r>
              <a:rPr lang="zh-CN" altLang="en-US" sz="1600" b="0" dirty="0" smtClean="0">
                <a:latin typeface="+mn-ea"/>
                <a:cs typeface="+mn-ea"/>
              </a:rPr>
              <a:t>、使用三方库或者使用反射时需要注意混淆问题</a:t>
            </a:r>
            <a:r>
              <a:rPr lang="zh-CN" altLang="en-US" sz="1600" dirty="0" smtClean="0">
                <a:latin typeface="+mn-ea"/>
                <a:cs typeface="+mn-ea"/>
              </a:rPr>
              <a:t>。</a:t>
            </a:r>
            <a:endParaRPr lang="zh-CN" altLang="en-US" sz="1600" b="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en-US" altLang="zh-CN" sz="1600" dirty="0" smtClean="0">
                <a:latin typeface="+mn-ea"/>
                <a:cs typeface="+mn-ea"/>
              </a:rPr>
              <a:t>2</a:t>
            </a:r>
            <a:r>
              <a:rPr lang="zh-CN" altLang="en-US" sz="1600" dirty="0" smtClean="0">
                <a:latin typeface="+mn-ea"/>
                <a:cs typeface="+mn-ea"/>
              </a:rPr>
              <a:t>、技术储备不足，开发和联调时会遇到很多问题。</a:t>
            </a:r>
            <a:endParaRPr lang="en-US" altLang="zh-CN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endParaRPr lang="en-US" altLang="zh-CN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+mn-ea"/>
                <a:cs typeface="+mn-ea"/>
              </a:rPr>
              <a:t>综上所述：</a:t>
            </a:r>
            <a:endParaRPr lang="en-US" altLang="zh-CN" sz="1600" dirty="0" smtClean="0">
              <a:latin typeface="+mn-ea"/>
              <a:cs typeface="+mn-ea"/>
            </a:endParaRPr>
          </a:p>
          <a:p>
            <a:pPr eaLnBrk="1" hangingPunct="1">
              <a:lnSpc>
                <a:spcPts val="25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+mn-ea"/>
                <a:cs typeface="+mn-ea"/>
              </a:rPr>
              <a:t>多读书多思考，多些技术积累以备不时之需。</a:t>
            </a:r>
            <a:endParaRPr lang="en-US" altLang="zh-CN" sz="1600" dirty="0" smtClean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23360" y="2734491"/>
            <a:ext cx="3953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U3M2M1NWI5MDgwZjQ5YWY1N2I3ZjVlNjgxYzUzY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180</Words>
  <Application>Microsoft Office PowerPoint</Application>
  <PresentationFormat>宽屏</PresentationFormat>
  <Paragraphs>39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宋体</vt:lpstr>
      <vt:lpstr>微软雅黑</vt:lpstr>
      <vt:lpstr>Arial</vt:lpstr>
      <vt:lpstr>Calibri</vt:lpstr>
      <vt:lpstr>Calibri Light</vt:lpstr>
      <vt:lpstr>Office 主题</vt:lpstr>
      <vt:lpstr>bouncycastle库找不到算法问题——经验教训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CCS2.0 OTA升级后讯飞应用数据丢失</dc:title>
  <dc:creator>董燕yz</dc:creator>
  <cp:lastModifiedBy>薛翔宇</cp:lastModifiedBy>
  <cp:revision>656</cp:revision>
  <dcterms:created xsi:type="dcterms:W3CDTF">2022-01-19T01:59:00Z</dcterms:created>
  <dcterms:modified xsi:type="dcterms:W3CDTF">2023-12-14T09:10:38Z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806AA4322B6F447697FF98A1A0BCDAE1_12</vt:lpwstr>
  </property>
  <property fmtid="{D5CDD505-2E9C-101B-9397-08002B2CF9AE}" pid="3" name="KSOProductBuildVer">
    <vt:lpwstr>2052-12.1.0.15990</vt:lpwstr>
  </property>
</Properties>
</file>