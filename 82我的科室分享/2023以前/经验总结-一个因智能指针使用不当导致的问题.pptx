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bookmarkIdSeed="2">
  <p:sldMasterIdLst>
    <p:sldMasterId id="2147483648" r:id="rId1"/>
  </p:sldMasterIdLst>
  <p:notesMasterIdLst>
    <p:notesMasterId r:id="rId12"/>
  </p:notesMasterIdLst>
  <p:sldIdLst>
    <p:sldId id="256" r:id="rId2"/>
    <p:sldId id="273" r:id="rId3"/>
    <p:sldId id="286" r:id="rId4"/>
    <p:sldId id="320" r:id="rId5"/>
    <p:sldId id="322" r:id="rId6"/>
    <p:sldId id="323" r:id="rId7"/>
    <p:sldId id="324" r:id="rId8"/>
    <p:sldId id="309" r:id="rId9"/>
    <p:sldId id="270" r:id="rId10"/>
    <p:sldId id="272" r:id="rId11"/>
  </p:sldIdLst>
  <p:sldSz cx="12192000" cy="6858000"/>
  <p:notesSz cx="6858000" cy="9144000"/>
  <p:custDataLst>
    <p:tags r:id="rId1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70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445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31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gs" Target="tags/tag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23C1A7-F5B7-4AA8-BE5C-3EBB4C325CAA}" type="datetimeFigureOut">
              <a:rPr lang="zh-CN" altLang="en-US" smtClean="0"/>
              <a:t>2023/12/14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5740759-6F8B-47D5-BFCB-CD419125BA7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70539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740759-6F8B-47D5-BFCB-CD419125BA7D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50335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740759-6F8B-47D5-BFCB-CD419125BA7D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847483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740759-6F8B-47D5-BFCB-CD419125BA7D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14164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740759-6F8B-47D5-BFCB-CD419125BA7D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082143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B8B736-7EE7-46E3-9B3E-54F16E7B93B0}" type="datetimeFigureOut">
              <a:rPr lang="zh-CN" altLang="en-US" smtClean="0"/>
              <a:t>2023/12/14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6276E2-E6B6-4A88-9AB6-DEFA7A88BD0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B8B736-7EE7-46E3-9B3E-54F16E7B93B0}" type="datetimeFigureOut">
              <a:rPr lang="zh-CN" altLang="en-US" smtClean="0"/>
              <a:t>2023/12/14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6276E2-E6B6-4A88-9AB6-DEFA7A88BD0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B8B736-7EE7-46E3-9B3E-54F16E7B93B0}" type="datetimeFigureOut">
              <a:rPr lang="zh-CN" altLang="en-US" smtClean="0"/>
              <a:t>2023/12/14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6276E2-E6B6-4A88-9AB6-DEFA7A88BD0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B8B736-7EE7-46E3-9B3E-54F16E7B93B0}" type="datetimeFigureOut">
              <a:rPr lang="zh-CN" altLang="en-US" smtClean="0"/>
              <a:t>2023/12/14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6276E2-E6B6-4A88-9AB6-DEFA7A88BD0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B8B736-7EE7-46E3-9B3E-54F16E7B93B0}" type="datetimeFigureOut">
              <a:rPr lang="zh-CN" altLang="en-US" smtClean="0"/>
              <a:t>2023/12/14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6276E2-E6B6-4A88-9AB6-DEFA7A88BD0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B8B736-7EE7-46E3-9B3E-54F16E7B93B0}" type="datetimeFigureOut">
              <a:rPr lang="zh-CN" altLang="en-US" smtClean="0"/>
              <a:t>2023/12/14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6276E2-E6B6-4A88-9AB6-DEFA7A88BD0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B8B736-7EE7-46E3-9B3E-54F16E7B93B0}" type="datetimeFigureOut">
              <a:rPr lang="zh-CN" altLang="en-US" smtClean="0"/>
              <a:t>2023/12/14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6276E2-E6B6-4A88-9AB6-DEFA7A88BD0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B8B736-7EE7-46E3-9B3E-54F16E7B93B0}" type="datetimeFigureOut">
              <a:rPr lang="zh-CN" altLang="en-US" smtClean="0"/>
              <a:t>2023/12/14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6276E2-E6B6-4A88-9AB6-DEFA7A88BD0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B8B736-7EE7-46E3-9B3E-54F16E7B93B0}" type="datetimeFigureOut">
              <a:rPr lang="zh-CN" altLang="en-US" smtClean="0"/>
              <a:t>2023/12/14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6276E2-E6B6-4A88-9AB6-DEFA7A88BD0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B8B736-7EE7-46E3-9B3E-54F16E7B93B0}" type="datetimeFigureOut">
              <a:rPr lang="zh-CN" altLang="en-US" smtClean="0"/>
              <a:t>2023/12/14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6276E2-E6B6-4A88-9AB6-DEFA7A88BD0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B8B736-7EE7-46E3-9B3E-54F16E7B93B0}" type="datetimeFigureOut">
              <a:rPr lang="zh-CN" altLang="en-US" smtClean="0"/>
              <a:t>2023/12/14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6276E2-E6B6-4A88-9AB6-DEFA7A88BD0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B8B736-7EE7-46E3-9B3E-54F16E7B93B0}" type="datetimeFigureOut">
              <a:rPr lang="zh-CN" altLang="en-US" smtClean="0"/>
              <a:t>2023/12/14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6276E2-E6B6-4A88-9AB6-DEFA7A88BD0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5.xml"/><Relationship Id="rId1" Type="http://schemas.openxmlformats.org/officeDocument/2006/relationships/tags" Target="../tags/tag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7.xml"/><Relationship Id="rId1" Type="http://schemas.openxmlformats.org/officeDocument/2006/relationships/tags" Target="../tags/tag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9.xml"/><Relationship Id="rId1" Type="http://schemas.openxmlformats.org/officeDocument/2006/relationships/tags" Target="../tags/tag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834025" y="1399295"/>
            <a:ext cx="9144000" cy="2387600"/>
          </a:xfrm>
        </p:spPr>
        <p:txBody>
          <a:bodyPr>
            <a:normAutofit/>
          </a:bodyPr>
          <a:lstStyle/>
          <a:p>
            <a:r>
              <a:rPr lang="zh-CN" altLang="en-US" sz="4800" b="1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智能</a:t>
            </a:r>
            <a:r>
              <a:rPr lang="zh-CN" altLang="en-US" sz="4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指针使用不当导致的问题</a:t>
            </a:r>
            <a:r>
              <a:rPr lang="en-US" altLang="zh-CN" sz="4800" b="1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——</a:t>
            </a:r>
            <a:r>
              <a:rPr lang="zh-CN" altLang="en-US" sz="4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经验教训</a:t>
            </a:r>
            <a:endParaRPr lang="zh-CN" altLang="en-US" sz="48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9697034" y="5344008"/>
            <a:ext cx="1818973" cy="9220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303030"/>
                </a:solidFill>
                <a:latin typeface="+mn-ea"/>
                <a:cs typeface="+mn-ea"/>
              </a:rPr>
              <a:t>薛翔宇</a:t>
            </a:r>
            <a:endParaRPr lang="en-US" altLang="zh-CN" dirty="0" smtClean="0">
              <a:solidFill>
                <a:srgbClr val="303030"/>
              </a:solidFill>
              <a:latin typeface="+mn-ea"/>
              <a:cs typeface="+mn-ea"/>
            </a:endParaRPr>
          </a:p>
          <a:p>
            <a:r>
              <a:rPr lang="en-US" altLang="zh-CN" dirty="0" smtClean="0">
                <a:solidFill>
                  <a:srgbClr val="303030"/>
                </a:solidFill>
                <a:latin typeface="+mn-ea"/>
                <a:cs typeface="+mn-ea"/>
              </a:rPr>
              <a:t>2023.12</a:t>
            </a:r>
          </a:p>
          <a:p>
            <a:endParaRPr lang="en-US" altLang="zh-CN" dirty="0" smtClean="0">
              <a:solidFill>
                <a:srgbClr val="303030"/>
              </a:solidFill>
              <a:latin typeface="+mn-ea"/>
              <a:cs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73"/>
          <p:cNvSpPr txBox="1"/>
          <p:nvPr/>
        </p:nvSpPr>
        <p:spPr>
          <a:xfrm>
            <a:off x="4525332" y="3341397"/>
            <a:ext cx="55043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对策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椭圆 4"/>
          <p:cNvSpPr/>
          <p:nvPr/>
        </p:nvSpPr>
        <p:spPr>
          <a:xfrm rot="10800000" flipV="1">
            <a:off x="3809083" y="1173647"/>
            <a:ext cx="568308" cy="566515"/>
          </a:xfrm>
          <a:prstGeom prst="ellipse">
            <a:avLst/>
          </a:prstGeom>
          <a:solidFill>
            <a:srgbClr val="005A9E"/>
          </a:solidFill>
          <a:ln>
            <a:noFill/>
          </a:ln>
          <a:effectLst>
            <a:outerShdw blurRad="292100" dist="215900" dir="708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1" lang="en-US" altLang="zh-CN" sz="1600" b="1" dirty="0"/>
              <a:t>01</a:t>
            </a:r>
            <a:endParaRPr kumimoji="1" lang="zh-CN" altLang="en-US" sz="1600" b="1" dirty="0"/>
          </a:p>
        </p:txBody>
      </p:sp>
      <p:sp>
        <p:nvSpPr>
          <p:cNvPr id="7" name="椭圆 6"/>
          <p:cNvSpPr/>
          <p:nvPr/>
        </p:nvSpPr>
        <p:spPr>
          <a:xfrm rot="10800000" flipV="1">
            <a:off x="3809084" y="2257940"/>
            <a:ext cx="568308" cy="566515"/>
          </a:xfrm>
          <a:prstGeom prst="ellipse">
            <a:avLst/>
          </a:prstGeom>
          <a:solidFill>
            <a:srgbClr val="005A9E"/>
          </a:solidFill>
          <a:ln>
            <a:noFill/>
          </a:ln>
          <a:effectLst>
            <a:outerShdw blurRad="292100" dist="215900" dir="708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1" lang="en-US" altLang="zh-CN" sz="1600" b="1" dirty="0"/>
              <a:t>02</a:t>
            </a:r>
            <a:endParaRPr kumimoji="1" lang="zh-CN" altLang="en-US" sz="1600" b="1" dirty="0"/>
          </a:p>
        </p:txBody>
      </p:sp>
      <p:sp>
        <p:nvSpPr>
          <p:cNvPr id="9" name="椭圆 8"/>
          <p:cNvSpPr/>
          <p:nvPr/>
        </p:nvSpPr>
        <p:spPr>
          <a:xfrm rot="10800000" flipV="1">
            <a:off x="3809084" y="3273429"/>
            <a:ext cx="568308" cy="566515"/>
          </a:xfrm>
          <a:prstGeom prst="ellipse">
            <a:avLst/>
          </a:prstGeom>
          <a:solidFill>
            <a:srgbClr val="005A9E"/>
          </a:solidFill>
          <a:ln>
            <a:noFill/>
          </a:ln>
          <a:effectLst>
            <a:outerShdw blurRad="292100" dist="215900" dir="708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1" lang="en-US" altLang="zh-CN" sz="1600" b="1" dirty="0"/>
              <a:t>03</a:t>
            </a:r>
            <a:endParaRPr kumimoji="1" lang="zh-CN" altLang="en-US" sz="1600" b="1" dirty="0"/>
          </a:p>
        </p:txBody>
      </p:sp>
      <p:sp>
        <p:nvSpPr>
          <p:cNvPr id="12" name="TextBox 39"/>
          <p:cNvSpPr txBox="1"/>
          <p:nvPr/>
        </p:nvSpPr>
        <p:spPr>
          <a:xfrm>
            <a:off x="1909229" y="1867248"/>
            <a:ext cx="842013" cy="156966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</a:t>
            </a:r>
            <a:endParaRPr lang="en-US" altLang="zh-CN" sz="48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4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录</a:t>
            </a:r>
          </a:p>
        </p:txBody>
      </p:sp>
      <p:cxnSp>
        <p:nvCxnSpPr>
          <p:cNvPr id="13" name="直接连接符 12"/>
          <p:cNvCxnSpPr/>
          <p:nvPr/>
        </p:nvCxnSpPr>
        <p:spPr>
          <a:xfrm>
            <a:off x="3144407" y="1207803"/>
            <a:ext cx="45799" cy="3517341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本框 79"/>
          <p:cNvSpPr txBox="1"/>
          <p:nvPr/>
        </p:nvSpPr>
        <p:spPr>
          <a:xfrm>
            <a:off x="4525331" y="2256098"/>
            <a:ext cx="55043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分析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椭圆 15"/>
          <p:cNvSpPr/>
          <p:nvPr/>
        </p:nvSpPr>
        <p:spPr>
          <a:xfrm rot="10800000" flipV="1">
            <a:off x="3809082" y="4229022"/>
            <a:ext cx="568308" cy="566515"/>
          </a:xfrm>
          <a:prstGeom prst="ellipse">
            <a:avLst/>
          </a:prstGeom>
          <a:solidFill>
            <a:srgbClr val="005A9E"/>
          </a:solidFill>
          <a:ln>
            <a:noFill/>
          </a:ln>
          <a:effectLst>
            <a:outerShdw blurRad="292100" dist="215900" dir="708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1" lang="en-US" altLang="zh-CN" sz="1600" b="1" dirty="0" smtClean="0"/>
              <a:t>04</a:t>
            </a:r>
            <a:endParaRPr kumimoji="1" lang="zh-CN" altLang="en-US" sz="1600" b="1" dirty="0"/>
          </a:p>
        </p:txBody>
      </p:sp>
      <p:sp>
        <p:nvSpPr>
          <p:cNvPr id="18" name="文本框 73"/>
          <p:cNvSpPr txBox="1"/>
          <p:nvPr/>
        </p:nvSpPr>
        <p:spPr>
          <a:xfrm>
            <a:off x="4525331" y="1170800"/>
            <a:ext cx="55043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问题现象描述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文本框 79"/>
          <p:cNvSpPr txBox="1"/>
          <p:nvPr/>
        </p:nvSpPr>
        <p:spPr>
          <a:xfrm>
            <a:off x="4525331" y="4333873"/>
            <a:ext cx="55043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经验总结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16" presetClass="entr" presetSubtype="4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550"/>
                            </p:stCondLst>
                            <p:childTnLst>
                              <p:par>
                                <p:cTn id="2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050"/>
                            </p:stCondLst>
                            <p:childTnLst>
                              <p:par>
                                <p:cTn id="3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600"/>
                            </p:stCondLst>
                            <p:childTnLst>
                              <p:par>
                                <p:cTn id="4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animBg="1"/>
      <p:bldP spid="7" grpId="0" animBg="1"/>
      <p:bldP spid="9" grpId="0" animBg="1"/>
      <p:bldP spid="12" grpId="0"/>
      <p:bldP spid="15" grpId="0"/>
      <p:bldP spid="16" grpId="0" animBg="1"/>
      <p:bldP spid="18" grpId="0"/>
      <p:bldP spid="1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73"/>
          <p:cNvSpPr txBox="1"/>
          <p:nvPr/>
        </p:nvSpPr>
        <p:spPr>
          <a:xfrm>
            <a:off x="963529" y="204560"/>
            <a:ext cx="55043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问题现象描述</a:t>
            </a:r>
          </a:p>
        </p:txBody>
      </p:sp>
      <p:sp>
        <p:nvSpPr>
          <p:cNvPr id="10" name="椭圆 9"/>
          <p:cNvSpPr/>
          <p:nvPr/>
        </p:nvSpPr>
        <p:spPr>
          <a:xfrm rot="10800000" flipV="1">
            <a:off x="247278" y="143646"/>
            <a:ext cx="568308" cy="566515"/>
          </a:xfrm>
          <a:prstGeom prst="ellipse">
            <a:avLst/>
          </a:prstGeom>
          <a:solidFill>
            <a:srgbClr val="005A9E"/>
          </a:solidFill>
          <a:ln>
            <a:noFill/>
          </a:ln>
          <a:effectLst>
            <a:outerShdw blurRad="292100" dist="215900" dir="708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1" lang="en-US" altLang="zh-CN" sz="1600" b="1" dirty="0" smtClean="0">
                <a:latin typeface="+mn-ea"/>
              </a:rPr>
              <a:t>01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1030605" y="1073785"/>
            <a:ext cx="870267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+mn-ea"/>
                <a:cs typeface="+mn-ea"/>
              </a:rPr>
              <a:t>1</a:t>
            </a:r>
            <a:r>
              <a:rPr lang="zh-CN" altLang="en-US" dirty="0" smtClean="0">
                <a:latin typeface="+mn-ea"/>
                <a:cs typeface="+mn-ea"/>
              </a:rPr>
              <a:t>、在调用</a:t>
            </a:r>
            <a:r>
              <a:rPr lang="en-US" altLang="zh-CN" dirty="0" err="1" smtClean="0">
                <a:latin typeface="+mn-ea"/>
                <a:cs typeface="+mn-ea"/>
              </a:rPr>
              <a:t>hidl</a:t>
            </a:r>
            <a:r>
              <a:rPr lang="zh-CN" altLang="en-US" dirty="0" smtClean="0">
                <a:latin typeface="+mn-ea"/>
                <a:cs typeface="+mn-ea"/>
              </a:rPr>
              <a:t>接口时应用崩溃退出。</a:t>
            </a:r>
            <a:endParaRPr lang="zh-CN" altLang="en-US" dirty="0">
              <a:latin typeface="+mn-ea"/>
              <a:cs typeface="+mn-ea"/>
            </a:endParaRPr>
          </a:p>
          <a:p>
            <a:endParaRPr lang="zh-CN" altLang="en-US" dirty="0">
              <a:latin typeface="+mn-ea"/>
              <a:cs typeface="+mn-ea"/>
            </a:endParaRPr>
          </a:p>
          <a:p>
            <a:r>
              <a:rPr lang="en-US" altLang="zh-CN" dirty="0" smtClean="0">
                <a:latin typeface="+mn-ea"/>
                <a:cs typeface="+mn-ea"/>
              </a:rPr>
              <a:t>2</a:t>
            </a:r>
            <a:r>
              <a:rPr lang="zh-CN" altLang="en-US" dirty="0" smtClean="0">
                <a:latin typeface="+mn-ea"/>
                <a:cs typeface="+mn-ea"/>
              </a:rPr>
              <a:t>、调用任意接口都发生此现象</a:t>
            </a:r>
            <a:endParaRPr lang="en-US" altLang="zh-CN" dirty="0" smtClean="0">
              <a:latin typeface="+mn-ea"/>
              <a:cs typeface="+mn-ea"/>
            </a:endParaRPr>
          </a:p>
          <a:p>
            <a:endParaRPr lang="en-US" altLang="zh-CN" b="0" i="0" u="none" strike="noStrike" dirty="0">
              <a:solidFill>
                <a:srgbClr val="FF0000"/>
              </a:solidFill>
              <a:effectLst/>
              <a:latin typeface="+mn-ea"/>
              <a:cs typeface="+mn-ea"/>
            </a:endParaRPr>
          </a:p>
          <a:p>
            <a:r>
              <a:rPr lang="en-US" altLang="zh-CN" dirty="0">
                <a:latin typeface="+mn-ea"/>
                <a:cs typeface="+mn-ea"/>
              </a:rPr>
              <a:t>3</a:t>
            </a:r>
            <a:r>
              <a:rPr lang="zh-CN" altLang="en-US" dirty="0" smtClean="0">
                <a:latin typeface="+mn-ea"/>
                <a:cs typeface="+mn-ea"/>
              </a:rPr>
              <a:t>、</a:t>
            </a:r>
            <a:r>
              <a:rPr lang="en-US" altLang="zh-CN" dirty="0" err="1" smtClean="0">
                <a:latin typeface="+mn-ea"/>
                <a:cs typeface="+mn-ea"/>
              </a:rPr>
              <a:t>hal</a:t>
            </a:r>
            <a:r>
              <a:rPr lang="zh-CN" altLang="en-US" dirty="0">
                <a:latin typeface="+mn-ea"/>
                <a:cs typeface="+mn-ea"/>
              </a:rPr>
              <a:t>服务端没收到</a:t>
            </a:r>
            <a:r>
              <a:rPr lang="zh-CN" altLang="en-US" dirty="0" smtClean="0">
                <a:latin typeface="+mn-ea"/>
                <a:cs typeface="+mn-ea"/>
              </a:rPr>
              <a:t>调用</a:t>
            </a:r>
            <a:endParaRPr lang="en-US" altLang="zh-CN" dirty="0" smtClean="0">
              <a:latin typeface="+mn-ea"/>
              <a:cs typeface="+mn-ea"/>
            </a:endParaRPr>
          </a:p>
          <a:p>
            <a:endParaRPr lang="en-US" altLang="zh-CN" b="0" i="0" u="none" strike="noStrike" dirty="0">
              <a:solidFill>
                <a:srgbClr val="FF0000"/>
              </a:solidFill>
              <a:effectLst/>
              <a:latin typeface="+mn-ea"/>
              <a:cs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0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73"/>
          <p:cNvSpPr txBox="1"/>
          <p:nvPr>
            <p:custDataLst>
              <p:tags r:id="rId1"/>
            </p:custDataLst>
          </p:nvPr>
        </p:nvSpPr>
        <p:spPr>
          <a:xfrm>
            <a:off x="963529" y="204560"/>
            <a:ext cx="55043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分析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椭圆 9"/>
          <p:cNvSpPr/>
          <p:nvPr>
            <p:custDataLst>
              <p:tags r:id="rId2"/>
            </p:custDataLst>
          </p:nvPr>
        </p:nvSpPr>
        <p:spPr>
          <a:xfrm rot="10800000" flipV="1">
            <a:off x="247278" y="143646"/>
            <a:ext cx="568308" cy="566515"/>
          </a:xfrm>
          <a:prstGeom prst="ellipse">
            <a:avLst/>
          </a:prstGeom>
          <a:solidFill>
            <a:srgbClr val="005A9E"/>
          </a:solidFill>
          <a:ln>
            <a:noFill/>
          </a:ln>
          <a:effectLst>
            <a:outerShdw blurRad="292100" dist="215900" dir="708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1" lang="en-US" altLang="zh-CN" sz="1600" b="1" dirty="0" smtClean="0"/>
              <a:t>02</a:t>
            </a:r>
            <a:endParaRPr kumimoji="1" lang="zh-CN" altLang="en-US" sz="1600" b="1" dirty="0"/>
          </a:p>
        </p:txBody>
      </p:sp>
      <p:sp>
        <p:nvSpPr>
          <p:cNvPr id="5" name="文本框 4"/>
          <p:cNvSpPr txBox="1"/>
          <p:nvPr/>
        </p:nvSpPr>
        <p:spPr>
          <a:xfrm>
            <a:off x="1030605" y="1073785"/>
            <a:ext cx="870267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+mn-ea"/>
                <a:cs typeface="+mn-ea"/>
              </a:rPr>
              <a:t>1</a:t>
            </a:r>
            <a:r>
              <a:rPr lang="zh-CN" altLang="en-US" dirty="0" smtClean="0">
                <a:latin typeface="+mn-ea"/>
                <a:cs typeface="+mn-ea"/>
              </a:rPr>
              <a:t>、先查看日志</a:t>
            </a:r>
            <a:endParaRPr lang="en-US" altLang="zh-CN" dirty="0" smtClean="0">
              <a:latin typeface="+mn-ea"/>
              <a:cs typeface="+mn-ea"/>
            </a:endParaRPr>
          </a:p>
          <a:p>
            <a:endParaRPr lang="en-US" altLang="zh-CN" dirty="0">
              <a:latin typeface="+mn-ea"/>
              <a:cs typeface="+mn-ea"/>
            </a:endParaRPr>
          </a:p>
          <a:p>
            <a:endParaRPr lang="zh-CN" altLang="en-US" dirty="0">
              <a:latin typeface="+mn-ea"/>
              <a:cs typeface="+mn-ea"/>
            </a:endParaRPr>
          </a:p>
          <a:p>
            <a:endParaRPr lang="en-US" altLang="zh-CN" b="0" i="0" u="none" strike="noStrike" dirty="0">
              <a:solidFill>
                <a:srgbClr val="FF0000"/>
              </a:solidFill>
              <a:effectLst/>
              <a:latin typeface="+mn-ea"/>
              <a:cs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0605" y="1550973"/>
            <a:ext cx="7819048" cy="267619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1030605" y="4397828"/>
            <a:ext cx="7625715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提示在空指针上面解引用。再看代码：</a:t>
            </a:r>
            <a:endParaRPr lang="en-US" altLang="zh-CN" dirty="0" smtClean="0"/>
          </a:p>
          <a:p>
            <a:r>
              <a:rPr lang="en-US" altLang="zh-CN" dirty="0" err="1" smtClean="0"/>
              <a:t>serviceTa</a:t>
            </a:r>
            <a:r>
              <a:rPr lang="en-US" altLang="zh-CN" dirty="0" smtClean="0"/>
              <a:t> </a:t>
            </a:r>
            <a:r>
              <a:rPr lang="en-US" altLang="zh-CN" dirty="0"/>
              <a:t>= ITA100Common::</a:t>
            </a:r>
            <a:r>
              <a:rPr lang="en-US" altLang="zh-CN" dirty="0" err="1"/>
              <a:t>getService</a:t>
            </a:r>
            <a:r>
              <a:rPr lang="en-US" altLang="zh-CN" dirty="0" smtClean="0"/>
              <a:t>(); </a:t>
            </a:r>
            <a:r>
              <a:rPr lang="en-US" altLang="zh-CN" dirty="0"/>
              <a:t>// </a:t>
            </a:r>
            <a:r>
              <a:rPr lang="en-US" altLang="zh-CN" dirty="0" err="1"/>
              <a:t>serviceTa</a:t>
            </a:r>
            <a:r>
              <a:rPr lang="en-US" altLang="zh-CN" dirty="0"/>
              <a:t> </a:t>
            </a:r>
            <a:r>
              <a:rPr lang="zh-CN" altLang="en-US" dirty="0"/>
              <a:t>是类</a:t>
            </a:r>
            <a:r>
              <a:rPr lang="zh-CN" altLang="en-US" dirty="0" smtClean="0"/>
              <a:t>成员</a:t>
            </a:r>
            <a:endParaRPr lang="en-US" altLang="zh-CN" dirty="0"/>
          </a:p>
          <a:p>
            <a:r>
              <a:rPr lang="en-US" altLang="zh-CN" dirty="0"/>
              <a:t>  if (</a:t>
            </a:r>
            <a:r>
              <a:rPr lang="en-US" altLang="zh-CN" dirty="0" err="1"/>
              <a:t>serviceTa</a:t>
            </a:r>
            <a:r>
              <a:rPr lang="en-US" altLang="zh-CN" dirty="0"/>
              <a:t> == </a:t>
            </a:r>
            <a:r>
              <a:rPr lang="en-US" altLang="zh-CN" dirty="0" err="1"/>
              <a:t>nullptr</a:t>
            </a:r>
            <a:r>
              <a:rPr lang="en-US" altLang="zh-CN" dirty="0"/>
              <a:t>) {</a:t>
            </a:r>
          </a:p>
          <a:p>
            <a:r>
              <a:rPr lang="en-US" altLang="zh-CN" dirty="0"/>
              <a:t>    LOGE("Failed to get TA Service");</a:t>
            </a:r>
          </a:p>
          <a:p>
            <a:r>
              <a:rPr lang="en-US" altLang="zh-CN" dirty="0"/>
              <a:t>    return;</a:t>
            </a:r>
          </a:p>
          <a:p>
            <a:r>
              <a:rPr lang="en-US" altLang="zh-CN" dirty="0"/>
              <a:t>  }</a:t>
            </a:r>
          </a:p>
          <a:p>
            <a:r>
              <a:rPr lang="en-US" altLang="zh-CN" dirty="0" smtClean="0"/>
              <a:t>….</a:t>
            </a:r>
          </a:p>
          <a:p>
            <a:r>
              <a:rPr lang="en-US" altLang="zh-CN" dirty="0" err="1"/>
              <a:t>serviceTa</a:t>
            </a:r>
            <a:r>
              <a:rPr lang="en-US" altLang="zh-CN" dirty="0"/>
              <a:t>-&gt;</a:t>
            </a:r>
            <a:r>
              <a:rPr lang="en-US" altLang="zh-CN" dirty="0" err="1" smtClean="0"/>
              <a:t>getSoftVersion</a:t>
            </a:r>
            <a:r>
              <a:rPr lang="en-US" altLang="zh-CN" dirty="0" smtClean="0"/>
              <a:t>(xxx</a:t>
            </a:r>
            <a:endParaRPr lang="en-US" altLang="zh-CN" dirty="0"/>
          </a:p>
          <a:p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0" grpId="0" bldLvl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73"/>
          <p:cNvSpPr txBox="1"/>
          <p:nvPr>
            <p:custDataLst>
              <p:tags r:id="rId1"/>
            </p:custDataLst>
          </p:nvPr>
        </p:nvSpPr>
        <p:spPr>
          <a:xfrm>
            <a:off x="963529" y="204560"/>
            <a:ext cx="55043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分析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椭圆 9"/>
          <p:cNvSpPr/>
          <p:nvPr>
            <p:custDataLst>
              <p:tags r:id="rId2"/>
            </p:custDataLst>
          </p:nvPr>
        </p:nvSpPr>
        <p:spPr>
          <a:xfrm rot="10800000" flipV="1">
            <a:off x="247278" y="143646"/>
            <a:ext cx="568308" cy="566515"/>
          </a:xfrm>
          <a:prstGeom prst="ellipse">
            <a:avLst/>
          </a:prstGeom>
          <a:solidFill>
            <a:srgbClr val="005A9E"/>
          </a:solidFill>
          <a:ln>
            <a:noFill/>
          </a:ln>
          <a:effectLst>
            <a:outerShdw blurRad="292100" dist="215900" dir="708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1" lang="en-US" altLang="zh-CN" sz="1600" b="1" dirty="0" smtClean="0"/>
              <a:t>02</a:t>
            </a:r>
            <a:endParaRPr kumimoji="1" lang="zh-CN" altLang="en-US" sz="1600" b="1" dirty="0"/>
          </a:p>
        </p:txBody>
      </p:sp>
      <p:sp>
        <p:nvSpPr>
          <p:cNvPr id="5" name="文本框 4"/>
          <p:cNvSpPr txBox="1"/>
          <p:nvPr/>
        </p:nvSpPr>
        <p:spPr>
          <a:xfrm>
            <a:off x="1030605" y="950808"/>
            <a:ext cx="870267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>
                <a:latin typeface="+mn-ea"/>
                <a:cs typeface="+mn-ea"/>
              </a:rPr>
              <a:t>2</a:t>
            </a:r>
            <a:r>
              <a:rPr lang="zh-CN" altLang="en-US" dirty="0" smtClean="0">
                <a:latin typeface="+mn-ea"/>
                <a:cs typeface="+mn-ea"/>
              </a:rPr>
              <a:t>、</a:t>
            </a:r>
            <a:r>
              <a:rPr lang="en-US" altLang="zh-CN" dirty="0">
                <a:latin typeface="+mn-ea"/>
                <a:cs typeface="+mn-ea"/>
              </a:rPr>
              <a:t> </a:t>
            </a:r>
            <a:r>
              <a:rPr lang="en-US" altLang="zh-CN" dirty="0" err="1">
                <a:latin typeface="+mn-ea"/>
                <a:cs typeface="+mn-ea"/>
              </a:rPr>
              <a:t>hal</a:t>
            </a:r>
            <a:r>
              <a:rPr lang="zh-CN" altLang="en-US" dirty="0">
                <a:latin typeface="+mn-ea"/>
                <a:cs typeface="+mn-ea"/>
              </a:rPr>
              <a:t>服务端没收到调用</a:t>
            </a:r>
            <a:r>
              <a:rPr lang="en-US" altLang="zh-CN" dirty="0">
                <a:latin typeface="+mn-ea"/>
                <a:cs typeface="+mn-ea"/>
              </a:rPr>
              <a:t>,</a:t>
            </a:r>
            <a:r>
              <a:rPr lang="zh-CN" altLang="en-US" dirty="0">
                <a:latin typeface="+mn-ea"/>
                <a:cs typeface="+mn-ea"/>
              </a:rPr>
              <a:t>说明问题就发生在客户端调用</a:t>
            </a:r>
            <a:r>
              <a:rPr lang="zh-CN" altLang="en-US" dirty="0" smtClean="0">
                <a:latin typeface="+mn-ea"/>
                <a:cs typeface="+mn-ea"/>
              </a:rPr>
              <a:t>上，日志提示</a:t>
            </a:r>
            <a:r>
              <a:rPr lang="en-US" altLang="zh-CN" dirty="0">
                <a:latin typeface="+mn-ea"/>
                <a:cs typeface="+mn-ea"/>
              </a:rPr>
              <a:t>null pointer </a:t>
            </a:r>
            <a:r>
              <a:rPr lang="en-US" altLang="zh-CN" dirty="0" smtClean="0">
                <a:latin typeface="+mn-ea"/>
                <a:cs typeface="+mn-ea"/>
              </a:rPr>
              <a:t>dereference</a:t>
            </a:r>
            <a:r>
              <a:rPr lang="zh-CN" altLang="en-US" dirty="0" smtClean="0">
                <a:latin typeface="+mn-ea"/>
                <a:cs typeface="+mn-ea"/>
              </a:rPr>
              <a:t>。所以试着查找哪个对象是</a:t>
            </a:r>
            <a:r>
              <a:rPr lang="en-US" altLang="zh-CN" dirty="0" smtClean="0">
                <a:latin typeface="+mn-ea"/>
                <a:cs typeface="+mn-ea"/>
              </a:rPr>
              <a:t>null</a:t>
            </a:r>
          </a:p>
          <a:p>
            <a:r>
              <a:rPr lang="zh-CN" altLang="en-US" dirty="0" smtClean="0">
                <a:latin typeface="+mn-ea"/>
                <a:cs typeface="+mn-ea"/>
              </a:rPr>
              <a:t>分析代码，从代码看不出哪个对象可能是空的，所以加日志，把上下代码每个对象都判空打印日志。</a:t>
            </a:r>
            <a:endParaRPr lang="en-US" altLang="zh-CN" dirty="0">
              <a:latin typeface="+mn-ea"/>
              <a:cs typeface="+mn-ea"/>
            </a:endParaRPr>
          </a:p>
          <a:p>
            <a:endParaRPr lang="en-US" altLang="zh-CN" dirty="0" smtClean="0">
              <a:latin typeface="+mn-ea"/>
              <a:cs typeface="+mn-ea"/>
            </a:endParaRPr>
          </a:p>
          <a:p>
            <a:r>
              <a:rPr lang="zh-CN" altLang="en-US" dirty="0" smtClean="0">
                <a:latin typeface="+mn-ea"/>
                <a:cs typeface="+mn-ea"/>
              </a:rPr>
              <a:t>结果是每个对象都不为空。</a:t>
            </a:r>
            <a:endParaRPr lang="en-US" altLang="zh-CN" dirty="0">
              <a:latin typeface="+mn-ea"/>
              <a:cs typeface="+mn-ea"/>
            </a:endParaRPr>
          </a:p>
          <a:p>
            <a:endParaRPr lang="zh-CN" altLang="en-US" dirty="0">
              <a:latin typeface="+mn-ea"/>
              <a:cs typeface="+mn-ea"/>
            </a:endParaRPr>
          </a:p>
          <a:p>
            <a:endParaRPr lang="en-US" altLang="zh-CN" b="0" i="0" u="none" strike="noStrike" dirty="0">
              <a:solidFill>
                <a:srgbClr val="FF0000"/>
              </a:solidFill>
              <a:effectLst/>
              <a:latin typeface="+mn-ea"/>
              <a:cs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1940586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0" grpId="0" bldLvl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73"/>
          <p:cNvSpPr txBox="1"/>
          <p:nvPr>
            <p:custDataLst>
              <p:tags r:id="rId1"/>
            </p:custDataLst>
          </p:nvPr>
        </p:nvSpPr>
        <p:spPr>
          <a:xfrm>
            <a:off x="963529" y="204560"/>
            <a:ext cx="55043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分析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椭圆 9"/>
          <p:cNvSpPr/>
          <p:nvPr>
            <p:custDataLst>
              <p:tags r:id="rId2"/>
            </p:custDataLst>
          </p:nvPr>
        </p:nvSpPr>
        <p:spPr>
          <a:xfrm rot="10800000" flipV="1">
            <a:off x="247278" y="143646"/>
            <a:ext cx="568308" cy="566515"/>
          </a:xfrm>
          <a:prstGeom prst="ellipse">
            <a:avLst/>
          </a:prstGeom>
          <a:solidFill>
            <a:srgbClr val="005A9E"/>
          </a:solidFill>
          <a:ln>
            <a:noFill/>
          </a:ln>
          <a:effectLst>
            <a:outerShdw blurRad="292100" dist="215900" dir="708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1" lang="en-US" altLang="zh-CN" sz="1600" b="1" dirty="0" smtClean="0"/>
              <a:t>02</a:t>
            </a:r>
            <a:endParaRPr kumimoji="1" lang="zh-CN" altLang="en-US" sz="1600" b="1" dirty="0"/>
          </a:p>
        </p:txBody>
      </p:sp>
      <p:sp>
        <p:nvSpPr>
          <p:cNvPr id="5" name="文本框 4"/>
          <p:cNvSpPr txBox="1"/>
          <p:nvPr/>
        </p:nvSpPr>
        <p:spPr>
          <a:xfrm>
            <a:off x="815586" y="924683"/>
            <a:ext cx="8702675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3</a:t>
            </a:r>
            <a:r>
              <a:rPr lang="zh-CN" altLang="en-US" dirty="0" smtClean="0"/>
              <a:t>、把</a:t>
            </a:r>
            <a:r>
              <a:rPr lang="en-US" altLang="zh-CN" dirty="0" smtClean="0"/>
              <a:t> </a:t>
            </a:r>
            <a:r>
              <a:rPr lang="en-US" altLang="zh-CN" dirty="0" err="1" smtClean="0"/>
              <a:t>serviceTa</a:t>
            </a:r>
            <a:r>
              <a:rPr lang="en-US" altLang="zh-CN" dirty="0" smtClean="0"/>
              <a:t> </a:t>
            </a:r>
            <a:r>
              <a:rPr lang="zh-CN" altLang="en-US" dirty="0" smtClean="0"/>
              <a:t>变成局部变量，放到调用位置起那么就好了：</a:t>
            </a:r>
            <a:endParaRPr lang="en-US" altLang="zh-CN" dirty="0" smtClean="0"/>
          </a:p>
          <a:p>
            <a:r>
              <a:rPr lang="en-US" altLang="zh-CN" dirty="0" err="1"/>
              <a:t>sp</a:t>
            </a:r>
            <a:r>
              <a:rPr lang="en-US" altLang="zh-CN" dirty="0"/>
              <a:t>&lt;ITA100Common</a:t>
            </a:r>
            <a:r>
              <a:rPr lang="en-US" altLang="zh-CN" dirty="0" smtClean="0"/>
              <a:t>&gt; </a:t>
            </a:r>
            <a:r>
              <a:rPr lang="en-US" altLang="zh-CN" dirty="0" err="1" smtClean="0"/>
              <a:t>serviceTa</a:t>
            </a:r>
            <a:r>
              <a:rPr lang="en-US" altLang="zh-CN" dirty="0" smtClean="0"/>
              <a:t> </a:t>
            </a:r>
            <a:r>
              <a:rPr lang="en-US" altLang="zh-CN" dirty="0"/>
              <a:t>= ITA100Common::</a:t>
            </a:r>
            <a:r>
              <a:rPr lang="en-US" altLang="zh-CN" dirty="0" err="1"/>
              <a:t>getService</a:t>
            </a:r>
            <a:r>
              <a:rPr lang="en-US" altLang="zh-CN" dirty="0"/>
              <a:t>();</a:t>
            </a:r>
          </a:p>
          <a:p>
            <a:r>
              <a:rPr lang="en-US" altLang="zh-CN" dirty="0" err="1"/>
              <a:t>serviceTa</a:t>
            </a:r>
            <a:r>
              <a:rPr lang="en-US" altLang="zh-CN" dirty="0"/>
              <a:t>-&gt;</a:t>
            </a:r>
            <a:r>
              <a:rPr lang="en-US" altLang="zh-CN" dirty="0" err="1" smtClean="0"/>
              <a:t>getSoftVersion</a:t>
            </a:r>
            <a:r>
              <a:rPr lang="en-US" altLang="zh-CN" dirty="0" smtClean="0"/>
              <a:t>(xxx);// OK</a:t>
            </a:r>
          </a:p>
          <a:p>
            <a:endParaRPr lang="en-US" altLang="zh-CN" dirty="0" smtClean="0"/>
          </a:p>
          <a:p>
            <a:r>
              <a:rPr lang="zh-CN" altLang="en-US" dirty="0" smtClean="0"/>
              <a:t>然后把前面的类型声明去掉，还是出问题：</a:t>
            </a:r>
            <a:endParaRPr lang="en-US" altLang="zh-CN" dirty="0" smtClean="0"/>
          </a:p>
          <a:p>
            <a:r>
              <a:rPr lang="en-US" altLang="zh-CN" dirty="0" err="1" smtClean="0"/>
              <a:t>serviceTa</a:t>
            </a:r>
            <a:r>
              <a:rPr lang="en-US" altLang="zh-CN" dirty="0" smtClean="0"/>
              <a:t> </a:t>
            </a:r>
            <a:r>
              <a:rPr lang="en-US" altLang="zh-CN" dirty="0"/>
              <a:t>= ITA100Common::</a:t>
            </a:r>
            <a:r>
              <a:rPr lang="en-US" altLang="zh-CN" dirty="0" err="1"/>
              <a:t>getService</a:t>
            </a:r>
            <a:r>
              <a:rPr lang="en-US" altLang="zh-CN" dirty="0"/>
              <a:t>();</a:t>
            </a:r>
          </a:p>
          <a:p>
            <a:r>
              <a:rPr lang="en-US" altLang="zh-CN" dirty="0" err="1"/>
              <a:t>serviceTa</a:t>
            </a:r>
            <a:r>
              <a:rPr lang="en-US" altLang="zh-CN" dirty="0"/>
              <a:t>-&gt;</a:t>
            </a:r>
            <a:r>
              <a:rPr lang="en-US" altLang="zh-CN" dirty="0" err="1"/>
              <a:t>getSoftVersion</a:t>
            </a:r>
            <a:r>
              <a:rPr lang="en-US" altLang="zh-CN" dirty="0"/>
              <a:t>(xxx);// </a:t>
            </a:r>
            <a:r>
              <a:rPr lang="zh-CN" altLang="en-US" dirty="0" smtClean="0"/>
              <a:t>崩溃</a:t>
            </a:r>
            <a:endParaRPr lang="en-US" altLang="zh-CN" dirty="0"/>
          </a:p>
          <a:p>
            <a:endParaRPr lang="en-US" altLang="zh-CN" dirty="0" smtClean="0"/>
          </a:p>
          <a:p>
            <a:r>
              <a:rPr lang="zh-CN" altLang="en-US" dirty="0" smtClean="0"/>
              <a:t>但是局部变量还是类成员，理论不会影响调用，所以这只是表象，一定存在更深刻的原因。</a:t>
            </a:r>
            <a:endParaRPr lang="en-US" altLang="zh-CN" dirty="0"/>
          </a:p>
          <a:p>
            <a:endParaRPr lang="en-US" altLang="zh-CN" b="0" i="0" u="none" strike="noStrike" dirty="0">
              <a:solidFill>
                <a:srgbClr val="FF0000"/>
              </a:solidFill>
              <a:effectLst/>
              <a:latin typeface="+mn-ea"/>
              <a:cs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4212876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0" grpId="0" bldLvl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73"/>
          <p:cNvSpPr txBox="1"/>
          <p:nvPr>
            <p:custDataLst>
              <p:tags r:id="rId1"/>
            </p:custDataLst>
          </p:nvPr>
        </p:nvSpPr>
        <p:spPr>
          <a:xfrm>
            <a:off x="963529" y="204560"/>
            <a:ext cx="55043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分析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椭圆 9"/>
          <p:cNvSpPr/>
          <p:nvPr>
            <p:custDataLst>
              <p:tags r:id="rId2"/>
            </p:custDataLst>
          </p:nvPr>
        </p:nvSpPr>
        <p:spPr>
          <a:xfrm rot="10800000" flipV="1">
            <a:off x="247278" y="143646"/>
            <a:ext cx="568308" cy="566515"/>
          </a:xfrm>
          <a:prstGeom prst="ellipse">
            <a:avLst/>
          </a:prstGeom>
          <a:solidFill>
            <a:srgbClr val="005A9E"/>
          </a:solidFill>
          <a:ln>
            <a:noFill/>
          </a:ln>
          <a:effectLst>
            <a:outerShdw blurRad="292100" dist="215900" dir="708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1" lang="en-US" altLang="zh-CN" sz="1600" b="1" dirty="0" smtClean="0"/>
              <a:t>02</a:t>
            </a:r>
            <a:endParaRPr kumimoji="1" lang="zh-CN" altLang="en-US" sz="1600" b="1" dirty="0"/>
          </a:p>
        </p:txBody>
      </p:sp>
      <p:sp>
        <p:nvSpPr>
          <p:cNvPr id="5" name="文本框 4"/>
          <p:cNvSpPr txBox="1"/>
          <p:nvPr/>
        </p:nvSpPr>
        <p:spPr>
          <a:xfrm>
            <a:off x="815586" y="924683"/>
            <a:ext cx="8702675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4</a:t>
            </a:r>
            <a:r>
              <a:rPr lang="zh-CN" altLang="en-US" dirty="0" smtClean="0"/>
              <a:t>、因为类似的</a:t>
            </a:r>
            <a:r>
              <a:rPr lang="en-US" altLang="zh-CN" dirty="0" err="1" smtClean="0"/>
              <a:t>hal</a:t>
            </a:r>
            <a:r>
              <a:rPr lang="zh-CN" altLang="en-US" dirty="0" smtClean="0"/>
              <a:t>调用的代码，以前还有其它模块都有很多，不可能有问题，所以问题大概率是在一些细节上。</a:t>
            </a:r>
            <a:endParaRPr lang="en-US" altLang="zh-CN" dirty="0" smtClean="0"/>
          </a:p>
          <a:p>
            <a:r>
              <a:rPr lang="zh-CN" altLang="en-US" dirty="0" smtClean="0"/>
              <a:t>因为以前代码是调试通过的，回忆一下最近版本改动，然后把这块代码注释掉：</a:t>
            </a:r>
            <a:endParaRPr lang="en-US" altLang="zh-CN" dirty="0" smtClean="0"/>
          </a:p>
          <a:p>
            <a:endParaRPr lang="en-US" altLang="zh-CN" dirty="0" smtClean="0"/>
          </a:p>
          <a:p>
            <a:r>
              <a:rPr lang="en-US" altLang="zh-CN" dirty="0" smtClean="0"/>
              <a:t> </a:t>
            </a:r>
            <a:r>
              <a:rPr lang="en-US" altLang="zh-CN" dirty="0" err="1" smtClean="0"/>
              <a:t>bool</a:t>
            </a:r>
            <a:r>
              <a:rPr lang="en-US" altLang="zh-CN" dirty="0" smtClean="0"/>
              <a:t> </a:t>
            </a:r>
            <a:r>
              <a:rPr lang="en-US" altLang="zh-CN" dirty="0" err="1"/>
              <a:t>linkRet</a:t>
            </a:r>
            <a:r>
              <a:rPr lang="en-US" altLang="zh-CN" dirty="0"/>
              <a:t> = </a:t>
            </a:r>
            <a:r>
              <a:rPr lang="en-US" altLang="zh-CN" dirty="0" err="1"/>
              <a:t>serviceTa</a:t>
            </a:r>
            <a:r>
              <a:rPr lang="en-US" altLang="zh-CN" dirty="0"/>
              <a:t>-&gt;</a:t>
            </a:r>
            <a:r>
              <a:rPr lang="en-US" altLang="zh-CN" dirty="0" err="1"/>
              <a:t>linkToDeath</a:t>
            </a:r>
            <a:r>
              <a:rPr lang="en-US" altLang="zh-CN" dirty="0"/>
              <a:t>(this, </a:t>
            </a:r>
            <a:r>
              <a:rPr lang="en-US" altLang="zh-CN" dirty="0" err="1"/>
              <a:t>kServiceDiedCookie</a:t>
            </a:r>
            <a:r>
              <a:rPr lang="en-US" altLang="zh-CN" dirty="0"/>
              <a:t>).</a:t>
            </a:r>
            <a:r>
              <a:rPr lang="en-US" altLang="zh-CN" dirty="0" err="1"/>
              <a:t>withDefault</a:t>
            </a:r>
            <a:r>
              <a:rPr lang="en-US" altLang="zh-CN" dirty="0"/>
              <a:t>(false);</a:t>
            </a:r>
          </a:p>
          <a:p>
            <a:r>
              <a:rPr lang="en-US" altLang="zh-CN" dirty="0"/>
              <a:t>  if (!</a:t>
            </a:r>
            <a:r>
              <a:rPr lang="en-US" altLang="zh-CN" dirty="0" err="1"/>
              <a:t>linkRet</a:t>
            </a:r>
            <a:r>
              <a:rPr lang="en-US" altLang="zh-CN" dirty="0"/>
              <a:t>) {</a:t>
            </a:r>
          </a:p>
          <a:p>
            <a:r>
              <a:rPr lang="en-US" altLang="zh-CN" dirty="0"/>
              <a:t>    LOGE("Could not link to death for TA Service");</a:t>
            </a:r>
          </a:p>
          <a:p>
            <a:r>
              <a:rPr lang="en-US" altLang="zh-CN" dirty="0"/>
              <a:t>  }</a:t>
            </a:r>
          </a:p>
          <a:p>
            <a:endParaRPr lang="en-US" altLang="zh-CN" dirty="0" smtClean="0"/>
          </a:p>
          <a:p>
            <a:r>
              <a:rPr lang="zh-CN" altLang="en-US" dirty="0" smtClean="0"/>
              <a:t>运行，果然正常了。</a:t>
            </a:r>
            <a:endParaRPr lang="en-US" altLang="zh-CN" dirty="0" smtClean="0"/>
          </a:p>
          <a:p>
            <a:r>
              <a:rPr lang="zh-CN" altLang="en-US" dirty="0" smtClean="0"/>
              <a:t>所以接下来只要分析为什么</a:t>
            </a:r>
            <a:r>
              <a:rPr lang="en-US" altLang="zh-CN" dirty="0" err="1" smtClean="0"/>
              <a:t>linkToDeath</a:t>
            </a:r>
            <a:r>
              <a:rPr lang="zh-CN" altLang="en-US" dirty="0" smtClean="0"/>
              <a:t>为什么会导致空指针。</a:t>
            </a:r>
            <a:endParaRPr lang="en-US" altLang="zh-CN" dirty="0" smtClean="0"/>
          </a:p>
          <a:p>
            <a:endParaRPr lang="en-US" altLang="zh-CN" dirty="0"/>
          </a:p>
          <a:p>
            <a:r>
              <a:rPr lang="zh-CN" altLang="en-US" dirty="0" smtClean="0"/>
              <a:t>注意到</a:t>
            </a:r>
            <a:r>
              <a:rPr lang="en-US" altLang="zh-CN" dirty="0" err="1" smtClean="0"/>
              <a:t>linkToDeath</a:t>
            </a:r>
            <a:r>
              <a:rPr lang="zh-CN" altLang="en-US" dirty="0" smtClean="0"/>
              <a:t>的参数是</a:t>
            </a:r>
            <a:r>
              <a:rPr lang="en-US" altLang="zh-CN" dirty="0" smtClean="0"/>
              <a:t>(</a:t>
            </a:r>
            <a:r>
              <a:rPr lang="en-US" altLang="zh-CN" dirty="0" err="1" smtClean="0"/>
              <a:t>const</a:t>
            </a:r>
            <a:r>
              <a:rPr lang="en-US" altLang="zh-CN" dirty="0" smtClean="0"/>
              <a:t> </a:t>
            </a:r>
            <a:r>
              <a:rPr lang="en-US" altLang="zh-CN" dirty="0"/>
              <a:t>::android::</a:t>
            </a:r>
            <a:r>
              <a:rPr lang="en-US" altLang="zh-CN" dirty="0" err="1" smtClean="0"/>
              <a:t>sp</a:t>
            </a:r>
            <a:r>
              <a:rPr lang="en-US" altLang="zh-CN" dirty="0" smtClean="0"/>
              <a:t>&lt;</a:t>
            </a:r>
            <a:r>
              <a:rPr lang="en-US" altLang="zh-CN" dirty="0" err="1" smtClean="0"/>
              <a:t>hidl_death_recipient</a:t>
            </a:r>
            <a:r>
              <a:rPr lang="en-US" altLang="zh-CN" dirty="0" smtClean="0"/>
              <a:t>&gt;&amp;, uint64_t)</a:t>
            </a:r>
          </a:p>
          <a:p>
            <a:r>
              <a:rPr lang="zh-CN" altLang="en-US" dirty="0" smtClean="0"/>
              <a:t>是一个智能指针，而我传入的是普通指针，所以参数传递时会发生隐式转换，即自动将</a:t>
            </a:r>
            <a:r>
              <a:rPr lang="en-US" altLang="zh-CN" dirty="0" smtClean="0"/>
              <a:t>this</a:t>
            </a:r>
            <a:r>
              <a:rPr lang="zh-CN" altLang="en-US" dirty="0" smtClean="0"/>
              <a:t>转换成</a:t>
            </a:r>
            <a:r>
              <a:rPr lang="en-US" altLang="zh-CN" dirty="0" err="1" smtClean="0"/>
              <a:t>sp</a:t>
            </a:r>
            <a:r>
              <a:rPr lang="zh-CN" altLang="en-US" dirty="0" smtClean="0"/>
              <a:t>类型，这个过程中产生一个临时的</a:t>
            </a:r>
            <a:r>
              <a:rPr lang="en-US" altLang="zh-CN" dirty="0" err="1" smtClean="0"/>
              <a:t>sp</a:t>
            </a:r>
            <a:r>
              <a:rPr lang="zh-CN" altLang="en-US" dirty="0" smtClean="0"/>
              <a:t>对象，一旦过了作用域，就会释放对象。</a:t>
            </a:r>
            <a:endParaRPr lang="en-US" altLang="zh-CN" dirty="0" smtClean="0"/>
          </a:p>
          <a:p>
            <a:r>
              <a:rPr lang="zh-CN" altLang="en-US" dirty="0" smtClean="0"/>
              <a:t>而如果其它地方没有</a:t>
            </a:r>
            <a:r>
              <a:rPr lang="en-US" altLang="zh-CN" dirty="0" err="1" smtClean="0"/>
              <a:t>sp</a:t>
            </a:r>
            <a:r>
              <a:rPr lang="zh-CN" altLang="en-US" dirty="0" smtClean="0"/>
              <a:t>使用同一个指针，</a:t>
            </a:r>
            <a:r>
              <a:rPr lang="en-US" altLang="zh-CN" dirty="0" err="1" smtClean="0"/>
              <a:t>sp</a:t>
            </a:r>
            <a:r>
              <a:rPr lang="zh-CN" altLang="en-US" dirty="0" smtClean="0"/>
              <a:t>释放时就会执行</a:t>
            </a:r>
            <a:r>
              <a:rPr lang="en-US" altLang="zh-CN" dirty="0" smtClean="0"/>
              <a:t>delete </a:t>
            </a:r>
            <a:r>
              <a:rPr lang="en-US" altLang="zh-CN" dirty="0" err="1"/>
              <a:t>ptr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endParaRPr lang="en-US" altLang="zh-CN" dirty="0"/>
          </a:p>
          <a:p>
            <a:r>
              <a:rPr lang="zh-CN" altLang="en-US" dirty="0" smtClean="0"/>
              <a:t>所以造成：</a:t>
            </a:r>
            <a:r>
              <a:rPr lang="en-US" altLang="zh-CN" dirty="0" smtClean="0"/>
              <a:t>1</a:t>
            </a:r>
            <a:r>
              <a:rPr lang="zh-CN" altLang="en-US" dirty="0" smtClean="0"/>
              <a:t>，表面上我没有使用智能指针；</a:t>
            </a:r>
            <a:r>
              <a:rPr lang="en-US" altLang="zh-CN" dirty="0" smtClean="0"/>
              <a:t>2</a:t>
            </a:r>
            <a:r>
              <a:rPr lang="zh-CN" altLang="en-US" dirty="0" smtClean="0"/>
              <a:t>，我没有释放对象；</a:t>
            </a:r>
            <a:r>
              <a:rPr lang="en-US" altLang="zh-CN" dirty="0" smtClean="0"/>
              <a:t>3</a:t>
            </a:r>
            <a:r>
              <a:rPr lang="zh-CN" altLang="en-US" dirty="0" smtClean="0"/>
              <a:t>，但是对象就是已经释放掉了。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4224392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0" grpId="0" bldLvl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73"/>
          <p:cNvSpPr txBox="1"/>
          <p:nvPr/>
        </p:nvSpPr>
        <p:spPr>
          <a:xfrm>
            <a:off x="963529" y="204560"/>
            <a:ext cx="55043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对策</a:t>
            </a:r>
          </a:p>
        </p:txBody>
      </p:sp>
      <p:sp>
        <p:nvSpPr>
          <p:cNvPr id="10" name="椭圆 9"/>
          <p:cNvSpPr/>
          <p:nvPr/>
        </p:nvSpPr>
        <p:spPr>
          <a:xfrm rot="10800000" flipV="1">
            <a:off x="247278" y="143646"/>
            <a:ext cx="568308" cy="566515"/>
          </a:xfrm>
          <a:prstGeom prst="ellipse">
            <a:avLst/>
          </a:prstGeom>
          <a:solidFill>
            <a:srgbClr val="005A9E"/>
          </a:solidFill>
          <a:ln>
            <a:noFill/>
          </a:ln>
          <a:effectLst>
            <a:outerShdw blurRad="292100" dist="215900" dir="708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1" lang="en-US" altLang="zh-CN" sz="1600" b="1" dirty="0" smtClean="0"/>
              <a:t>03</a:t>
            </a:r>
            <a:endParaRPr kumimoji="1" lang="zh-CN" altLang="en-US" sz="1600" b="1" dirty="0"/>
          </a:p>
        </p:txBody>
      </p:sp>
      <p:sp>
        <p:nvSpPr>
          <p:cNvPr id="3" name="文本框 2"/>
          <p:cNvSpPr txBox="1"/>
          <p:nvPr/>
        </p:nvSpPr>
        <p:spPr>
          <a:xfrm>
            <a:off x="963295" y="1073785"/>
            <a:ext cx="7237095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latin typeface="+mn-ea"/>
                <a:cs typeface="+mn-ea"/>
              </a:rPr>
              <a:t>经过进一步研究代码，发现这个</a:t>
            </a:r>
            <a:r>
              <a:rPr lang="en-US" altLang="zh-CN" dirty="0" smtClean="0">
                <a:latin typeface="+mn-ea"/>
                <a:cs typeface="+mn-ea"/>
              </a:rPr>
              <a:t>this</a:t>
            </a:r>
            <a:r>
              <a:rPr lang="zh-CN" altLang="en-US" dirty="0" smtClean="0">
                <a:latin typeface="+mn-ea"/>
                <a:cs typeface="+mn-ea"/>
              </a:rPr>
              <a:t>对象，我再外面的类里面有引用：</a:t>
            </a:r>
            <a:endParaRPr lang="en-US" altLang="zh-CN" dirty="0" smtClean="0">
              <a:latin typeface="+mn-ea"/>
              <a:cs typeface="+mn-ea"/>
            </a:endParaRPr>
          </a:p>
          <a:p>
            <a:r>
              <a:rPr lang="en-US" altLang="zh-CN" dirty="0" err="1"/>
              <a:t>std</a:t>
            </a:r>
            <a:r>
              <a:rPr lang="en-US" altLang="zh-CN" dirty="0"/>
              <a:t>::</a:t>
            </a:r>
            <a:r>
              <a:rPr lang="en-US" altLang="zh-CN" dirty="0" err="1"/>
              <a:t>unique_ptr</a:t>
            </a:r>
            <a:r>
              <a:rPr lang="en-US" altLang="zh-CN" dirty="0"/>
              <a:t>&lt;</a:t>
            </a:r>
            <a:r>
              <a:rPr lang="en-US" altLang="zh-CN" dirty="0" err="1"/>
              <a:t>IInstaller</a:t>
            </a:r>
            <a:r>
              <a:rPr lang="en-US" altLang="zh-CN" dirty="0"/>
              <a:t>&gt; </a:t>
            </a:r>
            <a:r>
              <a:rPr lang="en-US" altLang="zh-CN" dirty="0" err="1" smtClean="0"/>
              <a:t>mInstaller</a:t>
            </a:r>
            <a:r>
              <a:rPr lang="zh-CN" altLang="en-US" dirty="0" smtClean="0"/>
              <a:t>；</a:t>
            </a:r>
            <a:endParaRPr lang="en-US" altLang="zh-CN" dirty="0"/>
          </a:p>
          <a:p>
            <a:r>
              <a:rPr lang="zh-CN" altLang="en-US" dirty="0" smtClean="0">
                <a:latin typeface="+mn-ea"/>
                <a:cs typeface="+mn-ea"/>
              </a:rPr>
              <a:t>使用了</a:t>
            </a:r>
            <a:r>
              <a:rPr lang="en-US" altLang="zh-CN" dirty="0" smtClean="0">
                <a:latin typeface="+mn-ea"/>
                <a:cs typeface="+mn-ea"/>
              </a:rPr>
              <a:t>C++11</a:t>
            </a:r>
            <a:r>
              <a:rPr lang="zh-CN" altLang="en-US" dirty="0" smtClean="0">
                <a:latin typeface="+mn-ea"/>
                <a:cs typeface="+mn-ea"/>
              </a:rPr>
              <a:t>引入的智能指针，因为跟</a:t>
            </a:r>
            <a:r>
              <a:rPr lang="en-US" altLang="zh-CN" dirty="0" err="1" smtClean="0">
                <a:latin typeface="+mn-ea"/>
                <a:cs typeface="+mn-ea"/>
              </a:rPr>
              <a:t>sp</a:t>
            </a:r>
            <a:r>
              <a:rPr lang="zh-CN" altLang="en-US" dirty="0" smtClean="0">
                <a:latin typeface="+mn-ea"/>
                <a:cs typeface="+mn-ea"/>
              </a:rPr>
              <a:t>是两套机制，所以即使外面有引用，里面的</a:t>
            </a:r>
            <a:r>
              <a:rPr lang="en-US" altLang="zh-CN" dirty="0" err="1" smtClean="0">
                <a:latin typeface="+mn-ea"/>
                <a:cs typeface="+mn-ea"/>
              </a:rPr>
              <a:t>sp</a:t>
            </a:r>
            <a:r>
              <a:rPr lang="zh-CN" altLang="en-US" dirty="0" smtClean="0">
                <a:latin typeface="+mn-ea"/>
                <a:cs typeface="+mn-ea"/>
              </a:rPr>
              <a:t>释放时，还是会以为引用计数为</a:t>
            </a:r>
            <a:r>
              <a:rPr lang="en-US" altLang="zh-CN" dirty="0" smtClean="0">
                <a:latin typeface="+mn-ea"/>
                <a:cs typeface="+mn-ea"/>
              </a:rPr>
              <a:t>0,</a:t>
            </a:r>
            <a:r>
              <a:rPr lang="zh-CN" altLang="en-US" dirty="0" smtClean="0">
                <a:latin typeface="+mn-ea"/>
                <a:cs typeface="+mn-ea"/>
              </a:rPr>
              <a:t>从而执行</a:t>
            </a:r>
            <a:r>
              <a:rPr lang="en-US" altLang="zh-CN" dirty="0" smtClean="0">
                <a:latin typeface="+mn-ea"/>
                <a:cs typeface="+mn-ea"/>
              </a:rPr>
              <a:t>delete</a:t>
            </a:r>
            <a:r>
              <a:rPr lang="zh-CN" altLang="en-US" dirty="0" smtClean="0">
                <a:latin typeface="+mn-ea"/>
                <a:cs typeface="+mn-ea"/>
              </a:rPr>
              <a:t>。</a:t>
            </a:r>
            <a:endParaRPr lang="en-US" altLang="zh-CN" dirty="0" smtClean="0">
              <a:latin typeface="+mn-ea"/>
              <a:cs typeface="+mn-ea"/>
            </a:endParaRPr>
          </a:p>
          <a:p>
            <a:endParaRPr lang="en-US" altLang="zh-CN" dirty="0">
              <a:latin typeface="+mn-ea"/>
              <a:cs typeface="+mn-ea"/>
            </a:endParaRPr>
          </a:p>
          <a:p>
            <a:r>
              <a:rPr lang="zh-CN" altLang="en-US" dirty="0" smtClean="0">
                <a:latin typeface="+mn-ea"/>
                <a:cs typeface="+mn-ea"/>
              </a:rPr>
              <a:t>我们把外面的引用也换成</a:t>
            </a:r>
            <a:r>
              <a:rPr lang="en-US" altLang="zh-CN" dirty="0" err="1" smtClean="0">
                <a:latin typeface="+mn-ea"/>
                <a:cs typeface="+mn-ea"/>
              </a:rPr>
              <a:t>sp</a:t>
            </a:r>
            <a:r>
              <a:rPr lang="zh-CN" altLang="en-US" dirty="0" smtClean="0">
                <a:latin typeface="+mn-ea"/>
                <a:cs typeface="+mn-ea"/>
              </a:rPr>
              <a:t>：</a:t>
            </a:r>
            <a:endParaRPr lang="en-US" altLang="zh-CN" dirty="0" smtClean="0">
              <a:latin typeface="+mn-ea"/>
              <a:cs typeface="+mn-ea"/>
            </a:endParaRPr>
          </a:p>
          <a:p>
            <a:r>
              <a:rPr lang="en-US" altLang="zh-CN" dirty="0" err="1"/>
              <a:t>sp</a:t>
            </a:r>
            <a:r>
              <a:rPr lang="en-US" altLang="zh-CN" dirty="0"/>
              <a:t>&lt;</a:t>
            </a:r>
            <a:r>
              <a:rPr lang="en-US" altLang="zh-CN" dirty="0" err="1"/>
              <a:t>IInstaller</a:t>
            </a:r>
            <a:r>
              <a:rPr lang="en-US" altLang="zh-CN" dirty="0"/>
              <a:t>&gt; </a:t>
            </a:r>
            <a:r>
              <a:rPr lang="en-US" altLang="zh-CN" dirty="0" err="1"/>
              <a:t>mInstaller</a:t>
            </a:r>
            <a:r>
              <a:rPr lang="en-US" altLang="zh-CN" dirty="0"/>
              <a:t>;</a:t>
            </a:r>
          </a:p>
          <a:p>
            <a:endParaRPr lang="en-US" altLang="zh-CN" dirty="0" smtClean="0">
              <a:latin typeface="+mn-ea"/>
              <a:cs typeface="+mn-ea"/>
            </a:endParaRPr>
          </a:p>
          <a:p>
            <a:r>
              <a:rPr lang="zh-CN" altLang="en-US" dirty="0" smtClean="0">
                <a:latin typeface="+mn-ea"/>
                <a:cs typeface="+mn-ea"/>
              </a:rPr>
              <a:t>然后因为</a:t>
            </a:r>
            <a:r>
              <a:rPr lang="en-US" altLang="zh-CN" dirty="0" err="1" smtClean="0"/>
              <a:t>linkToDeath</a:t>
            </a:r>
            <a:r>
              <a:rPr lang="zh-CN" altLang="en-US" dirty="0" smtClean="0"/>
              <a:t>代码在构造函数里，这时还没有在外面给</a:t>
            </a:r>
            <a:r>
              <a:rPr lang="en-US" altLang="zh-CN" dirty="0" err="1" smtClean="0"/>
              <a:t>mInstaller</a:t>
            </a:r>
            <a:r>
              <a:rPr lang="en-US" altLang="zh-CN" dirty="0" smtClean="0"/>
              <a:t> </a:t>
            </a:r>
            <a:r>
              <a:rPr lang="zh-CN" altLang="en-US" dirty="0" smtClean="0"/>
              <a:t>赋值</a:t>
            </a:r>
            <a:r>
              <a:rPr lang="en-US" altLang="zh-CN" dirty="0" smtClean="0"/>
              <a:t>,</a:t>
            </a:r>
            <a:r>
              <a:rPr lang="zh-CN" altLang="en-US" dirty="0" smtClean="0"/>
              <a:t>所以还是会释放对象。</a:t>
            </a:r>
            <a:endParaRPr lang="en-US" altLang="zh-CN" dirty="0" smtClean="0"/>
          </a:p>
          <a:p>
            <a:endParaRPr lang="en-US" altLang="zh-CN" dirty="0">
              <a:latin typeface="+mn-ea"/>
              <a:cs typeface="+mn-ea"/>
            </a:endParaRPr>
          </a:p>
          <a:p>
            <a:r>
              <a:rPr lang="zh-CN" altLang="en-US" dirty="0" smtClean="0">
                <a:latin typeface="+mn-ea"/>
                <a:cs typeface="+mn-ea"/>
              </a:rPr>
              <a:t>所以还需要在类里面显式声明一个</a:t>
            </a:r>
            <a:r>
              <a:rPr lang="en-US" altLang="zh-CN" dirty="0" err="1" smtClean="0">
                <a:latin typeface="+mn-ea"/>
                <a:cs typeface="+mn-ea"/>
              </a:rPr>
              <a:t>sp</a:t>
            </a:r>
            <a:r>
              <a:rPr lang="zh-CN" altLang="en-US" dirty="0" smtClean="0">
                <a:latin typeface="+mn-ea"/>
                <a:cs typeface="+mn-ea"/>
              </a:rPr>
              <a:t>成员引用</a:t>
            </a:r>
            <a:r>
              <a:rPr lang="en-US" altLang="zh-CN" dirty="0" smtClean="0">
                <a:latin typeface="+mn-ea"/>
                <a:cs typeface="+mn-ea"/>
              </a:rPr>
              <a:t>this</a:t>
            </a:r>
            <a:r>
              <a:rPr lang="zh-CN" altLang="en-US" dirty="0" smtClean="0">
                <a:latin typeface="+mn-ea"/>
                <a:cs typeface="+mn-ea"/>
              </a:rPr>
              <a:t>。</a:t>
            </a:r>
            <a:endParaRPr lang="en-US" altLang="zh-CN" dirty="0" smtClean="0">
              <a:latin typeface="+mn-ea"/>
              <a:cs typeface="+mn-ea"/>
            </a:endParaRPr>
          </a:p>
          <a:p>
            <a:endParaRPr lang="en-US" altLang="zh-CN" dirty="0">
              <a:latin typeface="+mn-ea"/>
              <a:cs typeface="+mn-ea"/>
            </a:endParaRPr>
          </a:p>
          <a:p>
            <a:r>
              <a:rPr lang="zh-CN" altLang="en-US" dirty="0" smtClean="0">
                <a:latin typeface="+mn-ea"/>
                <a:cs typeface="+mn-ea"/>
              </a:rPr>
              <a:t>问题解决！</a:t>
            </a:r>
            <a:endParaRPr lang="zh-CN" altLang="en-US" dirty="0">
              <a:latin typeface="+mn-ea"/>
              <a:cs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0" grpId="0" bldLvl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本框 73"/>
          <p:cNvSpPr txBox="1"/>
          <p:nvPr/>
        </p:nvSpPr>
        <p:spPr>
          <a:xfrm>
            <a:off x="1012297" y="248497"/>
            <a:ext cx="55043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经验总结</a:t>
            </a:r>
          </a:p>
        </p:txBody>
      </p:sp>
      <p:sp>
        <p:nvSpPr>
          <p:cNvPr id="14" name="椭圆 13"/>
          <p:cNvSpPr/>
          <p:nvPr/>
        </p:nvSpPr>
        <p:spPr>
          <a:xfrm rot="10800000" flipV="1">
            <a:off x="247278" y="143646"/>
            <a:ext cx="568308" cy="566515"/>
          </a:xfrm>
          <a:prstGeom prst="ellipse">
            <a:avLst/>
          </a:prstGeom>
          <a:solidFill>
            <a:srgbClr val="005A9E"/>
          </a:solidFill>
          <a:ln>
            <a:noFill/>
          </a:ln>
          <a:effectLst>
            <a:outerShdw blurRad="292100" dist="215900" dir="708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1" lang="en-US" altLang="zh-CN" sz="1600" b="1" dirty="0" smtClean="0">
                <a:latin typeface="+mn-ea"/>
              </a:rPr>
              <a:t>04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815586" y="988856"/>
            <a:ext cx="8676456" cy="44807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hangingPunct="1">
              <a:lnSpc>
                <a:spcPts val="2500"/>
              </a:lnSpc>
              <a:spcBef>
                <a:spcPct val="50000"/>
              </a:spcBef>
            </a:pPr>
            <a:r>
              <a:rPr lang="en-US" altLang="zh-CN" sz="1600" b="0" dirty="0" smtClean="0">
                <a:latin typeface="+mn-ea"/>
                <a:cs typeface="+mn-ea"/>
              </a:rPr>
              <a:t>1</a:t>
            </a:r>
            <a:r>
              <a:rPr lang="zh-CN" altLang="en-US" sz="1600" b="0" dirty="0" smtClean="0">
                <a:latin typeface="+mn-ea"/>
                <a:cs typeface="+mn-ea"/>
              </a:rPr>
              <a:t>、对于在堆上面分配的某个对象，要么自己管理内存，要么就完全交给智能指针，不要既使用智能指针，又在某些地方直接使用原始指针，这样容易出</a:t>
            </a:r>
            <a:r>
              <a:rPr lang="zh-CN" altLang="en-US" sz="1600" dirty="0">
                <a:latin typeface="+mn-ea"/>
                <a:cs typeface="+mn-ea"/>
              </a:rPr>
              <a:t>问题</a:t>
            </a:r>
            <a:r>
              <a:rPr lang="zh-CN" altLang="en-US" sz="1600" b="0" dirty="0" smtClean="0">
                <a:latin typeface="+mn-ea"/>
                <a:cs typeface="+mn-ea"/>
              </a:rPr>
              <a:t>。</a:t>
            </a:r>
            <a:endParaRPr lang="en-US" altLang="zh-CN" sz="1600" b="0" dirty="0" smtClean="0">
              <a:latin typeface="+mn-ea"/>
              <a:cs typeface="+mn-ea"/>
            </a:endParaRPr>
          </a:p>
          <a:p>
            <a:pPr eaLnBrk="1" hangingPunct="1">
              <a:lnSpc>
                <a:spcPts val="2500"/>
              </a:lnSpc>
              <a:spcBef>
                <a:spcPct val="50000"/>
              </a:spcBef>
            </a:pPr>
            <a:r>
              <a:rPr lang="en-US" altLang="zh-CN" sz="1600" dirty="0" smtClean="0">
                <a:latin typeface="+mn-ea"/>
                <a:cs typeface="+mn-ea"/>
              </a:rPr>
              <a:t>2</a:t>
            </a:r>
            <a:r>
              <a:rPr lang="zh-CN" altLang="en-US" sz="1600" dirty="0" smtClean="0">
                <a:latin typeface="+mn-ea"/>
                <a:cs typeface="+mn-ea"/>
              </a:rPr>
              <a:t>、</a:t>
            </a:r>
            <a:r>
              <a:rPr lang="en-US" altLang="zh-CN" sz="1600" dirty="0" smtClean="0">
                <a:latin typeface="+mn-ea"/>
                <a:cs typeface="+mn-ea"/>
              </a:rPr>
              <a:t>C++11</a:t>
            </a:r>
            <a:r>
              <a:rPr lang="zh-CN" altLang="en-US" sz="1600" dirty="0" smtClean="0">
                <a:latin typeface="+mn-ea"/>
                <a:cs typeface="+mn-ea"/>
              </a:rPr>
              <a:t>支持智能指针，</a:t>
            </a:r>
            <a:r>
              <a:rPr lang="en-US" altLang="zh-CN" sz="1600" dirty="0" smtClean="0">
                <a:latin typeface="+mn-ea"/>
                <a:cs typeface="+mn-ea"/>
              </a:rPr>
              <a:t>Android</a:t>
            </a:r>
            <a:r>
              <a:rPr lang="zh-CN" altLang="en-US" sz="1600" dirty="0" smtClean="0">
                <a:latin typeface="+mn-ea"/>
                <a:cs typeface="+mn-ea"/>
              </a:rPr>
              <a:t>也开发了一套智能指针方案，即</a:t>
            </a:r>
            <a:r>
              <a:rPr lang="en-US" altLang="zh-CN" sz="1600" dirty="0" smtClean="0">
                <a:latin typeface="+mn-ea"/>
                <a:cs typeface="+mn-ea"/>
              </a:rPr>
              <a:t>android::</a:t>
            </a:r>
            <a:r>
              <a:rPr lang="en-US" altLang="zh-CN" sz="1600" dirty="0" err="1" smtClean="0">
                <a:latin typeface="+mn-ea"/>
                <a:cs typeface="+mn-ea"/>
              </a:rPr>
              <a:t>sp</a:t>
            </a:r>
            <a:r>
              <a:rPr lang="zh-CN" altLang="en-US" sz="1600" dirty="0" smtClean="0">
                <a:latin typeface="+mn-ea"/>
                <a:cs typeface="+mn-ea"/>
              </a:rPr>
              <a:t>和</a:t>
            </a:r>
            <a:r>
              <a:rPr lang="en-US" altLang="zh-CN" sz="1600" dirty="0" smtClean="0">
                <a:latin typeface="+mn-ea"/>
                <a:cs typeface="+mn-ea"/>
              </a:rPr>
              <a:t>android::</a:t>
            </a:r>
            <a:r>
              <a:rPr lang="en-US" altLang="zh-CN" sz="1600" dirty="0" err="1" smtClean="0">
                <a:latin typeface="+mn-ea"/>
                <a:cs typeface="+mn-ea"/>
              </a:rPr>
              <a:t>wp</a:t>
            </a:r>
            <a:r>
              <a:rPr lang="zh-CN" altLang="en-US" sz="1600" dirty="0" smtClean="0">
                <a:latin typeface="+mn-ea"/>
                <a:cs typeface="+mn-ea"/>
              </a:rPr>
              <a:t>。开发用哪种都行，但是针对一个对象，要么都用</a:t>
            </a:r>
            <a:r>
              <a:rPr lang="en-US" altLang="zh-CN" sz="1600" dirty="0" err="1" smtClean="0">
                <a:latin typeface="+mn-ea"/>
                <a:cs typeface="+mn-ea"/>
              </a:rPr>
              <a:t>shared_ptr</a:t>
            </a:r>
            <a:r>
              <a:rPr lang="zh-CN" altLang="en-US" sz="1600" dirty="0" smtClean="0">
                <a:latin typeface="+mn-ea"/>
                <a:cs typeface="+mn-ea"/>
              </a:rPr>
              <a:t>，要么都用</a:t>
            </a:r>
            <a:r>
              <a:rPr lang="en-US" altLang="zh-CN" sz="1600" dirty="0" err="1" smtClean="0">
                <a:latin typeface="+mn-ea"/>
                <a:cs typeface="+mn-ea"/>
              </a:rPr>
              <a:t>sp</a:t>
            </a:r>
            <a:r>
              <a:rPr lang="zh-CN" altLang="en-US" sz="1600" dirty="0" smtClean="0">
                <a:latin typeface="+mn-ea"/>
                <a:cs typeface="+mn-ea"/>
              </a:rPr>
              <a:t>，千万不能混合用。</a:t>
            </a:r>
            <a:endParaRPr lang="en-US" altLang="zh-CN" sz="1600" dirty="0" smtClean="0">
              <a:latin typeface="+mn-ea"/>
              <a:cs typeface="+mn-ea"/>
            </a:endParaRPr>
          </a:p>
          <a:p>
            <a:pPr>
              <a:lnSpc>
                <a:spcPts val="2500"/>
              </a:lnSpc>
              <a:spcBef>
                <a:spcPct val="50000"/>
              </a:spcBef>
            </a:pPr>
            <a:r>
              <a:rPr lang="zh-CN" altLang="en-US" sz="1600" b="0" dirty="0">
                <a:latin typeface="+mn-ea"/>
                <a:cs typeface="+mn-ea"/>
              </a:rPr>
              <a:t>我</a:t>
            </a:r>
            <a:r>
              <a:rPr lang="zh-CN" altLang="en-US" sz="1600" b="0" dirty="0" smtClean="0">
                <a:latin typeface="+mn-ea"/>
                <a:cs typeface="+mn-ea"/>
              </a:rPr>
              <a:t>的建议是，尽量使用语言自身支持的智能指针，但是涉及到</a:t>
            </a:r>
            <a:r>
              <a:rPr lang="en-US" altLang="zh-CN" sz="1600" dirty="0" smtClean="0">
                <a:latin typeface="+mn-ea"/>
                <a:cs typeface="+mn-ea"/>
              </a:rPr>
              <a:t>Android</a:t>
            </a:r>
            <a:r>
              <a:rPr lang="zh-CN" altLang="en-US" sz="1600" dirty="0">
                <a:latin typeface="+mn-ea"/>
                <a:cs typeface="+mn-ea"/>
              </a:rPr>
              <a:t>特定的对象和</a:t>
            </a:r>
            <a:r>
              <a:rPr lang="zh-CN" altLang="en-US" sz="1600" dirty="0" smtClean="0">
                <a:latin typeface="+mn-ea"/>
                <a:cs typeface="+mn-ea"/>
              </a:rPr>
              <a:t>资源管理，则使用</a:t>
            </a:r>
            <a:r>
              <a:rPr lang="en-US" altLang="zh-CN" sz="1600" dirty="0" err="1" smtClean="0">
                <a:latin typeface="+mn-ea"/>
                <a:cs typeface="+mn-ea"/>
              </a:rPr>
              <a:t>sp</a:t>
            </a:r>
            <a:r>
              <a:rPr lang="zh-CN" altLang="en-US" sz="1600" dirty="0" smtClean="0">
                <a:latin typeface="+mn-ea"/>
                <a:cs typeface="+mn-ea"/>
              </a:rPr>
              <a:t>和</a:t>
            </a:r>
            <a:r>
              <a:rPr lang="en-US" altLang="zh-CN" sz="1600" dirty="0" err="1" smtClean="0">
                <a:latin typeface="+mn-ea"/>
                <a:cs typeface="+mn-ea"/>
              </a:rPr>
              <a:t>wp</a:t>
            </a:r>
            <a:r>
              <a:rPr lang="zh-CN" altLang="en-US" sz="1600" dirty="0" smtClean="0">
                <a:latin typeface="+mn-ea"/>
                <a:cs typeface="+mn-ea"/>
              </a:rPr>
              <a:t>。</a:t>
            </a:r>
            <a:endParaRPr lang="zh-CN" altLang="en-US" sz="1600" b="0" dirty="0" smtClean="0">
              <a:latin typeface="+mn-ea"/>
              <a:cs typeface="+mn-ea"/>
            </a:endParaRPr>
          </a:p>
          <a:p>
            <a:pPr eaLnBrk="1" hangingPunct="1">
              <a:lnSpc>
                <a:spcPts val="2500"/>
              </a:lnSpc>
              <a:spcBef>
                <a:spcPct val="50000"/>
              </a:spcBef>
            </a:pPr>
            <a:r>
              <a:rPr lang="en-US" altLang="zh-CN" sz="1600" dirty="0" smtClean="0">
                <a:latin typeface="+mn-ea"/>
                <a:cs typeface="+mn-ea"/>
              </a:rPr>
              <a:t>3</a:t>
            </a:r>
            <a:r>
              <a:rPr lang="zh-CN" altLang="en-US" sz="1600" dirty="0" smtClean="0">
                <a:latin typeface="+mn-ea"/>
                <a:cs typeface="+mn-ea"/>
              </a:rPr>
              <a:t>、技术储备不足，开发和联调时会遇到很多问题。</a:t>
            </a:r>
            <a:endParaRPr lang="en-US" altLang="zh-CN" sz="1600" dirty="0" smtClean="0">
              <a:latin typeface="+mn-ea"/>
              <a:cs typeface="+mn-ea"/>
            </a:endParaRPr>
          </a:p>
          <a:p>
            <a:pPr eaLnBrk="1" hangingPunct="1">
              <a:lnSpc>
                <a:spcPts val="2500"/>
              </a:lnSpc>
              <a:spcBef>
                <a:spcPct val="50000"/>
              </a:spcBef>
            </a:pPr>
            <a:r>
              <a:rPr lang="en-US" altLang="zh-CN" sz="1600" dirty="0" smtClean="0">
                <a:latin typeface="+mn-ea"/>
                <a:cs typeface="+mn-ea"/>
              </a:rPr>
              <a:t>4</a:t>
            </a:r>
            <a:r>
              <a:rPr lang="zh-CN" altLang="en-US" sz="1600" dirty="0" smtClean="0">
                <a:latin typeface="+mn-ea"/>
                <a:cs typeface="+mn-ea"/>
              </a:rPr>
              <a:t>、注意隐式转换，在不经意时使用</a:t>
            </a:r>
            <a:r>
              <a:rPr lang="en-US" altLang="zh-CN" sz="1600" dirty="0" err="1" smtClean="0">
                <a:latin typeface="+mn-ea"/>
                <a:cs typeface="+mn-ea"/>
              </a:rPr>
              <a:t>sp</a:t>
            </a:r>
            <a:r>
              <a:rPr lang="zh-CN" altLang="en-US" sz="1600" smtClean="0">
                <a:latin typeface="+mn-ea"/>
                <a:cs typeface="+mn-ea"/>
              </a:rPr>
              <a:t>会导致灾难。</a:t>
            </a:r>
            <a:endParaRPr lang="zh-CN" altLang="en-US" sz="1600" dirty="0" smtClean="0">
              <a:latin typeface="+mn-ea"/>
              <a:cs typeface="+mn-ea"/>
            </a:endParaRPr>
          </a:p>
          <a:p>
            <a:pPr eaLnBrk="1" hangingPunct="1">
              <a:lnSpc>
                <a:spcPts val="2500"/>
              </a:lnSpc>
              <a:spcBef>
                <a:spcPct val="50000"/>
              </a:spcBef>
            </a:pPr>
            <a:endParaRPr lang="en-US" altLang="zh-CN" sz="1600" dirty="0" smtClean="0">
              <a:latin typeface="+mn-ea"/>
              <a:cs typeface="+mn-ea"/>
            </a:endParaRPr>
          </a:p>
          <a:p>
            <a:pPr eaLnBrk="1" hangingPunct="1">
              <a:lnSpc>
                <a:spcPts val="2500"/>
              </a:lnSpc>
              <a:spcBef>
                <a:spcPct val="50000"/>
              </a:spcBef>
            </a:pPr>
            <a:r>
              <a:rPr lang="zh-CN" altLang="en-US" sz="1600" dirty="0" smtClean="0">
                <a:latin typeface="+mn-ea"/>
                <a:cs typeface="+mn-ea"/>
              </a:rPr>
              <a:t>综上所述：</a:t>
            </a:r>
            <a:endParaRPr lang="en-US" altLang="zh-CN" sz="1600" dirty="0" smtClean="0">
              <a:latin typeface="+mn-ea"/>
              <a:cs typeface="+mn-ea"/>
            </a:endParaRPr>
          </a:p>
          <a:p>
            <a:pPr eaLnBrk="1" hangingPunct="1">
              <a:lnSpc>
                <a:spcPts val="2500"/>
              </a:lnSpc>
              <a:spcBef>
                <a:spcPct val="50000"/>
              </a:spcBef>
            </a:pPr>
            <a:r>
              <a:rPr lang="zh-CN" altLang="en-US" sz="1600" dirty="0" smtClean="0">
                <a:latin typeface="+mn-ea"/>
                <a:cs typeface="+mn-ea"/>
              </a:rPr>
              <a:t>多读书多思考，多些技术积累以备不时之需。</a:t>
            </a:r>
            <a:endParaRPr lang="en-US" altLang="zh-CN" sz="1600" dirty="0" smtClean="0">
              <a:latin typeface="+mn-ea"/>
              <a:cs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4023360" y="2734491"/>
            <a:ext cx="3953691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600" dirty="0" smtClean="0">
                <a:solidFill>
                  <a:srgbClr val="0070C0"/>
                </a:solidFill>
              </a:rPr>
              <a:t>Thank you!</a:t>
            </a:r>
            <a:endParaRPr lang="zh-CN" altLang="en-US" sz="6600" dirty="0">
              <a:solidFill>
                <a:srgbClr val="0070C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MGU3M2M1NWI5MDgwZjQ5YWY1N2I3ZjVlNjgxYzUzYWM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</TotalTime>
  <Words>612</Words>
  <Application>Microsoft Office PowerPoint</Application>
  <PresentationFormat>宽屏</PresentationFormat>
  <Paragraphs>96</Paragraphs>
  <Slides>10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6" baseType="lpstr">
      <vt:lpstr>宋体</vt:lpstr>
      <vt:lpstr>微软雅黑</vt:lpstr>
      <vt:lpstr>Arial</vt:lpstr>
      <vt:lpstr>Calibri</vt:lpstr>
      <vt:lpstr>Calibri Light</vt:lpstr>
      <vt:lpstr>Office 主题</vt:lpstr>
      <vt:lpstr>智能指针使用不当导致的问题——经验教训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CCS2.0 OTA升级后讯飞应用数据丢失</dc:title>
  <dc:creator>董燕yz</dc:creator>
  <cp:lastModifiedBy>薛翔宇</cp:lastModifiedBy>
  <cp:revision>654</cp:revision>
  <dcterms:created xsi:type="dcterms:W3CDTF">2022-01-19T01:59:00Z</dcterms:created>
  <dcterms:modified xsi:type="dcterms:W3CDTF">2023-12-14T09:12:11Z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806AA4322B6F447697FF98A1A0BCDAE1_12</vt:lpwstr>
  </property>
  <property fmtid="{D5CDD505-2E9C-101B-9397-08002B2CF9AE}" pid="3" name="KSOProductBuildVer">
    <vt:lpwstr>2052-12.1.0.15990</vt:lpwstr>
  </property>
</Properties>
</file>